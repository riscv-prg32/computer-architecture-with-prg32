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8b440b69-6cc7-609e-2606-4f7594f413aa}">
          <p14:sldIdLst>
            <p14:sldId id="256"/>
            <p14:sldId id="257"/>
          </p14:sldIdLst>
        </p14:section>
        <p14:section name="I display" id="{682b2e0c-3bcc-f716-92fd-fb9d4f198f0c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Tastiera e mouse" id="{38dee0d1-7bc2-8746-c19c-76506dd1db51}">
          <p14:sldIdLst>
            <p14:sldId id="264"/>
            <p14:sldId id="265"/>
            <p14:sldId id="266"/>
            <p14:sldId id="267"/>
          </p14:sldIdLst>
        </p14:section>
        <p14:section name="Le stampanti" id="{0a2ffe0a-9086-e84e-67b1-81e9cea7f584}">
          <p14:sldIdLst>
            <p14:sldId id="268"/>
            <p14:sldId id="269"/>
          </p14:sldIdLst>
        </p14:section>
        <p14:section name="Ritorno alla macchina" id="{67f04581-8800-591f-70b4-8e3fd9511b9c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lezione riguarda il confine tra la macchina e il mondo: i dispositivi attraverso cui l'informazione entra ed esce. Vedrete come si forma un'immagine su uno schermo, che cosa succede tra un tasto e il processore, che cosa dice un mouse, come funziona una stampante laser. Il filo che li lega è che ciascuno di questi dispositivi, dentro, è fatto di macchine che avete già progettato. E la lezione comincia e finisce sul kit, con il dispositivo che usate dal primo laboratorio: un pulsante.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polling, interruzioni, DMA; display CRT e LCD; tastiera e mouse; le stampanti. DA UTILIZZARE OGGI: il programma completo, gli strumenti di PRG32 (si usa, non si studia, in questo corso). DA COMPRENDERE PIÙ AVANTI: niente. Una slide senza etichetta è contesto: una storia, un esempio, una domanda, un esercizio.
Per il docente: Spirale: gli studenti leggono il joystick fin dai primi laboratori; la lezione si apre chiedendo che cosa c'è dietro prg32_input_read, poi tratta i dispositivi classici e i tre modi in cui un processore può gestirli.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obiettivi. Descrivere come si forma un'immagine su un tubo a raggi catodici e su un display a cristalli liquidi, e che cosa aggiunge una matrice attiva. Spiegare il percorso della pressione di un tasto: matrice, codificatore, registro a scorrimento, interfaccia seriale. Dire che cosa invia un mouse al calcolatore e con quale frequenza. Descrivere le fasi della stampa laser. Spiegare come il kit legge il joystick, e confrontare tre tecniche: polling, interruzioni e accesso diretto alla memoria.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display grafico è una matrice di punti, i pixel, ciascuno acceso con la propria intensità; un'immagine si compone accendendo e spegnendo i pixel. I primi display mostravano solo caratteri, in bianco e nero. La densità dei pixel dà la risoluzione, i bit per pixel danno il numero di colori, da 256 a sedici milioni e oltre. La dimensione è la lunghezza della diagonale, in pollici. Il display del kit misura 2,8 pollici, con 320 per 240 pixel.
DA COMPRENDERE OGGI: display CRT e LCD.
Per il docente: Il display del kit PRG32: 2,8 pollici, 320 per 240 pixel, 65.536 colori.
Immagini: Macintosh 128k transparency.png, Grm wnr, CC BY-SA 3.0, Wikimedia Commons.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tubo a raggi catodici ha una storia di oltre un secolo. Nasce come strumento di laboratorio con Crookes, negli anni Settanta dell'Ottocento; Braun ne fa un oscilloscopio nel 1897, il suo primo uso pratico; Rosing nel 1907 lo usa per mostrare forme da un segnale ricevuto, la radice della televisione; nel 1934 arriva sul mercato il primo televisore con CRT. Dagli anni Settanta ai Novanta del Novecento è stato il display di ogni terminale e personal computer.
DA COMPRENDERE OGGI: display CRT e LCD.
Per il docente: L'ultima riga riassume l'epoca che la presentazione originale illustrava con le immagini di un oscilloscopio e del cabinato di Asteroids (un display vettoriale pilotato da un 6502).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 funziona un CRT. Un catodo, riscaldato fino all'incandescenza, emette elettroni. Un'alta tensione tra catodo e anodo li accelera in un fascio, che altri campi mettono a fuoco. Campi magnetici o elettrici deflettono il fascio, che colpisce un punto dello schermo: la superficie interna è rivestita di fosforo, e il punto si illumina. Facendo scorrere il fascio riga per riga, molte volte al secondo, si dipinge l'intera immagine prima che l'occhio si accorga che i primi punti si sono spenti.
DA COMPRENDERE OGGI: display CRT e LCD.
Per il docente: Lo schema originale aveva le etichette in italiano: griglia, anodo, bobina di deflessione, riscaldatore, catodo, fascio, bobina di focalizzazione, schermo fluorescente.
Immagini: Tennis For Two on a DuMont Lab Oscilloscope Type 304-A.jpg, Brookhaven National Laboratory, Public domain, Wikimedia Commons.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display a cristalli liquidi hanno sostituito il tubo quasi ovunque: immagine migliore, meno ingombro, peso e consumo, meno affaticamento per gli occhi. I cristalli liquidi sono molecole organiche che scorrono come un liquido ma conservano una struttura ordinata. Un campo elettrico ne cambia l'orientamento, e con esso il modo in cui ruotano la polarizzazione della luce che li attraversa. L'immagine utile è l'ultima riga della slide: un cristallo è una valvola per la luce, aperta e chiusa da una tensione.
DA COMPRENDERE OGGI: display CRT e LCD.
Per il docente: LCD: liquid crystal display, display a cristalli liquidi.
Immagini: TN-LCD-schematic-MS-208kB.png, see the file page, CC BY-SA 3.0, Wikimedia Commons.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Dentro un pannello ci sono molte celle, ciascuna con i suoi contatti, poste tra due filtri polarizzatori con assi perpendicolari, e una luce dietro. Quando i cristalli di una cella non sono pilotati ruotano la luce, che quindi supera il filtro anteriore; quando sono pilotati la luce viene bloccata. In uno schermo a colori ogni cella è divisa in tre, con un filtro rosso, uno verde e uno blu: sono i sub-pixel della fotografia, e i tre campi di un colore RGB finiscono lì come tre tensioni.
DA COMPRENDERE OGGI: display CRT e LCD.
Per il docente: Tre sub-pixel per pixel: i campi R, G e B del colore RGB565 della Lezione 04 finiscono qui, come tre tensioni.
Immagini: Subpixel rendering LCD photo 3e composite.jpg, ALexL33, CC BY-SA 3.0, Wikimedia Commons.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 si pilotano milioni di celle? Una calcolatrice ha un contatto per segmento, cosa impossibile per uno schermo. Una matrice passiva ha contatti per riga e per colonna: si pilota un solo pixel alla volta, e gli altri devono ricordare da soli il proprio stato, cosa che fanno male; da qui scie e diafonia. Una matrice attiva mette un transistor in ogni cella, in un film sottile sul vetro: il transistor conserva lo stato del suo pixel mentre gli altri vengono aggiornati. È il TFT, la tecnologia del display del kit.
DA COMPRENDERE OGGI: display CRT e LCD.
Per il docente: TFT: thin-film transistor, transistor a film sottile. Il display del kit è un pannello TFT con un controller ILI9341. Novità rispetto alla presentazione originale: i display OLED, in cui ogni pixel emette luce propria e non serve retroilluminazione.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tastiera deriva da quella della macchina per scrivere ed è il principale dispositivo per immettere caratteri. I suoi tasti sono raggruppati: alfanumerici, speciali, frecce e funzioni. Ricordate un fatto, già incontrato nella lezione precedente: la tastiera e il video non sono collegati tra loro. Quando una lettera che battete compare sullo schermo, è perché un programma ha letto un codice dalla tastiera e ha disegnato un carattere. Oggi le tastiere si collegano via USB o via radio.
DA COMPRENDERE OGGI: tastiera e mouse.
Per il docente: PS/2 era il connettore standard prima di USB. L'eco di un tasto sullo schermo è un programma: leggi un codice, disegna un carattere.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percorso della pressione di un tasto, da sinistra a destra. I tasti sono interruttori disposti in righe e colonne: premere D chiude un incrocio. Un codificatore trasforma la combinazione di riga e colonna in un codice di n bit. Un registro a scorrimento trasforma quegli n bit in parallelo in n bit in serie. Un'interfaccia seriale, per esempio un controller USB, consegna il codice al bus di sistema e alza un'interruzione. Il codificatore è quello della Lezione 11, il registro a scorrimento quello della Lezione 14: avete progettato ogni blocco di questa slide.
DA COMPRENDERE OGGI: tastiera e mouse.
Per il docente: Ogni blocco di questa slide è una macchina che gli studenti hanno già progettato: è il frutto delle Lezioni dalla 11 alla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mouse è stato inventato negli anni Sessanta da Douglas Engelbart: una scatola di legno con due ruote sotto e un filo che esce da dietro, come una coda. Le due ruote misuravano il movimento lungo i due assi. Nel mouse meccanico una pallina fa girare due rulli, ciascuno collegato a un contatore. Nel mouse ottico una luce e una minuscola telecamera osservano la superficie sottostante e misurano come si muove. In tutti e tre, il movimento diventa due numeri.
DA COMPRENDERE OGGI: tastiera e mouse.
Per il docente: La presentazione originale data il mouse al 1967, l'anno di deposito del brevetto; il primo prototipo è del 1964 e la celebre dimostrazione pubblica del 1968. Contatori: le macchine sequenziali della Lezione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invia un mouse. Ogni volta che si sposta di una distanza minima, circa un centesimo di pollice, invia tre byte: lo spostamento lungo x dall'ultimo rapporto, lo spostamento lungo y, e lo stato dei pulsanti. Notate che invia spostamenti, non posizioni: è il programma a tenere la posizione del puntatore, sommando. Dentro, come a destra: due contatori, un registro a scorrimento, un'interfaccia seriale. Il software che parla con il dispositivo è il suo driver di periferica.
DA COMPRENDERE OGGI: tastiera e mouse.
Per il docente: La presentazione originale dice che il primo byte riporta lo spostamento «negli ultimi 100 millisecondi»; i mouse moderni riferiscono fino a mille volte al secondo. I byte di spostamento con segno sono numeri in complemento a due (Lezione 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stampante si descrive con la sua velocità, in righe o pagine al minuto, e con la sua risoluzione, in punti per pollice. Le tecnologie, in ordine storico: le stampanti a margherita e a catena, che battevano caratteri interi e sono in disuso; ad aghi, in cui degli aghi colpiscono un nastro inchiostrato; a getto d'inchiostro, con minuscole gocce; laser. Una stampante è anche un piccolo calcolatore, con processore, memoria e firmware propri.
DA COMPRENDERE OGGI: le stampanti.
Per il docente: In inglese: daisy wheel, chain, dot matrix, ink jet, laser.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stampante laser deriva dalla fotocopiatrice. Un tamburo viene caricato a circa mille volt. Un raggio laser, riflesso da uno specchio rotante, scandisce il tamburo per la sua lunghezza, acceso e spento per disegnare una riga di punti; i punti che colpisce perdono la carica. Il toner è attratto dai punti ancora carichi. Il tamburo viene premuto contro la carta e vi trasferisce il toner, che dei rulli riscaldati fissano. Seguite nella figura il percorso della carta. La pagina esiste prima come bitmap nella memoria della stampante.
DA COMPRENDERE OGGI: le stampanti.
Per il docente: Tre slide dell'originale sono fuse in una. La pagina viene prima costruita come bitmap nella memoria della stampante: un frame buffer per la carta.
Immagini: Laser printer-Writing.svg, DMahalko, traced by Stannered, CC BY 3.0, Wikimedia Commons.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dispositivi del kit in una tabella: per ciascuno, la direzione, il collegamento e le funzioni con cui una cartuccia lo usa. Il joystick e i pulsanti sono ingressi, un interruttore per piedino. Il display è un'uscita su un bus SPI. L'amplificatore con il suo altoparlante è un'uscita su un bus I2S. La radio Wi-Fi e la porta USB lavorano in entrambe le direzioni. Notate che non avete mai toccato direttamente nessuno di questi collegamenti: lo fa il runtime, e vi offre delle funzioni.
DA COMPRENDERE OGGI: polling, interruzioni, DMA.
Per il docente: Hardware dal README di PRG32 e da docs/hardware. Un interruttore rimbalza per qualche millisecondo quando viene premuto; campionarlo una volta per frame, ogni poche decine di millisecondi, nasconde il rimbalzo.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modi di gestire un dispositivo. Polling: il programma chiede al dispositivo, ancora e ancora, se ha qualcosa; semplice, e uno spreco quando non succede nulla. Interruzioni: il dispositivo chiede attenzione quando gli serve, come nella Lezione 19. Accesso diretto alla memoria, DMA: il dispositivo scambia da solo interi blocchi di dati con la memoria, e il processore viene soltanto avvisato quando ha finito. Sul kit sono all'opera tutti e tre: voi interrogate il joystick, il timer interrompe, il display e l'audio sono alimentati in DMA.
DA COMPRENDERE OGGI: polling, interruzioni, DMA.
Per il docente: I/O programmato, I/O a interruzioni e DMA. Sul kit sono all'opera tutti e tre: il vostro gioco interroga il joystick, il timer che cadenza i frame interrompe, il display e l'audio sono alimentati in DMA.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Pensate allo schema della pressione di un tasto: che cosa entra nel codificatore, e che cosa ne esce?
Ricordate la fotografia dei pixel sotto la lente: quanti elementi colorati compongono un pixel?
Per il docente: 1. Risposta: B. Da una posizione decodificata nella matrice dei tasti a un codice compatto di n bit, come il codificatore della Lezione 11.
2. Risposta: B. Tre sub-pixel, ciascuno una cella di cristalli liquidi dietro un filtro colorato; un TFT in ognuno ne conserva lo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risposta sta in ciò che manca a una matrice passiva: qualcosa, in ogni cella, che ne conservi lo stato mentre si pilotano le altre.
Chi prende l'iniziativa, il programma o il dispositivo? Nel riscaldamento è il programma, una volta per frame.
Per il docente: 1. Risposta: B. Persistenza: senza un transistor per pixel, le celle rispondono lentamente e conservano male il proprio stato mentre si scandiscono le altre.
2. Risposta: C. Il programma interroga periodicamente il dispositivo. Con le interruzioni sarebbe il dispositivo a chiamare il programma.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Dieci termini. Cathode-ray tube è il tubo a raggi catodici; backlight è la retroilluminazione. Un pointing device, periferica di puntamento, è qualunque dispositivo che, come il mouse, indica una posizione. Le stampanti dot-matrix e ink-jet sono quelle ad aghi e a getto d'inchiostro. Polling è l'interrogazione ciclica, anche se la parola in uso è quella inglese.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conclusioni. I dispositivi di ingresso/uscita sono una parte fondamentale dei calcolatori. La tecnologia dei display è passata da un fascio di elettroni a un transistor dietro ogni pixel. Tastiera, mouse e stampante sono cambiati poco fuori, e dentro sono fatti di codificatori, contatori e registri a scorrimento. Un dispositivo raggiunge il processore tramite un controller e un bus, ed è gestito con il polling, le interruzioni o il DMA. E sul kit l'intera catena, da un interruttore a un pixel, si può seguire istruzione per istruzione. Ora viene l'ultima parte di Verm1.
Stato di apprendimento, riepilogo. DA COMPRENDERE OGGI: polling, interruzioni, DMA; display CRT e LCD; tastiera e mouse; le stampanti. DA UTILIZZARE OGGI: il programma completo, gli strumenti di PRG32 (si usa, non si studia, in questo corso). DA COMPRENDERE PIÙ AVANTI: niente. Una slide senza etichetta è contesto: una storia, un esempio, una domanda, un esercizio.
Per il docente: Poi: Verm1, parte 4: il gioco finito. Quindi la sua pubblicazione sul Cartridge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21: Ingresso e uscita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21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Ingresso e uscita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Display, tastiere, mouse e stampanti: come la macchina incontra il mondo, e come un programma legge un pulsante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“Need input!”</a:t>
            </a:r>
            <a:endParaRPr lang="en-US" sz="1900" dirty="0"/>
          </a:p>
          <a:p>
            <a:pPr indent="0" marL="0">
              <a:buNone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5, nel film Corto circuito (Short Circuit), John Badham, 1986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della lezione. I listati, il programma completo e come provarlo sono nella presentazione del codice: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21-Architettura_dei_Calcolatori-Ingresso_Uscita-Codice.pptx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0" descr="/Users/raffaelemontella/devel/riscv-prg32/computer-architecture-with-prg32/tools/assets/lab2_step1_lam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saprete fare alla fine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3713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41884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Descrivere come si forma un'immagine su un CRT e su un LCD, e che cosa aggiunge una matrice attiva TFT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760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55778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Spiegare il percorso della pressione di un tasto: matrice, codificatore, registro a scorrimento, interfaccia seriale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150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696716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 che cosa invia un mouse al calcolatore e con quale frequenza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111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592828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Descrivere le fasi della stampa laser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5072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48894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Spiegare come il kit PRG32 legge il joystick, e confrontare polling, interruzioni e DMA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video: un'introduzione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1599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All'inizio soprattutto display a caratteri in bianco e nero; oggi grafici e a colori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37934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80666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display grafico è una matrice di punti, i pixel, ciascuno acceso con un'intensità diversa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24269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144012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Un'immagine si compone accendendo e spegnendo i pixel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4106037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007358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diversa densità di pixel dà una diversa risoluzione; i colori vanno da 256 (8 bit) a 16 milioni (24 bit) e oltre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29475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196078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dimensione si misura in pollici lungo la diagonale: un display da 14 pollici ha una diagonale di 14 pollici</a:t>
            </a:r>
            <a:endParaRPr lang="en-US" sz="2100" dirty="0"/>
          </a:p>
        </p:txBody>
      </p:sp>
      <p:pic>
        <p:nvPicPr>
          <p:cNvPr id="13" name="Image 0" descr="/Users/raffaelemontella/devel/riscv-prg32/computer-architecture-with-prg32/tools/assets/mac_class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0917" y="1417320"/>
            <a:ext cx="3665062" cy="42976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Macintosh compatto: un CRT in bianco e nero da 9 pollici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17281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1728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297" y="12801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501329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display CRT e LCD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tubo a raggi catodici: una breve storia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636881"/>
                <a:gridCol w="2728135"/>
                <a:gridCol w="672939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cosa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 anni 1870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Crookes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tubo di Crookes: il primo tubo a raggi catodici, uno strumento di laboratorio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1897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Karl Ferdinand Braun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tubo di Braun e il primo oscilloscopio a raggi catodici: la prima applicazione pratica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1907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Boris Rosing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CRT mostra semplici forme geometriche da un segnale video ricevuto: la radice della televisione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1934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Telefunken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primo televisore con CRT sul mercato, in Germania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anni 1970-1990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l'industria informatica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monitor CRT: il display di ogni terminale e personal computer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17281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1728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5297" y="12801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01329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display CRT e LCD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funziona un CRT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050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88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catodo è un piccolo elemento metallico riscaldato fino all'incandescenza, che emette elettroni per effetto termoionico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52163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38451"/>
            <a:ext cx="6565392" cy="88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il tubo gli elettroni sono convogliati in un fascio da un'alta differenza di potenziale tra catodo e anodo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54276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459582"/>
            <a:ext cx="6565392" cy="29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Altri campi elettromagnetici mettono a fuoco il fascio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97512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891940"/>
            <a:ext cx="6565392" cy="826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fascio, il pennello elettronico, viene deflesso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da campi magnetici (la forza di Lorentz), o da campi elettrici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493986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4856683"/>
            <a:ext cx="6565392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Colpisce un punto della superficie interna dello schermo, rivestita di fosforo, che si illumina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566661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5583428"/>
            <a:ext cx="6565392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Facendo scorrere il fascio riga per riga, molte volte al secondo, si dipinge l'immagine</a:t>
            </a:r>
            <a:endParaRPr lang="en-US" sz="1900" dirty="0"/>
          </a:p>
        </p:txBody>
      </p:sp>
      <p:pic>
        <p:nvPicPr>
          <p:cNvPr id="15" name="Image 0" descr="/Users/raffaelemontella/devel/riscv-prg32/computer-architecture-with-prg32/tools/assets/crt_scop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888296"/>
            <a:ext cx="3779215" cy="3355729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oscilloscopio a raggi catodici usato come display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117281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1728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297" y="128016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501329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display CRT e LCD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display a cristalli liquidi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1599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monitor LCD hanno sostituito quasi del tutto il tubo a raggi catodici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29800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99323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Vantaggi: immagine migliore; meno ingombro, peso e consumo; minore affaticamento della vista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080004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981325"/>
            <a:ext cx="656539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cristalli liquidi sono molecole organiche viscose che scorrono come un liquido ma hanno una struttura spaziale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4187381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088702"/>
            <a:ext cx="6565392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campo elettrico cambia l'orientamento delle molecole, e con esso le proprietà ottiche del cristallo: l'angolo di polarizzazione della luce che lo attraversa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62013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521452"/>
            <a:ext cx="656539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cristallo è una valvola per la luce, aperta e chiusa da una tensione</a:t>
            </a:r>
            <a:endParaRPr lang="en-US" sz="2100" dirty="0"/>
          </a:p>
        </p:txBody>
      </p:sp>
      <p:pic>
        <p:nvPicPr>
          <p:cNvPr id="13" name="Image 0" descr="/Users/raffaelemontella/devel/riscv-prg32/computer-architecture-with-prg32/tools/assets/lcd_laye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501447"/>
            <a:ext cx="3779215" cy="212942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strati di un display a cristalli liquidi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17281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1728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297" y="12801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501329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display CRT e LCD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un pannello LCD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25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schermo è fatto di molte celle, spesso una per pixel, in cui sono intrappolati i cristalli liquidi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32619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35264"/>
            <a:ext cx="6565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cella ha contatti elettrici, così che si possa applicare un campo al liquido che contiene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14413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053207"/>
            <a:ext cx="656539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celle stanno tra due filtri polarizzatori con gli assi perpendicolari tra loro, con una luce dietro quello posteriore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427196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181031"/>
            <a:ext cx="6565392" cy="1173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polarizzazione decide se la luce passa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cristalli non pilotati: la luce viene ruotata e attraversa il polarizzatore anteriore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cristalli pilotati: la luce è bloccata del tutto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564337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552440"/>
            <a:ext cx="6565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uno schermo a colori ogni cella è divisa in tre sezioni con un filtro rosso, uno verde e uno blu</a:t>
            </a:r>
            <a:endParaRPr lang="en-US" sz="2000" dirty="0"/>
          </a:p>
        </p:txBody>
      </p:sp>
      <p:pic>
        <p:nvPicPr>
          <p:cNvPr id="13" name="Image 0" descr="/Users/raffaelemontella/devel/riscv-prg32/computer-architecture-with-prg32/tools/assets/lcd_pixe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8749" y="1417320"/>
            <a:ext cx="1909398" cy="42976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Sub-pixel rossi, verdi e blu sotto la lente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17281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1728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297" y="12801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501329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display CRT e LCD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Pilotare le celle: dai segmenti alla matrice attiva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 e matrice passiva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Calcolatrici e orologi digitali: un contatto elettrico per segmento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Impossibile quando il numero di elementi cresce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passiva: un gruppo di contatti per riga e per colonna, non per pixel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pilota un solo pixel alla volta: gli altri devono ricordare il proprio stato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Problemi: persistenza (scie dietro gli oggetti in movimento) e diafonia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78728" y="141732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4592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attiva: TFT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2316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Usata per gli schermi ad alta risoluzione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pannello contiene un film sottile di transistor, su uno strato semiconduttore trasparente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campo è applicato esattamente dove serve da un transistor in ogni cella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transistor conserva lo stato elettrico del suo pixel mentre gli altri vengono aggiornati</a:t>
            </a:r>
            <a:endParaRPr lang="en-US" sz="17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pixel è, di fatto, una cella di memoria analogica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17281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1728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5297" y="128016"/>
            <a:ext cx="201168" cy="20116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501329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display CRT e LCD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tastiera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237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Derivata da quella delle macchine per scrivere; il principale dispositivo di ingresso per i caratteri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54946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43036"/>
            <a:ext cx="10710367" cy="133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suoi tasti sono raggruppati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tasti alfanumerici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tasti speciali: invio, backspace, ...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tasti freccia e tasti funzione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22719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4120769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Tastiera e video non sono collegati direttamente tra loro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912043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805617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il processore a riprodurre sul video le informazioni battute sulla tastiera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593775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831332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tastiere di oggi si collegano via USB, o senza fili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82940" y="91440"/>
            <a:ext cx="346011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294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956" y="128016"/>
            <a:ext cx="201168" cy="20116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566988" y="91440"/>
            <a:ext cx="3039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tastiera e mouse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percorso della pressione di un tasto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E4A62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160020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E4A62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682496" y="160020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E4A62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249424" y="160020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E4A62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16352" y="160020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E4A62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60020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E4A62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67128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E4A62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167128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E4A62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865376" y="2167128"/>
            <a:ext cx="493776" cy="493776"/>
          </a:xfrm>
          <a:prstGeom prst="roundRect">
            <a:avLst>
              <a:gd name="adj" fmla="val 9259"/>
            </a:avLst>
          </a:prstGeom>
          <a:solidFill>
            <a:srgbClr val="C7791B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432304" y="2167128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E4A62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2167128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E4A62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167128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E4A62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734056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E4A62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81328" y="2734056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E4A62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048256" y="2734056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E4A62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615184" y="2734056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E4A62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182112" y="2734056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E4A62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2734056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E4A62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e colonne di interruttori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1783080"/>
            <a:ext cx="2148840" cy="1188720"/>
          </a:xfrm>
          <a:prstGeom prst="roundRect">
            <a:avLst>
              <a:gd name="adj" fmla="val 4615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codificatore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riga e colonna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 codice di n bit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70248" y="2377440"/>
            <a:ext cx="274320" cy="0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7040880" y="1783080"/>
            <a:ext cx="2148840" cy="1188720"/>
          </a:xfrm>
          <a:prstGeom prst="roundRect">
            <a:avLst>
              <a:gd name="adj" fmla="val 4615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 scorrimento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 bit in parallelo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 bit in serie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739128" y="2377440"/>
            <a:ext cx="274320" cy="0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9509760" y="1783080"/>
            <a:ext cx="2148840" cy="1188720"/>
          </a:xfrm>
          <a:prstGeom prst="roundRect">
            <a:avLst>
              <a:gd name="adj" fmla="val 4615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seriale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esempio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controller USB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08008" y="2377440"/>
            <a:ext cx="274320" cy="0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584180" y="2999232"/>
            <a:ext cx="0" cy="658368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72000" y="3703320"/>
            <a:ext cx="7071055" cy="0"/>
          </a:xfrm>
          <a:prstGeom prst="line">
            <a:avLst/>
          </a:prstGeom>
          <a:noFill/>
          <a:ln w="76200">
            <a:solidFill>
              <a:srgbClr val="C7791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di sistema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357624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2688" y="4297680"/>
            <a:ext cx="10710367" cy="24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tastiera è gestita da un controller della tastiera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473456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2688" y="4674616"/>
            <a:ext cx="10710367" cy="49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codificatore trasforma una combinazione di riga e colonna in un codice di n bit: il codificatore della Lezione 11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8640" y="535940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32688" y="5299456"/>
            <a:ext cx="10710367" cy="49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registro a scorrimento trasforma gli n bit in una sequenza, da trattare in serie: il registro a scorrimento della Lezione 14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8640" y="598424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32688" y="5924296"/>
            <a:ext cx="10710367" cy="24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L'interfaccia seriale invia il codice al bus di sistema nel modo dovuto, e alza un'interruzione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82940" y="91440"/>
            <a:ext cx="346011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8294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956" y="128016"/>
            <a:ext cx="201168" cy="201168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8566988" y="91440"/>
            <a:ext cx="3039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tastiera e mouse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mouse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237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Inventato negli anni Sessanta da Douglas Engelbart: il primo dispositivo di puntamento della storia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54203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35606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scatola di legno con due ruote sotto e un filo che esce da dietro, come la coda di un topo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56031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453892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due ruote rilevavano i movimenti lungo l'asse orizzontale e quello verticale; l'elettronica li trasformava in segnali elettrici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57860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472178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meccanico: una pallina fa girare due rulli, ciascuno collegato a un contatore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559689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490464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ottico: una sorgente di luce e una minuscola telecamera misurano il movimento della superficie sottostante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82940" y="91440"/>
            <a:ext cx="346011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294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956" y="128016"/>
            <a:ext cx="201168" cy="20116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566988" y="91440"/>
            <a:ext cx="3039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tastiera e mouse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invia un mouse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237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199632" cy="1022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volta che si sposta di una distanza minima, circa un centesimo di pollice, detta mickey, il mouse invia tre byte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88290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776474"/>
            <a:ext cx="619963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1: di quante unità si è spostato lungo x dall'ultimo rapporto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90118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794760"/>
            <a:ext cx="6199632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2: lo spostamento lungo 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57860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472178"/>
            <a:ext cx="6199632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3: lo stato dei pulsanti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525602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149596"/>
            <a:ext cx="6199632" cy="1022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software di controllo, il driver di periferica, sovrintende alla comunicazione con il processore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87452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contatori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spostamento in x e in 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326880" y="2816352"/>
            <a:ext cx="0" cy="310896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680960" y="315468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 scorrimento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byte, in serie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326880" y="4096512"/>
            <a:ext cx="0" cy="310896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7680960" y="443484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seriale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USB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5806440"/>
            <a:ext cx="1097280" cy="548640"/>
          </a:xfrm>
          <a:prstGeom prst="rect">
            <a:avLst/>
          </a:prstGeom>
          <a:solidFill>
            <a:srgbClr val="0E7C86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5806440"/>
            <a:ext cx="1097280" cy="548640"/>
          </a:xfrm>
          <a:prstGeom prst="rect">
            <a:avLst/>
          </a:prstGeom>
          <a:solidFill>
            <a:srgbClr val="0E7C86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0" y="5806440"/>
            <a:ext cx="1097280" cy="548640"/>
          </a:xfrm>
          <a:prstGeom prst="rect">
            <a:avLst/>
          </a:prstGeom>
          <a:solidFill>
            <a:srgbClr val="C7791B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pulsanti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82940" y="91440"/>
            <a:ext cx="346011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294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956" y="128016"/>
            <a:ext cx="201168" cy="20116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566988" y="91440"/>
            <a:ext cx="3039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tastiera e mouse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stampante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237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dispositivo di uscita che stampa informazioni su carta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21107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04644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Velocità di stampa: righe al minuto, caratteri al secondo o pagine al minuto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898394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791968"/>
            <a:ext cx="10710367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Risoluzione, la qualità di stampa: punti per pollice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58571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479292"/>
            <a:ext cx="10710367" cy="1664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 margherita e a catena, ormai in disuso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ad aghi: gli aghi colpiscono un nastro inchiostrato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 getto d'inchiostro: minuscole gocce di inchiostro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laser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559689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490464"/>
            <a:ext cx="1071036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stampante è anche un piccolo calcolatore: ha processore, memoria e firmware propri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445576" y="91440"/>
            <a:ext cx="3197479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5576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3592" y="128016"/>
            <a:ext cx="201168" cy="20116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829624" y="91440"/>
            <a:ext cx="2776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stampanti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stampante laser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9275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dalla fotocopiatrice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997507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22069"/>
            <a:ext cx="65653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tamburo viene caricato elettricamente, a circa 1.000 volt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8114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705710"/>
            <a:ext cx="656539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raggio laser, riflesso da uno specchio rotante, scandisce il tamburo per la sua lunghezza; il raggio è modulato per produrre una trama di punti chiari e scuri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84368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768242"/>
            <a:ext cx="65653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punti colpiti dal raggio perdono la carica; dopo ogni riga il tamburo ruota di una frazione di grado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62732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4551883"/>
            <a:ext cx="65653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toner è attratto dai punti ancora carichi: si forma un'immagine della riga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541096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5335524"/>
            <a:ext cx="656539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tamburo viene premuto contro la carta e vi trasferisce il toner; rulli riscaldati lo fissano in modo permanente; il tamburo viene scaricato e pulito</a:t>
            </a:r>
            <a:endParaRPr lang="en-US" sz="1800" dirty="0"/>
          </a:p>
        </p:txBody>
      </p:sp>
      <p:pic>
        <p:nvPicPr>
          <p:cNvPr id="15" name="Image 0" descr="/Users/raffaelemontella/devel/riscv-prg32/computer-architecture-with-prg32/tools/assets/laser_prin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958517"/>
            <a:ext cx="3779215" cy="321528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laser scrive la pagina sul tamburo, riga per riga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445576" y="91440"/>
            <a:ext cx="3197479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45576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592" y="128016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829624" y="91440"/>
            <a:ext cx="2776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stampanti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dispositivi del kit PRG32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546259"/>
                <a:gridCol w="1636881"/>
                <a:gridCol w="3273762"/>
                <a:gridCol w="363751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Dispositivo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Direzione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è collegato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lo usa una cartuccia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joystick e pulsanti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interruttore per piedino di ingresso (GPIO)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prg32_input_read: un bit per pulsante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display, TFT 320 x 240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uscita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seriale SPI, con DMA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chiamate prg32_gfx_* disegnano nel frame buffer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amplificatore e altoparlante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uscita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seriale I2S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chiamate prg32_audio_*: note, campioni, musica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Wi-Fi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 e uscita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 il chip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caricamento delle cartucce, lo Store, multigiocatore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 seriale USB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 e uscita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scrittura del firmware, messaggi di debug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526350" y="91440"/>
            <a:ext cx="411670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52635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4366" y="12801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10398" y="91440"/>
            <a:ext cx="36960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polling, interruzioni, DMA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modi di gestire un dispositivo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96661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chiede al dispositivo, ancora e ancora, se ha qualcosa. Semplice, ed è ciò che fa un gioco una volta per frame; uno spreco quando non succede nulla.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38218" y="141732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Interruzioni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331720"/>
            <a:ext cx="296661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dispositivo chiede attenzione quando gli serve; il processore sospende ciò che sta facendo, serve il dispositivo e riprende. L'argomento della Lezione 19.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7797" y="141732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0020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diretto alla memoria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331720"/>
            <a:ext cx="296661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dispositivo scambia da solo interi blocchi di dati con la memoria; il processore si limita ad avviare il trasferimento e viene avvisato quando finisce.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526350" y="91440"/>
            <a:ext cx="411670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2635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4366" y="128016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910398" y="91440"/>
            <a:ext cx="36960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polling, interruzioni, DMA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636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1732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fa il codificatore di un controller di tastiera?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il tasto premuto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4800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Trasforma una combinazione di riga e colonna in un codice di tasto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Invia il codice al monitor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33008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0168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4800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per quanto tempo un tasto resta premuto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9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6334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un LCD a colori, un pixel è fatto di: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cella che cambia colore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33008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0168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celle con filtri rosso, verde e blu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di fosforo colpito da elettroni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33008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0168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transistor che emette luce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la comprensione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636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41732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un LCD a matrice passiva mostra scie dietro gli oggetti in movimento?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retroilluminazione è troppo debole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34657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4800" y="220370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pixel sono pilotati uno alla volta e nel frattempo devono mantenere il proprio stato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troppo pochi colori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3008" y="300151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0168" y="319925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4800" y="305638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video è lenta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9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63340"/>
            <a:ext cx="10591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gioco PRG32 legge il joystick una volta per frame. Questa tecnica si chiama: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diretto alla memoria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33008" y="4594860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0168" y="4792599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4649724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 a interruzioni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33008" y="5447538"/>
            <a:ext cx="5410048" cy="724662"/>
          </a:xfrm>
          <a:prstGeom prst="roundRect">
            <a:avLst>
              <a:gd name="adj" fmla="val 1009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70168" y="5645277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5502402"/>
            <a:ext cx="4632808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mappatura in memoria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Glossario: inglese e italiano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426903"/>
                <a:gridCol w="2600254"/>
                <a:gridCol w="2773604"/>
                <a:gridCol w="32936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Inglese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Inglese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cathode-ray tube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tubo a raggi catodici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pointing device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periferica di puntamento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 crystals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cristalli liquidi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dot-matrix / ink-jet printer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stampante ad aghi / a getto d'inchiostro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backlight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retroilluminazione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drum / toner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tamburo / toner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matrix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matrice attiva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polling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interrogazione ciclica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keyboard / key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tastiera / tasto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driver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di periferica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Conclusioni e letture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0505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10710367" cy="29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dispositivi di ingresso/uscita sono una componente fondamentale dei calcolatori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193682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853641"/>
            <a:ext cx="1071036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tecnologia dei display ha fatto progressi enormi, dal fascio di elettroni a un transistor dietro ogni pixel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667533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584348"/>
            <a:ext cx="1071036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Tastiera, mouse e stampante sono cambiati poco nella forma, e dentro sono fatti di codificatori, contatori e registri a scorrimento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398241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315056"/>
            <a:ext cx="1071036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dispositivo raggiunge il processore tramite un controller e un bus, ed è gestito con il polling, con le interruzioni o con il DMA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412894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4045763"/>
            <a:ext cx="1071036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kit PRG32 l'intera catena, da un interruttore a un pixel, si può seguire istruzione per istruzione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485965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4776470"/>
            <a:ext cx="10710367" cy="139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Letture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Tanenbaum, Austin: Architettura dei calcolatori. Un approccio strutturale, paragrafo 2.4 (ingresso/uscita)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Stallings: Computer Organization and Architecture, il capitolo sull'ingresso/uscita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Playing with RISC-V, capitolo 6: State and Input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Ingresso e uscita</dc:title>
  <dc:subject>Lezione 21</dc:subject>
  <dc:creator>Raffaele Montella</dc:creator>
  <cp:lastModifiedBy>Raffaele Montella</cp:lastModifiedBy>
  <cp:revision>1</cp:revision>
  <dcterms:created xsi:type="dcterms:W3CDTF">2026-10-16T16:46:58Z</dcterms:created>
  <dcterms:modified xsi:type="dcterms:W3CDTF">2026-10-16T16:46:58Z</dcterms:modified>
</cp:coreProperties>
</file>