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7edf63e4-ec55-db16-8df0-225a09a386e0}">
          <p14:sldIdLst>
            <p14:sldId id="256"/>
            <p14:sldId id="257"/>
          </p14:sldIdLst>
        </p14:section>
        <p14:section name="I display" id="{2d91cb05-b41f-3099-7d43-f1a4db81e416}">
          <p14:sldIdLst>
            <p14:sldId id="258"/>
            <p14:sldId id="259"/>
            <p14:sldId id="260"/>
            <p14:sldId id="261"/>
            <p14:sldId id="262"/>
            <p14:sldId id="263"/>
          </p14:sldIdLst>
        </p14:section>
        <p14:section name="Tastiera e mouse" id="{da23bbb8-9fd5-cd3d-00d2-8606a64c06b5}">
          <p14:sldIdLst>
            <p14:sldId id="264"/>
            <p14:sldId id="265"/>
            <p14:sldId id="266"/>
            <p14:sldId id="267"/>
          </p14:sldIdLst>
        </p14:section>
        <p14:section name="Le stampanti" id="{0f848c7a-78ae-cc31-75fb-894cee4a3c19}">
          <p14:sldIdLst>
            <p14:sldId id="268"/>
            <p14:sldId id="269"/>
          </p14:sldIdLst>
        </p14:section>
        <p14:section name="Ritorno alla macchina" id="{a84f6937-7de3-154a-54fe-8606cf234112}">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lezione riguarda il confine tra la macchina e il mondo: i dispositivi attraverso cui l'informazione entra ed esce. Mostra come si forma un'immagine su uno schermo, che cosa accade tra un tasto e il processore, che cosa comunica un mouse, e come funziona una stampante laser. Il filo conduttore è che ciascuno di questi dispositivi è internamente composto da macchine già progettate in questo corso, encoder, contatori, registri a scorrimento e controllori. La lezione comincia e finisce sul kit, con il dispositivo usato dalla prima sessione di laboratorio: un pulsante.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polling, interruzioni, DMA; display CRT e LCD; tastiera e mouse; le stampanti. DA UTILIZZARE OGGI: il programma completo, gli strumenti di PRG32 (si usa, non si studia, in questo corso). DA COMPRENDERE PIÙ AVANTI: niente. Una slide senza etichetta è contesto: una storia, un esempio, una domanda, un esercizio.
Per il docente: Spirale: gli studenti leggono il joystick fin dai primi laboratori; la lezione si apre chiedendo che cosa c'è dietro prg32_input_read, poi tratta i dispositivi classici e i tre modi in cui un processore può gestirli.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Descrivere come si forma un'immagine su un tubo catodico e su un display a cristalli liquidi, e che cosa aggiunge una matrice attiva. Spiegare il percorso della pressione di un tasto: matrice, encoder, registro a scorrimento, interfaccia seriale. Dire che cosa invia un mouse al calcolatore e con quale frequenza. Descrivere le fasi della stampa laser. E spiegare come il kit legge il suo joystick, confrontando tre tecniche: polling, interruzioni e accesso diretto alla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display grafico è una matrice di punti, i pixel, ciascuno acceso con una propria intensità; un'immagine si compone accendendo e spegnendo i pixel. I primi display mostravano solo caratteri, in bianco e nero. La densità dei pixel determina la risoluzione, e i bit per pixel il numero di colori, da 256 a sedici milioni e oltre. La dimensione di un display è la lunghezza della sua diagonale, in pollici. Il display del kit misura 2,8 pollici, con 320 per 240 pixel.
DA COMPRENDERE OGGI: display CRT e LCD.
Per il docente: Il display del kit PRG32: 2,8 pollici, 320 per 240 pixel, 65.536 colori.
Immagini: Macintosh 128k transparency.png, Grm wnr,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tubo a raggi catodici ha una storia di più di un secolo. Nacque come strumento di laboratorio con Crookes negli anni Settanta dell'Ottocento; Braun ne fece un oscilloscopio nel 1897, la sua prima applicazione pratica; Rosing nel 1907 lo usò per mostrare forme a partire da un segnale ricevuto, l'origine della televisione; e nel 1934 il primo televisore con un tubo catodico arrivò sul mercato. Dagli anni Settanta agli anni Novanta fu il display di ogni terminale e personal computer.
DA COMPRENDERE OGGI: display CRT e LCD.
Per il docente: L'ultima riga riassume l'epoca che la presentazione originale illustrava con le immagini di un oscilloscopio e del cabinato di Asteroids (un display vettoriale pilotato da un 6502).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funzionamento di un tubo catodico. Un catodo, riscaldato fino all'incandescenza, emette elettroni. Un'alta tensione tra catodo e anodo li accelera in un fascio, che altri campi mettono a fuoco. Campi magnetici o elettrici deflettono il fascio, che colpisce un punto dello schermo; la superficie interna è rivestita di fosfori, e il punto emette luce. Spazzando il fascio riga per riga, molte volte al secondo, l'intera immagine viene dipinta prima che l'occhio percepisca che i primi punti si sono spenti, contando sulla persistenza della visione.
DA COMPRENDERE OGGI: display CRT e LCD.
Per il docente: Lo schema originale aveva le etichette in italiano: griglia, anodo, bobina di deflessione, riscaldatore, catodo, fascio, bobina di focalizzazione, schermo fluorescente.
Immagini: Tennis For Two on a DuMont Lab Oscilloscope Type 304-A.jpg, Brookhaven National Laboratory,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display a cristalli liquidi hanno sostituito il tubo quasi ovunque, offrendo un'immagine migliore, meno ingombro, peso e consumo, e meno affaticamento visivo. I cristalli liquidi sono molecole organiche che scorrono come un liquido conservando però una struttura ordinata. Un campo elettrico ne altera l'orientamento, e con esso il modo in cui ruotano la polarizzazione della luce che li attraversa. L'immagine dell'ultima riga è calzante: un cristallo è una valvola per la luce, aperta e chiusa da una tensione.
DA COMPRENDERE OGGI: display CRT e LCD.
Per il docente: LCD: liquid crystal display, display a cristalli liquidi.
Immagini: TN-LCD-schematic-MS-208kB.png, see the file page,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pannello contiene molte celle, ciascuna con i suoi contatti, poste tra due filtri polarizzatori ad assi perpendicolari, con una sorgente di luce dietro. Quando i cristalli di una cella non sono pilotati ruotano la luce, che allora attraversa il filtro anteriore; quando sono pilotati la luce viene bloccata. In uno schermo a colori ogni cella è suddivisa in tre, con filtri rosso, verde e blu: sono i sottopixel visibili nella fotografia, e i tre campi di un colore RGB, dalla Lezione 04, finiscono lì come tre tensioni.
DA COMPRENDERE OGGI: display CRT e LCD.
Per il docente: Tre sub-pixel per pixel: i campi R, G e B del colore RGB565 della Lezione 04 finiscono qui, come tre tensioni.
Immagini: Subpixel rendering LCD photo 3e composite.jpg, ALexL33,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pilotano milioni di celle? Una calcolatrice ha un contatto per segmento, un approccio impossibile alla scala di uno schermo. Una matrice passiva ha contatti per riga e per colonna: si pilota un solo pixel alla volta, e gli altri devono conservare da soli il loro stato, cosa che fanno male, producendo scie e diafonia. Una matrice attiva pone un transistor in ogni cella, in un film sottile sul vetro, e il transistor mantiene lo stato del suo pixel mentre gli altri vengono aggiornati. È il TFT, la tecnologia del display del kit; il transistor funge da memoria di un pixel, un'idea riconoscibile dalla Lezione 13.
DA COMPRENDERE OGGI: display CRT e LCD.
Per il docente: TFT: thin-film transistor, transistor a film sottile. Il display del kit è un pannello TFT con un controller ILI9341. Novità rispetto alla presentazione originale: i display OLED, in cui ogni pixel emette luce propria e non serve retroilluminazione.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tastiera deriva da quella della macchina per scrivere ed è il dispositivo principale per inserire caratteri. I suoi tasti si raggruppano in tasti alfanumerici, tasti speciali, frecce e tasti funzione. Un fatto, già incontrato nella lezione precedente, merita di essere ripetuto: tastiera e display non sono collegati tra loro. Quando una lettera digitata compare sullo schermo, è perché un programma ha letto un codice dalla tastiera e ha disegnato un carattere. Oggi le tastiere si collegano via USB o via radio.
DA COMPRENDERE OGGI: tastiera e mouse.
Per il docente: PS/2 era il connettore standard prima di USB. L'eco di un tasto sullo schermo è un programma: leggi un codice, disegna un carattere.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della pressione di un tasto, da sinistra a destra. I tasti sono interruttori disposti in righe e colonne, così che premere D chiuda un incrocio. Un encoder converte la combinazione di riga e colonna in un codice di n bit. Un registro a scorrimento converte quegli n bit paralleli in n bit seriali. Un'interfaccia seriale, per esempio un controllore USB, consegna il codice al bus di sistema e solleva un'interruzione. L'encoder è quello della Lezione 11 e il registro a scorrimento quello della Lezione 14: ogni blocco di questa slide è già stato progettato nel corso.
DA COMPRENDERE OGGI: tastiera e mouse.
Per il docente: Ogni blocco di questa slide è una macchina che gli studenti hanno già progettato: è il frutto delle Lezioni dalla 11 alla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mouse fu inventato negli anni Sessanta da Douglas Engelbart: una scatola di legno con due rotelle sotto e un cavo che usciva dal retro, come una coda. Le due rotelle misuravano il movimento lungo i due assi. Nel mouse meccanico una sfera fa girare due rulli, ciascuno collegato a un contatore. Nel mouse ottico una sorgente di luce e una minuscola telecamera osservano la superficie sottostante e ne misurano lo spostamento. In ogni caso il movimento viene convertito in due numeri.
DA COMPRENDERE OGGI: tastiera e mouse.
Per il docente: La presentazione originale data il mouse al 1967, l'anno di deposito del brevetto; il primo prototipo è del 1964 e la celebre dimostrazione pubblica del 1968. Contatori: le macchine sequenziali della Lezione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trasmette un mouse. Ogni volta che si sposta di una distanza minima, circa un centesimo di pollice, invia tre byte: lo spostamento lungo x dall'ultimo rapporto, lo spostamento lungo y, e lo stato dei pulsanti. Invia spostamenti, non posizioni: è il programma a mantenere la posizione del puntatore accumulandoli. Internamente, come mostrato a destra, ci sono due contatori, un registro a scorrimento e un'interfaccia seriale. Il software che comunica con il dispositivo è il suo driver.
DA COMPRENDERE OGGI: tastiera e mouse.
Per il docente: La presentazione originale dice che il primo byte riporta lo spostamento «negli ultimi 100 millisecondi»; i mouse moderni riferiscono fino a mille volte al secondo. I byte di spostamento con segno sono numeri in complemento a due (Lezione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stampante è caratterizzata dalla sua velocità, in righe o pagine al minuto, e dalla sua risoluzione, in punti per pollice. Le tecnologie, in ordine storico: le stampanti a margherita e a catena, che battevano caratteri interi e sono ormai in disuso; le stampanti ad aghi, in cui degli aghi colpiscono un nastro inchiostrato; le stampanti a getto d'inchiostro, che proiettano goccioline minuscole; e le stampanti laser. Una stampante è essa stessa un piccolo calcolatore, con un proprio processore, una propria memoria e un proprio firmware.
DA COMPRENDERE OGGI: le stampanti.
Per il docente: In inglese: daisy wheel, chain, dot matrix, ink jet, laser.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stampante laser deriva dalla fotocopiatrice. Un tamburo viene caricato a circa mille volt. Un fascio laser, deviato da uno specchio rotante, percorre il tamburo per la sua lunghezza, acceso e spento per disegnare una riga di punti, e i punti che colpisce perdono la loro carica. Il toner viene attratto dai punti rimasti carichi. Il tamburo viene premuto contro la carta e vi trasferisce il toner, che rulli riscaldati poi fissano. La pagina esiste prima come bitmap nella memoria della stampante, quindi la stampa è, in fondo, un altro frame buffer letto riga per riga.
DA COMPRENDERE OGGI: le stampanti.
Per il docente: Tre slide dell'originale sono fuse in una. La pagina viene prima costruita come bitmap nella memoria della stampante: un frame buffer per la carta.
Immagini: Laser printer-Writing.svg, DMahalko, traced by Stannered, CC BY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dispositivi del kit in una tabella: per ciascuno, la direzione, il collegamento e le funzioni con cui una cartuccia lo usa. Joystick e pulsanti sono ingressi, un interruttore per piedino. Il display è un'uscita su un bus SPI. L'amplificatore con il suo altoparlante è un'uscita su un bus I2S. La radio Wi-Fi e la porta USB operano in entrambe le direzioni. Nessuna di queste connessioni è mai stata toccata direttamente da una cartuccia: il runtime le gestisce e offre funzioni, un'astrazione il cui valore questa lezione rende evidente.
DA COMPRENDERE OGGI: polling, interruzioni, DMA.
Per il docente: Hardware dal README di PRG32 e da docs/hardware. Un interruttore rimbalza per qualche millisecondo quando viene premuto; campionarlo una volta per frame, ogni poche decine di millisecondi, nasconde il rimbalzo.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modi di trattare un dispositivo. Polling: il programma chiede ripetutamente al dispositivo se ha qualcosa; semplice, e dispendioso quando non accade nulla. Interruzioni: il dispositivo chiede attenzione quando ne ha bisogno, come nella Lezione 19. Accesso diretto alla memoria: il dispositivo scambia da sé interi blocchi di dati con la memoria, e il processore viene avvisato solo al completamento. Sul kit sono all'opera tutti e tre: il joystick viene interrogato, il timer interrompe, e display e suono sono alimentati dal DMA. La scelta tra di essi bilancia semplicità, prontezza e tempo del processore.
DA COMPRENDERE OGGI: polling, interruzioni, DMA.
Per il docente: I/O programmato, I/O a interruzioni e DMA. Sul kit sono all'opera tutti e tre: il vostro gioco interroga il joystick, il timer che cadenza i frame interrompe, il display e l'audio sono alimentati in DMA.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considera lo schema della pressione di un tasto: che cosa entra nell'encoder, e che cosa ne esce?
Per la seconda si ricorda la fotografia dei pixel ingranditi e si conta quanti elementi colorati formano un pixel.
Per il docente: 1. Risposta: B. Da una posizione decodificata nella matrice dei tasti a un codice compatto di n bit, come il codificatore della Lezione 11.
2. Risposta: B. Tre sub-pixel, ciascuno una cella di cristalli liquidi dietro un filtro colorato; un TFT in ognuno ne conserva lo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la risposta sta in ciò che manca a una matrice passiva: un elemento in ogni cella che ne conservi lo stato mentre le altre vengono pilotate.
Per la seconda la domanda è chi prende l'iniziativa, il programma o il dispositivo. Nel riscaldamento è il programma, una volta per frame.
Per il docente: 1. Risposta: B. Persistenza: senza un transistor per pixel, le celle rispondono lentamente e conservano male il proprio stato mentre si scandiscono le altre.
2. Risposta: C. Il programma interroga periodicamente il dispositivo. Con le interruzioni sarebbe il dispositivo a chiamare il programma.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Un cathode-ray tube è un tubo a raggi catodici; la backlight è la retroilluminazione. Un pointing device è un qualsiasi dispositivo, come il mouse, che indica una posizione. Le stampanti dot-matrix e ink-jet sono ad aghi e a getto d'inchiostro. Il polling è l'interrogazione ciclica, anche se nella pratica prevale il termine inglese.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 dispositivi di ingresso/uscita sono una parte fondamentale dei calcolatori. La tecnologia dei display è passata da un fascio di elettroni a un transistor dietro ogni pixel. Tastiera, mouse e stampante sono cambiati poco all'esterno, e all'interno consistono di encoder, contatori e registri a scorrimento. Un dispositivo raggiunge il processore attraverso un controllore e un bus, ed è servito con polling, interruzioni o DMA. E sul kit l'intera catena, da un interruttore a un pixel, si può seguire istruzione per istruzione. Segue l'ultima parte di Verm1.
Stato di apprendimento, riepilogo. DA COMPRENDERE OGGI: polling, interruzioni, DMA; display CRT e LCD; tastiera e mouse; le stampanti. DA UTILIZZARE OGGI: il programma completo, gli strumenti di PRG32 (si usa, non si studia, in questo corso). DA COMPRENDERE PIÙ AVANTI: niente. Una slide senza etichetta è contesto: una storia, un esempio, una domanda, un esercizio.
Per il docente: Poi: Verm1, parte 4: il gioco finito. Quindi la sua pubblicazione sul Cartridge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21: Ingresso e uscita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Ingresso e uscita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Display, tastiere, mouse e stampanti: come la macchina incontra il mondo, e come un programma legge un pulsante</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“Need input!”</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Numero 5, nel film Corto circuito (Short Circuit), John Badham, 1986</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21-Architettura_dei_Calcolatori-Ingresso_Uscita-Lab.pptx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come si forma un'immagine su un CRT e su un LCD, e che cosa aggiunge una matrice attiva TFT</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il percorso della pressione di un tasto: matrice, codificatore, registro a scorrimento, interfaccia seriale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che cosa invia un mouse al calcolatore e con quale frequenza</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le fasi della stampa laser</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il kit PRG32 legge il joystick, e confrontare polling, interruzioni e DMA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video: un'introduzione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All'inizio soprattutto display a caratteri in bianco e nero; oggi grafici e a colori</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display grafico è una matrice di punti, i pixel, ciascuno acceso con un'intensità diversa</a:t>
            </a:r>
            <a:endParaRPr lang="en-US" sz="2100" dirty="0"/>
          </a:p>
        </p:txBody>
      </p:sp>
      <p:sp>
        <p:nvSpPr>
          <p:cNvPr id="7" name="Shape 5"/>
          <p:cNvSpPr/>
          <p:nvPr/>
        </p:nvSpPr>
        <p:spPr>
          <a:xfrm>
            <a:off x="548640" y="324269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401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Un'immagine si compone accendendo e spegnendo i pixel</a:t>
            </a:r>
            <a:endParaRPr lang="en-US" sz="2100" dirty="0"/>
          </a:p>
        </p:txBody>
      </p:sp>
      <p:sp>
        <p:nvSpPr>
          <p:cNvPr id="9" name="Shape 7"/>
          <p:cNvSpPr/>
          <p:nvPr/>
        </p:nvSpPr>
        <p:spPr>
          <a:xfrm>
            <a:off x="548640" y="410603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0735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diversa densità di pixel dà una diversa risoluzione; i colori vanno da 256 (8 bit) a 16 milioni (24 bit) e oltre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dimensione si misura in pollici lungo la diagonale: un display da 14 pollici ha una diagonale di 14 pollici</a:t>
            </a:r>
            <a:endParaRPr lang="en-US" sz="2100" dirty="0"/>
          </a:p>
        </p:txBody>
      </p:sp>
      <p:pic>
        <p:nvPicPr>
          <p:cNvPr id="13" name="Image 0" descr="/Users/raffaelemontella/devel/riscv-prg32/computer-architecture-with-prg32/tools/assets/mac_classic.jpg">    </p:cNvPr>
          <p:cNvPicPr>
            <a:picLocks noChangeAspect="1"/>
          </p:cNvPicPr>
          <p:nvPr/>
        </p:nvPicPr>
        <p:blipFill>
          <a:blip r:embed="rId1"/>
          <a:stretch>
            <a:fillRect/>
          </a:stretch>
        </p:blipFill>
        <p:spPr>
          <a:xfrm>
            <a:off x="7920917" y="1417320"/>
            <a:ext cx="3665062"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Macintosh compatto: un CRT in bianco e nero da 9 pollici</a:t>
            </a:r>
            <a:endParaRPr lang="en-US" sz="1200" dirty="0"/>
          </a:p>
        </p:txBody>
      </p:sp>
      <p:sp>
        <p:nvSpPr>
          <p:cNvPr id="15" name="Shape 12"/>
          <p:cNvSpPr/>
          <p:nvPr/>
        </p:nvSpPr>
        <p:spPr>
          <a:xfrm>
            <a:off x="8117281" y="91440"/>
            <a:ext cx="3525774" cy="274320"/>
          </a:xfrm>
          <a:prstGeom prst="rect">
            <a:avLst/>
          </a:prstGeom>
          <a:solidFill>
            <a:srgbClr val="E0F2FE"/>
          </a:solidFill>
          <a:ln w="12700">
            <a:solidFill>
              <a:srgbClr val="0369A1"/>
            </a:solidFill>
            <a:prstDash val="solid"/>
          </a:ln>
        </p:spPr>
      </p:sp>
      <p:sp>
        <p:nvSpPr>
          <p:cNvPr id="16" name="Shape 13"/>
          <p:cNvSpPr/>
          <p:nvPr/>
        </p:nvSpPr>
        <p:spPr>
          <a:xfrm>
            <a:off x="811728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45297" y="128016"/>
            <a:ext cx="201168" cy="201168"/>
          </a:xfrm>
          <a:prstGeom prst="rect">
            <a:avLst/>
          </a:prstGeom>
        </p:spPr>
      </p:pic>
      <p:sp>
        <p:nvSpPr>
          <p:cNvPr id="18" name="Text 1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tubo a raggi catodici: una breve storia</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728135"/>
                <a:gridCol w="672939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 cosa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primi anni 1870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William Crookes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tubo di Crookes: il primo tubo a raggi catodici, uno strumento di laboratorio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1897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Karl Ferdinand Braun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tubo di Braun e il primo oscilloscopio a raggi catodici: la prima applicazione pratica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1907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Boris Rosing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CRT mostra semplici forme geometriche da un segnale video ricevuto: la radice della televisione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1934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Telefunken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primo televisore con CRT sul mercato, in Germania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anni 1970-1990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l'industria 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monitor CRT: il display di ogni terminale e personal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117281" y="91440"/>
            <a:ext cx="3525774" cy="274320"/>
          </a:xfrm>
          <a:prstGeom prst="rect">
            <a:avLst/>
          </a:prstGeom>
          <a:solidFill>
            <a:srgbClr val="E0F2FE"/>
          </a:solidFill>
          <a:ln w="12700">
            <a:solidFill>
              <a:srgbClr val="0369A1"/>
            </a:solidFill>
            <a:prstDash val="solid"/>
          </a:ln>
        </p:spPr>
      </p:sp>
      <p:sp>
        <p:nvSpPr>
          <p:cNvPr id="5" name="Shape 2"/>
          <p:cNvSpPr/>
          <p:nvPr/>
        </p:nvSpPr>
        <p:spPr>
          <a:xfrm>
            <a:off x="811728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7" name="Text 3"/>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Come funziona un CRT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catodo è un piccolo elemento metallico riscaldato fino all'incandescenza, che emette elettroni per effetto termoionico</a:t>
            </a:r>
            <a:endParaRPr lang="en-US" sz="1900" dirty="0"/>
          </a:p>
        </p:txBody>
      </p:sp>
      <p:sp>
        <p:nvSpPr>
          <p:cNvPr id="5" name="Shape 3"/>
          <p:cNvSpPr/>
          <p:nvPr/>
        </p:nvSpPr>
        <p:spPr>
          <a:xfrm>
            <a:off x="548640" y="2521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845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Dentro il tubo gli elettroni sono convogliati in un fascio da un'alta differenza di potenziale tra catodo e anodo</a:t>
            </a:r>
            <a:endParaRPr lang="en-US" sz="1900" dirty="0"/>
          </a:p>
        </p:txBody>
      </p:sp>
      <p:sp>
        <p:nvSpPr>
          <p:cNvPr id="7" name="Shape 5"/>
          <p:cNvSpPr/>
          <p:nvPr/>
        </p:nvSpPr>
        <p:spPr>
          <a:xfrm>
            <a:off x="548640" y="354276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9582"/>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Altri campi elettromagnetici mettono a fuoco il fascio</a:t>
            </a:r>
            <a:endParaRPr lang="en-US" sz="1900" dirty="0"/>
          </a:p>
        </p:txBody>
      </p:sp>
      <p:sp>
        <p:nvSpPr>
          <p:cNvPr id="9" name="Shape 7"/>
          <p:cNvSpPr/>
          <p:nvPr/>
        </p:nvSpPr>
        <p:spPr>
          <a:xfrm>
            <a:off x="548640" y="39751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194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fascio, il pennello elettronico, viene deflesso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da campi magnetici (la forza di Lorentz), o da campi elettrici</a:t>
            </a:r>
            <a:endParaRPr lang="en-US" sz="1900" dirty="0"/>
          </a:p>
        </p:txBody>
      </p:sp>
      <p:sp>
        <p:nvSpPr>
          <p:cNvPr id="11" name="Shape 9"/>
          <p:cNvSpPr/>
          <p:nvPr/>
        </p:nvSpPr>
        <p:spPr>
          <a:xfrm>
            <a:off x="548640" y="493986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56683"/>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Colpisce un punto della superficie interna dello schermo, rivestita di fosforo, che si illumina</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Facendo scorrere il fascio riga per riga, molte volte al secondo, si dipinge l'immagine</a:t>
            </a:r>
            <a:endParaRPr lang="en-US" sz="1900" dirty="0"/>
          </a:p>
        </p:txBody>
      </p:sp>
      <p:pic>
        <p:nvPicPr>
          <p:cNvPr id="15" name="Image 0" descr="/Users/raffaelemontella/devel/riscv-prg32/computer-architecture-with-prg32/tools/assets/crt_scope.jpg">    </p:cNvPr>
          <p:cNvPicPr>
            <a:picLocks noChangeAspect="1"/>
          </p:cNvPicPr>
          <p:nvPr/>
        </p:nvPicPr>
        <p:blipFill>
          <a:blip r:embed="rId1"/>
          <a:stretch>
            <a:fillRect/>
          </a:stretch>
        </p:blipFill>
        <p:spPr>
          <a:xfrm>
            <a:off x="7863840" y="1888296"/>
            <a:ext cx="3779215" cy="3355729"/>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oscilloscopio a raggi catodici usato come display</a:t>
            </a:r>
            <a:endParaRPr lang="en-US" sz="1200" dirty="0"/>
          </a:p>
        </p:txBody>
      </p:sp>
      <p:sp>
        <p:nvSpPr>
          <p:cNvPr id="17" name="Shape 14"/>
          <p:cNvSpPr/>
          <p:nvPr/>
        </p:nvSpPr>
        <p:spPr>
          <a:xfrm>
            <a:off x="8117281" y="91440"/>
            <a:ext cx="3525774" cy="274320"/>
          </a:xfrm>
          <a:prstGeom prst="rect">
            <a:avLst/>
          </a:prstGeom>
          <a:solidFill>
            <a:srgbClr val="E0F2FE"/>
          </a:solidFill>
          <a:ln w="12700">
            <a:solidFill>
              <a:srgbClr val="0369A1"/>
            </a:solidFill>
            <a:prstDash val="solid"/>
          </a:ln>
        </p:spPr>
      </p:sp>
      <p:sp>
        <p:nvSpPr>
          <p:cNvPr id="18" name="Shape 15"/>
          <p:cNvSpPr/>
          <p:nvPr/>
        </p:nvSpPr>
        <p:spPr>
          <a:xfrm>
            <a:off x="8117281"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8245297" y="128016"/>
            <a:ext cx="201168" cy="201168"/>
          </a:xfrm>
          <a:prstGeom prst="rect">
            <a:avLst/>
          </a:prstGeom>
        </p:spPr>
      </p:pic>
      <p:sp>
        <p:nvSpPr>
          <p:cNvPr id="20" name="Text 16"/>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display a cristalli liquidi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monitor LCD hanno sostituito quasi del tutto il tubo a raggi catodici</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Vantaggi: immagine migliore; meno ingombro, peso e consumo; minore affaticamento della vista</a:t>
            </a:r>
            <a:endParaRPr lang="en-US" sz="2100" dirty="0"/>
          </a:p>
        </p:txBody>
      </p:sp>
      <p:sp>
        <p:nvSpPr>
          <p:cNvPr id="7" name="Shape 5"/>
          <p:cNvSpPr/>
          <p:nvPr/>
        </p:nvSpPr>
        <p:spPr>
          <a:xfrm>
            <a:off x="548640" y="3080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13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cristalli liquidi sono molecole organiche viscose che scorrono come un liquido ma hanno una struttura spaziale</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campo elettrico cambia l'orientamento delle molecole, e con esso le proprietà ottiche del cristallo: l'angolo di polarizzazione della luce che lo attraversa</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cristallo è una valvola per la luce, aperta e chiusa da una tensione</a:t>
            </a:r>
            <a:endParaRPr lang="en-US" sz="2100" dirty="0"/>
          </a:p>
        </p:txBody>
      </p:sp>
      <p:pic>
        <p:nvPicPr>
          <p:cNvPr id="13" name="Image 0" descr="/Users/raffaelemontella/devel/riscv-prg32/computer-architecture-with-prg32/tools/assets/lcd_layers.jpg">    </p:cNvPr>
          <p:cNvPicPr>
            <a:picLocks noChangeAspect="1"/>
          </p:cNvPicPr>
          <p:nvPr/>
        </p:nvPicPr>
        <p:blipFill>
          <a:blip r:embed="rId1"/>
          <a:stretch>
            <a:fillRect/>
          </a:stretch>
        </p:blipFill>
        <p:spPr>
          <a:xfrm>
            <a:off x="7863840" y="2501447"/>
            <a:ext cx="3779215" cy="2129427"/>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Gli strati di un display a cristalli liquidi</a:t>
            </a:r>
            <a:endParaRPr lang="en-US" sz="1200" dirty="0"/>
          </a:p>
        </p:txBody>
      </p:sp>
      <p:sp>
        <p:nvSpPr>
          <p:cNvPr id="15" name="Shape 12"/>
          <p:cNvSpPr/>
          <p:nvPr/>
        </p:nvSpPr>
        <p:spPr>
          <a:xfrm>
            <a:off x="8117281" y="91440"/>
            <a:ext cx="3525774" cy="274320"/>
          </a:xfrm>
          <a:prstGeom prst="rect">
            <a:avLst/>
          </a:prstGeom>
          <a:solidFill>
            <a:srgbClr val="E0F2FE"/>
          </a:solidFill>
          <a:ln w="12700">
            <a:solidFill>
              <a:srgbClr val="0369A1"/>
            </a:solidFill>
            <a:prstDash val="solid"/>
          </a:ln>
        </p:spPr>
      </p:sp>
      <p:sp>
        <p:nvSpPr>
          <p:cNvPr id="16" name="Shape 13"/>
          <p:cNvSpPr/>
          <p:nvPr/>
        </p:nvSpPr>
        <p:spPr>
          <a:xfrm>
            <a:off x="811728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45297" y="128016"/>
            <a:ext cx="201168" cy="201168"/>
          </a:xfrm>
          <a:prstGeom prst="rect">
            <a:avLst/>
          </a:prstGeom>
        </p:spPr>
      </p:pic>
      <p:sp>
        <p:nvSpPr>
          <p:cNvPr id="18" name="Text 1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Dentro un pannello LCD</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Lo schermo è fatto di molte celle, spesso una per pixel, in cui sono intrappolati i cristalli liquidi</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cella ha contatti elettrici, così che si possa applicare un campo al liquido che contiene</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celle stanno tra due filtri polarizzatori con gli assi perpendicolari tra loro, con una luce dietro quello posteriore</a:t>
            </a:r>
            <a:endParaRPr lang="en-US" sz="2000" dirty="0"/>
          </a:p>
        </p:txBody>
      </p:sp>
      <p:sp>
        <p:nvSpPr>
          <p:cNvPr id="9" name="Shape 7"/>
          <p:cNvSpPr/>
          <p:nvPr/>
        </p:nvSpPr>
        <p:spPr>
          <a:xfrm>
            <a:off x="548640" y="427196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1"/>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polarizzazione decide se la luce passa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cristalli non pilotati: la luce viene ruotata e attraversa il polarizzatore anteriore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cristalli pilotati: la luce è bloccata del tutto</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uno schermo a colori ogni cella è divisa in tre sezioni con un filtro rosso, uno verde e uno blu</a:t>
            </a:r>
            <a:endParaRPr lang="en-US" sz="2000" dirty="0"/>
          </a:p>
        </p:txBody>
      </p:sp>
      <p:pic>
        <p:nvPicPr>
          <p:cNvPr id="13" name="Image 0" descr="/Users/raffaelemontella/devel/riscv-prg32/computer-architecture-with-prg32/tools/assets/lcd_pixels.jpg">    </p:cNvPr>
          <p:cNvPicPr>
            <a:picLocks noChangeAspect="1"/>
          </p:cNvPicPr>
          <p:nvPr/>
        </p:nvPicPr>
        <p:blipFill>
          <a:blip r:embed="rId1"/>
          <a:stretch>
            <a:fillRect/>
          </a:stretch>
        </p:blipFill>
        <p:spPr>
          <a:xfrm>
            <a:off x="8798749" y="1417320"/>
            <a:ext cx="1909398"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Sub-pixel rossi, verdi e blu sotto la lente</a:t>
            </a:r>
            <a:endParaRPr lang="en-US" sz="1200" dirty="0"/>
          </a:p>
        </p:txBody>
      </p:sp>
      <p:sp>
        <p:nvSpPr>
          <p:cNvPr id="15" name="Shape 12"/>
          <p:cNvSpPr/>
          <p:nvPr/>
        </p:nvSpPr>
        <p:spPr>
          <a:xfrm>
            <a:off x="8117281" y="91440"/>
            <a:ext cx="3525774" cy="274320"/>
          </a:xfrm>
          <a:prstGeom prst="rect">
            <a:avLst/>
          </a:prstGeom>
          <a:solidFill>
            <a:srgbClr val="E0F2FE"/>
          </a:solidFill>
          <a:ln w="12700">
            <a:solidFill>
              <a:srgbClr val="0369A1"/>
            </a:solidFill>
            <a:prstDash val="solid"/>
          </a:ln>
        </p:spPr>
      </p:sp>
      <p:sp>
        <p:nvSpPr>
          <p:cNvPr id="16" name="Shape 13"/>
          <p:cNvSpPr/>
          <p:nvPr/>
        </p:nvSpPr>
        <p:spPr>
          <a:xfrm>
            <a:off x="811728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45297" y="128016"/>
            <a:ext cx="201168" cy="201168"/>
          </a:xfrm>
          <a:prstGeom prst="rect">
            <a:avLst/>
          </a:prstGeom>
        </p:spPr>
      </p:pic>
      <p:sp>
        <p:nvSpPr>
          <p:cNvPr id="18" name="Text 1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Pilotare le celle: dai segmenti alla matrice attiva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Segmenti e matrice passiva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Calcolatrici e orologi digitali: un contatto elettrico per segmento</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Impossibile quando il numero di elementi cresce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Matrice passiva: un gruppo di contatti per riga e per colonna, non per pixel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Si pilota un solo pixel alla volta: gli altri devono ricordare il proprio stato</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Problemi: persistenza (scie dietro gli oggetti in movimento) e diafonia</a:t>
            </a:r>
            <a:endParaRPr lang="en-US" sz="17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Matrice attiva: TFT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Usata per gli schermi ad alta risoluzione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Il pannello contiene un film sottile di transistor, su uno strato semiconduttore trasparente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Il campo è applicato esattamente dove serve da un transistor in ogni cella</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Il transistor conserva lo stato elettrico del suo pixel mentre gli altri vengono aggiornati</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Ogni pixel è, di fatto, una cella di memoria analogica</a:t>
            </a:r>
            <a:endParaRPr lang="en-US" sz="1700" dirty="0"/>
          </a:p>
        </p:txBody>
      </p:sp>
      <p:sp>
        <p:nvSpPr>
          <p:cNvPr id="9" name="Shape 7"/>
          <p:cNvSpPr/>
          <p:nvPr/>
        </p:nvSpPr>
        <p:spPr>
          <a:xfrm>
            <a:off x="8117281" y="91440"/>
            <a:ext cx="3525774" cy="274320"/>
          </a:xfrm>
          <a:prstGeom prst="rect">
            <a:avLst/>
          </a:prstGeom>
          <a:solidFill>
            <a:srgbClr val="E0F2FE"/>
          </a:solidFill>
          <a:ln w="12700">
            <a:solidFill>
              <a:srgbClr val="0369A1"/>
            </a:solidFill>
            <a:prstDash val="solid"/>
          </a:ln>
        </p:spPr>
      </p:sp>
      <p:sp>
        <p:nvSpPr>
          <p:cNvPr id="10" name="Shape 8"/>
          <p:cNvSpPr/>
          <p:nvPr/>
        </p:nvSpPr>
        <p:spPr>
          <a:xfrm>
            <a:off x="811728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12" name="Text 9"/>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tastiera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Derivata da quella delle macchine per scrivere; il principale dispositivo di ingresso per i caratteri</a:t>
            </a:r>
            <a:endParaRPr lang="en-US" sz="22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4303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suoi tasti sono raggruppati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tasti alfanumerici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tasti speciali: invio, backspace, ...</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tasti freccia e tasti funzione</a:t>
            </a:r>
            <a:endParaRPr lang="en-US" sz="2200" dirty="0"/>
          </a:p>
        </p:txBody>
      </p:sp>
      <p:sp>
        <p:nvSpPr>
          <p:cNvPr id="7" name="Shape 5"/>
          <p:cNvSpPr/>
          <p:nvPr/>
        </p:nvSpPr>
        <p:spPr>
          <a:xfrm>
            <a:off x="548640" y="422719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12076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Tastiera e video non sono collegati direttamente tra loro</a:t>
            </a:r>
            <a:endParaRPr lang="en-US" sz="2200" dirty="0"/>
          </a:p>
        </p:txBody>
      </p:sp>
      <p:sp>
        <p:nvSpPr>
          <p:cNvPr id="9" name="Shape 7"/>
          <p:cNvSpPr/>
          <p:nvPr/>
        </p:nvSpPr>
        <p:spPr>
          <a:xfrm>
            <a:off x="548640" y="491204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05617"/>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il processore a riprodurre sul video le informazioni battute sulla tastiera</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tastiere di oggi si collegano via USB, o senza fili</a:t>
            </a:r>
            <a:endParaRPr lang="en-US" sz="2200" dirty="0"/>
          </a:p>
        </p:txBody>
      </p:sp>
      <p:sp>
        <p:nvSpPr>
          <p:cNvPr id="13" name="Shape 11"/>
          <p:cNvSpPr/>
          <p:nvPr/>
        </p:nvSpPr>
        <p:spPr>
          <a:xfrm>
            <a:off x="8182940" y="91440"/>
            <a:ext cx="3460115" cy="274320"/>
          </a:xfrm>
          <a:prstGeom prst="rect">
            <a:avLst/>
          </a:prstGeom>
          <a:solidFill>
            <a:srgbClr val="E0F2FE"/>
          </a:solidFill>
          <a:ln w="12700">
            <a:solidFill>
              <a:srgbClr val="0369A1"/>
            </a:solidFill>
            <a:prstDash val="solid"/>
          </a:ln>
        </p:spPr>
      </p:sp>
      <p:sp>
        <p:nvSpPr>
          <p:cNvPr id="14" name="Shape 12"/>
          <p:cNvSpPr/>
          <p:nvPr/>
        </p:nvSpPr>
        <p:spPr>
          <a:xfrm>
            <a:off x="8182940"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6" name="Text 13"/>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tastiera e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percorso della pressione di un tasto</a:t>
            </a:r>
            <a:endParaRPr lang="en-US" sz="3200" dirty="0"/>
          </a:p>
        </p:txBody>
      </p:sp>
      <p:sp>
        <p:nvSpPr>
          <p:cNvPr id="3" name="Text 1"/>
          <p:cNvSpPr txBox="1"/>
          <p:nvPr/>
        </p:nvSpPr>
        <p:spPr>
          <a:xfrm>
            <a:off x="54864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Q</a:t>
            </a:r>
            <a:endParaRPr lang="en-US" sz="1500" dirty="0"/>
          </a:p>
        </p:txBody>
      </p:sp>
      <p:sp>
        <p:nvSpPr>
          <p:cNvPr id="4" name="Text 2"/>
          <p:cNvSpPr txBox="1"/>
          <p:nvPr/>
        </p:nvSpPr>
        <p:spPr>
          <a:xfrm>
            <a:off x="1115568"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W</a:t>
            </a:r>
            <a:endParaRPr lang="en-US" sz="1500" dirty="0"/>
          </a:p>
        </p:txBody>
      </p:sp>
      <p:sp>
        <p:nvSpPr>
          <p:cNvPr id="5" name="Text 3"/>
          <p:cNvSpPr txBox="1"/>
          <p:nvPr/>
        </p:nvSpPr>
        <p:spPr>
          <a:xfrm>
            <a:off x="1682496"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E</a:t>
            </a:r>
            <a:endParaRPr lang="en-US" sz="1500" dirty="0"/>
          </a:p>
        </p:txBody>
      </p:sp>
      <p:sp>
        <p:nvSpPr>
          <p:cNvPr id="6" name="Text 4"/>
          <p:cNvSpPr txBox="1"/>
          <p:nvPr/>
        </p:nvSpPr>
        <p:spPr>
          <a:xfrm>
            <a:off x="2249424"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R</a:t>
            </a:r>
            <a:endParaRPr lang="en-US" sz="1500" dirty="0"/>
          </a:p>
        </p:txBody>
      </p:sp>
      <p:sp>
        <p:nvSpPr>
          <p:cNvPr id="7" name="Text 5"/>
          <p:cNvSpPr txBox="1"/>
          <p:nvPr/>
        </p:nvSpPr>
        <p:spPr>
          <a:xfrm>
            <a:off x="2816352"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t>
            </a:r>
            <a:endParaRPr lang="en-US" sz="1500" dirty="0"/>
          </a:p>
        </p:txBody>
      </p:sp>
      <p:sp>
        <p:nvSpPr>
          <p:cNvPr id="8" name="Text 6"/>
          <p:cNvSpPr txBox="1"/>
          <p:nvPr/>
        </p:nvSpPr>
        <p:spPr>
          <a:xfrm>
            <a:off x="338328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Y</a:t>
            </a:r>
            <a:endParaRPr lang="en-US" sz="1500" dirty="0"/>
          </a:p>
        </p:txBody>
      </p:sp>
      <p:sp>
        <p:nvSpPr>
          <p:cNvPr id="9" name="Text 7"/>
          <p:cNvSpPr txBox="1"/>
          <p:nvPr/>
        </p:nvSpPr>
        <p:spPr>
          <a:xfrm>
            <a:off x="73152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A</a:t>
            </a:r>
            <a:endParaRPr lang="en-US" sz="1500" dirty="0"/>
          </a:p>
        </p:txBody>
      </p:sp>
      <p:sp>
        <p:nvSpPr>
          <p:cNvPr id="10" name="Text 8"/>
          <p:cNvSpPr txBox="1"/>
          <p:nvPr/>
        </p:nvSpPr>
        <p:spPr>
          <a:xfrm>
            <a:off x="1298448"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S</a:t>
            </a:r>
            <a:endParaRPr lang="en-US" sz="1500" dirty="0"/>
          </a:p>
        </p:txBody>
      </p:sp>
      <p:sp>
        <p:nvSpPr>
          <p:cNvPr id="11" name="Text 9"/>
          <p:cNvSpPr txBox="1"/>
          <p:nvPr/>
        </p:nvSpPr>
        <p:spPr>
          <a:xfrm>
            <a:off x="1865376" y="2167128"/>
            <a:ext cx="493776" cy="493776"/>
          </a:xfrm>
          <a:prstGeom prst="roundRect">
            <a:avLst>
              <a:gd name="adj" fmla="val 9259"/>
            </a:avLst>
          </a:prstGeom>
          <a:solidFill>
            <a:srgbClr val="C7791B"/>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D</a:t>
            </a:r>
            <a:endParaRPr lang="en-US" sz="1500" dirty="0"/>
          </a:p>
        </p:txBody>
      </p:sp>
      <p:sp>
        <p:nvSpPr>
          <p:cNvPr id="12" name="Text 10"/>
          <p:cNvSpPr txBox="1"/>
          <p:nvPr/>
        </p:nvSpPr>
        <p:spPr>
          <a:xfrm>
            <a:off x="2432304"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F</a:t>
            </a:r>
            <a:endParaRPr lang="en-US" sz="1500" dirty="0"/>
          </a:p>
        </p:txBody>
      </p:sp>
      <p:sp>
        <p:nvSpPr>
          <p:cNvPr id="13" name="Text 11"/>
          <p:cNvSpPr txBox="1"/>
          <p:nvPr/>
        </p:nvSpPr>
        <p:spPr>
          <a:xfrm>
            <a:off x="2999232"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G</a:t>
            </a:r>
            <a:endParaRPr lang="en-US" sz="1500" dirty="0"/>
          </a:p>
        </p:txBody>
      </p:sp>
      <p:sp>
        <p:nvSpPr>
          <p:cNvPr id="14" name="Text 12"/>
          <p:cNvSpPr txBox="1"/>
          <p:nvPr/>
        </p:nvSpPr>
        <p:spPr>
          <a:xfrm>
            <a:off x="356616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H</a:t>
            </a:r>
            <a:endParaRPr lang="en-US" sz="1500" dirty="0"/>
          </a:p>
        </p:txBody>
      </p:sp>
      <p:sp>
        <p:nvSpPr>
          <p:cNvPr id="15" name="Text 13"/>
          <p:cNvSpPr txBox="1"/>
          <p:nvPr/>
        </p:nvSpPr>
        <p:spPr>
          <a:xfrm>
            <a:off x="91440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Z</a:t>
            </a:r>
            <a:endParaRPr lang="en-US" sz="1500" dirty="0"/>
          </a:p>
        </p:txBody>
      </p:sp>
      <p:sp>
        <p:nvSpPr>
          <p:cNvPr id="16" name="Text 14"/>
          <p:cNvSpPr txBox="1"/>
          <p:nvPr/>
        </p:nvSpPr>
        <p:spPr>
          <a:xfrm>
            <a:off x="1481328"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X</a:t>
            </a:r>
            <a:endParaRPr lang="en-US" sz="1500" dirty="0"/>
          </a:p>
        </p:txBody>
      </p:sp>
      <p:sp>
        <p:nvSpPr>
          <p:cNvPr id="17" name="Text 15"/>
          <p:cNvSpPr txBox="1"/>
          <p:nvPr/>
        </p:nvSpPr>
        <p:spPr>
          <a:xfrm>
            <a:off x="2048256"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t>
            </a:r>
            <a:endParaRPr lang="en-US" sz="1500" dirty="0"/>
          </a:p>
        </p:txBody>
      </p:sp>
      <p:sp>
        <p:nvSpPr>
          <p:cNvPr id="18" name="Text 16"/>
          <p:cNvSpPr txBox="1"/>
          <p:nvPr/>
        </p:nvSpPr>
        <p:spPr>
          <a:xfrm>
            <a:off x="2615184"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V</a:t>
            </a:r>
            <a:endParaRPr lang="en-US" sz="1500" dirty="0"/>
          </a:p>
        </p:txBody>
      </p:sp>
      <p:sp>
        <p:nvSpPr>
          <p:cNvPr id="19" name="Text 17"/>
          <p:cNvSpPr txBox="1"/>
          <p:nvPr/>
        </p:nvSpPr>
        <p:spPr>
          <a:xfrm>
            <a:off x="3182112"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B</a:t>
            </a:r>
            <a:endParaRPr lang="en-US" sz="1500" dirty="0"/>
          </a:p>
        </p:txBody>
      </p:sp>
      <p:sp>
        <p:nvSpPr>
          <p:cNvPr id="20" name="Text 18"/>
          <p:cNvSpPr txBox="1"/>
          <p:nvPr/>
        </p:nvSpPr>
        <p:spPr>
          <a:xfrm>
            <a:off x="374904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N</a:t>
            </a:r>
            <a:endParaRPr lang="en-US" sz="1500" dirty="0"/>
          </a:p>
        </p:txBody>
      </p:sp>
      <p:sp>
        <p:nvSpPr>
          <p:cNvPr id="21" name="Text 19"/>
          <p:cNvSpPr txBox="1"/>
          <p:nvPr/>
        </p:nvSpPr>
        <p:spPr>
          <a:xfrm>
            <a:off x="548640" y="3337560"/>
            <a:ext cx="384048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righe e colonne di interruttori</a:t>
            </a:r>
            <a:endParaRPr lang="en-US" sz="1250" dirty="0"/>
          </a:p>
        </p:txBody>
      </p:sp>
      <p:sp>
        <p:nvSpPr>
          <p:cNvPr id="22" name="Text 20"/>
          <p:cNvSpPr txBox="1"/>
          <p:nvPr/>
        </p:nvSpPr>
        <p:spPr>
          <a:xfrm>
            <a:off x="4572000" y="1783080"/>
            <a:ext cx="2148840" cy="1188720"/>
          </a:xfrm>
          <a:prstGeom prst="roundRect">
            <a:avLst>
              <a:gd name="adj" fmla="val 4615"/>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codificatore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da riga e colonna</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a un codice di n bit</a:t>
            </a:r>
            <a:endParaRPr lang="en-US" sz="1500" dirty="0"/>
          </a:p>
        </p:txBody>
      </p:sp>
      <p:sp>
        <p:nvSpPr>
          <p:cNvPr id="23" name="Shape 21"/>
          <p:cNvSpPr/>
          <p:nvPr/>
        </p:nvSpPr>
        <p:spPr>
          <a:xfrm>
            <a:off x="4270248" y="2377440"/>
            <a:ext cx="274320" cy="0"/>
          </a:xfrm>
          <a:prstGeom prst="line">
            <a:avLst/>
          </a:prstGeom>
          <a:noFill/>
          <a:ln w="31750">
            <a:solidFill>
              <a:srgbClr val="5B6B78"/>
            </a:solidFill>
            <a:prstDash val="solid"/>
            <a:tailEnd type="triangle"/>
          </a:ln>
        </p:spPr>
      </p:sp>
      <p:sp>
        <p:nvSpPr>
          <p:cNvPr id="24" name="Text 22"/>
          <p:cNvSpPr txBox="1"/>
          <p:nvPr/>
        </p:nvSpPr>
        <p:spPr>
          <a:xfrm>
            <a:off x="7040880" y="1783080"/>
            <a:ext cx="2148840" cy="1188720"/>
          </a:xfrm>
          <a:prstGeom prst="roundRect">
            <a:avLst>
              <a:gd name="adj" fmla="val 4615"/>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registro a scorrimento</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da n bit in parallelo</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a n bit in serie</a:t>
            </a:r>
            <a:endParaRPr lang="en-US" sz="1500" dirty="0"/>
          </a:p>
        </p:txBody>
      </p:sp>
      <p:sp>
        <p:nvSpPr>
          <p:cNvPr id="25" name="Shape 23"/>
          <p:cNvSpPr/>
          <p:nvPr/>
        </p:nvSpPr>
        <p:spPr>
          <a:xfrm>
            <a:off x="6739128" y="2377440"/>
            <a:ext cx="274320" cy="0"/>
          </a:xfrm>
          <a:prstGeom prst="line">
            <a:avLst/>
          </a:prstGeom>
          <a:noFill/>
          <a:ln w="31750">
            <a:solidFill>
              <a:srgbClr val="5B6B78"/>
            </a:solidFill>
            <a:prstDash val="solid"/>
            <a:tailEnd type="triangle"/>
          </a:ln>
        </p:spPr>
      </p:sp>
      <p:sp>
        <p:nvSpPr>
          <p:cNvPr id="26" name="Text 24"/>
          <p:cNvSpPr txBox="1"/>
          <p:nvPr/>
        </p:nvSpPr>
        <p:spPr>
          <a:xfrm>
            <a:off x="9509760" y="1783080"/>
            <a:ext cx="2148840" cy="1188720"/>
          </a:xfrm>
          <a:prstGeom prst="roundRect">
            <a:avLst>
              <a:gd name="adj" fmla="val 4615"/>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interfaccia seriale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 esempio</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un controller USB</a:t>
            </a:r>
            <a:endParaRPr lang="en-US" sz="1500" dirty="0"/>
          </a:p>
        </p:txBody>
      </p:sp>
      <p:sp>
        <p:nvSpPr>
          <p:cNvPr id="27" name="Shape 25"/>
          <p:cNvSpPr/>
          <p:nvPr/>
        </p:nvSpPr>
        <p:spPr>
          <a:xfrm>
            <a:off x="9208008" y="2377440"/>
            <a:ext cx="274320" cy="0"/>
          </a:xfrm>
          <a:prstGeom prst="line">
            <a:avLst/>
          </a:prstGeom>
          <a:noFill/>
          <a:ln w="31750">
            <a:solidFill>
              <a:srgbClr val="5B6B78"/>
            </a:solidFill>
            <a:prstDash val="solid"/>
            <a:tailEnd type="triangle"/>
          </a:ln>
        </p:spPr>
      </p:sp>
      <p:sp>
        <p:nvSpPr>
          <p:cNvPr id="28" name="Shape 26"/>
          <p:cNvSpPr/>
          <p:nvPr/>
        </p:nvSpPr>
        <p:spPr>
          <a:xfrm>
            <a:off x="10584180" y="2999232"/>
            <a:ext cx="0" cy="658368"/>
          </a:xfrm>
          <a:prstGeom prst="line">
            <a:avLst/>
          </a:prstGeom>
          <a:noFill/>
          <a:ln w="31750">
            <a:solidFill>
              <a:srgbClr val="5B6B78"/>
            </a:solidFill>
            <a:prstDash val="solid"/>
            <a:tailEnd type="triangle"/>
          </a:ln>
        </p:spPr>
      </p:sp>
      <p:sp>
        <p:nvSpPr>
          <p:cNvPr id="29" name="Shape 27"/>
          <p:cNvSpPr/>
          <p:nvPr/>
        </p:nvSpPr>
        <p:spPr>
          <a:xfrm>
            <a:off x="4572000" y="3703320"/>
            <a:ext cx="7071055" cy="0"/>
          </a:xfrm>
          <a:prstGeom prst="line">
            <a:avLst/>
          </a:prstGeom>
          <a:noFill/>
          <a:ln w="76200">
            <a:solidFill>
              <a:srgbClr val="C7791B"/>
            </a:solidFill>
            <a:prstDash val="solid"/>
          </a:ln>
        </p:spPr>
      </p:sp>
      <p:sp>
        <p:nvSpPr>
          <p:cNvPr id="30" name="Text 28"/>
          <p:cNvSpPr txBox="1"/>
          <p:nvPr/>
        </p:nvSpPr>
        <p:spPr>
          <a:xfrm>
            <a:off x="4572000" y="3794760"/>
            <a:ext cx="18288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bus di sistema</a:t>
            </a:r>
            <a:endParaRPr lang="en-US" sz="1300" dirty="0"/>
          </a:p>
        </p:txBody>
      </p:sp>
      <p:sp>
        <p:nvSpPr>
          <p:cNvPr id="31" name="Shape 29"/>
          <p:cNvSpPr/>
          <p:nvPr/>
        </p:nvSpPr>
        <p:spPr>
          <a:xfrm>
            <a:off x="548640" y="4357624"/>
            <a:ext cx="146304" cy="146304"/>
          </a:xfrm>
          <a:prstGeom prst="rect">
            <a:avLst/>
          </a:prstGeom>
          <a:solidFill>
            <a:srgbClr val="0E7C86"/>
          </a:solidFill>
          <a:ln w="12700">
            <a:solidFill>
              <a:srgbClr val="0E7C86"/>
            </a:solidFill>
            <a:prstDash val="solid"/>
          </a:ln>
        </p:spPr>
      </p:sp>
      <p:sp>
        <p:nvSpPr>
          <p:cNvPr id="32" name="Text 30"/>
          <p:cNvSpPr txBox="1"/>
          <p:nvPr/>
        </p:nvSpPr>
        <p:spPr>
          <a:xfrm>
            <a:off x="932688" y="429768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La tastiera è gestita da un controller della tastiera</a:t>
            </a:r>
            <a:endParaRPr lang="en-US" sz="1600" dirty="0"/>
          </a:p>
        </p:txBody>
      </p:sp>
      <p:sp>
        <p:nvSpPr>
          <p:cNvPr id="33" name="Shape 31"/>
          <p:cNvSpPr/>
          <p:nvPr/>
        </p:nvSpPr>
        <p:spPr>
          <a:xfrm>
            <a:off x="548640" y="4734560"/>
            <a:ext cx="146304" cy="146304"/>
          </a:xfrm>
          <a:prstGeom prst="rect">
            <a:avLst/>
          </a:prstGeom>
          <a:solidFill>
            <a:srgbClr val="C7791B"/>
          </a:solidFill>
          <a:ln w="12700">
            <a:solidFill>
              <a:srgbClr val="C7791B"/>
            </a:solidFill>
            <a:prstDash val="solid"/>
          </a:ln>
        </p:spPr>
      </p:sp>
      <p:sp>
        <p:nvSpPr>
          <p:cNvPr id="34" name="Text 32"/>
          <p:cNvSpPr txBox="1"/>
          <p:nvPr/>
        </p:nvSpPr>
        <p:spPr>
          <a:xfrm>
            <a:off x="932688" y="4674616"/>
            <a:ext cx="10710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Il codificatore trasforma una combinazione di riga e colonna in un codice di n bit: il codificatore della Lezione 11</a:t>
            </a:r>
            <a:endParaRPr lang="en-US" sz="1600" dirty="0"/>
          </a:p>
        </p:txBody>
      </p:sp>
      <p:sp>
        <p:nvSpPr>
          <p:cNvPr id="35" name="Shape 33"/>
          <p:cNvSpPr/>
          <p:nvPr/>
        </p:nvSpPr>
        <p:spPr>
          <a:xfrm>
            <a:off x="548640" y="5359400"/>
            <a:ext cx="146304" cy="146304"/>
          </a:xfrm>
          <a:prstGeom prst="rect">
            <a:avLst/>
          </a:prstGeom>
          <a:solidFill>
            <a:srgbClr val="0E7C86"/>
          </a:solidFill>
          <a:ln w="12700">
            <a:solidFill>
              <a:srgbClr val="0E7C86"/>
            </a:solidFill>
            <a:prstDash val="solid"/>
          </a:ln>
        </p:spPr>
      </p:sp>
      <p:sp>
        <p:nvSpPr>
          <p:cNvPr id="36" name="Text 34"/>
          <p:cNvSpPr txBox="1"/>
          <p:nvPr/>
        </p:nvSpPr>
        <p:spPr>
          <a:xfrm>
            <a:off x="932688" y="5299456"/>
            <a:ext cx="10710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Il registro a scorrimento trasforma gli n bit in una sequenza, da trattare in serie: il registro a scorrimento della Lezione 14</a:t>
            </a:r>
            <a:endParaRPr lang="en-US" sz="1600" dirty="0"/>
          </a:p>
        </p:txBody>
      </p:sp>
      <p:sp>
        <p:nvSpPr>
          <p:cNvPr id="37" name="Shape 35"/>
          <p:cNvSpPr/>
          <p:nvPr/>
        </p:nvSpPr>
        <p:spPr>
          <a:xfrm>
            <a:off x="548640" y="5984240"/>
            <a:ext cx="146304" cy="146304"/>
          </a:xfrm>
          <a:prstGeom prst="rect">
            <a:avLst/>
          </a:prstGeom>
          <a:solidFill>
            <a:srgbClr val="C7791B"/>
          </a:solidFill>
          <a:ln w="12700">
            <a:solidFill>
              <a:srgbClr val="C7791B"/>
            </a:solidFill>
            <a:prstDash val="solid"/>
          </a:ln>
        </p:spPr>
      </p:sp>
      <p:sp>
        <p:nvSpPr>
          <p:cNvPr id="38" name="Text 36"/>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L'interfaccia seriale invia il codice al bus di sistema nel modo dovuto, e alza un'interruzione</a:t>
            </a:r>
            <a:endParaRPr lang="en-US" sz="1600" dirty="0"/>
          </a:p>
        </p:txBody>
      </p:sp>
      <p:sp>
        <p:nvSpPr>
          <p:cNvPr id="39" name="Shape 37"/>
          <p:cNvSpPr/>
          <p:nvPr/>
        </p:nvSpPr>
        <p:spPr>
          <a:xfrm>
            <a:off x="8182940" y="91440"/>
            <a:ext cx="3460115" cy="274320"/>
          </a:xfrm>
          <a:prstGeom prst="rect">
            <a:avLst/>
          </a:prstGeom>
          <a:solidFill>
            <a:srgbClr val="E0F2FE"/>
          </a:solidFill>
          <a:ln w="12700">
            <a:solidFill>
              <a:srgbClr val="0369A1"/>
            </a:solidFill>
            <a:prstDash val="solid"/>
          </a:ln>
        </p:spPr>
      </p:sp>
      <p:sp>
        <p:nvSpPr>
          <p:cNvPr id="40" name="Shape 38"/>
          <p:cNvSpPr/>
          <p:nvPr/>
        </p:nvSpPr>
        <p:spPr>
          <a:xfrm>
            <a:off x="8182940" y="91440"/>
            <a:ext cx="73152" cy="274320"/>
          </a:xfrm>
          <a:prstGeom prst="rect">
            <a:avLst/>
          </a:prstGeom>
          <a:solidFill>
            <a:srgbClr val="0369A1"/>
          </a:solidFill>
          <a:ln w="12700">
            <a:solidFill>
              <a:srgbClr val="0369A1"/>
            </a:solidFill>
            <a:prstDash val="solid"/>
          </a:ln>
        </p:spPr>
      </p:sp>
      <p:pic>
        <p:nvPicPr>
          <p:cNvPr id="41"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42" name="Text 39"/>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tastiera e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mouse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Inventato negli anni Sessanta da Douglas Engelbart: il primo dispositivo di puntamento della storia</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scatola di legno con due ruote sotto e un filo che esce da dietro, come la coda di un topo</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due ruote rilevavano i movimenti lungo l'asse orizzontale e quello verticale; l'elettronica li trasformava in segnali elettrici</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Mouse meccanico: una pallina fa girare due rulli, ciascuno collegato a un contatore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Mouse ottico: una sorgente di luce e una minuscola telecamera misurano il movimento della superficie sottostante</a:t>
            </a:r>
            <a:endParaRPr lang="en-US" sz="2200" dirty="0"/>
          </a:p>
        </p:txBody>
      </p:sp>
      <p:sp>
        <p:nvSpPr>
          <p:cNvPr id="13" name="Shape 11"/>
          <p:cNvSpPr/>
          <p:nvPr/>
        </p:nvSpPr>
        <p:spPr>
          <a:xfrm>
            <a:off x="8182940" y="91440"/>
            <a:ext cx="3460115" cy="274320"/>
          </a:xfrm>
          <a:prstGeom prst="rect">
            <a:avLst/>
          </a:prstGeom>
          <a:solidFill>
            <a:srgbClr val="E0F2FE"/>
          </a:solidFill>
          <a:ln w="12700">
            <a:solidFill>
              <a:srgbClr val="0369A1"/>
            </a:solidFill>
            <a:prstDash val="solid"/>
          </a:ln>
        </p:spPr>
      </p:sp>
      <p:sp>
        <p:nvSpPr>
          <p:cNvPr id="14" name="Shape 12"/>
          <p:cNvSpPr/>
          <p:nvPr/>
        </p:nvSpPr>
        <p:spPr>
          <a:xfrm>
            <a:off x="8182940"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6" name="Text 13"/>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tastiera e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invia un mouse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volta che si sposta di una distanza minima, circa un centesimo di pollice, detta mickey, il mouse invia tre byte</a:t>
            </a:r>
            <a:endParaRPr lang="en-US" sz="2200" dirty="0"/>
          </a:p>
        </p:txBody>
      </p:sp>
      <p:sp>
        <p:nvSpPr>
          <p:cNvPr id="5" name="Shape 3"/>
          <p:cNvSpPr/>
          <p:nvPr/>
        </p:nvSpPr>
        <p:spPr>
          <a:xfrm>
            <a:off x="548640" y="28829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76474"/>
            <a:ext cx="61996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1: di quante unità si è spostato lungo x dall'ultimo rapporto</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2: lo spostamento lungo y</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3: lo stato dei pulsanti</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software di controllo, il driver di periferica, sovrintende alla comunicazione con il processore</a:t>
            </a:r>
            <a:endParaRPr lang="en-US" sz="2200" dirty="0"/>
          </a:p>
        </p:txBody>
      </p:sp>
      <p:sp>
        <p:nvSpPr>
          <p:cNvPr id="13" name="Text 11"/>
          <p:cNvSpPr txBox="1"/>
          <p:nvPr/>
        </p:nvSpPr>
        <p:spPr>
          <a:xfrm>
            <a:off x="7680960" y="1874520"/>
            <a:ext cx="329184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due contatori</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spostamento in x e in y</a:t>
            </a:r>
            <a:endParaRPr lang="en-US" sz="1500" dirty="0"/>
          </a:p>
        </p:txBody>
      </p:sp>
      <p:sp>
        <p:nvSpPr>
          <p:cNvPr id="14" name="Shape 12"/>
          <p:cNvSpPr/>
          <p:nvPr/>
        </p:nvSpPr>
        <p:spPr>
          <a:xfrm>
            <a:off x="9326880" y="2816352"/>
            <a:ext cx="0" cy="310896"/>
          </a:xfrm>
          <a:prstGeom prst="line">
            <a:avLst/>
          </a:prstGeom>
          <a:noFill/>
          <a:ln w="31750">
            <a:solidFill>
              <a:srgbClr val="5B6B78"/>
            </a:solidFill>
            <a:prstDash val="solid"/>
            <a:tailEnd type="triangle"/>
          </a:ln>
        </p:spPr>
      </p:sp>
      <p:sp>
        <p:nvSpPr>
          <p:cNvPr id="15" name="Text 13"/>
          <p:cNvSpPr txBox="1"/>
          <p:nvPr/>
        </p:nvSpPr>
        <p:spPr>
          <a:xfrm>
            <a:off x="7680960" y="3154680"/>
            <a:ext cx="32918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registro a scorrimento</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tre byte, in serie</a:t>
            </a:r>
            <a:endParaRPr lang="en-US" sz="1500" dirty="0"/>
          </a:p>
        </p:txBody>
      </p:sp>
      <p:sp>
        <p:nvSpPr>
          <p:cNvPr id="16" name="Shape 14"/>
          <p:cNvSpPr/>
          <p:nvPr/>
        </p:nvSpPr>
        <p:spPr>
          <a:xfrm>
            <a:off x="9326880" y="4096512"/>
            <a:ext cx="0" cy="310896"/>
          </a:xfrm>
          <a:prstGeom prst="line">
            <a:avLst/>
          </a:prstGeom>
          <a:noFill/>
          <a:ln w="31750">
            <a:solidFill>
              <a:srgbClr val="5B6B78"/>
            </a:solidFill>
            <a:prstDash val="solid"/>
            <a:tailEnd type="triangle"/>
          </a:ln>
        </p:spPr>
      </p:sp>
      <p:sp>
        <p:nvSpPr>
          <p:cNvPr id="17" name="Text 15"/>
          <p:cNvSpPr txBox="1"/>
          <p:nvPr/>
        </p:nvSpPr>
        <p:spPr>
          <a:xfrm>
            <a:off x="7680960" y="4434840"/>
            <a:ext cx="3291840" cy="914400"/>
          </a:xfrm>
          <a:prstGeom prst="roundRect">
            <a:avLst>
              <a:gd name="adj" fmla="val 6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interfaccia seriale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controller USB</a:t>
            </a:r>
            <a:endParaRPr lang="en-US" sz="1500" dirty="0"/>
          </a:p>
        </p:txBody>
      </p:sp>
      <p:sp>
        <p:nvSpPr>
          <p:cNvPr id="18" name="Text 16"/>
          <p:cNvSpPr txBox="1"/>
          <p:nvPr/>
        </p:nvSpPr>
        <p:spPr>
          <a:xfrm>
            <a:off x="768096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dx</a:t>
            </a:r>
            <a:endParaRPr lang="en-US" sz="1400" dirty="0"/>
          </a:p>
        </p:txBody>
      </p:sp>
      <p:sp>
        <p:nvSpPr>
          <p:cNvPr id="19" name="Text 17"/>
          <p:cNvSpPr txBox="1"/>
          <p:nvPr/>
        </p:nvSpPr>
        <p:spPr>
          <a:xfrm>
            <a:off x="877824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dy</a:t>
            </a:r>
            <a:endParaRPr lang="en-US" sz="1400" dirty="0"/>
          </a:p>
        </p:txBody>
      </p:sp>
      <p:sp>
        <p:nvSpPr>
          <p:cNvPr id="20" name="Text 18"/>
          <p:cNvSpPr txBox="1"/>
          <p:nvPr/>
        </p:nvSpPr>
        <p:spPr>
          <a:xfrm>
            <a:off x="9875520" y="5806440"/>
            <a:ext cx="1097280" cy="54864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pulsanti</a:t>
            </a:r>
            <a:endParaRPr lang="en-US" sz="1400" dirty="0"/>
          </a:p>
        </p:txBody>
      </p:sp>
      <p:sp>
        <p:nvSpPr>
          <p:cNvPr id="21" name="Shape 19"/>
          <p:cNvSpPr/>
          <p:nvPr/>
        </p:nvSpPr>
        <p:spPr>
          <a:xfrm>
            <a:off x="8182940" y="91440"/>
            <a:ext cx="3460115" cy="274320"/>
          </a:xfrm>
          <a:prstGeom prst="rect">
            <a:avLst/>
          </a:prstGeom>
          <a:solidFill>
            <a:srgbClr val="E0F2FE"/>
          </a:solidFill>
          <a:ln w="12700">
            <a:solidFill>
              <a:srgbClr val="0369A1"/>
            </a:solidFill>
            <a:prstDash val="solid"/>
          </a:ln>
        </p:spPr>
      </p:sp>
      <p:sp>
        <p:nvSpPr>
          <p:cNvPr id="22" name="Shape 20"/>
          <p:cNvSpPr/>
          <p:nvPr/>
        </p:nvSpPr>
        <p:spPr>
          <a:xfrm>
            <a:off x="8182940" y="91440"/>
            <a:ext cx="73152" cy="274320"/>
          </a:xfrm>
          <a:prstGeom prst="rect">
            <a:avLst/>
          </a:prstGeom>
          <a:solidFill>
            <a:srgbClr val="0369A1"/>
          </a:solidFill>
          <a:ln w="12700">
            <a:solidFill>
              <a:srgbClr val="0369A1"/>
            </a:solidFill>
            <a:prstDash val="solid"/>
          </a:ln>
        </p:spPr>
      </p:sp>
      <p:pic>
        <p:nvPicPr>
          <p:cNvPr id="23"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24" name="Text 21"/>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tastiera e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stampante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dispositivo di uscita che stampa informazioni su carta</a:t>
            </a:r>
            <a:endParaRPr lang="en-US" sz="2200" dirty="0"/>
          </a:p>
        </p:txBody>
      </p:sp>
      <p:sp>
        <p:nvSpPr>
          <p:cNvPr id="5" name="Shape 3"/>
          <p:cNvSpPr/>
          <p:nvPr/>
        </p:nvSpPr>
        <p:spPr>
          <a:xfrm>
            <a:off x="548640" y="22110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464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Velocità di stampa: righe al minuto, caratteri al secondo o pagine al minuto</a:t>
            </a:r>
            <a:endParaRPr lang="en-US" sz="2200" dirty="0"/>
          </a:p>
        </p:txBody>
      </p:sp>
      <p:sp>
        <p:nvSpPr>
          <p:cNvPr id="7" name="Shape 5"/>
          <p:cNvSpPr/>
          <p:nvPr/>
        </p:nvSpPr>
        <p:spPr>
          <a:xfrm>
            <a:off x="548640" y="289839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919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Risoluzione, la qualità di stampa: punti per pollice</a:t>
            </a:r>
            <a:endParaRPr lang="en-US" sz="2200" dirty="0"/>
          </a:p>
        </p:txBody>
      </p:sp>
      <p:sp>
        <p:nvSpPr>
          <p:cNvPr id="9" name="Shape 7"/>
          <p:cNvSpPr/>
          <p:nvPr/>
        </p:nvSpPr>
        <p:spPr>
          <a:xfrm>
            <a:off x="548640" y="35857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79292"/>
            <a:ext cx="10710367" cy="16647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Tipi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margherita e a catena, ormai in disuso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ad aghi: gli aghi colpiscono un nastro inchiostrato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getto d'inchiostro: minuscole gocce di inchiostro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laser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stampante è anche un piccolo calcolatore: ha processore, memoria e firmware propri</a:t>
            </a:r>
            <a:endParaRPr lang="en-US" sz="2200" dirty="0"/>
          </a:p>
        </p:txBody>
      </p:sp>
      <p:sp>
        <p:nvSpPr>
          <p:cNvPr id="13" name="Shape 11"/>
          <p:cNvSpPr/>
          <p:nvPr/>
        </p:nvSpPr>
        <p:spPr>
          <a:xfrm>
            <a:off x="8445576" y="91440"/>
            <a:ext cx="3197479" cy="274320"/>
          </a:xfrm>
          <a:prstGeom prst="rect">
            <a:avLst/>
          </a:prstGeom>
          <a:solidFill>
            <a:srgbClr val="E0F2FE"/>
          </a:solidFill>
          <a:ln w="12700">
            <a:solidFill>
              <a:srgbClr val="0369A1"/>
            </a:solidFill>
            <a:prstDash val="solid"/>
          </a:ln>
        </p:spPr>
      </p:sp>
      <p:sp>
        <p:nvSpPr>
          <p:cNvPr id="14" name="Shape 12"/>
          <p:cNvSpPr/>
          <p:nvPr/>
        </p:nvSpPr>
        <p:spPr>
          <a:xfrm>
            <a:off x="8445576"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573592" y="128016"/>
            <a:ext cx="201168" cy="201168"/>
          </a:xfrm>
          <a:prstGeom prst="rect">
            <a:avLst/>
          </a:prstGeom>
        </p:spPr>
      </p:pic>
      <p:sp>
        <p:nvSpPr>
          <p:cNvPr id="16" name="Text 13"/>
          <p:cNvSpPr txBox="1"/>
          <p:nvPr/>
        </p:nvSpPr>
        <p:spPr>
          <a:xfrm>
            <a:off x="8829624" y="91440"/>
            <a:ext cx="277685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stampanti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stampante laser</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Deriva dalla fotocopiatrice</a:t>
            </a:r>
            <a:endParaRPr lang="en-US" sz="1800" dirty="0"/>
          </a:p>
        </p:txBody>
      </p:sp>
      <p:sp>
        <p:nvSpPr>
          <p:cNvPr id="5" name="Shape 3"/>
          <p:cNvSpPr/>
          <p:nvPr/>
        </p:nvSpPr>
        <p:spPr>
          <a:xfrm>
            <a:off x="548640" y="199750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22069"/>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tamburo viene caricato elettricamente, a circa 1.000 volt</a:t>
            </a:r>
            <a:endParaRPr lang="en-US" sz="1800" dirty="0"/>
          </a:p>
        </p:txBody>
      </p:sp>
      <p:sp>
        <p:nvSpPr>
          <p:cNvPr id="7" name="Shape 5"/>
          <p:cNvSpPr/>
          <p:nvPr/>
        </p:nvSpPr>
        <p:spPr>
          <a:xfrm>
            <a:off x="548640" y="27811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05710"/>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raggio laser, riflesso da uno specchio rotante, scandisce il tamburo per la sua lunghezza; il raggio è modulato per produrre una trama di punti chiari e scuri</a:t>
            </a:r>
            <a:endParaRPr lang="en-US" sz="1800" dirty="0"/>
          </a:p>
        </p:txBody>
      </p:sp>
      <p:sp>
        <p:nvSpPr>
          <p:cNvPr id="9" name="Shape 7"/>
          <p:cNvSpPr/>
          <p:nvPr/>
        </p:nvSpPr>
        <p:spPr>
          <a:xfrm>
            <a:off x="548640" y="384368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68242"/>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 punti colpiti dal raggio perdono la carica; dopo ogni riga il tamburo ruota di una frazione di grado</a:t>
            </a:r>
            <a:endParaRPr lang="en-US" sz="1800" dirty="0"/>
          </a:p>
        </p:txBody>
      </p:sp>
      <p:sp>
        <p:nvSpPr>
          <p:cNvPr id="11" name="Shape 9"/>
          <p:cNvSpPr/>
          <p:nvPr/>
        </p:nvSpPr>
        <p:spPr>
          <a:xfrm>
            <a:off x="548640" y="462732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51883"/>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toner è attratto dai punti ancora carichi: si forma un'immagine della riga</a:t>
            </a:r>
            <a:endParaRPr lang="en-US" sz="1800" dirty="0"/>
          </a:p>
        </p:txBody>
      </p:sp>
      <p:sp>
        <p:nvSpPr>
          <p:cNvPr id="13" name="Shape 11"/>
          <p:cNvSpPr/>
          <p:nvPr/>
        </p:nvSpPr>
        <p:spPr>
          <a:xfrm>
            <a:off x="548640" y="541096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335524"/>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tamburo viene premuto contro la carta e vi trasferisce il toner; rulli riscaldati lo fissano in modo permanente; il tamburo viene scaricato e pulito</a:t>
            </a:r>
            <a:endParaRPr lang="en-US" sz="1800" dirty="0"/>
          </a:p>
        </p:txBody>
      </p:sp>
      <p:pic>
        <p:nvPicPr>
          <p:cNvPr id="15" name="Image 0" descr="/Users/raffaelemontella/devel/riscv-prg32/computer-architecture-with-prg32/tools/assets/laser_printer.jpg">    </p:cNvPr>
          <p:cNvPicPr>
            <a:picLocks noChangeAspect="1"/>
          </p:cNvPicPr>
          <p:nvPr/>
        </p:nvPicPr>
        <p:blipFill>
          <a:blip r:embed="rId1"/>
          <a:stretch>
            <a:fillRect/>
          </a:stretch>
        </p:blipFill>
        <p:spPr>
          <a:xfrm>
            <a:off x="7863840" y="1958517"/>
            <a:ext cx="3779215" cy="3215285"/>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laser scrive la pagina sul tamburo, riga per riga</a:t>
            </a:r>
            <a:endParaRPr lang="en-US" sz="1200" dirty="0"/>
          </a:p>
        </p:txBody>
      </p:sp>
      <p:sp>
        <p:nvSpPr>
          <p:cNvPr id="17" name="Shape 14"/>
          <p:cNvSpPr/>
          <p:nvPr/>
        </p:nvSpPr>
        <p:spPr>
          <a:xfrm>
            <a:off x="8445576" y="91440"/>
            <a:ext cx="3197479" cy="274320"/>
          </a:xfrm>
          <a:prstGeom prst="rect">
            <a:avLst/>
          </a:prstGeom>
          <a:solidFill>
            <a:srgbClr val="E0F2FE"/>
          </a:solidFill>
          <a:ln w="12700">
            <a:solidFill>
              <a:srgbClr val="0369A1"/>
            </a:solidFill>
            <a:prstDash val="solid"/>
          </a:ln>
        </p:spPr>
      </p:sp>
      <p:sp>
        <p:nvSpPr>
          <p:cNvPr id="18" name="Shape 15"/>
          <p:cNvSpPr/>
          <p:nvPr/>
        </p:nvSpPr>
        <p:spPr>
          <a:xfrm>
            <a:off x="8445576"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8573592" y="128016"/>
            <a:ext cx="201168" cy="201168"/>
          </a:xfrm>
          <a:prstGeom prst="rect">
            <a:avLst/>
          </a:prstGeom>
        </p:spPr>
      </p:pic>
      <p:sp>
        <p:nvSpPr>
          <p:cNvPr id="20" name="Text 16"/>
          <p:cNvSpPr txBox="1"/>
          <p:nvPr/>
        </p:nvSpPr>
        <p:spPr>
          <a:xfrm>
            <a:off x="8829624" y="91440"/>
            <a:ext cx="277685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stampanti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dispositivi del kit PRG32</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1636881"/>
                <a:gridCol w="3273762"/>
                <a:gridCol w="36375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Dispositivo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Direzione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Come è collegato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Come lo usa una cartuccia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joystick e pulsanti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interruttore per piedino di ingresso (GPIO)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prg32_input_read: un bit per pulsante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display, TFT 320 x 240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uscita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bus seriale SPI, con DMA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le chiamate prg32_gfx_* disegnano nel frame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amplificatore e altoparlante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uscita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bus seriale I2S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chiamate prg32_audio_*: note, campioni, musica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radio Wi-Fi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e uscita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dentro il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caricamento delle cartucce, lo Store, multigiocatore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porta seriale USB</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e uscita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USB</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scrittura del firmware, messaggi di debug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526350" y="91440"/>
            <a:ext cx="4116705" cy="274320"/>
          </a:xfrm>
          <a:prstGeom prst="rect">
            <a:avLst/>
          </a:prstGeom>
          <a:solidFill>
            <a:srgbClr val="E0F2FE"/>
          </a:solidFill>
          <a:ln w="12700">
            <a:solidFill>
              <a:srgbClr val="0369A1"/>
            </a:solidFill>
            <a:prstDash val="solid"/>
          </a:ln>
        </p:spPr>
      </p:sp>
      <p:sp>
        <p:nvSpPr>
          <p:cNvPr id="5" name="Shape 2"/>
          <p:cNvSpPr/>
          <p:nvPr/>
        </p:nvSpPr>
        <p:spPr>
          <a:xfrm>
            <a:off x="752635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7" name="Text 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polling, interruzioni,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Tre modi di gestire un dispositivo</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Polling</a:t>
            </a:r>
            <a:endParaRPr lang="en-US" sz="2000" dirty="0"/>
          </a:p>
        </p:txBody>
      </p:sp>
      <p:sp>
        <p:nvSpPr>
          <p:cNvPr id="6" name="Text 4"/>
          <p:cNvSpPr txBox="1"/>
          <p:nvPr/>
        </p:nvSpPr>
        <p:spPr>
          <a:xfrm>
            <a:off x="822960"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Il programma chiede al dispositivo, ancora e ancora, se ha qualcosa. Semplice, ed è ciò che fa un gioco una volta per frame; uno spreco quando non succede nulla.</a:t>
            </a:r>
            <a:endParaRPr lang="en-US" sz="2000" dirty="0"/>
          </a:p>
        </p:txBody>
      </p:sp>
      <p:sp>
        <p:nvSpPr>
          <p:cNvPr id="7" name="Shape 5"/>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Interruzioni</a:t>
            </a:r>
            <a:endParaRPr lang="en-US" sz="2000" dirty="0"/>
          </a:p>
        </p:txBody>
      </p:sp>
      <p:sp>
        <p:nvSpPr>
          <p:cNvPr id="10" name="Text 8"/>
          <p:cNvSpPr txBox="1"/>
          <p:nvPr/>
        </p:nvSpPr>
        <p:spPr>
          <a:xfrm>
            <a:off x="4612538"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Il dispositivo chiede attenzione quando gli serve; il processore sospende ciò che sta facendo, serve il dispositivo e riprende. L'argomento della Lezione 19.</a:t>
            </a:r>
            <a:endParaRPr lang="en-US" sz="2000" dirty="0"/>
          </a:p>
        </p:txBody>
      </p:sp>
      <p:sp>
        <p:nvSpPr>
          <p:cNvPr id="11" name="Shape 9"/>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Accesso diretto alla memoria</a:t>
            </a:r>
            <a:endParaRPr lang="en-US" sz="2000" dirty="0"/>
          </a:p>
        </p:txBody>
      </p:sp>
      <p:sp>
        <p:nvSpPr>
          <p:cNvPr id="14" name="Text 12"/>
          <p:cNvSpPr txBox="1"/>
          <p:nvPr/>
        </p:nvSpPr>
        <p:spPr>
          <a:xfrm>
            <a:off x="8402117"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Il dispositivo scambia da solo interi blocchi di dati con la memoria; il processore si limita ad avviare il trasferimento e viene avvisato quando finisce.</a:t>
            </a:r>
            <a:endParaRPr lang="en-US" sz="2000" dirty="0"/>
          </a:p>
        </p:txBody>
      </p:sp>
      <p:sp>
        <p:nvSpPr>
          <p:cNvPr id="15" name="Shape 13"/>
          <p:cNvSpPr/>
          <p:nvPr/>
        </p:nvSpPr>
        <p:spPr>
          <a:xfrm>
            <a:off x="7526350" y="91440"/>
            <a:ext cx="4116705" cy="274320"/>
          </a:xfrm>
          <a:prstGeom prst="rect">
            <a:avLst/>
          </a:prstGeom>
          <a:solidFill>
            <a:srgbClr val="E0F2FE"/>
          </a:solidFill>
          <a:ln w="12700">
            <a:solidFill>
              <a:srgbClr val="0369A1"/>
            </a:solidFill>
            <a:prstDash val="solid"/>
          </a:ln>
        </p:spPr>
      </p:sp>
      <p:sp>
        <p:nvSpPr>
          <p:cNvPr id="16" name="Shape 14"/>
          <p:cNvSpPr/>
          <p:nvPr/>
        </p:nvSpPr>
        <p:spPr>
          <a:xfrm>
            <a:off x="7526350"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8" name="Text 15"/>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polling, interruzioni,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fa il codificatore di un controller di tastiera?</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Illumina il tasto premuto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Trasforma una combinazione di riga e colonna in un codice di tasto</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Invia il codice al monitor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Conta per quanto tempo un tasto resta premuto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LCD a colori, un pixel è fatto di: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cella che cambia colore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tre celle con filtri rosso, verde e blu</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punto di fosforo colpito da elettroni</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transistor che emette luce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un LCD a matrice passiva mostra scie dietro gli oggetti in movimento?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La retroilluminazione è troppo debole</a:t>
            </a:r>
            <a:endParaRPr lang="en-US" sz="16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 pixel sono pilotati uno alla volta e nel frattempo devono mantenere il proprio stato</a:t>
            </a:r>
            <a:endParaRPr lang="en-US" sz="16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Ha troppo pochi colori</a:t>
            </a:r>
            <a:endParaRPr lang="en-US" sz="16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La scheda video è lenta</a:t>
            </a:r>
            <a:endParaRPr lang="en-US" sz="16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gioco PRG32 legge il joystick una volta per frame. Questa tecnica si chiama: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accesso diretto alla memoria</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ingresso a interruzioni</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polling</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mappatura in memoria</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426903"/>
                <a:gridCol w="2600254"/>
                <a:gridCol w="2773604"/>
                <a:gridCol w="329365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cathode-ray tube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tubo a raggi catodici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pointing 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 di puntamento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liquid crystals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cristalli liquidi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dot-matrix / ink-jet printer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stampante ad aghi / a getto d'inchiostro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backlight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retroilluminazione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drum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tamburo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active matrix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matrice attiva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polling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interrogazione ciclica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keyboard / key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tastiera / tasto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dispositivi di ingresso/uscita sono una componente fondamentale dei calcolatori</a:t>
            </a:r>
            <a:endParaRPr lang="en-US" sz="1900" dirty="0"/>
          </a:p>
        </p:txBody>
      </p:sp>
      <p:sp>
        <p:nvSpPr>
          <p:cNvPr id="5" name="Shape 3"/>
          <p:cNvSpPr/>
          <p:nvPr/>
        </p:nvSpPr>
        <p:spPr>
          <a:xfrm>
            <a:off x="548640" y="193682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53641"/>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tecnologia dei display ha fatto progressi enormi, dal fascio di elettroni a un transistor dietro ogni pixel</a:t>
            </a:r>
            <a:endParaRPr lang="en-US" sz="1900" dirty="0"/>
          </a:p>
        </p:txBody>
      </p:sp>
      <p:sp>
        <p:nvSpPr>
          <p:cNvPr id="7" name="Shape 5"/>
          <p:cNvSpPr/>
          <p:nvPr/>
        </p:nvSpPr>
        <p:spPr>
          <a:xfrm>
            <a:off x="548640" y="26675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58434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Tastiera, mouse e stampante sono cambiati poco nella forma, e dentro sono fatti di codificatori, contatori e registri a scorrimento</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dispositivo raggiunge il processore tramite un controller e un bus, ed è gestito con il polling, con le interruzioni o con il DMA</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Sul kit PRG32 l'intera catena, da un interruttore a un pixel, si può seguire istruzione per istruzione</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Tanenbaum, Austin: Architettura dei calcolatori. Un approccio strutturale, paragrafo 2.4 (ingresso/uscita)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il capitolo sull'ingresso/uscita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capitolo 6: State and Input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Ingresso e uscita</dc:title>
  <dc:subject>Lezione 21</dc:subject>
  <dc:creator>Raffaele Montella</dc:creator>
  <cp:lastModifiedBy>Raffaele Montella</cp:lastModifiedBy>
  <cp:revision>1</cp:revision>
  <dcterms:created xsi:type="dcterms:W3CDTF">2026-10-16T23:36:45Z</dcterms:created>
  <dcterms:modified xsi:type="dcterms:W3CDTF">2026-10-16T23:36:45Z</dcterms:modified>
</cp:coreProperties>
</file>