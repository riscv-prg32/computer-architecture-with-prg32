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f03d8026-cd04-5dbc-f79b-01f88eff38dd}">
          <p14:sldIdLst>
            <p14:sldId id="256"/>
            <p14:sldId id="257"/>
            <p14:sldId id="258"/>
            <p14:sldId id="259"/>
          </p14:sldIdLst>
        </p14:section>
        <p14:section name="Passo 1: il punteggio in cifre" id="{026d7767-f595-d215-42ab-d363d18e3910}">
          <p14:sldIdLst>
            <p14:sldId id="260"/>
          </p14:sldIdLst>
        </p14:section>
        <p14:section name="Passo 2: i livelli" id="{e8d2f166-cf45-00d3-853c-e698f1879a37}">
          <p14:sldIdLst>
            <p14:sldId id="261"/>
          </p14:sldIdLst>
        </p14:section>
        <p14:section name="Passo 4: disegnare solo ciò che è cambiato" id="{3dd5a8c9-e68c-9290-7099-212e31a6f9db}">
          <p14:sldIdLst>
            <p14:sldId id="262"/>
          </p14:sldIdLst>
        </p14:section>
        <p14:section name="Passo 5: misurare" id="{694b6556-a90c-c697-f59b-3c54402601ce}">
          <p14:sldIdLst>
            <p14:sldId id="263"/>
            <p14:sldId id="264"/>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quarto e ultimo tutorial completa Verm1. Alla fine della Parte 3 il gioco era completo nelle sue regole; oggi diventa completo come programma. Il punteggio si scrive in cifre decimali, il verme accelera, ci sono due suoni, e lo schermo si ridisegna solo dove cambia. La frase di Knuth in copertina giustifica l'ordine del lavoro: prima si è reso il gioco corretto, e solo ora, con una misura in mano, lo si rende veloce. Ottimizzare senza misurare è tirare a indovinare, e il tutorial si chiude misurando l'effetto delle proprie modifiche.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quoziente e resto; caratteri e stringhe; la virgola fissa; la convenzione di chiamata; gli array in memoria; macchine a stati finiti; il frame buffer; il ciclo del processore. DA UTILIZZARE OGGI: gli strumenti di PRG32, il debugger di PRG32-QT (si usa, non si studia, in questo corso). DA COMPRENDERE PIÙ AVANTI: niente. Una slide senza etichetta è contesto: una storia, un esempio, una domanda, un esercizio.
Percorso. I risultati di oggi: (1) trasformare un numero in cifre decimali con divu e remu; (2) disegnare solo ciò che è cambiato, con un flag dirty; (3) completare il gioco: livelli, suono, velocità. Si appoggia su: caratteri e stringhe (Lezione 04); la virgola fissa (Lezione 06); la convenzione di chiamata (Lezione 18); gli array in memoria (Lezione 04); macchine a stati finiti (Lezione 13). Prossimo passo: Lezione 23, Verm1 sul Cartridge Store.
Per il docente: Quarto tutorial del progetto. Usa le Lezioni da 18 a 21: i registri per convenzione, lo stack, moltiplicazione e divisione (18), il ciclo del processore e il costo di un'istruzione (19), il frame buffer e il costo del disegno (20), ingresso, suono e il runtime come padrone dei dispositivi (21). Il file di riferimento è verm1/verm1_part4.S. La frase di Knuth è il motto giusto: il gioco è stato fatto funzionare nella Parte 3, e solo adesso, con una misura in mano, lo rendiamo veloce.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risultati. Il punteggio e il punteggio migliore mostrati in cifre, convertiti da una divisione per dieci scritta dallo studente. Un verme che accelera al crescere del punteggio, fino a un limite. Due suoni, uno per un pasto e uno per la fine della partita. Una funzione draw che tocca una manciata di celle per passo invece dell'intero schermo. E un gioco finito, pronto per essere impacchettato e pubblicato nella prossima lezione.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idee dell'ultimo blocco di lezioni, e dove compaiono oggi. La convenzione di chiamata della Lezione 18 diventa piccole funzioni con contratti espliciti, alcune delle quali foglie. L'estensione M, le cui divisione e resto senza segno divu e remu si sono incontrati nelle Lezioni 05 e 06, fornisce le cifre. Il ciclo del processore della Lezione 19 ricorda che ogni istruzione costa tempo, da cui la misura. Lo schermo come memoria, dalla Lezione 20, suggerisce di ridisegnare solo ciò che è cambiato. E dalla Lezione 21: i dispositivi appartengono al runtime, a cui si chiede una nota di una data durata.
Per il docente: Torna anche la Lezione 04: una cifra diventa un carattere sommando 48, il codice ASCII di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meta: la schermata del titolo con il punteggio migliore, il gioco con il punteggio in cifre, e la schermata di fine partita. La sessione parte da una Parte 3 funzionante; uno studente il cui file non gira copia il file di riferimento. Oggi ci sono quattro passi di codice, e il programma si esegue dopo ciascuno.
Per il docente: Schermate prodotte da tools/tests/verm1_check.py con un giocatore programmato.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variabile score contiene un numero binario: 137 è il byte 0x89. Lo schermo richiede tre caratteri, i byte 0x31, 0x33 e 0x37. La conversione è la divisione ripetuta della Lezione 05: dividendo per dieci, il resto è una cifra, e il procedimento si ripete sul quoziente. Le cifre escono da destra, prima le unità, quindi si memorizzano dall'ultimo carattere al primo. Una cifra diventa un carattere sommando 48, il codice ASCII del carattere zero, come ha stabilito la Lezione 04. La distinzione tra un numero e la sua rappresentazione, tema dell'intero corso, diventa qui operativa.
DA COMPRENDERE OGGI: quoziente e resto.
Per il docente: La conversione della Lezione 05, fatta dal programma invece che a mano. remu dà il resto, divu il quoziente: due istruzioni dell'estensione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livelli, quantificati. Per ogni punteggio la tabella dà la velocità, i frame per passo, cioè 256 diviso la velocità, e le celle al secondo a trenta frame al secondo: da 3,75 celle al secondo all'inizio a 11,25 da sedici punti in poi. I frame per passo non sono sempre interi, e non è un problema: a una velocità di 48 i passi avvengono ogni cinque o sei frame, 5,33 in media. Questa gradazione fine è esattamente ciò che la rappresentazione in virgola fissa offre, e nessuna velocità intera potrebbe ottenerla.
DA COMPRENDERE OGGI: la virgola fissa.
Per il docente: 256 diviso la velocità dà i frame per passo; la frequenza dei frame per la velocità diviso 256 dà le celle al secondo. Chiedete agli studenti la riga del punteggio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Quanto costa un frame della Parte 3? Cancella 64.000 pixel e ridisegna titolo, punteggio, verme e cibo, trenta volte al secondo. Eppure tra due passi nulla cambia sullo schermo, e un passo cambia pochissimo: la cella lasciata dalla coda, la vecchia testa che diventa corpo, la nuova testa, e a volte il cibo e il punteggio. La soluzione è registrare ciò che è cambiato e disegnare solo quello. Funziona perché il frame buffer è memoria, in cui l'immagine persiste da sé, la proprietà stabilita nella Lezione 20.
DA COMPRENDERE OGGI: il frame buffer.
Per il docente: Lezione 20: lo schermo è un array di pixel che conserva il suo contenuto. Un verme di 200 celle costa 200 rettangoli per frame nella Parte 3 e tre per passo nella Parte 4. È ciò che facevano i vecchi home computer, perché non avevano scelta.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azioni. Si esegue il gioco finito in modalità debug e si avvia una partita. Si legge la telemetria per dieci secondi e la si confronta con le cifre della Parte 3 annotate all'inizio della sessione. Si fa crescere il verme fino a venti celle in entrambe le versioni e si legge di nuovo la telemetria: in una versione il costo cresce con la lunghezza del verme, nell'altra no. Un breakpoint su draw_changes conferma che si ferma una volta per passo. Le cifre vanno annotate, perché appartengono alla descrizione del gioco, e costituiscono la prova che l'ottimizzazione valeva la pena.
DA COMPRENDERE OGGI: il ciclo del processore. DA UTILIZZARE OGGI: il debugger di PRG32-QT (si usa, non si studia, in questo corso).
Per il docente: La telemetria conta le istruzioni della cartuccia, non quelle del runtime che riempie i rettangoli, quindi il risparmio reale sulla scheda è più grande di quanto mostri il conteggio: lì ogni pixel viaggia anche su SPI verso il display. Non date numeri agli studenti: fateli misurare.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chiamata di procedura seguita nel debugger. L'esecuzione si ferma sulla chiamata a to_decimal, e si leggono a0, a1, ra e sp. Un passo: il PC salta dentro la funzione e ra contiene l'indirizzo dell'istruzione che segue la chiamata. Proseguendo, cambiano solo i temporanei e sp non si muove mai, perché la funzione è una foglia. A ret il PC prende il valore di ra. La stessa procedura con draw_text mostra il contrasto: sp scende di 16, ra viene memorizzato, ed entrambi vengono ripristinati. La convenzione di chiamata della Lezione 18 si osserva così istruzione per istruzione.
DA COMPRENDERE OGGI: la convenzione di chiamata. DA UTILIZZARE OGGI: il debugger di PRG32-QT (si usa, non si studia, in questo corso).
Per il docente: La convenzione di chiamata della Lezione 18, osservata istruzione per istruzione. Nel listato call compare come jal, o come auipc seguita da jalr, e ret come c.jr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205 si converte in tre cifre, e ogni cifra nel suo codice ASCII sommando 0x30. L'ordine conta: lo spiazzamento 0 contiene le centinaia.
Per la seconda: un passo ogni quattro frame corrisponde a una velocità di 256 / 4. Quel valore si sostituisce nella formula della velocità, e l'equazione si risolve rispetto al punteggio.
Per il docente: 1. Risposta: B. I caratteri '2', '0', '5': 0x32, 0x30, 0x35. Le unità vanno allo scostamento 2.
2. Risposta: B. Un passo ogni 4 frame è 64/256: 32 + 4 x score = 64, quindi score =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si contano le istruzioni sul percorso più breve attraverso verm1_draw, ricordando che la è una pseudo-istruzione che si espande in due.
Per la seconda ci si chiede a che cosa serva uno stack frame: a salvare ra quando si fa un'ulteriore chiamata, e a salvare i registri salvati dal chiamato che la funzione usa. La domanda è se to_decimal abbia bisogno dell'una o dell'altra cosa.
Per il docente: 1. Risposta: B. la sono due istruzioni, auipc e addi; poi lw, beqz e ret.
2. Risposta: B. Una funzione foglia che tocca solo registri caller-saved non ha nulla da salvare.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 è finito: circa seicento righe di assembly RISC-V, ognuna scritta dallo studente. È nato come tre funzioni che si limitavano a ritornare ed è cresciuto un passo eseguibile alla volta, e ogni parte del corso vi è presente: numeri, logica, stato, memoria, chiamate di procedura, pixel e dispositivi. Resta una cosa: un programma che solo il suo autore può eseguire è finito a metà. La prossima lezione gli dà un nome, un'icona e dei crediti, e lo pubblica.
Stato di apprendimento, riepilogo. DA COMPRENDERE OGGI: quoziente e resto; caratteri e stringhe; la virgola fissa; la convenzione di chiamata; gli array in memoria; macchine a stati finiti; il frame buffer; il ciclo del processore. DA UTILIZZARE OGGI: gli strumenti di PRG32, il debugger di PRG32-QT (si usa, non si studia, in questo corso). DA COMPRENDERE PIÙ AVANTI: niente. Una slide senza etichetta è contesto: una storia, un esempio, una domanda, un esercizio. Il filo della lezione: Verm1 è finito: ogni argomento del corso vi ha una riga. Prossimo passo: dargli un nome, un'icona e un posto sullo Store. Biglietto d'uscita (da due a quattro minuti, da soli, su carta): 1. to_decimal riceve 205. Mostrate come remu e divu per 10 ne danno le tre cifre, e perché memorizza i byte '2', '0', '5' invece dei numeri 2, 0, 5. 2. Perché verm1_draw ridisegna la mappa solo quando dirty è impostato? Che cosa vedrebbe il giocatore se update si dimenticasse di impostarlo dopo un passo?
Per il docente: Chiedete agli studenti di portare la propria variante alla Lezione 23: il bundle che preparano deve essere del loro gioco, non del riferimento.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22: Verm1, parte 4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22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parte 4: il gioco finito</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La macchina entra nel gioco: la divisione per le cifre, i livelli, il suono, e uno schermo disegnato solo dove cambia</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“L'ottimizzazione prematura è la radice di tutti i mali.”</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Donald Knuth, 1974</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Implementazione di riferimento di Verm1: contributo di Giuseppe Coviello</a:t>
            </a:r>
            <a:endParaRPr lang="en-US" sz="1200" dirty="0"/>
          </a:p>
        </p:txBody>
      </p:sp>
      <p:sp>
        <p:nvSpPr>
          <p:cNvPr id="13" name="Text 11"/>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22-Architettura_dei_Calcolatori-Verm1_Parte_4-Lab.pptx</a:t>
            </a:r>
            <a:endParaRPr lang="en-US" sz="1300" dirty="0"/>
          </a:p>
        </p:txBody>
      </p:sp>
      <p:sp>
        <p:nvSpPr>
          <p:cNvPr id="14" name="Shape 12"/>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5" name="Image 0" descr="/Users/raffaelemontella/devel/riscv-prg32/computer-architecture-with-prg32/tools/assets/verm1_p4_play.png">    </p:cNvPr>
          <p:cNvPicPr>
            <a:picLocks noChangeAspect="1"/>
          </p:cNvPicPr>
          <p:nvPr/>
        </p:nvPicPr>
        <p:blipFill>
          <a:blip r:embed="rId1"/>
          <a:stretch>
            <a:fillRect/>
          </a:stretch>
        </p:blipFill>
        <p:spPr>
          <a:xfrm>
            <a:off x="8716975" y="4280535"/>
            <a:ext cx="2834640" cy="1771650"/>
          </a:xfrm>
          <a:prstGeom prst="rect">
            <a:avLst/>
          </a:prstGeom>
        </p:spPr>
      </p:pic>
      <p:sp>
        <p:nvSpPr>
          <p:cNvPr id="16" name="Shape 13"/>
          <p:cNvSpPr/>
          <p:nvPr/>
        </p:nvSpPr>
        <p:spPr>
          <a:xfrm>
            <a:off x="8910777" y="91440"/>
            <a:ext cx="2732278" cy="274320"/>
          </a:xfrm>
          <a:prstGeom prst="rect">
            <a:avLst/>
          </a:prstGeom>
          <a:solidFill>
            <a:srgbClr val="F3E8FF"/>
          </a:solidFill>
          <a:ln w="12700">
            <a:solidFill>
              <a:srgbClr val="7E22CE"/>
            </a:solidFill>
            <a:prstDash val="dash"/>
          </a:ln>
        </p:spPr>
      </p:sp>
      <p:sp>
        <p:nvSpPr>
          <p:cNvPr id="17" name="Shape 14"/>
          <p:cNvSpPr/>
          <p:nvPr/>
        </p:nvSpPr>
        <p:spPr>
          <a:xfrm>
            <a:off x="8938209" y="128016"/>
            <a:ext cx="45720" cy="45720"/>
          </a:xfrm>
          <a:prstGeom prst="rect">
            <a:avLst/>
          </a:prstGeom>
          <a:solidFill>
            <a:srgbClr val="7E22CE"/>
          </a:solidFill>
          <a:ln w="12700">
            <a:solidFill>
              <a:srgbClr val="7E22CE"/>
            </a:solidFill>
            <a:prstDash val="solid"/>
          </a:ln>
        </p:spPr>
      </p:sp>
      <p:sp>
        <p:nvSpPr>
          <p:cNvPr id="18" name="Shape 15"/>
          <p:cNvSpPr/>
          <p:nvPr/>
        </p:nvSpPr>
        <p:spPr>
          <a:xfrm>
            <a:off x="8938209" y="205740"/>
            <a:ext cx="45720" cy="45720"/>
          </a:xfrm>
          <a:prstGeom prst="rect">
            <a:avLst/>
          </a:prstGeom>
          <a:solidFill>
            <a:srgbClr val="7E22CE"/>
          </a:solidFill>
          <a:ln w="12700">
            <a:solidFill>
              <a:srgbClr val="7E22CE"/>
            </a:solidFill>
            <a:prstDash val="solid"/>
          </a:ln>
        </p:spPr>
      </p:sp>
      <p:sp>
        <p:nvSpPr>
          <p:cNvPr id="19" name="Shape 16"/>
          <p:cNvSpPr/>
          <p:nvPr/>
        </p:nvSpPr>
        <p:spPr>
          <a:xfrm>
            <a:off x="8938209" y="283464"/>
            <a:ext cx="45720" cy="45720"/>
          </a:xfrm>
          <a:prstGeom prst="rect">
            <a:avLst/>
          </a:prstGeom>
          <a:solidFill>
            <a:srgbClr val="7E22CE"/>
          </a:solidFill>
          <a:ln w="12700">
            <a:solidFill>
              <a:srgbClr val="7E22CE"/>
            </a:solidFill>
            <a:prstDash val="solid"/>
          </a:ln>
        </p:spPr>
      </p:sp>
      <p:pic>
        <p:nvPicPr>
          <p:cNvPr id="20"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1" name="Text 17"/>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2" name="Shape 18"/>
          <p:cNvSpPr/>
          <p:nvPr/>
        </p:nvSpPr>
        <p:spPr>
          <a:xfrm>
            <a:off x="6675069" y="91440"/>
            <a:ext cx="2125980" cy="274320"/>
          </a:xfrm>
          <a:prstGeom prst="rect">
            <a:avLst/>
          </a:prstGeom>
          <a:solidFill>
            <a:srgbClr val="FEF3C7"/>
          </a:solidFill>
          <a:ln w="12700">
            <a:solidFill>
              <a:srgbClr val="B45309"/>
            </a:solidFill>
            <a:prstDash val="solid"/>
          </a:ln>
        </p:spPr>
      </p:sp>
      <p:sp>
        <p:nvSpPr>
          <p:cNvPr id="23" name="Shape 19"/>
          <p:cNvSpPr/>
          <p:nvPr/>
        </p:nvSpPr>
        <p:spPr>
          <a:xfrm>
            <a:off x="6675069" y="91440"/>
            <a:ext cx="27432" cy="274320"/>
          </a:xfrm>
          <a:prstGeom prst="rect">
            <a:avLst/>
          </a:prstGeom>
          <a:solidFill>
            <a:srgbClr val="B45309"/>
          </a:solidFill>
          <a:ln w="12700">
            <a:solidFill>
              <a:srgbClr val="B45309"/>
            </a:solidFill>
            <a:prstDash val="solid"/>
          </a:ln>
        </p:spPr>
      </p:sp>
      <p:sp>
        <p:nvSpPr>
          <p:cNvPr id="24" name="Shape 20"/>
          <p:cNvSpPr/>
          <p:nvPr/>
        </p:nvSpPr>
        <p:spPr>
          <a:xfrm>
            <a:off x="6729933" y="91440"/>
            <a:ext cx="27432" cy="274320"/>
          </a:xfrm>
          <a:prstGeom prst="rect">
            <a:avLst/>
          </a:prstGeom>
          <a:solidFill>
            <a:srgbClr val="B45309"/>
          </a:solidFill>
          <a:ln w="12700">
            <a:solidFill>
              <a:srgbClr val="B45309"/>
            </a:solidFill>
            <a:prstDash val="solid"/>
          </a:ln>
        </p:spPr>
      </p:sp>
      <p:pic>
        <p:nvPicPr>
          <p:cNvPr id="25"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6" name="Text 21"/>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7" name="Shape 22"/>
          <p:cNvSpPr/>
          <p:nvPr/>
        </p:nvSpPr>
        <p:spPr>
          <a:xfrm>
            <a:off x="4352747" y="91440"/>
            <a:ext cx="2212594" cy="274320"/>
          </a:xfrm>
          <a:prstGeom prst="rect">
            <a:avLst/>
          </a:prstGeom>
          <a:solidFill>
            <a:srgbClr val="E0F2FE"/>
          </a:solidFill>
          <a:ln w="12700">
            <a:solidFill>
              <a:srgbClr val="0369A1"/>
            </a:solidFill>
            <a:prstDash val="solid"/>
          </a:ln>
        </p:spPr>
      </p:sp>
      <p:sp>
        <p:nvSpPr>
          <p:cNvPr id="28" name="Shape 23"/>
          <p:cNvSpPr/>
          <p:nvPr/>
        </p:nvSpPr>
        <p:spPr>
          <a:xfrm>
            <a:off x="4352747" y="91440"/>
            <a:ext cx="73152" cy="274320"/>
          </a:xfrm>
          <a:prstGeom prst="rect">
            <a:avLst/>
          </a:prstGeom>
          <a:solidFill>
            <a:srgbClr val="0369A1"/>
          </a:solidFill>
          <a:ln w="12700">
            <a:solidFill>
              <a:srgbClr val="0369A1"/>
            </a:solidFill>
            <a:prstDash val="solid"/>
          </a:ln>
        </p:spPr>
      </p:sp>
      <p:pic>
        <p:nvPicPr>
          <p:cNvPr id="29"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30" name="Text 24"/>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avrete alla fine</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punteggio e il punteggio migliore scritti in cifre, convertiti dalla vostra divisione per dieci</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verme che va più veloce al crescere del punteggio, fino a un limite</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Due suoni: una nota breve per un pasto, una lunga e bassa per la fine</a:t>
            </a:r>
            <a:endParaRPr lang="en-US" sz="2200" dirty="0"/>
          </a:p>
        </p:txBody>
      </p:sp>
      <p:sp>
        <p:nvSpPr>
          <p:cNvPr id="9" name="Text 7"/>
          <p:cNvSpPr txBox="1"/>
          <p:nvPr/>
        </p:nvSpPr>
        <p:spPr>
          <a:xfrm>
            <a:off x="548640" y="44897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7141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funzione draw che tocca una manciata di celle per passo invece dell'intero schermo</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Verm1 finito, pronto per essere confezionato nella Lezione 23</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prende la Parte 4 dalle lezioni</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55005"/>
                <a:gridCol w="5274394"/>
                <a:gridCol w="436501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Idea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Dove compare oggi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Lezione 18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 convenzione di chiamata: registri a, t, s, ra, lo 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piccole funzioni con un contratto; funzioni foglia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Lezioni 05, 06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divu e remu (senza segno), la M di RV32IMAC: quoziente e resto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le cifre del punteggio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Lezione 19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il ciclo del processore: ogni istruzione costa tempo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 misura prima e dopo il passo 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Lezione 20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lo schermo è memoria: il costo è scrivere pixel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disegnare solo ciò che è cambiato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Lezione 21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 dispositivi sono del runtime: noi chiediamo, lui fa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prg32_audio_note, con una durata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Dove state andando</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verm1_p4_title.png">    </p:cNvPr>
          <p:cNvPicPr>
            <a:picLocks noChangeAspect="1"/>
          </p:cNvPicPr>
          <p:nvPr/>
        </p:nvPicPr>
        <p:blipFill>
          <a:blip r:embed="rId1"/>
          <a:stretch>
            <a:fillRect/>
          </a:stretch>
        </p:blipFill>
        <p:spPr>
          <a:xfrm>
            <a:off x="685800" y="2073307"/>
            <a:ext cx="3240938" cy="2025587"/>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TITLE, con il punteggio migliore</a:t>
            </a:r>
            <a:endParaRPr lang="en-US" sz="15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verm1_p4_play.png">    </p:cNvPr>
          <p:cNvPicPr>
            <a:picLocks noChangeAspect="1"/>
          </p:cNvPicPr>
          <p:nvPr/>
        </p:nvPicPr>
        <p:blipFill>
          <a:blip r:embed="rId2"/>
          <a:stretch>
            <a:fillRect/>
          </a:stretch>
        </p:blipFill>
        <p:spPr>
          <a:xfrm>
            <a:off x="4475378" y="2073307"/>
            <a:ext cx="3240938" cy="2025587"/>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PLAY: il punteggio in cifre</a:t>
            </a:r>
            <a:endParaRPr lang="en-US" sz="15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verm1_p4_over.png">    </p:cNvPr>
          <p:cNvPicPr>
            <a:picLocks noChangeAspect="1"/>
          </p:cNvPicPr>
          <p:nvPr/>
        </p:nvPicPr>
        <p:blipFill>
          <a:blip r:embed="rId3"/>
          <a:stretch>
            <a:fillRect/>
          </a:stretch>
        </p:blipFill>
        <p:spPr>
          <a:xfrm>
            <a:off x="8264957" y="2073307"/>
            <a:ext cx="3240938" cy="2025587"/>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OVER</a:t>
            </a:r>
            <a:endParaRPr lang="en-US" sz="15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Partite da una Parte 3 che gira; se la vostra non gira, copiate verm1_part3.S. Oggi ci sono quattro passi, e il programma gira dopo ciascuno.</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 numero non è le sue cifre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score contiene un numero binario: 137 è 0x89, un byte</a:t>
            </a:r>
            <a:endParaRPr lang="en-US" sz="2200" dirty="0"/>
          </a:p>
        </p:txBody>
      </p:sp>
      <p:sp>
        <p:nvSpPr>
          <p:cNvPr id="5" name="Shape 3"/>
          <p:cNvSpPr/>
          <p:nvPr/>
        </p:nvSpPr>
        <p:spPr>
          <a:xfrm>
            <a:off x="548640" y="237902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260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Lo schermo vuole tre caratteri: '1', '3', '7', cioè i byte 0x31, 0x33, 0x37</a:t>
            </a:r>
            <a:endParaRPr lang="en-US" sz="2200" dirty="0"/>
          </a:p>
        </p:txBody>
      </p:sp>
      <p:sp>
        <p:nvSpPr>
          <p:cNvPr id="7" name="Shape 5"/>
          <p:cNvSpPr/>
          <p:nvPr/>
        </p:nvSpPr>
        <p:spPr>
          <a:xfrm>
            <a:off x="548640" y="323430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27883"/>
            <a:ext cx="6565392"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Dividere per dieci, tre volte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137 / 10 = 13, resto 7: le unità</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13 / 10 = 1, resto 3: le decine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1 / 10 = 0, resto 1: le centinaia</a:t>
            </a:r>
            <a:endParaRPr lang="en-US" sz="2200" dirty="0"/>
          </a:p>
        </p:txBody>
      </p:sp>
      <p:sp>
        <p:nvSpPr>
          <p:cNvPr id="9" name="Shape 7"/>
          <p:cNvSpPr/>
          <p:nvPr/>
        </p:nvSpPr>
        <p:spPr>
          <a:xfrm>
            <a:off x="548640" y="474160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35183"/>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 cifre escono da destra: memorizzatele dall'ultimo carattere al primo</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cifra d diventa un carattere sommando 48: il codice ASCII di '0'</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137</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0x89 in memoria; 0x31 0x33 0x37 sullo schermo</a:t>
            </a:r>
            <a:endParaRPr lang="en-US" sz="1900" dirty="0"/>
          </a:p>
        </p:txBody>
      </p:sp>
      <p:sp>
        <p:nvSpPr>
          <p:cNvPr id="16" name="Shape 14"/>
          <p:cNvSpPr/>
          <p:nvPr/>
        </p:nvSpPr>
        <p:spPr>
          <a:xfrm>
            <a:off x="8117281" y="91440"/>
            <a:ext cx="3525774" cy="274320"/>
          </a:xfrm>
          <a:prstGeom prst="rect">
            <a:avLst/>
          </a:prstGeom>
          <a:solidFill>
            <a:srgbClr val="E0F2FE"/>
          </a:solidFill>
          <a:ln w="12700">
            <a:solidFill>
              <a:srgbClr val="0369A1"/>
            </a:solidFill>
            <a:prstDash val="solid"/>
          </a:ln>
        </p:spPr>
      </p:sp>
      <p:sp>
        <p:nvSpPr>
          <p:cNvPr id="17" name="Shape 15"/>
          <p:cNvSpPr/>
          <p:nvPr/>
        </p:nvSpPr>
        <p:spPr>
          <a:xfrm>
            <a:off x="8117281"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245297" y="128016"/>
            <a:ext cx="201168" cy="201168"/>
          </a:xfrm>
          <a:prstGeom prst="rect">
            <a:avLst/>
          </a:prstGeom>
        </p:spPr>
      </p:pic>
      <p:sp>
        <p:nvSpPr>
          <p:cNvPr id="19" name="Text 16"/>
          <p:cNvSpPr txBox="1"/>
          <p:nvPr/>
        </p:nvSpPr>
        <p:spPr>
          <a:xfrm>
            <a:off x="8501329"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quoziente e resto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livelli, in numeri</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49069"/>
                <a:gridCol w="3530041"/>
                <a:gridCol w="2353361"/>
                <a:gridCol w="336194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Punteggio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Velocità (1/256 di cella per 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Frame per passo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Celle al secondo a 30 fps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3,75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7,5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16 e oltre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11,25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Le frazioni di frame sono reali: a 48/256 i passi arrivano ogni 5 o 6 frame, 5,33 in media.</a:t>
            </a:r>
            <a:endParaRPr lang="en-US" sz="1500" dirty="0"/>
          </a:p>
        </p:txBody>
      </p:sp>
      <p:sp>
        <p:nvSpPr>
          <p:cNvPr id="5" name="Shape 2"/>
          <p:cNvSpPr/>
          <p:nvPr/>
        </p:nvSpPr>
        <p:spPr>
          <a:xfrm>
            <a:off x="8182940" y="91440"/>
            <a:ext cx="3460115" cy="274320"/>
          </a:xfrm>
          <a:prstGeom prst="rect">
            <a:avLst/>
          </a:prstGeom>
          <a:solidFill>
            <a:srgbClr val="E0F2FE"/>
          </a:solidFill>
          <a:ln w="12700">
            <a:solidFill>
              <a:srgbClr val="0369A1"/>
            </a:solidFill>
            <a:prstDash val="solid"/>
          </a:ln>
        </p:spPr>
      </p:sp>
      <p:sp>
        <p:nvSpPr>
          <p:cNvPr id="6" name="Shape 3"/>
          <p:cNvSpPr/>
          <p:nvPr/>
        </p:nvSpPr>
        <p:spPr>
          <a:xfrm>
            <a:off x="8182940"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310956" y="128016"/>
            <a:ext cx="201168" cy="201168"/>
          </a:xfrm>
          <a:prstGeom prst="rect">
            <a:avLst/>
          </a:prstGeom>
        </p:spPr>
      </p:pic>
      <p:sp>
        <p:nvSpPr>
          <p:cNvPr id="8" name="Text 4"/>
          <p:cNvSpPr txBox="1"/>
          <p:nvPr/>
        </p:nvSpPr>
        <p:spPr>
          <a:xfrm>
            <a:off x="8566988" y="91440"/>
            <a:ext cx="303949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virgola fissa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Quanto costa un frame?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 Parte 3 cancella 64 000 pixel e ridisegna il titolo, il punteggio, l'intero verme e il cibo: trenta volte al secondo</a:t>
            </a:r>
            <a:endParaRPr lang="en-US" sz="2100" dirty="0"/>
          </a:p>
        </p:txBody>
      </p:sp>
      <p:sp>
        <p:nvSpPr>
          <p:cNvPr id="5" name="Shape 3"/>
          <p:cNvSpPr/>
          <p:nvPr/>
        </p:nvSpPr>
        <p:spPr>
          <a:xfrm>
            <a:off x="548640" y="263080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3212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Tra due passi sullo schermo non cambia nulla, e un passo cambia pochissimo</a:t>
            </a:r>
            <a:endParaRPr lang="en-US" sz="2100" dirty="0"/>
          </a:p>
        </p:txBody>
      </p:sp>
      <p:sp>
        <p:nvSpPr>
          <p:cNvPr id="7" name="Shape 5"/>
          <p:cNvSpPr/>
          <p:nvPr/>
        </p:nvSpPr>
        <p:spPr>
          <a:xfrm>
            <a:off x="548640" y="342023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21558"/>
            <a:ext cx="6565392" cy="127177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passo cambia al massimo</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la cella lasciata dalla coda: nera</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la vecchia testa: ora corpo</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la nuova testa, e forse il cibo e il punteggio</a:t>
            </a:r>
            <a:endParaRPr lang="en-US" sz="2100" dirty="0"/>
          </a:p>
        </p:txBody>
      </p:sp>
      <p:sp>
        <p:nvSpPr>
          <p:cNvPr id="9" name="Shape 7"/>
          <p:cNvSpPr/>
          <p:nvPr/>
        </p:nvSpPr>
        <p:spPr>
          <a:xfrm>
            <a:off x="548640" y="483069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320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Quindi: ricordare che cosa è cambiato, e disegnare solo quello</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L'immagine resta sullo schermo da sola: il frame buffer è memoria</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64 000</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pixel per frame nella Parte 3; poche centinaia per passo nella Parte 4</a:t>
            </a:r>
            <a:endParaRPr lang="en-US" sz="1900" dirty="0"/>
          </a:p>
        </p:txBody>
      </p:sp>
      <p:sp>
        <p:nvSpPr>
          <p:cNvPr id="16" name="Shape 14"/>
          <p:cNvSpPr/>
          <p:nvPr/>
        </p:nvSpPr>
        <p:spPr>
          <a:xfrm>
            <a:off x="8248599" y="91440"/>
            <a:ext cx="3394456" cy="274320"/>
          </a:xfrm>
          <a:prstGeom prst="rect">
            <a:avLst/>
          </a:prstGeom>
          <a:solidFill>
            <a:srgbClr val="E0F2FE"/>
          </a:solidFill>
          <a:ln w="12700">
            <a:solidFill>
              <a:srgbClr val="0369A1"/>
            </a:solidFill>
            <a:prstDash val="solid"/>
          </a:ln>
        </p:spPr>
      </p:sp>
      <p:sp>
        <p:nvSpPr>
          <p:cNvPr id="17" name="Shape 15"/>
          <p:cNvSpPr/>
          <p:nvPr/>
        </p:nvSpPr>
        <p:spPr>
          <a:xfrm>
            <a:off x="8248599"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19" name="Text 16"/>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frame buffer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Prima e dopo, con i numeri</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Eseguite il gioco finito in modalità debug e avviate una partita</a:t>
            </a:r>
            <a:endParaRPr lang="en-US" sz="2200" dirty="0"/>
          </a:p>
        </p:txBody>
      </p:sp>
      <p:sp>
        <p:nvSpPr>
          <p:cNvPr id="5" name="Text 3"/>
          <p:cNvSpPr txBox="1"/>
          <p:nvPr/>
        </p:nvSpPr>
        <p:spPr>
          <a:xfrm>
            <a:off x="548640" y="205597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03769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Leggete la telemetria per dieci secondi di gioco: istruzioni eseguite, frame al secondo, frame in ritardo</a:t>
            </a:r>
            <a:endParaRPr lang="en-US" sz="2200" dirty="0"/>
          </a:p>
        </p:txBody>
      </p:sp>
      <p:sp>
        <p:nvSpPr>
          <p:cNvPr id="7" name="Text 5"/>
          <p:cNvSpPr txBox="1"/>
          <p:nvPr/>
        </p:nvSpPr>
        <p:spPr>
          <a:xfrm>
            <a:off x="548640" y="291917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0088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Confrontate con i numeri annotati per la Parte 3 all'inizio di questa lezione</a:t>
            </a:r>
            <a:endParaRPr lang="en-US" sz="2200" dirty="0"/>
          </a:p>
        </p:txBody>
      </p:sp>
      <p:sp>
        <p:nvSpPr>
          <p:cNvPr id="9" name="Text 7"/>
          <p:cNvSpPr txBox="1"/>
          <p:nvPr/>
        </p:nvSpPr>
        <p:spPr>
          <a:xfrm>
            <a:off x="548640" y="378236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764077"/>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Fate crescere il verme fino a venti celle in entrambe le versioni e rileggete: un numero cresce con il verme, l'altro no</a:t>
            </a:r>
            <a:endParaRPr lang="en-US" sz="2200" dirty="0"/>
          </a:p>
        </p:txBody>
      </p:sp>
      <p:sp>
        <p:nvSpPr>
          <p:cNvPr id="11" name="Text 9"/>
          <p:cNvSpPr txBox="1"/>
          <p:nvPr/>
        </p:nvSpPr>
        <p:spPr>
          <a:xfrm>
            <a:off x="548640" y="464555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62727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Mettete un breakpoint sulla prima istruzione di draw_changes: si ferma una volta per passo, non una volta per frame</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Scrivete i quattro numeri nei vostri appunti: andranno nella descrizione del gioco nella Lezione 23</a:t>
            </a:r>
            <a:endParaRPr lang="en-US" sz="2200" dirty="0"/>
          </a:p>
        </p:txBody>
      </p:sp>
      <p:sp>
        <p:nvSpPr>
          <p:cNvPr id="15" name="Shape 13"/>
          <p:cNvSpPr/>
          <p:nvPr/>
        </p:nvSpPr>
        <p:spPr>
          <a:xfrm>
            <a:off x="7809941" y="91440"/>
            <a:ext cx="3833114" cy="274320"/>
          </a:xfrm>
          <a:prstGeom prst="rect">
            <a:avLst/>
          </a:prstGeom>
          <a:solidFill>
            <a:srgbClr val="FEF3C7"/>
          </a:solidFill>
          <a:ln w="12700">
            <a:solidFill>
              <a:srgbClr val="B45309"/>
            </a:solidFill>
            <a:prstDash val="solid"/>
          </a:ln>
        </p:spPr>
      </p:sp>
      <p:sp>
        <p:nvSpPr>
          <p:cNvPr id="16" name="Shape 14"/>
          <p:cNvSpPr/>
          <p:nvPr/>
        </p:nvSpPr>
        <p:spPr>
          <a:xfrm>
            <a:off x="7809941" y="91440"/>
            <a:ext cx="27432" cy="274320"/>
          </a:xfrm>
          <a:prstGeom prst="rect">
            <a:avLst/>
          </a:prstGeom>
          <a:solidFill>
            <a:srgbClr val="B45309"/>
          </a:solidFill>
          <a:ln w="12700">
            <a:solidFill>
              <a:srgbClr val="B45309"/>
            </a:solidFill>
            <a:prstDash val="solid"/>
          </a:ln>
        </p:spPr>
      </p:sp>
      <p:sp>
        <p:nvSpPr>
          <p:cNvPr id="17" name="Shape 15"/>
          <p:cNvSpPr/>
          <p:nvPr/>
        </p:nvSpPr>
        <p:spPr>
          <a:xfrm>
            <a:off x="7864805" y="91440"/>
            <a:ext cx="27432" cy="274320"/>
          </a:xfrm>
          <a:prstGeom prst="rect">
            <a:avLst/>
          </a:prstGeom>
          <a:solidFill>
            <a:srgbClr val="B45309"/>
          </a:solidFill>
          <a:ln w="12700">
            <a:solidFill>
              <a:srgbClr val="B45309"/>
            </a:solidFill>
            <a:prstDash val="solid"/>
          </a:ln>
        </p:spPr>
      </p:sp>
      <p:pic>
        <p:nvPicPr>
          <p:cNvPr id="18" name="Image 0" descr="preencoded.png">    </p:cNvPr>
          <p:cNvPicPr>
            <a:picLocks noChangeAspect="1"/>
          </p:cNvPicPr>
          <p:nvPr/>
        </p:nvPicPr>
        <p:blipFill>
          <a:blip r:embed="rId1"/>
          <a:stretch>
            <a:fillRect/>
          </a:stretch>
        </p:blipFill>
        <p:spPr>
          <a:xfrm>
            <a:off x="7937957" y="128016"/>
            <a:ext cx="201168" cy="201168"/>
          </a:xfrm>
          <a:prstGeom prst="rect">
            <a:avLst/>
          </a:prstGeom>
        </p:spPr>
      </p:pic>
      <p:sp>
        <p:nvSpPr>
          <p:cNvPr id="19" name="Text 16"/>
          <p:cNvSpPr txBox="1"/>
          <p:nvPr/>
        </p:nvSpPr>
        <p:spPr>
          <a:xfrm>
            <a:off x="8193989" y="91440"/>
            <a:ext cx="3412490"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debugger di PRG32-QT</a:t>
            </a:r>
            <a:endParaRPr lang="en-US" sz="1100" dirty="0"/>
          </a:p>
        </p:txBody>
      </p:sp>
      <p:sp>
        <p:nvSpPr>
          <p:cNvPr id="20" name="Shape 17"/>
          <p:cNvSpPr/>
          <p:nvPr/>
        </p:nvSpPr>
        <p:spPr>
          <a:xfrm>
            <a:off x="3780485" y="91440"/>
            <a:ext cx="3919728" cy="274320"/>
          </a:xfrm>
          <a:prstGeom prst="rect">
            <a:avLst/>
          </a:prstGeom>
          <a:solidFill>
            <a:srgbClr val="E0F2FE"/>
          </a:solidFill>
          <a:ln w="12700">
            <a:solidFill>
              <a:srgbClr val="0369A1"/>
            </a:solidFill>
            <a:prstDash val="solid"/>
          </a:ln>
        </p:spPr>
      </p:sp>
      <p:sp>
        <p:nvSpPr>
          <p:cNvPr id="21" name="Shape 18"/>
          <p:cNvSpPr/>
          <p:nvPr/>
        </p:nvSpPr>
        <p:spPr>
          <a:xfrm>
            <a:off x="3780485" y="91440"/>
            <a:ext cx="73152" cy="274320"/>
          </a:xfrm>
          <a:prstGeom prst="rect">
            <a:avLst/>
          </a:prstGeom>
          <a:solidFill>
            <a:srgbClr val="0369A1"/>
          </a:solidFill>
          <a:ln w="12700">
            <a:solidFill>
              <a:srgbClr val="0369A1"/>
            </a:solidFill>
            <a:prstDash val="solid"/>
          </a:ln>
        </p:spPr>
      </p:sp>
      <p:pic>
        <p:nvPicPr>
          <p:cNvPr id="22" name="Image 1" descr="preencoded.png">    </p:cNvPr>
          <p:cNvPicPr>
            <a:picLocks noChangeAspect="1"/>
          </p:cNvPicPr>
          <p:nvPr/>
        </p:nvPicPr>
        <p:blipFill>
          <a:blip r:embed="rId2"/>
          <a:stretch>
            <a:fillRect/>
          </a:stretch>
        </p:blipFill>
        <p:spPr>
          <a:xfrm>
            <a:off x="3908501" y="128016"/>
            <a:ext cx="201168" cy="201168"/>
          </a:xfrm>
          <a:prstGeom prst="rect">
            <a:avLst/>
          </a:prstGeom>
        </p:spPr>
      </p:pic>
      <p:sp>
        <p:nvSpPr>
          <p:cNvPr id="23" name="Text 19"/>
          <p:cNvSpPr txBox="1"/>
          <p:nvPr/>
        </p:nvSpPr>
        <p:spPr>
          <a:xfrm>
            <a:off x="4164533"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ciclo del processore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Seguire una chiamata con il debugger</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Fermatevi su call to_decimal dentro draw_score e leggete a0, a1, ra e sp</a:t>
            </a:r>
            <a:endParaRPr lang="en-US" sz="2100" dirty="0"/>
          </a:p>
        </p:txBody>
      </p:sp>
      <p:sp>
        <p:nvSpPr>
          <p:cNvPr id="5" name="Shape 3"/>
          <p:cNvSpPr/>
          <p:nvPr/>
        </p:nvSpPr>
        <p:spPr>
          <a:xfrm>
            <a:off x="548640" y="229800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99323"/>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passo: il PC salta dentro to_decimal, e ra ora contiene l'indirizzo dell'istruzione dopo la chiamata</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Proseguite passo-passo: cambiano solo i registri t e a0; sp non si muove mai. Una funzione foglia</a:t>
            </a:r>
            <a:endParaRPr lang="en-US" sz="2100" dirty="0"/>
          </a:p>
        </p:txBody>
      </p:sp>
      <p:sp>
        <p:nvSpPr>
          <p:cNvPr id="9" name="Shape 7"/>
          <p:cNvSpPr/>
          <p:nvPr/>
        </p:nvSpPr>
        <p:spPr>
          <a:xfrm>
            <a:off x="548640" y="45127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ret il PC prende il valore di ra: siete di nuovo in draw_score</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Ora fate lo stesso con call draw_text: sp scende di 16, ra viene memorizzato a 12(sp), e torna</a:t>
            </a:r>
            <a:endParaRPr lang="en-US" sz="2100" dirty="0"/>
          </a:p>
        </p:txBody>
      </p:sp>
      <p:pic>
        <p:nvPicPr>
          <p:cNvPr id="13" name="Image 0" descr="/Users/raffaelemontella/devel/riscv-prg32/computer-architecture-with-prg32/tools/assets/prg32qt_debugger_details.png">    </p:cNvPr>
          <p:cNvPicPr>
            <a:picLocks noChangeAspect="1"/>
          </p:cNvPicPr>
          <p:nvPr/>
        </p:nvPicPr>
        <p:blipFill>
          <a:blip r:embed="rId1"/>
          <a:stretch>
            <a:fillRect/>
          </a:stretch>
        </p:blipFill>
        <p:spPr>
          <a:xfrm>
            <a:off x="7451807" y="1417320"/>
            <a:ext cx="3506002" cy="4297680"/>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listato, registri, memoria</a:t>
            </a:r>
            <a:endParaRPr lang="en-US" sz="1200" dirty="0"/>
          </a:p>
        </p:txBody>
      </p:sp>
      <p:sp>
        <p:nvSpPr>
          <p:cNvPr id="15" name="Shape 12"/>
          <p:cNvSpPr/>
          <p:nvPr/>
        </p:nvSpPr>
        <p:spPr>
          <a:xfrm>
            <a:off x="7809941" y="91440"/>
            <a:ext cx="3833114" cy="274320"/>
          </a:xfrm>
          <a:prstGeom prst="rect">
            <a:avLst/>
          </a:prstGeom>
          <a:solidFill>
            <a:srgbClr val="FEF3C7"/>
          </a:solidFill>
          <a:ln w="12700">
            <a:solidFill>
              <a:srgbClr val="B45309"/>
            </a:solidFill>
            <a:prstDash val="solid"/>
          </a:ln>
        </p:spPr>
      </p:sp>
      <p:sp>
        <p:nvSpPr>
          <p:cNvPr id="16" name="Shape 13"/>
          <p:cNvSpPr/>
          <p:nvPr/>
        </p:nvSpPr>
        <p:spPr>
          <a:xfrm>
            <a:off x="7809941" y="91440"/>
            <a:ext cx="27432" cy="274320"/>
          </a:xfrm>
          <a:prstGeom prst="rect">
            <a:avLst/>
          </a:prstGeom>
          <a:solidFill>
            <a:srgbClr val="B45309"/>
          </a:solidFill>
          <a:ln w="12700">
            <a:solidFill>
              <a:srgbClr val="B45309"/>
            </a:solidFill>
            <a:prstDash val="solid"/>
          </a:ln>
        </p:spPr>
      </p:sp>
      <p:sp>
        <p:nvSpPr>
          <p:cNvPr id="17" name="Shape 14"/>
          <p:cNvSpPr/>
          <p:nvPr/>
        </p:nvSpPr>
        <p:spPr>
          <a:xfrm>
            <a:off x="7864805" y="91440"/>
            <a:ext cx="27432" cy="274320"/>
          </a:xfrm>
          <a:prstGeom prst="rect">
            <a:avLst/>
          </a:prstGeom>
          <a:solidFill>
            <a:srgbClr val="B45309"/>
          </a:solidFill>
          <a:ln w="12700">
            <a:solidFill>
              <a:srgbClr val="B45309"/>
            </a:solidFill>
            <a:prstDash val="solid"/>
          </a:ln>
        </p:spPr>
      </p:sp>
      <p:pic>
        <p:nvPicPr>
          <p:cNvPr id="18" name="Image 1" descr="preencoded.png">    </p:cNvPr>
          <p:cNvPicPr>
            <a:picLocks noChangeAspect="1"/>
          </p:cNvPicPr>
          <p:nvPr/>
        </p:nvPicPr>
        <p:blipFill>
          <a:blip r:embed="rId2"/>
          <a:stretch>
            <a:fillRect/>
          </a:stretch>
        </p:blipFill>
        <p:spPr>
          <a:xfrm>
            <a:off x="7937957" y="128016"/>
            <a:ext cx="201168" cy="201168"/>
          </a:xfrm>
          <a:prstGeom prst="rect">
            <a:avLst/>
          </a:prstGeom>
        </p:spPr>
      </p:pic>
      <p:sp>
        <p:nvSpPr>
          <p:cNvPr id="19" name="Text 15"/>
          <p:cNvSpPr txBox="1"/>
          <p:nvPr/>
        </p:nvSpPr>
        <p:spPr>
          <a:xfrm>
            <a:off x="8193989" y="91440"/>
            <a:ext cx="3412490"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debugger di PRG32-QT</a:t>
            </a:r>
            <a:endParaRPr lang="en-US" sz="1100" dirty="0"/>
          </a:p>
        </p:txBody>
      </p:sp>
      <p:sp>
        <p:nvSpPr>
          <p:cNvPr id="20" name="Shape 16"/>
          <p:cNvSpPr/>
          <p:nvPr/>
        </p:nvSpPr>
        <p:spPr>
          <a:xfrm>
            <a:off x="3583508" y="91440"/>
            <a:ext cx="4116705" cy="274320"/>
          </a:xfrm>
          <a:prstGeom prst="rect">
            <a:avLst/>
          </a:prstGeom>
          <a:solidFill>
            <a:srgbClr val="E0F2FE"/>
          </a:solidFill>
          <a:ln w="12700">
            <a:solidFill>
              <a:srgbClr val="0369A1"/>
            </a:solidFill>
            <a:prstDash val="solid"/>
          </a:ln>
        </p:spPr>
      </p:sp>
      <p:sp>
        <p:nvSpPr>
          <p:cNvPr id="21" name="Shape 17"/>
          <p:cNvSpPr/>
          <p:nvPr/>
        </p:nvSpPr>
        <p:spPr>
          <a:xfrm>
            <a:off x="3583508" y="91440"/>
            <a:ext cx="73152" cy="274320"/>
          </a:xfrm>
          <a:prstGeom prst="rect">
            <a:avLst/>
          </a:prstGeom>
          <a:solidFill>
            <a:srgbClr val="0369A1"/>
          </a:solidFill>
          <a:ln w="12700">
            <a:solidFill>
              <a:srgbClr val="0369A1"/>
            </a:solidFill>
            <a:prstDash val="solid"/>
          </a:ln>
        </p:spPr>
      </p:sp>
      <p:pic>
        <p:nvPicPr>
          <p:cNvPr id="22" name="Image 2" descr="preencoded.png">    </p:cNvPr>
          <p:cNvPicPr>
            <a:picLocks noChangeAspect="1"/>
          </p:cNvPicPr>
          <p:nvPr/>
        </p:nvPicPr>
        <p:blipFill>
          <a:blip r:embed="rId3"/>
          <a:stretch>
            <a:fillRect/>
          </a:stretch>
        </p:blipFill>
        <p:spPr>
          <a:xfrm>
            <a:off x="3711524" y="128016"/>
            <a:ext cx="201168" cy="201168"/>
          </a:xfrm>
          <a:prstGeom prst="rect">
            <a:avLst/>
          </a:prstGeom>
        </p:spPr>
      </p:pic>
      <p:sp>
        <p:nvSpPr>
          <p:cNvPr id="23" name="Text 18"/>
          <p:cNvSpPr txBox="1"/>
          <p:nvPr/>
        </p:nvSpPr>
        <p:spPr>
          <a:xfrm>
            <a:off x="3967556" y="91440"/>
            <a:ext cx="369608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convenzione di chiamata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to_decimal riceve a0 = 205. Quali byte memorizza, dallo scostamento 0 al 2?</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02 00 05</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32 30 35</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35 30 32</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cd 00 00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quale punteggio il verme fa un passo ogni 4 frame?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16</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dirty vale 0 quando viene chiamata verm1_draw. Quante istruzioni macchina esegue?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circa 50</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migliaia</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Perché to_decimal può fare a meno di uno stack frame?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è corta</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non chiama funzioni e usa solo registri a e t</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non ha argomenti</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 frame sono facoltativi</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Dove siamo, e che cosa viene dopo</a:t>
            </a:r>
            <a:endParaRPr lang="en-US" sz="3200" dirty="0"/>
          </a:p>
        </p:txBody>
      </p:sp>
      <p:sp>
        <p:nvSpPr>
          <p:cNvPr id="3" name="Shape 1"/>
          <p:cNvSpPr/>
          <p:nvPr/>
        </p:nvSpPr>
        <p:spPr>
          <a:xfrm>
            <a:off x="548640" y="1623314"/>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51688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Verm1 è finito: circa seicento righe di assembly RISC-V, tutte vostre</a:t>
            </a:r>
            <a:endParaRPr lang="en-US" sz="2200" dirty="0"/>
          </a:p>
        </p:txBody>
      </p:sp>
      <p:sp>
        <p:nvSpPr>
          <p:cNvPr id="5" name="Shape 3"/>
          <p:cNvSpPr/>
          <p:nvPr/>
        </p:nvSpPr>
        <p:spPr>
          <a:xfrm>
            <a:off x="548640" y="242138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495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È cominciato come tre funzioni che ritornano, ed è cresciuto un passo eseguibile alla volta</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Dentro c'è ogni lezione del corso: numeri, logica, stato, memoria, chiamate, pixel, dispositivi</a:t>
            </a:r>
            <a:endParaRPr lang="en-US" sz="2200" dirty="0"/>
          </a:p>
        </p:txBody>
      </p:sp>
      <p:sp>
        <p:nvSpPr>
          <p:cNvPr id="9" name="Shape 7"/>
          <p:cNvSpPr/>
          <p:nvPr/>
        </p:nvSpPr>
        <p:spPr>
          <a:xfrm>
            <a:off x="548640" y="46992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9282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programma che solo il suo autore può eseguire è finito a metà</a:t>
            </a:r>
            <a:endParaRPr lang="en-US" sz="2200" dirty="0"/>
          </a:p>
        </p:txBody>
      </p:sp>
      <p:sp>
        <p:nvSpPr>
          <p:cNvPr id="11" name="Shape 9"/>
          <p:cNvSpPr/>
          <p:nvPr/>
        </p:nvSpPr>
        <p:spPr>
          <a:xfrm>
            <a:off x="548640" y="54973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39089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Lezione 23: un nome, un'icona, i crediti, un bundle per due architetture, e il Cartridge Store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Verm1, parte 4: il gioco finito</dc:title>
  <dc:subject>Lezione 22</dc:subject>
  <dc:creator>Raffaele Montella</dc:creator>
  <cp:lastModifiedBy>Raffaele Montella</cp:lastModifiedBy>
  <cp:revision>1</cp:revision>
  <dcterms:created xsi:type="dcterms:W3CDTF">2026-10-17T07:16:50Z</dcterms:created>
  <dcterms:modified xsi:type="dcterms:W3CDTF">2026-10-17T07:16:50Z</dcterms:modified>
</cp:coreProperties>
</file>