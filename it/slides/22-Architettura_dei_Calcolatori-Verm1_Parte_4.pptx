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90a2e2d-ae6d-e02a-6a6c-4cd43078ef88}">
          <p14:sldIdLst>
            <p14:sldId id="256"/>
            <p14:sldId id="257"/>
            <p14:sldId id="258"/>
            <p14:sldId id="259"/>
          </p14:sldIdLst>
        </p14:section>
        <p14:section name="Passo 1: il punteggio in cifre" id="{a8ea7409-ed24-00ba-8b0f-a53ee3c29e98}">
          <p14:sldIdLst>
            <p14:sldId id="260"/>
          </p14:sldIdLst>
        </p14:section>
        <p14:section name="Passo 2: i livelli" id="{43ff89d7-3876-e1be-0104-f5f6eb8b953d}">
          <p14:sldIdLst>
            <p14:sldId id="261"/>
          </p14:sldIdLst>
        </p14:section>
        <p14:section name="Passo 4: disegnare solo ciò che è cambiato" id="{c9ec64bc-7676-21d1-a18f-626a879aaff3}">
          <p14:sldIdLst>
            <p14:sldId id="262"/>
          </p14:sldIdLst>
        </p14:section>
        <p14:section name="Passo 5: misurare" id="{5c9a41f2-5298-a57b-9794-bad8f1c9884d}">
          <p14:sldIdLst>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quarto e ultimo tutorial completa Verm1. Nella Parte 3 il gioco era completo nelle regole; oggi diventa completo come programma. Il punteggio è scritto in cifre, il verme accelera, ci sono due suoni, e lo schermo viene ridisegnato solo dove cambia. La frase di Knuth in copertina spiega l'ordine del lavoro: prima il gioco è stato fatto funzionare, e solo adesso, con una misura in mano, lo rendiamo veloce.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quoziente e resto; caratteri e stringhe; la virgola fissa; la convenzione di chiamata; gli array in memoria; macchine a stati finiti; il frame buffer; il ciclo del processore. DA UTILIZZARE OGGI: gli strumenti di PRG32, il debugger di PRG32-QT (si usa, non si studia, in questo corso). DA COMPRENDERE PIÙ AVANTI: niente. Una slide senza etichetta è contesto: una storia, un esempio, una domanda, un esercizio.
Per il docente: Quarto tutorial del progetto. Usa le Lezioni da 18 a 21: i registri per convenzione, lo stack, moltiplicazione e divisione (18), il ciclo del processore e il costo di un'istruzione (19), il frame buffer e il costo del disegno (20), ingresso, suono e il runtime come padrone dei dispositivi (21). Il file di riferimento è verm1/verm1_part4.S. La frase di Knuth è il motto giusto: il gioco è stato fatto funzionare nella Parte 3, e solo adesso, con una misura in mano, lo rendiamo veloce.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risultati. Il punteggio e il punteggio migliore in cifre, convertiti da una divisione per dieci scritta da voi. Un verme che va più veloce al crescere del punteggio, fino a un limite. Due suoni, uno per un pasto e uno per la fine. Una draw che tocca una manciata di celle per passo invece dell'intero schermo. E un gioco finito, pronto per essere confezionato e pubblicato nella prossima lezione.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idee dell'ultimo blocco di lezioni, e dove compaiono oggi. La convenzione di chiamata della Lezione 18 diventa piccole funzioni con un contratto, alcune delle quali foglie. L'estensione M dà quoziente e resto per le cifre. Il ciclo del processore ricorda che ogni istruzione costa tempo, quindi si misura. Lo schermo come memoria, dalla Lezione 20, suggerisce di disegnare solo ciò che è cambiato. E dalla Lezione 21: i dispositivi sono del runtime, a cui chiediamo una nota di una certa durata.
Per il docente: Torna anche la Lezione 04: una cifra diventa un carattere sommando 48, il codice ASCII di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Dove state andando: la schermata del titolo con il punteggio migliore, il gioco con il punteggio in cifre, il game over. Partite da una Parte 3 che gira; se la vostra non gira, copiate il file di riferimento. Oggi ci sono quattro passi di codice, e il programma gira dopo ciascuno.
Per il docente: Schermate prodotte da tools/tests/verm1_check.py con un giocatore programmato.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variabile score contiene un numero binario: 137 è il byte 0x89. Lo schermo vuole tre caratteri, i byte 0x31, 0x33 e 0x37. La conversione è quella che avete fatto a mano nella Lezione 05: si divide per dieci, e il resto è una cifra; si ripete sul quoziente. Le cifre escono da destra, prima le unità, quindi si memorizzano dall'ultimo carattere al primo. Una cifra diventa un carattere sommando 48, il codice ASCII del carattere zero.
DA COMPRENDERE OGGI: quoziente e resto.
Per il docente: La conversione della Lezione 05, fatta dal programma invece che a mano. remu dà il resto, divu il quoziente: due istruzioni dell'estensione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livelli in numeri. Per ogni punteggio, la velocità, i frame per passo, cioè 256 diviso la velocità, e le celle al secondo a trenta frame al secondo. Da 3,75 celle al secondo all'inizio a 11,25 dai sedici punti in poi. I frame per passo non sono sempre numeri interi, e non è un problema: a 48 i passi arrivano ogni cinque o sei frame, 5,33 in media. È ciò che vi dà la virgola fissa.
DA COMPRENDERE OGGI: la virgola fissa.
Per il docente: 256 diviso la velocità dà i frame per passo; la frequenza dei frame per la velocità diviso 256 dà le celle al secondo. Chiedete agli studenti la riga del punteggio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Quanto costa un frame della Parte 3? Cancella 64.000 pixel e ridisegna titolo, punteggio, verme e cibo, trenta volte al secondo. Eppure tra due passi sullo schermo non cambia nulla, e un passo cambia pochissimo: la cella lasciata dalla coda, la vecchia testa che diventa corpo, la nuova testa, e a volte il cibo e il punteggio. Quindi si ricorda che cosa è cambiato e si disegna solo quello. Funziona perché il frame buffer è memoria: l'immagine resta lì da sola.
DA COMPRENDERE OGGI: il frame buffer.
Per il docente: Lezione 20: lo schermo è un array di pixel che conserva il suo contenuto. Un verme di 200 celle costa 200 rettangoli per frame nella Parte 3 e tre per passo nella Parte 4. È ciò che facevano i vecchi home computer, perché non avevano scelta.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azioni. Eseguite il gioco finito in modalità debug e avviate una partita. Leggete la telemetria per dieci secondi. Confrontate con i numeri della Parte 3 annotati all'inizio. Fate crescere il verme fino a venti celle in entrambe le versioni e rileggete: in una il costo cresce con il verme, nell'altra no. Mettete un breakpoint su draw_changes e verificate che si ferma una volta per passo. Annotate i numeri: andranno nella descrizione del vostro gioco.
DA COMPRENDERE OGGI: il ciclo del processore. DA UTILIZZARE OGGI: il debugger di PRG32-QT (si usa, non si studia, in questo corso).
Per il docente: La telemetria conta le istruzioni della cartuccia, non quelle del runtime che riempie i rettangoli, quindi il risparmio reale sulla scheda è più grande di quanto mostri il conteggio: lì ogni pixel viaggia anche su SPI verso il display. Non date numeri agli studenti: fateli misurare.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Seguite una chiamata con il debugger. Fermatevi sulla chiamata a to_decimal e leggete a0, a1, ra e sp. Un passo: il PC salta dentro la funzione e ra contiene l'indirizzo dell'istruzione dopo la chiamata. Proseguite: cambiano solo i temporanei e sp non si muove mai, perché è una foglia. A ret il PC prende il valore di ra. Poi fate lo stesso con draw_text: sp scende di 16, ra viene memorizzato e poi ripreso.
DA COMPRENDERE OGGI: la convenzione di chiamata. DA UTILIZZARE OGGI: il debugger di PRG32-QT (si usa, non si studia, in questo corso).
Per il docente: La convenzione di chiamata della Lezione 18, osservata istruzione per istruzione. Nel listato call compare come jal, o come auipc seguita da jalr, e ret come c.jr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Convertite 205 in tre cifre, poi ogni cifra nel suo codice ASCII sommando 0x30. Attenzione all'ordine: lo scostamento 0 contiene le centinaia.
Un passo ogni quattro frame significa una velocità di 256 diviso 4. Mettete quel valore nella formula della velocità e ricavate il punteggio.
Per il docente: 1. Risposta: B. I caratteri '2', '0', '5': 0x32, 0x30, 0x35. Le unità vanno allo scostamento 2.
2. Risposta: B. Un passo ogni 4 frame è 64/256: 32 + 4 x score = 64, quindi score =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Contate le istruzioni del percorso più breve di verm1_draw, ricordando che la è una pseudo-istruzione e si espande in due.
Chiedetevi a che cosa serve uno stack frame: salvare ra quando c'è un'altra chiamata, e salvare i registri da conservare. A to_decimal serve l'una o l'altra cosa?
Per il docente: 1. Risposta: B. la sono due istruzioni, auipc e addi; poi lw, beqz e ret.
2. Risposta: B. Una funzione foglia che tocca solo registri caller-saved non ha nulla da salvare.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 è finito: circa seicento righe di assembly RISC-V, tutte vostre. È cominciato come tre funzioni che ritornano ed è cresciuto un passo eseguibile alla volta, e dentro c'è ogni parte del corso: numeri, logica, stato, memoria, chiamate, pixel, dispositivi. Manca una cosa: un programma che solo il suo autore può eseguire è finito a metà. La prossima lezione gli dà un nome, un'icona e i crediti, e lo pubblica.
Stato di apprendimento, riepilogo. DA COMPRENDERE OGGI: quoziente e resto; caratteri e stringhe; la virgola fissa; la convenzione di chiamata; gli array in memoria; macchine a stati finiti; il frame buffer; il ciclo del processore. DA UTILIZZARE OGGI: gli strumenti di PRG32, il debugger di PRG32-QT (si usa, non si studia, in questo corso). DA COMPRENDERE PIÙ AVANTI: niente. Una slide senza etichetta è contesto: una storia, un esempio, una domanda, un esercizio.
Per il docente: Chiedete agli studenti di portare la propria variante alla Lezione 23: il bundle che preparano deve essere del loro gioco, non del riferimento.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22: Verm1, parte 4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22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parte 4: il gioco finito</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La macchina entra nel gioco: la divisione per le cifre, i livelli, il suono, e uno schermo disegnato solo dove cambia</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“L'ottimizzazione prematura è la radice di tutti i mali.”</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Donald Knuth, 1974</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Implementazione di riferimento di Verm1: contributo di Giuseppe Coviello</a:t>
            </a:r>
            <a:endParaRPr lang="en-US" sz="1200" dirty="0"/>
          </a:p>
        </p:txBody>
      </p:sp>
      <p:sp>
        <p:nvSpPr>
          <p:cNvPr id="13" name="Text 11"/>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della lezione. I listati, il programma completo e come provarlo sono nella presentazione del codice: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22-Architettura_dei_Calcolatori-Verm1_Parte_4-Codice.pptx</a:t>
            </a:r>
            <a:endParaRPr lang="en-US" sz="1300" dirty="0"/>
          </a:p>
        </p:txBody>
      </p:sp>
      <p:sp>
        <p:nvSpPr>
          <p:cNvPr id="14" name="Shape 12"/>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5" name="Image 0" descr="/Users/raffaelemontella/devel/riscv-prg32/computer-architecture-with-prg32/tools/assets/verm1_p4_play.png">    </p:cNvPr>
          <p:cNvPicPr>
            <a:picLocks noChangeAspect="1"/>
          </p:cNvPicPr>
          <p:nvPr/>
        </p:nvPicPr>
        <p:blipFill>
          <a:blip r:embed="rId1"/>
          <a:stretch>
            <a:fillRect/>
          </a:stretch>
        </p:blipFill>
        <p:spPr>
          <a:xfrm>
            <a:off x="8716975" y="4280535"/>
            <a:ext cx="2834640" cy="1771650"/>
          </a:xfrm>
          <a:prstGeom prst="rect">
            <a:avLst/>
          </a:prstGeom>
        </p:spPr>
      </p:pic>
      <p:sp>
        <p:nvSpPr>
          <p:cNvPr id="16" name="Shape 13"/>
          <p:cNvSpPr/>
          <p:nvPr/>
        </p:nvSpPr>
        <p:spPr>
          <a:xfrm>
            <a:off x="8910777" y="91440"/>
            <a:ext cx="2732278" cy="274320"/>
          </a:xfrm>
          <a:prstGeom prst="rect">
            <a:avLst/>
          </a:prstGeom>
          <a:solidFill>
            <a:srgbClr val="F3E8FF"/>
          </a:solidFill>
          <a:ln w="12700">
            <a:solidFill>
              <a:srgbClr val="7E22CE"/>
            </a:solidFill>
            <a:prstDash val="dash"/>
          </a:ln>
        </p:spPr>
      </p:sp>
      <p:sp>
        <p:nvSpPr>
          <p:cNvPr id="17" name="Shape 14"/>
          <p:cNvSpPr/>
          <p:nvPr/>
        </p:nvSpPr>
        <p:spPr>
          <a:xfrm>
            <a:off x="8938209" y="128016"/>
            <a:ext cx="45720" cy="45720"/>
          </a:xfrm>
          <a:prstGeom prst="rect">
            <a:avLst/>
          </a:prstGeom>
          <a:solidFill>
            <a:srgbClr val="7E22CE"/>
          </a:solidFill>
          <a:ln w="12700">
            <a:solidFill>
              <a:srgbClr val="7E22CE"/>
            </a:solidFill>
            <a:prstDash val="solid"/>
          </a:ln>
        </p:spPr>
      </p:sp>
      <p:sp>
        <p:nvSpPr>
          <p:cNvPr id="18" name="Shape 15"/>
          <p:cNvSpPr/>
          <p:nvPr/>
        </p:nvSpPr>
        <p:spPr>
          <a:xfrm>
            <a:off x="8938209" y="205740"/>
            <a:ext cx="45720" cy="45720"/>
          </a:xfrm>
          <a:prstGeom prst="rect">
            <a:avLst/>
          </a:prstGeom>
          <a:solidFill>
            <a:srgbClr val="7E22CE"/>
          </a:solidFill>
          <a:ln w="12700">
            <a:solidFill>
              <a:srgbClr val="7E22CE"/>
            </a:solidFill>
            <a:prstDash val="solid"/>
          </a:ln>
        </p:spPr>
      </p:sp>
      <p:sp>
        <p:nvSpPr>
          <p:cNvPr id="19" name="Shape 16"/>
          <p:cNvSpPr/>
          <p:nvPr/>
        </p:nvSpPr>
        <p:spPr>
          <a:xfrm>
            <a:off x="8938209" y="283464"/>
            <a:ext cx="45720" cy="45720"/>
          </a:xfrm>
          <a:prstGeom prst="rect">
            <a:avLst/>
          </a:prstGeom>
          <a:solidFill>
            <a:srgbClr val="7E22CE"/>
          </a:solidFill>
          <a:ln w="12700">
            <a:solidFill>
              <a:srgbClr val="7E22CE"/>
            </a:solidFill>
            <a:prstDash val="solid"/>
          </a:ln>
        </p:spPr>
      </p:sp>
      <p:pic>
        <p:nvPicPr>
          <p:cNvPr id="20"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1" name="Text 17"/>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2" name="Shape 18"/>
          <p:cNvSpPr/>
          <p:nvPr/>
        </p:nvSpPr>
        <p:spPr>
          <a:xfrm>
            <a:off x="6675069" y="91440"/>
            <a:ext cx="2125980" cy="274320"/>
          </a:xfrm>
          <a:prstGeom prst="rect">
            <a:avLst/>
          </a:prstGeom>
          <a:solidFill>
            <a:srgbClr val="FEF3C7"/>
          </a:solidFill>
          <a:ln w="12700">
            <a:solidFill>
              <a:srgbClr val="B45309"/>
            </a:solidFill>
            <a:prstDash val="solid"/>
          </a:ln>
        </p:spPr>
      </p:sp>
      <p:sp>
        <p:nvSpPr>
          <p:cNvPr id="23" name="Shape 19"/>
          <p:cNvSpPr/>
          <p:nvPr/>
        </p:nvSpPr>
        <p:spPr>
          <a:xfrm>
            <a:off x="6675069" y="91440"/>
            <a:ext cx="27432" cy="274320"/>
          </a:xfrm>
          <a:prstGeom prst="rect">
            <a:avLst/>
          </a:prstGeom>
          <a:solidFill>
            <a:srgbClr val="B45309"/>
          </a:solidFill>
          <a:ln w="12700">
            <a:solidFill>
              <a:srgbClr val="B45309"/>
            </a:solidFill>
            <a:prstDash val="solid"/>
          </a:ln>
        </p:spPr>
      </p:sp>
      <p:sp>
        <p:nvSpPr>
          <p:cNvPr id="24" name="Shape 20"/>
          <p:cNvSpPr/>
          <p:nvPr/>
        </p:nvSpPr>
        <p:spPr>
          <a:xfrm>
            <a:off x="6729933" y="91440"/>
            <a:ext cx="27432" cy="274320"/>
          </a:xfrm>
          <a:prstGeom prst="rect">
            <a:avLst/>
          </a:prstGeom>
          <a:solidFill>
            <a:srgbClr val="B45309"/>
          </a:solidFill>
          <a:ln w="12700">
            <a:solidFill>
              <a:srgbClr val="B45309"/>
            </a:solidFill>
            <a:prstDash val="solid"/>
          </a:ln>
        </p:spPr>
      </p:sp>
      <p:pic>
        <p:nvPicPr>
          <p:cNvPr id="25"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6" name="Text 21"/>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7" name="Shape 22"/>
          <p:cNvSpPr/>
          <p:nvPr/>
        </p:nvSpPr>
        <p:spPr>
          <a:xfrm>
            <a:off x="4352747" y="91440"/>
            <a:ext cx="2212594" cy="274320"/>
          </a:xfrm>
          <a:prstGeom prst="rect">
            <a:avLst/>
          </a:prstGeom>
          <a:solidFill>
            <a:srgbClr val="E0F2FE"/>
          </a:solidFill>
          <a:ln w="12700">
            <a:solidFill>
              <a:srgbClr val="0369A1"/>
            </a:solidFill>
            <a:prstDash val="solid"/>
          </a:ln>
        </p:spPr>
      </p:sp>
      <p:sp>
        <p:nvSpPr>
          <p:cNvPr id="28" name="Shape 23"/>
          <p:cNvSpPr/>
          <p:nvPr/>
        </p:nvSpPr>
        <p:spPr>
          <a:xfrm>
            <a:off x="4352747" y="91440"/>
            <a:ext cx="73152" cy="274320"/>
          </a:xfrm>
          <a:prstGeom prst="rect">
            <a:avLst/>
          </a:prstGeom>
          <a:solidFill>
            <a:srgbClr val="0369A1"/>
          </a:solidFill>
          <a:ln w="12700">
            <a:solidFill>
              <a:srgbClr val="0369A1"/>
            </a:solidFill>
            <a:prstDash val="solid"/>
          </a:ln>
        </p:spPr>
      </p:sp>
      <p:pic>
        <p:nvPicPr>
          <p:cNvPr id="29"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30" name="Text 24"/>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avrete alla fine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punteggio e il punteggio migliore scritti in cifre, convertiti dalla vostra divisione per dieci</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 verme che va più veloce al crescere del punteggio, fino a un limite</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Due suoni: una nota breve per un pasto, una lunga e bassa per la fine</a:t>
            </a:r>
            <a:endParaRPr lang="en-US" sz="2200" dirty="0"/>
          </a:p>
        </p:txBody>
      </p:sp>
      <p:sp>
        <p:nvSpPr>
          <p:cNvPr id="9" name="Text 7"/>
          <p:cNvSpPr txBox="1"/>
          <p:nvPr/>
        </p:nvSpPr>
        <p:spPr>
          <a:xfrm>
            <a:off x="548640" y="44897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7141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Una funzione draw che tocca una manciata di celle per passo invece dell'intero schermo</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Verm1 finito, pronto per essere confezionato nella Lezione 23</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prende la Parte 4 dalle lezioni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55005"/>
                <a:gridCol w="5274394"/>
                <a:gridCol w="436501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Idea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Dove compare oggi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Lezione 18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 convenzione di chiamata: registri a, t, s, ra, lo stack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piccole funzioni con un contratto; funzioni foglia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Lezione 18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l'estensione M: divu e remu, quoziente e resto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le cifre del punteggio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Lezione 19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il ciclo del processore: ogni istruzione costa tempo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 misura prima e dopo il passo 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Lezione 20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lo schermo è memoria: il costo è scrivere pixel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disegnare solo ciò che è cambiato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Lezione 21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 dispositivi sono del runtime: noi chiediamo, lui fa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prg32_audio_note, con una durata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Dove state andando</a:t>
            </a:r>
            <a:endParaRPr lang="en-US" sz="3200" dirty="0"/>
          </a:p>
        </p:txBody>
      </p:sp>
      <p:sp>
        <p:nvSpPr>
          <p:cNvPr id="3" name="Shape 1"/>
          <p:cNvSpPr/>
          <p:nvPr/>
        </p:nvSpPr>
        <p:spPr>
          <a:xfrm>
            <a:off x="548640" y="1417320"/>
            <a:ext cx="3515258" cy="3931920"/>
          </a:xfrm>
          <a:prstGeom prst="roundRect">
            <a:avLst>
              <a:gd name="adj" fmla="val 2081"/>
            </a:avLst>
          </a:prstGeom>
          <a:solidFill>
            <a:srgbClr val="EEF2F4"/>
          </a:solidFill>
          <a:ln w="12700">
            <a:solidFill>
              <a:srgbClr val="EEF2F4"/>
            </a:solidFill>
            <a:prstDash val="solid"/>
          </a:ln>
        </p:spPr>
      </p:sp>
      <p:pic>
        <p:nvPicPr>
          <p:cNvPr id="4" name="Image 0" descr="/Users/raffaelemontella/devel/riscv-prg32/computer-architecture-with-prg32/tools/assets/verm1_p4_title.png">    </p:cNvPr>
          <p:cNvPicPr>
            <a:picLocks noChangeAspect="1"/>
          </p:cNvPicPr>
          <p:nvPr/>
        </p:nvPicPr>
        <p:blipFill>
          <a:blip r:embed="rId1"/>
          <a:stretch>
            <a:fillRect/>
          </a:stretch>
        </p:blipFill>
        <p:spPr>
          <a:xfrm>
            <a:off x="685800" y="2073307"/>
            <a:ext cx="3240938" cy="2025587"/>
          </a:xfrm>
          <a:prstGeom prst="rect">
            <a:avLst/>
          </a:prstGeom>
        </p:spPr>
      </p:pic>
      <p:sp>
        <p:nvSpPr>
          <p:cNvPr id="5" name="Text 2"/>
          <p:cNvSpPr txBox="1"/>
          <p:nvPr/>
        </p:nvSpPr>
        <p:spPr>
          <a:xfrm>
            <a:off x="685800"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TITLE, con il punteggio migliore</a:t>
            </a:r>
            <a:endParaRPr lang="en-US" sz="1500" dirty="0"/>
          </a:p>
        </p:txBody>
      </p:sp>
      <p:sp>
        <p:nvSpPr>
          <p:cNvPr id="6" name="Shape 3"/>
          <p:cNvSpPr/>
          <p:nvPr/>
        </p:nvSpPr>
        <p:spPr>
          <a:xfrm>
            <a:off x="4338218" y="1417320"/>
            <a:ext cx="3515258" cy="3931920"/>
          </a:xfrm>
          <a:prstGeom prst="roundRect">
            <a:avLst>
              <a:gd name="adj" fmla="val 2081"/>
            </a:avLst>
          </a:prstGeom>
          <a:solidFill>
            <a:srgbClr val="EEF2F4"/>
          </a:solidFill>
          <a:ln w="12700">
            <a:solidFill>
              <a:srgbClr val="EEF2F4"/>
            </a:solidFill>
            <a:prstDash val="solid"/>
          </a:ln>
        </p:spPr>
      </p:sp>
      <p:pic>
        <p:nvPicPr>
          <p:cNvPr id="7" name="Image 1" descr="/Users/raffaelemontella/devel/riscv-prg32/computer-architecture-with-prg32/tools/assets/verm1_p4_play.png">    </p:cNvPr>
          <p:cNvPicPr>
            <a:picLocks noChangeAspect="1"/>
          </p:cNvPicPr>
          <p:nvPr/>
        </p:nvPicPr>
        <p:blipFill>
          <a:blip r:embed="rId2"/>
          <a:stretch>
            <a:fillRect/>
          </a:stretch>
        </p:blipFill>
        <p:spPr>
          <a:xfrm>
            <a:off x="4475378" y="2073307"/>
            <a:ext cx="3240938" cy="2025587"/>
          </a:xfrm>
          <a:prstGeom prst="rect">
            <a:avLst/>
          </a:prstGeom>
        </p:spPr>
      </p:pic>
      <p:sp>
        <p:nvSpPr>
          <p:cNvPr id="8" name="Text 4"/>
          <p:cNvSpPr txBox="1"/>
          <p:nvPr/>
        </p:nvSpPr>
        <p:spPr>
          <a:xfrm>
            <a:off x="4475378"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PLAY: il punteggio in cifre</a:t>
            </a:r>
            <a:endParaRPr lang="en-US" sz="1500" dirty="0"/>
          </a:p>
        </p:txBody>
      </p:sp>
      <p:sp>
        <p:nvSpPr>
          <p:cNvPr id="9" name="Shape 5"/>
          <p:cNvSpPr/>
          <p:nvPr/>
        </p:nvSpPr>
        <p:spPr>
          <a:xfrm>
            <a:off x="8127797" y="1417320"/>
            <a:ext cx="3515258" cy="3931920"/>
          </a:xfrm>
          <a:prstGeom prst="roundRect">
            <a:avLst>
              <a:gd name="adj" fmla="val 2081"/>
            </a:avLst>
          </a:prstGeom>
          <a:solidFill>
            <a:srgbClr val="EEF2F4"/>
          </a:solidFill>
          <a:ln w="12700">
            <a:solidFill>
              <a:srgbClr val="EEF2F4"/>
            </a:solidFill>
            <a:prstDash val="solid"/>
          </a:ln>
        </p:spPr>
      </p:sp>
      <p:pic>
        <p:nvPicPr>
          <p:cNvPr id="10" name="Image 2" descr="/Users/raffaelemontella/devel/riscv-prg32/computer-architecture-with-prg32/tools/assets/verm1_p4_over.png">    </p:cNvPr>
          <p:cNvPicPr>
            <a:picLocks noChangeAspect="1"/>
          </p:cNvPicPr>
          <p:nvPr/>
        </p:nvPicPr>
        <p:blipFill>
          <a:blip r:embed="rId3"/>
          <a:stretch>
            <a:fillRect/>
          </a:stretch>
        </p:blipFill>
        <p:spPr>
          <a:xfrm>
            <a:off x="8264957" y="2073307"/>
            <a:ext cx="3240938" cy="2025587"/>
          </a:xfrm>
          <a:prstGeom prst="rect">
            <a:avLst/>
          </a:prstGeom>
        </p:spPr>
      </p:pic>
      <p:sp>
        <p:nvSpPr>
          <p:cNvPr id="11" name="Text 6"/>
          <p:cNvSpPr txBox="1"/>
          <p:nvPr/>
        </p:nvSpPr>
        <p:spPr>
          <a:xfrm>
            <a:off x="8264957"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OVER</a:t>
            </a:r>
            <a:endParaRPr lang="en-US" sz="1500" dirty="0"/>
          </a:p>
        </p:txBody>
      </p:sp>
      <p:sp>
        <p:nvSpPr>
          <p:cNvPr id="12" name="Text 7"/>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Partite da una Parte 3 che gira; se la vostra non gira, copiate verm1_part3.S. Oggi ci sono quattro passi, e il programma gira dopo ciascuno.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 numero non è le sue cifre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score contiene un numero binario: 137 è 0x89, un byte</a:t>
            </a:r>
            <a:endParaRPr lang="en-US" sz="2200" dirty="0"/>
          </a:p>
        </p:txBody>
      </p:sp>
      <p:sp>
        <p:nvSpPr>
          <p:cNvPr id="5" name="Shape 3"/>
          <p:cNvSpPr/>
          <p:nvPr/>
        </p:nvSpPr>
        <p:spPr>
          <a:xfrm>
            <a:off x="548640" y="237902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7260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Lo schermo vuole tre caratteri: '1', '3', '7', cioè i byte 0x31, 0x33, 0x37</a:t>
            </a:r>
            <a:endParaRPr lang="en-US" sz="2200" dirty="0"/>
          </a:p>
        </p:txBody>
      </p:sp>
      <p:sp>
        <p:nvSpPr>
          <p:cNvPr id="7" name="Shape 5"/>
          <p:cNvSpPr/>
          <p:nvPr/>
        </p:nvSpPr>
        <p:spPr>
          <a:xfrm>
            <a:off x="548640" y="323430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27883"/>
            <a:ext cx="6565392" cy="133375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Dividere per dieci, tre volte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137 / 10 = 13, resto 7: le unità</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13 / 10 = 1, resto 3: le decine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1 / 10 = 0, resto 1: le centinaia</a:t>
            </a:r>
            <a:endParaRPr lang="en-US" sz="2200" dirty="0"/>
          </a:p>
        </p:txBody>
      </p:sp>
      <p:sp>
        <p:nvSpPr>
          <p:cNvPr id="9" name="Shape 7"/>
          <p:cNvSpPr/>
          <p:nvPr/>
        </p:nvSpPr>
        <p:spPr>
          <a:xfrm>
            <a:off x="548640" y="474160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35183"/>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 cifre escono da destra: memorizzatele dall'ultimo carattere al primo</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Una cifra d diventa un carattere sommando 48: il codice ASCII di '0'</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137</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0x89 in memoria; 0x31 0x33 0x37 sullo schermo</a:t>
            </a:r>
            <a:endParaRPr lang="en-US" sz="1900" dirty="0"/>
          </a:p>
        </p:txBody>
      </p:sp>
      <p:sp>
        <p:nvSpPr>
          <p:cNvPr id="16" name="Shape 14"/>
          <p:cNvSpPr/>
          <p:nvPr/>
        </p:nvSpPr>
        <p:spPr>
          <a:xfrm>
            <a:off x="8117281" y="91440"/>
            <a:ext cx="3525774" cy="274320"/>
          </a:xfrm>
          <a:prstGeom prst="rect">
            <a:avLst/>
          </a:prstGeom>
          <a:solidFill>
            <a:srgbClr val="E0F2FE"/>
          </a:solidFill>
          <a:ln w="12700">
            <a:solidFill>
              <a:srgbClr val="0369A1"/>
            </a:solidFill>
            <a:prstDash val="solid"/>
          </a:ln>
        </p:spPr>
      </p:sp>
      <p:sp>
        <p:nvSpPr>
          <p:cNvPr id="17" name="Shape 15"/>
          <p:cNvSpPr/>
          <p:nvPr/>
        </p:nvSpPr>
        <p:spPr>
          <a:xfrm>
            <a:off x="8117281"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245297" y="128016"/>
            <a:ext cx="201168" cy="201168"/>
          </a:xfrm>
          <a:prstGeom prst="rect">
            <a:avLst/>
          </a:prstGeom>
        </p:spPr>
      </p:pic>
      <p:sp>
        <p:nvSpPr>
          <p:cNvPr id="19" name="Text 16"/>
          <p:cNvSpPr txBox="1"/>
          <p:nvPr/>
        </p:nvSpPr>
        <p:spPr>
          <a:xfrm>
            <a:off x="8501329" y="91440"/>
            <a:ext cx="310515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quoziente e resto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 livelli, in numeri</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49069"/>
                <a:gridCol w="3530041"/>
                <a:gridCol w="2353361"/>
                <a:gridCol w="336194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Punteggio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Velocità (1/256 di cella per frame)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Frame per passo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Celle al secondo a 30 fps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3,75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7,5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16 e oltre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11,25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Le frazioni di frame sono reali: a 48/256 i passi arrivano ogni 5 o 6 frame, 5,33 in media.</a:t>
            </a:r>
            <a:endParaRPr lang="en-US" sz="1500" dirty="0"/>
          </a:p>
        </p:txBody>
      </p:sp>
      <p:sp>
        <p:nvSpPr>
          <p:cNvPr id="5" name="Shape 2"/>
          <p:cNvSpPr/>
          <p:nvPr/>
        </p:nvSpPr>
        <p:spPr>
          <a:xfrm>
            <a:off x="8182940" y="91440"/>
            <a:ext cx="3460115" cy="274320"/>
          </a:xfrm>
          <a:prstGeom prst="rect">
            <a:avLst/>
          </a:prstGeom>
          <a:solidFill>
            <a:srgbClr val="E0F2FE"/>
          </a:solidFill>
          <a:ln w="12700">
            <a:solidFill>
              <a:srgbClr val="0369A1"/>
            </a:solidFill>
            <a:prstDash val="solid"/>
          </a:ln>
        </p:spPr>
      </p:sp>
      <p:sp>
        <p:nvSpPr>
          <p:cNvPr id="6" name="Shape 3"/>
          <p:cNvSpPr/>
          <p:nvPr/>
        </p:nvSpPr>
        <p:spPr>
          <a:xfrm>
            <a:off x="8182940"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310956" y="128016"/>
            <a:ext cx="201168" cy="201168"/>
          </a:xfrm>
          <a:prstGeom prst="rect">
            <a:avLst/>
          </a:prstGeom>
        </p:spPr>
      </p:pic>
      <p:sp>
        <p:nvSpPr>
          <p:cNvPr id="8" name="Text 4"/>
          <p:cNvSpPr txBox="1"/>
          <p:nvPr/>
        </p:nvSpPr>
        <p:spPr>
          <a:xfrm>
            <a:off x="8566988" y="91440"/>
            <a:ext cx="303949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fissa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Quanto costa un frame?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La Parte 3 cancella 64 000 pixel e ridisegna il titolo, il punteggio, l'intero verme e il cibo: trenta volte al secondo</a:t>
            </a:r>
            <a:endParaRPr lang="en-US" sz="2100" dirty="0"/>
          </a:p>
        </p:txBody>
      </p:sp>
      <p:sp>
        <p:nvSpPr>
          <p:cNvPr id="5" name="Shape 3"/>
          <p:cNvSpPr/>
          <p:nvPr/>
        </p:nvSpPr>
        <p:spPr>
          <a:xfrm>
            <a:off x="548640" y="263080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3212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Tra due passi sullo schermo non cambia nulla, e un passo cambia pochissimo</a:t>
            </a:r>
            <a:endParaRPr lang="en-US" sz="2100" dirty="0"/>
          </a:p>
        </p:txBody>
      </p:sp>
      <p:sp>
        <p:nvSpPr>
          <p:cNvPr id="7" name="Shape 5"/>
          <p:cNvSpPr/>
          <p:nvPr/>
        </p:nvSpPr>
        <p:spPr>
          <a:xfrm>
            <a:off x="548640" y="342023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21558"/>
            <a:ext cx="6565392" cy="127177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 passo cambia al massimo</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la cella lasciata dalla coda: nera</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la vecchia testa: ora corpo</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la nuova testa, e forse il cibo e il punteggio</a:t>
            </a:r>
            <a:endParaRPr lang="en-US" sz="2100" dirty="0"/>
          </a:p>
        </p:txBody>
      </p:sp>
      <p:sp>
        <p:nvSpPr>
          <p:cNvPr id="9" name="Shape 7"/>
          <p:cNvSpPr/>
          <p:nvPr/>
        </p:nvSpPr>
        <p:spPr>
          <a:xfrm>
            <a:off x="548640" y="483069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320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Quindi: ricordare che cosa è cambiato, e disegnare solo quello</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L'immagine resta sullo schermo da sola: il frame buffer è memoria</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64 000</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pixel per frame nella Parte 3; poche centinaia per passo nella Parte 4</a:t>
            </a:r>
            <a:endParaRPr lang="en-US" sz="1900" dirty="0"/>
          </a:p>
        </p:txBody>
      </p:sp>
      <p:sp>
        <p:nvSpPr>
          <p:cNvPr id="16" name="Shape 14"/>
          <p:cNvSpPr/>
          <p:nvPr/>
        </p:nvSpPr>
        <p:spPr>
          <a:xfrm>
            <a:off x="8248599" y="91440"/>
            <a:ext cx="3394456" cy="274320"/>
          </a:xfrm>
          <a:prstGeom prst="rect">
            <a:avLst/>
          </a:prstGeom>
          <a:solidFill>
            <a:srgbClr val="E0F2FE"/>
          </a:solidFill>
          <a:ln w="12700">
            <a:solidFill>
              <a:srgbClr val="0369A1"/>
            </a:solidFill>
            <a:prstDash val="solid"/>
          </a:ln>
        </p:spPr>
      </p:sp>
      <p:sp>
        <p:nvSpPr>
          <p:cNvPr id="17" name="Shape 15"/>
          <p:cNvSpPr/>
          <p:nvPr/>
        </p:nvSpPr>
        <p:spPr>
          <a:xfrm>
            <a:off x="8248599"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376615" y="128016"/>
            <a:ext cx="201168" cy="201168"/>
          </a:xfrm>
          <a:prstGeom prst="rect">
            <a:avLst/>
          </a:prstGeom>
        </p:spPr>
      </p:pic>
      <p:sp>
        <p:nvSpPr>
          <p:cNvPr id="19" name="Text 16"/>
          <p:cNvSpPr txBox="1"/>
          <p:nvPr/>
        </p:nvSpPr>
        <p:spPr>
          <a:xfrm>
            <a:off x="8632647" y="91440"/>
            <a:ext cx="297383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Prima e dopo, con i numeri</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Eseguite il gioco finito in modalità debug e avviate una partita</a:t>
            </a:r>
            <a:endParaRPr lang="en-US" sz="2200" dirty="0"/>
          </a:p>
        </p:txBody>
      </p:sp>
      <p:sp>
        <p:nvSpPr>
          <p:cNvPr id="5" name="Text 3"/>
          <p:cNvSpPr txBox="1"/>
          <p:nvPr/>
        </p:nvSpPr>
        <p:spPr>
          <a:xfrm>
            <a:off x="548640" y="205597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03769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Leggete la telemetria per dieci secondi di gioco: istruzioni eseguite, frame al secondo, frame in ritardo</a:t>
            </a:r>
            <a:endParaRPr lang="en-US" sz="2200" dirty="0"/>
          </a:p>
        </p:txBody>
      </p:sp>
      <p:sp>
        <p:nvSpPr>
          <p:cNvPr id="7" name="Text 5"/>
          <p:cNvSpPr txBox="1"/>
          <p:nvPr/>
        </p:nvSpPr>
        <p:spPr>
          <a:xfrm>
            <a:off x="548640" y="291917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900883"/>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Confrontate con i numeri annotati per la Parte 3 all'inizio di questa lezione</a:t>
            </a:r>
            <a:endParaRPr lang="en-US" sz="2200" dirty="0"/>
          </a:p>
        </p:txBody>
      </p:sp>
      <p:sp>
        <p:nvSpPr>
          <p:cNvPr id="9" name="Text 7"/>
          <p:cNvSpPr txBox="1"/>
          <p:nvPr/>
        </p:nvSpPr>
        <p:spPr>
          <a:xfrm>
            <a:off x="548640" y="378236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764077"/>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Fate crescere il verme fino a venti celle in entrambe le versioni e rileggete: un numero cresce con il verme, l'altro no</a:t>
            </a:r>
            <a:endParaRPr lang="en-US" sz="2200" dirty="0"/>
          </a:p>
        </p:txBody>
      </p:sp>
      <p:sp>
        <p:nvSpPr>
          <p:cNvPr id="11" name="Text 9"/>
          <p:cNvSpPr txBox="1"/>
          <p:nvPr/>
        </p:nvSpPr>
        <p:spPr>
          <a:xfrm>
            <a:off x="548640" y="464555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62727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Mettete un breakpoint sulla prima istruzione di draw_changes: si ferma una volta per passo, non una volta per frame</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Scrivete i quattro numeri nei vostri appunti: andranno nella descrizione del gioco nella Lezione 23</a:t>
            </a:r>
            <a:endParaRPr lang="en-US" sz="2200" dirty="0"/>
          </a:p>
        </p:txBody>
      </p:sp>
      <p:sp>
        <p:nvSpPr>
          <p:cNvPr id="15" name="Shape 13"/>
          <p:cNvSpPr/>
          <p:nvPr/>
        </p:nvSpPr>
        <p:spPr>
          <a:xfrm>
            <a:off x="7809941" y="91440"/>
            <a:ext cx="3833114" cy="274320"/>
          </a:xfrm>
          <a:prstGeom prst="rect">
            <a:avLst/>
          </a:prstGeom>
          <a:solidFill>
            <a:srgbClr val="FEF3C7"/>
          </a:solidFill>
          <a:ln w="12700">
            <a:solidFill>
              <a:srgbClr val="B45309"/>
            </a:solidFill>
            <a:prstDash val="solid"/>
          </a:ln>
        </p:spPr>
      </p:sp>
      <p:sp>
        <p:nvSpPr>
          <p:cNvPr id="16" name="Shape 14"/>
          <p:cNvSpPr/>
          <p:nvPr/>
        </p:nvSpPr>
        <p:spPr>
          <a:xfrm>
            <a:off x="7809941" y="91440"/>
            <a:ext cx="27432" cy="274320"/>
          </a:xfrm>
          <a:prstGeom prst="rect">
            <a:avLst/>
          </a:prstGeom>
          <a:solidFill>
            <a:srgbClr val="B45309"/>
          </a:solidFill>
          <a:ln w="12700">
            <a:solidFill>
              <a:srgbClr val="B45309"/>
            </a:solidFill>
            <a:prstDash val="solid"/>
          </a:ln>
        </p:spPr>
      </p:sp>
      <p:sp>
        <p:nvSpPr>
          <p:cNvPr id="17" name="Shape 15"/>
          <p:cNvSpPr/>
          <p:nvPr/>
        </p:nvSpPr>
        <p:spPr>
          <a:xfrm>
            <a:off x="7864805" y="91440"/>
            <a:ext cx="27432" cy="274320"/>
          </a:xfrm>
          <a:prstGeom prst="rect">
            <a:avLst/>
          </a:prstGeom>
          <a:solidFill>
            <a:srgbClr val="B45309"/>
          </a:solidFill>
          <a:ln w="12700">
            <a:solidFill>
              <a:srgbClr val="B45309"/>
            </a:solidFill>
            <a:prstDash val="solid"/>
          </a:ln>
        </p:spPr>
      </p:sp>
      <p:pic>
        <p:nvPicPr>
          <p:cNvPr id="18" name="Image 0" descr="preencoded.png">    </p:cNvPr>
          <p:cNvPicPr>
            <a:picLocks noChangeAspect="1"/>
          </p:cNvPicPr>
          <p:nvPr/>
        </p:nvPicPr>
        <p:blipFill>
          <a:blip r:embed="rId1"/>
          <a:stretch>
            <a:fillRect/>
          </a:stretch>
        </p:blipFill>
        <p:spPr>
          <a:xfrm>
            <a:off x="7937957" y="128016"/>
            <a:ext cx="201168" cy="201168"/>
          </a:xfrm>
          <a:prstGeom prst="rect">
            <a:avLst/>
          </a:prstGeom>
        </p:spPr>
      </p:pic>
      <p:sp>
        <p:nvSpPr>
          <p:cNvPr id="19" name="Text 16"/>
          <p:cNvSpPr txBox="1"/>
          <p:nvPr/>
        </p:nvSpPr>
        <p:spPr>
          <a:xfrm>
            <a:off x="8193989" y="91440"/>
            <a:ext cx="341249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debugger di PRG32-QT</a:t>
            </a:r>
            <a:endParaRPr lang="en-US" sz="1100" dirty="0"/>
          </a:p>
        </p:txBody>
      </p:sp>
      <p:sp>
        <p:nvSpPr>
          <p:cNvPr id="20" name="Shape 17"/>
          <p:cNvSpPr/>
          <p:nvPr/>
        </p:nvSpPr>
        <p:spPr>
          <a:xfrm>
            <a:off x="3780485" y="91440"/>
            <a:ext cx="3919728" cy="274320"/>
          </a:xfrm>
          <a:prstGeom prst="rect">
            <a:avLst/>
          </a:prstGeom>
          <a:solidFill>
            <a:srgbClr val="E0F2FE"/>
          </a:solidFill>
          <a:ln w="12700">
            <a:solidFill>
              <a:srgbClr val="0369A1"/>
            </a:solidFill>
            <a:prstDash val="solid"/>
          </a:ln>
        </p:spPr>
      </p:sp>
      <p:sp>
        <p:nvSpPr>
          <p:cNvPr id="21" name="Shape 18"/>
          <p:cNvSpPr/>
          <p:nvPr/>
        </p:nvSpPr>
        <p:spPr>
          <a:xfrm>
            <a:off x="3780485" y="91440"/>
            <a:ext cx="73152" cy="274320"/>
          </a:xfrm>
          <a:prstGeom prst="rect">
            <a:avLst/>
          </a:prstGeom>
          <a:solidFill>
            <a:srgbClr val="0369A1"/>
          </a:solidFill>
          <a:ln w="12700">
            <a:solidFill>
              <a:srgbClr val="0369A1"/>
            </a:solidFill>
            <a:prstDash val="solid"/>
          </a:ln>
        </p:spPr>
      </p:sp>
      <p:pic>
        <p:nvPicPr>
          <p:cNvPr id="22" name="Image 1" descr="preencoded.png">    </p:cNvPr>
          <p:cNvPicPr>
            <a:picLocks noChangeAspect="1"/>
          </p:cNvPicPr>
          <p:nvPr/>
        </p:nvPicPr>
        <p:blipFill>
          <a:blip r:embed="rId2"/>
          <a:stretch>
            <a:fillRect/>
          </a:stretch>
        </p:blipFill>
        <p:spPr>
          <a:xfrm>
            <a:off x="3908501" y="128016"/>
            <a:ext cx="201168" cy="201168"/>
          </a:xfrm>
          <a:prstGeom prst="rect">
            <a:avLst/>
          </a:prstGeom>
        </p:spPr>
      </p:pic>
      <p:sp>
        <p:nvSpPr>
          <p:cNvPr id="23" name="Text 19"/>
          <p:cNvSpPr txBox="1"/>
          <p:nvPr/>
        </p:nvSpPr>
        <p:spPr>
          <a:xfrm>
            <a:off x="4164533"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ciclo del processore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Seguire una chiamata con il debugger</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Fermatevi su call to_decimal dentro draw_score e leggete a0, a1, ra e sp</a:t>
            </a:r>
            <a:endParaRPr lang="en-US" sz="2100" dirty="0"/>
          </a:p>
        </p:txBody>
      </p:sp>
      <p:sp>
        <p:nvSpPr>
          <p:cNvPr id="5" name="Shape 3"/>
          <p:cNvSpPr/>
          <p:nvPr/>
        </p:nvSpPr>
        <p:spPr>
          <a:xfrm>
            <a:off x="548640" y="229800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99323"/>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 passo: il PC salta dentro to_decimal, e ra ora contiene l'indirizzo dell'istruzione dopo la chiamata</a:t>
            </a:r>
            <a:endParaRPr lang="en-US" sz="2100" dirty="0"/>
          </a:p>
        </p:txBody>
      </p:sp>
      <p:sp>
        <p:nvSpPr>
          <p:cNvPr id="7" name="Shape 5"/>
          <p:cNvSpPr/>
          <p:nvPr/>
        </p:nvSpPr>
        <p:spPr>
          <a:xfrm>
            <a:off x="548640" y="340537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06699"/>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Proseguite passo-passo: cambiano solo i registri t e a0; sp non si muove mai. Una funzione foglia</a:t>
            </a:r>
            <a:endParaRPr lang="en-US" sz="2100" dirty="0"/>
          </a:p>
        </p:txBody>
      </p:sp>
      <p:sp>
        <p:nvSpPr>
          <p:cNvPr id="9" name="Shape 7"/>
          <p:cNvSpPr/>
          <p:nvPr/>
        </p:nvSpPr>
        <p:spPr>
          <a:xfrm>
            <a:off x="548640" y="451275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14076"/>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ret il PC prende il valore di ra: siete di nuovo in draw_score</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Ora fate lo stesso con call draw_text: sp scende di 16, ra viene memorizzato a 12(sp), e torna</a:t>
            </a:r>
            <a:endParaRPr lang="en-US" sz="2100" dirty="0"/>
          </a:p>
        </p:txBody>
      </p:sp>
      <p:pic>
        <p:nvPicPr>
          <p:cNvPr id="13" name="Image 0" descr="/Users/raffaelemontella/devel/riscv-prg32/computer-architecture-with-prg32/tools/assets/prg32qt_debugger_details.png">    </p:cNvPr>
          <p:cNvPicPr>
            <a:picLocks noChangeAspect="1"/>
          </p:cNvPicPr>
          <p:nvPr/>
        </p:nvPicPr>
        <p:blipFill>
          <a:blip r:embed="rId1"/>
          <a:stretch>
            <a:fillRect/>
          </a:stretch>
        </p:blipFill>
        <p:spPr>
          <a:xfrm>
            <a:off x="7451807" y="1417320"/>
            <a:ext cx="3506002" cy="4297680"/>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PRG32-QT: listato, registri, memoria</a:t>
            </a:r>
            <a:endParaRPr lang="en-US" sz="1200" dirty="0"/>
          </a:p>
        </p:txBody>
      </p:sp>
      <p:sp>
        <p:nvSpPr>
          <p:cNvPr id="15" name="Shape 12"/>
          <p:cNvSpPr/>
          <p:nvPr/>
        </p:nvSpPr>
        <p:spPr>
          <a:xfrm>
            <a:off x="7809941" y="91440"/>
            <a:ext cx="3833114" cy="274320"/>
          </a:xfrm>
          <a:prstGeom prst="rect">
            <a:avLst/>
          </a:prstGeom>
          <a:solidFill>
            <a:srgbClr val="FEF3C7"/>
          </a:solidFill>
          <a:ln w="12700">
            <a:solidFill>
              <a:srgbClr val="B45309"/>
            </a:solidFill>
            <a:prstDash val="solid"/>
          </a:ln>
        </p:spPr>
      </p:sp>
      <p:sp>
        <p:nvSpPr>
          <p:cNvPr id="16" name="Shape 13"/>
          <p:cNvSpPr/>
          <p:nvPr/>
        </p:nvSpPr>
        <p:spPr>
          <a:xfrm>
            <a:off x="7809941" y="91440"/>
            <a:ext cx="27432" cy="274320"/>
          </a:xfrm>
          <a:prstGeom prst="rect">
            <a:avLst/>
          </a:prstGeom>
          <a:solidFill>
            <a:srgbClr val="B45309"/>
          </a:solidFill>
          <a:ln w="12700">
            <a:solidFill>
              <a:srgbClr val="B45309"/>
            </a:solidFill>
            <a:prstDash val="solid"/>
          </a:ln>
        </p:spPr>
      </p:sp>
      <p:sp>
        <p:nvSpPr>
          <p:cNvPr id="17" name="Shape 14"/>
          <p:cNvSpPr/>
          <p:nvPr/>
        </p:nvSpPr>
        <p:spPr>
          <a:xfrm>
            <a:off x="7864805" y="91440"/>
            <a:ext cx="27432" cy="274320"/>
          </a:xfrm>
          <a:prstGeom prst="rect">
            <a:avLst/>
          </a:prstGeom>
          <a:solidFill>
            <a:srgbClr val="B45309"/>
          </a:solidFill>
          <a:ln w="12700">
            <a:solidFill>
              <a:srgbClr val="B45309"/>
            </a:solidFill>
            <a:prstDash val="solid"/>
          </a:ln>
        </p:spPr>
      </p:sp>
      <p:pic>
        <p:nvPicPr>
          <p:cNvPr id="18" name="Image 1" descr="preencoded.png">    </p:cNvPr>
          <p:cNvPicPr>
            <a:picLocks noChangeAspect="1"/>
          </p:cNvPicPr>
          <p:nvPr/>
        </p:nvPicPr>
        <p:blipFill>
          <a:blip r:embed="rId2"/>
          <a:stretch>
            <a:fillRect/>
          </a:stretch>
        </p:blipFill>
        <p:spPr>
          <a:xfrm>
            <a:off x="7937957" y="128016"/>
            <a:ext cx="201168" cy="201168"/>
          </a:xfrm>
          <a:prstGeom prst="rect">
            <a:avLst/>
          </a:prstGeom>
        </p:spPr>
      </p:pic>
      <p:sp>
        <p:nvSpPr>
          <p:cNvPr id="19" name="Text 15"/>
          <p:cNvSpPr txBox="1"/>
          <p:nvPr/>
        </p:nvSpPr>
        <p:spPr>
          <a:xfrm>
            <a:off x="8193989" y="91440"/>
            <a:ext cx="341249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debugger di PRG32-QT</a:t>
            </a:r>
            <a:endParaRPr lang="en-US" sz="1100" dirty="0"/>
          </a:p>
        </p:txBody>
      </p:sp>
      <p:sp>
        <p:nvSpPr>
          <p:cNvPr id="20" name="Shape 16"/>
          <p:cNvSpPr/>
          <p:nvPr/>
        </p:nvSpPr>
        <p:spPr>
          <a:xfrm>
            <a:off x="3583508" y="91440"/>
            <a:ext cx="4116705" cy="274320"/>
          </a:xfrm>
          <a:prstGeom prst="rect">
            <a:avLst/>
          </a:prstGeom>
          <a:solidFill>
            <a:srgbClr val="E0F2FE"/>
          </a:solidFill>
          <a:ln w="12700">
            <a:solidFill>
              <a:srgbClr val="0369A1"/>
            </a:solidFill>
            <a:prstDash val="solid"/>
          </a:ln>
        </p:spPr>
      </p:sp>
      <p:sp>
        <p:nvSpPr>
          <p:cNvPr id="21" name="Shape 17"/>
          <p:cNvSpPr/>
          <p:nvPr/>
        </p:nvSpPr>
        <p:spPr>
          <a:xfrm>
            <a:off x="3583508" y="91440"/>
            <a:ext cx="73152" cy="274320"/>
          </a:xfrm>
          <a:prstGeom prst="rect">
            <a:avLst/>
          </a:prstGeom>
          <a:solidFill>
            <a:srgbClr val="0369A1"/>
          </a:solidFill>
          <a:ln w="12700">
            <a:solidFill>
              <a:srgbClr val="0369A1"/>
            </a:solidFill>
            <a:prstDash val="solid"/>
          </a:ln>
        </p:spPr>
      </p:sp>
      <p:pic>
        <p:nvPicPr>
          <p:cNvPr id="22" name="Image 2" descr="preencoded.png">    </p:cNvPr>
          <p:cNvPicPr>
            <a:picLocks noChangeAspect="1"/>
          </p:cNvPicPr>
          <p:nvPr/>
        </p:nvPicPr>
        <p:blipFill>
          <a:blip r:embed="rId3"/>
          <a:stretch>
            <a:fillRect/>
          </a:stretch>
        </p:blipFill>
        <p:spPr>
          <a:xfrm>
            <a:off x="3711524" y="128016"/>
            <a:ext cx="201168" cy="201168"/>
          </a:xfrm>
          <a:prstGeom prst="rect">
            <a:avLst/>
          </a:prstGeom>
        </p:spPr>
      </p:pic>
      <p:sp>
        <p:nvSpPr>
          <p:cNvPr id="23" name="Text 18"/>
          <p:cNvSpPr txBox="1"/>
          <p:nvPr/>
        </p:nvSpPr>
        <p:spPr>
          <a:xfrm>
            <a:off x="3967556"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convenzione di chiamata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to_decimal riceve a0 = 205. Quali byte memorizza, dallo scostamento 0 al 2?</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02 00 05</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32 30 35</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35 30 32</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cd 00 00</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A quale punteggio il verme fa un passo ogni 4 frame?</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16</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dirty vale 0 quando viene chiamata verm1_draw. Quante istruzioni macchina esegue?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5</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circa 50</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migliaia</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Perché to_decimal può fare a meno di uno stack frame?</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è corta</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non chiama funzioni e usa solo registri a e t</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non ha argomenti</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 frame sono facoltativi</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Dove siamo, e che cosa viene dopo</a:t>
            </a:r>
            <a:endParaRPr lang="en-US" sz="3200" dirty="0"/>
          </a:p>
        </p:txBody>
      </p:sp>
      <p:sp>
        <p:nvSpPr>
          <p:cNvPr id="3" name="Shape 1"/>
          <p:cNvSpPr/>
          <p:nvPr/>
        </p:nvSpPr>
        <p:spPr>
          <a:xfrm>
            <a:off x="548640" y="1623314"/>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51688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Verm1 è finito: circa seicento righe di assembly RISC-V, tutte vostre</a:t>
            </a:r>
            <a:endParaRPr lang="en-US" sz="2200" dirty="0"/>
          </a:p>
        </p:txBody>
      </p:sp>
      <p:sp>
        <p:nvSpPr>
          <p:cNvPr id="5" name="Shape 3"/>
          <p:cNvSpPr/>
          <p:nvPr/>
        </p:nvSpPr>
        <p:spPr>
          <a:xfrm>
            <a:off x="548640" y="242138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1495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È cominciato come tre funzioni che ritornano, ed è cresciuto un passo eseguibile alla volta</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Dentro c'è ogni lezione del corso: numeri, logica, stato, memoria, chiamate, pixel, dispositivi</a:t>
            </a:r>
            <a:endParaRPr lang="en-US" sz="2200" dirty="0"/>
          </a:p>
        </p:txBody>
      </p:sp>
      <p:sp>
        <p:nvSpPr>
          <p:cNvPr id="9" name="Shape 7"/>
          <p:cNvSpPr/>
          <p:nvPr/>
        </p:nvSpPr>
        <p:spPr>
          <a:xfrm>
            <a:off x="548640" y="46992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9282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 programma che solo il suo autore può eseguire è finito a metà</a:t>
            </a:r>
            <a:endParaRPr lang="en-US" sz="2200" dirty="0"/>
          </a:p>
        </p:txBody>
      </p:sp>
      <p:sp>
        <p:nvSpPr>
          <p:cNvPr id="11" name="Shape 9"/>
          <p:cNvSpPr/>
          <p:nvPr/>
        </p:nvSpPr>
        <p:spPr>
          <a:xfrm>
            <a:off x="548640" y="54973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39089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Lezione 23: un nome, un'icona, i crediti, un bundle per due architetture, e il Cartridge Store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Verm1, parte 4: il gioco finito</dc:title>
  <dc:subject>Lezione 22</dc:subject>
  <dc:creator>Raffaele Montella</dc:creator>
  <cp:lastModifiedBy>Raffaele Montella</cp:lastModifiedBy>
  <cp:revision>1</cp:revision>
  <dcterms:created xsi:type="dcterms:W3CDTF">2026-10-16T15:51:39Z</dcterms:created>
  <dcterms:modified xsi:type="dcterms:W3CDTF">2026-10-16T15:51:39Z</dcterms:modified>
</cp:coreProperties>
</file>