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fe1d214a-d65e-f1f4-fb21-1830d60534e3}">
          <p14:sldIdLst>
            <p14:sldId id="256"/>
            <p14:sldId id="257"/>
            <p14:sldId id="258"/>
            <p14:sldId id="259"/>
            <p14:sldId id="260"/>
          </p14:sldIdLst>
        </p14:section>
        <p14:section name="Passo 1: il punteggio in cifre" id="{96b738c9-5bd0-05bc-493b-0189f4ea7a2a}">
          <p14:sldIdLst>
            <p14:sldId id="261"/>
            <p14:sldId id="262"/>
            <p14:sldId id="263"/>
            <p14:sldId id="264"/>
            <p14:sldId id="265"/>
            <p14:sldId id="266"/>
          </p14:sldIdLst>
        </p14:section>
        <p14:section name="Passo 2: i livelli" id="{d18ebd6e-454a-196c-6000-1b451a513005}">
          <p14:sldIdLst>
            <p14:sldId id="267"/>
            <p14:sldId id="268"/>
            <p14:sldId id="269"/>
            <p14:sldId id="270"/>
            <p14:sldId id="271"/>
          </p14:sldIdLst>
        </p14:section>
        <p14:section name="Passo 3: step dice che cosa ha cambiato" id="{629ad9b2-220c-3e87-bad8-b3859c2cc258}">
          <p14:sldIdLst>
            <p14:sldId id="272"/>
            <p14:sldId id="273"/>
            <p14:sldId id="274"/>
            <p14:sldId id="275"/>
            <p14:sldId id="276"/>
            <p14:sldId id="277"/>
            <p14:sldId id="278"/>
            <p14:sldId id="279"/>
            <p14:sldId id="280"/>
          </p14:sldIdLst>
        </p14:section>
        <p14:section name="Passo 4: disegnare solo ciò che è cambiato" id="{2cd2ae2f-95a8-21de-dbac-b152c5080bdc}">
          <p14:sldIdLst>
            <p14:sldId id="281"/>
            <p14:sldId id="282"/>
            <p14:sldId id="283"/>
            <p14:sldId id="284"/>
            <p14:sldId id="285"/>
            <p14:sldId id="286"/>
            <p14:sldId id="287"/>
            <p14:sldId id="288"/>
            <p14:sldId id="289"/>
            <p14:sldId id="290"/>
            <p14:sldId id="291"/>
            <p14:sldId id="292"/>
            <p14:sldId id="293"/>
          </p14:sldIdLst>
        </p14:section>
        <p14:section name="Passo 5: misurare" id="{4cf4560d-d22b-df3c-2595-aa9a32cfb4ff}">
          <p14:sldIdLst>
            <p14:sldId id="294"/>
            <p14:sldId id="295"/>
            <p14:sldId id="296"/>
            <p14:sldId id="297"/>
            <p14:sldId id="298"/>
            <p14:sldId id="299"/>
            <p14:sldId id="300"/>
            <p14:sldId id="301"/>
            <p14:sldId id="302"/>
            <p14:sldId id="303"/>
            <p14:sldId id="304"/>
            <p14:sldId id="305"/>
            <p14:sldId id="306"/>
            <p14:sldId id="307"/>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e ultimo tutorial completa Verm1. Nella Parte 3 il gioco era completo nelle regole; oggi diventa completo come programma. Il punteggio è scritto in cifre, il verme accelera, ci sono due suoni, e lo schermo viene ridisegnato solo dove cambia. La frase di Knuth in copertina spiega l'ordine del lavoro: prima il gioco è stato fatto funzionare, e solo adesso, con una misura in mano, lo rendiamo veloce.
Per il docente: Quarto tutorial del progetto. Usa le Lezioni da 18 a 21: i registri per convenzione, lo stack, moltiplicazione e divisione (18), il ciclo del processore e il costo di un'istruzione (19), il frame buffer e il costo del disegno (20), ingresso, suono e il runtime come padrone dei dispositivi (21). Il file di riferimento è verm1/verm1_part4.S. La frase di Knuth è il motto giusto: il gioco è stato fatto funzionare nella Parte 3, e solo adesso, con una misura in mano, lo rendiamo veloce.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Il punteggio e il punteggio migliore in cifre, convertiti da una divisione per dieci scritta da voi. Un verme che va più veloce al crescere del punteggio, fino a un limite. Due suoni, uno per un pasto e uno per la fine. Una draw che tocca una manciata di celle per passo invece dell'intero schermo. E un gioco finito, pronto per essere confezionato e pubblicato nella prossima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idee dell'ultimo blocco di lezioni, e dove compaiono oggi. La convenzione di chiamata della Lezione 18 diventa piccole funzioni con un contratto, alcune delle quali foglie. L'estensione M dà quoziente e resto per le cifre. Il ciclo del processore ricorda che ogni istruzione costa tempo, quindi si misura. Lo schermo come memoria, dalla Lezione 20, suggerisce di disegnare solo ciò che è cambiato. E dalla Lezione 21: i dispositivi sono del runtime, a cui chiediamo una nota di una certa durata.
Per il docente: Torna anche la Lezione 04: una cifra diventa un carattere sommando 48, il codice ASCII di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Dove state andando: la schermata del titolo con il punteggio migliore, il gioco con il punteggio in cifre, il game over. Partite da una Parte 3 che gira; se la vostra non gira, copiate il file di riferimento. Oggi ci sono quattro passi di codice, e il programma gira dopo ciascuno.
Per il docente: Schermate prodotte da tools/tests/verm1_check.py con un giocatore programmato.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stessi due comandi di sempre. Prima di cambiare qualcosa, eseguite la Parte 3 in modalità debug e annotate ciò che mostra la telemetria durante una partita: istruzioni eseguite, frame al secondo, frame in ritardo. Questi numeri sono il «prima» della misura che chiude la lezione; senza di essi non potrete dire che cosa avete guadagnato.
Per il docente: Gli stessi due comandi. Prima di cominciare, eseguite la Parte 3 in modalità debug e annotate ciò che mostra la telemetria durante una partita: istruzioni eseguite (retired), frame al secondo, frame in ritardo. I numeri vi serviranno nel passo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passo sostituisce le tacche del punteggio con le cifre. Servono una funzione nuova e un cambio di punto di vista: un numero e la sua forma scritta sono cose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variabile score contiene un numero binario: 137 è il byte 0x89. Lo schermo vuole tre caratteri, i byte 0x31, 0x33 e 0x37. La conversione è quella che avete fatto a mano nella Lezione 05: si divide per dieci, e il resto è una cifra; si ripete sul quoziente. Le cifre escono da destra, prima le unità, quindi si memorizzano dall'ultimo carattere al primo. Una cifra diventa un carattere sommando 48, il codice ASCII del carattere zero.
Per il docente: La conversione della Lezione 05, fatta dal programma invece che a mano. remu dà il resto, divu il quoziente: due istruzioni dell'estensione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to_decimal ha un contratto scritto nel suo commento: il valore in a0, l'indirizzo di tre caratteri in a1. Per tre volte fa la stessa cosa: remu dà il resto della divisione per dieci, si somma 48, sb memorizza il byte, e divu lascia il quoziente per il giro successivo. Gli scostamenti sono 2, 1 e 0: dalle unità alle centinaia. È una funzione foglia: non chiama nessuno e usa solo registri temporanei, quindi non ha bisogno di alcuno stack frame.
Per il docente: I valori sopra 999 mostrerebbero solo le ultime tre cifre: un limite che nessun giocatore incontrerà presto. Le istruzioni di divisione sono lente, decine di cicli di clock ciascuna su un processore piccolo, e dieci per passo del verme non sono nulla.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draw_score sostituisce quella della Parte 3. Chiama to_decimal due volte, una per il punteggio e una per il punteggio migliore, ogni volta con l'indirizzo, dentro una stringa, in cui devono andare le cifre: best_txt+5 salta la parola BEST e lo spazio. Poi le due stringhe si disegnano come qualunque altro testo. Poiché il testo viene disegnato con il suo sfondo, le nuove cifre coprono le vecchie.
Per il docente: score_txt e best_txt sono stringhe in .data, non in .rodata: il programma ci scrive dentro. Il testo viene disegnato con il suo colore di sfondo, quindi le nuove cifre coprono le vecchie senza cancellare.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nuova sezione .data. Due stringhe che il programma compila: stanno in .data e non in .rodata proprio perché il programma ci scrive dentro. Poi sei nuove variabili: dirty, la vecchia posizione della testa, e la cella da cancellare. Non vengono usate fino al terzo passo; scrivetele adesso, così la sezione si scrive una volta sola.
Per il docente: Scrivetela tutta adesso. Le sei variabili da dirty a erase_y non vengono usate fino al passo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Compilate ed eseguite. La riga in alto dice VERM1 000 e, a destra, BEST 000; ogni pasto aggiunge uno; quando perdete, BEST mostra il vostro punteggio. Poi aprite il debugger e guardate score_txt in memoria: dopo tre pasti i suoi byte sono 30 30 33 00. State leggendo i caratteri prodotti dalla vostra divisione.
Per il docente: Questo programma intermedio, la Parte 3 con le nuove draw_score, to_decimal e .data, viene compilato ed eseguito da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secondo passo rende il gioco più difficile man mano che procede: la velocità, finora una costante, diventa una funzione del punteggio.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costante SPEED_Q8 è sostituita da due: un minimo di 32 e un massimo di 96. Sono valori in virgola fissa, in 256-esimi di cella per frame, come nella Parte 2: 32 significa un passo ogni otto frame, 96 significa tre passi ogni otto frame.
Per il docente: Sostituite le costanti della Parte 3. Cambiano solo le due righe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timer alla fine di play_update. La velocità è 32 più quattro volte il punteggio: uno scorrimento di due posizioni e una somma. Poi un confronto tiene il minore tra questo valore e il massimo. Il resto è il timer che conoscete: la velocità si somma a un accumulatore, e si fa un passo quando questo supera 256. Un valore che segue una retta e poi resta a un limite è una saturazione.
Per il docente: Sostituite il timer alla fine di play_update. Una saturazione: il valore segue una retta e poi resta al limite, come il clamp del primo laboratorio. Con la virgola fissa la velocità cambia di un sessantaquattresimo di cella per frame a ogni pasto: nessuna velocità intera potrebbe essere così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livelli in numeri. Per ogni punteggio, la velocità, i frame per passo, cioè 256 diviso la velocità, e le celle al secondo a trenta frame al secondo. Da 3,75 celle al secondo all'inizio a 11,25 dai sedici punti in poi. I frame per passo non sono sempre numeri interi, e non è un problema: a 48 i passi arrivano ogni cinque o sei frame, 5,33 in media. È ciò che vi dà la virgola fissa.
Per il docente: 256 diviso la velocità dà i frame per passo; la frequenza dei frame per la velocità diviso 256 dà le celle al secondo. Chiedete agli studenti la riga del punteggio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Compilate ed eseguite: il verme parte più lento che nella Parte 3 e accelera a ogni pasto. Con il debugger contate i frame tra due passi a punteggio zero: otto. Arrivate a sedici punti e verificate che la velocità non cambia più. Poi, se ne avete il coraggio, provate un massimo di 256: un passo per frame.
Per il docente: Verificato da tests/verm1_steps.py: 8 passi nei primi 64 frame di una partita.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terzo passo prepara il quarto. La funzione step comincia ad annotare che cosa ha cambiato, e i suoni vengono riorganizzati. Sullo schermo non comparirà nulla di nuovo.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play_note sostituisce eat_sound. Il chiamante sceglie la nota e la durata, in a2 e a4; la funzione compila canale, strumento e volume e chiama prg32_audio_note. Notate la scelta dei registri: nota e durata sono già dove le aspetta la funzione del runtime, quindi non c'è nulla da spostare. Un contratto progettato attorno al chiamato risparmia istruzioni.
Per il docente: Gli argomenti restano nei registri in cui prg32_audio_note li aspetta: a2 è la nota e a4 la durata in entrambe le funzioni. Progettare un contratto attorno al chiamato risparmia spostamenti.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L'inizio di step, con due store in più: prima che la testa si muova, le sue coordinate vengono scritte in old_x e old_y. Quella cella sta per smettere di essere testa e diventare corpo, e draw dovrà ridipingerla.
Per il docente: Al codice della Parte 3 si aggiungono due store: le righe che scrivono old_x e old_y.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ramo del pasto. Quando il verme mangia, la coda non si muove, quindi non c'è alcuna cella da cancellare: erase_on viene messo a zero per dirlo.
Per il docente: Si aggiungono due righe: lo store di zero in erase_on.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il verme non mangia, la coda lascia una cella: le sue coordinate vengono salvate in erase_x ed erase_y, ed erase_on diventa 1. Più sotto, la collisione con il corpo non è più gestita qui: è diventata una sola chiamata a game_is_over.
Per il docente: L'inizio è nuovo, sette righe; la fine è più corta che nella Parte 3, perché la transizione a OVER è diventata una funzione.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nuova testa viene scritta nell'anello e nella mappa, esattamente come nella Parte 3. La slide è qui solo perché la funzione continua nella successiva.
Per il docente: Righe invariate, mostrate perché la funzione continua.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nuova fine di step. Prima dirty viene messo a 1: c'è stato un passo, e draw ha da fare. Poi, se il verme ha mangiato: un punto in più, nuovo cibo, e una nota breve e acuta, la numero 72 per 60 millisecondi, richiesta con due li e una chiamata.
Per il docente: Questo sostituisce la fine di step. Nota 72 per 60 millisecondi: il suono della Parte 2, attraverso la nuova funzione.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game_is_over raccoglie in un posto solo tutto ciò che comporta la transizione da PLAY a OVER: il nuovo stato, l'aggiornamento del punteggio migliore, dirty messo a 2 perché va disegnata un'intera schermata nuova, e una nota lunga e bassa, la numero 36 per 400 millisecondi. Una transizione della macchina a stati merita una funzione tutta sua.
Per il docente: Una transizione della macchina a stati merita una funzione tutta sua: stato, uscite e suono in un posto solo.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Compilate ed eseguite: il gioco appare esattamente come dopo il secondo passo. Ciò che cambia si sente: una nota bassa quando vi mordete. Nel debugger guardate erase_x ed erase_y seguire la coda, un passo indietro, e dirty restare a 1 o 2: viene scritto, e nessuno lo legge ancora.
Per il docente: Questo programma intermedio viene compilato ed eseguito da tests/verm1_steps.py: verm1_draw della Parte 3 con step, play_note e game_is_over della Parte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passo è l'ottimizzazione: da uno schermo intero a ogni frame a poche celle a ogni passo.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Quanto costa un frame della Parte 3? Cancella 64.000 pixel e ridisegna titolo, punteggio, verme e cibo, trenta volte al secondo. Eppure tra due passi sullo schermo non cambia nulla, e un passo cambia pochissimo: la cella lasciata dalla coda, la vecchia testa che diventa corpo, la nuova testa, e a volte il cibo e il punteggio. Quindi si ricorda che cosa è cambiato e si disegna solo quello. Funziona perché il frame buffer è memoria: l'immagine resta lì da sola.
Per il docente: Lezione 20: lo schermo è un array di pixel che conserva il suo contenuto. Un verme di 200 celle costa 200 rettangoli per frame nella Parte 3 e tre per passo nella Parte 4. È ciò che facevano i vecchi home computer, perché non avevano scelta.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nuova verm1_draw legge dirty e lo azzera subito. Se valeva zero, ritorna immediatamente: niente stack frame, niente chiamate, cinque istruzioni macchina. Se valeva 1, c'è stato un passo e viene chiamata draw_changes. Se valeva 2, lo stato è cambiato e draw_full ridisegna tutto. Il caso più frequente è il meno costoso, ed è il segno di un'ottimizzazione ben fatta.
Per il docente: Sostituite verm1_draw. Il frame viene creato solo se c'è qualcosa da fare: il caso comune, nulla è cambiato, costa cinque istruzioni macchina.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draw_changes dipinge al massimo tre celle. Se erase_on è a 1, la cella lasciata dalla coda diventa nera. La vecchia testa viene ridipinta con il colore del corpo. Poi la nuova testa, il cibo e il punteggio. L'ordine conta: la testa può entrare proprio nella cella che la coda ha appena lasciato, quindi la cancellazione deve venire prima e la testa dopo.
Per il docente: La testa può entrare nella cella che la coda ha appena lasciato: cancellare prima e disegnare la testa dopo dà l'immagine giusta.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draw_full è il corpo della vecchia verm1_draw: cancella lo schermo e disegna il punteggio; nello stato TITLE aggiunge l'invito e ritorna. Viene chiamata una volta per ogni cambio di stato, non a ogni frame.
Per il docente: Chiamata una volta per ogni cambio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seconda metà di draw_full: in PLAY e OVER disegna il verme e il cibo con le loro funzioni, e in OVER aggiunge le due parole del game over.
Per il docente: La seconda metà di draw_full.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draw_head disegna una cella in verde brillante: la voce head_i dell'anello. È una piccola funzione con un solo compito, usata da draw_changes.
Per il docente: Una piccola funzione usata da draw_changes.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draw_food: le tre righe che stavano dentro draw ora hanno un nome e due chiamanti, il disegno completo e quello parziale.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draw_text, la funzione di servizio della Parte 3, invariata. Ha una slide tutta sua perché nella Parte 3 ne condivideva una con il testo del game over.
Per il docente: Invariata: era mostrata insieme al testo del game over nella Parte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con tre righe in più: dirty parte da 2, perché la schermata del titolo va disegnata una volta.
Per il docente: Sostituite verm1_init: si aggiungono tre righe.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verm1_update, la transizione da OVER di nuovo a TITLE ora mette anche dirty a 2: un nuovo stato è una nuova schermata.
Per il docente: Sostituite la stessa parte di verm1_update.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in new_game, per la transizione da TITLE a PLAY. È la regola della tecnica: ogni transizione chiede un disegno completo, ogni passo uno parziale. Se ne dimenticate uno, lo schermo mostra uno stato che non è più vero, ed è l'errore tipico.
Per il docente: Ogni transizione della macchina chiede un disegno completo; ogni passo ne chiede uno parziale. Dimenticarne uno è il tipico errore di questa tecnica: lo schermo mostra uno stato che non è più vero.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Verm1 finito. Deve essere lo stesso gioco di dopo il terzo passo, pixel per pixel: l'ottimizzazione non deve vedersi. Se vedete scie o buchi, qualche cambiamento non è stato annotato: trovatelo con il debugger, partendo dalle tre variabili che scrive step.
Per il docente: Schermate prodotte da tools/tests/verm1_check.py.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passo non scrive codice. Usate PRG32-QT come strumento di misura, perché un'ottimizzazione non misurata è solo un'opinione.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azioni. Eseguite il gioco finito in modalità debug e avviate una partita. Leggete la telemetria per dieci secondi. Confrontate con i numeri della Parte 3 annotati all'inizio. Fate crescere il verme fino a venti celle in entrambe le versioni e rileggete: in una il costo cresce con il verme, nell'altra no. Mettete un breakpoint su draw_changes e verificate che si ferma una volta per passo. Annotate i numeri: andranno nella descrizione del vostro gioco.
Per il docente: La telemetria conta le istruzioni della cartuccia, non quelle del runtime che riempie i rettangoli, quindi il risparmio reale sulla scheda è più grande di quanto mostri il conteggio: lì ogni pixel viaggia anche su SPI verso il display. Non date numeri agli studenti: fateli misurare.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Seguite una chiamata con il debugger. Fermatevi sulla chiamata a to_decimal e leggete a0, a1, ra e sp. Un passo: il PC salta dentro la funzione e ra contiene l'indirizzo dell'istruzione dopo la chiamata. Proseguite: cambiano solo i temporanei e sp non si muove mai, perché è una foglia. A ret il PC prende il valore di ra. Poi fate lo stesso con draw_text: sp scende di 16, ra viene memorizzato e poi ripreso.
Per il docente: La convenzione di chiamata della Lezione 18, osservata istruzione per istruzione. Nel listato call compare come jal, o come auipc seguita da jalr, e ret come c.jr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Convertite 205 in tre cifre, poi ogni cifra nel suo codice ASCII sommando 0x30. Attenzione all'ordine: lo scostamento 0 contiene le centinaia.
Per il docente: Risposta: B. I caratteri '2', '0', '5': 0x32, 0x30, 0x35. Le unità vanno allo scostamento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passo ogni quattro frame significa una velocità di 256 diviso 4. Mettete quel valore nella formula della velocità e ricavate il punteggio.
Per il docente: Risposta: B. Un passo ogni 4 frame è 64/256: 32 + 4 x score = 64, quindi score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Contate le istruzioni del percorso più breve di verm1_draw, ricordando che la è una pseudo-istruzione e si espande in due.
Per il docente: Risposta: B. la sono due istruzioni, auipc e addi; poi lw, beqz e 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Chiedetevi a che cosa serve uno stack frame: salvare ra quando c'è un'altra chiamata, e salvare i registri da conservare. A to_decimal serve l'una o l'altra cosa?
Per il docente: Risposta: B. Una funzione foglia che tocca solo registri caller-saved non ha nulla da salvare.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idee per fare vostro il gioco. Una pausa con il pulsante B: un quarto stato. Una melodia nella schermata del titolo, da una tabella di note. Cibo bonus che vale di più e scompare. I vostri colori, o le vostre regole. La versione che pubblicherete nella prossima lezione dovrebbe contenere qualcosa di vostro, a cominciare dal titolo.
Per il docente: Pausa: uno stato PAUSED con transizioni sul fronte di B (0x20), e dirty = 2 a entrambe le transizioni. Melodia: un indice e un contatore di frame in .data; la tabella si legge come dx.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Segue un'appendice: le otto parti del file che non sono cambiate rispetto alla Parte 3. Sono incluse perché questa presentazione contenga l'intero programma; nel vostro file tenetele come sono.
Per il docente: File di riferimento di questa parte: verm1/verm1_part4.S (565 righe).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verm1_update: la lettura dei pulsanti e il rilevatore di fronte della Parte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metà di new_game: la mappa viene svuotata e il verme viene posato.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sterzata dentro play_update: le maschere dei pulsanti e la regola che vieta l'inversione a U, dalla Parte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L'inizio di step: lo stack frame e la ricerca della direzione nelle tabelle dx e 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una cella a caso, ritentata finché non è libera.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draw_worm, che percorre l'anello all'indietro. Ora è usata solo da draw_full, una volta per nuova schermata.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dalle celle ai pixel: la stessa funzione dalla Parte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sezione .rodata: le stringhe e le tabelle delle direzioni.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è finito: circa seicento righe di assembly RISC-V, tutte vostre. È cominciato come tre funzioni che ritornano ed è cresciuto un passo eseguibile alla volta, e dentro c'è ogni parte del corso: numeri, logica, stato, memoria, chiamate, pixel, dispositivi. Manca una cosa: un programma che solo il suo autore può eseguire è finito a metà. La prossima lezione gli dà un nome, un'icona e i crediti, e lo pubblica.
Per il docente: Chiedete agli studenti di portare la propria variante alla Lezione 23: il bundle che preparano deve essere del loro gioco, non del riferimento.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22: Verm1, parte 4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parte 4: il gioco finito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La macchina entra nel gioco: la divisione per le cifre, i livelli, il suono, e uno schermo disegnato solo dove cambia</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“L'ottimizzazione prematura è la radice di tutti i mali.”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Donald Knuth, 1974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avrete alla fine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punteggio e il punteggio migliore scritti in cifre, convertiti dalla vostra divisione per dieci</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verme che va più veloce al crescere del punteggio, fino a un limite</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Due suoni: una nota breve per un pasto, una lunga e bassa per la fine</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funzione draw che tocca una manciata di celle per passo invece dell'intero schermo</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Verm1 finito, pronto per essere confezionato nella Lezione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prende la Parte 4 dalle lezioni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274394"/>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Dove compare oggi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convenzione di chiamata: registri a, t, s, ra, 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piccole funzioni con un contratto; funzioni foglia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l'estensione M: divu e remu, quoziente e resto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cifre del punteggio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ciclo del processore: ogni istruzione costa tempo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misura prima e dopo il passo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 schermo è memoria: il costo è scrivere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disegnare solo ciò che è cambiato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21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dispositivi sono del runtime: noi chiediamo, lui 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prg32_audio_note, con una durata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state andando</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4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 con il punteggio migliore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4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il punteggio in cifre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4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Partite da una Parte 3 che gira; se la vostra non gira, copiate verm1_part3.S. Oggi ci sono quattro passi, e il programma gira dopo ciascuno.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ciclo di lavoro, di nuovo</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Passo 1: il punteggio in cifre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Da un numero a tre caratteri.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numero non è le sue cifre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score contiene un numero binario: 137 è 0x89, un byte</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schermo vuole tre caratteri: '1', '3', '7', cioè i byte 0x31, 0x33, 0x37</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Dividere per dieci, tre volte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137 / 10 = 13, resto 7: le unità</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 / 10 = 1, resto 3: le decine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 / 10 = 0, resto 1: le centinaia</a:t>
            </a:r>
            <a:endParaRPr lang="en-US" sz="2200" dirty="0"/>
          </a:p>
        </p:txBody>
      </p:sp>
      <p:sp>
        <p:nvSpPr>
          <p:cNvPr id="9" name="Shape 7"/>
          <p:cNvSpPr/>
          <p:nvPr/>
        </p:nvSpPr>
        <p:spPr>
          <a:xfrm>
            <a:off x="548640" y="474160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3518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cifre escono da destra: memorizzatele dall'ultimo carattere al primo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cifra d diventa un carattere sommando 48: il codice ASCII di '0'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137</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0x89 in memoria; 0x31 0x33 0x37 sullo schermo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to_decimal: dividere per dieci, tre volte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to_decimal:                     </a:t>
            </a:r>
            <a:pPr indent="0" marL="0">
              <a:buNone/>
            </a:pPr>
            <a:r>
              <a:rPr lang="en-US" sz="1300" dirty="0">
                <a:solidFill>
                  <a:srgbClr val="8FB3A0"/>
                </a:solidFill>
                <a:latin typeface="Courier New" pitchFamily="34" charset="0"/>
                <a:ea typeface="Courier New" pitchFamily="34" charset="-122"/>
                <a:cs typeface="Courier New" pitchFamily="34" charset="-120"/>
              </a:rPr>
              <a:t># a0 = value 0..999, a1 = address of 3 chars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t0,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units: the remainder of value /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             </a:t>
            </a:r>
            <a:pPr indent="0" marL="0">
              <a:buNone/>
            </a:pPr>
            <a:r>
              <a:rPr lang="en-US" sz="1300" dirty="0">
                <a:solidFill>
                  <a:srgbClr val="8FB3A0"/>
                </a:solidFill>
                <a:latin typeface="Courier New" pitchFamily="34" charset="0"/>
                <a:ea typeface="Courier New" pitchFamily="34" charset="-122"/>
                <a:cs typeface="Courier New" pitchFamily="34" charset="-120"/>
              </a:rPr>
              <a:t># 48 is the ASCII code of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2(a1)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tens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1(a1)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hundreds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0(a1)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                         </a:t>
            </a:r>
            <a:pPr indent="0" marL="0">
              <a:buNone/>
            </a:pPr>
            <a:r>
              <a:rPr lang="en-US" sz="1300" dirty="0">
                <a:solidFill>
                  <a:srgbClr val="8FB3A0"/>
                </a:solidFill>
                <a:latin typeface="Courier New" pitchFamily="34" charset="0"/>
                <a:ea typeface="Courier New" pitchFamily="34" charset="-122"/>
                <a:cs typeface="Courier New" pitchFamily="34" charset="-120"/>
              </a:rPr>
              <a:t># a leaf function: no stack frame needed</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Contratto: a0 = valore, a1 = dove vanno i 3 caratteri</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remu dà la cifra, divu ciò che resta</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sb memorizza un byte: scostamenti 2, 1, 0 da a1</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Una foglia: solo registri t, nessun frame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draw_score: due numeri, due testi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             </a:t>
            </a:r>
            <a:pPr indent="0" marL="0">
              <a:buNone/>
            </a:pPr>
            <a:r>
              <a:rPr lang="en-US" sz="1300" dirty="0">
                <a:solidFill>
                  <a:srgbClr val="8FB3A0"/>
                </a:solidFill>
                <a:latin typeface="Courier New" pitchFamily="34" charset="0"/>
                <a:ea typeface="Courier New" pitchFamily="34" charset="-122"/>
                <a:cs typeface="Courier New" pitchFamily="34" charset="-120"/>
              </a:rPr>
              <a:t># the score, as three characters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best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best_txt+5         </a:t>
            </a:r>
            <a:pPr indent="0" marL="0">
              <a:buNone/>
            </a:pPr>
            <a:r>
              <a:rPr lang="en-US" sz="1300" dirty="0">
                <a:solidFill>
                  <a:srgbClr val="8FB3A0"/>
                </a:solidFill>
                <a:latin typeface="Courier New" pitchFamily="34" charset="0"/>
                <a:ea typeface="Courier New" pitchFamily="34" charset="-122"/>
                <a:cs typeface="Courier New" pitchFamily="34" charset="-120"/>
              </a:rPr>
              <a:t># after the letters "BEST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best_txt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Sostituite draw_score della Parte 3: via le tacche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Le cifre vengono scritte in una stringa in RAM</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best_txt+5: salta BEST e lo spazio, cinque caratteri</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Poi la stringa si disegna come ogni altra</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.data: le variabili della Parte 4</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.section .data                  </a:t>
            </a:r>
            <a:pPr indent="0" marL="0">
              <a:buNone/>
            </a:pPr>
            <a:r>
              <a:rPr lang="en-US" sz="1250" dirty="0">
                <a:solidFill>
                  <a:srgbClr val="8FB3A0"/>
                </a:solidFill>
                <a:latin typeface="Courier New" pitchFamily="34" charset="0"/>
                <a:ea typeface="Courier New" pitchFamily="34" charset="-122"/>
                <a:cs typeface="Courier New" pitchFamily="34" charset="-120"/>
              </a:rPr>
              <a:t># variables: they live in RAM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state:     .word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prev_btn:  .word 0              </a:t>
            </a:r>
            <a:pPr indent="0" marL="0">
              <a:buNone/>
            </a:pPr>
            <a:r>
              <a:rPr lang="en-US" sz="1250" dirty="0">
                <a:solidFill>
                  <a:srgbClr val="8FB3A0"/>
                </a:solidFill>
                <a:latin typeface="Courier New" pitchFamily="34" charset="0"/>
                <a:ea typeface="Courier New" pitchFamily="34" charset="-122"/>
                <a:cs typeface="Courier New" pitchFamily="34" charset="-120"/>
              </a:rPr>
              <a:t># the buttons one frame ago</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want: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step_q8: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      .word 0              </a:t>
            </a:r>
            <a:pPr indent="0" marL="0">
              <a:buNone/>
            </a:pPr>
            <a:r>
              <a:rPr lang="en-US" sz="1250" dirty="0">
                <a:solidFill>
                  <a:srgbClr val="8FB3A0"/>
                </a:solidFill>
                <a:latin typeface="Courier New" pitchFamily="34" charset="0"/>
                <a:ea typeface="Courier New" pitchFamily="34" charset="-122"/>
                <a:cs typeface="Courier New" pitchFamily="34" charset="-120"/>
              </a:rPr>
              <a:t># lost when the power goes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head_i:    .word 0              </a:t>
            </a:r>
            <a:pPr indent="0" marL="0">
              <a:buNone/>
            </a:pPr>
            <a:r>
              <a:rPr lang="en-US" sz="1250" dirty="0">
                <a:solidFill>
                  <a:srgbClr val="8FB3A0"/>
                </a:solidFill>
                <a:latin typeface="Courier New" pitchFamily="34" charset="0"/>
                <a:ea typeface="Courier New" pitchFamily="34" charset="-122"/>
                <a:cs typeface="Courier New" pitchFamily="34" charset="-120"/>
              </a:rPr>
              <a:t># ring index of the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length:    .word 0              </a:t>
            </a:r>
            <a:pPr indent="0" marL="0">
              <a:buNone/>
            </a:pPr>
            <a:r>
              <a:rPr lang="en-US" sz="1250" dirty="0">
                <a:solidFill>
                  <a:srgbClr val="8FB3A0"/>
                </a:solidFill>
                <a:latin typeface="Courier New" pitchFamily="34" charset="0"/>
                <a:ea typeface="Courier New" pitchFamily="34" charset="-122"/>
                <a:cs typeface="Courier New" pitchFamily="34" charset="-120"/>
              </a:rPr>
              <a:t># number of cells of the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body_x:    .space 256           </a:t>
            </a:r>
            <a:pPr indent="0" marL="0">
              <a:buNone/>
            </a:pPr>
            <a:r>
              <a:rPr lang="en-US" sz="1250" dirty="0">
                <a:solidFill>
                  <a:srgbClr val="8FB3A0"/>
                </a:solidFill>
                <a:latin typeface="Courier New" pitchFamily="34" charset="0"/>
                <a:ea typeface="Courier New" pitchFamily="34" charset="-122"/>
                <a:cs typeface="Courier New" pitchFamily="34" charset="-120"/>
              </a:rPr>
              <a:t># the ring: one byte per segment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body_y:    .space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grid:      .space COLS*ROWS     </a:t>
            </a:r>
            <a:pPr indent="0" marL="0">
              <a:buNone/>
            </a:pPr>
            <a:r>
              <a:rPr lang="en-US" sz="1250" dirty="0">
                <a:solidFill>
                  <a:srgbClr val="8FB3A0"/>
                </a:solidFill>
                <a:latin typeface="Courier New" pitchFamily="34" charset="0"/>
                <a:ea typeface="Courier New" pitchFamily="34" charset="-122"/>
                <a:cs typeface="Courier New" pitchFamily="34" charset="-120"/>
              </a:rPr>
              <a:t># one byte per cell: 1 =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dirty:     .word 2              </a:t>
            </a:r>
            <a:pPr indent="0" marL="0">
              <a:buNone/>
            </a:pPr>
            <a:r>
              <a:rPr lang="en-US" sz="1250" dirty="0">
                <a:solidFill>
                  <a:srgbClr val="8FB3A0"/>
                </a:solidFill>
                <a:latin typeface="Courier New" pitchFamily="34" charset="0"/>
                <a:ea typeface="Courier New" pitchFamily="34" charset="-122"/>
                <a:cs typeface="Courier New" pitchFamily="34" charset="-120"/>
              </a:rPr>
              <a:t># 0 nothing to draw, 1 a step, 2 everything</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old_x:     .word 0              </a:t>
            </a:r>
            <a:pPr indent="0" marL="0">
              <a:buNone/>
            </a:pPr>
            <a:r>
              <a:rPr lang="en-US" sz="1250" dirty="0">
                <a:solidFill>
                  <a:srgbClr val="8FB3A0"/>
                </a:solidFill>
                <a:latin typeface="Courier New" pitchFamily="34" charset="0"/>
                <a:ea typeface="Courier New" pitchFamily="34" charset="-122"/>
                <a:cs typeface="Courier New" pitchFamily="34" charset="-120"/>
              </a:rPr>
              <a:t># where the head was before the step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erase_on:  .word 0              </a:t>
            </a:r>
            <a:pPr indent="0" marL="0">
              <a:buNone/>
            </a:pPr>
            <a:r>
              <a:rPr lang="en-US" sz="1250" dirty="0">
                <a:solidFill>
                  <a:srgbClr val="8FB3A0"/>
                </a:solidFill>
                <a:latin typeface="Courier New" pitchFamily="34" charset="0"/>
                <a:ea typeface="Courier New" pitchFamily="34" charset="-122"/>
                <a:cs typeface="Courier New" pitchFamily="34" charset="-120"/>
              </a:rPr>
              <a:t># 1 if the tail left a cell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score_txt: .asciz "000"         </a:t>
            </a:r>
            <a:pPr indent="0" marL="0">
              <a:buNone/>
            </a:pPr>
            <a:r>
              <a:rPr lang="en-US" sz="1250" dirty="0">
                <a:solidFill>
                  <a:srgbClr val="8FB3A0"/>
                </a:solidFill>
                <a:latin typeface="Courier New" pitchFamily="34" charset="0"/>
                <a:ea typeface="Courier New" pitchFamily="34" charset="-122"/>
                <a:cs typeface="Courier New" pitchFamily="34" charset="-120"/>
              </a:rPr>
              <a:t># filled in by to_decimal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best_txt:  .asciz "BEST 000"</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Sostituite la .data della Parte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Due stringhe che il programma compila</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old ed erase: usate nei passi 3 e 4</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le cifre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Compilate ed eseguite, premete A: la riga in alto dice VERM1 000 e, a destra, BEST 000</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Giocate e mangiate: 001, 002, ...</a:t>
            </a:r>
            <a:endParaRPr lang="en-US" sz="2400" dirty="0"/>
          </a:p>
        </p:txBody>
      </p:sp>
      <p:sp>
        <p:nvSpPr>
          <p:cNvPr id="8" name="Text 6"/>
          <p:cNvSpPr txBox="1"/>
          <p:nvPr/>
        </p:nvSpPr>
        <p:spPr>
          <a:xfrm>
            <a:off x="548640" y="3154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1363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Perdete: nella schermata di game over BEST mostra il vostro punteggio</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Nel debugger trovate score_txt in memoria e leggetene i byte: 30 30 33 00 dopo tre pasti</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Il punteggio e il punteggio migliore in cifre; tutto il resto come nella Parte 3.</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Passo 2: i livelli</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La velocità diventa una funzione del punteggio.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Costanti: due velocità invece di una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.option norelax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00" dirty="0">
                <a:solidFill>
                  <a:srgbClr val="8FB3A0"/>
                </a:solidFill>
                <a:latin typeface="Courier New" pitchFamily="34" charset="0"/>
                <a:ea typeface="Courier New" pitchFamily="34" charset="-122"/>
                <a:cs typeface="Courier New" pitchFamily="34" charset="-120"/>
              </a:rPr>
              <a:t># RGB565 colours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WHITE, 0xffff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GREEN, 0x07e0          </a:t>
            </a:r>
            <a:pPr indent="0" marL="0">
              <a:buNone/>
            </a:pPr>
            <a:r>
              <a:rPr lang="en-US" sz="1200" dirty="0">
                <a:solidFill>
                  <a:srgbClr val="8FB3A0"/>
                </a:solidFill>
                <a:latin typeface="Courier New" pitchFamily="34" charset="0"/>
                <a:ea typeface="Courier New" pitchFamily="34" charset="-122"/>
                <a:cs typeface="Courier New" pitchFamily="34" charset="-120"/>
              </a:rPr>
              <a:t># the 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BODY,  0x03e0          </a:t>
            </a:r>
            <a:pPr indent="0" marL="0">
              <a:buNone/>
            </a:pPr>
            <a:r>
              <a:rPr lang="en-US" sz="1200" dirty="0">
                <a:solidFill>
                  <a:srgbClr val="8FB3A0"/>
                </a:solidFill>
                <a:latin typeface="Courier New" pitchFamily="34" charset="0"/>
                <a:ea typeface="Courier New" pitchFamily="34" charset="-122"/>
                <a:cs typeface="Courier New" pitchFamily="34" charset="-120"/>
              </a:rPr>
              <a:t># the body: a darker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RED,   0xf800          </a:t>
            </a:r>
            <a:pPr indent="0" marL="0">
              <a:buNone/>
            </a:pPr>
            <a:r>
              <a:rPr lang="en-US" sz="1200" dirty="0">
                <a:solidFill>
                  <a:srgbClr val="8FB3A0"/>
                </a:solidFill>
                <a:latin typeface="Courier New" pitchFamily="34" charset="0"/>
                <a:ea typeface="Courier New" pitchFamily="34" charset="-122"/>
                <a:cs typeface="Courier New" pitchFamily="34" charset="-120"/>
              </a:rPr>
              <a:t># the 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CELL,  8               </a:t>
            </a:r>
            <a:pPr indent="0" marL="0">
              <a:buNone/>
            </a:pPr>
            <a:r>
              <a:rPr lang="en-US" sz="1200" dirty="0">
                <a:solidFill>
                  <a:srgbClr val="8FB3A0"/>
                </a:solidFill>
                <a:latin typeface="Courier New" pitchFamily="34" charset="0"/>
                <a:ea typeface="Courier New" pitchFamily="34" charset="-122"/>
                <a:cs typeface="Courier New" pitchFamily="34" charset="-120"/>
              </a:rPr>
              <a:t># a cell is 8 x 8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COLS,  40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ROWS,  24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TOP,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SPEED_MIN, 32          </a:t>
            </a:r>
            <a:pPr indent="0" marL="0">
              <a:buNone/>
            </a:pPr>
            <a:r>
              <a:rPr lang="en-US" sz="1200" dirty="0">
                <a:solidFill>
                  <a:srgbClr val="8FB3A0"/>
                </a:solidFill>
                <a:latin typeface="Courier New" pitchFamily="34" charset="0"/>
                <a:ea typeface="Courier New" pitchFamily="34" charset="-122"/>
                <a:cs typeface="Courier New" pitchFamily="34" charset="-120"/>
              </a:rPr>
              <a:t># 32/256 of a cell per frame at the start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SPEED_MAX, 96          </a:t>
            </a:r>
            <a:pPr indent="0" marL="0">
              <a:buNone/>
            </a:pPr>
            <a:r>
              <a:rPr lang="en-US" sz="1200" dirty="0">
                <a:solidFill>
                  <a:srgbClr val="8FB3A0"/>
                </a:solidFill>
                <a:latin typeface="Courier New" pitchFamily="34" charset="0"/>
                <a:ea typeface="Courier New" pitchFamily="34" charset="-122"/>
                <a:cs typeface="Courier New" pitchFamily="34" charset="-120"/>
              </a:rPr>
              <a:t># the worm never goes faster than this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BTN_LEFT,  0x01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BTN_RIGHT, 0x02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BTN_UP,    0x04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BTN_DOWN,  0x08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BTN_A,     0x10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00" dirty="0">
                <a:solidFill>
                  <a:srgbClr val="8FB3A0"/>
                </a:solidFill>
                <a:latin typeface="Courier New" pitchFamily="34" charset="0"/>
                <a:ea typeface="Courier New" pitchFamily="34" charset="-122"/>
                <a:cs typeface="Courier New" pitchFamily="34" charset="-120"/>
              </a:rPr>
              <a:t># bit 0 = vertical, bit 1 = backwards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DIR_DOWN,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DIR_LEFT,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DIR_UP,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TITLE, 0               </a:t>
            </a:r>
            <a:pPr indent="0" marL="0">
              <a:buNone/>
            </a:pPr>
            <a:r>
              <a:rPr lang="en-US" sz="1200" dirty="0">
                <a:solidFill>
                  <a:srgbClr val="8FB3A0"/>
                </a:solidFill>
                <a:latin typeface="Courier New" pitchFamily="34" charset="0"/>
                <a:ea typeface="Courier New" pitchFamily="34" charset="-122"/>
                <a:cs typeface="Courier New" pitchFamily="34" charset="-120"/>
              </a:rPr>
              <a:t># the three states of the game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PLAY,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OVER,  2</a:t>
            </a:r>
            <a:endParaRPr lang="en-US" sz="12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SPEED_Q8 è sostituita da un minimo e un massimo</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32/256: un passo ogni 8 frame all'inizio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96/256: al massimo tre passi ogni 8 frame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play_update: una velocità che cresce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t3, t3, 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t3, t3, SPEED_MIN      </a:t>
            </a:r>
            <a:pPr indent="0" marL="0">
              <a:buNone/>
            </a:pPr>
            <a:r>
              <a:rPr lang="en-US" sz="1300" dirty="0">
                <a:solidFill>
                  <a:srgbClr val="8FB3A0"/>
                </a:solidFill>
                <a:latin typeface="Courier New" pitchFamily="34" charset="0"/>
                <a:ea typeface="Courier New" pitchFamily="34" charset="-122"/>
                <a:cs typeface="Courier New" pitchFamily="34" charset="-120"/>
              </a:rPr>
              <a:t># speed = 32 + 4 * score, in 1/256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t4, SPEED_MAX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ble  t3, t4, 8f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t3, t4                 </a:t>
            </a:r>
            <a:pPr indent="0" marL="0">
              <a:buNone/>
            </a:pPr>
            <a:r>
              <a:rPr lang="en-US" sz="1300" dirty="0">
                <a:solidFill>
                  <a:srgbClr val="8FB3A0"/>
                </a:solidFill>
                <a:latin typeface="Courier New" pitchFamily="34" charset="0"/>
                <a:ea typeface="Courier New" pitchFamily="34" charset="-122"/>
                <a:cs typeface="Courier New" pitchFamily="34" charset="-120"/>
              </a:rPr>
              <a:t># ... but never more than 96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8:  la   t0, step_q8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t1, t1, t3             </a:t>
            </a:r>
            <a:pPr indent="0" marL="0">
              <a:buNone/>
            </a:pPr>
            <a:r>
              <a:rPr lang="en-US" sz="1300" dirty="0">
                <a:solidFill>
                  <a:srgbClr val="8FB3A0"/>
                </a:solidFill>
                <a:latin typeface="Courier New" pitchFamily="34" charset="0"/>
                <a:ea typeface="Courier New" pitchFamily="34" charset="-122"/>
                <a:cs typeface="Courier New" pitchFamily="34" charset="-120"/>
              </a:rPr>
              <a:t># add a fraction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blt  t1, t2, 6f             </a:t>
            </a:r>
            <a:pPr indent="0" marL="0">
              <a:buNone/>
            </a:pPr>
            <a:r>
              <a:rPr lang="en-US" sz="1300" dirty="0">
                <a:solidFill>
                  <a:srgbClr val="8FB3A0"/>
                </a:solidFill>
                <a:latin typeface="Courier New" pitchFamily="34" charset="0"/>
                <a:ea typeface="Courier New" pitchFamily="34" charset="-122"/>
                <a:cs typeface="Courier New" pitchFamily="34" charset="-120"/>
              </a:rPr>
              <a:t># less than one whole cell: wait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sub  t1, t1, t2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step                   </a:t>
            </a:r>
            <a:pPr indent="0" marL="0">
              <a:buNone/>
            </a:pPr>
            <a:r>
              <a:rPr lang="en-US" sz="1300" dirty="0">
                <a:solidFill>
                  <a:srgbClr val="8FB3A0"/>
                </a:solidFill>
                <a:latin typeface="Courier New" pitchFamily="34" charset="0"/>
                <a:ea typeface="Courier New" pitchFamily="34" charset="-122"/>
                <a:cs typeface="Courier New" pitchFamily="34" charset="-120"/>
              </a:rPr>
              <a:t># one whole cell: move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7f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6: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7: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speed = 32 + 4 x score: uno scorrimento e una somma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ble e mv: il minore tra speed e 96</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resto è il timer che conoscete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limite si raggiunge a 16 punti</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livelli, in numeri</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3530041"/>
                <a:gridCol w="2353361"/>
                <a:gridCol w="336194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Punteggio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Velocità (1/256 di cella per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 per passo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Celle al secondo a 30 fps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e oltre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11,25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Le frazioni di frame sono reali: a 48/256 i passi arrivano ogni 5 o 6 frame, 5,33 in media.</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sempre più veloce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56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38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Compilate ed eseguite: il verme parte più lento che nella Parte 3, e accelera a ogni pasto</a:t>
            </a:r>
            <a:endParaRPr lang="en-US" sz="2400" dirty="0"/>
          </a:p>
        </p:txBody>
      </p:sp>
      <p:sp>
        <p:nvSpPr>
          <p:cNvPr id="6" name="Text 4"/>
          <p:cNvSpPr txBox="1"/>
          <p:nvPr/>
        </p:nvSpPr>
        <p:spPr>
          <a:xfrm>
            <a:off x="548640" y="26578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63956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Contate con il debugger i frame tra due passi a punteggio 0: otto</a:t>
            </a:r>
            <a:endParaRPr lang="en-US" sz="2400" dirty="0"/>
          </a:p>
        </p:txBody>
      </p:sp>
      <p:sp>
        <p:nvSpPr>
          <p:cNvPr id="8" name="Text 6"/>
          <p:cNvSpPr txBox="1"/>
          <p:nvPr/>
        </p:nvSpPr>
        <p:spPr>
          <a:xfrm>
            <a:off x="548640" y="35539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535680"/>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Arrivate a 16 punti: la velocità non cambia più</a:t>
            </a:r>
            <a:endParaRPr lang="en-US" sz="2400" dirty="0"/>
          </a:p>
        </p:txBody>
      </p:sp>
      <p:sp>
        <p:nvSpPr>
          <p:cNvPr id="10" name="Text 8"/>
          <p:cNvSpPr txBox="1"/>
          <p:nvPr/>
        </p:nvSpPr>
        <p:spPr>
          <a:xfrm>
            <a:off x="548640" y="44500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317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Provate SPEED_MAX = 256, se ne avete il coraggio</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Una partenza lenta, un passo ogni 8 frame, e un'accelerazione visibile nei primi pasti.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100" b="1" dirty="0">
                <a:solidFill>
                  <a:srgbClr val="FFFFFF"/>
                </a:solidFill>
                <a:latin typeface="Cambria" pitchFamily="34" charset="0"/>
                <a:ea typeface="Cambria" pitchFamily="34" charset="-122"/>
                <a:cs typeface="Cambria" pitchFamily="34" charset="-120"/>
              </a:rPr>
              <a:t>Passo 3: step dice che cosa ha cambiato</a:t>
            </a:r>
            <a:endParaRPr lang="en-US" sz="41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I suoni, e gli appunti che serviranno a draw.</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play_note: una funzione, ogni nota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play_note:                      </a:t>
            </a:r>
            <a:pPr indent="0" marL="0">
              <a:buNone/>
            </a:pPr>
            <a:r>
              <a:rPr lang="en-US" sz="1450" dirty="0">
                <a:solidFill>
                  <a:srgbClr val="8FB3A0"/>
                </a:solidFill>
                <a:latin typeface="Courier New" pitchFamily="34" charset="0"/>
                <a:ea typeface="Courier New" pitchFamily="34" charset="-122"/>
                <a:cs typeface="Courier New" pitchFamily="34" charset="-120"/>
              </a:rPr>
              <a:t># a2 = MIDI note, a4 = milliseconds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0                  </a:t>
            </a:r>
            <a:pPr indent="0" marL="0">
              <a:buNone/>
            </a:pPr>
            <a:r>
              <a:rPr lang="en-US" sz="1450" dirty="0">
                <a:solidFill>
                  <a:srgbClr val="8FB3A0"/>
                </a:solidFill>
                <a:latin typeface="Courier New" pitchFamily="34" charset="0"/>
                <a:ea typeface="Courier New" pitchFamily="34" charset="-122"/>
                <a:cs typeface="Courier New" pitchFamily="34" charset="-120"/>
              </a:rPr>
              <a:t># channel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0                  </a:t>
            </a:r>
            <a:pPr indent="0" marL="0">
              <a:buNone/>
            </a:pPr>
            <a:r>
              <a:rPr lang="en-US" sz="1450" dirty="0">
                <a:solidFill>
                  <a:srgbClr val="8FB3A0"/>
                </a:solidFill>
                <a:latin typeface="Courier New" pitchFamily="34" charset="0"/>
                <a:ea typeface="Courier New" pitchFamily="34" charset="-122"/>
                <a:cs typeface="Courier New" pitchFamily="34" charset="-120"/>
              </a:rPr>
              <a:t># instrument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255                </a:t>
            </a:r>
            <a:pPr indent="0" marL="0">
              <a:buNone/>
            </a:pPr>
            <a:r>
              <a:rPr lang="en-US" sz="1450" dirty="0">
                <a:solidFill>
                  <a:srgbClr val="8FB3A0"/>
                </a:solidFill>
                <a:latin typeface="Courier New" pitchFamily="34" charset="0"/>
                <a:ea typeface="Courier New" pitchFamily="34" charset="-122"/>
                <a:cs typeface="Courier New" pitchFamily="34" charset="-120"/>
              </a:rPr>
              <a:t># volume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prg32_audio_note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Sostituite eat_sound con play_note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chiamante sceglie nota e durata: a2 e a4</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funzione compila gli altri tre argomenti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step: ricordare la vecchia testa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head_i</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t5, 0(t0)              </a:t>
            </a:r>
            <a:pPr indent="0" marL="0">
              <a:buNone/>
            </a:pPr>
            <a:r>
              <a:rPr lang="en-US" sz="1150" dirty="0">
                <a:solidFill>
                  <a:srgbClr val="8FB3A0"/>
                </a:solidFill>
                <a:latin typeface="Courier New" pitchFamily="34" charset="0"/>
                <a:ea typeface="Courier New" pitchFamily="34" charset="-122"/>
                <a:cs typeface="Courier New" pitchFamily="34" charset="-120"/>
              </a:rPr>
              <a:t># t5 = ring index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s0, 0(t0)              </a:t>
            </a:r>
            <a:pPr indent="0" marL="0">
              <a:buNone/>
            </a:pPr>
            <a:r>
              <a:rPr lang="en-US" sz="1150" dirty="0">
                <a:solidFill>
                  <a:srgbClr val="8FB3A0"/>
                </a:solidFill>
                <a:latin typeface="Courier New" pitchFamily="34" charset="0"/>
                <a:ea typeface="Courier New" pitchFamily="34" charset="-122"/>
                <a:cs typeface="Courier New" pitchFamily="34" charset="-120"/>
              </a:rPr>
              <a:t># one byte: the column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s0, 0(t0)              </a:t>
            </a:r>
            <a:pPr indent="0" marL="0">
              <a:buNone/>
            </a:pPr>
            <a:r>
              <a:rPr lang="en-US" sz="1150" dirty="0">
                <a:solidFill>
                  <a:srgbClr val="8FB3A0"/>
                </a:solidFill>
                <a:latin typeface="Courier New" pitchFamily="34" charset="0"/>
                <a:ea typeface="Courier New" pitchFamily="34" charset="-122"/>
                <a:cs typeface="Courier New" pitchFamily="34" charset="-120"/>
              </a:rPr>
              <a:t># remember where the head was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s0, s0,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s0, 1f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COLS-1             </a:t>
            </a:r>
            <a:pPr indent="0" marL="0">
              <a:buNone/>
            </a:pPr>
            <a:r>
              <a:rPr lang="en-US" sz="1150" dirty="0">
                <a:solidFill>
                  <a:srgbClr val="8FB3A0"/>
                </a:solidFill>
                <a:latin typeface="Courier New" pitchFamily="34" charset="0"/>
                <a:ea typeface="Courier New" pitchFamily="34" charset="-122"/>
                <a:cs typeface="Courier New" pitchFamily="34" charset="-120"/>
              </a:rPr>
              <a:t># off the left edge: wrap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li   t4, 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s0, t4, 2f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s1, s1, t3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s1, 3f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ROWS-1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3:  li   t4, 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s1, t4, 4f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4:</a:t>
            </a:r>
            <a:endParaRPr lang="en-US" sz="11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Sostituite la stessa parte di step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old_x, old_y: la cella che la testa sta lasciando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 la ridipingerà con il colore del corpo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step: c'è una cella da cancellare?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    la   t0, food_x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food_y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t2, t2, s1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or   s2, t1, t2             </a:t>
            </a:r>
            <a:pPr indent="0" marL="0">
              <a:buNone/>
            </a:pPr>
            <a:r>
              <a:rPr lang="en-US" sz="1000" dirty="0">
                <a:solidFill>
                  <a:srgbClr val="8FB3A0"/>
                </a:solidFill>
                <a:latin typeface="Courier New" pitchFamily="34" charset="0"/>
                <a:ea typeface="Courier New" pitchFamily="34" charset="-122"/>
                <a:cs typeface="Courier New" pitchFamily="34" charset="-120"/>
              </a:rPr>
              <a:t># s2 = 0 if the new head is on the food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s2, 5f                 </a:t>
            </a:r>
            <a:pPr indent="0" marL="0">
              <a:buNone/>
            </a:pPr>
            <a:r>
              <a:rPr lang="en-US" sz="1000" dirty="0">
                <a:solidFill>
                  <a:srgbClr val="8FB3A0"/>
                </a:solidFill>
                <a:latin typeface="Courier New" pitchFamily="34" charset="0"/>
                <a:ea typeface="Courier New" pitchFamily="34" charset="-122"/>
                <a:cs typeface="Courier New" pitchFamily="34" charset="-120"/>
              </a:rPr>
              <a:t># not eating: the tail moves 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t2, 255</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t1, t2, 5f             </a:t>
            </a:r>
            <a:pPr indent="0" marL="0">
              <a:buNone/>
            </a:pPr>
            <a:r>
              <a:rPr lang="en-US" sz="1000" dirty="0">
                <a:solidFill>
                  <a:srgbClr val="8FB3A0"/>
                </a:solidFill>
                <a:latin typeface="Courier New" pitchFamily="34" charset="0"/>
                <a:ea typeface="Courier New" pitchFamily="34" charset="-122"/>
                <a:cs typeface="Courier New" pitchFamily="34" charset="-120"/>
              </a:rPr>
              <a:t># the ring is full: no more growth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t1, t1,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t1, 0(t0)              </a:t>
            </a:r>
            <a:pPr indent="0" marL="0">
              <a:buNone/>
            </a:pPr>
            <a:r>
              <a:rPr lang="en-US" sz="1000" dirty="0">
                <a:solidFill>
                  <a:srgbClr val="8FB3A0"/>
                </a:solidFill>
                <a:latin typeface="Courier New" pitchFamily="34" charset="0"/>
                <a:ea typeface="Courier New" pitchFamily="34" charset="-122"/>
                <a:cs typeface="Courier New" pitchFamily="34" charset="-120"/>
              </a:rPr>
              <a:t># eating: one cell longer, the tail stays</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erase_on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zero, 0(t0)            </a:t>
            </a:r>
            <a:pPr indent="0" marL="0">
              <a:buNone/>
            </a:pPr>
            <a:r>
              <a:rPr lang="en-US" sz="1000" dirty="0">
                <a:solidFill>
                  <a:srgbClr val="8FB3A0"/>
                </a:solidFill>
                <a:latin typeface="Courier New" pitchFamily="34" charset="0"/>
                <a:ea typeface="Courier New" pitchFamily="34" charset="-122"/>
                <a:cs typeface="Courier New" pitchFamily="34" charset="-120"/>
              </a:rPr>
              <a:t># ... so there is no cell to erase</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6f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5: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t2, t2,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t2, t2,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t2, t2,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the tail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t3,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t4, 0(t0)</a:t>
            </a:r>
            <a:endParaRPr lang="en-US" sz="10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Mangiando: la coda resta, niente da cancellare</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0 lo dice a draw</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step: annotare la coda, chiamare la fine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la   t0, erase_x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t3, 0(t0)              </a:t>
            </a:r>
            <a:pPr indent="0" marL="0">
              <a:buNone/>
            </a:pPr>
            <a:r>
              <a:rPr lang="en-US" sz="1250" dirty="0">
                <a:solidFill>
                  <a:srgbClr val="8FB3A0"/>
                </a:solidFill>
                <a:latin typeface="Courier New" pitchFamily="34" charset="0"/>
                <a:ea typeface="Courier New" pitchFamily="34" charset="-122"/>
                <a:cs typeface="Courier New" pitchFamily="34" charset="-120"/>
              </a:rPr>
              <a:t># remember the cell the tail leaves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erase_y</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t4,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t5,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t4,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t3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tail = row * 40 + column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sb   zero, 0(t0)            </a:t>
            </a:r>
            <a:pPr indent="0" marL="0">
              <a:buNone/>
            </a:pPr>
            <a:r>
              <a:rPr lang="en-US" sz="1250" dirty="0">
                <a:solidFill>
                  <a:srgbClr val="8FB3A0"/>
                </a:solidFill>
                <a:latin typeface="Courier New" pitchFamily="34" charset="0"/>
                <a:ea typeface="Courier New" pitchFamily="34" charset="-122"/>
                <a:cs typeface="Courier New" pitchFamily="34" charset="-120"/>
              </a:rPr>
              <a:t># the tail cell is free again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6: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s1,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s0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new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lbu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7f                 </a:t>
            </a:r>
            <a:pPr indent="0" marL="0">
              <a:buNone/>
            </a:pPr>
            <a:r>
              <a:rPr lang="en-US" sz="1250" dirty="0">
                <a:solidFill>
                  <a:srgbClr val="8FB3A0"/>
                </a:solidFill>
                <a:latin typeface="Courier New" pitchFamily="34" charset="0"/>
                <a:ea typeface="Courier New" pitchFamily="34" charset="-122"/>
                <a:cs typeface="Courier New" pitchFamily="34" charset="-120"/>
              </a:rPr>
              <a:t># a free cell: go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game_is_over           </a:t>
            </a:r>
            <a:pPr indent="0" marL="0">
              <a:buNone/>
            </a:pPr>
            <a:r>
              <a:rPr lang="en-US" sz="1250" dirty="0">
                <a:solidFill>
                  <a:srgbClr val="8FB3A0"/>
                </a:solidFill>
                <a:latin typeface="Courier New" pitchFamily="34" charset="0"/>
                <a:ea typeface="Courier New" pitchFamily="34" charset="-122"/>
                <a:cs typeface="Courier New" pitchFamily="34" charset="-120"/>
              </a:rPr>
              <a:t># the worm bit itself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9f</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coda lascia una cella: ricordare quale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1: draw deve dipingerla di nero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collisione ora è una chiamata: game_is_over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step: scrivere la nuova testa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7:  li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t1, 0(t0)              </a:t>
            </a:r>
            <a:pPr indent="0" marL="0">
              <a:buNone/>
            </a:pPr>
            <a:r>
              <a:rPr lang="en-US" sz="1450" dirty="0">
                <a:solidFill>
                  <a:srgbClr val="8FB3A0"/>
                </a:solidFill>
                <a:latin typeface="Courier New" pitchFamily="34" charset="0"/>
                <a:ea typeface="Courier New" pitchFamily="34" charset="-122"/>
                <a:cs typeface="Courier New" pitchFamily="34" charset="-120"/>
              </a:rPr>
              <a:t># occupy the new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head_i</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t1,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t1, t1, 255            </a:t>
            </a:r>
            <a:pPr indent="0" marL="0">
              <a:buNone/>
            </a:pPr>
            <a:r>
              <a:rPr lang="en-US" sz="1450" dirty="0">
                <a:solidFill>
                  <a:srgbClr val="8FB3A0"/>
                </a:solidFill>
                <a:latin typeface="Courier New" pitchFamily="34" charset="0"/>
                <a:ea typeface="Courier New" pitchFamily="34" charset="-122"/>
                <a:cs typeface="Courier New" pitchFamily="34" charset="-120"/>
              </a:rPr>
              <a:t># the ring wraps after entry 255</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s0, 0(t0)              </a:t>
            </a:r>
            <a:pPr indent="0" marL="0">
              <a:buNone/>
            </a:pPr>
            <a:r>
              <a:rPr lang="en-US" sz="1450" dirty="0">
                <a:solidFill>
                  <a:srgbClr val="8FB3A0"/>
                </a:solidFill>
                <a:latin typeface="Courier New" pitchFamily="34" charset="0"/>
                <a:ea typeface="Courier New" pitchFamily="34" charset="-122"/>
                <a:cs typeface="Courier New" pitchFamily="34" charset="-120"/>
              </a:rPr>
              <a:t># write the new head into the ring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s1, 0(t0)</a:t>
            </a:r>
            <a:endParaRPr lang="en-US" sz="14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Come nella Parte 3, fino ai due sb</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fine della funzione è nella prossima slide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step: qualcosa è cambiato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    la   t0, dirty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the screen must follow: a few cells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bnez s2, 9f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score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place_food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a2, 72                 </a:t>
            </a:r>
            <a:pPr indent="0" marL="0">
              <a:buNone/>
            </a:pPr>
            <a:r>
              <a:rPr lang="en-US" sz="1400" dirty="0">
                <a:solidFill>
                  <a:srgbClr val="8FB3A0"/>
                </a:solidFill>
                <a:latin typeface="Courier New" pitchFamily="34" charset="0"/>
                <a:ea typeface="Courier New" pitchFamily="34" charset="-122"/>
                <a:cs typeface="Courier New" pitchFamily="34" charset="-120"/>
              </a:rPr>
              <a:t># a short high 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60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play_note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9:  lw   s2, 0(sp)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s1, 4(sp)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s0, 8(sp)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1: c'è stato un passo, draw ha da fare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pasto: un punto, nuovo cibo, una nota breve e acuta</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li a2 e li a4, poi call: argomenti per contratto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game_is_over: la transizione, in un posto solo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game_is_over: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PLAY --&gt;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dirty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screen: draw everything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best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t2,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ble  t1, t2,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best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a2, 36                 </a:t>
            </a:r>
            <a:pPr indent="0" marL="0">
              <a:buNone/>
            </a:pPr>
            <a:r>
              <a:rPr lang="en-US" sz="1350" dirty="0">
                <a:solidFill>
                  <a:srgbClr val="8FB3A0"/>
                </a:solidFill>
                <a:latin typeface="Courier New" pitchFamily="34" charset="0"/>
                <a:ea typeface="Courier New" pitchFamily="34" charset="-122"/>
                <a:cs typeface="Courier New" pitchFamily="34" charset="-120"/>
              </a:rPr>
              <a:t># a long low 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400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play_note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 PLAY a OVER, e il punteggio migliore, come nella Parte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va disegnata una nuova schermata</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nota lunga e bassa: 36, per 400 millisecondi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il suono della sconfitta</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Compilate ed eseguite: il gioco appare esattamente come dopo il passo 2</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pasto suona come prima; mordersi dà una nota lunga e bassa</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Nel debugger guardate erase_x ed erase_y seguire la coda, un passo indietro</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dirty resta a 1 o 2: nessuno lo legge ancora</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Nessun cambiamento visibile: lo schermo viene ancora disegnato per intero a ogni frame. Le nuove variabili vengono scritte e non ancora usate.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Passo 4: disegnare solo ciò che è cambiato</a:t>
            </a:r>
            <a:endParaRPr lang="en-US" sz="38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Da uno schermo intero per frame a poche celle per passo.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Quanto costa un frame?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Parte 3 cancella 64 000 pixel e ridisegna il titolo, il punteggio, l'intero verme e il cibo: trenta volte al secondo</a:t>
            </a:r>
            <a:endParaRPr lang="en-US" sz="2100" dirty="0"/>
          </a:p>
        </p:txBody>
      </p:sp>
      <p:sp>
        <p:nvSpPr>
          <p:cNvPr id="5" name="Shape 3"/>
          <p:cNvSpPr/>
          <p:nvPr/>
        </p:nvSpPr>
        <p:spPr>
          <a:xfrm>
            <a:off x="548640" y="26308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3212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 due passi sullo schermo non cambia nulla, e un passo cambia pochissimo</a:t>
            </a:r>
            <a:endParaRPr lang="en-US" sz="2100" dirty="0"/>
          </a:p>
        </p:txBody>
      </p:sp>
      <p:sp>
        <p:nvSpPr>
          <p:cNvPr id="7" name="Shape 5"/>
          <p:cNvSpPr/>
          <p:nvPr/>
        </p:nvSpPr>
        <p:spPr>
          <a:xfrm>
            <a:off x="548640" y="342023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1558"/>
            <a:ext cx="6565392"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passo cambia al massimo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cella lasciata dalla coda: nera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vecchia testa: ora corpo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nuova testa, e forse il cibo e il punteggio</a:t>
            </a:r>
            <a:endParaRPr lang="en-US" sz="2100" dirty="0"/>
          </a:p>
        </p:txBody>
      </p:sp>
      <p:sp>
        <p:nvSpPr>
          <p:cNvPr id="9" name="Shape 7"/>
          <p:cNvSpPr/>
          <p:nvPr/>
        </p:nvSpPr>
        <p:spPr>
          <a:xfrm>
            <a:off x="548640" y="483069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320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Quindi: ricordare che cosa è cambiato, e disegnare solo quello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L'immagine resta sullo schermo da sola: il frame buffer è memoria</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64 000</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pixel per frame nella Parte 3; poche centinaia per passo nella Parte 4</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draw: niente, poco, o tutto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t1, 3f                 </a:t>
            </a:r>
            <a:pPr indent="0" marL="0">
              <a:buNone/>
            </a:pPr>
            <a:r>
              <a:rPr lang="en-US" sz="1450" dirty="0">
                <a:solidFill>
                  <a:srgbClr val="8FB3A0"/>
                </a:solidFill>
                <a:latin typeface="Courier New" pitchFamily="34" charset="0"/>
                <a:ea typeface="Courier New" pitchFamily="34" charset="-122"/>
                <a:cs typeface="Courier New" pitchFamily="34" charset="-120"/>
              </a:rPr>
              <a:t># nothing changed: nothing to 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t2,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  t1, t2, 1f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draw_changes           </a:t>
            </a:r>
            <a:pPr indent="0" marL="0">
              <a:buNone/>
            </a:pPr>
            <a:r>
              <a:rPr lang="en-US" sz="1450" dirty="0">
                <a:solidFill>
                  <a:srgbClr val="8FB3A0"/>
                </a:solidFill>
                <a:latin typeface="Courier New" pitchFamily="34" charset="0"/>
                <a:ea typeface="Courier New" pitchFamily="34" charset="-122"/>
                <a:cs typeface="Courier New" pitchFamily="34" charset="-120"/>
              </a:rPr>
              <a:t># one step: a few cells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j    2f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1:  call draw_full              </a:t>
            </a:r>
            <a:pPr indent="0" marL="0">
              <a:buNone/>
            </a:pPr>
            <a:r>
              <a:rPr lang="en-US" sz="1450" dirty="0">
                <a:solidFill>
                  <a:srgbClr val="8FB3A0"/>
                </a:solidFill>
                <a:latin typeface="Courier New" pitchFamily="34" charset="0"/>
                <a:ea typeface="Courier New" pitchFamily="34" charset="-122"/>
                <a:cs typeface="Courier New" pitchFamily="34" charset="-120"/>
              </a:rPr>
              <a:t># a new screen: everything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2: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3:  ret</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dirty = 0: ritorno immediato, niente frame né chiamate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dirty = 1: c'è stato un passo, disegna i cambiamenti</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dirty = 2: una nuova schermata, disegna tutto</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Il flag viene azzerato appena letto</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draw_changes: tre celle e il punteggio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draw_changes: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cell the tail has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old_x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old_y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old head is now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La cella lasciata dalla coda, se c'è: nera</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La vecchia testa: colore del corpo</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Poi la nuova testa, il cibo, il punteggio</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L'ordine conta: la testa si disegna dopo la cancellazione</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draw_full: una schermata intera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draw_full: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draw_score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1f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132                </a:t>
            </a:r>
            <a:pPr indent="0" marL="0">
              <a:buNone/>
            </a:pPr>
            <a:r>
              <a:rPr lang="en-US" sz="1500" dirty="0">
                <a:solidFill>
                  <a:srgbClr val="8FB3A0"/>
                </a:solidFill>
                <a:latin typeface="Courier New" pitchFamily="34" charset="0"/>
                <a:ea typeface="Courier New" pitchFamily="34" charset="-122"/>
                <a:cs typeface="Courier New" pitchFamily="34" charset="-120"/>
              </a:rPr>
              <a:t># TITLE: only an invitation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press_a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2f</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corpo della vecchia verm1_draw</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punteggio si disegna anche nella schermata del titolo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TITLE: l'invito, e nient'altro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draw_full: PLAY e OVER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1:  call draw_worm              </a:t>
            </a:r>
            <a:pPr indent="0" marL="0">
              <a:buNone/>
            </a:pPr>
            <a:r>
              <a:rPr lang="en-US" sz="1500" dirty="0">
                <a:solidFill>
                  <a:srgbClr val="8FB3A0"/>
                </a:solidFill>
                <a:latin typeface="Courier New" pitchFamily="34" charset="0"/>
                <a:ea typeface="Courier New" pitchFamily="34" charset="-122"/>
                <a:cs typeface="Courier New" pitchFamily="34" charset="-120"/>
              </a:rPr>
              <a:t># PLAY and OVER: the whole scene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draw_food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2f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124</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game_over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2: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verme e il cibo, con le loro funzioni</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aggiunge le due parole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draw_head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draw_head: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head_i</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testa è la voce head_i dell'anello</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cella, verde brillante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draw_food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draw_food: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RED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 tre righe che stavano dentro draw</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Ora hanno un nome, e due chiamanti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draw_text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draw_text:                      </a:t>
            </a:r>
            <a:pPr indent="0" marL="0">
              <a:buNone/>
            </a:pPr>
            <a:r>
              <a:rPr lang="en-US" sz="1300" dirty="0">
                <a:solidFill>
                  <a:srgbClr val="8FB3A0"/>
                </a:solidFill>
                <a:latin typeface="Courier New" pitchFamily="34" charset="0"/>
                <a:ea typeface="Courier New" pitchFamily="34" charset="-122"/>
                <a:cs typeface="Courier New" pitchFamily="34" charset="-120"/>
              </a:rPr>
              <a:t># a0 = x, a1 = y, a2 = address of the string</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prg32_gfx_text8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funzione di servizio della Parte 3, in una slide tutta sua</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init: chiedere la prima schermata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.section .text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verm1_update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            </a:t>
            </a:r>
            <a:pPr indent="0" marL="0">
              <a:buNone/>
            </a:pPr>
            <a:r>
              <a:rPr lang="en-US" sz="1450" dirty="0">
                <a:solidFill>
                  <a:srgbClr val="8FB3A0"/>
                </a:solidFill>
                <a:latin typeface="Courier New" pitchFamily="34" charset="0"/>
                <a:ea typeface="Courier New" pitchFamily="34" charset="-122"/>
                <a:cs typeface="Courier New" pitchFamily="34" charset="-120"/>
              </a:rPr>
              <a:t># start on the title screen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prev_btn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t1,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              </a:t>
            </a:r>
            <a:pPr indent="0" marL="0">
              <a:buNone/>
            </a:pPr>
            <a:r>
              <a:rPr lang="en-US" sz="1450" dirty="0">
                <a:solidFill>
                  <a:srgbClr val="8FB3A0"/>
                </a:solidFill>
                <a:latin typeface="Courier New" pitchFamily="34" charset="0"/>
                <a:ea typeface="Courier New" pitchFamily="34" charset="-122"/>
                <a:cs typeface="Courier New" pitchFamily="34" charset="-120"/>
              </a:rPr>
              <a:t># draw the whole title screen, once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la schermata del titolo va disegnata una volta</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update: un nuovo stato è una nuova schermata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t1, 0(t0)              </a:t>
            </a:r>
            <a:pPr indent="0" marL="0">
              <a:buNone/>
            </a:pPr>
            <a:r>
              <a:rPr lang="en-US" sz="1150" dirty="0">
                <a:solidFill>
                  <a:srgbClr val="8FB3A0"/>
                </a:solidFill>
                <a:latin typeface="Courier New" pitchFamily="34" charset="0"/>
                <a:ea typeface="Courier New" pitchFamily="34" charset="-122"/>
                <a:cs typeface="Courier New" pitchFamily="34" charset="-120"/>
              </a:rPr>
              <a:t># t1 = present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andi t3, s1, BTN_A          </a:t>
            </a:r>
            <a:pPr indent="0" marL="0">
              <a:buNone/>
            </a:pPr>
            <a:r>
              <a:rPr lang="en-US" sz="1150" dirty="0">
                <a:solidFill>
                  <a:srgbClr val="8FB3A0"/>
                </a:solidFill>
                <a:latin typeface="Courier New" pitchFamily="34" charset="0"/>
                <a:ea typeface="Courier New" pitchFamily="34" charset="-122"/>
                <a:cs typeface="Courier New" pitchFamily="34" charset="-120"/>
              </a:rPr>
              <a:t># TITLE or OVER: wait for a new press of A</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t2, 0(t0)              </a:t>
            </a:r>
            <a:pPr indent="0" marL="0">
              <a:buNone/>
            </a:pPr>
            <a:r>
              <a:rPr lang="en-US" sz="1150" dirty="0">
                <a:solidFill>
                  <a:srgbClr val="8FB3A0"/>
                </a:solidFill>
                <a:latin typeface="Courier New" pitchFamily="34" charset="0"/>
                <a:ea typeface="Courier New" pitchFamily="34" charset="-122"/>
                <a:cs typeface="Courier New" pitchFamily="34" charset="-120"/>
              </a:rPr>
              <a:t># OVER --A--&gt;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dirty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t1, 0(t0)              </a:t>
            </a:r>
            <a:pPr indent="0" marL="0">
              <a:buNone/>
            </a:pPr>
            <a:r>
              <a:rPr lang="en-US" sz="1150" dirty="0">
                <a:solidFill>
                  <a:srgbClr val="8FB3A0"/>
                </a:solidFill>
                <a:latin typeface="Courier New" pitchFamily="34" charset="0"/>
                <a:ea typeface="Courier New" pitchFamily="34" charset="-122"/>
                <a:cs typeface="Courier New" pitchFamily="34" charset="-120"/>
              </a:rPr>
              <a:t># a new screen: draw everything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new_game               </a:t>
            </a:r>
            <a:pPr indent="0" marL="0">
              <a:buNone/>
            </a:pPr>
            <a:r>
              <a:rPr lang="en-US" sz="1150" dirty="0">
                <a:solidFill>
                  <a:srgbClr val="8FB3A0"/>
                </a:solidFill>
                <a:latin typeface="Courier New" pitchFamily="34" charset="0"/>
                <a:ea typeface="Courier New" pitchFamily="34" charset="-122"/>
                <a:cs typeface="Courier New" pitchFamily="34" charset="-120"/>
              </a:rPr>
              <a:t># TITLE --A--&gt;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mv   a0, s0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play_update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s1, 4(sp)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s0, 8(sp)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 OVER a TITLE: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 aggiungono tre righe, dopo lo store dello stato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new_game: e anche qui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    la   t0, head_i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the head is entry 2 of the ring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length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step_q8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place_food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dirty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a new screen: draw everything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 TITLE a PLAY: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 aggiungono tre righe, prima del ritorno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il Verm1 finito</a:t>
            </a:r>
            <a:endParaRPr lang="en-US" sz="3200" dirty="0"/>
          </a:p>
        </p:txBody>
      </p:sp>
      <p:sp>
        <p:nvSpPr>
          <p:cNvPr id="3" name="Shape 1"/>
          <p:cNvSpPr/>
          <p:nvPr/>
        </p:nvSpPr>
        <p:spPr>
          <a:xfrm>
            <a:off x="548640" y="1417320"/>
            <a:ext cx="5410048"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4_play.png">    </p:cNvPr>
          <p:cNvPicPr>
            <a:picLocks noChangeAspect="1"/>
          </p:cNvPicPr>
          <p:nvPr/>
        </p:nvPicPr>
        <p:blipFill>
          <a:blip r:embed="rId1"/>
          <a:stretch>
            <a:fillRect/>
          </a:stretch>
        </p:blipFill>
        <p:spPr>
          <a:xfrm>
            <a:off x="803072" y="1554480"/>
            <a:ext cx="4901184" cy="3063240"/>
          </a:xfrm>
          <a:prstGeom prst="rect">
            <a:avLst/>
          </a:prstGeom>
        </p:spPr>
      </p:pic>
      <p:sp>
        <p:nvSpPr>
          <p:cNvPr id="5" name="Text 2"/>
          <p:cNvSpPr txBox="1"/>
          <p:nvPr/>
        </p:nvSpPr>
        <p:spPr>
          <a:xfrm>
            <a:off x="685800"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Punteggio 004, sette celle</a:t>
            </a:r>
            <a:endParaRPr lang="en-US" sz="1500" dirty="0"/>
          </a:p>
        </p:txBody>
      </p:sp>
      <p:sp>
        <p:nvSpPr>
          <p:cNvPr id="6" name="Shape 3"/>
          <p:cNvSpPr/>
          <p:nvPr/>
        </p:nvSpPr>
        <p:spPr>
          <a:xfrm>
            <a:off x="6233008" y="1417320"/>
            <a:ext cx="5410048" cy="3931920"/>
          </a:xfrm>
          <a:prstGeom prst="roundRect">
            <a:avLst>
              <a:gd name="adj" fmla="val 1860"/>
            </a:avLst>
          </a:prstGeom>
          <a:solidFill>
            <a:srgbClr val="EEF2F4"/>
          </a:solidFill>
          <a:ln w="12700">
            <a:solidFill>
              <a:srgbClr val="EEF2F4"/>
            </a:solidFill>
            <a:prstDash val="solid"/>
          </a:ln>
        </p:spPr>
      </p:sp>
      <p:pic>
        <p:nvPicPr>
          <p:cNvPr id="7" name="Image 1" descr="/Users/raffaelemontella/devel/riscv-prg32/computer-architecture-with-prg32/tools/assets/verm1_p4_over.png">    </p:cNvPr>
          <p:cNvPicPr>
            <a:picLocks noChangeAspect="1"/>
          </p:cNvPicPr>
          <p:nvPr/>
        </p:nvPicPr>
        <p:blipFill>
          <a:blip r:embed="rId2"/>
          <a:stretch>
            <a:fillRect/>
          </a:stretch>
        </p:blipFill>
        <p:spPr>
          <a:xfrm>
            <a:off x="6487439" y="1554480"/>
            <a:ext cx="4901184" cy="3063240"/>
          </a:xfrm>
          <a:prstGeom prst="rect">
            <a:avLst/>
          </a:prstGeom>
        </p:spPr>
      </p:pic>
      <p:sp>
        <p:nvSpPr>
          <p:cNvPr id="8" name="Text 4"/>
          <p:cNvSpPr txBox="1"/>
          <p:nvPr/>
        </p:nvSpPr>
        <p:spPr>
          <a:xfrm>
            <a:off x="6370168"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La fine di una partita</a:t>
            </a:r>
            <a:endParaRPr lang="en-US" sz="1500" dirty="0"/>
          </a:p>
        </p:txBody>
      </p:sp>
      <p:sp>
        <p:nvSpPr>
          <p:cNvPr id="9" name="Text 5"/>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Atteso: lo stesso gioco di dopo il passo 3, pixel per pixel. Se vedete scie o buchi, un cambiamento non è stato annotato: usate il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Passo 5: misurare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PRG32-QT come strumento: contare prima di credere.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Prima e dopo, con i numeri</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Eseguite il gioco finito in modalità debug e avviate una partita</a:t>
            </a:r>
            <a:endParaRPr lang="en-US" sz="2200" dirty="0"/>
          </a:p>
        </p:txBody>
      </p:sp>
      <p:sp>
        <p:nvSpPr>
          <p:cNvPr id="5" name="Text 3"/>
          <p:cNvSpPr txBox="1"/>
          <p:nvPr/>
        </p:nvSpPr>
        <p:spPr>
          <a:xfrm>
            <a:off x="548640" y="205597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3769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Leggete la telemetria per dieci secondi di gioco: istruzioni eseguite, frame al secondo, frame in ritardo</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Confrontate con i numeri annotati per la Parte 3 all'inizio di questa lezione</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Fate crescere il verme fino a venti celle in entrambe le versioni e rileggete: un numero cresce con il verme, l'altro no</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Mettete un breakpoint sulla prima istruzione di draw_changes: si ferma una volta per passo, non una volta per frame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Scrivete i quattro numeri nei vostri appunti: andranno nella descrizione del gioco nella Lezione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Seguire una chiamata con il debugger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Fermatevi su call to_decimal dentro draw_score e leggete a0, a1, ra e sp</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passo: il PC salta dentro to_decimal, e ra ora contiene l'indirizzo dell'istruzione dopo la chiamata</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Proseguite passo-passo: cambiano solo i registri t e a0; sp non si muove mai. Una funzione foglia</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ret il PC prende il valore di ra: siete di nuovo in draw_score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Ora fate lo stesso con call draw_text: sp scende di 16, ra viene memorizzato a 12(sp), e torna</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listato, registri, memoria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to_decimal riceve a0 = 205. Quali byte memorizza, dallo scostamento 0 al 2?</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02 00 05</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32 30 35</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35 30 32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cd 00 00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A quale punteggio il verme fa un passo ogni 4 frame?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16</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dirty vale 0 quando viene chiamata verm1_draw. Quante istruzioni macchina esegue?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5</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circa 50</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migliaia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Perché to_decimal può fare a meno di uno stack frame?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è corta</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non chiama funzioni e usa solo registri a e t</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non ha argomenti</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 frame sono facoltativi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Fatelo vostro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Una pausa: il pulsante B ferma il gioco e scrive PAUSE; di nuovo B lo riprende. Un quarto stato</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Una melodia nella schermata del titolo: una tabella di note in .rodata, una nota ogni 15 frame</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Cibo bonus: un pezzo su cinque è giallo, vale tre punti, e scompare dopo 100 frame</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 vostri colori con prg32_palette_set, o le vostre regole: ora il gioco è vostro</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 versione che pubblicherete nella Lezione 23 dovrebbe avere qualcosa di vostro. Cambiate anche la stringa del titolo.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Appendice: le funzioni che non sono cambiate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Otto parti del file sono quelle della Parte 3: tenetele come sono</a:t>
            </a:r>
            <a:endParaRPr lang="en-US" sz="2400" dirty="0"/>
          </a:p>
        </p:txBody>
      </p:sp>
      <p:sp>
        <p:nvSpPr>
          <p:cNvPr id="5" name="Shape 3"/>
          <p:cNvSpPr/>
          <p:nvPr/>
        </p:nvSpPr>
        <p:spPr>
          <a:xfrm>
            <a:off x="548640" y="2551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925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Sono nelle prossime slide, così questa presentazione contiene l'intero programma</a:t>
            </a:r>
            <a:endParaRPr lang="en-US" sz="2400" dirty="0"/>
          </a:p>
        </p:txBody>
      </p:sp>
      <p:sp>
        <p:nvSpPr>
          <p:cNvPr id="7" name="Shape 5"/>
          <p:cNvSpPr/>
          <p:nvPr/>
        </p:nvSpPr>
        <p:spPr>
          <a:xfrm>
            <a:off x="548640" y="375208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016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update, new_game (prima metà), play_update (sterzata), step (ricerca in tabella), place_food, draw_worm, draw_cell, .rodata</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update: pulsanti e fronti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8(sp)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s1, 4(sp)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s0, a0                 </a:t>
            </a:r>
            <a:pPr indent="0" marL="0">
              <a:buNone/>
            </a:pPr>
            <a:r>
              <a:rPr lang="en-US" sz="1500" dirty="0">
                <a:solidFill>
                  <a:srgbClr val="8FB3A0"/>
                </a:solidFill>
                <a:latin typeface="Courier New" pitchFamily="34" charset="0"/>
                <a:ea typeface="Courier New" pitchFamily="34" charset="-122"/>
                <a:cs typeface="Courier New" pitchFamily="34" charset="-120"/>
              </a:rPr>
              <a:t># s0 = buttons held in this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prev_btn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buttons held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not  t1,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  s1, s0, t1             </a:t>
            </a:r>
            <a:pPr indent="0" marL="0">
              <a:buNone/>
            </a:pPr>
            <a:r>
              <a:rPr lang="en-US" sz="1500" dirty="0">
                <a:solidFill>
                  <a:srgbClr val="8FB3A0"/>
                </a:solidFill>
                <a:latin typeface="Courier New" pitchFamily="34" charset="0"/>
                <a:ea typeface="Courier New" pitchFamily="34" charset="-122"/>
                <a:cs typeface="Courier New" pitchFamily="34" charset="-120"/>
              </a:rPr>
              <a:t># s1 = buttons pressed just now</a:t>
            </a:r>
            <a:endParaRPr lang="en-US" sz="15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rilevatore di fronte della Parte 3</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new_game: la mappa e il verme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new_game: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COLS*ROWS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sb   zero, 0(t0)            </a:t>
            </a:r>
            <a:pPr indent="0" marL="0">
              <a:buNone/>
            </a:pPr>
            <a:r>
              <a:rPr lang="en-US" sz="1150" dirty="0">
                <a:solidFill>
                  <a:srgbClr val="8FB3A0"/>
                </a:solidFill>
                <a:latin typeface="Courier New" pitchFamily="34" charset="0"/>
                <a:ea typeface="Courier New" pitchFamily="34" charset="-122"/>
                <a:cs typeface="Courier New" pitchFamily="34" charset="-120"/>
              </a:rPr>
              <a:t># empty the grid, one byte per cell</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t0, t0,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bnez t1, 1b</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0                  </a:t>
            </a:r>
            <a:pPr indent="0" marL="0">
              <a:buNone/>
            </a:pPr>
            <a:r>
              <a:rPr lang="en-US" sz="1150" dirty="0">
                <a:solidFill>
                  <a:srgbClr val="8FB3A0"/>
                </a:solidFill>
                <a:latin typeface="Courier New" pitchFamily="34" charset="0"/>
                <a:ea typeface="Courier New" pitchFamily="34" charset="-122"/>
                <a:cs typeface="Courier New" pitchFamily="34" charset="-120"/>
              </a:rPr>
              <a:t># i = 0, 1, 2: three cells in row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t2, t1,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t2, 0(t0)              </a:t>
            </a:r>
            <a:pPr indent="0" marL="0">
              <a:buNone/>
            </a:pPr>
            <a:r>
              <a:rPr lang="en-US" sz="1150" dirty="0">
                <a:solidFill>
                  <a:srgbClr val="8FB3A0"/>
                </a:solidFill>
                <a:latin typeface="Courier New" pitchFamily="34" charset="0"/>
                <a:ea typeface="Courier New" pitchFamily="34" charset="-122"/>
                <a:cs typeface="Courier New" pitchFamily="34" charset="-120"/>
              </a:rPr>
              <a:t># columns 3, 4, 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grid+12*COLS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              </a:t>
            </a:r>
            <a:pPr indent="0" marL="0">
              <a:buNone/>
            </a:pPr>
            <a:r>
              <a:rPr lang="en-US" sz="1150" dirty="0">
                <a:solidFill>
                  <a:srgbClr val="8FB3A0"/>
                </a:solidFill>
                <a:latin typeface="Courier New" pitchFamily="34" charset="0"/>
                <a:ea typeface="Courier New" pitchFamily="34" charset="-122"/>
                <a:cs typeface="Courier New" pitchFamily="34" charset="-120"/>
              </a:rPr>
              <a:t># mark the cell as occupied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t1, t3, 2b</a:t>
            </a:r>
            <a:endParaRPr lang="en-US" sz="11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prima metà di new_game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play_update: la sterzata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play_update:                    </a:t>
            </a:r>
            <a:pPr indent="0" marL="0">
              <a:buNone/>
            </a:pPr>
            <a:r>
              <a:rPr lang="en-US" sz="1200" dirty="0">
                <a:solidFill>
                  <a:srgbClr val="8FB3A0"/>
                </a:solidFill>
                <a:latin typeface="Courier New" pitchFamily="34" charset="0"/>
                <a:ea typeface="Courier New" pitchFamily="34" charset="-122"/>
                <a:cs typeface="Courier New" pitchFamily="34" charset="-120"/>
              </a:rPr>
              <a:t># a0 = buttons held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direction of the last step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              </a:t>
            </a:r>
            <a:pPr indent="0" marL="0">
              <a:buNone/>
            </a:pPr>
            <a:r>
              <a:rPr lang="en-US" sz="1200" dirty="0">
                <a:solidFill>
                  <a:srgbClr val="8FB3A0"/>
                </a:solidFill>
                <a:latin typeface="Courier New" pitchFamily="34" charset="0"/>
                <a:ea typeface="Courier New" pitchFamily="34" charset="-122"/>
                <a:cs typeface="Courier New" pitchFamily="34" charset="-120"/>
              </a:rPr>
              <a:t># t2 = wanted direction, so far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t3, a0, BTN_RIGHT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andi t3, a0, BTN_DOWN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andi t3, a0, BTN_LEFT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3f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3:  andi t3, a0, BTN_UP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4f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4:  xor  t3, t2, t1             </a:t>
            </a:r>
            <a:pPr indent="0" marL="0">
              <a:buNone/>
            </a:pPr>
            <a:r>
              <a:rPr lang="en-US" sz="1200" dirty="0">
                <a:solidFill>
                  <a:srgbClr val="8FB3A0"/>
                </a:solidFill>
                <a:latin typeface="Courier New" pitchFamily="34" charset="0"/>
                <a:ea typeface="Courier New" pitchFamily="34" charset="-122"/>
                <a:cs typeface="Courier New" pitchFamily="34" charset="-120"/>
              </a:rPr>
              <a:t># opposite directions differ in bit 1 only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t4,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  t3, t4, 5f             </a:t>
            </a:r>
            <a:pPr indent="0" marL="0">
              <a:buNone/>
            </a:pPr>
            <a:r>
              <a:rPr lang="en-US" sz="1200" dirty="0">
                <a:solidFill>
                  <a:srgbClr val="8FB3A0"/>
                </a:solidFill>
                <a:latin typeface="Courier New" pitchFamily="34" charset="0"/>
                <a:ea typeface="Courier New" pitchFamily="34" charset="-122"/>
                <a:cs typeface="Courier New" pitchFamily="34" charset="-120"/>
              </a:rPr>
              <a:t># a U-turn: ignore the request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5:</a:t>
            </a:r>
            <a:endParaRPr lang="en-US" sz="12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 maschere e la regola dell'inversione a U della Parte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step: la ricerca in tabella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              </a:t>
            </a:r>
            <a:pPr indent="0" marL="0">
              <a:buNone/>
            </a:pPr>
            <a:r>
              <a:rPr lang="en-US" sz="1300" dirty="0">
                <a:solidFill>
                  <a:srgbClr val="8FB3A0"/>
                </a:solidFill>
                <a:latin typeface="Courier New" pitchFamily="34" charset="0"/>
                <a:ea typeface="Courier New" pitchFamily="34" charset="-122"/>
                <a:cs typeface="Courier New" pitchFamily="34" charset="-120"/>
              </a:rPr>
              <a:t># s0 = column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s1, 4(sp)              </a:t>
            </a:r>
            <a:pPr indent="0" marL="0">
              <a:buNone/>
            </a:pPr>
            <a:r>
              <a:rPr lang="en-US" sz="1300" dirty="0">
                <a:solidFill>
                  <a:srgbClr val="8FB3A0"/>
                </a:solidFill>
                <a:latin typeface="Courier New" pitchFamily="34" charset="0"/>
                <a:ea typeface="Courier New" pitchFamily="34" charset="-122"/>
                <a:cs typeface="Courier New" pitchFamily="34" charset="-120"/>
              </a:rPr>
              <a:t># s1 = row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s2, 0(sp)              </a:t>
            </a:r>
            <a:pPr indent="0" marL="0">
              <a:buNone/>
            </a:pPr>
            <a:r>
              <a:rPr lang="en-US" sz="1300" dirty="0">
                <a:solidFill>
                  <a:srgbClr val="8FB3A0"/>
                </a:solidFill>
                <a:latin typeface="Courier New" pitchFamily="34" charset="0"/>
                <a:ea typeface="Courier New" pitchFamily="34" charset="-122"/>
                <a:cs typeface="Courier New" pitchFamily="34" charset="-120"/>
              </a:rPr>
              <a:t># s2 = 0 when the worm eats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frame e le tabelle dx, dy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place_food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COLS-1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mv   s0, a0                 </a:t>
            </a:r>
            <a:pPr indent="0" marL="0">
              <a:buNone/>
            </a:pPr>
            <a:r>
              <a:rPr lang="en-US" sz="1100" dirty="0">
                <a:solidFill>
                  <a:srgbClr val="8FB3A0"/>
                </a:solidFill>
                <a:latin typeface="Courier New" pitchFamily="34" charset="0"/>
                <a:ea typeface="Courier New" pitchFamily="34" charset="-122"/>
                <a:cs typeface="Courier New" pitchFamily="34" charset="-120"/>
              </a:rPr>
              <a:t># s0 = a column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ROWS-1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100" dirty="0">
                <a:solidFill>
                  <a:srgbClr val="8FB3A0"/>
                </a:solidFill>
                <a:latin typeface="Courier New" pitchFamily="34" charset="0"/>
                <a:ea typeface="Courier New" pitchFamily="34" charset="-122"/>
                <a:cs typeface="Courier New" pitchFamily="34" charset="-120"/>
              </a:rPr>
              <a:t># a0 = a row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t1, COLS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mul  t2, a0,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t2, t2,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grid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t3, 1b                 </a:t>
            </a:r>
            <a:pPr indent="0" marL="0">
              <a:buNone/>
            </a:pPr>
            <a:r>
              <a:rPr lang="en-US" sz="1100" dirty="0">
                <a:solidFill>
                  <a:srgbClr val="8FB3A0"/>
                </a:solidFill>
                <a:latin typeface="Courier New" pitchFamily="34" charset="0"/>
                <a:ea typeface="Courier New" pitchFamily="34" charset="-122"/>
                <a:cs typeface="Courier New" pitchFamily="34" charset="-120"/>
              </a:rPr>
              <a:t># on the worm: try again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cella libera a caso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draw_worm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draw_worm:</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s0, 0                  </a:t>
            </a:r>
            <a:pPr indent="0" marL="0">
              <a:buNone/>
            </a:pPr>
            <a:r>
              <a:rPr lang="en-US" sz="1000" dirty="0">
                <a:solidFill>
                  <a:srgbClr val="8FB3A0"/>
                </a:solidFill>
                <a:latin typeface="Courier New" pitchFamily="34" charset="0"/>
                <a:ea typeface="Courier New" pitchFamily="34" charset="-122"/>
                <a:cs typeface="Courier New" pitchFamily="34" charset="-120"/>
              </a:rPr>
              <a:t># s0 = i: segment 0 is the head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1: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s0, t1, 3f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segment 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a0,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BODY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s0, 2f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GREEN              </a:t>
            </a:r>
            <a:pPr indent="0" marL="0">
              <a:buNone/>
            </a:pPr>
            <a:r>
              <a:rPr lang="en-US" sz="1000" dirty="0">
                <a:solidFill>
                  <a:srgbClr val="8FB3A0"/>
                </a:solidFill>
                <a:latin typeface="Courier New" pitchFamily="34" charset="0"/>
                <a:ea typeface="Courier New" pitchFamily="34" charset="-122"/>
                <a:cs typeface="Courier New" pitchFamily="34" charset="-120"/>
              </a:rPr>
              <a:t># the head is brighter</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2:  call draw_cell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s0, s0,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1b</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3:  lw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ret</a:t>
            </a:r>
            <a:endParaRPr lang="en-US" sz="10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Usata solo da draw_full, una volta per nuova schermata</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draw_cell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Dalle celle ai pixel, dalla Parte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.rodata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.section .rodata                </a:t>
            </a:r>
            <a:pPr indent="0" marL="0">
              <a:buNone/>
            </a:pPr>
            <a:r>
              <a:rPr lang="en-US" sz="1300" dirty="0">
                <a:solidFill>
                  <a:srgbClr val="8FB3A0"/>
                </a:solidFill>
                <a:latin typeface="Courier New" pitchFamily="34" charset="0"/>
                <a:ea typeface="Courier New" pitchFamily="34" charset="-122"/>
                <a:cs typeface="Courier New" pitchFamily="34" charset="-120"/>
              </a:rPr>
              <a:t># constants: they stay in the cartridge file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title:     .asciz "VERM1"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press_a:   .asciz "PRESS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game_over: .asciz "GAME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dx:        .word  1, 0, -1,  0  </a:t>
            </a:r>
            <a:pPr indent="0" marL="0">
              <a:buNone/>
            </a:pPr>
            <a:r>
              <a:rPr lang="en-US" sz="1300" dirty="0">
                <a:solidFill>
                  <a:srgbClr val="8FB3A0"/>
                </a:solidFill>
                <a:latin typeface="Courier New" pitchFamily="34" charset="0"/>
                <a:ea typeface="Courier New" pitchFamily="34" charset="-122"/>
                <a:cs typeface="Courier New" pitchFamily="34" charset="-120"/>
              </a:rPr>
              <a:t># right, down, left, up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dy:        .word  0, 1,  0, -1</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Stringhe e tabelle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siamo, e che cosa viene dopo</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è finito: circa seicento righe di assembly RISC-V, tutte vostre</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cominciato come tre funzioni che ritornano, ed è cresciuto un passo eseguibile alla volta</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Dentro c'è ogni lezione del corso: numeri, logica, stato, memoria, chiamate, pixel, dispositivi</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programma che solo il suo autore può eseguire è finito a metà</a:t>
            </a:r>
            <a:endParaRPr lang="en-US" sz="2200" dirty="0"/>
          </a:p>
        </p:txBody>
      </p:sp>
      <p:sp>
        <p:nvSpPr>
          <p:cNvPr id="11" name="Shape 9"/>
          <p:cNvSpPr/>
          <p:nvPr/>
        </p:nvSpPr>
        <p:spPr>
          <a:xfrm>
            <a:off x="548640" y="54973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908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Lezione 23: un nome, un'icona, i crediti, un bundle per due architetture, e il Cartridge Store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4: il gioco finito</dc:title>
  <dc:subject>Lezione 22</dc:subject>
  <dc:creator>Raffaele Montella</dc:creator>
  <cp:lastModifiedBy>Raffaele Montella</cp:lastModifiedBy>
  <cp:revision>1</cp:revision>
  <dcterms:created xsi:type="dcterms:W3CDTF">2026-10-12T11:28:41Z</dcterms:created>
  <dcterms:modified xsi:type="dcterms:W3CDTF">2026-10-12T11:28:41Z</dcterms:modified>
</cp:coreProperties>
</file>