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4c2209d7-1b81-9502-087c-1c4df962fda9}">
          <p14:sldIdLst>
            <p14:sldId id="256"/>
            <p14:sldId id="257"/>
          </p14:sldIdLst>
        </p14:section>
        <p14:section name="I listati" id="{91d9bad8-551c-4289-cb46-d1beac12b9d4}">
          <p14:sldIdLst>
            <p14:sldId id="258"/>
          </p14:sldIdLst>
        </p14:section>
        <p14:section name="Passo 1: nomi per i bit" id="{a65f0b10-5fcf-5803-af83-cc5bf3a44539}">
          <p14:sldIdLst>
            <p14:sldId id="259"/>
            <p14:sldId id="260"/>
          </p14:sldIdLst>
        </p14:section>
        <p14:section name="Passo 2: la guida" id="{5fe01658-a7b2-cd22-1970-29d8dbda862c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Passo 3: il cibo, un punteggio, un suono" id="{8a8127a7-c311-306b-033e-997c9470b0b4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Eseguire e provare" id="{d350eef5-c4e2-80f0-0369-bad5d6fb79e8}">
          <p14:sldIdLst>
            <p14:sldId id="275"/>
            <p14:sldId id="276"/>
            <p14:sldId id="277"/>
            <p14:sldId id="278"/>
            <p14:sldId id="279"/>
          </p14:sldIdLst>
        </p14:section>
        <p14:section name="Esercizi" id="{6c4189b2-ba38-ee9c-4288-020a33bfd408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12. La presentazione della lezione contiene i concetti; questa contiene tutto ciò che si scrive e si esegue: i listati con la loro spiegazione, il programma completo, che cosa mostra, e il modo di provarlo su ciascuno dei tre host.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le maschere di bit; i codici; gli array in memoria; gli ingressi con pull-up; l'algebra di Boole; la virgola fissa; i multiplexer; istruzioni con o senza segno; comparatori e parità; gli argomenti in a0 ... a7. DA UTILIZZARE OGGI: la convenzione di chiamata (Lezione 18) e, usati senza essere studiati nel corso, gli strumenti di PRG32, le chiamate del runtime PRG32, il debugger di PRG32-QT. DA COMPRENDERE PIÙ AVANTI: niente.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riferimento è ~/arc12/verm1/verm1_part2.S; tools/tests/verm1_check.py lo compila e lo gioca con un giocatore programmato, e verm1_steps.py esegue i punti di controllo intermedi.
Per il docente: Procurarsi il codice una volta: git clone https://github.com/riscv-prg32/computer-architecture-with-prg32 ~/arc12. Il programma di riferimento è ~/arc12/verm1/verm1_part2.S; tools/tests/verm1_check.py lo compila e lo gioca con un giocatore programmato, e verm1_steps.py esegue i punti di controllo intermedi.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Gli stessi due comandi della Parte 1: compilare la cartuccia, poi caricarla su PRG32-QT ed eseguirla. Tenete aperto PRG32-QT per tutta la seduta, con la modalità debug attiva se volete il debugger a portata di mano: lo usa il passo 4.
DA UTILIZZARE OGGI: gli strumenti di PRG32 (si usa, non si studia, in questo corso).
Per il docente: Gli stessi due comandi della Parte 1. PRG32-QT deve essere in esecuzione, con Run cartridges in RISC-V debug mode attivo in Settings se si vuole il debugger.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Aggiungete queste righe alle costanti della Parte 1. RED è il colore del cibo. Le quattro costanti BTN_ sono maschere: ognuna ha un solo bit a 1, il bit di quel pulsante nella parola restituita dal runtime. Le quattro costanti DIR_ sono i codici delle direzioni, numeri da 0 a 3, cioè due bit. I commenti dicono che cosa significa ciascuno dei due bit, e la presentazione della lezione, nella slide «Un codice scelto con cura», spiega perché i codici sono stati scelti così.
DA COMPRENDERE OGGI: le maschere di bit.
Per il docente: Aggiungete alle costanti della Parte 1 la riga di RED e quelle da BTN_LEFT a DIR_UP.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Sostituite con questi i dati della Parte 1. In .rodata ci sono due tabelle di quattro parole, dx e dy: per ogni codice di direzione, la variazione di colonna e la variazione di riga. Non cambiano mai, quindi stanno con le costanti. In .data ci sono cinque variabili nuove: dir, la direzione dell'ultimo passo; want, la direzione chiesta dal giocatore; e score, food_x e food_y, che si usano nel passo 3.
DA COMPRENDERE OGGI: gli array in memoria.
Per il docente: Sostituite con questi i dati della Parte 1. I valori iniziali bastano per il passo 2: init si completa nel passo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Sostituisce l'inizio di verm1_update. Dopo la chiamata a prg32_input_read, t1 riceve la direzione corrente e t2 il desiderio corrente. Poi quattro blocchi identici: andi isola un pulsante; se il risultato è zero si salta l'istruzione successiva; altrimenti il desiderio in t2 viene sovrascritto con quella direzione. Infine la regola: lo XOR di desiderio e direzione si confronta con 2; se sono uguali la richiesta è un'inversione a U e la sw viene saltata, così resta il desiderio precedente. update ora fa una chiamata, quindi ha un frame di stack.
DA COMPRENDERE OGGI: le maschere di bit.
Per il docente: Sostituisce l'inizio di verm1_update. update ora chiama una funzione, quindi le serve un frame di stack. Con due pulsanti premuti vince l'ultimo test: UP batte LEFT che batte DOWN che batte RIGHT. Il desiderio del giocatore è memorizzato in want e diventa la direzione solo al passo successivo: così due pressioni rapide non possono ripiegare il verme su se stesso.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resto di verm1_update è il timer in virgola fissa della Parte 1, invariato: si somma la velocità, e quando si è accumulata una cella intera si sottrae 256. L'unica differenza è ciò che accade dopo: invece di muovere direttamente head_x, il codice chiama una funzione nuova, step. Qui le etichette locali sono 6 e 7 perché i numeri da 1 a 5 sono già usati nella prima metà della funzione.
DA COMPRENDERE OGGI: la virgola fissa.
Per il docente: È il resto di verm1_update. Le righe che nella Parte 1 muovevano head_x sono sparite: diventano la funzione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prima metà di step. Il desiderio diventa la direzione: accade una volta per passo, non una volta per frame, così due pressioni rapide non possono ripiegare il verme su se stesso. Poi la ricerca in tabella: il codice della direzione viene scorso a sinistra di 2, perché ogni elemento di una tabella è una parola di quattro byte, e sommato all'indirizzo di dx; la parola caricata è la variazione di colonna, meno 1, 0 o più 1. Lo stesso scostamento serve per dy. Non c'è alcun salto: il codice seleziona il valore, come farebbe un multiplexer.
DA COMPRENDERE OGGI: i multiplexer.
Per il docente: Una tabella in memoria di sola lettura indirizzata da un codice è una ROM: Lezione 11. L'alternativa sono quattro salti; la tabella è più corta, e cambiare le regole significa cambiare dati, non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seconda metà muove la testa e gestisce i bordi, nei due versi. La colonna più dx ora può diventare meno 1: bgez esamina il segno, e una colonna negativa è sostituita dall'ultima colonna. Se invece ha raggiunto COLS, diventa 0. Lo stesso si fa per la riga con ROWS. Notate l'ultima nota: t4 e t6 contengono ancora la nuova colonna e la nuova riga, e il pezzo di codice successivo li userà.
DA COMPRENDERE OGGI: istruzioni con o senza segno.
Per il docente: Nella Parte 1 esisteva solo il bordo destro. Una colonna negativa è un numero con segno: bgez e blt sono i confronti con segno della Lezione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righe provvisorie che ripristinano ra, rilasciano il frame e ritornano, così step è completa e il programma può girare subito. È un'abitudine dei tutorial: quando una funzione verrà finita più tardi, la si chiude in modo provvisorio e si prova ciò che c'è. Nel passo 3 inserirete prima di queste righe il test del cibo.
Per il docente: Un finale provvisorio, perché il programma possa girare subito. Questo programma intermedio è compilato ed eseguito da tests/verm1_steps.py.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Eseguite: state guidando. La testa parte verso destra come prima. Tenete premuto DOWN e gira al passo successivo. Mentre va a destra, tenete premuto LEFT: non accade nulla, perché l'inversione a U è rifiutata. Per andare a sinistra servono due svolte, DOWN e poi LEFT. Il riquadro verde dà una verifica precisa: tenendo premuto DOWN dall'inizio per 64 frame la testa arriva alla colonna 5 della riga 22, dieci passi verso il basso.
Per il docente: Verificato sull'esecutore headless di PRG32-QT: DOWN premuto per 64 frame dà (5, 22); LEFT premuto per 64 frame dà (15, 12), come se non fosse stato premuto nulla.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verm1_init è sostituita da una versione completa: ogni variabile riceve il suo valore iniziale, comprese la direzione, il desiderio e il punteggio, e il primo cibo viene piazzato chiamando place_food. Poiché ora fa una chiamata, anche init ha un frame di stack che salva ra.
Per il docente: Sostituite verm1_init.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place_food chiede al runtime due numeri casuali. Il contratto di prg32_random_number è: minimo in a0, massimo in a1, estremi compresi, risultato in a0. La prima chiamata dà una colonna da 0 a 39, la seconda una riga da 0 a 23, e ciascuna viene memorizzata nella propria variabile. Un difetto è lasciato di proposito: il cibo può cadere esattamente sulla testa. Lo correggerà la Parte 3, quando il verme avrà un corpo.
DA UTILIZZARE OGGI: le chiamate del runtime PRG32 (si usa, non si studia, in questo corso).
Per il docente: I numeri casuali vengono dal runtime: sulla scheda dal generatore hardware dell'ESP32-C6. Due partite sono diverse.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Sostituisce il finale provvisorio di step. È un comparatore costruito con le istruzioni: lo xor della colonna del cibo e di quella della testa vale 0 quando sono uguali; lo stesso per le righe; l'or dei due risultati vale 0 solo se entrambe sono uguali. Se il risultato non è zero, la funzione finisce. Altrimenti il verme ha mangiato: il punteggio aumenta di uno, si piazza nuovo cibo, e si suona una nota. È l'AND di XNOR della Lezione 11, scritto con due xor e una or.
DA COMPRENDERE OGGI: comparatori e parità.
Per il docente: Un comparatore di uguaglianza è una fila di porte XOR seguita da un OR: Lezione 11. Qui sono due xor e una or. I registri t4 e t6 contengono ancora la nuova colonna e la nuova riga; dopo le chiamate non servono più, ed è per questo che si possono tenere in registri temporanei.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eat_sound suona una nota. prg32_audio_note prende cinque argomenti, da a0 ad a4: canale, strumento, nota, volume e durata in millisecondi. La nota 72 è il Do della quinta ottava nella numerazione MIDI. L'ultima nota ripete un principio di PRG32: il suono viene per ultimo. Il gioco funzionava anche senza, e lo si aggiunge quando tutto il resto è solido.
DA UTILIZZARE OGGI: le chiamate del runtime PRG32 (si usa, non si studia, in questo corso).
Per il docente: prg32_audio_note(canale, strumento, nota, volume, millisecondi). Su PRG32-QT la nota è suonata dal computer; sulla scheda dall'amplificatore con il suo altoparlante.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L'inizio della nuova verm1_draw: dopo il titolo, un ciclo disegna un rettangolino per ogni punto del punteggio, a 4 pixel di distanza. Il contatore del ciclo sta in s0, non in un registro t, perché deve sopravvivere alle chiamate a prg32_gfx_rect: una funzione può distruggere i temporanei, ma conserva i registri s. In cambio la vostra funzione deve salvare s0 nel proprio frame e ripristinarlo alla fine. Questa convenzione si studia nella Lezione 18.
DA UTILIZZARE OGGI: la convenzione di chiamata (si studia nella Lezione 18).
Per il docente: Sostituite l'inizio di verm1_draw. Un registro t può essere distrutto da qualunque chiamata; un registro s è conservato, purché lo salviamo e lo ripristiniamo noi: la convenzione, incontrata nella Lezione 02, si studia nella Lezione 18. Le cifre arrivano nella Parte 4, quando è disponibile la divisione.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resto di verm1_draw: le stesse tre righe due volte, prima per il cibo e poi per la testa: si carica la colonna, si carica la riga, si carica il colore, e si chiama draw_cell. L'ordine conta: la testa si disegna per ultima, così copre il cibo se stanno nella stessa cella. Poi s0 e ra vengono ripristinati e la funzione ritorna.
DA COMPRENDERE OGGI: gli argomenti in a0 ... a7.
Per il docente: È il resto di verm1_draw: sostituisce il rettangolo della Parte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draw_cell raccoglie in una funzione l'aritmetica che la Parte 1 aveva dentro draw: colonna per 8, riga per 8 più TOP. Il suo contratto è scritto nel commento sulla prima riga: colonna in a0, riga in a1, colore in a2. Una sottigliezza: prg32_gfx_rect vuole il colore in a4, e a2 sta per essere sovrascritto con la larghezza, quindi il colore va spostato per primo. Scrivere in un commento il contratto di una funzione fa parte del lavoro.
DA COMPRENDERE OGGI: gli argomenti in a0 ... a7.
Per il docente: Una funzione con un contratto: a0 = colonna, a1 = riga, a2 = colore. Scrivere il contratto in un commento fa parte del lavoro.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Eseguite. Dovreste vedere una cella rossa da qualche parte. Guidate la testa su di essa: suona una nota, compare una tacca accanto al titolo, e il cibo si sposta in un'altra cella. La schermata mostra il gioco dopo due bocconi, con due tacche. È stata prodotta dal test automatico, in cui un giocatore programmato guida due volte la testa sul cibo.
Per il docente: Schermata prodotta da tools/tests/verm1_check.py: un giocatore programmato guida due volte la testa sul cibo.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modifiche vostre. Fate del pulsante A un freno che ferma il timer mentre è premuto. Date due punti per il cibo mangiato nella riga più in alto. Disegnate la testa di un colore diverso per ogni direzione, con una terza tabella indicizzata come dx. E cambiate la codifica delle direzioni: con RIGHT 0, LEFT 1, DOWN 2 e UP 3, che cosa diventa la regola dell'inversione a U? Tenete una copia della Parte 2 funzionante prima di sperimentare.
Per il docente: Freno: andi con BTN_A (0x10) all'inizio del timer, salto all'uscita. Tabella dei colori: quattro .word in .rodata, indicizzate come dx. Nuova codifica: gli opposti differiscono nel bit 0, quindi il test è XOR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12: Verm1, parte 2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Verm1, parte 2: la guida, il cibo e un punteggio: il codice</a:t>
            </a:r>
            <a:endParaRPr lang="en-US" sz="4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di riferimento di Verm1: contributo di Giuseppe Coviello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12-Architettura_dei_Calcolatori-Verm1_Parte_2.pptx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0" descr="/Users/raffaelemontella/devel/riscv-prg32/computer-architecture-with-prg32/tools/assets/verm1_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713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884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15 listati della Lezione 12,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760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55778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è il vostro verm1.S; il riferimento è verm1/verm1_part2.S, 231 righe, mostrato qui regione per regione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150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69671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539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8356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500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73176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ciclo di lavoro, di nuovo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build the cartridge (from your PRG32 folder, toolchain active)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verm1 --out ~/verm1/verm1.prg32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send it to PRG32-QT, running on the same computer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~/verm1/verm1.prg32 \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in PRG32-QT, import the file verm1.prg32 and choose Run Cartridge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Costanti: pulsanti e direzioni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0x0000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RGB565 colours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0xffff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GREEN, 0x07e0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RED,   0xf800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CELL,  8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cell is 8 x 8 pixels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COLS,  40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ROWS,  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TOP,   8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SPEED_Q8, 40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40/256 of a cell per frame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BTN_LEFT,  0x01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bit per button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BTN_RIGHT, 0x02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BTN_UP,    0x04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BTN_DOWN,  0x08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DIR_RIGHT, 0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direction is a 2-bit code: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DIR_DOWN,  1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bit 0 = vertical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DIR_LEFT,  2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bit 1 = backwards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DIR_UP,    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verm1_init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verm1_update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verm1_draw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 colore: RED, per il cibo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pulsante è un bit di una parola: una maschera lo seleziona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direzione è un numero da 0 a 3: due bit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codici non sono arbitrari: si veda la lezione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Dati: due tabelle e cinque variabili nuove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  .asciz "VERM1"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dx:      .word  1, 0, -1,  0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right, down, left, up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dy:      .word  0, 1,  0, -1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head_x:  .word 5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head_y:  .word 12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dir:     .word 0         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direction of the last step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want:    .word 0         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direction asked by the player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step_q8: .word 0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  .word 0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food_x:  .word 20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food_y:  .word 12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e dy: quattro parole ciascuna, una per direzione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 costanti, quindi vivono in .rodata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 è la direzione dell'ultimo passo, want quella richiesta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food_x, food_y: si usano nel passo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update: dai pulsanti a un desiderio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verm1_update: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one bit per button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direction of the last step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want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wanted direction, so far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BTN_RIGHT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DIR_RIGHT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t3, a0, BTN_DOWN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DIR_DOWN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andi t3, a0, BTN_LEFT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3f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DIR_LEFT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andi t3, a0, BTN_UP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4f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DIR_UP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 xor  t3, t2, t1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opposite directions differ in bit 1 only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t4, 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t3, t4, 5f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U-turn: ignore the request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 it for the next step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tiene un bit: zero significa non premuto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pulsante premuto sovrascrive il desiderio in t2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di desiderio e direzione: 2 significa opposta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Un'inversione a U non viene memorizzata: resta il desiderio precedente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update: il timer chiama step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step_q8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SPEED_Q8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fraction of a cell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256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t1, t2, 6f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less than one whole cell: wait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t1, t1, t2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step     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whole cell: move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7f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sw   t1,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 lw   ra, 12(sp)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timer in virgola fissa della Parte 1, invariato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Muoversi è ora una funzione a sé: step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Etichette 6 e 7: i numeri da 1 a 5 sono usati sopra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virgola fissa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step: cercare il movimento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want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wanted direction is now the direction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t1, 2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table offset = direction * 4 bytes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dx[direction]: -1, 0 or +1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t3,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t3 = dy[direction]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desiderio diventa la direzione, una volta per passo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parola sono 4 byte: scostamento = codice scorso a sinistra di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indirizzo della tabella + scostamento: la parola da caricare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salto: il codice seleziona, come un multiplexer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79917" y="91440"/>
            <a:ext cx="326313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991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933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763965" y="91440"/>
            <a:ext cx="284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multiplexer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step: muoversi e rientrare, nei due versi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t4, 0(t0)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t4, t4, t2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t4, 1f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t4, COLS-1      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off the left edge: wrap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t5, COLS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t4, t5, 2f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t4, 0           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off the right edge: wrap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sw   t4, 0(t0)       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t4 = new column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t6, 0(t0)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t6, t6, t3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t6, 3f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t6, ROWS-1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li   t5, ROWS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t6, t5, 4f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t6,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 sw   t6, 0(t0)       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t6 = new row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somma dx: la colonna ora può scendere sotto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bgez esamina il segno: negativo significa fuori a sinistra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per la riga, con ROWS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e t6 conservano la nuova cella per la slide successiva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95032" y="91440"/>
            <a:ext cx="424802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503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048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779080" y="91440"/>
            <a:ext cx="3827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istruzioni con o senza segno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ora: chiudere la funzione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temporary end of step: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 will replace these three lines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queste tre righe dopo il rientro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Ripristinano ra e ritornano: step è completa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passo 3 mette prima di esse il test del cibo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state guidando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 ed eseguite: la testa parte ancora verso destra, dalla colonna 5 della riga 12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459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327656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Tenete premuto DOWN: la testa gira al passo successivo e scende, rientrando dalla riga 23 alla riga 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562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237992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Mentre va a destra, tenete premuto LEFT: non accade nulla. L'inversione a U è rifiutata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6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148328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Tenete premuto DOWN e poi LEFT: due svolte, e ora la testa va a sinistra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Tenendo premuto DOWN dall'inizio per 64 frame la testa arriva alla colonna 5, riga 22: dieci passi, tutti verso il basso.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init: una partenza completa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verm1_init: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12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moving right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want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step_q8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place_food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variabile riceve il suo valore iniziale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ora chiama una funzione: le serve un frame di stack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primo cibo viene piazzato qui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place_food: una cella a caso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place_food: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COLS-1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prg32_random_number    </a:t>
            </a:r>
            <a:pPr indent="0" marL="0">
              <a:buNone/>
            </a:pPr>
            <a:r>
              <a:rPr lang="en-US" sz="17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a column, 0 .. 39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food_x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ROWS-1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prg32_random_number    </a:t>
            </a:r>
            <a:pPr indent="0" marL="0">
              <a:buNone/>
            </a:pPr>
            <a:r>
              <a:rPr lang="en-US" sz="17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a row, 0 .. 23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food_y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prg32_random_number(min, max): estremi compresi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Argomenti in a0 e a1, risultato in a0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colonna da 0 a 39, una riga da 0 a 23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cibo può cadere sulla testa: lo corregge la Parte 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15987" y="91440"/>
            <a:ext cx="4227068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5987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085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4003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800035" y="91440"/>
            <a:ext cx="380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chiamate del runtime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step: la testa è sul cibo?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food_x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t1, t1, t4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if same column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food_y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t2, t2, t6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if same row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   t1, t1, t2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only if both are equal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t1, 5f    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on the food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place_food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eat_sound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 lw   ra, 12(sp)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Sostituite con questo il finale provvisorio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vale 0 quando due numeri sono uguali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dei due risultati: 0 solo se entrambi sono uguali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Mangiare: un punto in più, nuovo cibo, un suono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comparatori e parità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eat_sound: una nota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eat_sound: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  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72 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note: C5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255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volume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60 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milliseconds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prg32_audio_note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argomenti, da a0 ad a4, poi la chiamata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nota 72 è il Do5 nella numerazione MIDI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suono viene per ultimo: il gioco funzionava anche senza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15987" y="91440"/>
            <a:ext cx="4227068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15987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085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4003" y="128016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800035" y="91440"/>
            <a:ext cx="380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chiamate del runtime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draw: il punteggio a tacche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verm1_draw: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WHITE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i: one mark per 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score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  s0, t1, 2f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a0, s0,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56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56 + 4 * 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WHITE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1b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conta le tacche: deve sopravvivere alle chiamate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Perciò s0 è salvato nel frame, insieme a ra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rettangolino per punto, a 4 pixel di distanza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finisce quando s0 raggiunge il punteggio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50431" y="91440"/>
            <a:ext cx="499262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043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529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8447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034479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convenzione di chiamata</a:t>
            </a:r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18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draw: cibo e testa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a1, 0(t0)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RED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draw_cell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a1, 0(t0)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GREEN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draw_cell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stesse tre righe due volte: colonna, riga, colore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draw_cell fa la conversione in pixel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testa si disegna per ultima: copre il cibo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526350" y="91440"/>
            <a:ext cx="411670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2635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366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10398" y="91440"/>
            <a:ext cx="3696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argomenti in a0 ... a7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draw_cell: dalle celle ai pixel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draw_cell:    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column, a1 = row, a2 = colour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a0, a0, 3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column * 8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a1, a1, 3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a1, a1, TOP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row * 8 + 8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a4, a2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colour is the fifth argument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CELL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CELL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L'aritmetica della Parte 1, scritta una volta sola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colore arriva in a2 e deve uscire in a4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spostato per primo: a2 sta per essere sovrascritto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526350" y="91440"/>
            <a:ext cx="411670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2635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366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10398" y="91440"/>
            <a:ext cx="3696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argomenti in a0 ... a7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Verm1, Parte 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3931920"/>
          </a:xfrm>
          <a:prstGeom prst="roundRect">
            <a:avLst>
              <a:gd name="adj" fmla="val 18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4" name="Image 0" descr="/Users/raffaelemontella/devel/riscv-prg32/computer-architecture-with-prg32/tools/assets/verm1_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5256" y="1554480"/>
            <a:ext cx="4901184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66344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testa, il cibo, e due tacche dopo il titolo: due punti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Atteso: una cella rossa da qualche parte; guidate la testa su di essa; suona una nota, compare una tacca accanto a VERM1, il cibo si sposta.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una testa che guidate, una cella rossa di cibo che si sposta quando viene mangiata, una nota, e una tacca per punto accanto a VERM1.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guidate con il joystick; l'inversione a U è rifiutata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verm1_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verm1 --out verm1.prg32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verm1.prg32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verm1-qemu.prg32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verm1-qemu.prg32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verm1-esp32c6.prg32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verm1-esp32c6.prg32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verm1;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Fatelo vostro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 del pulsante A un freno: mentre è premuto, il timer non avanza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43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226056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due punti per un pezzo di cibo mangiato nella riga più in alto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530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034792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la testa di un colore diverso per ogni direzione, usando una terza tabella di quattro colori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6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148328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Cambiate la codifica in RIGHT = 0, LEFT = 1, DOWN = 2, UP = 3: che cosa diventa la regola dell'inversione a U?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modifica sono poche righe. Tenete una copia della Parte 2 funzionante prima di sperimentare: la Parte 3 parte da lì.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Verm1, parte 2: la guida, il cibo e un punteggio: il codice</dc:title>
  <dc:subject>Lezione 12</dc:subject>
  <dc:creator>Raffaele Montella</dc:creator>
  <cp:lastModifiedBy>Raffaele Montella</cp:lastModifiedBy>
  <cp:revision>1</cp:revision>
  <dcterms:created xsi:type="dcterms:W3CDTF">2026-10-16T15:51:39Z</dcterms:created>
  <dcterms:modified xsi:type="dcterms:W3CDTF">2026-10-16T15:51:39Z</dcterms:modified>
</cp:coreProperties>
</file>