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df82914-9d11-f830-7e80-c9e30ecffc4b}">
          <p14:sldIdLst>
            <p14:sldId id="256"/>
            <p14:sldId id="257"/>
          </p14:sldIdLst>
        </p14:section>
        <p14:section name="Riscaldamento sulla macchina" id="{6799ff4a-8513-5671-0601-edb2431885fc}">
          <p14:sldIdLst>
            <p14:sldId id="258"/>
          </p14:sldIdLst>
        </p14:section>
        <p14:section name="Processori superscalari" id="{b15cc0fc-e92e-3c3e-b4b3-5b48553179a2}">
          <p14:sldIdLst>
            <p14:sldId id="259"/>
            <p14:sldId id="260"/>
          </p14:sldIdLst>
        </p14:section>
        <p14:section name="Vettori: un'istruzione, molti dati" id="{4e4e8b0a-1a53-bdd3-47b5-4af5833b03b6}">
          <p14:sldIdLst>
            <p14:sldId id="261"/>
            <p14:sldId id="262"/>
          </p14:sldIdLst>
        </p14:section>
        <p14:section name="Acceleratori GPU" id="{07c8066c-dbba-5011-f484-69af17887553}">
          <p14:sldIdLst>
            <p14:sldId id="263"/>
          </p14:sldIdLst>
        </p14:section>
        <p14:section name="Acceleratori FPGA" id="{333a6a4d-2665-72bb-6ca7-b9275299490b}">
          <p14:sldIdLst>
            <p14:sldId id="264"/>
          </p14:sldIdLst>
        </p14:section>
        <p14:section name="Ritorno alla macchina" id="{bd481760-cc82-fa61-b492-558893f73f5c}">
          <p14:sldIdLst>
            <p14:sldId id="265"/>
          </p14:sldIdLst>
        </p14:section>
        <p14:section name="Il programma completo" id="{77c499fe-aa8a-742f-23b9-b56060e8fdbb}">
          <p14:sldIdLst>
            <p14:sldId id="266"/>
            <p14:sldId id="267"/>
            <p14:sldId id="268"/>
            <p14:sldId id="269"/>
          </p14:sldIdLst>
        </p14:section>
        <p14:section name="Eseguire e provare" id="{f64f3bc6-1155-f388-d6ac-7a7414954cdc}">
          <p14:sldIdLst>
            <p14:sldId id="270"/>
            <p14:sldId id="271"/>
            <p14:sldId id="272"/>
            <p14:sldId id="273"/>
            <p14:sldId id="274"/>
            <p14:sldId id="275"/>
          </p14:sldIdLst>
        </p14:section>
        <p14:section name="Esercizi" id="{a2343900-0a5f-e989-9ef8-4b15c139f912}">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24.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l'equazione delle prestazioni; i processori superscalari; le istruzioni vettoriali; HPC e legge di Amdahl; acceleratori GPU e FPGA. DA UTILIZZARE OGGI: il programma completo, gli strumenti di PRG32 (si usa, non si studia, in questo corso). DA COMPRENDERE PIÙ AVANTI: niente.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questa lezione è ~/arc12/code/l24.S; tools/tests/cartridges/run.py lo compila, lo esegue su PRG32-QT con ingressi programmati e controlla i pixel del frame.
Per il docente: Procurarsi il codice una volta: git clone https://github.com/riscv-prg32/computer-architecture-with-prg32 ~/arc12. Il programma di questa lezione è ~/arc12/code/l24.S;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riscaldamento: il ciclo in new_game che azzera la mappa, ponendo a zero 960 byte. Ogni iterazione esegue quattro istruzioni: una memorizzazione di byte, l'incremento dell'indirizzo, il decremento del contatore e il salto all'indietro, per 3.840 istruzioni in tutto, un byte e un'istruzione alla volta. Sul kit impiega circa 24 microsecondi, e nulla richiede che sia più veloce. È stato scelto perché è abbastanza piccolo da poter essere seguito su ogni classe di macchina contemporanea. La domanda della lezione è: in quanti modi diversi lo si può rendere più veloce?
DA COMPRENDERE OGGI: l'equazione delle prestazioni.
Per il docente: Il ciclo del processore della Lezione 19. Nel caso migliore un'istruzione per ciclo di clock, e 160 milioni di cicli al secondo sul kit: circa 24 microsecondi. Nessuno ha bisogno che questo ciclo sia più veloce; è abbastanza piccolo da poterlo seguire su ogni macchina di oggi.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ostacola l'esecuzione parallela. La seconda istruzione usa t0, che la prima sta ancora calcolando, quindi non può eseguirsi accanto a essa: una dipendenza dei dati. La terza non dipende da nulla, eppure in un processore in ordine attende dietro la seconda. La quarta è un salto: finché non è risolto, il processore non può sapere se la quinta vada eseguita, una dipendenza di controllo. I programmi reali sono pieni di catene del genere, quindi la sola larghezza di emissione non dà velocità; il rimedio è lasciare che le istruzioni indipendenti sorpassino.
DA COMPRENDERE OGGI: i processori superscalari.
Per il docente: Dipendenze sui dati, dipendenze sul controllo. Un superscalare in ordine si blocca a i2 e tutto ciò che sta dietro aspetta. Il rimedio è lasciare che i3 sorpassi.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ridenominazione dei registri illustrata. A sinistra, il codice così come è scritto: due metà, ciascuna che carica una parola, la incrementa e la riscrive, ed entrambe che usano t0. La seconda metà riusa il nome, non il valore, il che costituisce una falsa dipendenza. A destra, dopo la ridenominazione, ogni nuovo valore ha il suo registro fisico, così le due metà non condividono nulla e possono eseguirsi contemporaneamente. I trentadue registri dell'insieme di istruzioni sono nomi; il chip contiene qualche centinaio di registri fisici. I numeri di registro della slide sono illustrativi.
DA COMPRENDERE OGGI: i processori superscalari.
Per il docente: Una falsa dipendenza: lo stesso nome per due valori che non c'entrano l'uno con l'altro. Da p41 a p44 sono numeri inventati di registri fisici. Un core grande ne ha qualche centinaio.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ciclo scritto con l'estensione vettoriale. v0 è un registro vettoriale, largo molti byte, riempito di zeri. A ogni iterazione vsetvli chiede quanti dei byte rimanenti stanno in un registro, e la risposta va in t2. vse8.v memorizza quei byte in una sola istruzione, e l'indirizzo e il contatore avanzano di t2. Con registri a 128 bit un'iterazione tratta 16 byte: 60 iterazioni invece di 960. Il codice non dichiara mai la larghezza dei registri, quindi lo stesso binario è corretto per qualsiasi larghezza, una proprietà detta indipendenza dalla lunghezza del vettore, che il test verifica a quattro larghezze.
DA COMPRENDERE OGGI: le istruzioni vettoriali.
Per il docente: L'estensione V, ratificata nel 2021. Sul kit non c'è: l'ESP32-C6 è RV32IMAC. Il codice non dice mai quanto sono larghi i registri: è indipendente dalla lunghezza del vettore (vector-length agnostic), e lo stesso binario usa 128, 256 o 1024 bit. Provato su QEMU a 128, 256, 512 e 1024 bit da tools/tests/vector_qemu.S.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somma calcolata corsia per corsia. Un registro vettoriale contiene più parole, ciascuna nella sua corsia. vle32.v carica più parole insieme; vadd.vv somma due registri corsia per corsia, così che v1 accumuli tante somme parziali quante sono le corsie. Alla fine vredsum riduce le corsie a un solo numero. Con i sedici numeri da 1 a 16 il risultato è 136. È la somma parallela mostrata in figura nella Lezione 04, ora espressa in istruzioni.
DA COMPRENDERE OGGI: le istruzioni vettoriali.
Per il docente: La somma parallela delle Lezioni 04 e 20, in RISC-V. tu, tail undisturbed, conserva le somme parziali delle corsie che l'ultimo giro non usa. Provato su QEMU insieme al listato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mappa di Verm1 azzerata su una GPU, in CUDA C. La funzione marcata come kernel si esegue una volta in ogni thread. Ogni thread determina per prima cosa la propria identità, il suo indice i, dal numero del suo blocco e dalla sua posizione nel blocco; poi, se l'indice cade dentro la mappa, azzera la propria cella. Non c'è alcun ciclo: ci sono 960 thread. L'ultima riga, eseguita sull'host, lancia quattro blocchi di 256 thread. Per 960 byte le due copie di memoria costano molto più del lavoro, quindi l'esempio illustra il modello di programmazione, non un guadagno; una GPU conviene solo quando i dati sono grandi e il lavoro per elemento è consistente.
DA COMPRENDERE OGGI: acceleratori GPU e FPGA.
Per il docente: CUDA C, nella sua forma abituale da manuale; non compilato per queste slide. L'ultima osservazione è seria: una GPU ripaga quando i dati sono grandi e il lavoro per elemento è reale. Chiedete: per quale dimensione della mappa ne varrebbe la pena?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regola di Verm1 che vieta l'inversione a U, scritta come hardware in Verilog, un linguaggio che descrive circuiti e non sequenze di passi. Il modulo ha due ingressi a due bit, la direzione corrente e quella richiesta, e un'uscita. L'istruzione assign denota un filo che vale continuamente: l'uscita vale 1 quando lo XOR delle due direzioni è uguale al binario 10. Non c'è un prima e un dopo, solo una relazione combinatoria. Sul kit la stessa regola richiedeva tre istruzioni e tre cicli; come hardware risponde in una frazione di nanosecondo, in modo continuo.
DA COMPRENDERE OGGI: acceleratori GPU e FPGA.
Per il docente: Un linguaggio di descrizione dell'hardware: Verilog, o VHDL. Non sintetizzato per queste slide. Le xor, li, beq della Parte 2 diventano porte che rispondono in una frazione di nanosecondo, in continuazione. Chiedete agli studenti di disegnare il circuito: refuse = (d1 xor w1) and not (d0 xor w0).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Azzerare le 960 celle della mappa su cinque macchine. Sul kit: un byte per iterazione, 3.840 cicli. Su un core RISC-V fuori ordine: lo stesso binario, in una frazione di quei cicli. Con vettori a 128 bit: 60 iterazioni. Su una GPU: un lancio di 960 thread, più due copie. Su una FPGA: 960 flip-flop con un reset comune, azzerati in un ciclo di clock. Il lavoro è identico; ciò che cambia è quanto di esso avviene contemporaneamente, e a quale costo. La domanda dell'ingegnere non è quale macchina sia la più veloce, ma quale sia sufficiente.
DA COMPRENDERE OGGI: acceleratori GPU e FPGA.
Per il docente: Il lavoro è lo stesso; cambia quanta parte ne avviene nello stesso momento. E i costi: alla prima riga servono un chip da due euro e quattro righe di assembly; all'ultima serve un progetto hardware. La domanda dell'ingegnere non è mai quale sia la più veloce, ma quale basti.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listati vettoriali di questa lezione non possono girare sul kit, il cui processore non implementa l'estensione V. Sono quindi provati su un processore RV32 emulato, senza sistema: i comandi compilano un solo binario e lo eseguono con quattro diverse lunghezze di vettore. Il codice di uscita è il risultato, zero se tutti i controlli sono passati, e dimostra anche che il codice non dipende dalla lunghezza del vettore.
DA UTILIZZARE OGGI: gli strumenti di PRG32 (si usa, non si studia, in questo corso).
Per il docente: Eseguito dai test (tools/tests/run_all.sh, passo vectors). Su macOS non c'è il comando timeout: se un listato entra in un ciclo infinito, fermate QEMU con Ctrl-A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Completare la tabella di Amdahl per p = 0,95. Disegnare il diagramma della pipeline di un processore a tre vie che esegue nove istruzioni indipendenti. Ridenominare i registri di un frammento di Verm1 e individuare quali istruzioni potrebbero eseguirsi nello stesso ciclo. Scrivere la tavola di verità di una tabella di consultazione a quattro ingressi che realizza la regola dell'inversione a U. E compilare il test vettoriale ed eseguirlo su QEMU con due diverse larghezze di vettore, spiegando perché lo stesso binario funziona in entrambi i casi.
Per il docente: QEMU: qemu-system-riscv32 -machine virt -cpu rv32,v=true,vlen=128; il comando di compilazione è in tools/tests/README.md. I quattro uni della tabella: (dir, want) = (0,2), (1,3), (2,0),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24: Oltre un solo core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24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3500" b="1" dirty="0">
                <a:solidFill>
                  <a:srgbClr val="FFFFFF"/>
                </a:solidFill>
                <a:latin typeface="Cambria" pitchFamily="34" charset="0"/>
                <a:ea typeface="Cambria" pitchFamily="34" charset="-122"/>
                <a:cs typeface="Cambria" pitchFamily="34" charset="-120"/>
              </a:rPr>
              <a:t>Oltre un solo core: RISC‑V superscalare, HPC, GPU e FPGA: il codice</a:t>
            </a:r>
            <a:endParaRPr lang="en-US" sz="35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24-Architettura_dei_Calcolatori-Superscalari_HPC_GPU_FPGA.pptx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rcf_cluster.jpg">    </p:cNvPr>
          <p:cNvPicPr>
            <a:picLocks noChangeAspect="1"/>
          </p:cNvPicPr>
          <p:nvPr/>
        </p:nvPicPr>
        <p:blipFill>
          <a:blip r:embed="rId1"/>
          <a:stretch>
            <a:fillRect/>
          </a:stretch>
        </p:blipFill>
        <p:spPr>
          <a:xfrm>
            <a:off x="8716975" y="4686243"/>
            <a:ext cx="2834640" cy="960234"/>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7 listati della Lezione 24,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code/l24.S, 72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ciclo che svuota la mappa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sb   zero, 0(t0)            </a:t>
            </a:r>
            <a:pPr indent="0" marL="0">
              <a:buNone/>
            </a:pPr>
            <a:r>
              <a:rPr lang="en-US" sz="1550" dirty="0">
                <a:solidFill>
                  <a:srgbClr val="8FB3A0"/>
                </a:solidFill>
                <a:latin typeface="Courier New" pitchFamily="34" charset="0"/>
                <a:ea typeface="Courier New" pitchFamily="34" charset="-122"/>
                <a:cs typeface="Courier New" pitchFamily="34" charset="-120"/>
              </a:rPr>
              <a:t># one byte per turn of the loop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t0, t0,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t1, t1,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Da new_game di Verm1: 960 byte messi a zero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Quattro istruzioni per byte: 3 840 istruzioni in tutto</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Un byte alla volta, un'istruzione alla volta</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In quanti modi lo si può rendere più veloce?</a:t>
            </a:r>
            <a:endParaRPr lang="en-US" sz="1500" dirty="0"/>
          </a:p>
        </p:txBody>
      </p:sp>
      <p:sp>
        <p:nvSpPr>
          <p:cNvPr id="17" name="Shape 15"/>
          <p:cNvSpPr/>
          <p:nvPr/>
        </p:nvSpPr>
        <p:spPr>
          <a:xfrm>
            <a:off x="7329373" y="91440"/>
            <a:ext cx="4313682" cy="274320"/>
          </a:xfrm>
          <a:prstGeom prst="rect">
            <a:avLst/>
          </a:prstGeom>
          <a:solidFill>
            <a:srgbClr val="E0F2FE"/>
          </a:solidFill>
          <a:ln w="12700">
            <a:solidFill>
              <a:srgbClr val="0369A1"/>
            </a:solidFill>
            <a:prstDash val="solid"/>
          </a:ln>
        </p:spPr>
      </p:sp>
      <p:sp>
        <p:nvSpPr>
          <p:cNvPr id="18" name="Shape 16"/>
          <p:cNvSpPr/>
          <p:nvPr/>
        </p:nvSpPr>
        <p:spPr>
          <a:xfrm>
            <a:off x="732937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457389" y="128016"/>
            <a:ext cx="201168" cy="201168"/>
          </a:xfrm>
          <a:prstGeom prst="rect">
            <a:avLst/>
          </a:prstGeom>
        </p:spPr>
      </p:pic>
      <p:sp>
        <p:nvSpPr>
          <p:cNvPr id="20" name="Text 17"/>
          <p:cNvSpPr txBox="1"/>
          <p:nvPr/>
        </p:nvSpPr>
        <p:spPr>
          <a:xfrm>
            <a:off x="7713421" y="91440"/>
            <a:ext cx="389305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l'equazione delle prestazioni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si mette di mezzo: le dipendenze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add  t0, t1, t2        </a:t>
            </a:r>
            <a:pPr indent="0" marL="0">
              <a:buNone/>
            </a:pPr>
            <a:r>
              <a:rPr lang="en-US" sz="1500" dirty="0">
                <a:solidFill>
                  <a:srgbClr val="8FB3A0"/>
                </a:solidFill>
                <a:latin typeface="Courier New" pitchFamily="34" charset="0"/>
                <a:ea typeface="Courier New" pitchFamily="34" charset="-122"/>
                <a:cs typeface="Courier New" pitchFamily="34" charset="-120"/>
              </a:rPr>
              <a:t># i1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t3, t0, t4        </a:t>
            </a:r>
            <a:pPr indent="0" marL="0">
              <a:buNone/>
            </a:pPr>
            <a:r>
              <a:rPr lang="en-US" sz="1500" dirty="0">
                <a:solidFill>
                  <a:srgbClr val="8FB3A0"/>
                </a:solidFill>
                <a:latin typeface="Courier New" pitchFamily="34" charset="0"/>
                <a:ea typeface="Courier New" pitchFamily="34" charset="-122"/>
                <a:cs typeface="Courier New" pitchFamily="34" charset="-120"/>
              </a:rPr>
              <a:t># i2 needs the t0 of i1: it must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t5, 0(t6)         </a:t>
            </a:r>
            <a:pPr indent="0" marL="0">
              <a:buNone/>
            </a:pPr>
            <a:r>
              <a:rPr lang="en-US" sz="1500" dirty="0">
                <a:solidFill>
                  <a:srgbClr val="8FB3A0"/>
                </a:solidFill>
                <a:latin typeface="Courier New" pitchFamily="34" charset="0"/>
                <a:ea typeface="Courier New" pitchFamily="34" charset="-122"/>
                <a:cs typeface="Courier New" pitchFamily="34" charset="-120"/>
              </a:rPr>
              <a:t># i3 is independent: it could go now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skip          </a:t>
            </a:r>
            <a:pPr indent="0" marL="0">
              <a:buNone/>
            </a:pPr>
            <a:r>
              <a:rPr lang="en-US" sz="1500" dirty="0">
                <a:solidFill>
                  <a:srgbClr val="8FB3A0"/>
                </a:solidFill>
                <a:latin typeface="Courier New" pitchFamily="34" charset="0"/>
                <a:ea typeface="Courier New" pitchFamily="34" charset="-122"/>
                <a:cs typeface="Courier New" pitchFamily="34" charset="-120"/>
              </a:rPr>
              <a:t># i4: which way? known only after i2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t5, t5, 1         </a:t>
            </a:r>
            <a:pPr indent="0" marL="0">
              <a:buNone/>
            </a:pPr>
            <a:r>
              <a:rPr lang="en-US" sz="1500" dirty="0">
                <a:solidFill>
                  <a:srgbClr val="8FB3A0"/>
                </a:solidFill>
                <a:latin typeface="Courier New" pitchFamily="34" charset="0"/>
                <a:ea typeface="Courier New" pitchFamily="34" charset="-122"/>
                <a:cs typeface="Courier New" pitchFamily="34" charset="-120"/>
              </a:rPr>
              <a:t># i5: executed, or not?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skip:</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i2 non può correre accanto a i1: ne usa il risultato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i3 non dipende da nessuno: perché dovrebbe aspettare?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Dopo un salto il processore non sa che cosa viene dopo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codice vero è pieno di catene così: la larghezza da sola non basta</a:t>
            </a:r>
            <a:endParaRPr lang="en-US" sz="1200" dirty="0"/>
          </a:p>
        </p:txBody>
      </p:sp>
      <p:sp>
        <p:nvSpPr>
          <p:cNvPr id="17" name="Shape 15"/>
          <p:cNvSpPr/>
          <p:nvPr/>
        </p:nvSpPr>
        <p:spPr>
          <a:xfrm>
            <a:off x="7592009" y="91440"/>
            <a:ext cx="4051046" cy="274320"/>
          </a:xfrm>
          <a:prstGeom prst="rect">
            <a:avLst/>
          </a:prstGeom>
          <a:solidFill>
            <a:srgbClr val="E0F2FE"/>
          </a:solidFill>
          <a:ln w="12700">
            <a:solidFill>
              <a:srgbClr val="0369A1"/>
            </a:solidFill>
            <a:prstDash val="solid"/>
          </a:ln>
        </p:spPr>
      </p:sp>
      <p:sp>
        <p:nvSpPr>
          <p:cNvPr id="18" name="Shape 16"/>
          <p:cNvSpPr/>
          <p:nvPr/>
        </p:nvSpPr>
        <p:spPr>
          <a:xfrm>
            <a:off x="759200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20025" y="128016"/>
            <a:ext cx="201168" cy="201168"/>
          </a:xfrm>
          <a:prstGeom prst="rect">
            <a:avLst/>
          </a:prstGeom>
        </p:spPr>
      </p:pic>
      <p:sp>
        <p:nvSpPr>
          <p:cNvPr id="20" name="Text 17"/>
          <p:cNvSpPr txBox="1"/>
          <p:nvPr/>
        </p:nvSpPr>
        <p:spPr>
          <a:xfrm>
            <a:off x="7976057" y="91440"/>
            <a:ext cx="363042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processori superscalari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Ridenominazione dei registri: trentadue nomi, molti registri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as written                 # as executed, after renaming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0(a0)                lw   p41,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p42, p41,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0(a0)                sw   p42,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4(a0)                lw   p43, 4(a0)      </a:t>
            </a:r>
            <a:pPr indent="0" marL="0">
              <a:buNone/>
            </a:pPr>
            <a:r>
              <a:rPr lang="en-US" sz="1500" dirty="0">
                <a:solidFill>
                  <a:srgbClr val="8FB3A0"/>
                </a:solidFill>
                <a:latin typeface="Courier New" pitchFamily="34" charset="0"/>
                <a:ea typeface="Courier New" pitchFamily="34" charset="-122"/>
                <a:cs typeface="Courier New" pitchFamily="34" charset="-120"/>
              </a:rPr>
              <a:t># a new 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p44, p43,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4(a0)                sw   p44, 4(a0)</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seconda metà riusa il nome t0, non il suo valore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Rinominate, le due metà non condividono nulla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Possono correre insieme, su registri diversi</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32 registri che conoscete sono nomi; il chip ne ha molti di più</a:t>
            </a:r>
            <a:endParaRPr lang="en-US" sz="1200" dirty="0"/>
          </a:p>
        </p:txBody>
      </p:sp>
      <p:sp>
        <p:nvSpPr>
          <p:cNvPr id="17" name="Shape 15"/>
          <p:cNvSpPr/>
          <p:nvPr/>
        </p:nvSpPr>
        <p:spPr>
          <a:xfrm>
            <a:off x="7592009" y="91440"/>
            <a:ext cx="4051046" cy="274320"/>
          </a:xfrm>
          <a:prstGeom prst="rect">
            <a:avLst/>
          </a:prstGeom>
          <a:solidFill>
            <a:srgbClr val="E0F2FE"/>
          </a:solidFill>
          <a:ln w="12700">
            <a:solidFill>
              <a:srgbClr val="0369A1"/>
            </a:solidFill>
            <a:prstDash val="solid"/>
          </a:ln>
        </p:spPr>
      </p:sp>
      <p:sp>
        <p:nvSpPr>
          <p:cNvPr id="18" name="Shape 16"/>
          <p:cNvSpPr/>
          <p:nvPr/>
        </p:nvSpPr>
        <p:spPr>
          <a:xfrm>
            <a:off x="759200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20025" y="128016"/>
            <a:ext cx="201168" cy="201168"/>
          </a:xfrm>
          <a:prstGeom prst="rect">
            <a:avLst/>
          </a:prstGeom>
        </p:spPr>
      </p:pic>
      <p:sp>
        <p:nvSpPr>
          <p:cNvPr id="20" name="Text 17"/>
          <p:cNvSpPr txBox="1"/>
          <p:nvPr/>
        </p:nvSpPr>
        <p:spPr>
          <a:xfrm>
            <a:off x="7976057" y="91440"/>
            <a:ext cx="363042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processori superscalari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 stesso ciclo, con i vettori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elements are bytes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vmv.v.i v0, 0                   </a:t>
            </a:r>
            <a:pPr indent="0" marL="0">
              <a:buNone/>
            </a:pPr>
            <a:r>
              <a:rPr lang="en-US" sz="1550" dirty="0">
                <a:solidFill>
                  <a:srgbClr val="8FB3A0"/>
                </a:solidFill>
                <a:latin typeface="Courier New" pitchFamily="34" charset="0"/>
                <a:ea typeface="Courier New" pitchFamily="34" charset="-122"/>
                <a:cs typeface="Courier New" pitchFamily="34" charset="-120"/>
              </a:rPr>
              <a:t># a register full of zeros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t2 = bytes of this turn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vse8.v  v0, (t0)                </a:t>
            </a:r>
            <a:pPr indent="0" marL="0">
              <a:buNone/>
            </a:pPr>
            <a:r>
              <a:rPr lang="en-US" sz="1550" dirty="0">
                <a:solidFill>
                  <a:srgbClr val="8FB3A0"/>
                </a:solidFill>
                <a:latin typeface="Courier New" pitchFamily="34" charset="0"/>
                <a:ea typeface="Courier New" pitchFamily="34" charset="-122"/>
                <a:cs typeface="Courier New" pitchFamily="34" charset="-120"/>
              </a:rPr>
              <a:t># store t2 bytes at once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t0, t0,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sub  t1, t1,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v0 è un registro vettoriale: largo molti byte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vsetvli chiede: quanti dei byte rimasti ci stanno? La risposta è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vse8.v memorizza t2 byte con una sola istruzione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Con registri a 128 bit: 16 byte per giro, 60 giri invece di 960</a:t>
            </a:r>
            <a:endParaRPr lang="en-US" sz="1200" dirty="0"/>
          </a:p>
        </p:txBody>
      </p:sp>
      <p:sp>
        <p:nvSpPr>
          <p:cNvPr id="17" name="Shape 15"/>
          <p:cNvSpPr/>
          <p:nvPr/>
        </p:nvSpPr>
        <p:spPr>
          <a:xfrm>
            <a:off x="7657668" y="91440"/>
            <a:ext cx="3985387" cy="274320"/>
          </a:xfrm>
          <a:prstGeom prst="rect">
            <a:avLst/>
          </a:prstGeom>
          <a:solidFill>
            <a:srgbClr val="E0F2FE"/>
          </a:solidFill>
          <a:ln w="12700">
            <a:solidFill>
              <a:srgbClr val="0369A1"/>
            </a:solidFill>
            <a:prstDash val="solid"/>
          </a:ln>
        </p:spPr>
      </p:sp>
      <p:sp>
        <p:nvSpPr>
          <p:cNvPr id="18" name="Shape 16"/>
          <p:cNvSpPr/>
          <p:nvPr/>
        </p:nvSpPr>
        <p:spPr>
          <a:xfrm>
            <a:off x="765766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20" name="Text 17"/>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istruzioni vettoriali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somma, corsia per corsia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numbers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16                 </a:t>
            </a:r>
            <a:pPr indent="0" marL="0">
              <a:buNone/>
            </a:pPr>
            <a:r>
              <a:rPr lang="en-US" sz="1500" dirty="0">
                <a:solidFill>
                  <a:srgbClr val="8FB3A0"/>
                </a:solidFill>
                <a:latin typeface="Courier New" pitchFamily="34" charset="0"/>
                <a:ea typeface="Courier New" pitchFamily="34" charset="-122"/>
                <a:cs typeface="Courier New" pitchFamily="34" charset="-120"/>
              </a:rPr>
              <a:t># sixteen words to add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vmv.v.i v1, 0               </a:t>
            </a:r>
            <a:pPr indent="0" marL="0">
              <a:buNone/>
            </a:pPr>
            <a:r>
              <a:rPr lang="en-US" sz="1500" dirty="0">
                <a:solidFill>
                  <a:srgbClr val="8FB3A0"/>
                </a:solidFill>
                <a:latin typeface="Courier New" pitchFamily="34" charset="0"/>
                <a:ea typeface="Courier New" pitchFamily="34" charset="-122"/>
                <a:cs typeface="Courier New" pitchFamily="34" charset="-120"/>
              </a:rPr>
              <a:t># v1 = partial sums, one per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vsetvli t2, t1, e32, m1, tu,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vle32.v v2, (t0)            </a:t>
            </a:r>
            <a:pPr indent="0" marL="0">
              <a:buNone/>
            </a:pPr>
            <a:r>
              <a:rPr lang="en-US" sz="1500" dirty="0">
                <a:solidFill>
                  <a:srgbClr val="8FB3A0"/>
                </a:solidFill>
                <a:latin typeface="Courier New" pitchFamily="34" charset="0"/>
                <a:ea typeface="Courier New" pitchFamily="34" charset="-122"/>
                <a:cs typeface="Courier New" pitchFamily="34" charset="-120"/>
              </a:rPr>
              <a:t># load t2 words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vadd.vv v1, v1, v2          </a:t>
            </a:r>
            <a:pPr indent="0" marL="0">
              <a:buNone/>
            </a:pPr>
            <a:r>
              <a:rPr lang="en-US" sz="1500" dirty="0">
                <a:solidFill>
                  <a:srgbClr val="8FB3A0"/>
                </a:solidFill>
                <a:latin typeface="Courier New" pitchFamily="34" charset="0"/>
                <a:ea typeface="Courier New" pitchFamily="34" charset="-122"/>
                <a:cs typeface="Courier New" pitchFamily="34" charset="-120"/>
              </a:rPr>
              <a:t># add them, lane by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t3, t2,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t3</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bnez t1, 1b</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vmv.s.x v3, zero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vredsum.vs v3, v1, v3       </a:t>
            </a:r>
            <a:pPr indent="0" marL="0">
              <a:buNone/>
            </a:pPr>
            <a:r>
              <a:rPr lang="en-US" sz="1500" dirty="0">
                <a:solidFill>
                  <a:srgbClr val="8FB3A0"/>
                </a:solidFill>
                <a:latin typeface="Courier New" pitchFamily="34" charset="0"/>
                <a:ea typeface="Courier New" pitchFamily="34" charset="-122"/>
                <a:cs typeface="Courier New" pitchFamily="34" charset="-120"/>
              </a:rPr>
              <a:t># add the lanes together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vmv.x.s a0, v3</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vle32.v carica più parole insieme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vadd.vv somma registro a registro, corsia per corsia</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Alla fine vredsum somma tra loro le corsie</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Sedici numeri, da 1 a 16: il risultato è 136</a:t>
            </a:r>
            <a:endParaRPr lang="en-US" sz="1400" dirty="0"/>
          </a:p>
        </p:txBody>
      </p:sp>
      <p:sp>
        <p:nvSpPr>
          <p:cNvPr id="17" name="Shape 15"/>
          <p:cNvSpPr/>
          <p:nvPr/>
        </p:nvSpPr>
        <p:spPr>
          <a:xfrm>
            <a:off x="7657668" y="91440"/>
            <a:ext cx="3985387" cy="274320"/>
          </a:xfrm>
          <a:prstGeom prst="rect">
            <a:avLst/>
          </a:prstGeom>
          <a:solidFill>
            <a:srgbClr val="E0F2FE"/>
          </a:solidFill>
          <a:ln w="12700">
            <a:solidFill>
              <a:srgbClr val="0369A1"/>
            </a:solidFill>
            <a:prstDash val="solid"/>
          </a:ln>
        </p:spPr>
      </p:sp>
      <p:sp>
        <p:nvSpPr>
          <p:cNvPr id="18" name="Shape 16"/>
          <p:cNvSpPr/>
          <p:nvPr/>
        </p:nvSpPr>
        <p:spPr>
          <a:xfrm>
            <a:off x="765766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20" name="Text 17"/>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istruzioni vettoriali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mappa di Verm1, un thread per cella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the kernel: this function runs once in every thread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__global__ void clear(unsigned char *grid, int n)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int i = blockIdx.x * blockDim.x + threadIdx.x;   </a:t>
            </a:r>
            <a:pPr indent="0" marL="0">
              <a:buNone/>
            </a:pPr>
            <a:r>
              <a:rPr lang="en-US" sz="1250" dirty="0">
                <a:solidFill>
                  <a:srgbClr val="8FB3A0"/>
                </a:solidFill>
                <a:latin typeface="Courier New" pitchFamily="34" charset="0"/>
                <a:ea typeface="Courier New" pitchFamily="34" charset="-122"/>
                <a:cs typeface="Courier New" pitchFamily="34" charset="-120"/>
              </a:rPr>
              <a:t>// who am I?</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if (i &lt; 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grid[i] = 0;                                 </a:t>
            </a:r>
            <a:pPr indent="0" marL="0">
              <a:buNone/>
            </a:pPr>
            <a:r>
              <a:rPr lang="en-US" sz="1250" dirty="0">
                <a:solidFill>
                  <a:srgbClr val="8FB3A0"/>
                </a:solidFill>
                <a:latin typeface="Courier New" pitchFamily="34" charset="0"/>
                <a:ea typeface="Courier New" pitchFamily="34" charset="-122"/>
                <a:cs typeface="Courier New" pitchFamily="34" charset="-120"/>
              </a:rPr>
              <a:t>// my cell, and only mine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host: 4 blocks of 256 threads cover the 960 cells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clear&lt;&lt;&lt;(960 + 255) / 256, 256&gt;&gt;&gt;(grid, 960);</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Non c'è un ciclo: ci sono 960 thread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Ogni thread calcola il proprio indice e fa uno store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thread vanno a blocchi; gli ultimi non trovano nulla da fare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Per 960 byte le copie costano molto più del lavoro</a:t>
            </a:r>
            <a:endParaRPr lang="en-US" sz="1200" dirty="0"/>
          </a:p>
        </p:txBody>
      </p:sp>
      <p:sp>
        <p:nvSpPr>
          <p:cNvPr id="17" name="Shape 15"/>
          <p:cNvSpPr/>
          <p:nvPr/>
        </p:nvSpPr>
        <p:spPr>
          <a:xfrm>
            <a:off x="7723327" y="91440"/>
            <a:ext cx="3919728" cy="274320"/>
          </a:xfrm>
          <a:prstGeom prst="rect">
            <a:avLst/>
          </a:prstGeom>
          <a:solidFill>
            <a:srgbClr val="E0F2FE"/>
          </a:solidFill>
          <a:ln w="12700">
            <a:solidFill>
              <a:srgbClr val="0369A1"/>
            </a:solidFill>
            <a:prstDash val="solid"/>
          </a:ln>
        </p:spPr>
      </p:sp>
      <p:sp>
        <p:nvSpPr>
          <p:cNvPr id="18" name="Shape 16"/>
          <p:cNvSpPr/>
          <p:nvPr/>
        </p:nvSpPr>
        <p:spPr>
          <a:xfrm>
            <a:off x="7723327"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20" name="Text 17"/>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acceleratori GPU e FPGA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regola dell'inversione a U di Verm1, in hardware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Lecture 12: opposite directions differ in bit 1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module uturn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dir,      </a:t>
            </a:r>
            <a:pPr indent="0" marL="0">
              <a:buNone/>
            </a:pPr>
            <a:r>
              <a:rPr lang="en-US" sz="1500" dirty="0">
                <a:solidFill>
                  <a:srgbClr val="8FB3A0"/>
                </a:solidFill>
                <a:latin typeface="Courier New" pitchFamily="34" charset="0"/>
                <a:ea typeface="Courier New" pitchFamily="34" charset="-122"/>
                <a:cs typeface="Courier New" pitchFamily="34" charset="-120"/>
              </a:rPr>
              <a:t>// direction of the last step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want,     </a:t>
            </a:r>
            <a:pPr indent="0" marL="0">
              <a:buNone/>
            </a:pPr>
            <a:r>
              <a:rPr lang="en-US" sz="1500" dirty="0">
                <a:solidFill>
                  <a:srgbClr val="8FB3A0"/>
                </a:solidFill>
                <a:latin typeface="Courier New" pitchFamily="34" charset="0"/>
                <a:ea typeface="Courier New" pitchFamily="34" charset="-122"/>
                <a:cs typeface="Courier New" pitchFamily="34" charset="-120"/>
              </a:rPr>
              <a:t>// direction asked by the player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output wire       refuse    </a:t>
            </a:r>
            <a:pPr indent="0" marL="0">
              <a:buNone/>
            </a:pPr>
            <a:r>
              <a:rPr lang="en-US" sz="1500" dirty="0">
                <a:solidFill>
                  <a:srgbClr val="8FB3A0"/>
                </a:solidFill>
                <a:latin typeface="Courier New" pitchFamily="34" charset="0"/>
                <a:ea typeface="Courier New" pitchFamily="34" charset="-122"/>
                <a:cs typeface="Courier New" pitchFamily="34" charset="-120"/>
              </a:rPr>
              <a:t>// 1 = this would be a U-turn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assign refuse = (dir ^ want) == 2'b10;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endmodule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Verilog: un linguaggio che descrive circuiti, non passi</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assign è un filo, sempre vero: non c'è un prima e un dopo</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Due porte XOR e una AND con un ingresso negato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Sul kit questa regola costava tre istruzioni e tre cicli</a:t>
            </a:r>
            <a:endParaRPr lang="en-US" sz="1200" dirty="0"/>
          </a:p>
        </p:txBody>
      </p:sp>
      <p:sp>
        <p:nvSpPr>
          <p:cNvPr id="17" name="Shape 15"/>
          <p:cNvSpPr/>
          <p:nvPr/>
        </p:nvSpPr>
        <p:spPr>
          <a:xfrm>
            <a:off x="7723327" y="91440"/>
            <a:ext cx="3919728" cy="274320"/>
          </a:xfrm>
          <a:prstGeom prst="rect">
            <a:avLst/>
          </a:prstGeom>
          <a:solidFill>
            <a:srgbClr val="E0F2FE"/>
          </a:solidFill>
          <a:ln w="12700">
            <a:solidFill>
              <a:srgbClr val="0369A1"/>
            </a:solidFill>
            <a:prstDash val="solid"/>
          </a:ln>
        </p:spPr>
      </p:sp>
      <p:sp>
        <p:nvSpPr>
          <p:cNvPr id="18" name="Shape 16"/>
          <p:cNvSpPr/>
          <p:nvPr/>
        </p:nvSpPr>
        <p:spPr>
          <a:xfrm>
            <a:off x="7723327"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20" name="Text 17"/>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acceleratori GPU e FPGA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Svuotare la mappa di Verm1: 960 celle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52850"/>
                <a:gridCol w="5388716"/>
                <a:gridCol w="285285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Passi nel tempo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Il kit: 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byte per giro, un'istruzione per ciclo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3 840 cicli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Core RISC-V fuori ordine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 stesso binario; più istruzioni per ciclo, il salto predetto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una frazione di quei cicli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RISC-V con i vettori, 128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byte per giro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60 giri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GPU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thread, uno per cella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lancio, più due copie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FPGA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flip-flop con un reset comune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ciclo di clock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Le prime tre righe sono lo stesso insieme di istruzioni. La prima e la terza sono state eseguite per queste slide.</a:t>
            </a:r>
            <a:endParaRPr lang="en-US" sz="1500" dirty="0"/>
          </a:p>
        </p:txBody>
      </p:sp>
      <p:sp>
        <p:nvSpPr>
          <p:cNvPr id="5" name="Shape 2"/>
          <p:cNvSpPr/>
          <p:nvPr/>
        </p:nvSpPr>
        <p:spPr>
          <a:xfrm>
            <a:off x="7723327" y="91440"/>
            <a:ext cx="3919728" cy="274320"/>
          </a:xfrm>
          <a:prstGeom prst="rect">
            <a:avLst/>
          </a:prstGeom>
          <a:solidFill>
            <a:srgbClr val="E0F2FE"/>
          </a:solidFill>
          <a:ln w="12700">
            <a:solidFill>
              <a:srgbClr val="0369A1"/>
            </a:solidFill>
            <a:prstDash val="solid"/>
          </a:ln>
        </p:spPr>
      </p:sp>
      <p:sp>
        <p:nvSpPr>
          <p:cNvPr id="6" name="Shape 3"/>
          <p:cNvSpPr/>
          <p:nvPr/>
        </p:nvSpPr>
        <p:spPr>
          <a:xfrm>
            <a:off x="7723327"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8" name="Text 4"/>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acceleratori GPU e FPGA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(1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24: Beyond One Core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l24.S: the loop that empties the map of Verm1, one byte at a time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a green square: the 960 bytes of the map, filled with ones by init,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were all set to zero by the four-instruction loop of the lecture. A red square would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mean that some byte survived.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l24.S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l24 --name l24 --out l24.prg32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RED,   0xf800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CELLS, 960              </a:t>
            </a:r>
            <a:pPr indent="0" marL="0">
              <a:buNone/>
            </a:pPr>
            <a:r>
              <a:rPr lang="en-US" sz="1500" dirty="0">
                <a:solidFill>
                  <a:srgbClr val="8FB3A0"/>
                </a:solidFill>
                <a:latin typeface="Courier New" pitchFamily="34" charset="0"/>
                <a:ea typeface="Courier New" pitchFamily="34" charset="-122"/>
                <a:cs typeface="Courier New" pitchFamily="34" charset="-120"/>
              </a:rPr>
              <a:t># 40 columns by 24 rows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l24_draw</a:t>
            </a:r>
            <a:endParaRPr lang="en-US" sz="15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(2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l24_init:                    </a:t>
            </a:r>
            <a:pPr indent="0" marL="0">
              <a:buNone/>
            </a:pPr>
            <a:r>
              <a:rPr lang="en-US" sz="1650" dirty="0">
                <a:solidFill>
                  <a:srgbClr val="8FB3A0"/>
                </a:solidFill>
                <a:latin typeface="Courier New" pitchFamily="34" charset="0"/>
                <a:ea typeface="Courier New" pitchFamily="34" charset="-122"/>
                <a:cs typeface="Courier New" pitchFamily="34" charset="-120"/>
              </a:rPr>
              <a:t># fill the map with ones, so that there is work to do</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t2,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l24_update: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            </a:t>
            </a:r>
            <a:pPr indent="0" marL="0">
              <a:buNone/>
            </a:pPr>
            <a:r>
              <a:rPr lang="en-US" sz="1650" dirty="0">
                <a:solidFill>
                  <a:srgbClr val="8FB3A0"/>
                </a:solidFill>
                <a:latin typeface="Courier New" pitchFamily="34" charset="0"/>
                <a:ea typeface="Courier New" pitchFamily="34" charset="-122"/>
                <a:cs typeface="Courier New" pitchFamily="34" charset="-120"/>
              </a:rPr>
              <a:t># the loop of the lecture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zero, 0(t0)         </a:t>
            </a:r>
            <a:pPr indent="0" marL="0">
              <a:buNone/>
            </a:pPr>
            <a:r>
              <a:rPr lang="en-US" sz="1650" dirty="0">
                <a:solidFill>
                  <a:srgbClr val="8FB3A0"/>
                </a:solidFill>
                <a:latin typeface="Courier New" pitchFamily="34" charset="0"/>
                <a:ea typeface="Courier New" pitchFamily="34" charset="-122"/>
                <a:cs typeface="Courier New" pitchFamily="34" charset="-120"/>
              </a:rPr>
              <a:t># one byte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           </a:t>
            </a:r>
            <a:pPr indent="0" marL="0">
              <a:buNone/>
            </a:pPr>
            <a:r>
              <a:rPr lang="en-US" sz="1650" dirty="0">
                <a:solidFill>
                  <a:srgbClr val="8FB3A0"/>
                </a:solidFill>
                <a:latin typeface="Courier New" pitchFamily="34" charset="0"/>
                <a:ea typeface="Courier New" pitchFamily="34" charset="-122"/>
                <a:cs typeface="Courier New" pitchFamily="34" charset="-120"/>
              </a:rPr>
              <a:t># ... the next address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          </a:t>
            </a:r>
            <a:pPr indent="0" marL="0">
              <a:buNone/>
            </a:pPr>
            <a:r>
              <a:rPr lang="en-US" sz="1650" dirty="0">
                <a:solidFill>
                  <a:srgbClr val="8FB3A0"/>
                </a:solidFill>
                <a:latin typeface="Courier New" pitchFamily="34" charset="0"/>
                <a:ea typeface="Courier New" pitchFamily="34" charset="-122"/>
                <a:cs typeface="Courier New" pitchFamily="34" charset="-120"/>
              </a:rPr>
              <a:t># ... one fewer to go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              </a:t>
            </a:r>
            <a:pPr indent="0" marL="0">
              <a:buNone/>
            </a:pPr>
            <a:r>
              <a:rPr lang="en-US" sz="1650" dirty="0">
                <a:solidFill>
                  <a:srgbClr val="8FB3A0"/>
                </a:solidFill>
                <a:latin typeface="Courier New" pitchFamily="34" charset="0"/>
                <a:ea typeface="Courier New" pitchFamily="34" charset="-122"/>
                <a:cs typeface="Courier New" pitchFamily="34" charset="-120"/>
              </a:rPr>
              <a:t># ... 960 times: 3840 instructions</a:t>
            </a:r>
            <a:endParaRPr lang="en-US" sz="165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(3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grid            </a:t>
            </a:r>
            <a:pPr indent="0" marL="0">
              <a:buNone/>
            </a:pPr>
            <a:r>
              <a:rPr lang="en-US" sz="1800" dirty="0">
                <a:solidFill>
                  <a:srgbClr val="8FB3A0"/>
                </a:solidFill>
                <a:latin typeface="Courier New" pitchFamily="34" charset="0"/>
                <a:ea typeface="Courier New" pitchFamily="34" charset="-122"/>
                <a:cs typeface="Courier New" pitchFamily="34" charset="-120"/>
              </a:rPr>
              <a:t># count the bytes that are not zero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t1, CELLS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t3,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lbu  t2,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t3, t3, t2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t0, t0,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bnez t1, 2b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t3,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(4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l24_draw: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prg32_gfx_clear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GREEN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t1, 1f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RED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1:  li   a0, 136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76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.data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left: .word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grid: .space CELLS</a:t>
            </a:r>
            <a:endParaRPr lang="en-US" sz="13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un quadrato verde: i 960 byte della mappa, riempiti di uni da init, sono stati tutti posti a zero dal ciclo di quattro istruzioni della lezione. Un quadrato rosso vorrebbe dire che qualche byte è sopravvissuto.</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2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l24 --out l24.prg32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listati vettoriali: provateli sul QEMU originale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from ~/arc12/tools/tests, with the RISC-V compiler on the PATH</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riscv32-esp-elf-gcc -march=rv32imv_zicsr -mabi=ilp32 -nostdlib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-nostartfiles -T link.ld -o v.elf vector_qemu.S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binary, with vector registers of four different widths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for n in 128 256 512 1024; do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qemu-system-riscv32 -machine virt -cpu rv32,v=true,vlen=$n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-bios none -kernel v.elf -nographic -display none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echo "vlen=$n: exit code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done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kit non ha l'estensione vettoriale: questi listati girano su un RV32 emulato con V</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Codice di uscita 0: ogni controllo è passato; ogni altro valore è il numero del controllo fallito</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binario passa con registri di 128, 256, 512 e 1024 bit</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Qui serve il QEMU originale (upstream), non la versione di Espressif</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l24;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sulla macchina</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Compilate la tabella di Amdahl per p = 0,95 e n = 10, 100, 1000</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il diagramma della pipeline di un processore di larghezza tre per nove istruzioni indipendenti con cinque stadi</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Rinominate i registri del codice step-wrap di Verm1, Parte 2: quali istruzioni potrebbero correre nello stesso ciclo?</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la tabella di verità memorizzata in una tabella di look-up a quattro ingressi per refuse = (dir xor want) == 2</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Compilate tools/tests/vector_qemu.S ed eseguitelo su QEMU con vlen=128 e vlen=512: perché funziona lo stesso binario?</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Amdahl, p = 0,95: 6,9; 16,8; 19,6. Nove istruzioni, larghezza tre: sette cicli. La tabella di look-up ha quattro uni su sedici voci.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Oltre un solo core: RISC-V superscalare, HPC, GPU e FPGA: il codice</dc:title>
  <dc:subject>Lezione 24</dc:subject>
  <dc:creator>Raffaele Montella</dc:creator>
  <cp:lastModifiedBy>Raffaele Montella</cp:lastModifiedBy>
  <cp:revision>1</cp:revision>
  <dcterms:created xsi:type="dcterms:W3CDTF">2026-10-16T23:36:45Z</dcterms:created>
  <dcterms:modified xsi:type="dcterms:W3CDTF">2026-10-16T23:36:45Z</dcterms:modified>
</cp:coreProperties>
</file>