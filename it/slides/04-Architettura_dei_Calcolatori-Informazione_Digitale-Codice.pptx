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ec198802-a75a-7f71-b42e-2612daedc000}">
          <p14:sldIdLst>
            <p14:sldId id="256"/>
            <p14:sldId id="257"/>
          </p14:sldIdLst>
        </p14:section>
        <p14:section name="Strutture dati" id="{c52c20ea-03f2-fe86-ff08-aeaf805cbc56}">
          <p14:sldIdLst>
            <p14:sldId id="258"/>
          </p14:sldIdLst>
        </p14:section>
        <p14:section name="Dati e algoritmi" id="{1ea0152a-039a-e13f-1aab-1dd5b130ee0d}">
          <p14:sldIdLst>
            <p14:sldId id="259"/>
          </p14:sldIdLst>
        </p14:section>
        <p14:section name="Il programma completo" id="{01d6c0fb-d6cf-7bf5-59bb-010d2934b430}">
          <p14:sldIdLst>
            <p14:sldId id="260"/>
            <p14:sldId id="261"/>
            <p14:sldId id="262"/>
          </p14:sldIdLst>
        </p14:section>
        <p14:section name="Eseguire e provare" id="{367b9c24-0779-afd5-483a-f03052305f82}">
          <p14:sldIdLst>
            <p14:sldId id="263"/>
            <p14:sldId id="264"/>
            <p14:sldId id="265"/>
            <p14:sldId id="266"/>
            <p14:sldId id="267"/>
          </p14:sldIdLst>
        </p14:section>
        <p14:section name="Esercizi" id="{974dc7b0-5cc7-811c-8587-c70a03f904ea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presentazione del codice della Lezione 04. La presentazione della lezione contiene i concetti; questa contiene tutto ciò che si scrive e si esegue: i listati con la loro spiegazione, il programma completo, che cosa mostra, e il modo di provarlo su ciascuno dei tre host.
Stato di apprendimento: DA COMPRENDERE OGGI, alla fine di questa lezione lo spiegate, lo seguite passo passo e lo applicate da soli; DA UTILIZZARE OGGI, oggi seguite e usate la ricetta; come funziona dentro si spiega più avanti, o non fa parte del corso; DA COMPRENDERE PIÙ AVANTI, riconoscete il nome e lo scopo; lo spiega una lezione successiva. Una slide senza etichetta è contesto: una storia, un esempio, una domanda, un esercizio.
Stato di apprendimento di questa lezione. DA COMPRENDERE OGGI: analogico e digitale; bit, byte, parola; l'esadecimale; la notazione posizionale; un colore è un numero; caratteri e stringhe; l'ordine little-endian; le strutture dati; gli array in memoria; gli algoritmi. DA UTILIZZARE OGGI: shift come moltiplicazione (Lezione 05) e, usati senza essere studiati nel corso, il programma completo, gli strumenti di PRG32. DA COMPRENDERE PIÙ AVANTI: niente. Una slide senza etichetta è contesto: una storia, un esempio, una domanda, un esercizio.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contiene la presentazione, nell'ordine delle slide. Il programma della lezione è un file che potete compilare ed eseguire così com'è: partite da lì, e tornate ai listati per capire ogni parte. Il programma di questa lezione è ~/arc12/code/l04.S; tools/tests/cartridges/run.py lo compila, lo esegue su PRG32-QT con ingressi programmati e controlla i pixel del frame.
Per il docente: Procurarsi il codice una volta: git clone https://github.com/riscv-prg32/computer-architecture-with-prg32 ~/arc12. Il programma di questa lezione è ~/arc12/code/l04.S; tools/tests/cartridges/run.py lo compila, lo esegue su PRG32-QT con ingressi programmati e controlla i pixel del frame. Ogni listato di queste slide è letto dalla compilazione da un file provato, o verificato da tools/tests: si veda il suo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vettore di quattro parole, e le quattro istruzioni che leggono l'elemento 2. la carica l'indirizzo del primo elemento. L'indice viene moltiplicato per 4, la dimensione in byte di una parola, con uno scorrimento a sinistra di 2: scorrere di una posizione raddoppia un numero binario. add forma l'indirizzo dell'elemento, e lw ne legge il valore, 34. L'espressione scores[i] di un linguaggio di alto livello è esattamente questo. Notate che cosa manca: nessuno controlla che l'indice sia minore di 4.
DA COMPRENDERE OGGI: gli array in memoria. DA UTILIZZARE OGGI: shift come moltiplicazione (si studia nella Lezione 05).
Per il docente: La proprietà dello scorrimento come moltiplicazione si dimostra nella Lezione 05 (proprietà delle stringhe binarie). Chiedere: che cosa legge lw se i = 4? Ciò che segue il vettore in memoria: la macchina non controlla i limiti.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Due esempi di algoritmi che usano il caso. Il primo verifica se un numero è primo provando valori casuali: se una prova fallisce, il numero è certamente composto; se trenta prove passano, è primo con probabilità schiacciante. Barattare una minima probabilità d'errore con un grande guadagno di velocità è il modo in cui la crittografia lavora in pratica. Il secondo è un cammino casuale: il percorso è diverso a ogni esecuzione, e una simulazione media molte esecuzioni. Il listato è pseudocodice, non un linguaggio che si possa compilare.
DA COMPRENDERE OGGI: gli algoritmi.
Per il docente: Il test di Fermat mostrato qui è il più semplice; le librerie reali usano Miller-Rabin, che ne chiude le falle. Entrambi gli esempi vengono dalla slide originale.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DA UTILIZZARE OGGI: il programma completo (si usa, non si studia, in questo corso).
Per il docente: code/l04.S,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DA UTILIZZARE OGGI: il programma completo (si usa, non si studia, in questo corso).
Per il docente: code/l04.S,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DA UTILIZZARE OGGI: il programma completo (si usa, non si studia, in questo corso).
Per il docente: code/l04.S,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mostra il programma quando gira, e che cosa premere. Prevedete prima di eseguire: se lo schermo è diverso da questa immagine, la differenza è informazione. L'immagine è stata scritta dal test automatico, non disegnata a mano.
Per il docente: L'immagine è il frame che l'esecutore senza interfaccia di PRG32-QT ha prodotto nel test di questo programma. Su QEMU e sulla scheda l'area di gioco è la stessa, 320 per 200 pixel, tra le due bande di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via più rapida: PRG32-QT sul vostro computer. Quattro passi, ciascuno con il suo comando. PRG32-QT si comporta come una scheda sulla porta 8080, ed è per questo che il comando di caricamento dice esp32c6. Con la modalità debug abilitata potete fermarvi su qualsiasi istruzione e leggere registri e memoria.
DA UTILIZZARE OGGI: gli strumenti di PRG32 (si usa, non si studia, in questo corso).
Per il docente: Eseguito dai test: la cartuccia di questa slide è compilata con questo comando ed eseguita sull'esecutore senza interfaccia di PRG32-QT. Senza la toolchain: importate il file .prg32 in PRG32-QT e scegliete Run Cartridge. Tasti: frecce o WASD per il joystick, Z o J per A, X o K per B, Invio per Start, Esc per tornare a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sull'emulatore. QEMU esegue il firmware vero su un chip emulato, quindi la cartuccia va compilata per l'architettura qemu. Caricate la cartuccia mentre QEMU è chiuso. Il firmware si apre sul menu Setup: scegliete Run Cartridge e lo slot. Ricordate che la tastiera è letta dal terminale, non dalla finestra con l'immagine.
DA UTILIZZARE OGGI: gli strumenti di PRG32 (si usa, non si studia, in questo corso).
Per il docente: Verificato dai test fino al caricamento: la cartuccia è compilata per l'architettura qemu e accettata nell'immagine flash dell'emulatore. Ciò che l'emulatore poi mostra non è verificato automaticamente: il QEMU di Espressif ha bisogno della sua finestra. Dall'ottobre 2026 il firmware parte da Setup: scegliete Run Cartridge, poi cart0.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 kit. Il firmware si scrive una volta, via USB; dopo, le cartucce viaggiano sul Wi-Fi. Il comando di caricamento è quello usato per PRG32-QT con l'indirizzo della scheda. È l'unico host che i test automatici non eseguono: provatelo, e riferite ciò che vedete.
DA UTILIZZARE OGGI: gli strumenti di PRG32 (si usa, non si studia, in questo corso).
Per il docente: Non eseguito dai test: sulla macchina di prova non c'è una scheda. La cartuccia per l'architettura esp32c6 è compilata dai test; i passi sono quelli della documentazione di PRG32. Se la porta seriale non viene trovata, passatela esplicitamente. Per usare il Wi-Fi dell'aula: python3 -m prg32 wifi set --ssid NOME --password PASSWORD --mode 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cinque sintomi più comuni, che cosa significa ciascuno, e che cosa fare. Leggete il messaggio prima di cambiare qualcosa: quasi sempre nomina la causa.
DA UTILIZZARE OGGI: gli strumenti di PRG32 (si usa, non si studia, in questo corso).
Per il docente: Le prime tre righe coprono la maggior parte dei casi. Quando chiedete aiuto, incollate il comando e l'intero messaggio come testo. docs/usage/troubleshooting.md del repository di PRG32 ha l'elenco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Quattro esercizi sulla cartuccia della Lezione 02. Calcolate a mano un valore RGB565 prima di provarlo: scegliete le tre intensità, scrivete i campi in binario, raggruppate per quattro. Stampate il vostro nome e contate i byte, terminatore compreso. Dichiarate un vettore di colori con .word e leggetelo con lw, come nella slide del vettore. Infine guardate la stringa e il vettore nella vista della memoria di PRG32-QT: trovate lo zero finale, e verificate che ogni parola mostri per primo il byte meno significativo.
Per il docente: Esempio di grigio scuro: rosso 8 su 31, verde 16 su 63, blu 8 su 31 = 01000 010000 01000 = 0x4208, il GREY del laboratorio del libro di PRG32.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04: Informazione digitale (codice)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04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Rappresentare l'informazione digitale: il codice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codice: ogni listato spiegato, il programma completo, e come provarlo su PRG32-QT, su QEMU e sulla scheda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codice. I concetti, le figure e le domande sono nella presentazione della lezione: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04-Architettura_dei_Calcolatori-Informazione_Digitale.pptx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3" name="Image 0" descr="/Users/raffaelemontella/devel/riscv-prg32/computer-architecture-with-prg32/tools/assets/lab1_step2_hell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6975" y="4280535"/>
            <a:ext cx="2834640" cy="177165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8910777" y="91440"/>
            <a:ext cx="27322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5" name="Shape 12"/>
          <p:cNvSpPr/>
          <p:nvPr/>
        </p:nvSpPr>
        <p:spPr>
          <a:xfrm>
            <a:off x="89382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9382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9382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793" y="128016"/>
            <a:ext cx="201168" cy="20116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9294825" y="91440"/>
            <a:ext cx="2311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675069" y="91440"/>
            <a:ext cx="21259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67506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993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85" y="128016"/>
            <a:ext cx="201168" cy="20116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7059117" y="91440"/>
            <a:ext cx="1705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4352747" y="91440"/>
            <a:ext cx="221259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435274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763" y="128016"/>
            <a:ext cx="201168" cy="201168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4736795" y="91440"/>
            <a:ext cx="1791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questa presentazione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8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54025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2 listati della Lezione 04, uno per slide: leggete il codice, poi le osservazioni numerate a fianco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67919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completo: code/l04.S, 56 righe, stampato per intero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93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57530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dovreste vedere quando gira, verificato sull'esecutore senza interfaccia di PRG32-QT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3252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7142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provarlo, passo per passo: su PRG32-QT, su QEMU, sulla scheda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6286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61035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esercizi: modificare il programma, prevedere, eseguire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vettore in memoria, un elemento in un registro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.data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scores: .word 32, 11, 34, 22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four 32-bit words, 16 bytes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scores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t0 = ADDRESS of element 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2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index i = 2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t1, t1, 2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offset = i * 4 bytes (shift left by 2)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ADDRESS of element i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a0, 0(t0)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VALUE of scores[2] = 34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vettore è un indirizzo base più elementi di uguale dimensione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29600" y="265633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79349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L'elemento i di un vettore di parole sta a base + 4 x i, perché una parola sono quattro byte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0" y="389534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3250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slli di 2 moltiplica per quattro: uno scorrimento è una moltiplicazione per una potenza di due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0" y="513435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27151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L'espressione di alto livello scores[i] è esattamente queste quattro istruzioni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650431" y="91440"/>
            <a:ext cx="4992624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50431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05295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78447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7034479" y="914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shift come moltiplicazione</a:t>
            </a:r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Lezione 05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2817952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817952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5968" y="128016"/>
            <a:ext cx="201168" cy="201168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3202000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array in memoria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algoritmo probabilistico: n è primo?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is_probably_prime(n):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repeat 30 times: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 = random(2, n - 2)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a^(n-1) mod n != 1: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COMPOSITE          # certain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PROBABLY PRIME             # almost certain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random_walk():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t &lt; t_final: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 = random(-1, 1)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x = x + r * u                 # a different path every run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y = y + r * v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 = t + 1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prima risposta è sempre giusta; la seconda è giusta con probabilità schiacciante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229600" y="306933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0649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Barattare una minima probabilità d'errore con un enorme guadagno di velocità: così la crittografia reale verifica i primi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229600" y="472135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85851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cammino casuale dà un risultato diverso a ogni esecuzione: le simulazioni ne mediano molti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379917" y="91440"/>
            <a:ext cx="3263138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7991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7933" y="128016"/>
            <a:ext cx="201168" cy="20116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763965" y="91440"/>
            <a:ext cx="28425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algoritmi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l04.S (1 di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ARC12 Computer Architecture - Lecture 04: Representing Digital Information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l04.S: an array in memory, an element in a register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screen: four horizontal bars, one per element of the array (32, 11, 34, 22,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four pixels per unit); element 2, the one the listing loads, is yellow.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Build: python3 -m prg32 cartridge build l04.S --portable \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  --entry-prefix l04 --name l04 --out l04.prg32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BLACK,  0x0000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WHITE,  0xffff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YELLOW, 0xffe0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l04_init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l04_update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l04_draw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l04_init: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l04_update: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l04.S (2 di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l04_draw: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8(sp)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BLACK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s0, 0 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index i, 0 to 3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la   t0, scores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t0 = ADDRESS of element 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t1, s0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index 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t1, t1, 2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offset = i * 4 bytes (shift left by 2)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ADDRESS of element 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a2, 0(t0)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VALUE of scores[i]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a2, a2, 2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width: four pixels per unit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WHITE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t0, 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  s0, t0, 2f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YELLOW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scores[2] = 34: the element of the slide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li   a0, 20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a1, s0, 5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a1, a1, 30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 = 30 + 32 * 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16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height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s0, s0, 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t0, 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l04.S (3 di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  s0, t0, 1b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s0, 8(sp)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.data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scores: .word 32, 11, 34, 22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four 32-bit words, 16 bytes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che cosa dovreste vedere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5468112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quattro barre orizzontali, una per elemento dell'array (32, 11, 34, 22, quattro pixel per unità); l'elemento 2, quello che il listato carica, è giallo.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388924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3767328"/>
            <a:ext cx="5468112" cy="733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premere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niente: il programma va da solo</a:t>
            </a:r>
            <a:endParaRPr lang="en-US" sz="2400" dirty="0"/>
          </a:p>
        </p:txBody>
      </p:sp>
      <p:pic>
        <p:nvPicPr>
          <p:cNvPr id="7" name="Image 0" descr="/Users/raffaelemontella/devel/riscv-prg32/computer-architecture-with-prg32/tools/assets/lab_l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042255"/>
            <a:ext cx="4876495" cy="30478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frame scritto dal test automatico su PRG32-QT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PRG32-QT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start PRG32-QT on this computer (it listens on port 8080)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in the PRG32 folder, with ESP-IDF active: build the cartridge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~/arc12/code/l04.S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l04 --name l04 --out l04.prg32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send it to PRG32-QT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l04.prg32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look, press, compare with the previous slide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deve essere in esecuzione: risponde sulla porta 8080, come una scheda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compila una volta, dalla cartella PRG32, con ESP-IDF attivo nel terminale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upload-and-run memorizza la cartuccia nello slot cart0 e la avvia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Modalità debug, in Settings: fermare il programma, leggere registri e memoria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once: build the firmware for QEMU (several minutes)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build the cartridge for the emulated chip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~/arc12/code/l04.S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l04 --name l04 --architecture qemu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l04-qemu.prg32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with QEMU closed, stage the cartridge into its flash image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l04-qemu.prg32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start the emulator; on Setup choose Run Cartridge, then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L'emulatore esegue il firmware vero su un chip emulato: si compila una volta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compilata per l'architettura qemu: lo stesso sorgente, un altro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carica la cartuccia con QEMU chiuso, poi lo si avvia e si sceglie Run Cartridge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tasti vanno al terminale: frecce o WASD, Z o J per A, X o K per B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sulla scheda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 per board: write the firmware through the USB cable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build-and-flash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join the Wi-Fi network of the board: PRG32, password prg32game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build the cartridge for the board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~/arc12/code/l04.S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l04 --name l04 --architecture esp32c6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l04-esp32c6.prg32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send it over Wi-Fi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l04-esp32c6.prg32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http://192.168.4.1 --slot cart0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si scrive una volta per scheda, attraverso il cavo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crea la rete Wi-Fi PRG32: collegatevi con il vostro computer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comando di caricamento di PRG32-QT, con l'indirizzo della scheda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Schermo nero: confrontate il cablaggio del display con il firmware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non funziona</a:t>
            </a:r>
            <a:endParaRPr lang="en-US" sz="3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manca un punto di ingresso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prefisso non è quello del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--entry-prefix l04; controllate le tre righe .global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l'host non ascolta a quell'indirizzo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 PRG32-QT;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schermo nero, o di nuovo il menu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funzione non ritorna, o ra non è stato salvato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modalità debug: passo-passo in init, update, draw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clic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Esercizi su PRG32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Colorate di magenta la barra della Lezione 02, poi di un grigio scuro a scelta: calcolate prima a mano il valore RGB565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459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327656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Stampate il vostro nome con prg32_gfx_text8. Quanti byte occupa la stringa?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2562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3237992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Dichiarate con .word un vettore di quattro colori e disegnate quattro barre, una per colore, leggendo ogni colore con lw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1666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4148328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PRG32-QT aprite la vista della memoria sulla stringa e sul vettore: trovate lo zero finale e verificate l'ordine dei byte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Quattro barre in quattro colori; nella vista della memoria la stringa finisce con 00 e ogni .word mostra per primo il byte meno significativo.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Rappresentare l'informazione digitale: il codice</dc:title>
  <dc:subject>Lezione 04</dc:subject>
  <dc:creator>Raffaele Montella</dc:creator>
  <cp:lastModifiedBy>Raffaele Montella</cp:lastModifiedBy>
  <cp:revision>1</cp:revision>
  <dcterms:created xsi:type="dcterms:W3CDTF">2026-10-16T16:46:57Z</dcterms:created>
  <dcterms:modified xsi:type="dcterms:W3CDTF">2026-10-16T16:46:57Z</dcterms:modified>
</cp:coreProperties>
</file>