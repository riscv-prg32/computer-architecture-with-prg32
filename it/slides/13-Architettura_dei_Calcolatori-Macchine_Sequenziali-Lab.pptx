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a4a6791-9ebc-98da-f55b-a7bd612d82f4}">
          <p14:sldIdLst>
            <p14:sldId id="256"/>
            <p14:sldId id="257"/>
          </p14:sldIdLst>
        </p14:section>
        <p14:section name="Riscaldamento sulla macchina" id="{4bb543fa-dba8-315b-f1f6-0a7249c419ae}">
          <p14:sldIdLst>
            <p14:sldId id="258"/>
          </p14:sldIdLst>
        </p14:section>
        <p14:section name="Macchine a stati finiti" id="{f2fef9ac-f7c0-a0a7-5f12-64942fb796ef}">
          <p14:sldIdLst>
            <p14:sldId id="259"/>
          </p14:sldIdLst>
        </p14:section>
        <p14:section name="Ritorno alla macchina" id="{eeb92743-b88d-67f3-f8d5-7261df504f80}">
          <p14:sldIdLst>
            <p14:sldId id="260"/>
            <p14:sldId id="261"/>
          </p14:sldIdLst>
        </p14:section>
        <p14:section name="Il programma completo" id="{4268cd3a-db7e-8cef-bb91-f321b3b0984b}">
          <p14:sldIdLst>
            <p14:sldId id="262"/>
            <p14:sldId id="263"/>
            <p14:sldId id="264"/>
          </p14:sldIdLst>
        </p14:section>
        <p14:section name="Eseguire e provare" id="{58d8ecc4-c0d2-032a-6c06-605068ea81bb}">
          <p14:sldIdLst>
            <p14:sldId id="265"/>
            <p14:sldId id="266"/>
            <p14:sldId id="267"/>
            <p14:sldId id="268"/>
            <p14:sldId id="269"/>
          </p14:sldIdLst>
        </p14:section>
        <p14:section name="Esercizi" id="{b667f862-9fad-adb0-01f5-f2e4cc35327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13.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macchine a stati finiti; il clock; latch e flip-flop; i registri come flip-flop. DA UTILIZZARE OGGI: il programma completo, gli strumenti di PRG32 (si usa, non si studia, in questo corso). DA COMPRENDERE PIÙ AVANTI: niente. Una slide senza etichetta è contesto: una storia, un esempio, una domanda, un esercizio.
Percorso. I risultati di oggi: (1) descrivere una macchina a stati finiti con un diagramma degli stati; (2) spiegare il clock e perché un circuito deve stabilizzarsi entro un periodo; (3) distinguere un latch da un flip-flop e costruire un registro. Si appoggia su: solo ciò che ha preparato la Lezione 01. Prossimo passo: Lezione 14, Macchine elementari: registri e 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~/arc12/code/l13.S;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~/arc12/code/l13.S;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riscaldamento: un gioco con una schermata del titolo, un campo di gioco e una schermata di fine partita. La variabile state contiene uno di tre valori. game_update legge il pulsante A e lo stato presente: in TITLE, premere A porta a PLAY; in OVER, premere A riporta a TITLE; altrimenti non cambia nulla. L'effetto di A dipende quindi dallo stato, che è la proprietà che definisce una macchina a stati: update calcola lo stato successivo dallo stato presente e dall'ingresso, lo stato persiste in memoria da un frame all'altro, e draw mostra una schermata per ogni stato. Il programma anticipa ogni concetto della lezione.
DA COMPRENDERE OGGI: macchine a stati finiti.
Per il docente: Scritto per questa lezione; il gioco finale del libro di PRG32 ha la stessa struttura. Bug da discutere: tenendo premuto A nella schermata OVER si va a TITLE e, un frame dopo, a PLAY. Per correggerlo bisogna ricordare il valore precedente del pulsante: un bit di stato in più.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gioco del riscaldamento disegnato come diagramma degli stati: tre stati, con A che porta da TITLE a PLAY e da OVER a TITLE, e l'esaurimento delle vite che porta da PLAY a OVER. Gli anelli su ogni stato rappresentano i casi in cui nulla cambia. La tabella sotto elenca, per ogni stato, l'ingresso che lo cambia, lo stato successivo e l'uscita disegnata. Disegnare il diagramma prima di scrivere il codice è l'abitudine di progetto più preziosa per un gioco, perché costringe a considerare esplicitamente ogni transizione. Il diagramma rivela anche un difetto discusso nella nota del riscaldamento: tenere premuto A su OVER passa per TITLE fino a PLAY, cosa che solo un bit di stato in più può impedire.
DA COMPRENDERE OGGI: macchine a stati finiti.
Per il docente: Una macchina di Moore con tre stati: basterebbero due bit di stato, il programma usa una parola intera. Disegnare il diagramma prima di scrivere il codice è l'abitudine di progetto più utile per un gioco.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program counter, PC, è il registro che contiene l'indirizzo dell'istruzione in esecuzione. Il suo valore successivo è calcolato da una piccola rete: un sommatore produce PC + 4, l'indirizzo dell'istruzione seguente, e un multiplexer sceglie tra quello e la destinazione di un salto. A ogni fronte di clock il valore successivo diventa quello presente. La struttura è esattamente l'architettura generale di una macchina sequenziale. Con il solo cammino +4 è un contatore, la più semplice di tutte le macchine a stati.
DA COMPRENDERE OGGI: i registri come flip-flop.
Per il docente: Il comparatore della Lezione 11 produce «salto eseguito?» per beq e bne. Le istruzioni distano 4 byte; con l'estensione compressa il sommatore aggiunge 2 per le istruzioni a 16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processore nel suo insieme è una macchina sequenziale. Il suo stato comprende il program counter, i trentadue registri e la memoria. Il suo ingresso è l'istruzione trovata all'indirizzo contenuto nel PC, insieme ai dati che legge. La rete dello stato successivo consiste di decoder, multiplexer e ALU, e a ogni fronte di clock i registri nominati dall'istruzione assumono i loro nuovi valori. Eseguire un programma è un attraversamento degli stati di una macchina a stati molto grande, e l'esecuzione passo-passo in PRG32-QT mostra quell'attraversamento uno stato alla volta.
DA COMPRENDERE OGGI: macchine a stati finiti.
Per il docente: È il ponte verso le lezioni sul processore: datapath (la parte combinatoria e i registri) e controllo (a sua volta una macchina a stati finiti nei progetti multiciclo e microprogrammati).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code/l13.S,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Progettare una macchina la cui uscita vale 1 quando gli ultimi due ingressi sono stati entrambi 1, sia come macchina di Moore sia come macchina di Mealy, e confrontare il numero di stati richiesti. Completare un diagramma temporale di un latch SR. Sintetizzare un contatore modulo 3 con due flip-flop D, considerando che cosa debba accadere nel quarto stato non usato. Aggiungere uno stato PAUSE al gioco del riscaldamento, disegnando prima il diagramma. E far agire il pulsante A solo su una nuova pressione: è il rilevamento dei fronti in software, usato nella Parte 3 di Verm1.
Per il docente: Esercizio 1: a Moore servono tre stati (nessun 1 visto, un 1 visto, due o più), a Mealy due. Esercizio 3: D1 = Q0, D0 = Q1'Q0' con lo stato 11 come indifferenza, oppure progettato per tornare a 00. Esercizio 5: si tiene prev in memoria; pressed_now = buttons AND NOT prev; poi si memorizza buttons in prev.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13: Macchine sequenziali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sequenziali: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13-Architettura_dei_Calcolatori-Macchine_Sequenziali.pptx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pac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13: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code/l13.S, 65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gioco è una macchina a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buttons: the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present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a0, 0x10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stay until A is pressed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t3, OVER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done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is handled elsewhere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OVER: stay until A is pressed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TITLE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next state becomes the present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Premere A avvia il gioco dalla schermata del titolo e vi ritorna dalla schermata di fine partita: l'effetto dipende dallo stato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una parola in memoria che sopravvive da un frame all'altro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calcola lo stato prossimo dallo stato presente e dall'ingresso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mostra una schermata diversa per ogni stato: l'uscita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riscaldamento come diagramma degli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3017520"/>
          </a:xfrm>
          <a:prstGeom prst="roundRect">
            <a:avLst>
              <a:gd name="adj" fmla="val 242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363" y="1463040"/>
            <a:ext cx="5848969" cy="29260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476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presente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che lo cambia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 prossimo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Uscita (draw)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schermata del titolo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PLAY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= 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campo di gioco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premuto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punteggio finale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 counter: un registro in un anello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69748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32 bit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783080"/>
            <a:ext cx="1463040" cy="914400"/>
          </a:xfrm>
          <a:prstGeom prst="roundRect">
            <a:avLst>
              <a:gd name="adj" fmla="val 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sommatore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2423160"/>
            <a:ext cx="1005840" cy="1737360"/>
          </a:xfrm>
          <a:prstGeom prst="roundRect">
            <a:avLst>
              <a:gd name="adj" fmla="val 5455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37033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destinazione del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salto, dalla ALU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V="1">
            <a:off x="2953512" y="2240280"/>
            <a:ext cx="1133856" cy="73152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05272" y="2240280"/>
            <a:ext cx="768096" cy="54864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5788152" y="3794760"/>
            <a:ext cx="585216" cy="320040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34072" y="3291840"/>
            <a:ext cx="429768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3291840"/>
            <a:ext cx="0" cy="178308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920240" y="5074920"/>
            <a:ext cx="5943600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20240" y="3822192"/>
            <a:ext cx="0" cy="125272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657600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prossimo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920240" y="2057400"/>
            <a:ext cx="0" cy="612648"/>
          </a:xfrm>
          <a:prstGeom prst="line">
            <a:avLst/>
          </a:prstGeom>
          <a:noFill/>
          <a:ln w="25400">
            <a:solidFill>
              <a:srgbClr val="2E4A6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3716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flipV="1">
            <a:off x="6903720" y="4187952"/>
            <a:ext cx="0" cy="521208"/>
          </a:xfrm>
          <a:prstGeom prst="line">
            <a:avLst/>
          </a:prstGeom>
          <a:noFill/>
          <a:ln w="25400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035040" y="4727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eseguito?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146951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13648" y="1417320"/>
            <a:ext cx="30294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PC contiene l'indirizzo dell'istruzione in esecuzione: è lo stato che dice dove si trova il programma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13648" y="2489835"/>
            <a:ext cx="30294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prossimo: PC + 4 per un'istruzione normale, oppure la destinazione quando un salto viene eseguito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361454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13648" y="3562350"/>
            <a:ext cx="30294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presente, rete combinatoria, stato prossimo, clock: esattamente l'architettura generale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468706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13648" y="4634865"/>
            <a:ext cx="302940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solo percorso + 4 è un contatore: la più semplice macchina a stati finiti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552716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13648" y="5474970"/>
            <a:ext cx="302940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first_update della Lezione 02 era la stessa macchina in software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592009" y="91440"/>
            <a:ext cx="405104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9200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025" y="128016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976057" y="91440"/>
            <a:ext cx="36304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come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 è una macchina sequenziale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 counter, i trentadue registri, la memoria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093644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3684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0844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550844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l'istruzione all'indirizzo contenuto nel PC, e i dati che legge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58688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8728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dello stato prossimo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decodificatori, multiplexer e ALU calcolano i nuovi valori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23731" y="2962656"/>
            <a:ext cx="274320" cy="292608"/>
          </a:xfrm>
          <a:prstGeom prst="rightArrow">
            <a:avLst/>
          </a:prstGeom>
          <a:solidFill>
            <a:srgbClr val="5B6B78"/>
          </a:solidFill>
          <a:ln w="12700">
            <a:solidFill>
              <a:srgbClr val="5B6B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3771" y="1874520"/>
            <a:ext cx="2499284" cy="2468880"/>
          </a:xfrm>
          <a:prstGeom prst="roundRect">
            <a:avLst>
              <a:gd name="adj" fmla="val 296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0931" y="2057400"/>
            <a:ext cx="2224964" cy="685800"/>
          </a:xfrm>
          <a:prstGeom prst="roundRect">
            <a:avLst>
              <a:gd name="adj" fmla="val 10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 di clock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80931" y="2880360"/>
            <a:ext cx="22249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registri indicati dall'istruzione prendono i nuovi valori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D8ECEE"/>
          </a:solidFill>
          <a:ln w="12700">
            <a:solidFill>
              <a:srgbClr val="D8EC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00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Eseguire un programma non è che una lunga passeggiata tra gli stati di una macchina a stati finiti molto grande, un fronte di clock alla volta. L'esecuzione passo-passo in PRG32-QT mostra quella passeggiata uno stato dopo l'altro.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l13.S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13: Sequential Machines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l13.S: a game is a state machine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one colour per state. Blue is TITLE: press A and the screen turns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green, PLAY. (OVER, red, is reached only when a game ends: this warm-up has no game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yet. Hold A on the red screen and you meet the bug discussed in the lecture.)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l13.S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l13 --name l13 --out l13.prg32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l13_init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l13_update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l13_draw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l13_init: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l13.S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buttons: the INPUT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present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a0, 0x10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TITLE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1f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stay until A is pressed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store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t3,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t3, done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is handled elsewhere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done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OVER: stay until A is pressed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TITLE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next state becomes the present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l13.S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l13_draw: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colours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OUTPUT depends on the state only: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Moore machine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colours: .word 0x001f, 0x07e0, 0xf800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blue, PLAY green, OVER 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.word TITLE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03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colore per stato. Blu è TITLE: premete A e lo schermo diventa verde, PLAY. (OVER, rosso, si raggiunge solo quando una partita finisce: questo riscaldamento non ha ancora un gioco.)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2146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092702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premete 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l13 --name l13 --out l13.prg32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l13.prg32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l13 --name l13 --architecture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l13-qemu.prg32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~/arc12/code/l13.S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l13 --name l13 --architecture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l13-esp32c6.prg32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l13-esp32c6.prg32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l13;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il diagramma degli stati di una macchina che dà 1 quando gli ultimi due ingressi erano entrambi 1; scrivetela come macchina di Moore e come macchina di Mealy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570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8807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 il diagramma temporale di un latch SR per una sequenza data di S e R, segnando dove mantiene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858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029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Sintetizzate un contatore modulo 3 (0, 1, 2, 0, ...) con due flip-flop D; che cosa accade nello stato non usato?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006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81781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Aggiungete al gioco del riscaldamento uno stato PAUSE, in cui si entra e da cui si esce con il pulsante SELECT, disegnando prima il nuovo diagramma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Correggete il riscaldamento perché A debba essere rilasciato e premuto di nuovo: memorizzate lo stato precedente del pulsante e reagite solo a un passaggio da 0 a 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quattro schermate, e un pulsante tenuto premuto che causa esattamente una transizione. L'ultimo esercizio è il rilevamento del fronte in software: il programma si comporta da flip-flop invece che da latch.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Macchine sequenziali: il codice</dc:title>
  <dc:subject>Lezione 13</dc:subject>
  <dc:creator>Raffaele Montella</dc:creator>
  <cp:lastModifiedBy>Raffaele Montella</cp:lastModifiedBy>
  <cp:revision>1</cp:revision>
  <dcterms:created xsi:type="dcterms:W3CDTF">2026-10-17T07:16:50Z</dcterms:created>
  <dcterms:modified xsi:type="dcterms:W3CDTF">2026-10-17T07:16:50Z</dcterms:modified>
</cp:coreProperties>
</file>