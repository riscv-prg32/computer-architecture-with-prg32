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97a94770-04ab-a0cb-c1e4-386e9d42356a}">
          <p14:sldIdLst>
            <p14:sldId id="256"/>
            <p14:sldId id="257"/>
          </p14:sldIdLst>
        </p14:section>
        <p14:section name="Riscaldamento sulla macchina" id="{3b5e059d-f486-da90-7282-4f4eb99393a1}">
          <p14:sldIdLst>
            <p14:sldId id="258"/>
          </p14:sldIdLst>
        </p14:section>
        <p14:section name="Macchine a stati finiti" id="{41efbac8-d98a-7fb0-e9f6-911b0746e3ca}">
          <p14:sldIdLst>
            <p14:sldId id="259"/>
          </p14:sldIdLst>
        </p14:section>
        <p14:section name="Ritorno alla macchina" id="{2c4b1b3e-6c70-e873-a9a2-7d5d83b3cc1e}">
          <p14:sldIdLst>
            <p14:sldId id="260"/>
            <p14:sldId id="261"/>
          </p14:sldIdLst>
        </p14:section>
        <p14:section name="Il programma completo" id="{3be195bd-8186-bcc6-a918-dc4ca3f30149}">
          <p14:sldIdLst>
            <p14:sldId id="262"/>
            <p14:sldId id="263"/>
            <p14:sldId id="264"/>
          </p14:sldIdLst>
        </p14:section>
        <p14:section name="Eseguire e provare" id="{839359fc-b6f1-575a-f46f-ebab379727de}">
          <p14:sldIdLst>
            <p14:sldId id="265"/>
            <p14:sldId id="266"/>
            <p14:sldId id="267"/>
            <p14:sldId id="268"/>
            <p14:sldId id="269"/>
          </p14:sldIdLst>
        </p14:section>
        <p14:section name="Esercizi" id="{8dd802b5-2264-2e75-bb20-aeb4111e8648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13.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macchine a stati finiti; il clock; latch e flip-flop; i registri come flip-flop. DA UTILIZZARE OGGI: il programma completo, gli strumenti di PRG32 (si usa, non si studia, in questo corso).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Il programma di questa lezione è ~/arc12/code/l13.S;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~/arc12/code/l13.S;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riscaldamento: un gioco con una schermata del titolo, un campo di gioco e una schermata di fine partita. La variabile state contiene uno di tre valori. game_update legge il pulsante A e lo stato presente: in TITLE, premere A porta a PLAY; in OVER, premere A riporta a TITLE; altrimenti non cambia nulla. L'effetto di A dipende quindi dallo stato, che è la proprietà che definisce una macchina a stati: update calcola lo stato successivo dallo stato presente e dall'ingresso, lo stato persiste in memoria da un frame all'altro, e draw mostra una schermata per ogni stato. Il programma anticipa ogni concetto della lezione.
DA COMPRENDERE OGGI: macchine a stati finiti.
Per il docente: Scritto per questa lezione; il gioco finale del libro di PRG32 ha la stessa struttura. Bug da discutere: tenendo premuto A nella schermata OVER si va a TITLE e, un frame dopo, a PLAY. Per correggerlo bisogna ricordare il valore precedente del pulsante: un bit di stato in più.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gioco del riscaldamento disegnato come diagramma degli stati: tre stati, con A che porta da TITLE a PLAY e da OVER a TITLE, e l'esaurimento delle vite che porta da PLAY a OVER. Gli anelli su ogni stato rappresentano i casi in cui nulla cambia. La tabella sotto elenca, per ogni stato, l'ingresso che lo cambia, lo stato successivo e l'uscita disegnata. Disegnare il diagramma prima di scrivere il codice è l'abitudine di progetto più preziosa per un gioco, perché costringe a considerare esplicitamente ogni transizione. Il diagramma rivela anche un difetto discusso nella nota del riscaldamento: tenere premuto A su OVER passa per TITLE fino a PLAY, cosa che solo un bit di stato in più può impedire.
DA COMPRENDERE OGGI: macchine a stati finiti.
Per il docente: Una macchina di Moore con tre stati: basterebbero due bit di stato, il programma usa una parola intera. Disegnare il diagramma prima di scrivere il codice è l'abitudine di progetto più utile per un gioco.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program counter, PC, è il registro che contiene l'indirizzo dell'istruzione in esecuzione. Il suo valore successivo è calcolato da una piccola rete: un sommatore produce PC + 4, l'indirizzo dell'istruzione seguente, e un multiplexer sceglie tra quello e la destinazione di un salto. A ogni fronte di clock il valore successivo diventa quello presente. La struttura è esattamente l'architettura generale di una macchina sequenziale. Con il solo cammino +4 è un contatore, la più semplice di tutte le macchine a stati.
DA COMPRENDERE OGGI: i registri come flip-flop.
Per il docente: Il comparatore della Lezione 11 produce «salto eseguito?» per beq e bne. Le istruzioni distano 4 byte; con l'estensione compressa il sommatore aggiunge 2 per le istruzioni a 16 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processore nel suo insieme è una macchina sequenziale. Il suo stato comprende il program counter, i trentadue registri e la memoria. Il suo ingresso è l'istruzione trovata all'indirizzo contenuto nel PC, insieme ai dati che legge. La rete dello stato successivo consiste di decoder, multiplexer e ALU, e a ogni fronte di clock i registri nominati dall'istruzione assumono i loro nuovi valori. Eseguire un programma è un attraversamento degli stati di una macchina a stati molto grande, e l'esecuzione passo-passo in PRG32-QT mostra quell'attraversamento uno stato alla volta.
DA COMPRENDERE OGGI: macchine a stati finiti.
Per il docente: È il ponte verso le lezioni sul processore: datapath (la parte combinatoria e i registri) e controllo (a sua volta una macchina a stati finiti nei progetti multiciclo e microprogrammati).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Progettare una macchina la cui uscita vale 1 quando gli ultimi due ingressi sono stati entrambi 1, sia come macchina di Moore sia come macchina di Mealy, e confrontare il numero di stati richiesti. Completare un diagramma temporale di un latch SR. Sintetizzare un contatore modulo 3 con due flip-flop D, considerando che cosa debba accadere nel quarto stato non usato. Aggiungere uno stato PAUSE al gioco del riscaldamento, disegnando prima il diagramma. E far agire il pulsante A solo su una nuova pressione: è il rilevamento dei fronti in software, usato nella Parte 3 di Verm1.
Per il docente: Esercizio 1: a Moore servono tre stati (nessun 1 visto, un 1 visto, due o più), a Mealy due. Esercizio 3: D1 = Q0, D0 = Q1'Q0' con lo stato 11 come indifferenza, oppure progettato per tornare a 00. Esercizio 5: si tiene prev in memoria; pressed_now = buttons AND NOT prev; poi si memorizza buttons in prev.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13: Macchine sequenziali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Macchine sequenziali: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13-Architettura_dei_Calcolatori-Macchine_Sequenziali.pptx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pac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listato della Lezione 13: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code/l13.S, 65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gioco è una macchina a stati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TITLE,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PLAY, 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OVER, 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game_update: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buttons: the INPUT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the present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t2, a0, 0x10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button 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TITLE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t3, 1f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t2, done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TITLE: stay until A is pressed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PLAY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--A--&gt; PLAY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store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t3, OVER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t3, done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PLAY is handled elsewhere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t2, done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OVER: stay until A is pressed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TITLE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OVER --A--&gt; TITLE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next state becomes the present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Premere A avvia il gioco dalla schermata del titolo e vi ritorna dalla schermata di fine partita: l'effetto dipende dallo stato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è una parola in memoria che sopravvive da un frame all'altro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calcola lo stato prossimo dallo stato presente e dall'ingresso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mostra una schermata diversa per ogni stato: l'uscita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riscaldamento come diagramma degli stati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3017520"/>
          </a:xfrm>
          <a:prstGeom prst="roundRect">
            <a:avLst>
              <a:gd name="adj" fmla="val 2424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1363" y="1463040"/>
            <a:ext cx="5848969" cy="2926080"/>
          </a:xfrm>
          <a:prstGeom prst="rect">
            <a:avLst/>
          </a:prstGeom>
        </p:spPr>
      </p:pic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017520"/>
                <a:gridCol w="3017520"/>
                <a:gridCol w="304769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presente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 che lo cambia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prossimo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Uscita (draw)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TITLE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PLAY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schermata del titolo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PLAY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vite = 0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OVER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campo di gioco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OVER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TITLE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punteggio finale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 counter: un registro in un anello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697480"/>
            <a:ext cx="2011680" cy="1097280"/>
          </a:xfrm>
          <a:prstGeom prst="roundRect">
            <a:avLst>
              <a:gd name="adj" fmla="val 5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registro, 32 bit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1783080"/>
            <a:ext cx="1463040" cy="914400"/>
          </a:xfrm>
          <a:prstGeom prst="roundRect">
            <a:avLst>
              <a:gd name="adj" fmla="val 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sommatore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+ 4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2423160"/>
            <a:ext cx="1005840" cy="1737360"/>
          </a:xfrm>
          <a:prstGeom prst="roundRect">
            <a:avLst>
              <a:gd name="adj" fmla="val 5455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MUX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370332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destinazione del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salto, dalla ALU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 flipV="1">
            <a:off x="2953512" y="2240280"/>
            <a:ext cx="1133856" cy="731520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605272" y="2240280"/>
            <a:ext cx="768096" cy="548640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5788152" y="3794760"/>
            <a:ext cx="585216" cy="320040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434072" y="3291840"/>
            <a:ext cx="429768" cy="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0" y="3291840"/>
            <a:ext cx="0" cy="178308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>
            <a:off x="1920240" y="5074920"/>
            <a:ext cx="5943600" cy="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920240" y="3822192"/>
            <a:ext cx="0" cy="1252728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365760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prossimo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1920240" y="2057400"/>
            <a:ext cx="0" cy="612648"/>
          </a:xfrm>
          <a:prstGeom prst="line">
            <a:avLst/>
          </a:prstGeom>
          <a:noFill/>
          <a:ln w="25400">
            <a:solidFill>
              <a:srgbClr val="2E4A62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1371600" y="1737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 flipV="1">
            <a:off x="6903720" y="4187952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6035040" y="47274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salto eseguito?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0" y="146951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13648" y="1417320"/>
            <a:ext cx="30294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PC contiene l'indirizzo dell'istruzione in esecuzione: è lo stato che dice dove si trova il programma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22960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13648" y="2489835"/>
            <a:ext cx="30294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 prossimo: PC + 4 per un'istruzione normale, oppure la destinazione quando un salto viene eseguito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229600" y="361454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613648" y="3562350"/>
            <a:ext cx="30294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 presente, rete combinatoria, stato prossimo, clock: esattamente l'architettura generale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229600" y="468706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13648" y="4634865"/>
            <a:ext cx="3029407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il solo percorso + 4 è un contatore: la più semplice macchina a stati finiti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552716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13648" y="5474970"/>
            <a:ext cx="3029407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first_update della Lezione 02 era la stessa macchina in software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7592009" y="91440"/>
            <a:ext cx="405104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9200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0025" y="128016"/>
            <a:ext cx="201168" cy="201168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7976057" y="91440"/>
            <a:ext cx="3630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registri come flip-flop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processore è una macchina sequenziale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 counter, i trentadue registri, la memoria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093644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13684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50844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Ingresso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3550844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l'istruzione all'indirizzo contenuto nel PC, e i dati che legge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958688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78728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5888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 dello stato prossimo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415888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decodificatori, multiplexer e ALU calcolano i nuovi valori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823731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3771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80931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 di clock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9280931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registri indicati dall'istruzione prendono i nuovi valori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Eseguire un programma non è che una lunga passeggiata tra gli stati di una macchina a stati finiti molto grande, un fronte di clock alla volta. L'esecuzione passo-passo in PRG32-QT mostra quella passeggiata uno stato dopo l'altro.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l13.S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13: Sequential Machines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l13.S: a game is a state machine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one colour per state. Blue is TITLE: press A and the screen turns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green, PLAY. (OVER, red, is reached only when a game ends: this warm-up has no game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yet. Hold A on the red screen and you meet the bug discussed in the lecture.)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l13.S --portable \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l13 --name l13 --out l13.prg32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TITLE, 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PLAY,  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OVER,  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l13_init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l13_update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l13_draw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l13_init: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l13.S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l13_update: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game_update: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buttons: the INPUT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the present STATE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t2, a0, 0x10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button 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TITLE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t3, 1f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t2, done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TITLE: stay until A is pressed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PLAY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--A--&gt; PLAY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store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t3, OVER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t3, done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PLAY is handled elsewhere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t2, done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OVER: stay until A is pressed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TITLE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OVER --A--&gt; TITLE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store: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next state becomes the present state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l13.S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l13_draw: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colours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OUTPUT depends on the state only: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t1, 2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Moore machine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colours: .word 0x001f, 0x07e0, 0xf800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blue, PLAY green, OVER red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state: .word TITLE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2035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colore per stato. Blu è TITLE: premete A e lo schermo diventa verde, PLAY. (OVER, rosso, si raggiunge solo quando una partita finisce: questo riscaldamento non ha ancora un gioco.)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2146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092702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premete A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~/arc12/code/l13.S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l13 --name l13 --out l13.prg32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l13.prg32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~/arc12/code/l13.S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l13 --name l13 --architecture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l13-qemu.prg32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l13-qemu.prg32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~/arc12/code/l13.S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l13 --name l13 --architecture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l13-esp32c6.prg32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l13-esp32c6.prg32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l13;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il diagramma degli stati di una macchina che dà 1 quando gli ultimi due ingressi erano entrambi 1; scrivetela come macchina di Moore e come macchina di Mealy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5709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38807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Completate il diagramma temporale di un latch SR per una sequenza data di S e R, segnando dove mantiene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7858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860294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Sintetizzate un contatore modulo 3 (0, 1, 2, 0, ...) con due flip-flop D; che cosa accade nello stato non usato?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0006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81781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Aggiungete al gioco del riscaldamento uno stato PAUSE, in cui si entra e da cui si esce con il pulsante SELECT, disegnando prima il nuovo diagramma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215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03268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Correggete il riscaldamento perché A debba essere rilasciato e premuto di nuovo: memorizzate lo stato precedente del pulsante e reagite solo a un passaggio da 0 a 1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PRG32: quattro schermate, e un pulsante tenuto premuto che causa esattamente una transizione. L'ultimo esercizio è il rilevamento del fronte in software: il programma si comporta da flip-flop invece che da latch.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Macchine sequenziali: il codice</dc:title>
  <dc:subject>Lezione 13</dc:subject>
  <dc:creator>Raffaele Montella</dc:creator>
  <cp:lastModifiedBy>Raffaele Montella</cp:lastModifiedBy>
  <cp:revision>1</cp:revision>
  <dcterms:created xsi:type="dcterms:W3CDTF">2026-10-16T20:22:26Z</dcterms:created>
  <dcterms:modified xsi:type="dcterms:W3CDTF">2026-10-16T20:22:26Z</dcterms:modified>
</cp:coreProperties>
</file>