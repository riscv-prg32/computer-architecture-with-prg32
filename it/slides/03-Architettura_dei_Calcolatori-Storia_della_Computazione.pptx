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0fd1628-c899-8b4b-bdb8-c09e5b9ffecc}">
          <p14:sldIdLst>
            <p14:sldId id="256"/>
            <p14:sldId id="257"/>
          </p14:sldIdLst>
        </p14:section>
        <p14:section name="Che cos'è l'informatica?" id="{23c7ac84-0a04-b91b-4699-c4fb1f0b06a0}">
          <p14:sldIdLst>
            <p14:sldId id="258"/>
            <p14:sldId id="259"/>
            <p14:sldId id="260"/>
            <p14:sldId id="261"/>
          </p14:sldIdLst>
        </p14:section>
        <p14:section name="Prima dell'elettricità" id="{985fc948-758d-639f-b6d5-8f71917abea8}">
          <p14:sldIdLst>
            <p14:sldId id="262"/>
            <p14:sldId id="263"/>
            <p14:sldId id="264"/>
            <p14:sldId id="265"/>
            <p14:sldId id="266"/>
          </p14:sldIdLst>
        </p14:section>
        <p14:section name="Il Novecento" id="{fe801473-0e28-d680-1c9b-627eb4c2adcd}">
          <p14:sldIdLst>
            <p14:sldId id="267"/>
            <p14:sldId id="268"/>
            <p14:sldId id="269"/>
            <p14:sldId id="270"/>
          </p14:sldIdLst>
        </p14:section>
        <p14:section name="Dagli home computer a RISC-V" id="{1831868e-548f-51eb-64cf-b9b0dc7727a6}">
          <p14:sldIdLst>
            <p14:sldId id="271"/>
            <p14:sldId id="272"/>
            <p14:sldId id="273"/>
            <p14:sldId id="274"/>
            <p14:sldId id="275"/>
          </p14:sldIdLst>
        </p14:section>
        <p14:section name="L'informatica come scienza applicata" id="{c74a2590-9113-cf1b-6dae-f7beee9097a1}">
          <p14:sldIdLst>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volta scorsa avete eseguito un programma RISC-V. Questa lezione si chiede da dove viene quella macchina. Non è un elenco di date da memorizzare: ogni tappa della storia aggiunge un'idea, e ognuna di quelle idee è ancora dentro il chip del kit PRG32. La citazione in copertina è il primo programma più famoso, dal libro che ha presentato il linguaggio C: da allora ogni programmatore ha cominciato facendo dire ciao a una macchina, come avete fatto voi con HELLO PRG32.
Per il docente: Gli studenti hanno già eseguito un programma RISC-V (Lezione 02). Questa lezione dice loro da dove viene quella macchina: ogni tappa della storia aggiunge un'idea che è ancora dentro l'ESP32-C6.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Il primo è una definizione: che cos'è l'informatica, e perché non è la scienza dei computer. Il secondo e il terzo sono storici: collocare su una linea del tempo le macchine e le persone principali, e nominare le quattro unità dell'architettura di von Neumann, che ritroverete nella macchina che avete programmato. Il quarto spiega il nome del nostro processore: che cosa significa RISC, e perché RISC-V è aperto. Il quinto colloca la disciplina tra scienza, ingegneria ed economia.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della storia, la materia stessa. Che cosa intendiamo per informatica? Tre slide danno una definizione, un celebre avvertimento su ciò che non è, e le due anime della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ha tre parti da soppesare. Scienza applicata: usa i risultati delle scienze di base per risolvere problemi. Trattamento dell'informazione: l'oggetto è l'informazione, non la macchina. Procedure automatizzate: il trattamento è svolto da procedure eseguibili senza giudizio umano. La parola italiana lo dice direttamente, dal francese information automatique. L'inglese preferisce computer science, che mette lo strumento nel nome e crea l'equivoco che la slide successiva corregge.
Per il docente: «L'informatica non riguarda i computer più di quanto l'astronomia riguardi i telescopi.» La slide successiva riporta la citazione.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attribuita a Dijkstra paragona il computer al telescopio: un astronomo studia il cielo, non lo strumento. Allo stesso modo l'informatica studia l'informazione e le procedure che la trasformano. Perché allora questo corso guarda così da vicino lo strumento? Perché uno strumento che non si capisce limita ciò che ci si può fare. Apriamo la macchina perché smetta di essere un mistero, e possiate poi usarla con giudizio.
Per il docente: La macchina è lo strumento, non l'oggetto di studio. In questo corso studiamo lo strumento da vicino proprio perché smetta di essere un mistero.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disciplina ha due anime. L'informatica teorica studia i fondamenti: che cosa si può calcolare, a quale costo, e con quali algoritmi, dove un algoritmo è un insieme finito di operazioni che trasforma A in B. L'informatica applicata costruisce le tecnologie e i sistemi informativi che attraversano economia e società, con un costo da governare: il divario digitale tra chi ha accesso e competenze e chi no. Questo corso appartiene a entrambe: l'algebra di Boole è teoria, una cartuccia è applicazione.
Per il docente: La nuvola di parole della slide originale: progettazione, analisi, linguaggi, sviluppo, basi di dati, reti, calcolo, multimedia, web, cloud, app, IoT, IA, machine learning, mobile, algoritmi, embedded, videogiochi, grafica, programmazione.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comincia molto prima dell'elettricità. Da tremila anni si costruiscono dispositivi che aiutano a calcolare. Fate attenzione a due idee che ritornano nelle prossime slide: come un numero viene rappresentato in un oggetto fisico, e come una sequenza di operazioni viene prescritta a una macchina.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dispositivi antichi. Nell'abaco, romano o cinese, un numero è una posizione di palline: i dati sono rappresentati fisicamente, e le operazioni sono movimenti della mano. La macchina di Anticitera, costruita in Grecia intorno al II o I secolo a.C., va oltre: un treno di ingranaggi calcola le posizioni del Sole e della Luna e prevede le eclissi. Un numero è l'angolo di una ruota, e il calcolo sta nei rapporti tra gli ingranaggi. Tenete la frase sotto le immagini: la rappresentazione viene prima del calcolo.
Per il docente: La datazione della macchina di Anticitera è discussa: la maggior parte delle stime cade tra il 205 e il 60 a.C. circa.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IX e il XIII secolo il mondo islamico porta strumenti, metodi e parole. Strumenti: l'astrolabio e il torqueto, per l'astronomia. Metodi: al-Kindi inventa l'analisi delle frequenze, la prima tecnica sistematica per violare un cifrario. Macchine: il flautista automatico dei fratelli Banu Musa e gli automi di al-Jazari sono guidati da sequenze che si possono cambiare, una prima forma di programma. E parole: algoritmo viene dal nome di al-Khwarizmi, algebra dal titolo del suo libro.
Per il docente: La slide originale datava il periodo all'XI-XII secolo; le persone qui nominate vanno dal IX all'inizio del XIII.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1600 al 1800 due linee di sviluppo corrono parallele. La prima è il calcolo meccanico: i logaritmi di Nepero, la macchina di Pascal che somma con il riporto automatico, quella di Leibniz per le quattro operazioni. La seconda è la logica: Leibniz descrive l'aritmetica binaria nel 1703, e nel 1854 Boole trasforma la logica in un'algebra, quella che studierete nelle Lezioni 08 e 09. Un terzo filo compare nel 1804: il telaio di Jacquard tesse un disegno memorizzato su schede perforate. Si cambiano le schede e la stessa macchina fa un'altra cosa.
Per il docente: Correzioni alla slide originale: The Laws of Thought di Boole è del 1854 (non 1864); il saggio di Leibniz sull'aritmetica binaria fu pubblicato nel 1703.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progetta due macchine. La macchina alle differenze calcola automaticamente tavole matematiche. La macchina analitica è molto più ambiziosa, e le sue parti hanno nomi che dovrebbero già suonarvi familiari: un mulino che fa i conti, un'unità di controllo, un magazzino che conserva i numeri, un dispositivo di uscita; programmi e dati arrivano su schede perforate, come nel telaio. Non fu mai completata. Ada Lovelace scrisse per essa un metodo per calcolare i numeri di Bernoulli, pubblicato nel 1843: per questo è considerata la prima programmatrice della storia.
Per il docente: Le note di Ada Lovelace sulla macchina analitica (1843) contengono quello che è considerato il primo programma pubblicato, per il calcolo dei numeri di Bernoulli.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Novecento l'idea di una macchina universale viene prima definita sulla carta e poi costruita. Tre slide: la teoria, l'architettura che porta il nome di von Neumann, e otto decenni di macchine.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teoria precede le macchine. Nel 1936 Alan Turing definisce una macchina astratta capace di svolgere qualunque calcolo, e con essa la nozione stessa di ciò che è calcolabile. Negli anni Trenta Nakajima e Shannon mostrano che l'algebra di Boole descrive i circuiti fatti di interruttori: è il ponte tra logica ed elettronica su cui poggia tutta la progettazione digitale, ed è la ragione per cui studierete l'algebra di Boole. Nel 1941 Konrad Zuse completa lo Z3, il primo calcolatore funzionante controllato da programma.
Per il docente: L'algebra di Boole delle Lezioni 08 e 09 è esattamente il ponte di Nakajima e Shannon tra logica e circuiti.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centrale della lezione. Nel 1945 von Neumann descrive un'architettura con un'idea decisiva: programma e dati stanno nella stessa memoria, quindi un programma è esso stesso un dato. Lo schema mostra le quattro unità: la memoria, l'unità di controllo che governa la sequenza delle operazioni, l'unità aritmetico-logica con il suo accumulatore, e ingresso e uscita. Ora riguardate la Lezione 02: la ALU ha eseguito addi, la memoria conteneva sia counter sia l'istruzione 0x00130313, il joystick e il display sono ingresso e uscita. Il chip del kit è ancora una macchina di von Neumann.
Per il docente: Ritrovare le quattro unità nella Lezione 02: i registri e la ALU hanno eseguito addi; la memoria conteneva counter e le istruzioni stesse (0x00130313); il joystick e il display sono ingresso e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Otto decenni in un'immagine, dalle macchine della guerra ai calcolatori nascosti negli oggetti di ogni giorno. Leggete le didascalie da sinistra a destra: una macchina per un intero paese, poi per molti utenti, poi una per reparto, una a persona, una in tasca, e infine calcolatori ovunque. Ogni decennio ha reso il calcolatore più piccolo, più economico e più vicino alle persone. La frase in basso è il punto: nessuno di questi passi ha cambiato l'idea del programma memorizzato.
Per il docente: 1943-45: ENIAC (USA) e Colossus (Regno Unito). 1949: EDVAC (USA). La slide originale mostrava anche il Macintosh, l'Amiga, il PC IBM, l'iPad e un'auto a guida autonoma: le immagini sono in tools/assets, se si vogliono aggiungere.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parte della storia spiega il processore del kit. Perché ha poche istruzioni semplici? Perché il suo insieme di istruzioni è aperto? E che cosa ha in comune con gli home computer di quarant'anni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come un dibattito tra due modi di progettare un processore. I primi microprocessori, e la famiglia x86 nata nel 1978, seguono l'approccio CISC: molte istruzioni, alcune assai complesse. Intorno al 1980 Berkeley e Stanford mostrano che poche istruzioni, semplici e regolari, danno macchine più veloci: è il RISC, insieme di istruzioni ridotto. ARM lo applica al basso consumo nel 1985. Nel 2010 il quinto progetto di Berkeley, RISC-V, compie il passo ulteriore di fare dell'insieme di istruzioni uno standard aperto, che l'Europa considera oggi strategico.
Per il docente: RISC = Reduced Instruction Set Computer; CISC = Complex Instruction Set Computer. Patterson e Hennessy hanno ricevuto il Premio Turing 2017 per l'approccio RISC. Questa slide è nuova rispetto alla presentazione degli anni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1971 l'Intel 4004 aveva 2300 transistor; il processore di un portatile oggi ne ha decine di miliardi, dieci milioni di volte tanti. Per cinquant'anni il numero è raddoppiato circa ogni due anni. È la legge di Moore, che è un'osservazione su un'industria e non una legge di natura, e i suoi limiti fisici sono ormai vicini. Quando altri transistor non arrivano più gratis, il progresso deve venire da architetture migliori. Per questo l'argomento di questo corso conta più oggi che vent'anni fa.
Per il docente: L'osservazione di Gordon Moore è del 1965 (rivista nel 1975). Non presentarla come una legge di natura.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confronto a quarant'anni di distanza. Il Commodore 64 aveva un processore a 8 bit con tre registri, un clock di circa 1 MHz e 64 KB di memoria; l'ESP32-C6 ha 32 bit, trentadue registri, 160 MHz e uno spazio di indirizzamento di 4 GB. Eppure lo schermo ha la stessa dimensione, 320 per 200 pixel, e lo stesso è lo spirito: una macchina abbastanza piccola da essere capita interamente da una persona sola. La differenza che vi riguarda sta nella riga dell'insieme di istruzioni: proprietario allora, standard aperto adesso.
Per il docente: La presentazione originale finiva con il simulatore easy6502 (skilldrick.github.io/easy6502), ancora una visita piacevole. PRG32 conserva la stessa immediatezza, 320 per 200 compresi, sull'architettura che gli studenti incontreranno nell'industria.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Pong, Breakout, Tetris e Asteroids sono cartucce di esempio di PRG32. In questo corso servono da esemplari, come un organismo semplice per un biologo: ognuno è abbastanza piccolo da essere letto per intero, eppure contiene tutto ciò che conta in un programma: stato, ingresso, aritmetica, decisioni e un ciclo. Quando più avanti studierete un argomento, chiedetevi dove compare in uno di questi giochi.
Per il docente: Tutti e quattro sono cartucce di esempio nel repository di PRG32 (examples/games).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si chiude collocando l'informatica tra le altre discipline, con un esempio che viene da questo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tempesta da sinistra a destra. È prima un fenomeno naturale. Fisica e matematica la descrivono con equazioni. L'informatica trasforma le equazioni in algoritmi e simulazioni. L'ingegneria fornisce i supercalcolatori, le reti e i sensori che li eseguono in modo affidabile. L'economia riceve previsioni e servizi che hanno valore per le persone. L'informatica è l'anello di mezzo: senza di essa le equazioni restano sulla carta. L'esempio è reale: le previsioni meteo-marine del Dipartimento si calcolano ogni giorno in questo modo.
Per il docente: La slide originale mostrava ritratti e immagini per ogni stadio (equazioni, mappe di previsione, un uragano, l'app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immagini mostrano un cluster didattico dell'Ateneo e la pagina delle sue infrastrutture di calcolo per la ricerca. Un cluster è fatto di molti calcolatori che lavorano insieme a un solo problema. Le idee sono quelle che esercitate sul kit: registri, memoria, istruzioni, soltanto in numero enormemente maggiore e con il problema aggiuntivo di far collaborare le parti. L'ultima lezione del corso torna su queste macchine, e l'evento di chiusura comprende una visita.
Per il docente: L'evento di chiusura del corso comprende una visita ai sistemi di supercalcolo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Cercate l'idea, non un dettaglio. Il numero dei registri e la durata di un'istruzione cambiano da un processore all'altro, e ingresso e uscita sono una delle quattro unità, non un'opzione. Ciò che definisce l'architettura è che le istruzioni stanno nella stessa memoria dei dati, e vengono prelevate ed eseguite una dopo l'altra.
Per il docente: Risposta: B. Il concetto di programma memorizzato: le istruzioni sono dati in memoria, prelevati ed eseguiti uno dopo l'altro.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velocità è una proprietà di un particolare chip, non di un insieme di istruzioni, e RISC-V non è stata la prima RISC: RISC di Berkeley, MIPS e ARM sono venuti prima. Né è limitata ai microcontrollori. La novità è la licenza: l'insieme di istruzioni è uno standard aperto che chiunque può realizzare.
Per il docente: Risposta: C. RISC-V è un'architettura a standard aperto; chiunque può progettare e vendere un processore RISC-V senza licenza sull'architettura. Non è stata la prima RISC (RISC di Berkeley, MIPS e ARM sono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e quattro i nomi appartengono alla storia, con ruoli diversi. Babbage progettò la macchina. Turing definì la computazione, un secolo dopo. Zuse costruì il primo calcolatore programmabile funzionante. La persona che scrisse una procedura per una macchina, e la pubblicò nel 1843, è Ada Lovelace.
Per il docente: Risposta: C. Ada Lovelace, per le sue note del 1843 sulla macchina analitica.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esercizi. Il primo chiede di disegnare le quattro unità e di mettere in ciascuna qualcosa del programma della Lezione 02: verifica che per voi l'architettura non sia uno schema astratto. Il secondo chiede di classificare sei invenzioni come modi di rappresentare l'informazione o di prescrivere operazioni; il programma memorizzato è il caso interessante, perché unifica le due cose. Il terzo è sulla macchina: usate i contatori del debugger per confrontare quante istruzioni eseguono per frame due giochi.
Per il docente: Rappresentare: abaco, Pascalina (cifre come posizioni di ruote), algebra di Boole. Prescrivere: il telaio di Jacquard, le schede della macchina analitica, il programma memorizzato, che unifica le due cose: un programma è esso stesso informazione rappresentata. Il terzo esercizio non ha una risposta fissa: i contatori dipendono dal gioco e dal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Notate che l'italiano ha due parole per la macchina, calcolatore ed elaboratore, entrambe più antiche del prestito computer. Stored program, programma memorizzato, è l'idea di von Neumann. L'unità di controllo e l'unità aritmetico-logica, ALU, sono due delle quattro unità, e le ritroverete nelle lezioni sul processore. High-performance computing, HPC, è il campo dei cluster che avete appena 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Il calcolo è più antico dell'elettronica: rappresentazione e procedura sono venute prima. Il calcolatore a programma memorizzato del 1945 è la macchina che programmiamo ancora. RISC ha reso i processori abbastanza semplici da essere capiti per intero, e RISC-V li ha resi aperti. E l'informatica è ovunque, perché l'informazione appartiene a ogni campo. Le letture raccontano la stessa storia più distesamente. La prossima lezione compie il primo passo formale: come l'informazione diventa bit.
Per il docente: Prossima lezione: come l'informazione diventa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03: Storia della computazione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image" Target="../media/image-15-9.jp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Storia della computazione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Dall'abaco a un processore aperto che potete programmare da soli</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l'informatica e dire perché non è la scienza dei computer</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su una linea del tempo macchine e persone chiave, dall'abaco al calcolatore a programma memorizzato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quattro unità dell'architettura di von Neumann e ritrovarle nella macchina programmata la volta scorsa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significa RISC e perché RISC-V è un insieme di istruzioni aperto</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dove si colloca l'informatica tra scienza, ingegneria ed economia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Che cos'è l'informatica?</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definizione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Informatica</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La scienza applicata che si occupa del trattamento dell'informazione mediante procedure automatizzate.</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Informatica, dal francese informatique: information automatique</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inglese: computer science, e sempre più spesso informatics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strumento: elaboratore in italiano, ordinateur in francese, computer in inglese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L'informatica non riguarda i computer più di quanto l'astronomia riguardi i telescopi.</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Attribuita a Edsger W. Dijkstra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anime, una disciplina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teorica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 fondamenti teorici dell'informazione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computazione a livello logico: che cosa si può calcolare, e a quale costo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Algoritmi: un insieme finito di operazioni che descrivono la trasformazione da A a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applicata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Tecnologie abilitanti e sistemi informativi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Pervasiva: motore dello sviluppo economico e del settore ICT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disciplina STEM al centro di una rivoluzione industriale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 un costo sociale da governare: il divario digitale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Prima dell'elettricità</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Tremila anni di macchine che aiutano a calcolare.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origini: l'abaco e la macchina di Anticitera</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172505"/>
            <a:ext cx="2293544" cy="1827190"/>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Abaco romano tascabile: una rappresentazione fisica di dati e operazioni</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Suanpan cinese: babilonesi, cinesi, greci e romani usavano tutti tavole per contare</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4224"/>
            <a:ext cx="2293544" cy="2043752"/>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000" dirty="0">
                <a:solidFill>
                  <a:srgbClr val="1B2530"/>
                </a:solidFill>
                <a:latin typeface="Calibri" pitchFamily="34" charset="0"/>
                <a:ea typeface="Calibri" pitchFamily="34" charset="-122"/>
                <a:cs typeface="Calibri" pitchFamily="34" charset="-120"/>
              </a:rPr>
              <a:t>Macchina di Anticitera, II-I secolo a.C.: il più antico calcolatore a ingranaggi conosciuto</a:t>
            </a:r>
            <a:endParaRPr lang="en-US" sz="10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509572" y="1554480"/>
            <a:ext cx="1699103" cy="3063240"/>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I suoi quadranti calcolavano posizioni astronomiche ed eclissi</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numero diventa una posizione di palline o l'angolo di un ingranaggio: la rappresentazione viene prima del calcolo.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islamico medievale (dal IX al XIII secolo)</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0281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Strumenti astronomici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l'astrolabio meccanico; il torqueto</a:t>
            </a:r>
            <a:endParaRPr lang="en-US" sz="2300" dirty="0"/>
          </a:p>
        </p:txBody>
      </p:sp>
      <p:sp>
        <p:nvSpPr>
          <p:cNvPr id="5" name="Shape 3"/>
          <p:cNvSpPr/>
          <p:nvPr/>
        </p:nvSpPr>
        <p:spPr>
          <a:xfrm>
            <a:off x="548640" y="24380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846"/>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contributo alla crittografia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crittoanalisi e analisi delle frequenze (al-Kindi, IX secolo)</a:t>
            </a:r>
            <a:endParaRPr lang="en-US" sz="2300" dirty="0"/>
          </a:p>
        </p:txBody>
      </p:sp>
      <p:sp>
        <p:nvSpPr>
          <p:cNvPr id="7" name="Shape 5"/>
          <p:cNvSpPr/>
          <p:nvPr/>
        </p:nvSpPr>
        <p:spPr>
          <a:xfrm>
            <a:off x="548640" y="365442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40252"/>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flautista automatico dei fratelli Banu Musa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gli orologi a pesi e gli automi di al-Jazari (1206)</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parola algoritmo viene dal nome di al-Khwarizmi, come algebra viene dal titolo del suo libro</a:t>
            </a:r>
            <a:endParaRPr lang="en-US" sz="23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1835059"/>
            <a:ext cx="3779215" cy="3462203"/>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astrolabio in ottone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1600 al 1800: calcolatrici meccaniche e logica</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prime calcolatrici meccaniche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tavole dei logaritmi (Nepero,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Pascalina di Blaise Pascal (1642): addizione con riporto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calcolatrice a scatti di Leibniz (1673): le quattro operazioni</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Logica e matematica formale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descrive l'aritmetica binaria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la logica diventa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telaio di Jacquard (1804): il disegno è memorizzato su schede perforate</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0925"/>
            <a:ext cx="3779215" cy="2070470"/>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Pascalina: ogni ruota è una cifra decimale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L'Ottocento: Charles Babbage e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892303"/>
            <a:ext cx="3240938" cy="238759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Macchina alle differenze: calcolo automatico di tavole matematiche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501828" y="1554480"/>
            <a:ext cx="3188039"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Macchina analitica: un mulino (unità aritmetica), un'unità di controllo, un magazzino (memoria) e un dispositivo di uscita</a:t>
            </a:r>
            <a:endParaRPr lang="en-US" sz="11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9001690" y="1554480"/>
            <a:ext cx="1767472"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Programmi e dati su schede perforate, prese in prestito dal telaio di Jacquard</a:t>
            </a:r>
            <a:endParaRPr lang="en-US" sz="12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ideò un metodo per programmare la macchina analitica: è considerata la prima programmatrice della storia.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Il Novecento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L'idea di una macchina universale, e le macchine che l'hanno resa reale.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la teoria: Turing, Shannon e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una macchina universale astratta definisce che cosa si può calcolare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Bletchley Park lavora alla decifrazione del cifrario tedesco Enigma</a:t>
            </a:r>
            <a:endParaRPr lang="en-US" sz="2000" dirty="0"/>
          </a:p>
        </p:txBody>
      </p:sp>
      <p:sp>
        <p:nvSpPr>
          <p:cNvPr id="5" name="Shape 3"/>
          <p:cNvSpPr/>
          <p:nvPr/>
        </p:nvSpPr>
        <p:spPr>
          <a:xfrm>
            <a:off x="548640" y="31490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5816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e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teoria dei circuiti a commutazione (anni Trenta): l'algebra di Boole descrive i circuiti di interruttori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il principio su cui poggia tutta la progettazione digitale</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il primo calcolatore funzionante controllato da programma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dimostrato Turing-completo nel 1998</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uno dei primi calcolatori venduti commercialmente</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8278425" y="1417320"/>
            <a:ext cx="2950046" cy="4297680"/>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macchina cifrante Enigma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il programma memorizzato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Un'architettura hardware per calcolatori digitali programmabili (rapporto EDVAC, 1945)</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Programma e dati condividono la stessa memoria: un programma è un dato</a:t>
            </a:r>
            <a:endParaRPr lang="en-US" sz="2000" dirty="0"/>
          </a:p>
        </p:txBody>
      </p:sp>
      <p:sp>
        <p:nvSpPr>
          <p:cNvPr id="7" name="Shape 5"/>
          <p:cNvSpPr/>
          <p:nvPr/>
        </p:nvSpPr>
        <p:spPr>
          <a:xfrm>
            <a:off x="548640" y="33204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29525"/>
            <a:ext cx="583387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Quattro unità essenziali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di controllo: governa la sequenza delle operazioni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aritmetico-logica (ALU), con il suo registro accumulatore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memoria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ingresso e uscita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L'ESP32-C6 che avete programmato è ancora una macchina di von Neumann</a:t>
            </a:r>
            <a:endParaRPr lang="en-US" sz="20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programma e dati</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Unità di</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controllo</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(accumulatore)</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Otto decenni di calcolatori</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2008174"/>
            <a:ext cx="988873" cy="555652"/>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La guerra</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132"/>
            <a:ext cx="988873" cy="1283737"/>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Militari e governi</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61483"/>
            <a:ext cx="988873" cy="649035"/>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L'era dei mainframe</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una macchina, molti utenti</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626377"/>
            <a:ext cx="988873" cy="1319246"/>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per reparto</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643"/>
            <a:ext cx="988873" cy="558713"/>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computer</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a persona</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47882"/>
            <a:ext cx="988873" cy="676237"/>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 calcolatori si collegano</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158724" y="1490472"/>
            <a:ext cx="853867" cy="1591056"/>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 e tablet</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in tasca</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2072098"/>
            <a:ext cx="988873" cy="427803"/>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il calcolo come servizio</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791564"/>
            <a:ext cx="988873" cy="988873"/>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e IA</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calcolatori ovunque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Ogni decennio ha reso il calcolatore più piccolo, più economico e più vicino alle persone; nessuno ha cambiato l'idea del programma memorizzato.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Dagli home computer a RISC-V</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Perché il processore del vostro kit è fatto così.</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Microprocessori: da CISC a RISC a uno standard aperto</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Anno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Tappa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Perché conta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primo microprocessore commerciale: 2300 transistor su un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CPU a 8 bit economica: Apple II, Commodore 64, l'era degli home computer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l'inizio di x86, un insieme di istruzioni complesso (CISC) ancora nei PC di oggi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di Berkeley e MIPS di Stanford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poche istruzioni, semplici e regolari, sono più veloci: l'idea RISC</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a basso consumo: oggi in quasi tutti i telefoni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nasce a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quinto progetto RISC di Berkeley diventa un insieme di istruzioni aperto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poi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specifica condivisa, governata dalla Svizzera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Chips Act europeo; progetto DARE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come strategia per la sovranità tecnologica europea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Moore in un numero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l'Intel 4004 ha 2300 transistor</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il processore di un portatile ne ha decine di miliardi</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cinquant'anni il numero di transistor su un chip è raddoppiato circa ogni due anni</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limiti fisici sono ormai vicini: il progresso viene da architetture migliori, acceleratori specializzati e progetti aperti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Ecco perché l'architettura, l'argomento di questo corso, conta più che mai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crescita dei transistor per chip dall'Intel 4004 (1971) al processore di un portatile attuale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spirito degli home computer, su una CPU aperta</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Commodore 64 (1982), MOS 6510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PRG32 su ESP32-C6,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8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 X, Y (più puntatore allo stack, stato,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registri di uso generale, da x0 a x31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Clock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1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160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Spazio di indirizzamento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64 KB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4 GB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Insieme di istruzioni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56 istruzioni, proprietario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40 istruzioni di base più estensioni, standard aperto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Schermo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320 per 200 pixel, 16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area di 320 per 200, tavolozza RGB565 di 256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Si programma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scrivendo sulla macchina stessa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compilando una cartuccia e caricandola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Stesso schermo, stessa immediatezza: a quarant'anni di distanza. Il 6502 si esplora ancora su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giochi rétro come esemplari</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game_pong.png">    </p:cNvPr>
          <p:cNvPicPr>
            <a:picLocks noChangeAspect="1"/>
          </p:cNvPicPr>
          <p:nvPr/>
        </p:nvPicPr>
        <p:blipFill>
          <a:blip r:embed="rId1"/>
          <a:stretch>
            <a:fillRect/>
          </a:stretch>
        </p:blipFill>
        <p:spPr>
          <a:xfrm>
            <a:off x="685800" y="2226021"/>
            <a:ext cx="2293544" cy="1720158"/>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Pong</a:t>
            </a:r>
            <a:endParaRPr lang="en-US" sz="15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game_breakout.pn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Breakout</a:t>
            </a:r>
            <a:endParaRPr lang="en-US" sz="15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game_tetris.png">    </p:cNvPr>
          <p:cNvPicPr>
            <a:picLocks noChangeAspect="1"/>
          </p:cNvPicPr>
          <p:nvPr/>
        </p:nvPicPr>
        <p:blipFill>
          <a:blip r:embed="rId3"/>
          <a:stretch>
            <a:fillRect/>
          </a:stretch>
        </p:blipFill>
        <p:spPr>
          <a:xfrm>
            <a:off x="6370168" y="2226021"/>
            <a:ext cx="2293544" cy="1720158"/>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Tetris</a:t>
            </a:r>
            <a:endParaRPr lang="en-US" sz="15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game_asteroids.png">    </p:cNvPr>
          <p:cNvPicPr>
            <a:picLocks noChangeAspect="1"/>
          </p:cNvPicPr>
          <p:nvPr/>
        </p:nvPicPr>
        <p:blipFill>
          <a:blip r:embed="rId4"/>
          <a:stretch>
            <a:fillRect/>
          </a:stretch>
        </p:blipFill>
        <p:spPr>
          <a:xfrm>
            <a:off x="9212351" y="2226021"/>
            <a:ext cx="2293544" cy="17201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Asteroids</a:t>
            </a:r>
            <a:endParaRPr lang="en-US" sz="15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gioco rétro è abbastanza piccolo da stare in una testa e abbastanza ricco da esercitare stato, ingresso, aritmetica, decisioni e un ciclo: l'intero corso.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L'informatica come scienza applicata</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 colloca l'informatica</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Fenomeno naturale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tempesta si forma sul mare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di base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fisica e matematica la descrivono con equazioni</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applicate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l'informatica trasforma le equazioni in algoritmi e simulazioni</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Ingegneria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supercalcolatori, reti e sensori li eseguono in modo affidabile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Economia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previsioni e servizi raggiungono le persone e creano valore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esempio di questo Dipartimento: le previsioni meteo-marine di meteo.uniparthenope.it, calcolate ogni giorno sui nostri sistemi ad alte prestazioni.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calcolo ad alte prestazioni alla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cluster_1.jp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Un cluster didattico: mini PC con GPU su una rete a 10 Gbit</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2.jpg">    </p:cNvPr>
          <p:cNvPicPr>
            <a:picLocks noChangeAspect="1"/>
          </p:cNvPicPr>
          <p:nvPr/>
        </p:nvPicPr>
        <p:blipFill>
          <a:blip r:embed="rId2"/>
          <a:stretch>
            <a:fillRect/>
          </a:stretch>
        </p:blipFill>
        <p:spPr>
          <a:xfrm>
            <a:off x="4475378" y="1870748"/>
            <a:ext cx="3240938" cy="243070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Lo stesso cluster che esegue una simulazione parallela</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idee che esercitate su un microcontrollore a 160 MHz si ritrovano nei cluster: registri, memoria, istruzioni, soltanto in numero molto maggiore.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idea è il cuore dell'architettura di von Neumann?</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processore ha esattamente quattro registri</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Programma e dati stanno nella stessa memoria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Ogni istruzione dura un ciclo di clock</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Ingresso e uscita sono facoltativi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Che cosa distingue RISC-V da x86 e ARM?</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È l'insieme di istruzioni più veloce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È stata la prima architettura RISC</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suo insieme di istruzioni è uno standard aperto, libero da realizzare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Funziona solo sui microcontrollori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Chi è considerato il primo programmatore della storia?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Disegnate le quattro unità dell'architettura di von Neumann e scrivete, dentro ciascuna, una cosa del programma della Lezione 02 che vi risiede o vi accade</a:t>
            </a:r>
            <a:endParaRPr lang="en-US" sz="2100" dirty="0"/>
          </a:p>
        </p:txBody>
      </p:sp>
      <p:sp>
        <p:nvSpPr>
          <p:cNvPr id="6" name="Text 4"/>
          <p:cNvSpPr txBox="1"/>
          <p:nvPr/>
        </p:nvSpPr>
        <p:spPr>
          <a:xfrm>
            <a:off x="548640" y="235953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41245"/>
            <a:ext cx="10436047"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ciascuno dite se è un modo nuovo di rappresentare l'informazione o di prescrivere operazioni: l'abaco, il telaio di Jacquard, la Pascalina, l'algebra di Boole, le schede perforate della macchina analitica, il programma memorizzato</a:t>
            </a:r>
            <a:endParaRPr lang="en-US" sz="2100" dirty="0"/>
          </a:p>
        </p:txBody>
      </p:sp>
      <p:sp>
        <p:nvSpPr>
          <p:cNvPr id="8" name="Text 6"/>
          <p:cNvSpPr txBox="1"/>
          <p:nvPr/>
        </p:nvSpPr>
        <p:spPr>
          <a:xfrm>
            <a:off x="548640" y="39342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915918"/>
            <a:ext cx="1043604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Scaricate dallo Store due dei quattro giochi rétro, o compilateli da examples/games; con i contatori del debugger trovate quante istruzioni esegue ciascuno per frame, e confrontate</a:t>
            </a:r>
            <a:endParaRPr lang="en-US" sz="2100" dirty="0"/>
          </a:p>
        </p:txBody>
      </p:sp>
      <p:sp>
        <p:nvSpPr>
          <p:cNvPr id="10" name="Shape 8"/>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1" name="Text 9"/>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2" name="Text 10"/>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Registri e ALU: l'esecuzione di addi. Memoria: counter e le istruzioni stesse. Unità di controllo: il prelievo di ogni istruzione. Ingresso/uscita: la barra sullo schermo.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calcolo è più antico dell'elettronica: rappresentazione e procedura sono venute prima</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calcolatore a programma memorizzato del 1945 è ancora la macchina che programmiamo oggi</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RISC ha reso i processori abbastanza semplici da capirli per intero; RISC-V li ha resi aperti</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L'informatica è pervasiva: l'informazione digitale appartiene a ogni campo, i dati ne sono la moneta, gli algoritmi trasformano i dati in decisioni</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capitolo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1: Why a Game, Why RISC-V, Why Now</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Storia della computazione</dc:title>
  <dc:subject>Lezione 03</dc:subject>
  <dc:creator>Raffaele Montella</dc:creator>
  <cp:lastModifiedBy>Raffaele Montella</cp:lastModifiedBy>
  <cp:revision>1</cp:revision>
  <dcterms:created xsi:type="dcterms:W3CDTF">2026-10-12T11:28:40Z</dcterms:created>
  <dcterms:modified xsi:type="dcterms:W3CDTF">2026-10-12T11:28:40Z</dcterms:modified>
</cp:coreProperties>
</file>