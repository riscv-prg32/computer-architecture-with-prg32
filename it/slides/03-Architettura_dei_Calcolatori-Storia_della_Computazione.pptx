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abf548c3-d45e-3b6e-311b-a976f117a02e}">
          <p14:sldIdLst>
            <p14:sldId id="256"/>
            <p14:sldId id="257"/>
          </p14:sldIdLst>
        </p14:section>
        <p14:section name="Che cos'è l'informatica?" id="{e853a8a3-e45e-90aa-9f4f-5b826a3e9a50}">
          <p14:sldIdLst>
            <p14:sldId id="258"/>
            <p14:sldId id="259"/>
          </p14:sldIdLst>
        </p14:section>
        <p14:section name="Prima dell'elettricità" id="{892e4477-5f94-a658-64ff-0f7ce15885ec}">
          <p14:sldIdLst>
            <p14:sldId id="260"/>
            <p14:sldId id="261"/>
            <p14:sldId id="262"/>
            <p14:sldId id="263"/>
          </p14:sldIdLst>
        </p14:section>
        <p14:section name="Il Novecento" id="{28de3899-bb29-3117-cf66-70ca9005f364}">
          <p14:sldIdLst>
            <p14:sldId id="264"/>
            <p14:sldId id="265"/>
            <p14:sldId id="266"/>
          </p14:sldIdLst>
        </p14:section>
        <p14:section name="Dagli home computer a RISC-V" id="{45f1c8d3-ce16-13a5-ad35-f3e6ed9a0e55}">
          <p14:sldIdLst>
            <p14:sldId id="267"/>
            <p14:sldId id="268"/>
            <p14:sldId id="269"/>
          </p14:sldIdLst>
        </p14:section>
        <p14:section name="L'informatica come scienza applicata" id="{2756d72f-7121-3b0b-564f-9849bc053a7f}">
          <p14:sldIdLst>
            <p14:sldId id="270"/>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volta scorsa avete eseguito un programma RISC-V. Questa lezione si chiede da dove viene quella macchina. Non è un elenco di date da memorizzare: ogni tappa della storia aggiunge un'idea, e ognuna di quelle idee è ancora dentro il chip del kit PRG32. La citazione in copertina è il primo programma più famoso, dal libro che ha presentato il linguaggio C: da allora ogni programmatore ha cominciato facendo dire ciao a una macchina, come avete fatto voi con HELLO PRG32.
Per il docente: Gli studenti hanno già eseguito un programma RISC-V (Lezione 02). Questa lezione dice loro da dove viene quella macchina: ogni tappa della storia aggiunge un'idea che è ancora dentro l'ESP32-C6.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obiettivi. Il primo è una definizione: che cos'è l'informatica, e perché non è la scienza dei computer. Il secondo e il terzo sono storici: collocare su una linea del tempo le macchine e le persone principali, e nominare le quattro unità dell'architettura di von Neumann, che ritroverete nella macchina che avete programmato. Il quarto spiega il nome del nostro processore: che cosa significa RISC, e perché RISC-V è aperto. Il quinto colloca la disciplina tra scienza, ingegneria ed economia.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definizione ha tre parti da soppesare. Scienza applicata: usa i risultati delle scienze di base per risolvere problemi. Trattamento dell'informazione: l'oggetto è l'informazione, non la macchina. Procedure automatizzate: il trattamento è svolto da procedure eseguibili senza giudizio umano. La parola italiana lo dice direttamente, dal francese information automatique. L'inglese preferisce computer science, che mette lo strumento nel nome e crea l'equivoco che la slide successiva corregge.
Per il docente: «L'informatica non riguarda i computer più di quanto l'astronomia riguardi i telescopi.» La slide successiva riporta la citazione.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disciplina ha due anime. L'informatica teorica studia i fondamenti: che cosa si può calcolare, a quale costo, e con quali algoritmi, dove un algoritmo è un insieme finito di operazioni che trasforma A in B. L'informatica applicata costruisce le tecnologie e i sistemi informativi che attraversano economia e società, con un costo da governare: il divario digitale tra chi ha accesso e competenze e chi no. Questo corso appartiene a entrambe: l'algebra di Boole è teoria, una cartuccia è applicazione.
Per il docente: La nuvola di parole della slide originale: progettazione, analisi, linguaggi, sviluppo, basi di dati, reti, calcolo, multimedia, web, cloud, app, IoT, IA, machine learning, mobile, algoritmi, embedded, videogiochi, grafica, programmazione.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dispositivi antichi. Nell'abaco, romano o cinese, un numero è una posizione di palline: i dati sono rappresentati fisicamente, e le operazioni sono movimenti della mano. La macchina di Anticitera, costruita in Grecia intorno al II o I secolo a.C., va oltre: un treno di ingranaggi calcola le posizioni del Sole e della Luna e prevede le eclissi. Un numero è l'angolo di una ruota, e il calcolo sta nei rapporti tra gli ingranaggi. Tenete la frase sotto le immagini: la rappresentazione viene prima del calcolo.
Per il docente: La datazione della macchina di Anticitera è discussa: la maggior parte delle stime cade tra il 205 e il 60 a.C. circa.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 il IX e il XIII secolo il mondo islamico porta strumenti, metodi e parole. Strumenti: l'astrolabio e il torqueto, per l'astronomia. Metodi: al-Kindi inventa l'analisi delle frequenze, la prima tecnica sistematica per violare un cifrario. Macchine: il flautista automatico dei fratelli Banu Musa e gli automi di al-Jazari sono guidati da sequenze che si possono cambiare, una prima forma di programma. E parole: algoritmo viene dal nome di al-Khwarizmi, algebra dal titolo del suo libro.
Per il docente: La slide originale datava il periodo all'XI-XII secolo; le persone qui nominate vanno dal IX all'inizio del XIII.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 1600 al 1800 due linee di sviluppo corrono parallele. La prima è il calcolo meccanico: i logaritmi di Nepero, la macchina di Pascal che somma con il riporto automatico, quella di Leibniz per le quattro operazioni. La seconda è la logica: Leibniz descrive l'aritmetica binaria nel 1703, e nel 1854 Boole trasforma la logica in un'algebra, quella che studierete nelle Lezioni 08 e 09. Un terzo filo compare nel 1804: il telaio di Jacquard tesse un disegno memorizzato su schede perforate. Si cambiano le schede e la stessa macchina fa un'altra cosa.
Per il docente: Correzioni alla slide originale: The Laws of Thought di Boole è del 1854 (non 1864); il saggio di Leibniz sull'aritmetica binaria fu pubblicato nel 1703.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Charles Babbage progetta due macchine. La macchina alle differenze calcola automaticamente tavole matematiche. La macchina analitica è molto più ambiziosa, e le sue parti hanno nomi che dovrebbero già suonarvi familiari: un mulino che fa i conti, un'unità di controllo, un magazzino che conserva i numeri, un dispositivo di uscita; programmi e dati arrivano su schede perforate, come nel telaio. Non fu mai completata. Ada Lovelace scrisse per essa un metodo per calcolare i numeri di Bernoulli, pubblicato nel 1843: per questo è considerata la prima programmatrice della storia.
Per il docente: Le note di Ada Lovelace sulla macchina analitica (1843) contengono quello che è considerato il primo programma pubblicato, per il calcolo dei numeri di Bernoulli.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teoria precede le macchine. Nel 1936 Alan Turing definisce una macchina astratta capace di svolgere qualunque calcolo, e con essa la nozione stessa di ciò che è calcolabile. Negli anni Trenta Nakajima e Shannon mostrano che l'algebra di Boole descrive i circuiti fatti di interruttori: è il ponte tra logica ed elettronica su cui poggia tutta la progettazione digitale, ed è la ragione per cui studierete l'algebra di Boole. Nel 1941 Konrad Zuse completa lo Z3, il primo calcolatore funzionante controllato da programma.
Per il docente: L'algebra di Boole delle Lezioni 08 e 09 è esattamente il ponte di Nakajima e Shannon tra logica e circuiti.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slide centrale della lezione. Nel 1945 von Neumann descrive un'architettura con un'idea decisiva: programma e dati stanno nella stessa memoria, quindi un programma è esso stesso un dato. Lo schema mostra le quattro unità: la memoria, l'unità di controllo che governa la sequenza delle operazioni, l'unità aritmetico-logica con il suo accumulatore, e ingresso e uscita. Ora riguardate la Lezione 02: la ALU ha eseguito addi, la memoria conteneva sia counter sia l'istruzione 0x00130313, il joystick e il display sono ingresso e uscita. Il chip del kit è ancora una macchina di von Neumann.
Per il docente: Ritrovare le quattro unità nella Lezione 02: i registri e la ALU hanno eseguito addi; la memoria conteneva counter e le istruzioni stesse (0x00130313); il joystick e il display sono ingresso e uscita.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Otto decenni in un'immagine, dalle macchine della guerra ai calcolatori nascosti negli oggetti di ogni giorno. Leggete le didascalie da sinistra a destra: una macchina per un intero paese, poi per molti utenti, poi una per reparto, una a persona, una in tasca, e infine calcolatori ovunque. Ogni decennio ha reso il calcolatore più piccolo, più economico e più vicino alle persone. La frase in basso è il punto: nessuno di questi passi ha cambiato l'idea del programma memorizzato.
Per il docente: 1943-45: ENIAC (USA) e Colossus (Regno Unito). 1949: EDVAC (USA). La slide originale mostrava anche il Macintosh, l'Amiga, il PC IBM, l'iPad e un'auto a guida autonoma: le immagini sono in tools/assets, se si vogliono aggiungere.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Leggete la tabella come un dibattito tra due modi di progettare un processore. I primi microprocessori, e la famiglia x86 nata nel 1978, seguono l'approccio CISC: molte istruzioni, alcune assai complesse. Intorno al 1980 Berkeley e Stanford mostrano che poche istruzioni, semplici e regolari, danno macchine più veloci: è il RISC, insieme di istruzioni ridotto. ARM lo applica al basso consumo nel 1985. Nel 2010 il quinto progetto di Berkeley, RISC-V, compie il passo ulteriore di fare dell'insieme di istruzioni uno standard aperto, che l'Europa considera oggi strategico.
Per il docente: RISC = Reduced Instruction Set Computer; CISC = Complex Instruction Set Computer. Patterson e Hennessy hanno ricevuto il Premio Turing 2017 per l'approccio RISC. Questa slide è nuova rispetto alla presentazione degli anni precedenti.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 1971 l'Intel 4004 aveva 2300 transistor; il processore di un portatile oggi ne ha decine di miliardi, dieci milioni di volte tanti. Per cinquant'anni il numero è raddoppiato circa ogni due anni. È la legge di Moore, che è un'osservazione su un'industria e non una legge di natura, e i suoi limiti fisici sono ormai vicini. Quando altri transistor non arrivano più gratis, il progresso deve venire da architetture migliori. Per questo l'argomento di questo corso conta più oggi che vent'anni fa.
Per il docente: L'osservazione di Gordon Moore è del 1965 (rivista nel 1975). Non presentarla come una legge di natura.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confronto a quarant'anni di distanza. Il Commodore 64 aveva un processore a 8 bit con tre registri, un clock di circa 1 MHz e 64 KB di memoria; l'ESP32-C6 ha 32 bit, trentadue registri, 160 MHz e uno spazio di indirizzamento di 4 GB. Eppure lo schermo ha la stessa dimensione, 320 per 200 pixel, e lo stesso è lo spirito: una macchina abbastanza piccola da essere capita interamente da una persona sola. La differenza che vi riguarda sta nella riga dell'insieme di istruzioni: proprietario allora, standard aperto adesso.
Per il docente: La presentazione originale finiva con il simulatore easy6502 (skilldrick.github.io/easy6502), ancora una visita piacevole. PRG32 conserva la stessa immediatezza, 320 per 200 compresi, sull'architettura che gli studenti incontreranno nell'industria.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immagini mostrano un cluster didattico dell'Ateneo e la pagina delle sue infrastrutture di calcolo per la ricerca. Un cluster è fatto di molti calcolatori che lavorano insieme a un solo problema. Le idee sono quelle che esercitate sul kit: registri, memoria, istruzioni, soltanto in numero enormemente maggiore e con il problema aggiuntivo di far collaborare le parti. L'ultima lezione del corso torna su queste macchine, e l'evento di chiusura comprende una visita.
Per il docente: L'evento di chiusura del corso comprende una visita ai sistemi di supercalcolo del Dipartimento.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Cercate l'idea, non un dettaglio. Il numero dei registri e la durata di un'istruzione cambiano da un processore all'altro, e ingresso e uscita sono una delle quattro unità, non un'opzione. Ciò che definisce l'architettura è che le istruzioni stanno nella stessa memoria dei dati, e vengono prelevate ed eseguite una dopo l'altra.
La velocità è una proprietà di un particolare chip, non di un insieme di istruzioni, e RISC-V non è stata la prima RISC: RISC di Berkeley, MIPS e ARM sono venuti prima. Né è limitata ai microcontrollori. La novità è la licenza: l'insieme di istruzioni è uno standard aperto che chiunque può realizzare.
Per il docente: 1. Risposta: B. Il concetto di programma memorizzato: le istruzioni sono dati in memoria, prelevati ed eseguiti uno dopo l'altro.
2. Risposta: C. RISC-V è un'architettura a standard aperto; chiunque può progettare e vendere un processore RISC-V senza licenza sull'architettura. Non è stata la prima RISC (RISC di Berkeley, MIPS e ARM sono precedenti).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Tutti e quattro i nomi appartengono alla storia, con ruoli diversi. Babbage progettò la macchina. Turing definì la computazione, un secolo dopo. Zuse costruì il primo calcolatore programmabile funzionante. La persona che scrisse una procedura per una macchina, e la pubblicò nel 1843, è Ada Lovelace.
Per il docente: Risposta: C. Ada Lovelace, per le sue note del 1843 sulla macchina analitica.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Dieci termini. Notate che l'italiano ha due parole per la macchina, calcolatore ed elaboratore, entrambe più antiche del prestito computer. Stored program, programma memorizzato, è l'idea di von Neumann. L'unità di controllo e l'unità aritmetico-logica, ALU, sono due delle quattro unità, e le ritroverete nelle lezioni sul processore. High-performance computing, HPC, è il campo dei cluster che avete appena visto.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Quattro conclusioni. Il calcolo è più antico dell'elettronica: rappresentazione e procedura sono venute prima. Il calcolatore a programma memorizzato del 1945 è la macchina che programmiamo ancora. RISC ha reso i processori abbastanza semplici da essere capiti per intero, e RISC-V li ha resi aperti. E l'informatica è ovunque, perché l'informazione appartiene a ogni campo. Le letture raccontano la stessa storia più distesamente. La prossima lezione compie il primo passo formale: come l'informazione diventa bit.
Per il docente: Prossima lezione: come l'informazione diventa 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03: Storia della computazione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image" Target="../media/image-11-5.jpg"/><Relationship Id="rId6" Type="http://schemas.openxmlformats.org/officeDocument/2006/relationships/image" Target="../media/image-11-6.jpg"/><Relationship Id="rId7" Type="http://schemas.openxmlformats.org/officeDocument/2006/relationships/image" Target="../media/image-11-7.jpg"/><Relationship Id="rId8" Type="http://schemas.openxmlformats.org/officeDocument/2006/relationships/image" Target="../media/image-11-8.jpg"/><Relationship Id="rId9" Type="http://schemas.openxmlformats.org/officeDocument/2006/relationships/image" Target="../media/image-11-9.jpg"/><Relationship Id="rId10" Type="http://schemas.openxmlformats.org/officeDocument/2006/relationships/slideLayout" Target="../slideLayouts/slideLayout2.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03</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Storia della computazione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2200" dirty="0">
                <a:solidFill>
                  <a:srgbClr val="CFE3EA"/>
                </a:solidFill>
                <a:latin typeface="Calibri" pitchFamily="34" charset="0"/>
                <a:ea typeface="Calibri" pitchFamily="34" charset="-122"/>
                <a:cs typeface="Calibri" pitchFamily="34" charset="-120"/>
              </a:rPr>
              <a:t>Dall'abaco a un processore aperto che potete programmare da soli</a:t>
            </a:r>
            <a:endParaRPr lang="en-US" sz="22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ourier New" pitchFamily="34" charset="0"/>
                <a:ea typeface="Courier New" pitchFamily="34" charset="-122"/>
                <a:cs typeface="Courier New" pitchFamily="34" charset="-120"/>
              </a:rPr>
              <a:t>“printf("Hello, world!");”</a:t>
            </a:r>
            <a:endParaRPr lang="en-US" sz="1900" dirty="0"/>
          </a:p>
          <a:p>
            <a:pPr indent="0" marL="0">
              <a:buNone/>
            </a:pPr>
            <a:r>
              <a:rPr lang="en-US" sz="1200" dirty="0">
                <a:solidFill>
                  <a:srgbClr val="CFE3EA"/>
                </a:solidFill>
                <a:latin typeface="Courier New" pitchFamily="34" charset="0"/>
                <a:ea typeface="Courier New" pitchFamily="34" charset="-122"/>
                <a:cs typeface="Courier New" pitchFamily="34" charset="-120"/>
              </a:rPr>
              <a:t>Brian Kernighan e Dennis Ritchie, The C Programming Language, 1978</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game_spaceinvaders.png">    </p:cNvPr>
          <p:cNvPicPr>
            <a:picLocks noChangeAspect="1"/>
          </p:cNvPicPr>
          <p:nvPr/>
        </p:nvPicPr>
        <p:blipFill>
          <a:blip r:embed="rId1"/>
          <a:stretch>
            <a:fillRect/>
          </a:stretch>
        </p:blipFill>
        <p:spPr>
          <a:xfrm>
            <a:off x="8915095" y="4251960"/>
            <a:ext cx="2438400" cy="182880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 cosa saprete fare alla fine</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Definire l'informatica e dire perché non è la scienza dei computer</a:t>
            </a:r>
            <a:endParaRPr lang="en-US" sz="2200" dirty="0"/>
          </a:p>
        </p:txBody>
      </p:sp>
      <p:sp>
        <p:nvSpPr>
          <p:cNvPr id="5" name="Text 3"/>
          <p:cNvSpPr txBox="1"/>
          <p:nvPr/>
        </p:nvSpPr>
        <p:spPr>
          <a:xfrm>
            <a:off x="548640" y="227177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253488"/>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Collocare su una linea del tempo macchine e persone chiave, dall'abaco al calcolatore a programma memorizzato</a:t>
            </a:r>
            <a:endParaRPr lang="en-US" sz="2200" dirty="0"/>
          </a:p>
        </p:txBody>
      </p:sp>
      <p:sp>
        <p:nvSpPr>
          <p:cNvPr id="7" name="Text 5"/>
          <p:cNvSpPr txBox="1"/>
          <p:nvPr/>
        </p:nvSpPr>
        <p:spPr>
          <a:xfrm>
            <a:off x="548640" y="33507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33248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Nominare le quattro unità dell'architettura di von Neumann e ritrovarle nella macchina programmata la volta scorsa</a:t>
            </a:r>
            <a:endParaRPr lang="en-US" sz="2200" dirty="0"/>
          </a:p>
        </p:txBody>
      </p:sp>
      <p:sp>
        <p:nvSpPr>
          <p:cNvPr id="9" name="Text 7"/>
          <p:cNvSpPr txBox="1"/>
          <p:nvPr/>
        </p:nvSpPr>
        <p:spPr>
          <a:xfrm>
            <a:off x="548640" y="4429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41147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Spiegare che cosa significa RISC e perché RISC-V è un insieme di istruzioni aperto</a:t>
            </a:r>
            <a:endParaRPr lang="en-US" sz="2200" dirty="0"/>
          </a:p>
        </p:txBody>
      </p:sp>
      <p:sp>
        <p:nvSpPr>
          <p:cNvPr id="11" name="Text 9"/>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Descrivere dove si colloca l'informatica tra scienza, ingegneria ed economia</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Una definizione</a:t>
            </a:r>
            <a:endParaRPr lang="en-US" sz="3200" dirty="0"/>
          </a:p>
        </p:txBody>
      </p:sp>
      <p:sp>
        <p:nvSpPr>
          <p:cNvPr id="3" name="Shape 1"/>
          <p:cNvSpPr/>
          <p:nvPr/>
        </p:nvSpPr>
        <p:spPr>
          <a:xfrm>
            <a:off x="548640" y="1417320"/>
            <a:ext cx="11094415" cy="1596136"/>
          </a:xfrm>
          <a:prstGeom prst="roundRect">
            <a:avLst>
              <a:gd name="adj" fmla="val 4583"/>
            </a:avLst>
          </a:prstGeom>
          <a:solidFill>
            <a:srgbClr val="F6E7D2"/>
          </a:solidFill>
          <a:ln w="12700">
            <a:solidFill>
              <a:srgbClr val="F6E7D2"/>
            </a:solidFill>
            <a:prstDash val="solid"/>
          </a:ln>
        </p:spPr>
      </p:sp>
      <p:sp>
        <p:nvSpPr>
          <p:cNvPr id="4" name="Text 2"/>
          <p:cNvSpPr txBox="1"/>
          <p:nvPr/>
        </p:nvSpPr>
        <p:spPr>
          <a:xfrm>
            <a:off x="914400" y="1600200"/>
            <a:ext cx="10362895" cy="411480"/>
          </a:xfrm>
          <a:prstGeom prst="rect">
            <a:avLst/>
          </a:prstGeom>
          <a:noFill/>
          <a:ln/>
        </p:spPr>
        <p:txBody>
          <a:bodyPr wrap="square" lIns="0" tIns="0" rIns="0" bIns="0" rtlCol="0" anchor="ctr"/>
          <a:lstStyle/>
          <a:p>
            <a:pPr indent="0" marL="0">
              <a:buNone/>
            </a:pPr>
            <a:r>
              <a:rPr lang="en-US" sz="1600" b="1" dirty="0">
                <a:solidFill>
                  <a:srgbClr val="C7791B"/>
                </a:solidFill>
                <a:latin typeface="Calibri" pitchFamily="34" charset="0"/>
                <a:ea typeface="Calibri" pitchFamily="34" charset="-122"/>
                <a:cs typeface="Calibri" pitchFamily="34" charset="-120"/>
              </a:rPr>
              <a:t>Informatica</a:t>
            </a:r>
            <a:endParaRPr lang="en-US" sz="1600" dirty="0"/>
          </a:p>
        </p:txBody>
      </p:sp>
      <p:sp>
        <p:nvSpPr>
          <p:cNvPr id="5" name="Text 3"/>
          <p:cNvSpPr txBox="1"/>
          <p:nvPr/>
        </p:nvSpPr>
        <p:spPr>
          <a:xfrm>
            <a:off x="914400" y="2057400"/>
            <a:ext cx="10362895" cy="773176"/>
          </a:xfrm>
          <a:prstGeom prst="rect">
            <a:avLst/>
          </a:prstGeom>
          <a:noFill/>
          <a:ln/>
        </p:spPr>
        <p:txBody>
          <a:bodyPr wrap="square" lIns="0" tIns="0" rIns="0" bIns="0" rtlCol="0" anchor="ctr"/>
          <a:lstStyle/>
          <a:p>
            <a:pPr indent="0" marL="0">
              <a:buNone/>
            </a:pPr>
            <a:r>
              <a:rPr lang="en-US" sz="2400" i="1" dirty="0">
                <a:solidFill>
                  <a:srgbClr val="1B2530"/>
                </a:solidFill>
                <a:latin typeface="Cambria" pitchFamily="34" charset="0"/>
                <a:ea typeface="Cambria" pitchFamily="34" charset="-122"/>
                <a:cs typeface="Cambria" pitchFamily="34" charset="-120"/>
              </a:rPr>
              <a:t>La scienza applicata che si occupa del trattamento dell'informazione mediante procedure automatizzate.</a:t>
            </a:r>
            <a:endParaRPr lang="en-US" sz="2400" dirty="0"/>
          </a:p>
        </p:txBody>
      </p:sp>
      <p:sp>
        <p:nvSpPr>
          <p:cNvPr id="6" name="Shape 4"/>
          <p:cNvSpPr/>
          <p:nvPr/>
        </p:nvSpPr>
        <p:spPr>
          <a:xfrm>
            <a:off x="548640" y="3638296"/>
            <a:ext cx="146304" cy="146304"/>
          </a:xfrm>
          <a:prstGeom prst="rect">
            <a:avLst/>
          </a:prstGeom>
          <a:solidFill>
            <a:srgbClr val="0E7C86"/>
          </a:solidFill>
          <a:ln w="12700">
            <a:solidFill>
              <a:srgbClr val="0E7C86"/>
            </a:solidFill>
            <a:prstDash val="solid"/>
          </a:ln>
        </p:spPr>
      </p:sp>
      <p:sp>
        <p:nvSpPr>
          <p:cNvPr id="7" name="Text 5"/>
          <p:cNvSpPr txBox="1"/>
          <p:nvPr/>
        </p:nvSpPr>
        <p:spPr>
          <a:xfrm>
            <a:off x="932688" y="3516376"/>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Informatica, dal francese informatique: information automatique</a:t>
            </a:r>
            <a:endParaRPr lang="en-US" sz="2400" dirty="0"/>
          </a:p>
        </p:txBody>
      </p:sp>
      <p:sp>
        <p:nvSpPr>
          <p:cNvPr id="8" name="Shape 6"/>
          <p:cNvSpPr/>
          <p:nvPr/>
        </p:nvSpPr>
        <p:spPr>
          <a:xfrm>
            <a:off x="548640" y="4467352"/>
            <a:ext cx="146304" cy="146304"/>
          </a:xfrm>
          <a:prstGeom prst="rect">
            <a:avLst/>
          </a:prstGeom>
          <a:solidFill>
            <a:srgbClr val="C7791B"/>
          </a:solidFill>
          <a:ln w="12700">
            <a:solidFill>
              <a:srgbClr val="C7791B"/>
            </a:solidFill>
            <a:prstDash val="solid"/>
          </a:ln>
        </p:spPr>
      </p:sp>
      <p:sp>
        <p:nvSpPr>
          <p:cNvPr id="9" name="Text 7"/>
          <p:cNvSpPr txBox="1"/>
          <p:nvPr/>
        </p:nvSpPr>
        <p:spPr>
          <a:xfrm>
            <a:off x="932688" y="4345432"/>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In inglese: computer science, e sempre più spesso informatics</a:t>
            </a:r>
            <a:endParaRPr lang="en-US" sz="2400" dirty="0"/>
          </a:p>
        </p:txBody>
      </p:sp>
      <p:sp>
        <p:nvSpPr>
          <p:cNvPr id="10" name="Shape 8"/>
          <p:cNvSpPr/>
          <p:nvPr/>
        </p:nvSpPr>
        <p:spPr>
          <a:xfrm>
            <a:off x="548640" y="5296408"/>
            <a:ext cx="146304" cy="146304"/>
          </a:xfrm>
          <a:prstGeom prst="rect">
            <a:avLst/>
          </a:prstGeom>
          <a:solidFill>
            <a:srgbClr val="0E7C86"/>
          </a:solidFill>
          <a:ln w="12700">
            <a:solidFill>
              <a:srgbClr val="0E7C86"/>
            </a:solidFill>
            <a:prstDash val="solid"/>
          </a:ln>
        </p:spPr>
      </p:sp>
      <p:sp>
        <p:nvSpPr>
          <p:cNvPr id="11" name="Text 9"/>
          <p:cNvSpPr txBox="1"/>
          <p:nvPr/>
        </p:nvSpPr>
        <p:spPr>
          <a:xfrm>
            <a:off x="932688" y="5174488"/>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Lo strumento: elaboratore in italiano, ordinateur in francese, computer in inglese</a:t>
            </a:r>
            <a:endParaRPr lang="en-US" sz="2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Due anime, una disciplina</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Informatica teorica</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I fondamenti teorici dell'informazione</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La computazione a livello logico: che cosa si può calcolare, e a quale costo</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Algoritmi: un insieme finito di operazioni che descrivono la trasformazione da A a B</a:t>
            </a:r>
            <a:endParaRPr lang="en-US" sz="21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Informatica applicata</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Tecnologie abilitanti e sistemi informativi</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Pervasiva: motore dello sviluppo economico e del settore ICT</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Una disciplina STEM al centro di una rivoluzione industriale</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Con un costo sociale da governare: il divario digitale</a:t>
            </a:r>
            <a:endParaRPr lang="en-US" sz="2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Le origini: l'abaco e la macchina di Anticitera</a:t>
            </a:r>
            <a:endParaRPr lang="en-US" sz="3200" dirty="0"/>
          </a:p>
        </p:txBody>
      </p:sp>
      <p:sp>
        <p:nvSpPr>
          <p:cNvPr id="3" name="Shape 1"/>
          <p:cNvSpPr/>
          <p:nvPr/>
        </p:nvSpPr>
        <p:spPr>
          <a:xfrm>
            <a:off x="548640" y="1417320"/>
            <a:ext cx="2567864" cy="3931920"/>
          </a:xfrm>
          <a:prstGeom prst="roundRect">
            <a:avLst>
              <a:gd name="adj" fmla="val 2849"/>
            </a:avLst>
          </a:prstGeom>
          <a:solidFill>
            <a:srgbClr val="EEF2F4"/>
          </a:solidFill>
          <a:ln w="12700">
            <a:solidFill>
              <a:srgbClr val="EEF2F4"/>
            </a:solidFill>
            <a:prstDash val="solid"/>
          </a:ln>
        </p:spPr>
      </p:sp>
      <p:pic>
        <p:nvPicPr>
          <p:cNvPr id="4" name="Image 0" descr="/Users/raffaelemontella/devel/riscv-prg32/computer-architecture-with-prg32/tools/assets/abacus_roman.jpg">    </p:cNvPr>
          <p:cNvPicPr>
            <a:picLocks noChangeAspect="1"/>
          </p:cNvPicPr>
          <p:nvPr/>
        </p:nvPicPr>
        <p:blipFill>
          <a:blip r:embed="rId1"/>
          <a:stretch>
            <a:fillRect/>
          </a:stretch>
        </p:blipFill>
        <p:spPr>
          <a:xfrm>
            <a:off x="685800" y="2172505"/>
            <a:ext cx="2293544" cy="1827190"/>
          </a:xfrm>
          <a:prstGeom prst="rect">
            <a:avLst/>
          </a:prstGeom>
        </p:spPr>
      </p:pic>
      <p:sp>
        <p:nvSpPr>
          <p:cNvPr id="5" name="Text 2"/>
          <p:cNvSpPr txBox="1"/>
          <p:nvPr/>
        </p:nvSpPr>
        <p:spPr>
          <a:xfrm>
            <a:off x="685800" y="4663440"/>
            <a:ext cx="2293544" cy="594360"/>
          </a:xfrm>
          <a:prstGeom prst="rect">
            <a:avLst/>
          </a:prstGeom>
          <a:noFill/>
          <a:ln/>
        </p:spPr>
        <p:txBody>
          <a:bodyPr wrap="square" lIns="0" tIns="0" rIns="0" bIns="0" rtlCol="0" anchor="ctr"/>
          <a:lstStyle/>
          <a:p>
            <a:pPr algn="ctr" indent="0" marL="0">
              <a:buNone/>
            </a:pPr>
            <a:r>
              <a:rPr lang="en-US" sz="1200" dirty="0">
                <a:solidFill>
                  <a:srgbClr val="1B2530"/>
                </a:solidFill>
                <a:latin typeface="Calibri" pitchFamily="34" charset="0"/>
                <a:ea typeface="Calibri" pitchFamily="34" charset="-122"/>
                <a:cs typeface="Calibri" pitchFamily="34" charset="-120"/>
              </a:rPr>
              <a:t>Abaco romano tascabile: una rappresentazione fisica di dati e operazioni</a:t>
            </a:r>
            <a:endParaRPr lang="en-US" sz="1200" dirty="0"/>
          </a:p>
        </p:txBody>
      </p:sp>
      <p:sp>
        <p:nvSpPr>
          <p:cNvPr id="6" name="Shape 3"/>
          <p:cNvSpPr/>
          <p:nvPr/>
        </p:nvSpPr>
        <p:spPr>
          <a:xfrm>
            <a:off x="3390824" y="1417320"/>
            <a:ext cx="2567864" cy="3931920"/>
          </a:xfrm>
          <a:prstGeom prst="roundRect">
            <a:avLst>
              <a:gd name="adj" fmla="val 2849"/>
            </a:avLst>
          </a:prstGeom>
          <a:solidFill>
            <a:srgbClr val="EEF2F4"/>
          </a:solidFill>
          <a:ln w="12700">
            <a:solidFill>
              <a:srgbClr val="EEF2F4"/>
            </a:solidFill>
            <a:prstDash val="solid"/>
          </a:ln>
        </p:spPr>
      </p:sp>
      <p:pic>
        <p:nvPicPr>
          <p:cNvPr id="7" name="Image 1" descr="/Users/raffaelemontella/devel/riscv-prg32/computer-architecture-with-prg32/tools/assets/abacus_chinese.jpg">    </p:cNvPr>
          <p:cNvPicPr>
            <a:picLocks noChangeAspect="1"/>
          </p:cNvPicPr>
          <p:nvPr/>
        </p:nvPicPr>
        <p:blipFill>
          <a:blip r:embed="rId2"/>
          <a:stretch>
            <a:fillRect/>
          </a:stretch>
        </p:blipFill>
        <p:spPr>
          <a:xfrm>
            <a:off x="3527984" y="2226021"/>
            <a:ext cx="2293544" cy="1720158"/>
          </a:xfrm>
          <a:prstGeom prst="rect">
            <a:avLst/>
          </a:prstGeom>
        </p:spPr>
      </p:pic>
      <p:sp>
        <p:nvSpPr>
          <p:cNvPr id="8" name="Text 4"/>
          <p:cNvSpPr txBox="1"/>
          <p:nvPr/>
        </p:nvSpPr>
        <p:spPr>
          <a:xfrm>
            <a:off x="3527984" y="4663440"/>
            <a:ext cx="2293544" cy="594360"/>
          </a:xfrm>
          <a:prstGeom prst="rect">
            <a:avLst/>
          </a:prstGeom>
          <a:noFill/>
          <a:ln/>
        </p:spPr>
        <p:txBody>
          <a:bodyPr wrap="square" lIns="0" tIns="0" rIns="0" bIns="0" rtlCol="0" anchor="ctr"/>
          <a:lstStyle/>
          <a:p>
            <a:pPr algn="ctr" indent="0" marL="0">
              <a:buNone/>
            </a:pPr>
            <a:r>
              <a:rPr lang="en-US" sz="1200" dirty="0">
                <a:solidFill>
                  <a:srgbClr val="1B2530"/>
                </a:solidFill>
                <a:latin typeface="Calibri" pitchFamily="34" charset="0"/>
                <a:ea typeface="Calibri" pitchFamily="34" charset="-122"/>
                <a:cs typeface="Calibri" pitchFamily="34" charset="-120"/>
              </a:rPr>
              <a:t>Suanpan cinese: babilonesi, cinesi, greci e romani usavano tutti tavole per contare</a:t>
            </a:r>
            <a:endParaRPr lang="en-US" sz="1200" dirty="0"/>
          </a:p>
        </p:txBody>
      </p:sp>
      <p:sp>
        <p:nvSpPr>
          <p:cNvPr id="9" name="Shape 5"/>
          <p:cNvSpPr/>
          <p:nvPr/>
        </p:nvSpPr>
        <p:spPr>
          <a:xfrm>
            <a:off x="6233008" y="1417320"/>
            <a:ext cx="2567864" cy="3931920"/>
          </a:xfrm>
          <a:prstGeom prst="roundRect">
            <a:avLst>
              <a:gd name="adj" fmla="val 2849"/>
            </a:avLst>
          </a:prstGeom>
          <a:solidFill>
            <a:srgbClr val="EEF2F4"/>
          </a:solidFill>
          <a:ln w="12700">
            <a:solidFill>
              <a:srgbClr val="EEF2F4"/>
            </a:solidFill>
            <a:prstDash val="solid"/>
          </a:ln>
        </p:spPr>
      </p:sp>
      <p:pic>
        <p:nvPicPr>
          <p:cNvPr id="10" name="Image 2" descr="/Users/raffaelemontella/devel/riscv-prg32/computer-architecture-with-prg32/tools/assets/antikythera.jpg">    </p:cNvPr>
          <p:cNvPicPr>
            <a:picLocks noChangeAspect="1"/>
          </p:cNvPicPr>
          <p:nvPr/>
        </p:nvPicPr>
        <p:blipFill>
          <a:blip r:embed="rId3"/>
          <a:stretch>
            <a:fillRect/>
          </a:stretch>
        </p:blipFill>
        <p:spPr>
          <a:xfrm>
            <a:off x="6370168" y="2064224"/>
            <a:ext cx="2293544" cy="2043752"/>
          </a:xfrm>
          <a:prstGeom prst="rect">
            <a:avLst/>
          </a:prstGeom>
        </p:spPr>
      </p:pic>
      <p:sp>
        <p:nvSpPr>
          <p:cNvPr id="11" name="Text 6"/>
          <p:cNvSpPr txBox="1"/>
          <p:nvPr/>
        </p:nvSpPr>
        <p:spPr>
          <a:xfrm>
            <a:off x="6370168" y="4663440"/>
            <a:ext cx="2293544" cy="594360"/>
          </a:xfrm>
          <a:prstGeom prst="rect">
            <a:avLst/>
          </a:prstGeom>
          <a:noFill/>
          <a:ln/>
        </p:spPr>
        <p:txBody>
          <a:bodyPr wrap="square" lIns="0" tIns="0" rIns="0" bIns="0" rtlCol="0" anchor="ctr"/>
          <a:lstStyle/>
          <a:p>
            <a:pPr algn="ctr" indent="0" marL="0">
              <a:buNone/>
            </a:pPr>
            <a:r>
              <a:rPr lang="en-US" sz="1000" dirty="0">
                <a:solidFill>
                  <a:srgbClr val="1B2530"/>
                </a:solidFill>
                <a:latin typeface="Calibri" pitchFamily="34" charset="0"/>
                <a:ea typeface="Calibri" pitchFamily="34" charset="-122"/>
                <a:cs typeface="Calibri" pitchFamily="34" charset="-120"/>
              </a:rPr>
              <a:t>Macchina di Anticitera, II-I secolo a.C.: il più antico calcolatore a ingranaggi conosciuto</a:t>
            </a:r>
            <a:endParaRPr lang="en-US" sz="1000" dirty="0"/>
          </a:p>
        </p:txBody>
      </p:sp>
      <p:sp>
        <p:nvSpPr>
          <p:cNvPr id="12" name="Shape 7"/>
          <p:cNvSpPr/>
          <p:nvPr/>
        </p:nvSpPr>
        <p:spPr>
          <a:xfrm>
            <a:off x="9075191" y="1417320"/>
            <a:ext cx="2567864" cy="3931920"/>
          </a:xfrm>
          <a:prstGeom prst="roundRect">
            <a:avLst>
              <a:gd name="adj" fmla="val 2849"/>
            </a:avLst>
          </a:prstGeom>
          <a:solidFill>
            <a:srgbClr val="EEF2F4"/>
          </a:solidFill>
          <a:ln w="12700">
            <a:solidFill>
              <a:srgbClr val="EEF2F4"/>
            </a:solidFill>
            <a:prstDash val="solid"/>
          </a:ln>
        </p:spPr>
      </p:sp>
      <p:pic>
        <p:nvPicPr>
          <p:cNvPr id="13" name="Image 3" descr="/Users/raffaelemontella/devel/riscv-prg32/computer-architecture-with-prg32/tools/assets/antikythera_plate.jpg">    </p:cNvPr>
          <p:cNvPicPr>
            <a:picLocks noChangeAspect="1"/>
          </p:cNvPicPr>
          <p:nvPr/>
        </p:nvPicPr>
        <p:blipFill>
          <a:blip r:embed="rId4"/>
          <a:stretch>
            <a:fillRect/>
          </a:stretch>
        </p:blipFill>
        <p:spPr>
          <a:xfrm>
            <a:off x="9509572" y="1554480"/>
            <a:ext cx="1699103" cy="3063240"/>
          </a:xfrm>
          <a:prstGeom prst="rect">
            <a:avLst/>
          </a:prstGeom>
        </p:spPr>
      </p:pic>
      <p:sp>
        <p:nvSpPr>
          <p:cNvPr id="14" name="Text 8"/>
          <p:cNvSpPr txBox="1"/>
          <p:nvPr/>
        </p:nvSpPr>
        <p:spPr>
          <a:xfrm>
            <a:off x="9212351" y="4663440"/>
            <a:ext cx="2293544" cy="594360"/>
          </a:xfrm>
          <a:prstGeom prst="rect">
            <a:avLst/>
          </a:prstGeom>
          <a:noFill/>
          <a:ln/>
        </p:spPr>
        <p:txBody>
          <a:bodyPr wrap="square" lIns="0" tIns="0" rIns="0" bIns="0" rtlCol="0" anchor="ctr"/>
          <a:lstStyle/>
          <a:p>
            <a:pPr algn="ctr" indent="0" marL="0">
              <a:buNone/>
            </a:pPr>
            <a:r>
              <a:rPr lang="en-US" sz="1200" dirty="0">
                <a:solidFill>
                  <a:srgbClr val="1B2530"/>
                </a:solidFill>
                <a:latin typeface="Calibri" pitchFamily="34" charset="0"/>
                <a:ea typeface="Calibri" pitchFamily="34" charset="-122"/>
                <a:cs typeface="Calibri" pitchFamily="34" charset="-120"/>
              </a:rPr>
              <a:t>I suoi quadranti calcolavano posizioni astronomiche ed eclissi</a:t>
            </a:r>
            <a:endParaRPr lang="en-US" sz="1200" dirty="0"/>
          </a:p>
        </p:txBody>
      </p:sp>
      <p:sp>
        <p:nvSpPr>
          <p:cNvPr id="15" name="Text 9"/>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900" dirty="0">
                <a:solidFill>
                  <a:srgbClr val="1B2530"/>
                </a:solidFill>
                <a:latin typeface="Calibri" pitchFamily="34" charset="0"/>
                <a:ea typeface="Calibri" pitchFamily="34" charset="-122"/>
                <a:cs typeface="Calibri" pitchFamily="34" charset="-120"/>
              </a:rPr>
              <a:t>Un numero diventa una posizione di palline o l'angolo di un ingranaggio: la rappresentazione viene prima del calcolo.</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mondo islamico medievale (dal IX al XIII secolo)</a:t>
            </a:r>
            <a:endParaRPr lang="en-US" sz="3200" dirty="0"/>
          </a:p>
        </p:txBody>
      </p:sp>
      <p:sp>
        <p:nvSpPr>
          <p:cNvPr id="3" name="Shape 1"/>
          <p:cNvSpPr/>
          <p:nvPr/>
        </p:nvSpPr>
        <p:spPr>
          <a:xfrm>
            <a:off x="548640" y="1531493"/>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702818"/>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Strumenti astronomici</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l'astrolabio meccanico; il torqueto</a:t>
            </a:r>
            <a:endParaRPr lang="en-US" sz="2300" dirty="0"/>
          </a:p>
        </p:txBody>
      </p:sp>
      <p:sp>
        <p:nvSpPr>
          <p:cNvPr id="5" name="Shape 3"/>
          <p:cNvSpPr/>
          <p:nvPr/>
        </p:nvSpPr>
        <p:spPr>
          <a:xfrm>
            <a:off x="548640" y="243801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23846"/>
            <a:ext cx="6565392" cy="1012698"/>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Un contributo alla crittografia</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crittoanalisi e analisi delle frequenze (al-Kindi, IX secolo)</a:t>
            </a:r>
            <a:endParaRPr lang="en-US" sz="2300" dirty="0"/>
          </a:p>
        </p:txBody>
      </p:sp>
      <p:sp>
        <p:nvSpPr>
          <p:cNvPr id="7" name="Shape 5"/>
          <p:cNvSpPr/>
          <p:nvPr/>
        </p:nvSpPr>
        <p:spPr>
          <a:xfrm>
            <a:off x="548640" y="365442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540252"/>
            <a:ext cx="6565392" cy="1359154"/>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Macchine programmabili</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il flautista automatico dei fratelli Banu Musa</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gli orologi a pesi e gli automi di al-Jazari (1206)</a:t>
            </a:r>
            <a:endParaRPr lang="en-US" sz="2300" dirty="0"/>
          </a:p>
        </p:txBody>
      </p:sp>
      <p:sp>
        <p:nvSpPr>
          <p:cNvPr id="9" name="Shape 7"/>
          <p:cNvSpPr/>
          <p:nvPr/>
        </p:nvSpPr>
        <p:spPr>
          <a:xfrm>
            <a:off x="548640" y="5217287"/>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103114"/>
            <a:ext cx="6565392" cy="1069086"/>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La parola algoritmo viene dal nome di al-Khwarizmi, come algebra viene dal titolo del suo libro</a:t>
            </a:r>
            <a:endParaRPr lang="en-US" sz="2300" dirty="0"/>
          </a:p>
        </p:txBody>
      </p:sp>
      <p:pic>
        <p:nvPicPr>
          <p:cNvPr id="11" name="Image 0" descr="/Users/raffaelemontella/devel/riscv-prg32/computer-architecture-with-prg32/tools/assets/astrolabe.jpg">    </p:cNvPr>
          <p:cNvPicPr>
            <a:picLocks noChangeAspect="1"/>
          </p:cNvPicPr>
          <p:nvPr/>
        </p:nvPicPr>
        <p:blipFill>
          <a:blip r:embed="rId1"/>
          <a:stretch>
            <a:fillRect/>
          </a:stretch>
        </p:blipFill>
        <p:spPr>
          <a:xfrm>
            <a:off x="7863840" y="1835059"/>
            <a:ext cx="3779215" cy="3462203"/>
          </a:xfrm>
          <a:prstGeom prst="rect">
            <a:avLst/>
          </a:prstGeom>
        </p:spPr>
      </p:pic>
      <p:sp>
        <p:nvSpPr>
          <p:cNvPr id="12" name="Text 9"/>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Un astrolabio in ottone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Dal 1600 al 1800: calcolatrici meccaniche e logica</a:t>
            </a:r>
            <a:endParaRPr lang="en-US" sz="3200" dirty="0"/>
          </a:p>
        </p:txBody>
      </p:sp>
      <p:sp>
        <p:nvSpPr>
          <p:cNvPr id="3" name="Shape 1"/>
          <p:cNvSpPr/>
          <p:nvPr/>
        </p:nvSpPr>
        <p:spPr>
          <a:xfrm>
            <a:off x="548640" y="1531493"/>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2015490"/>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Le prime calcolatrici meccaniche</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tavole dei logaritmi (Nepero, 1614)</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la Pascalina di Blaise Pascal (1642): addizione con riporto</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la calcolatrice a scatti di Leibniz (1673): le quattro operazioni</a:t>
            </a:r>
            <a:endParaRPr lang="en-US" sz="2300" dirty="0"/>
          </a:p>
        </p:txBody>
      </p:sp>
      <p:sp>
        <p:nvSpPr>
          <p:cNvPr id="5" name="Shape 3"/>
          <p:cNvSpPr/>
          <p:nvPr/>
        </p:nvSpPr>
        <p:spPr>
          <a:xfrm>
            <a:off x="548640" y="373075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616579"/>
            <a:ext cx="6565392" cy="1359154"/>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Logica e matematica formale</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Leibniz descrive l'aritmetica binaria (1703)</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George Boole, The Laws of Thought (1854): la logica diventa algebra</a:t>
            </a:r>
            <a:endParaRPr lang="en-US" sz="2300" dirty="0"/>
          </a:p>
        </p:txBody>
      </p:sp>
      <p:sp>
        <p:nvSpPr>
          <p:cNvPr id="7" name="Shape 5"/>
          <p:cNvSpPr/>
          <p:nvPr/>
        </p:nvSpPr>
        <p:spPr>
          <a:xfrm>
            <a:off x="548640" y="527367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5159502"/>
            <a:ext cx="6565392" cy="1012698"/>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Macchine programmabili</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il telaio di Jacquard (1804): il disegno è memorizzato su schede perforate</a:t>
            </a:r>
            <a:endParaRPr lang="en-US" sz="2300" dirty="0"/>
          </a:p>
        </p:txBody>
      </p:sp>
      <p:pic>
        <p:nvPicPr>
          <p:cNvPr id="9" name="Image 0" descr="/Users/raffaelemontella/devel/riscv-prg32/computer-architecture-with-prg32/tools/assets/pascaline.jpg">    </p:cNvPr>
          <p:cNvPicPr>
            <a:picLocks noChangeAspect="1"/>
          </p:cNvPicPr>
          <p:nvPr/>
        </p:nvPicPr>
        <p:blipFill>
          <a:blip r:embed="rId1"/>
          <a:stretch>
            <a:fillRect/>
          </a:stretch>
        </p:blipFill>
        <p:spPr>
          <a:xfrm>
            <a:off x="7863840" y="2530925"/>
            <a:ext cx="3779215" cy="2070470"/>
          </a:xfrm>
          <a:prstGeom prst="rect">
            <a:avLst/>
          </a:prstGeom>
        </p:spPr>
      </p:pic>
      <p:sp>
        <p:nvSpPr>
          <p:cNvPr id="10" name="Text 7"/>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Una Pascalina: ogni ruota è una cifra decimale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L'Ottocento: Charles Babbage e Ada Lovelace</a:t>
            </a:r>
            <a:endParaRPr lang="en-US" sz="3200" dirty="0"/>
          </a:p>
        </p:txBody>
      </p:sp>
      <p:sp>
        <p:nvSpPr>
          <p:cNvPr id="3" name="Shape 1"/>
          <p:cNvSpPr/>
          <p:nvPr/>
        </p:nvSpPr>
        <p:spPr>
          <a:xfrm>
            <a:off x="548640" y="1417320"/>
            <a:ext cx="3515258" cy="3931920"/>
          </a:xfrm>
          <a:prstGeom prst="roundRect">
            <a:avLst>
              <a:gd name="adj" fmla="val 2081"/>
            </a:avLst>
          </a:prstGeom>
          <a:solidFill>
            <a:srgbClr val="EEF2F4"/>
          </a:solidFill>
          <a:ln w="12700">
            <a:solidFill>
              <a:srgbClr val="EEF2F4"/>
            </a:solidFill>
            <a:prstDash val="solid"/>
          </a:ln>
        </p:spPr>
      </p:sp>
      <p:pic>
        <p:nvPicPr>
          <p:cNvPr id="4" name="Image 0" descr="/Users/raffaelemontella/devel/riscv-prg32/computer-architecture-with-prg32/tools/assets/difference_engine.jpg">    </p:cNvPr>
          <p:cNvPicPr>
            <a:picLocks noChangeAspect="1"/>
          </p:cNvPicPr>
          <p:nvPr/>
        </p:nvPicPr>
        <p:blipFill>
          <a:blip r:embed="rId1"/>
          <a:stretch>
            <a:fillRect/>
          </a:stretch>
        </p:blipFill>
        <p:spPr>
          <a:xfrm>
            <a:off x="685800" y="1892303"/>
            <a:ext cx="3240938" cy="2387594"/>
          </a:xfrm>
          <a:prstGeom prst="rect">
            <a:avLst/>
          </a:prstGeom>
        </p:spPr>
      </p:pic>
      <p:sp>
        <p:nvSpPr>
          <p:cNvPr id="5" name="Text 2"/>
          <p:cNvSpPr txBox="1"/>
          <p:nvPr/>
        </p:nvSpPr>
        <p:spPr>
          <a:xfrm>
            <a:off x="685800" y="4663440"/>
            <a:ext cx="324093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Macchina alle differenze: calcolo automatico di tavole matematiche</a:t>
            </a:r>
            <a:endParaRPr lang="en-US" sz="1500" dirty="0"/>
          </a:p>
        </p:txBody>
      </p:sp>
      <p:sp>
        <p:nvSpPr>
          <p:cNvPr id="6" name="Shape 3"/>
          <p:cNvSpPr/>
          <p:nvPr/>
        </p:nvSpPr>
        <p:spPr>
          <a:xfrm>
            <a:off x="4338218" y="1417320"/>
            <a:ext cx="3515258" cy="3931920"/>
          </a:xfrm>
          <a:prstGeom prst="roundRect">
            <a:avLst>
              <a:gd name="adj" fmla="val 2081"/>
            </a:avLst>
          </a:prstGeom>
          <a:solidFill>
            <a:srgbClr val="EEF2F4"/>
          </a:solidFill>
          <a:ln w="12700">
            <a:solidFill>
              <a:srgbClr val="EEF2F4"/>
            </a:solidFill>
            <a:prstDash val="solid"/>
          </a:ln>
        </p:spPr>
      </p:sp>
      <p:pic>
        <p:nvPicPr>
          <p:cNvPr id="7" name="Image 1" descr="/Users/raffaelemontella/devel/riscv-prg32/computer-architecture-with-prg32/tools/assets/analytical_engine.jpg">    </p:cNvPr>
          <p:cNvPicPr>
            <a:picLocks noChangeAspect="1"/>
          </p:cNvPicPr>
          <p:nvPr/>
        </p:nvPicPr>
        <p:blipFill>
          <a:blip r:embed="rId2"/>
          <a:stretch>
            <a:fillRect/>
          </a:stretch>
        </p:blipFill>
        <p:spPr>
          <a:xfrm>
            <a:off x="4501828" y="1554480"/>
            <a:ext cx="3188039" cy="3063240"/>
          </a:xfrm>
          <a:prstGeom prst="rect">
            <a:avLst/>
          </a:prstGeom>
        </p:spPr>
      </p:pic>
      <p:sp>
        <p:nvSpPr>
          <p:cNvPr id="8" name="Text 4"/>
          <p:cNvSpPr txBox="1"/>
          <p:nvPr/>
        </p:nvSpPr>
        <p:spPr>
          <a:xfrm>
            <a:off x="4475378" y="4663440"/>
            <a:ext cx="3240938" cy="594360"/>
          </a:xfrm>
          <a:prstGeom prst="rect">
            <a:avLst/>
          </a:prstGeom>
          <a:noFill/>
          <a:ln/>
        </p:spPr>
        <p:txBody>
          <a:bodyPr wrap="square" lIns="0" tIns="0" rIns="0" bIns="0" rtlCol="0" anchor="ctr"/>
          <a:lstStyle/>
          <a:p>
            <a:pPr algn="ctr" indent="0" marL="0">
              <a:buNone/>
            </a:pPr>
            <a:r>
              <a:rPr lang="en-US" sz="1100" dirty="0">
                <a:solidFill>
                  <a:srgbClr val="1B2530"/>
                </a:solidFill>
                <a:latin typeface="Calibri" pitchFamily="34" charset="0"/>
                <a:ea typeface="Calibri" pitchFamily="34" charset="-122"/>
                <a:cs typeface="Calibri" pitchFamily="34" charset="-120"/>
              </a:rPr>
              <a:t>Macchina analitica: un mulino (unità aritmetica), un'unità di controllo, un magazzino (memoria) e un dispositivo di uscita</a:t>
            </a:r>
            <a:endParaRPr lang="en-US" sz="1100" dirty="0"/>
          </a:p>
        </p:txBody>
      </p:sp>
      <p:sp>
        <p:nvSpPr>
          <p:cNvPr id="9" name="Shape 5"/>
          <p:cNvSpPr/>
          <p:nvPr/>
        </p:nvSpPr>
        <p:spPr>
          <a:xfrm>
            <a:off x="8127797" y="1417320"/>
            <a:ext cx="3515258" cy="3931920"/>
          </a:xfrm>
          <a:prstGeom prst="roundRect">
            <a:avLst>
              <a:gd name="adj" fmla="val 2081"/>
            </a:avLst>
          </a:prstGeom>
          <a:solidFill>
            <a:srgbClr val="EEF2F4"/>
          </a:solidFill>
          <a:ln w="12700">
            <a:solidFill>
              <a:srgbClr val="EEF2F4"/>
            </a:solidFill>
            <a:prstDash val="solid"/>
          </a:ln>
        </p:spPr>
      </p:sp>
      <p:pic>
        <p:nvPicPr>
          <p:cNvPr id="10" name="Image 2" descr="/Users/raffaelemontella/devel/riscv-prg32/computer-architecture-with-prg32/tools/assets/punched_cards.jpg">    </p:cNvPr>
          <p:cNvPicPr>
            <a:picLocks noChangeAspect="1"/>
          </p:cNvPicPr>
          <p:nvPr/>
        </p:nvPicPr>
        <p:blipFill>
          <a:blip r:embed="rId3"/>
          <a:stretch>
            <a:fillRect/>
          </a:stretch>
        </p:blipFill>
        <p:spPr>
          <a:xfrm>
            <a:off x="9001690" y="1554480"/>
            <a:ext cx="1767472" cy="3063240"/>
          </a:xfrm>
          <a:prstGeom prst="rect">
            <a:avLst/>
          </a:prstGeom>
        </p:spPr>
      </p:pic>
      <p:sp>
        <p:nvSpPr>
          <p:cNvPr id="11" name="Text 6"/>
          <p:cNvSpPr txBox="1"/>
          <p:nvPr/>
        </p:nvSpPr>
        <p:spPr>
          <a:xfrm>
            <a:off x="8264957" y="4663440"/>
            <a:ext cx="3240938" cy="594360"/>
          </a:xfrm>
          <a:prstGeom prst="rect">
            <a:avLst/>
          </a:prstGeom>
          <a:noFill/>
          <a:ln/>
        </p:spPr>
        <p:txBody>
          <a:bodyPr wrap="square" lIns="0" tIns="0" rIns="0" bIns="0" rtlCol="0" anchor="ctr"/>
          <a:lstStyle/>
          <a:p>
            <a:pPr algn="ctr" indent="0" marL="0">
              <a:buNone/>
            </a:pPr>
            <a:r>
              <a:rPr lang="en-US" sz="1200" dirty="0">
                <a:solidFill>
                  <a:srgbClr val="1B2530"/>
                </a:solidFill>
                <a:latin typeface="Calibri" pitchFamily="34" charset="0"/>
                <a:ea typeface="Calibri" pitchFamily="34" charset="-122"/>
                <a:cs typeface="Calibri" pitchFamily="34" charset="-120"/>
              </a:rPr>
              <a:t>Programmi e dati su schede perforate, prese in prestito dal telaio di Jacquard</a:t>
            </a:r>
            <a:endParaRPr lang="en-US" sz="1200" dirty="0"/>
          </a:p>
        </p:txBody>
      </p:sp>
      <p:sp>
        <p:nvSpPr>
          <p:cNvPr id="12" name="Text 7"/>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900" dirty="0">
                <a:solidFill>
                  <a:srgbClr val="1B2530"/>
                </a:solidFill>
                <a:latin typeface="Calibri" pitchFamily="34" charset="0"/>
                <a:ea typeface="Calibri" pitchFamily="34" charset="-122"/>
                <a:cs typeface="Calibri" pitchFamily="34" charset="-120"/>
              </a:rPr>
              <a:t>Ada Lovelace ideò un metodo per programmare la macchina analitica: è considerata la prima programmatrice della storia.</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Prima la teoria: Turing, Shannon e Nakajima</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1436624"/>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Alan Turing</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1936: una macchina universale astratta definisce che cosa si può calcolare</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a Bletchley Park lavora alla decifrazione del cifrario tedesco Enigma</a:t>
            </a:r>
            <a:endParaRPr lang="en-US" sz="2000" dirty="0"/>
          </a:p>
        </p:txBody>
      </p:sp>
      <p:sp>
        <p:nvSpPr>
          <p:cNvPr id="5" name="Shape 3"/>
          <p:cNvSpPr/>
          <p:nvPr/>
        </p:nvSpPr>
        <p:spPr>
          <a:xfrm>
            <a:off x="548640" y="314909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058160"/>
            <a:ext cx="6565392" cy="1436624"/>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Akira Nakajima e Claude Shannon</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teoria dei circuiti a commutazione (anni Trenta): l'algebra di Boole descrive i circuiti di interruttori</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il principio su cui poggia tutta la progettazione digitale</a:t>
            </a:r>
            <a:endParaRPr lang="en-US" sz="2000" dirty="0"/>
          </a:p>
        </p:txBody>
      </p:sp>
      <p:sp>
        <p:nvSpPr>
          <p:cNvPr id="7" name="Shape 5"/>
          <p:cNvSpPr/>
          <p:nvPr/>
        </p:nvSpPr>
        <p:spPr>
          <a:xfrm>
            <a:off x="548640" y="478993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4699000"/>
            <a:ext cx="6565392" cy="147320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Konrad Zuse</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Z3 (1941): il primo calcolatore funzionante controllato da programma</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dimostrato Turing-completo nel 1998</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Z4: uno dei primi calcolatori venduti commercialmente</a:t>
            </a:r>
            <a:endParaRPr lang="en-US" sz="2000" dirty="0"/>
          </a:p>
        </p:txBody>
      </p:sp>
      <p:pic>
        <p:nvPicPr>
          <p:cNvPr id="9" name="Image 0" descr="/Users/raffaelemontella/devel/riscv-prg32/computer-architecture-with-prg32/tools/assets/enigma.jpg">    </p:cNvPr>
          <p:cNvPicPr>
            <a:picLocks noChangeAspect="1"/>
          </p:cNvPicPr>
          <p:nvPr/>
        </p:nvPicPr>
        <p:blipFill>
          <a:blip r:embed="rId1"/>
          <a:stretch>
            <a:fillRect/>
          </a:stretch>
        </p:blipFill>
        <p:spPr>
          <a:xfrm>
            <a:off x="8278425" y="1417320"/>
            <a:ext cx="2950046" cy="4297680"/>
          </a:xfrm>
          <a:prstGeom prst="rect">
            <a:avLst/>
          </a:prstGeom>
        </p:spPr>
      </p:pic>
      <p:sp>
        <p:nvSpPr>
          <p:cNvPr id="10" name="Text 7"/>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Una macchina cifrante Enigma</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John von Neumann: il programma memorizzato</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83387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Un'architettura hardware per calcolatori digitali programmabili (rapporto EDVAC, 1945)</a:t>
            </a:r>
            <a:endParaRPr lang="en-US" sz="2000" dirty="0"/>
          </a:p>
        </p:txBody>
      </p:sp>
      <p:sp>
        <p:nvSpPr>
          <p:cNvPr id="5" name="Shape 3"/>
          <p:cNvSpPr/>
          <p:nvPr/>
        </p:nvSpPr>
        <p:spPr>
          <a:xfrm>
            <a:off x="548640" y="241435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23423"/>
            <a:ext cx="583387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Programma e dati condividono la stessa memoria: un programma è un dato</a:t>
            </a:r>
            <a:endParaRPr lang="en-US" sz="2000" dirty="0"/>
          </a:p>
        </p:txBody>
      </p:sp>
      <p:sp>
        <p:nvSpPr>
          <p:cNvPr id="7" name="Shape 5"/>
          <p:cNvSpPr/>
          <p:nvPr/>
        </p:nvSpPr>
        <p:spPr>
          <a:xfrm>
            <a:off x="548640" y="3320457"/>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229525"/>
            <a:ext cx="5833872" cy="2036572"/>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Quattro unità essenziali</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unità di controllo: governa la sequenza delle operazioni</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unità aritmetico-logica (ALU), con il suo registro accumulatore</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memoria</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ingresso e uscita</a:t>
            </a:r>
            <a:endParaRPr lang="en-US" sz="2000" dirty="0"/>
          </a:p>
        </p:txBody>
      </p:sp>
      <p:sp>
        <p:nvSpPr>
          <p:cNvPr id="9" name="Shape 7"/>
          <p:cNvSpPr/>
          <p:nvPr/>
        </p:nvSpPr>
        <p:spPr>
          <a:xfrm>
            <a:off x="548640" y="564337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552440"/>
            <a:ext cx="583387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L'ESP32-C6 che avete programmato è ancora una macchina di von Neumann</a:t>
            </a:r>
            <a:endParaRPr lang="en-US" sz="2000" dirty="0"/>
          </a:p>
        </p:txBody>
      </p:sp>
      <p:sp>
        <p:nvSpPr>
          <p:cNvPr id="11" name="Shape 9"/>
          <p:cNvSpPr/>
          <p:nvPr/>
        </p:nvSpPr>
        <p:spPr>
          <a:xfrm>
            <a:off x="7132320" y="1417320"/>
            <a:ext cx="4526280" cy="4754880"/>
          </a:xfrm>
          <a:prstGeom prst="roundRect">
            <a:avLst>
              <a:gd name="adj" fmla="val 1616"/>
            </a:avLst>
          </a:prstGeom>
          <a:solidFill>
            <a:srgbClr val="EEF2F4"/>
          </a:solidFill>
          <a:ln w="12700">
            <a:solidFill>
              <a:srgbClr val="EEF2F4"/>
            </a:solidFill>
            <a:prstDash val="solid"/>
          </a:ln>
        </p:spPr>
      </p:sp>
      <p:sp>
        <p:nvSpPr>
          <p:cNvPr id="12" name="Text 10"/>
          <p:cNvSpPr txBox="1"/>
          <p:nvPr/>
        </p:nvSpPr>
        <p:spPr>
          <a:xfrm>
            <a:off x="7315200" y="1691640"/>
            <a:ext cx="4160520" cy="914400"/>
          </a:xfrm>
          <a:prstGeom prst="roundRect">
            <a:avLst>
              <a:gd name="adj" fmla="val 8000"/>
            </a:avLst>
          </a:prstGeom>
          <a:solidFill>
            <a:srgbClr val="2E4A62"/>
          </a:solidFill>
          <a:ln>
            <a:solidFill>
              <a:srgbClr val="2E4A62"/>
            </a:solidFill>
          </a:ln>
        </p:spPr>
        <p:txBody>
          <a:bodyPr wrap="square" lIns="50800" tIns="50800" rIns="50800" bIns="508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Memoria</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programma e dati</a:t>
            </a:r>
            <a:endParaRPr lang="en-US" sz="1600" dirty="0"/>
          </a:p>
        </p:txBody>
      </p:sp>
      <p:sp>
        <p:nvSpPr>
          <p:cNvPr id="13" name="Text 11"/>
          <p:cNvSpPr txBox="1"/>
          <p:nvPr/>
        </p:nvSpPr>
        <p:spPr>
          <a:xfrm>
            <a:off x="7315200" y="3246120"/>
            <a:ext cx="1920240" cy="1371600"/>
          </a:xfrm>
          <a:prstGeom prst="roundRect">
            <a:avLst>
              <a:gd name="adj" fmla="val 5333"/>
            </a:avLst>
          </a:prstGeom>
          <a:solidFill>
            <a:srgbClr val="0E7C86"/>
          </a:solidFill>
          <a:ln>
            <a:solidFill>
              <a:srgbClr val="0E7C86"/>
            </a:solidFill>
          </a:ln>
        </p:spPr>
        <p:txBody>
          <a:bodyPr wrap="square" lIns="50800" tIns="50800" rIns="50800" bIns="508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Unità di</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controllo</a:t>
            </a:r>
            <a:endParaRPr lang="en-US" sz="1600" dirty="0"/>
          </a:p>
        </p:txBody>
      </p:sp>
      <p:sp>
        <p:nvSpPr>
          <p:cNvPr id="14" name="Text 12"/>
          <p:cNvSpPr txBox="1"/>
          <p:nvPr/>
        </p:nvSpPr>
        <p:spPr>
          <a:xfrm>
            <a:off x="9555480" y="3246120"/>
            <a:ext cx="1920240" cy="1371600"/>
          </a:xfrm>
          <a:prstGeom prst="roundRect">
            <a:avLst>
              <a:gd name="adj" fmla="val 5333"/>
            </a:avLst>
          </a:prstGeom>
          <a:solidFill>
            <a:srgbClr val="C7791B"/>
          </a:solidFill>
          <a:ln>
            <a:solidFill>
              <a:srgbClr val="C7791B"/>
            </a:solidFill>
          </a:ln>
        </p:spPr>
        <p:txBody>
          <a:bodyPr wrap="square" lIns="50800" tIns="50800" rIns="50800" bIns="508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ALU</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(accumulatore)</a:t>
            </a:r>
            <a:endParaRPr lang="en-US" sz="1600" dirty="0"/>
          </a:p>
        </p:txBody>
      </p:sp>
      <p:sp>
        <p:nvSpPr>
          <p:cNvPr id="15" name="Text 13"/>
          <p:cNvSpPr txBox="1"/>
          <p:nvPr/>
        </p:nvSpPr>
        <p:spPr>
          <a:xfrm>
            <a:off x="7315200" y="5166360"/>
            <a:ext cx="1920240" cy="731520"/>
          </a:xfrm>
          <a:prstGeom prst="roundRect">
            <a:avLst>
              <a:gd name="adj" fmla="val 10000"/>
            </a:avLst>
          </a:prstGeom>
          <a:solidFill>
            <a:srgbClr val="2F7D4F"/>
          </a:solidFill>
          <a:ln>
            <a:solidFill>
              <a:srgbClr val="2F7D4F"/>
            </a:solidFill>
          </a:ln>
        </p:spPr>
        <p:txBody>
          <a:bodyPr wrap="square" lIns="50800" tIns="50800" rIns="50800" bIns="508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Ingresso</a:t>
            </a:r>
            <a:endParaRPr lang="en-US" sz="1600" dirty="0"/>
          </a:p>
        </p:txBody>
      </p:sp>
      <p:sp>
        <p:nvSpPr>
          <p:cNvPr id="16" name="Text 14"/>
          <p:cNvSpPr txBox="1"/>
          <p:nvPr/>
        </p:nvSpPr>
        <p:spPr>
          <a:xfrm>
            <a:off x="9555480" y="5166360"/>
            <a:ext cx="1920240" cy="731520"/>
          </a:xfrm>
          <a:prstGeom prst="roundRect">
            <a:avLst>
              <a:gd name="adj" fmla="val 10000"/>
            </a:avLst>
          </a:prstGeom>
          <a:solidFill>
            <a:srgbClr val="2F7D4F"/>
          </a:solidFill>
          <a:ln>
            <a:solidFill>
              <a:srgbClr val="2F7D4F"/>
            </a:solidFill>
          </a:ln>
        </p:spPr>
        <p:txBody>
          <a:bodyPr wrap="square" lIns="50800" tIns="50800" rIns="50800" bIns="508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Uscita</a:t>
            </a:r>
            <a:endParaRPr lang="en-US" sz="1600" dirty="0"/>
          </a:p>
        </p:txBody>
      </p:sp>
      <p:sp>
        <p:nvSpPr>
          <p:cNvPr id="17" name="Shape 15"/>
          <p:cNvSpPr/>
          <p:nvPr/>
        </p:nvSpPr>
        <p:spPr>
          <a:xfrm flipV="1">
            <a:off x="8275320" y="2651760"/>
            <a:ext cx="0" cy="548640"/>
          </a:xfrm>
          <a:prstGeom prst="line">
            <a:avLst/>
          </a:prstGeom>
          <a:noFill/>
          <a:ln w="25400">
            <a:solidFill>
              <a:srgbClr val="5B6B78"/>
            </a:solidFill>
            <a:prstDash val="solid"/>
            <a:tailEnd type="triangle"/>
          </a:ln>
        </p:spPr>
      </p:sp>
      <p:sp>
        <p:nvSpPr>
          <p:cNvPr id="18" name="Shape 16"/>
          <p:cNvSpPr/>
          <p:nvPr/>
        </p:nvSpPr>
        <p:spPr>
          <a:xfrm>
            <a:off x="10515600" y="2651760"/>
            <a:ext cx="0" cy="548640"/>
          </a:xfrm>
          <a:prstGeom prst="line">
            <a:avLst/>
          </a:prstGeom>
          <a:noFill/>
          <a:ln w="25400">
            <a:solidFill>
              <a:srgbClr val="5B6B78"/>
            </a:solidFill>
            <a:prstDash val="solid"/>
            <a:tailEnd type="triangle"/>
          </a:ln>
        </p:spPr>
      </p:sp>
      <p:sp>
        <p:nvSpPr>
          <p:cNvPr id="19" name="Shape 17"/>
          <p:cNvSpPr/>
          <p:nvPr/>
        </p:nvSpPr>
        <p:spPr>
          <a:xfrm>
            <a:off x="9262872" y="3931920"/>
            <a:ext cx="265176" cy="0"/>
          </a:xfrm>
          <a:prstGeom prst="line">
            <a:avLst/>
          </a:prstGeom>
          <a:noFill/>
          <a:ln w="25400">
            <a:solidFill>
              <a:srgbClr val="5B6B78"/>
            </a:solidFill>
            <a:prstDash val="solid"/>
            <a:tailEnd type="triangle"/>
          </a:ln>
        </p:spPr>
      </p:sp>
      <p:sp>
        <p:nvSpPr>
          <p:cNvPr id="20" name="Shape 18"/>
          <p:cNvSpPr/>
          <p:nvPr/>
        </p:nvSpPr>
        <p:spPr>
          <a:xfrm flipV="1">
            <a:off x="8275320" y="4663440"/>
            <a:ext cx="0" cy="457200"/>
          </a:xfrm>
          <a:prstGeom prst="line">
            <a:avLst/>
          </a:prstGeom>
          <a:noFill/>
          <a:ln w="25400">
            <a:solidFill>
              <a:srgbClr val="5B6B78"/>
            </a:solidFill>
            <a:prstDash val="solid"/>
            <a:tailEnd type="triangle"/>
          </a:ln>
        </p:spPr>
      </p:sp>
      <p:sp>
        <p:nvSpPr>
          <p:cNvPr id="21" name="Shape 19"/>
          <p:cNvSpPr/>
          <p:nvPr/>
        </p:nvSpPr>
        <p:spPr>
          <a:xfrm>
            <a:off x="10515600" y="4663440"/>
            <a:ext cx="0" cy="457200"/>
          </a:xfrm>
          <a:prstGeom prst="line">
            <a:avLst/>
          </a:prstGeom>
          <a:noFill/>
          <a:ln w="25400">
            <a:solidFill>
              <a:srgbClr val="5B6B78"/>
            </a:solidFill>
            <a:prstDash val="solid"/>
            <a:tailEnd type="triangle"/>
          </a:ln>
        </p:spPr>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Otto decenni di calcolatori</a:t>
            </a:r>
            <a:endParaRPr lang="en-US" sz="3200" dirty="0"/>
          </a:p>
        </p:txBody>
      </p:sp>
      <p:sp>
        <p:nvSpPr>
          <p:cNvPr id="3" name="Shape 1"/>
          <p:cNvSpPr/>
          <p:nvPr/>
        </p:nvSpPr>
        <p:spPr>
          <a:xfrm>
            <a:off x="548640" y="3675888"/>
            <a:ext cx="11094415" cy="0"/>
          </a:xfrm>
          <a:prstGeom prst="line">
            <a:avLst/>
          </a:prstGeom>
          <a:noFill/>
          <a:ln w="38100">
            <a:solidFill>
              <a:srgbClr val="C9D2D8"/>
            </a:solidFill>
            <a:prstDash val="solid"/>
          </a:ln>
        </p:spPr>
      </p:sp>
      <p:sp>
        <p:nvSpPr>
          <p:cNvPr id="4" name="Shape 2"/>
          <p:cNvSpPr/>
          <p:nvPr/>
        </p:nvSpPr>
        <p:spPr>
          <a:xfrm>
            <a:off x="548640" y="1417320"/>
            <a:ext cx="1135177" cy="1737360"/>
          </a:xfrm>
          <a:prstGeom prst="roundRect">
            <a:avLst>
              <a:gd name="adj" fmla="val 6444"/>
            </a:avLst>
          </a:prstGeom>
          <a:solidFill>
            <a:srgbClr val="EEF2F4"/>
          </a:solidFill>
          <a:ln w="12700">
            <a:solidFill>
              <a:srgbClr val="EEF2F4"/>
            </a:solidFill>
            <a:prstDash val="solid"/>
          </a:ln>
        </p:spPr>
      </p:sp>
      <p:pic>
        <p:nvPicPr>
          <p:cNvPr id="5" name="Image 0" descr="/Users/raffaelemontella/devel/riscv-prg32/computer-architecture-with-prg32/tools/assets/eniac.png">    </p:cNvPr>
          <p:cNvPicPr>
            <a:picLocks noChangeAspect="1"/>
          </p:cNvPicPr>
          <p:nvPr/>
        </p:nvPicPr>
        <p:blipFill>
          <a:blip r:embed="rId1"/>
          <a:stretch>
            <a:fillRect/>
          </a:stretch>
        </p:blipFill>
        <p:spPr>
          <a:xfrm>
            <a:off x="621792" y="2008174"/>
            <a:ext cx="988873" cy="555652"/>
          </a:xfrm>
          <a:prstGeom prst="rect">
            <a:avLst/>
          </a:prstGeom>
        </p:spPr>
      </p:pic>
      <p:sp>
        <p:nvSpPr>
          <p:cNvPr id="6" name="Text 3"/>
          <p:cNvSpPr txBox="1"/>
          <p:nvPr/>
        </p:nvSpPr>
        <p:spPr>
          <a:xfrm>
            <a:off x="732180" y="3401568"/>
            <a:ext cx="768096"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'40</a:t>
            </a:r>
            <a:endParaRPr lang="en-US" sz="1900" dirty="0"/>
          </a:p>
        </p:txBody>
      </p:sp>
      <p:sp>
        <p:nvSpPr>
          <p:cNvPr id="7" name="Text 4"/>
          <p:cNvSpPr txBox="1"/>
          <p:nvPr/>
        </p:nvSpPr>
        <p:spPr>
          <a:xfrm>
            <a:off x="548640" y="4114800"/>
            <a:ext cx="1135177" cy="777240"/>
          </a:xfrm>
          <a:prstGeom prst="rect">
            <a:avLst/>
          </a:prstGeom>
          <a:noFill/>
          <a:ln/>
        </p:spPr>
        <p:txBody>
          <a:bodyPr wrap="square" lIns="0" tIns="0" rIns="0" bIns="0" rtlCol="0" anchor="ctr"/>
          <a:lstStyle/>
          <a:p>
            <a:pPr algn="ctr" indent="0" marL="0">
              <a:buNone/>
            </a:pPr>
            <a:r>
              <a:rPr lang="en-US" sz="1450" b="1" dirty="0">
                <a:solidFill>
                  <a:srgbClr val="2E4A62"/>
                </a:solidFill>
                <a:latin typeface="Calibri" pitchFamily="34" charset="0"/>
                <a:ea typeface="Calibri" pitchFamily="34" charset="-122"/>
                <a:cs typeface="Calibri" pitchFamily="34" charset="-120"/>
              </a:rPr>
              <a:t>La guerra</a:t>
            </a:r>
            <a:endParaRPr lang="en-US" sz="1450" dirty="0"/>
          </a:p>
        </p:txBody>
      </p:sp>
      <p:sp>
        <p:nvSpPr>
          <p:cNvPr id="8" name="Text 5"/>
          <p:cNvSpPr txBox="1"/>
          <p:nvPr/>
        </p:nvSpPr>
        <p:spPr>
          <a:xfrm>
            <a:off x="548640" y="4937760"/>
            <a:ext cx="1135177" cy="731520"/>
          </a:xfrm>
          <a:prstGeom prst="rect">
            <a:avLst/>
          </a:prstGeom>
          <a:noFill/>
          <a:ln/>
        </p:spPr>
        <p:txBody>
          <a:bodyPr wrap="square" lIns="0" tIns="0" rIns="0" bIns="0" rtlCol="0" anchor="t"/>
          <a:lstStyle/>
          <a:p>
            <a:pPr algn="ctr" indent="0" marL="0">
              <a:buNone/>
            </a:pPr>
            <a:r>
              <a:rPr lang="en-US" sz="1250" dirty="0">
                <a:solidFill>
                  <a:srgbClr val="5B6B78"/>
                </a:solidFill>
                <a:latin typeface="Calibri" pitchFamily="34" charset="0"/>
                <a:ea typeface="Calibri" pitchFamily="34" charset="-122"/>
                <a:cs typeface="Calibri" pitchFamily="34" charset="-120"/>
              </a:rPr>
              <a:t>ENIAC, Colossus</a:t>
            </a:r>
            <a:endParaRPr lang="en-US" sz="1250" dirty="0"/>
          </a:p>
        </p:txBody>
      </p:sp>
      <p:sp>
        <p:nvSpPr>
          <p:cNvPr id="9" name="Shape 6"/>
          <p:cNvSpPr/>
          <p:nvPr/>
        </p:nvSpPr>
        <p:spPr>
          <a:xfrm>
            <a:off x="1793545" y="1417320"/>
            <a:ext cx="1135177" cy="1737360"/>
          </a:xfrm>
          <a:prstGeom prst="roundRect">
            <a:avLst>
              <a:gd name="adj" fmla="val 6444"/>
            </a:avLst>
          </a:prstGeom>
          <a:solidFill>
            <a:srgbClr val="EEF2F4"/>
          </a:solidFill>
          <a:ln w="12700">
            <a:solidFill>
              <a:srgbClr val="EEF2F4"/>
            </a:solidFill>
            <a:prstDash val="solid"/>
          </a:ln>
        </p:spPr>
      </p:sp>
      <p:pic>
        <p:nvPicPr>
          <p:cNvPr id="10" name="Image 1" descr="/Users/raffaelemontella/devel/riscv-prg32/computer-architecture-with-prg32/tools/assets/edvac.jpg">    </p:cNvPr>
          <p:cNvPicPr>
            <a:picLocks noChangeAspect="1"/>
          </p:cNvPicPr>
          <p:nvPr/>
        </p:nvPicPr>
        <p:blipFill>
          <a:blip r:embed="rId2"/>
          <a:stretch>
            <a:fillRect/>
          </a:stretch>
        </p:blipFill>
        <p:spPr>
          <a:xfrm>
            <a:off x="1866697" y="1644132"/>
            <a:ext cx="988873" cy="1283737"/>
          </a:xfrm>
          <a:prstGeom prst="rect">
            <a:avLst/>
          </a:prstGeom>
        </p:spPr>
      </p:pic>
      <p:sp>
        <p:nvSpPr>
          <p:cNvPr id="11" name="Text 7"/>
          <p:cNvSpPr txBox="1"/>
          <p:nvPr/>
        </p:nvSpPr>
        <p:spPr>
          <a:xfrm>
            <a:off x="1977085" y="3401568"/>
            <a:ext cx="768096"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'50</a:t>
            </a:r>
            <a:endParaRPr lang="en-US" sz="1900" dirty="0"/>
          </a:p>
        </p:txBody>
      </p:sp>
      <p:sp>
        <p:nvSpPr>
          <p:cNvPr id="12" name="Text 8"/>
          <p:cNvSpPr txBox="1"/>
          <p:nvPr/>
        </p:nvSpPr>
        <p:spPr>
          <a:xfrm>
            <a:off x="1793545" y="4114800"/>
            <a:ext cx="1135177" cy="777240"/>
          </a:xfrm>
          <a:prstGeom prst="rect">
            <a:avLst/>
          </a:prstGeom>
          <a:noFill/>
          <a:ln/>
        </p:spPr>
        <p:txBody>
          <a:bodyPr wrap="square" lIns="0" tIns="0" rIns="0" bIns="0" rtlCol="0" anchor="ctr"/>
          <a:lstStyle/>
          <a:p>
            <a:pPr algn="ctr" indent="0" marL="0">
              <a:buNone/>
            </a:pPr>
            <a:r>
              <a:rPr lang="en-US" sz="1450" b="1" dirty="0">
                <a:solidFill>
                  <a:srgbClr val="2E4A62"/>
                </a:solidFill>
                <a:latin typeface="Calibri" pitchFamily="34" charset="0"/>
                <a:ea typeface="Calibri" pitchFamily="34" charset="-122"/>
                <a:cs typeface="Calibri" pitchFamily="34" charset="-120"/>
              </a:rPr>
              <a:t>Militari e governi</a:t>
            </a:r>
            <a:endParaRPr lang="en-US" sz="1450" dirty="0"/>
          </a:p>
        </p:txBody>
      </p:sp>
      <p:sp>
        <p:nvSpPr>
          <p:cNvPr id="13" name="Text 9"/>
          <p:cNvSpPr txBox="1"/>
          <p:nvPr/>
        </p:nvSpPr>
        <p:spPr>
          <a:xfrm>
            <a:off x="1793545" y="4937760"/>
            <a:ext cx="1135177" cy="731520"/>
          </a:xfrm>
          <a:prstGeom prst="rect">
            <a:avLst/>
          </a:prstGeom>
          <a:noFill/>
          <a:ln/>
        </p:spPr>
        <p:txBody>
          <a:bodyPr wrap="square" lIns="0" tIns="0" rIns="0" bIns="0" rtlCol="0" anchor="t"/>
          <a:lstStyle/>
          <a:p>
            <a:pPr algn="ctr" indent="0" marL="0">
              <a:buNone/>
            </a:pPr>
            <a:r>
              <a:rPr lang="en-US" sz="1250" dirty="0">
                <a:solidFill>
                  <a:srgbClr val="5B6B78"/>
                </a:solidFill>
                <a:latin typeface="Calibri" pitchFamily="34" charset="0"/>
                <a:ea typeface="Calibri" pitchFamily="34" charset="-122"/>
                <a:cs typeface="Calibri" pitchFamily="34" charset="-120"/>
              </a:rPr>
              <a:t>EDVAC, 1949</a:t>
            </a:r>
            <a:endParaRPr lang="en-US" sz="1250" dirty="0"/>
          </a:p>
        </p:txBody>
      </p:sp>
      <p:sp>
        <p:nvSpPr>
          <p:cNvPr id="14" name="Shape 10"/>
          <p:cNvSpPr/>
          <p:nvPr/>
        </p:nvSpPr>
        <p:spPr>
          <a:xfrm>
            <a:off x="3038450" y="1417320"/>
            <a:ext cx="1135177" cy="1737360"/>
          </a:xfrm>
          <a:prstGeom prst="roundRect">
            <a:avLst>
              <a:gd name="adj" fmla="val 6444"/>
            </a:avLst>
          </a:prstGeom>
          <a:solidFill>
            <a:srgbClr val="EEF2F4"/>
          </a:solidFill>
          <a:ln w="12700">
            <a:solidFill>
              <a:srgbClr val="EEF2F4"/>
            </a:solidFill>
            <a:prstDash val="solid"/>
          </a:ln>
        </p:spPr>
      </p:sp>
      <p:pic>
        <p:nvPicPr>
          <p:cNvPr id="15" name="Image 2" descr="/Users/raffaelemontella/devel/riscv-prg32/computer-architecture-with-prg32/tools/assets/mainframe.jpg">    </p:cNvPr>
          <p:cNvPicPr>
            <a:picLocks noChangeAspect="1"/>
          </p:cNvPicPr>
          <p:nvPr/>
        </p:nvPicPr>
        <p:blipFill>
          <a:blip r:embed="rId3"/>
          <a:stretch>
            <a:fillRect/>
          </a:stretch>
        </p:blipFill>
        <p:spPr>
          <a:xfrm>
            <a:off x="3111602" y="1961483"/>
            <a:ext cx="988873" cy="649035"/>
          </a:xfrm>
          <a:prstGeom prst="rect">
            <a:avLst/>
          </a:prstGeom>
        </p:spPr>
      </p:pic>
      <p:sp>
        <p:nvSpPr>
          <p:cNvPr id="16" name="Text 11"/>
          <p:cNvSpPr txBox="1"/>
          <p:nvPr/>
        </p:nvSpPr>
        <p:spPr>
          <a:xfrm>
            <a:off x="3221990" y="3401568"/>
            <a:ext cx="768096" cy="548640"/>
          </a:xfrm>
          <a:prstGeom prst="roundRect">
            <a:avLst>
              <a:gd name="adj" fmla="val 13333"/>
            </a:avLst>
          </a:prstGeom>
          <a:solidFill>
            <a:srgbClr val="6B4FA0"/>
          </a:solidFill>
          <a:ln>
            <a:solidFill>
              <a:srgbClr val="6B4FA0"/>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'60</a:t>
            </a:r>
            <a:endParaRPr lang="en-US" sz="1900" dirty="0"/>
          </a:p>
        </p:txBody>
      </p:sp>
      <p:sp>
        <p:nvSpPr>
          <p:cNvPr id="17" name="Text 12"/>
          <p:cNvSpPr txBox="1"/>
          <p:nvPr/>
        </p:nvSpPr>
        <p:spPr>
          <a:xfrm>
            <a:off x="3038450" y="4114800"/>
            <a:ext cx="1135177" cy="777240"/>
          </a:xfrm>
          <a:prstGeom prst="rect">
            <a:avLst/>
          </a:prstGeom>
          <a:noFill/>
          <a:ln/>
        </p:spPr>
        <p:txBody>
          <a:bodyPr wrap="square" lIns="0" tIns="0" rIns="0" bIns="0" rtlCol="0" anchor="ctr"/>
          <a:lstStyle/>
          <a:p>
            <a:pPr algn="ctr" indent="0" marL="0">
              <a:buNone/>
            </a:pPr>
            <a:r>
              <a:rPr lang="en-US" sz="1450" b="1" dirty="0">
                <a:solidFill>
                  <a:srgbClr val="2E4A62"/>
                </a:solidFill>
                <a:latin typeface="Calibri" pitchFamily="34" charset="0"/>
                <a:ea typeface="Calibri" pitchFamily="34" charset="-122"/>
                <a:cs typeface="Calibri" pitchFamily="34" charset="-120"/>
              </a:rPr>
              <a:t>L'era dei mainframe</a:t>
            </a:r>
            <a:endParaRPr lang="en-US" sz="1450" dirty="0"/>
          </a:p>
        </p:txBody>
      </p:sp>
      <p:sp>
        <p:nvSpPr>
          <p:cNvPr id="18" name="Text 13"/>
          <p:cNvSpPr txBox="1"/>
          <p:nvPr/>
        </p:nvSpPr>
        <p:spPr>
          <a:xfrm>
            <a:off x="3038450" y="4937760"/>
            <a:ext cx="1135177" cy="731520"/>
          </a:xfrm>
          <a:prstGeom prst="rect">
            <a:avLst/>
          </a:prstGeom>
          <a:noFill/>
          <a:ln/>
        </p:spPr>
        <p:txBody>
          <a:bodyPr wrap="square" lIns="0" tIns="0" rIns="0" bIns="0" rtlCol="0" anchor="t"/>
          <a:lstStyle/>
          <a:p>
            <a:pPr algn="ctr" indent="0" marL="0">
              <a:buNone/>
            </a:pPr>
            <a:r>
              <a:rPr lang="en-US" sz="1250" dirty="0">
                <a:solidFill>
                  <a:srgbClr val="5B6B78"/>
                </a:solidFill>
                <a:latin typeface="Calibri" pitchFamily="34" charset="0"/>
                <a:ea typeface="Calibri" pitchFamily="34" charset="-122"/>
                <a:cs typeface="Calibri" pitchFamily="34" charset="-120"/>
              </a:rPr>
              <a:t>una macchina, molti utenti</a:t>
            </a:r>
            <a:endParaRPr lang="en-US" sz="1250" dirty="0"/>
          </a:p>
        </p:txBody>
      </p:sp>
      <p:sp>
        <p:nvSpPr>
          <p:cNvPr id="19" name="Shape 14"/>
          <p:cNvSpPr/>
          <p:nvPr/>
        </p:nvSpPr>
        <p:spPr>
          <a:xfrm>
            <a:off x="4283354" y="1417320"/>
            <a:ext cx="1135177" cy="1737360"/>
          </a:xfrm>
          <a:prstGeom prst="roundRect">
            <a:avLst>
              <a:gd name="adj" fmla="val 6444"/>
            </a:avLst>
          </a:prstGeom>
          <a:solidFill>
            <a:srgbClr val="EEF2F4"/>
          </a:solidFill>
          <a:ln w="12700">
            <a:solidFill>
              <a:srgbClr val="EEF2F4"/>
            </a:solidFill>
            <a:prstDash val="solid"/>
          </a:ln>
        </p:spPr>
      </p:sp>
      <p:pic>
        <p:nvPicPr>
          <p:cNvPr id="20" name="Image 3" descr="/Users/raffaelemontella/devel/riscv-prg32/computer-architecture-with-prg32/tools/assets/minicomputer.jpg">    </p:cNvPr>
          <p:cNvPicPr>
            <a:picLocks noChangeAspect="1"/>
          </p:cNvPicPr>
          <p:nvPr/>
        </p:nvPicPr>
        <p:blipFill>
          <a:blip r:embed="rId4"/>
          <a:stretch>
            <a:fillRect/>
          </a:stretch>
        </p:blipFill>
        <p:spPr>
          <a:xfrm>
            <a:off x="4356506" y="1626377"/>
            <a:ext cx="988873" cy="1319246"/>
          </a:xfrm>
          <a:prstGeom prst="rect">
            <a:avLst/>
          </a:prstGeom>
        </p:spPr>
      </p:pic>
      <p:sp>
        <p:nvSpPr>
          <p:cNvPr id="21" name="Text 15"/>
          <p:cNvSpPr txBox="1"/>
          <p:nvPr/>
        </p:nvSpPr>
        <p:spPr>
          <a:xfrm>
            <a:off x="4466895" y="3401568"/>
            <a:ext cx="768096" cy="548640"/>
          </a:xfrm>
          <a:prstGeom prst="roundRect">
            <a:avLst>
              <a:gd name="adj" fmla="val 13333"/>
            </a:avLst>
          </a:prstGeom>
          <a:solidFill>
            <a:srgbClr val="2F7D4F"/>
          </a:solidFill>
          <a:ln>
            <a:solidFill>
              <a:srgbClr val="2F7D4F"/>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'70</a:t>
            </a:r>
            <a:endParaRPr lang="en-US" sz="1900" dirty="0"/>
          </a:p>
        </p:txBody>
      </p:sp>
      <p:sp>
        <p:nvSpPr>
          <p:cNvPr id="22" name="Text 16"/>
          <p:cNvSpPr txBox="1"/>
          <p:nvPr/>
        </p:nvSpPr>
        <p:spPr>
          <a:xfrm>
            <a:off x="4283354" y="4114800"/>
            <a:ext cx="1135177" cy="777240"/>
          </a:xfrm>
          <a:prstGeom prst="rect">
            <a:avLst/>
          </a:prstGeom>
          <a:noFill/>
          <a:ln/>
        </p:spPr>
        <p:txBody>
          <a:bodyPr wrap="square" lIns="0" tIns="0" rIns="0" bIns="0" rtlCol="0" anchor="ctr"/>
          <a:lstStyle/>
          <a:p>
            <a:pPr algn="ctr" indent="0" marL="0">
              <a:buNone/>
            </a:pPr>
            <a:r>
              <a:rPr lang="en-US" sz="1450" b="1" dirty="0">
                <a:solidFill>
                  <a:srgbClr val="2E4A62"/>
                </a:solidFill>
                <a:latin typeface="Calibri" pitchFamily="34" charset="0"/>
                <a:ea typeface="Calibri" pitchFamily="34" charset="-122"/>
                <a:cs typeface="Calibri" pitchFamily="34" charset="-120"/>
              </a:rPr>
              <a:t>Minicomputer</a:t>
            </a:r>
            <a:endParaRPr lang="en-US" sz="1450" dirty="0"/>
          </a:p>
        </p:txBody>
      </p:sp>
      <p:sp>
        <p:nvSpPr>
          <p:cNvPr id="23" name="Text 17"/>
          <p:cNvSpPr txBox="1"/>
          <p:nvPr/>
        </p:nvSpPr>
        <p:spPr>
          <a:xfrm>
            <a:off x="4283354" y="4937760"/>
            <a:ext cx="1135177" cy="731520"/>
          </a:xfrm>
          <a:prstGeom prst="rect">
            <a:avLst/>
          </a:prstGeom>
          <a:noFill/>
          <a:ln/>
        </p:spPr>
        <p:txBody>
          <a:bodyPr wrap="square" lIns="0" tIns="0" rIns="0" bIns="0" rtlCol="0" anchor="t"/>
          <a:lstStyle/>
          <a:p>
            <a:pPr algn="ctr" indent="0" marL="0">
              <a:buNone/>
            </a:pPr>
            <a:r>
              <a:rPr lang="en-US" sz="1250" dirty="0">
                <a:solidFill>
                  <a:srgbClr val="5B6B78"/>
                </a:solidFill>
                <a:latin typeface="Calibri" pitchFamily="34" charset="0"/>
                <a:ea typeface="Calibri" pitchFamily="34" charset="-122"/>
                <a:cs typeface="Calibri" pitchFamily="34" charset="-120"/>
              </a:rPr>
              <a:t>un calcolatore per reparto</a:t>
            </a:r>
            <a:endParaRPr lang="en-US" sz="1250" dirty="0"/>
          </a:p>
        </p:txBody>
      </p:sp>
      <p:sp>
        <p:nvSpPr>
          <p:cNvPr id="24" name="Shape 18"/>
          <p:cNvSpPr/>
          <p:nvPr/>
        </p:nvSpPr>
        <p:spPr>
          <a:xfrm>
            <a:off x="5528259" y="1417320"/>
            <a:ext cx="1135177" cy="1737360"/>
          </a:xfrm>
          <a:prstGeom prst="roundRect">
            <a:avLst>
              <a:gd name="adj" fmla="val 6444"/>
            </a:avLst>
          </a:prstGeom>
          <a:solidFill>
            <a:srgbClr val="EEF2F4"/>
          </a:solidFill>
          <a:ln w="12700">
            <a:solidFill>
              <a:srgbClr val="EEF2F4"/>
            </a:solidFill>
            <a:prstDash val="solid"/>
          </a:ln>
        </p:spPr>
      </p:sp>
      <p:pic>
        <p:nvPicPr>
          <p:cNvPr id="25" name="Image 4" descr="/Users/raffaelemontella/devel/riscv-prg32/computer-architecture-with-prg32/tools/assets/c64.jpg">    </p:cNvPr>
          <p:cNvPicPr>
            <a:picLocks noChangeAspect="1"/>
          </p:cNvPicPr>
          <p:nvPr/>
        </p:nvPicPr>
        <p:blipFill>
          <a:blip r:embed="rId5"/>
          <a:stretch>
            <a:fillRect/>
          </a:stretch>
        </p:blipFill>
        <p:spPr>
          <a:xfrm>
            <a:off x="5601411" y="2006643"/>
            <a:ext cx="988873" cy="558713"/>
          </a:xfrm>
          <a:prstGeom prst="rect">
            <a:avLst/>
          </a:prstGeom>
        </p:spPr>
      </p:pic>
      <p:sp>
        <p:nvSpPr>
          <p:cNvPr id="26" name="Text 19"/>
          <p:cNvSpPr txBox="1"/>
          <p:nvPr/>
        </p:nvSpPr>
        <p:spPr>
          <a:xfrm>
            <a:off x="5711800" y="3401568"/>
            <a:ext cx="768096" cy="548640"/>
          </a:xfrm>
          <a:prstGeom prst="roundRect">
            <a:avLst>
              <a:gd name="adj" fmla="val 13333"/>
            </a:avLst>
          </a:prstGeom>
          <a:solidFill>
            <a:srgbClr val="B23A48"/>
          </a:solidFill>
          <a:ln>
            <a:solidFill>
              <a:srgbClr val="B23A48"/>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'80</a:t>
            </a:r>
            <a:endParaRPr lang="en-US" sz="1900" dirty="0"/>
          </a:p>
        </p:txBody>
      </p:sp>
      <p:sp>
        <p:nvSpPr>
          <p:cNvPr id="27" name="Text 20"/>
          <p:cNvSpPr txBox="1"/>
          <p:nvPr/>
        </p:nvSpPr>
        <p:spPr>
          <a:xfrm>
            <a:off x="5528259" y="4114800"/>
            <a:ext cx="1135177" cy="777240"/>
          </a:xfrm>
          <a:prstGeom prst="rect">
            <a:avLst/>
          </a:prstGeom>
          <a:noFill/>
          <a:ln/>
        </p:spPr>
        <p:txBody>
          <a:bodyPr wrap="square" lIns="0" tIns="0" rIns="0" bIns="0" rtlCol="0" anchor="ctr"/>
          <a:lstStyle/>
          <a:p>
            <a:pPr algn="ctr" indent="0" marL="0">
              <a:buNone/>
            </a:pPr>
            <a:r>
              <a:rPr lang="en-US" sz="1450" b="1" dirty="0">
                <a:solidFill>
                  <a:srgbClr val="2E4A62"/>
                </a:solidFill>
                <a:latin typeface="Calibri" pitchFamily="34" charset="0"/>
                <a:ea typeface="Calibri" pitchFamily="34" charset="-122"/>
                <a:cs typeface="Calibri" pitchFamily="34" charset="-120"/>
              </a:rPr>
              <a:t>Personal computer</a:t>
            </a:r>
            <a:endParaRPr lang="en-US" sz="1450" dirty="0"/>
          </a:p>
        </p:txBody>
      </p:sp>
      <p:sp>
        <p:nvSpPr>
          <p:cNvPr id="28" name="Text 21"/>
          <p:cNvSpPr txBox="1"/>
          <p:nvPr/>
        </p:nvSpPr>
        <p:spPr>
          <a:xfrm>
            <a:off x="5528259" y="4937760"/>
            <a:ext cx="1135177" cy="731520"/>
          </a:xfrm>
          <a:prstGeom prst="rect">
            <a:avLst/>
          </a:prstGeom>
          <a:noFill/>
          <a:ln/>
        </p:spPr>
        <p:txBody>
          <a:bodyPr wrap="square" lIns="0" tIns="0" rIns="0" bIns="0" rtlCol="0" anchor="t"/>
          <a:lstStyle/>
          <a:p>
            <a:pPr algn="ctr" indent="0" marL="0">
              <a:buNone/>
            </a:pPr>
            <a:r>
              <a:rPr lang="en-US" sz="1250" dirty="0">
                <a:solidFill>
                  <a:srgbClr val="5B6B78"/>
                </a:solidFill>
                <a:latin typeface="Calibri" pitchFamily="34" charset="0"/>
                <a:ea typeface="Calibri" pitchFamily="34" charset="-122"/>
                <a:cs typeface="Calibri" pitchFamily="34" charset="-120"/>
              </a:rPr>
              <a:t>un calcolatore a persona</a:t>
            </a:r>
            <a:endParaRPr lang="en-US" sz="1250" dirty="0"/>
          </a:p>
        </p:txBody>
      </p:sp>
      <p:sp>
        <p:nvSpPr>
          <p:cNvPr id="29" name="Shape 22"/>
          <p:cNvSpPr/>
          <p:nvPr/>
        </p:nvSpPr>
        <p:spPr>
          <a:xfrm>
            <a:off x="6773164" y="1417320"/>
            <a:ext cx="1135177" cy="1737360"/>
          </a:xfrm>
          <a:prstGeom prst="roundRect">
            <a:avLst>
              <a:gd name="adj" fmla="val 6444"/>
            </a:avLst>
          </a:prstGeom>
          <a:solidFill>
            <a:srgbClr val="EEF2F4"/>
          </a:solidFill>
          <a:ln w="12700">
            <a:solidFill>
              <a:srgbClr val="EEF2F4"/>
            </a:solidFill>
            <a:prstDash val="solid"/>
          </a:ln>
        </p:spPr>
      </p:sp>
      <p:pic>
        <p:nvPicPr>
          <p:cNvPr id="30" name="Image 5" descr="/Users/raffaelemontella/devel/riscv-prg32/computer-architecture-with-prg32/tools/assets/network.jpg">    </p:cNvPr>
          <p:cNvPicPr>
            <a:picLocks noChangeAspect="1"/>
          </p:cNvPicPr>
          <p:nvPr/>
        </p:nvPicPr>
        <p:blipFill>
          <a:blip r:embed="rId6"/>
          <a:stretch>
            <a:fillRect/>
          </a:stretch>
        </p:blipFill>
        <p:spPr>
          <a:xfrm>
            <a:off x="6846316" y="1947882"/>
            <a:ext cx="988873" cy="676237"/>
          </a:xfrm>
          <a:prstGeom prst="rect">
            <a:avLst/>
          </a:prstGeom>
        </p:spPr>
      </p:pic>
      <p:sp>
        <p:nvSpPr>
          <p:cNvPr id="31" name="Text 23"/>
          <p:cNvSpPr txBox="1"/>
          <p:nvPr/>
        </p:nvSpPr>
        <p:spPr>
          <a:xfrm>
            <a:off x="6956704" y="3401568"/>
            <a:ext cx="768096" cy="548640"/>
          </a:xfrm>
          <a:prstGeom prst="roundRect">
            <a:avLst>
              <a:gd name="adj" fmla="val 13333"/>
            </a:avLst>
          </a:prstGeom>
          <a:solidFill>
            <a:srgbClr val="2E4A62"/>
          </a:solidFill>
          <a:ln>
            <a:solidFill>
              <a:srgbClr val="2E4A62"/>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'90</a:t>
            </a:r>
            <a:endParaRPr lang="en-US" sz="1900" dirty="0"/>
          </a:p>
        </p:txBody>
      </p:sp>
      <p:sp>
        <p:nvSpPr>
          <p:cNvPr id="32" name="Text 24"/>
          <p:cNvSpPr txBox="1"/>
          <p:nvPr/>
        </p:nvSpPr>
        <p:spPr>
          <a:xfrm>
            <a:off x="6773164" y="4114800"/>
            <a:ext cx="1135177" cy="777240"/>
          </a:xfrm>
          <a:prstGeom prst="rect">
            <a:avLst/>
          </a:prstGeom>
          <a:noFill/>
          <a:ln/>
        </p:spPr>
        <p:txBody>
          <a:bodyPr wrap="square" lIns="0" tIns="0" rIns="0" bIns="0" rtlCol="0" anchor="ctr"/>
          <a:lstStyle/>
          <a:p>
            <a:pPr algn="ctr" indent="0" marL="0">
              <a:buNone/>
            </a:pPr>
            <a:r>
              <a:rPr lang="en-US" sz="1450" b="1" dirty="0">
                <a:solidFill>
                  <a:srgbClr val="2E4A62"/>
                </a:solidFill>
                <a:latin typeface="Calibri" pitchFamily="34" charset="0"/>
                <a:ea typeface="Calibri" pitchFamily="34" charset="-122"/>
                <a:cs typeface="Calibri" pitchFamily="34" charset="-120"/>
              </a:rPr>
              <a:t>Internet</a:t>
            </a:r>
            <a:endParaRPr lang="en-US" sz="1450" dirty="0"/>
          </a:p>
        </p:txBody>
      </p:sp>
      <p:sp>
        <p:nvSpPr>
          <p:cNvPr id="33" name="Text 25"/>
          <p:cNvSpPr txBox="1"/>
          <p:nvPr/>
        </p:nvSpPr>
        <p:spPr>
          <a:xfrm>
            <a:off x="6773164" y="4937760"/>
            <a:ext cx="1135177" cy="731520"/>
          </a:xfrm>
          <a:prstGeom prst="rect">
            <a:avLst/>
          </a:prstGeom>
          <a:noFill/>
          <a:ln/>
        </p:spPr>
        <p:txBody>
          <a:bodyPr wrap="square" lIns="0" tIns="0" rIns="0" bIns="0" rtlCol="0" anchor="t"/>
          <a:lstStyle/>
          <a:p>
            <a:pPr algn="ctr" indent="0" marL="0">
              <a:buNone/>
            </a:pPr>
            <a:r>
              <a:rPr lang="en-US" sz="1250" dirty="0">
                <a:solidFill>
                  <a:srgbClr val="5B6B78"/>
                </a:solidFill>
                <a:latin typeface="Calibri" pitchFamily="34" charset="0"/>
                <a:ea typeface="Calibri" pitchFamily="34" charset="-122"/>
                <a:cs typeface="Calibri" pitchFamily="34" charset="-120"/>
              </a:rPr>
              <a:t>i calcolatori si collegano</a:t>
            </a:r>
            <a:endParaRPr lang="en-US" sz="1250" dirty="0"/>
          </a:p>
        </p:txBody>
      </p:sp>
      <p:sp>
        <p:nvSpPr>
          <p:cNvPr id="34" name="Shape 26"/>
          <p:cNvSpPr/>
          <p:nvPr/>
        </p:nvSpPr>
        <p:spPr>
          <a:xfrm>
            <a:off x="8018069" y="1417320"/>
            <a:ext cx="1135177" cy="1737360"/>
          </a:xfrm>
          <a:prstGeom prst="roundRect">
            <a:avLst>
              <a:gd name="adj" fmla="val 6444"/>
            </a:avLst>
          </a:prstGeom>
          <a:solidFill>
            <a:srgbClr val="EEF2F4"/>
          </a:solidFill>
          <a:ln w="12700">
            <a:solidFill>
              <a:srgbClr val="EEF2F4"/>
            </a:solidFill>
            <a:prstDash val="solid"/>
          </a:ln>
        </p:spPr>
      </p:sp>
      <p:pic>
        <p:nvPicPr>
          <p:cNvPr id="35" name="Image 6" descr="/Users/raffaelemontella/devel/riscv-prg32/computer-architecture-with-prg32/tools/assets/iphone.jpg">    </p:cNvPr>
          <p:cNvPicPr>
            <a:picLocks noChangeAspect="1"/>
          </p:cNvPicPr>
          <p:nvPr/>
        </p:nvPicPr>
        <p:blipFill>
          <a:blip r:embed="rId7"/>
          <a:stretch>
            <a:fillRect/>
          </a:stretch>
        </p:blipFill>
        <p:spPr>
          <a:xfrm>
            <a:off x="8158724" y="1490472"/>
            <a:ext cx="853867" cy="1591056"/>
          </a:xfrm>
          <a:prstGeom prst="rect">
            <a:avLst/>
          </a:prstGeom>
        </p:spPr>
      </p:pic>
      <p:sp>
        <p:nvSpPr>
          <p:cNvPr id="36" name="Text 27"/>
          <p:cNvSpPr txBox="1"/>
          <p:nvPr/>
        </p:nvSpPr>
        <p:spPr>
          <a:xfrm>
            <a:off x="8201609" y="3401568"/>
            <a:ext cx="768096"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'00</a:t>
            </a:r>
            <a:endParaRPr lang="en-US" sz="1900" dirty="0"/>
          </a:p>
        </p:txBody>
      </p:sp>
      <p:sp>
        <p:nvSpPr>
          <p:cNvPr id="37" name="Text 28"/>
          <p:cNvSpPr txBox="1"/>
          <p:nvPr/>
        </p:nvSpPr>
        <p:spPr>
          <a:xfrm>
            <a:off x="8018069" y="4114800"/>
            <a:ext cx="1135177" cy="777240"/>
          </a:xfrm>
          <a:prstGeom prst="rect">
            <a:avLst/>
          </a:prstGeom>
          <a:noFill/>
          <a:ln/>
        </p:spPr>
        <p:txBody>
          <a:bodyPr wrap="square" lIns="0" tIns="0" rIns="0" bIns="0" rtlCol="0" anchor="ctr"/>
          <a:lstStyle/>
          <a:p>
            <a:pPr algn="ctr" indent="0" marL="0">
              <a:buNone/>
            </a:pPr>
            <a:r>
              <a:rPr lang="en-US" sz="1450" b="1" dirty="0">
                <a:solidFill>
                  <a:srgbClr val="2E4A62"/>
                </a:solidFill>
                <a:latin typeface="Calibri" pitchFamily="34" charset="0"/>
                <a:ea typeface="Calibri" pitchFamily="34" charset="-122"/>
                <a:cs typeface="Calibri" pitchFamily="34" charset="-120"/>
              </a:rPr>
              <a:t>Smartphone e tablet</a:t>
            </a:r>
            <a:endParaRPr lang="en-US" sz="1450" dirty="0"/>
          </a:p>
        </p:txBody>
      </p:sp>
      <p:sp>
        <p:nvSpPr>
          <p:cNvPr id="38" name="Text 29"/>
          <p:cNvSpPr txBox="1"/>
          <p:nvPr/>
        </p:nvSpPr>
        <p:spPr>
          <a:xfrm>
            <a:off x="8018069" y="4937760"/>
            <a:ext cx="1135177" cy="731520"/>
          </a:xfrm>
          <a:prstGeom prst="rect">
            <a:avLst/>
          </a:prstGeom>
          <a:noFill/>
          <a:ln/>
        </p:spPr>
        <p:txBody>
          <a:bodyPr wrap="square" lIns="0" tIns="0" rIns="0" bIns="0" rtlCol="0" anchor="t"/>
          <a:lstStyle/>
          <a:p>
            <a:pPr algn="ctr" indent="0" marL="0">
              <a:buNone/>
            </a:pPr>
            <a:r>
              <a:rPr lang="en-US" sz="1250" dirty="0">
                <a:solidFill>
                  <a:srgbClr val="5B6B78"/>
                </a:solidFill>
                <a:latin typeface="Calibri" pitchFamily="34" charset="0"/>
                <a:ea typeface="Calibri" pitchFamily="34" charset="-122"/>
                <a:cs typeface="Calibri" pitchFamily="34" charset="-120"/>
              </a:rPr>
              <a:t>un calcolatore in tasca</a:t>
            </a:r>
            <a:endParaRPr lang="en-US" sz="1250" dirty="0"/>
          </a:p>
        </p:txBody>
      </p:sp>
      <p:sp>
        <p:nvSpPr>
          <p:cNvPr id="39" name="Shape 30"/>
          <p:cNvSpPr/>
          <p:nvPr/>
        </p:nvSpPr>
        <p:spPr>
          <a:xfrm>
            <a:off x="9262974" y="1417320"/>
            <a:ext cx="1135177" cy="1737360"/>
          </a:xfrm>
          <a:prstGeom prst="roundRect">
            <a:avLst>
              <a:gd name="adj" fmla="val 6444"/>
            </a:avLst>
          </a:prstGeom>
          <a:solidFill>
            <a:srgbClr val="EEF2F4"/>
          </a:solidFill>
          <a:ln w="12700">
            <a:solidFill>
              <a:srgbClr val="EEF2F4"/>
            </a:solidFill>
            <a:prstDash val="solid"/>
          </a:ln>
        </p:spPr>
      </p:sp>
      <p:pic>
        <p:nvPicPr>
          <p:cNvPr id="40" name="Image 7" descr="/Users/raffaelemontella/devel/riscv-prg32/computer-architecture-with-prg32/tools/assets/datacenter.jpg">    </p:cNvPr>
          <p:cNvPicPr>
            <a:picLocks noChangeAspect="1"/>
          </p:cNvPicPr>
          <p:nvPr/>
        </p:nvPicPr>
        <p:blipFill>
          <a:blip r:embed="rId8"/>
          <a:stretch>
            <a:fillRect/>
          </a:stretch>
        </p:blipFill>
        <p:spPr>
          <a:xfrm>
            <a:off x="9336126" y="2072098"/>
            <a:ext cx="988873" cy="427803"/>
          </a:xfrm>
          <a:prstGeom prst="rect">
            <a:avLst/>
          </a:prstGeom>
        </p:spPr>
      </p:pic>
      <p:sp>
        <p:nvSpPr>
          <p:cNvPr id="41" name="Text 31"/>
          <p:cNvSpPr txBox="1"/>
          <p:nvPr/>
        </p:nvSpPr>
        <p:spPr>
          <a:xfrm>
            <a:off x="9446514" y="3401568"/>
            <a:ext cx="768096"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'10</a:t>
            </a:r>
            <a:endParaRPr lang="en-US" sz="1900" dirty="0"/>
          </a:p>
        </p:txBody>
      </p:sp>
      <p:sp>
        <p:nvSpPr>
          <p:cNvPr id="42" name="Text 32"/>
          <p:cNvSpPr txBox="1"/>
          <p:nvPr/>
        </p:nvSpPr>
        <p:spPr>
          <a:xfrm>
            <a:off x="9262974" y="4114800"/>
            <a:ext cx="1135177" cy="777240"/>
          </a:xfrm>
          <a:prstGeom prst="rect">
            <a:avLst/>
          </a:prstGeom>
          <a:noFill/>
          <a:ln/>
        </p:spPr>
        <p:txBody>
          <a:bodyPr wrap="square" lIns="0" tIns="0" rIns="0" bIns="0" rtlCol="0" anchor="ctr"/>
          <a:lstStyle/>
          <a:p>
            <a:pPr algn="ctr" indent="0" marL="0">
              <a:buNone/>
            </a:pPr>
            <a:r>
              <a:rPr lang="en-US" sz="1450" b="1" dirty="0">
                <a:solidFill>
                  <a:srgbClr val="2E4A62"/>
                </a:solidFill>
                <a:latin typeface="Calibri" pitchFamily="34" charset="0"/>
                <a:ea typeface="Calibri" pitchFamily="34" charset="-122"/>
                <a:cs typeface="Calibri" pitchFamily="34" charset="-120"/>
              </a:rPr>
              <a:t>Cloud computing</a:t>
            </a:r>
            <a:endParaRPr lang="en-US" sz="1450" dirty="0"/>
          </a:p>
        </p:txBody>
      </p:sp>
      <p:sp>
        <p:nvSpPr>
          <p:cNvPr id="43" name="Text 33"/>
          <p:cNvSpPr txBox="1"/>
          <p:nvPr/>
        </p:nvSpPr>
        <p:spPr>
          <a:xfrm>
            <a:off x="9262974" y="4937760"/>
            <a:ext cx="1135177" cy="731520"/>
          </a:xfrm>
          <a:prstGeom prst="rect">
            <a:avLst/>
          </a:prstGeom>
          <a:noFill/>
          <a:ln/>
        </p:spPr>
        <p:txBody>
          <a:bodyPr wrap="square" lIns="0" tIns="0" rIns="0" bIns="0" rtlCol="0" anchor="t"/>
          <a:lstStyle/>
          <a:p>
            <a:pPr algn="ctr" indent="0" marL="0">
              <a:buNone/>
            </a:pPr>
            <a:r>
              <a:rPr lang="en-US" sz="1250" dirty="0">
                <a:solidFill>
                  <a:srgbClr val="5B6B78"/>
                </a:solidFill>
                <a:latin typeface="Calibri" pitchFamily="34" charset="0"/>
                <a:ea typeface="Calibri" pitchFamily="34" charset="-122"/>
                <a:cs typeface="Calibri" pitchFamily="34" charset="-120"/>
              </a:rPr>
              <a:t>il calcolo come servizio</a:t>
            </a:r>
            <a:endParaRPr lang="en-US" sz="1250" dirty="0"/>
          </a:p>
        </p:txBody>
      </p:sp>
      <p:sp>
        <p:nvSpPr>
          <p:cNvPr id="44" name="Shape 34"/>
          <p:cNvSpPr/>
          <p:nvPr/>
        </p:nvSpPr>
        <p:spPr>
          <a:xfrm>
            <a:off x="10507878" y="1417320"/>
            <a:ext cx="1135177" cy="1737360"/>
          </a:xfrm>
          <a:prstGeom prst="roundRect">
            <a:avLst>
              <a:gd name="adj" fmla="val 6444"/>
            </a:avLst>
          </a:prstGeom>
          <a:solidFill>
            <a:srgbClr val="EEF2F4"/>
          </a:solidFill>
          <a:ln w="12700">
            <a:solidFill>
              <a:srgbClr val="EEF2F4"/>
            </a:solidFill>
            <a:prstDash val="solid"/>
          </a:ln>
        </p:spPr>
      </p:sp>
      <p:pic>
        <p:nvPicPr>
          <p:cNvPr id="45" name="Image 8" descr="/Users/raffaelemontella/devel/riscv-prg32/computer-architecture-with-prg32/tools/assets/smart_speaker.jpg">    </p:cNvPr>
          <p:cNvPicPr>
            <a:picLocks noChangeAspect="1"/>
          </p:cNvPicPr>
          <p:nvPr/>
        </p:nvPicPr>
        <p:blipFill>
          <a:blip r:embed="rId9"/>
          <a:stretch>
            <a:fillRect/>
          </a:stretch>
        </p:blipFill>
        <p:spPr>
          <a:xfrm>
            <a:off x="10581030" y="1791564"/>
            <a:ext cx="988873" cy="988873"/>
          </a:xfrm>
          <a:prstGeom prst="rect">
            <a:avLst/>
          </a:prstGeom>
        </p:spPr>
      </p:pic>
      <p:sp>
        <p:nvSpPr>
          <p:cNvPr id="46" name="Text 35"/>
          <p:cNvSpPr txBox="1"/>
          <p:nvPr/>
        </p:nvSpPr>
        <p:spPr>
          <a:xfrm>
            <a:off x="10691419" y="3401568"/>
            <a:ext cx="768096" cy="548640"/>
          </a:xfrm>
          <a:prstGeom prst="roundRect">
            <a:avLst>
              <a:gd name="adj" fmla="val 13333"/>
            </a:avLst>
          </a:prstGeom>
          <a:solidFill>
            <a:srgbClr val="6B4FA0"/>
          </a:solidFill>
          <a:ln>
            <a:solidFill>
              <a:srgbClr val="6B4FA0"/>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'20</a:t>
            </a:r>
            <a:endParaRPr lang="en-US" sz="1900" dirty="0"/>
          </a:p>
        </p:txBody>
      </p:sp>
      <p:sp>
        <p:nvSpPr>
          <p:cNvPr id="47" name="Text 36"/>
          <p:cNvSpPr txBox="1"/>
          <p:nvPr/>
        </p:nvSpPr>
        <p:spPr>
          <a:xfrm>
            <a:off x="10507878" y="4114800"/>
            <a:ext cx="1135177" cy="777240"/>
          </a:xfrm>
          <a:prstGeom prst="rect">
            <a:avLst/>
          </a:prstGeom>
          <a:noFill/>
          <a:ln/>
        </p:spPr>
        <p:txBody>
          <a:bodyPr wrap="square" lIns="0" tIns="0" rIns="0" bIns="0" rtlCol="0" anchor="ctr"/>
          <a:lstStyle/>
          <a:p>
            <a:pPr algn="ctr" indent="0" marL="0">
              <a:buNone/>
            </a:pPr>
            <a:r>
              <a:rPr lang="en-US" sz="1450" b="1" dirty="0">
                <a:solidFill>
                  <a:srgbClr val="2E4A62"/>
                </a:solidFill>
                <a:latin typeface="Calibri" pitchFamily="34" charset="0"/>
                <a:ea typeface="Calibri" pitchFamily="34" charset="-122"/>
                <a:cs typeface="Calibri" pitchFamily="34" charset="-120"/>
              </a:rPr>
              <a:t>IoT e IA</a:t>
            </a:r>
            <a:endParaRPr lang="en-US" sz="1450" dirty="0"/>
          </a:p>
        </p:txBody>
      </p:sp>
      <p:sp>
        <p:nvSpPr>
          <p:cNvPr id="48" name="Text 37"/>
          <p:cNvSpPr txBox="1"/>
          <p:nvPr/>
        </p:nvSpPr>
        <p:spPr>
          <a:xfrm>
            <a:off x="10507878" y="4937760"/>
            <a:ext cx="1135177" cy="731520"/>
          </a:xfrm>
          <a:prstGeom prst="rect">
            <a:avLst/>
          </a:prstGeom>
          <a:noFill/>
          <a:ln/>
        </p:spPr>
        <p:txBody>
          <a:bodyPr wrap="square" lIns="0" tIns="0" rIns="0" bIns="0" rtlCol="0" anchor="t"/>
          <a:lstStyle/>
          <a:p>
            <a:pPr algn="ctr" indent="0" marL="0">
              <a:buNone/>
            </a:pPr>
            <a:r>
              <a:rPr lang="en-US" sz="1250" dirty="0">
                <a:solidFill>
                  <a:srgbClr val="5B6B78"/>
                </a:solidFill>
                <a:latin typeface="Calibri" pitchFamily="34" charset="0"/>
                <a:ea typeface="Calibri" pitchFamily="34" charset="-122"/>
                <a:cs typeface="Calibri" pitchFamily="34" charset="-120"/>
              </a:rPr>
              <a:t>calcolatori ovunque</a:t>
            </a:r>
            <a:endParaRPr lang="en-US" sz="1250" dirty="0"/>
          </a:p>
        </p:txBody>
      </p:sp>
      <p:sp>
        <p:nvSpPr>
          <p:cNvPr id="49" name="Text 38"/>
          <p:cNvSpPr txBox="1"/>
          <p:nvPr/>
        </p:nvSpPr>
        <p:spPr>
          <a:xfrm>
            <a:off x="548640" y="5715000"/>
            <a:ext cx="11094415" cy="457200"/>
          </a:xfrm>
          <a:prstGeom prst="rect">
            <a:avLst/>
          </a:prstGeom>
          <a:noFill/>
          <a:ln/>
        </p:spPr>
        <p:txBody>
          <a:bodyPr wrap="square" lIns="0" tIns="0" rIns="0" bIns="0" rtlCol="0" anchor="ctr"/>
          <a:lstStyle/>
          <a:p>
            <a:pPr indent="0" marL="0">
              <a:buNone/>
            </a:pPr>
            <a:r>
              <a:rPr lang="en-US" sz="1600" i="1" dirty="0">
                <a:solidFill>
                  <a:srgbClr val="1B2530"/>
                </a:solidFill>
                <a:latin typeface="Calibri" pitchFamily="34" charset="0"/>
                <a:ea typeface="Calibri" pitchFamily="34" charset="-122"/>
                <a:cs typeface="Calibri" pitchFamily="34" charset="-120"/>
              </a:rPr>
              <a:t>Ogni decennio ha reso il calcolatore più piccolo, più economico e più vicino alle persone; nessuno ha cambiato l'idea del programma memorizzato.</a:t>
            </a:r>
            <a:endParaRPr lang="en-US" sz="16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Microprocessori: da CISC a RISC a uno standard aperto</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182192"/>
                <a:gridCol w="3819389"/>
                <a:gridCol w="6092835"/>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Anno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Tappa</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Perché conta</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1971</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Intel 4004</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il primo microprocessore commerciale: 2300 transistor su un chip</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1975</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MOS 6502</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una CPU a 8 bit economica: Apple II, Commodore 64, l'era degli home computer</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1978</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Intel 8086</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l'inizio di x86, un insieme di istruzioni complesso (CISC) ancora nei PC di oggi</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1980-82</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RISC di Berkeley e MIPS di Stanford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poche istruzioni, semplici e regolari, sono più veloci: l'idea RISC</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1985</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ARM1</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RISC a basso consumo: oggi in quasi tutti i telefoni</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2010</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RISC-V nasce a UC Berkeley</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il quinto progetto RISC di Berkeley diventa un insieme di istruzioni aperto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2015-20</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RISC-V Foundation, poi RISC-V International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una specifica condivisa, governata dalla Svizzera</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2023-25</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Chips Act europeo; progetto DARE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RISC-V come strategia per la sovranità tecnologica europea</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legge di Moore in un numero</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1971: l'Intel 4004 ha 2300 transistor</a:t>
            </a:r>
            <a:endParaRPr lang="en-US" sz="2200" dirty="0"/>
          </a:p>
        </p:txBody>
      </p:sp>
      <p:sp>
        <p:nvSpPr>
          <p:cNvPr id="5" name="Shape 3"/>
          <p:cNvSpPr/>
          <p:nvPr/>
        </p:nvSpPr>
        <p:spPr>
          <a:xfrm>
            <a:off x="548640" y="2201164"/>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094738"/>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Oggi il processore di un portatile ne ha decine di miliardi</a:t>
            </a:r>
            <a:endParaRPr lang="en-US" sz="2200" dirty="0"/>
          </a:p>
        </p:txBody>
      </p:sp>
      <p:sp>
        <p:nvSpPr>
          <p:cNvPr id="7" name="Shape 5"/>
          <p:cNvSpPr/>
          <p:nvPr/>
        </p:nvSpPr>
        <p:spPr>
          <a:xfrm>
            <a:off x="548640" y="3219450"/>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11302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Per cinquant'anni il numero di transistor su un chip è raddoppiato circa ogni due anni</a:t>
            </a:r>
            <a:endParaRPr lang="en-US" sz="2200" dirty="0"/>
          </a:p>
        </p:txBody>
      </p:sp>
      <p:sp>
        <p:nvSpPr>
          <p:cNvPr id="9" name="Shape 7"/>
          <p:cNvSpPr/>
          <p:nvPr/>
        </p:nvSpPr>
        <p:spPr>
          <a:xfrm>
            <a:off x="548640" y="4237736"/>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131310"/>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 limiti fisici sono ormai vicini: il progresso viene da architetture migliori, acceleratori specializzati e progetti aperti</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Ecco perché l'architettura, l'argomento di questo corso, conta più che mai</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x 10.000.000</a:t>
            </a:r>
            <a:endParaRPr lang="en-US" sz="48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la crescita dei transistor per chip dall'Intel 4004 (1971) al processore di un portatile attuale</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Lo spirito degli home computer, su una CPU aperta</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182508"/>
                <a:gridCol w="4183140"/>
                <a:gridCol w="4728767"/>
              </a:tblGrid>
              <a:tr h="0">
                <a:tc>
                  <a:txBody>
                    <a:bodyPr/>
                    <a:lstStyle/>
                    <a:p>
                      <a:pPr algn="l" indent="0" marL="0">
                        <a:buNone/>
                      </a:pP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Commodore 64 (1982), MOS 6510</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PRG32 su ESP32-C6, RISC-V</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Parola</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8 bit</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32 bit</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Registri</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A, X, Y (più puntatore allo stack, stato, PC)</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32 registri di uso generale, da x0 a x31</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Clock</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circa 1 MHz</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160 MHz</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Spazio di indirizzamento</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64 KB</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4 GB</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Insieme di istruzioni</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56 istruzioni, proprietario</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circa 40 istruzioni di base più estensioni, standard aperto</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Schermo</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320 per 200 pixel, 16 colori</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area di 320 per 200, tavolozza RGB565 di 256 colori</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Si programma</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scrivendo sulla macchina stessa</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compilando una cartuccia e caricandola</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400" i="1" dirty="0">
                <a:solidFill>
                  <a:srgbClr val="5B6B78"/>
                </a:solidFill>
                <a:latin typeface="Calibri" pitchFamily="34" charset="0"/>
                <a:ea typeface="Calibri" pitchFamily="34" charset="-122"/>
                <a:cs typeface="Calibri" pitchFamily="34" charset="-120"/>
              </a:rPr>
              <a:t>Stesso schermo, stessa immediatezza: a quarant'anni di distanza. Il 6502 si esplora ancora su skilldrick.github.io/easy6502</a:t>
            </a:r>
            <a:endParaRPr lang="en-US" sz="1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calcolo ad alte prestazioni alla Parthenope</a:t>
            </a:r>
            <a:endParaRPr lang="en-US" sz="3200" dirty="0"/>
          </a:p>
        </p:txBody>
      </p:sp>
      <p:sp>
        <p:nvSpPr>
          <p:cNvPr id="3" name="Shape 1"/>
          <p:cNvSpPr/>
          <p:nvPr/>
        </p:nvSpPr>
        <p:spPr>
          <a:xfrm>
            <a:off x="548640" y="1417320"/>
            <a:ext cx="3515258" cy="3931920"/>
          </a:xfrm>
          <a:prstGeom prst="roundRect">
            <a:avLst>
              <a:gd name="adj" fmla="val 2081"/>
            </a:avLst>
          </a:prstGeom>
          <a:solidFill>
            <a:srgbClr val="EEF2F4"/>
          </a:solidFill>
          <a:ln w="12700">
            <a:solidFill>
              <a:srgbClr val="EEF2F4"/>
            </a:solidFill>
            <a:prstDash val="solid"/>
          </a:ln>
        </p:spPr>
      </p:sp>
      <p:pic>
        <p:nvPicPr>
          <p:cNvPr id="4" name="Image 0" descr="/Users/raffaelemontella/devel/riscv-prg32/computer-architecture-with-prg32/tools/assets/cluster_1.jpg">    </p:cNvPr>
          <p:cNvPicPr>
            <a:picLocks noChangeAspect="1"/>
          </p:cNvPicPr>
          <p:nvPr/>
        </p:nvPicPr>
        <p:blipFill>
          <a:blip r:embed="rId1"/>
          <a:stretch>
            <a:fillRect/>
          </a:stretch>
        </p:blipFill>
        <p:spPr>
          <a:xfrm>
            <a:off x="685800" y="1870748"/>
            <a:ext cx="3240938" cy="2430704"/>
          </a:xfrm>
          <a:prstGeom prst="rect">
            <a:avLst/>
          </a:prstGeom>
        </p:spPr>
      </p:pic>
      <p:sp>
        <p:nvSpPr>
          <p:cNvPr id="5" name="Text 2"/>
          <p:cNvSpPr txBox="1"/>
          <p:nvPr/>
        </p:nvSpPr>
        <p:spPr>
          <a:xfrm>
            <a:off x="685800" y="4663440"/>
            <a:ext cx="324093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Un cluster didattico: mini PC con GPU su una rete a 10 Gbit</a:t>
            </a:r>
            <a:endParaRPr lang="en-US" sz="1500" dirty="0"/>
          </a:p>
        </p:txBody>
      </p:sp>
      <p:sp>
        <p:nvSpPr>
          <p:cNvPr id="6" name="Shape 3"/>
          <p:cNvSpPr/>
          <p:nvPr/>
        </p:nvSpPr>
        <p:spPr>
          <a:xfrm>
            <a:off x="4338218" y="1417320"/>
            <a:ext cx="3515258" cy="3931920"/>
          </a:xfrm>
          <a:prstGeom prst="roundRect">
            <a:avLst>
              <a:gd name="adj" fmla="val 2081"/>
            </a:avLst>
          </a:prstGeom>
          <a:solidFill>
            <a:srgbClr val="EEF2F4"/>
          </a:solidFill>
          <a:ln w="12700">
            <a:solidFill>
              <a:srgbClr val="EEF2F4"/>
            </a:solidFill>
            <a:prstDash val="solid"/>
          </a:ln>
        </p:spPr>
      </p:sp>
      <p:pic>
        <p:nvPicPr>
          <p:cNvPr id="7" name="Image 1" descr="/Users/raffaelemontella/devel/riscv-prg32/computer-architecture-with-prg32/tools/assets/cluster_2.jpg">    </p:cNvPr>
          <p:cNvPicPr>
            <a:picLocks noChangeAspect="1"/>
          </p:cNvPicPr>
          <p:nvPr/>
        </p:nvPicPr>
        <p:blipFill>
          <a:blip r:embed="rId2"/>
          <a:stretch>
            <a:fillRect/>
          </a:stretch>
        </p:blipFill>
        <p:spPr>
          <a:xfrm>
            <a:off x="4475378" y="1870748"/>
            <a:ext cx="3240938" cy="2430704"/>
          </a:xfrm>
          <a:prstGeom prst="rect">
            <a:avLst/>
          </a:prstGeom>
        </p:spPr>
      </p:pic>
      <p:sp>
        <p:nvSpPr>
          <p:cNvPr id="8" name="Text 4"/>
          <p:cNvSpPr txBox="1"/>
          <p:nvPr/>
        </p:nvSpPr>
        <p:spPr>
          <a:xfrm>
            <a:off x="4475378" y="4663440"/>
            <a:ext cx="324093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Lo stesso cluster che esegue una simulazione parallela</a:t>
            </a:r>
            <a:endParaRPr lang="en-US" sz="1500" dirty="0"/>
          </a:p>
        </p:txBody>
      </p:sp>
      <p:sp>
        <p:nvSpPr>
          <p:cNvPr id="9" name="Shape 5"/>
          <p:cNvSpPr/>
          <p:nvPr/>
        </p:nvSpPr>
        <p:spPr>
          <a:xfrm>
            <a:off x="8127797" y="1417320"/>
            <a:ext cx="3515258" cy="3931920"/>
          </a:xfrm>
          <a:prstGeom prst="roundRect">
            <a:avLst>
              <a:gd name="adj" fmla="val 2081"/>
            </a:avLst>
          </a:prstGeom>
          <a:solidFill>
            <a:srgbClr val="EEF2F4"/>
          </a:solidFill>
          <a:ln w="12700">
            <a:solidFill>
              <a:srgbClr val="EEF2F4"/>
            </a:solidFill>
            <a:prstDash val="solid"/>
          </a:ln>
        </p:spPr>
      </p:sp>
      <p:pic>
        <p:nvPicPr>
          <p:cNvPr id="10" name="Image 2" descr="/Users/raffaelemontella/devel/riscv-prg32/computer-architecture-with-prg32/tools/assets/rcf_page.png">    </p:cNvPr>
          <p:cNvPicPr>
            <a:picLocks noChangeAspect="1"/>
          </p:cNvPicPr>
          <p:nvPr/>
        </p:nvPicPr>
        <p:blipFill>
          <a:blip r:embed="rId3"/>
          <a:stretch>
            <a:fillRect/>
          </a:stretch>
        </p:blipFill>
        <p:spPr>
          <a:xfrm>
            <a:off x="8575891" y="1554480"/>
            <a:ext cx="2619070" cy="3063240"/>
          </a:xfrm>
          <a:prstGeom prst="rect">
            <a:avLst/>
          </a:prstGeom>
        </p:spPr>
      </p:pic>
      <p:sp>
        <p:nvSpPr>
          <p:cNvPr id="11" name="Text 6"/>
          <p:cNvSpPr txBox="1"/>
          <p:nvPr/>
        </p:nvSpPr>
        <p:spPr>
          <a:xfrm>
            <a:off x="8264957" y="4663440"/>
            <a:ext cx="324093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Research Computing Facilities: rcf.uniparthenope.it</a:t>
            </a:r>
            <a:endParaRPr lang="en-US" sz="1500" dirty="0"/>
          </a:p>
        </p:txBody>
      </p:sp>
      <p:sp>
        <p:nvSpPr>
          <p:cNvPr id="12" name="Text 7"/>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900" dirty="0">
                <a:solidFill>
                  <a:srgbClr val="1B2530"/>
                </a:solidFill>
                <a:latin typeface="Calibri" pitchFamily="34" charset="0"/>
                <a:ea typeface="Calibri" pitchFamily="34" charset="-122"/>
                <a:cs typeface="Calibri" pitchFamily="34" charset="-120"/>
              </a:rPr>
              <a:t>Le stesse idee che esercitate su un microcontrollore a 160 MHz si ritrovano nei cluster: registri, memoria, istruzioni, soltanto in numero molto maggiore.</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Quale idea è il cuore dell'architettura di von Neumann?</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Il processore ha esattamente quattro registri</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Programma e dati stanno nella stessa memoria</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Ogni istruzione dura un ciclo di clock</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Ingresso e uscita sono facoltativi</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Che cosa distingue RISC-V da x86 e ARM?</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È l'insieme di istruzioni più veloce</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È stata la prima architettura RISC</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Il suo insieme di istruzioni è uno standard aperto, libero da realizzare</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Funziona solo sui microcontrollori</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Chi è considerato il primo programmatore della storia?</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Charles Babbage</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Alan Turing</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Ada Lovelace</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Konrad Zuse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Glossario: inglese e italiano</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993731"/>
                <a:gridCol w="2641527"/>
                <a:gridCol w="2817629"/>
                <a:gridCol w="2641527"/>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Inglese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Inglese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computer science / informatics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informatica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stored program</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programma memorizzato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computer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calcolatore, elaboratore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control unit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unità di controllo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punched card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scheda perforata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arithmetic logic unit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unità aritmetico-logica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loom</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telaio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instruction set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insieme (set) di istruzioni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mainframe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mainframe, grande elaboratore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high-performance computing</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calcolo ad alte prestazioni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Conclusioni e letture</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Il calcolo è più antico dell'elettronica: rappresentazione e procedura sono venute prima</a:t>
            </a:r>
            <a:endParaRPr lang="en-US" sz="2100" dirty="0"/>
          </a:p>
        </p:txBody>
      </p:sp>
      <p:sp>
        <p:nvSpPr>
          <p:cNvPr id="5" name="Shape 3"/>
          <p:cNvSpPr/>
          <p:nvPr/>
        </p:nvSpPr>
        <p:spPr>
          <a:xfrm>
            <a:off x="548640" y="238677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88096"/>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Il calcolatore a programma memorizzato del 1945 è ancora la macchina che programmiamo oggi</a:t>
            </a:r>
            <a:endParaRPr lang="en-US" sz="2100" dirty="0"/>
          </a:p>
        </p:txBody>
      </p:sp>
      <p:sp>
        <p:nvSpPr>
          <p:cNvPr id="7" name="Shape 5"/>
          <p:cNvSpPr/>
          <p:nvPr/>
        </p:nvSpPr>
        <p:spPr>
          <a:xfrm>
            <a:off x="548640" y="3257550"/>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158871"/>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RISC ha reso i processori abbastanza semplici da capirli per intero; RISC-V li ha resi aperti</a:t>
            </a:r>
            <a:endParaRPr lang="en-US" sz="2100" dirty="0"/>
          </a:p>
        </p:txBody>
      </p:sp>
      <p:sp>
        <p:nvSpPr>
          <p:cNvPr id="9" name="Shape 7"/>
          <p:cNvSpPr/>
          <p:nvPr/>
        </p:nvSpPr>
        <p:spPr>
          <a:xfrm>
            <a:off x="548640" y="4128326"/>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029647"/>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L'informatica è pervasiva: l'informazione digitale appartiene a ogni campo, i dati ne sono la moneta, gli algoritmi trasformano i dati in decisioni</a:t>
            </a:r>
            <a:endParaRPr lang="en-US" sz="2100" dirty="0"/>
          </a:p>
        </p:txBody>
      </p:sp>
      <p:sp>
        <p:nvSpPr>
          <p:cNvPr id="11" name="Shape 9"/>
          <p:cNvSpPr/>
          <p:nvPr/>
        </p:nvSpPr>
        <p:spPr>
          <a:xfrm>
            <a:off x="548640" y="499910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900422"/>
            <a:ext cx="10710367" cy="127177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Letture</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Patterson, Hennessy: Struttura e progetto dei calcolatori, edizione RISC-V, capitolo 1</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Playing with RISC-V, capitolo 1: Why a Game, Why RISC-V, Why Now</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Charles Petzold: Code. The Hidden Language of Computer Hardware and Software</a:t>
            </a:r>
            <a:endParaRPr lang="en-US" sz="2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Storia della computazione</dc:title>
  <dc:subject>Lezione 03</dc:subject>
  <dc:creator>Raffaele Montella</dc:creator>
  <cp:lastModifiedBy>Raffaele Montella</cp:lastModifiedBy>
  <cp:revision>1</cp:revision>
  <dcterms:created xsi:type="dcterms:W3CDTF">2026-10-13T08:56:25Z</dcterms:created>
  <dcterms:modified xsi:type="dcterms:W3CDTF">2026-10-13T08:56:25Z</dcterms:modified>
</cp:coreProperties>
</file>