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cb41f40a-519e-0a23-cc75-0719f524d7c2}">
          <p14:sldIdLst>
            <p14:sldId id="256"/>
            <p14:sldId id="257"/>
          </p14:sldIdLst>
        </p14:section>
        <p14:section name="Che cos'è l'informatica?" id="{38e27b49-a391-42b4-18f2-90fa500d2a15}">
          <p14:sldIdLst>
            <p14:sldId id="258"/>
            <p14:sldId id="259"/>
          </p14:sldIdLst>
        </p14:section>
        <p14:section name="Prima dell'elettricità" id="{ddc7da16-30c2-e8fa-237a-b8c27d7eaa12}">
          <p14:sldIdLst>
            <p14:sldId id="260"/>
            <p14:sldId id="261"/>
            <p14:sldId id="262"/>
            <p14:sldId id="263"/>
          </p14:sldIdLst>
        </p14:section>
        <p14:section name="Il Novecento" id="{af6af890-0c3a-2051-0051-b14393be6042}">
          <p14:sldIdLst>
            <p14:sldId id="264"/>
            <p14:sldId id="265"/>
            <p14:sldId id="266"/>
          </p14:sldIdLst>
        </p14:section>
        <p14:section name="Dagli home computer a RISC-V" id="{04330821-8d5b-9352-9ee7-4b626c7bd4c9}">
          <p14:sldIdLst>
            <p14:sldId id="267"/>
            <p14:sldId id="268"/>
            <p14:sldId id="269"/>
          </p14:sldIdLst>
        </p14:section>
        <p14:section name="L'informatica come scienza applicata" id="{c7033073-a33c-d196-a13d-6db34b2f1b62}">
          <p14:sldIdLst>
            <p14:sldId id="270"/>
            <p14:sldId id="271"/>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lezione precedente ha eseguito un programma RISC-V; questa si chiede da dove venga quella macchina. Non è una cronologia da memorizzare. La storia è presentata come una sequenza di contributi concettuali, ciascuno dei quali aggiunge un'idea ancora incorporata nel chip del kit PRG32: la rappresentazione fisica, la procedura meccanizzata, il programma come dato, l'insieme ridotto di istruzioni, lo standard aperto. La citazione è il primo programma canonico, dal libro che ha introdotto il linguaggio C: da allora ogni programmatore comincia facendo dire ciao a una macchina, come lo studente ha fatto con HELLO PRG32.
Stato di apprendimento: DA COMPRENDERE OGGI, alla fine di questa lezione lo spiegate, lo seguite passo passo e lo applicate da soli; DA UTILIZZARE OGGI, oggi seguite e usate la ricetta; come funziona dentro si spiega più avanti, o non fa parte del corso; DA COMPRENDERE PIÙ AVANTI, riconoscete il nome e lo scopo; lo spiega una lezione successiva. Una slide senza etichetta è contesto: una storia, un esempio, una domanda, un esercizio.
Stato di apprendimento di questa lezione. DA COMPRENDERE OGGI: che cos'è l'informatica; l'architettura di von Neumann; RISC e un ISA aperto. DA UTILIZZARE OGGI: il programma completo, gli strumenti di PRG32 (si usa, non si studia, in questo corso). DA COMPRENDERE PIÙ AVANTI: l'algebra di Boole (Lezione 08). Una slide senza etichetta è contesto: una storia, un esempio, una domanda, un esercizio.
Per il docente: Gli studenti hanno già eseguito un programma RISC-V (Lezione 02). Questa lezione dice loro da dove viene quella macchina: ogni tappa della storia aggiunge un'idea che è ancora dentro l'ESP32-C6.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Cinque risultati di apprendimento. Il primo è concettuale: definire l'informatica e spiegare perché non è la scienza dei calcolatori. Il secondo e il terzo sono storici: collocare su una linea del tempo le principali macchine e persone, e nominare le quattro unità dell'architettura di von Neumann, che si riconosceranno nella macchina già programmata. Il quarto spiega il nome del processore usato nel corso: che cosa significa RISC, e perché RISC-V è aperto. Il quinto colloca la disciplina tra scienza, ingegneria ed economia.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definizione ha tre componenti, ciascuna da soppesare. Scienza applicata: l'informatica impiega i risultati delle scienze di base per risolvere problemi. Trattamento dell'informazione: il suo oggetto è l'informazione, non la macchina. Procedure automatiche: il trattamento è svolto da procedure che non richiedono giudizio umano nella loro esecuzione. La parola italiana informatica, dal francese information automatique, lo esprime direttamente; l'inglese computer science mette lo strumento nel nome e invita a un equivoco, che l'osservazione attribuita a Edsger Dijkstra corregge: l'informatica non riguarda i calcolatori più di quanto l'astronomia riguardi i telescopi.
DA COMPRENDERE OGGI: che cos'è l'informatica.
Per il docente: «L'informatica non riguarda i computer più di quanto l'astronomia riguardi i telescopi.» La frase è attribuita a Edsger W. Dijkstra.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disciplina ha due dimensioni complementari. L'informatica teorica ne studia i fondamenti: che cosa si può calcolare, a quale costo e con quali algoritmi, essendo un algoritmo un insieme finito di operazioni che trasforma un ingresso A in un'uscita B. L'informatica applicata costruisce le tecnologie e i sistemi informativi che permeano l'economia e la società, e deve gestirne i costi, tra cui il divario digitale tra chi ha accesso e competenze e chi no. Questo corso partecipa di entrambe: l'algebra di Boole è teoria, una cartuccia è applicazione, e il corso è costruito perché l'una illumini l'altra.
DA COMPRENDERE OGGI: che cos'è l'informatica.
Per il docente: La nuvola di parole della slide originale: progettazione, analisi, linguaggi, sviluppo, basi di dati, reti, calcolo, multimedia, web, cloud, app, IoT, IA, machine learning, mobile, algoritmi, embedded, videogiochi, grafica, programmazione.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dispositivi antichi illustrano la prima idea. Nell'abaco, romano o cinese, un numero è una configurazione di palline: i dati sono rappresentati fisicamente e le operazioni sono movimenti della mano. Il meccanismo di Antikythera, costruito in Grecia intorno al II o I secolo a.C., va oltre: un treno di ingranaggi calcola le posizioni del Sole e della Luna e prevede le eclissi. Un numero è l'angolo di una ruota, e il calcolo è incorporato nei rapporti tra gli ingranaggi. La frase sotto le immagini enuncia il principio che la prossima lezione svilupperà: la rappresentazione precede il calcolo.
Per il docente: La datazione della macchina di Anticitera è discussa: la maggior parte delle stime cade tra il 205 e il 60 a.C. circa.
Immagini: Number Stories, p51-illustration.png, David Eugene Smith, Public domain, Wikimedia Commons; Abacus 5.jpg, Loadmaster (David R. Tribble), CC BY-SA 3.0, Wikimedia Commons; NAMA Machine d'Anticythère 1.jpg, Marsyas, CC BY 2.5, Wikimedia Commons; Antikythera mechanism clockface, 1st-2nd century BC, Greece (model).jpg, Gts-tg,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 il IX e il XIII secolo il mondo islamico contribuisce strumenti, metodi e lessico. Strumenti: l'astrolabio e il torquetum, per l'astronomia. Metodi: al-Kindi elabora l'analisi delle frequenze, la prima tecnica sistematica di crittoanalisi. Macchine: il suonatore di flauto automatico dei fratelli Banu Musa e gli automi di al-Jazari sono guidati da sequenze intercambiabili, una forma precoce di programma. Lessico: algoritmo deriva dal nome di al-Khwarizmi, e algebra dal titolo del suo trattato.
Per il docente: La slide originale datava il periodo all'XI-XII secolo; le persone qui nominate vanno dal IX all'inizio del XIII.
Immagini: Astrolabe planisférique closeup800x600x300.jpg, Pom²,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 il 1600 e il 1800 corrono in parallelo due linee di sviluppo. La prima è il calcolo meccanico: i logaritmi di Napier, la macchina di Pascal che somma con propagazione automatica del riporto, la macchina di Leibniz per le quattro operazioni. La seconda è la logica: Leibniz descrive l'aritmetica binaria nel 1703, e nel 1854 Boole riformula la logica come un'algebra, proprio l'algebra studiata nelle Lezioni 08 e 09. Un terzo filo compare nel 1804: il telaio di Jacquard tesse un disegno memorizzato su schede perforate. Cambiando le schede, la stessa macchina svolge un compito diverso, che è l'essenza della programmabilità.
Per il docente: Correzioni alla slide originale: The Laws of Thought di Boole è del 1854 (non 1864); il saggio di Leibniz sull'aritmetica binaria fu pubblicato nel 1703.
Immagini: Arts et Metiers Pascaline dsc03869.jpg, David.Monniaux, CC BY-SA 3.0,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Charles Babbage progetta due macchine. La macchina alle differenze calcola automaticamente tavole matematiche. La macchina analitica è molto più ambiziosa, e i suoi componenti portano nomi che dovrebbero già suonare familiari: un mulino che esegue l'aritmetica, un meccanismo di controllo, un magazzino che conserva i numeri e un dispositivo di uscita, con programmi e dati forniti su schede perforate come nel telaio. Non fu mai completata. Per essa Ada Lovelace scrisse una procedura per calcolare i numeri di Bernoulli, pubblicata nel 1843; per questo è considerata la prima programmatrice della storia.
Per il docente: Le note di Ada Lovelace sulla macchina analitica (1843) contengono quello che è considerato il primo programma pubblicato, per il calcolo dei numeri di Bernoulli.
Immagini: Babbage Difference Engine.jpg, geni, CC BY-SA 4.0, Wikimedia Commons; Babbages Analytical Engine, 1834-1871. (9660574685).jpg, Science Museum London / Science and Society Picture Library, CC BY-SA 2.0, Wikimedia Commons; A Jacquard loom showing information punchcards, National Museum of Scotland.jpg, Stephencdickson, CC BY-SA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teoria precede le macchine. Nel 1936 Alan Turing definisce una macchina astratta capace di eseguire qualsiasi calcolo, e con ciò dà un significato preciso alla nozione di calcolabilità. Negli anni Trenta Nakajima e Shannon mostrano che l'algebra di Boole descrive i circuiti costruiti con interruttori; è il ponte tra logica ed elettronica su cui poggia tutto il progetto digitale, e la ragione per cui l'algebra di Boole occupa due lezioni di questo corso. Nel 1941 Konrad Zuse completa lo Z3, il primo calcolatore funzionante controllato da un programma.
DA COMPRENDERE PIÙ AVANTI: l'algebra di Boole (si studia nella Lezione 08).
Per il docente: L'algebra di Boole delle Lezioni 08 e 09 è esattamente il ponte di Nakajima e Shannon tra logica e circuiti.
Immagini: Enigma I cipher machine Museum of Communication Berlin cropped.jpg, Museum für Kommunikation Berlin, CC BY 4.0,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centrale della lezione. Nel 1945 von Neumann descrive un'architettura fondata su un'idea decisiva: programma e dati risiedono nella stessa memoria, così che un programma è esso stesso un dato. Lo schema mostra le quattro unità: la memoria; l'unità di controllo, che governa la sequenza delle operazioni; l'unità aritmetico-logica con il suo accumulatore; e ingresso e uscita. La Lezione 02 si può ora rileggere in questi termini: la ALU ha eseguito addi, la memoria conteneva sia counter sia la parola d'istruzione 0x00130313, e joystick e display sono ingresso e uscita. Il chip del kit resta, nell'essenziale, una macchina di von Neumann.
DA COMPRENDERE OGGI: l'architettura di von Neumann.
Per il docente: Ritrovare le quattro unità nella Lezione 02: i registri e la ALU hanno eseguito addi; la memoria conteneva counter e le istruzioni stesse (0x00130313); il joystick e il display sono ingresso e uscita.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Otto decenni in un'unica immagine, dalle macchine della Seconda guerra mondiale ai calcolatori incorporati negli oggetti di tutti i giorni. Lette da sinistra a destra, le didascalie tracciano un progressivo cambiamento di scala: una macchina per una nazione, poi per molti utenti, poi una per dipartimento, una per persona, una in tasca, e infine calcolatori ovunque. Ogni decennio ha reso il calcolatore più piccolo, più economico e più vicino ai suoi utenti. La frase in fondo trae la conclusione: nessuna di queste transizioni ha alterato il principio del programma memorizzato.
Per il docente: 1943-45: ENIAC (USA) e Colossus (Regno Unito). 1949: EDVAC (USA). La slide originale mostrava anche il Macintosh, l'Amiga, il PC IBM, l'iPad e un'auto a guida autonoma: le immagini sono in tools/assets, se si vogliono aggiungere.
Immagini: Glen Beck and Betty Snyder program the ENIAC in building 328 at the Ballistic Research Laboratory.jpg, U.S. Army, Public domain, Wikimedia Commons; Edvac.jpg, U.S. Army, Public domain, Wikimedia Commons; Dept of Agriculture Computer Room.jpg, Warren K. Leffler (U.S. News &amp; World Report, Library of Congress), Public domain, Wikimedia Commons; DEC PDP-11 Minicomputer in extended variant (edited).jpg, Loz Pycock, CC BY-SA 2.0, Wikimedia Commons; Commodore-64-Computer-FL.jpg, Evan-Amos, Public domain, Wikimedia Commons; 19-inch rackmount Ethernet switches and patch panels.jpg, Dsimic, CC BY-SA 4.0, Wikimedia Commons; Original iPhone docked.jpg, Andrew from London, UK, CC BY-SA 2.0, Wikimedia Commons; Racks Amravati Data Center.jpg, PiDatacenters, CC BY-SA 4.0, Wikimedia Commons; Alexa Amazon Echo Smart Speaker - Flashing Purple Ring (Creative Commons) (51048330138).jpg, Smart Home Perfected, CC BY 2.0, Wikimedia Commons.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tabella va letta come un dibattito tra due filosofie di progetto del processore. (I processori sono costruiti con transistor, minuscoli interruttori elettronici; la slide successiva li conta.) I primi microprocessori, e la famiglia x86 introdotta nel 1978, seguono l'approccio CISC: molte istruzioni, alcune di notevole complessità. Intorno al 1980 gruppi di ricerca a Berkeley e Stanford mostrarono che un piccolo numero di istruzioni semplici e regolari produce macchine più veloci; è il RISC, il calcolatore con insieme ridotto di istruzioni. ARM applicò l'approccio al progetto a basso consumo nel 1985. Nel 2010 il quinto progetto di Berkeley, RISC-V, fece l'ulteriore passo di rendere l'architettura dell'insieme di istruzioni uno standard aperto, che l'Europa considera oggi strategico.
DA COMPRENDERE OGGI: RISC e un ISA aperto.
Per il docente: RISC = Reduced Instruction Set Computer; CISC = Complex Instruction Set Computer. Patterson e Hennessy hanno ricevuto il Premio Turing 2017 per l'approccio RISC. Questa slide è nuova rispetto alla presentazione degli anni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transistor è un minuscolo interruttore elettronico, il mattone di ogni chip (la Lezione 10 mostra come funziona). Nel 1971 l'Intel 4004, il primo processore su un solo chip, ne conteneva 2.300; un processore contemporaneo per portatili ne contiene decine di miliardi, circa dieci milioni di volte tanti. Per cinque decenni il numero è raddoppiato approssimativamente ogni due anni. È la legge di Moore, un'osservazione empirica su un'industria più che una legge di natura, e i suoi limiti fisici sono ormai vicini. Quando i transistor aggiuntivi non arrivano più senza costo, le prestazioni devono venire da architetture migliori. È per questo che l'argomento di questo corso conta oggi più di quanto contasse vent'anni fa.
Per il docente: L'osservazione di Gordon Moore è del 1965 (rivista nel 1975). Non presentarla come una legge di natura.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confronto a quarant'anni di distanza. Il Commodore 64 aveva un processore a 8 bit con tre registri, un clock di circa 1 MHz e 64 KB di memoria; l'ESP32-C6 ha un processore a 32 bit con trentadue registri, un clock a 160 MHz e uno spazio di indirizzamento di 4 GB. Eppure lo schermo ha la stessa risoluzione, 320 per 200 pixel, e lo stesso spirito: una macchina abbastanza piccola da essere compresa per intero da una sola persona. La differenza più rilevante per lo studente sta nella riga dell'insieme di istruzioni: proprietario allora, standard aperto oggi.
Per il docente: La presentazione originale finiva con il simulatore easy6502 (skilldrick.github.io/easy6502), ancora una visita piacevole. PRG32 conserva la stessa immediatezza, 320 per 200 compresi, sull'architettura che gli studenti incontreranno nell'industria.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Una perturbazione seguita da sinistra a destra illustra la posizione dell'informatica. È prima un fenomeno naturale. La fisica e la matematica la descrivono con equazioni. L'informatica trasforma le equazioni in algoritmi e simulazioni. L'ingegneria fornisce i supercalcolatori, le reti e i sensori che le eseguono in modo affidabile. L'economia riceve previsioni e servizi di valore per le persone. L'informatica è l'anello intermedio indispensabile: senza di essa le equazioni restano sulla carta. L'esempio non è ipotetico: le previsioni meteorologiche e del mare del Dipartimento sono prodotte ogni giorno esattamente così.
Per il docente: La slide originale mostrava ritratti e immagini per ogni stadio (equazioni, mappe di previsione, un uragano, l'app mobile).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immagini mostrano i rack delle Research Computing Facilities dell'Ateneo, il loro prodotto quotidiano, le previsioni di meteo@uniparthenope, e la pagina che elenca le macchine. Un cluster è un insieme di calcolatori che cooperano su un unico problema. I concetti sono quelli praticati sul kit, cioè registri, memoria e istruzioni, su scala enormemente più grande e con il problema aggiuntivo di coordinare le parti. La Lezione 24 torna su queste macchine, e l'evento di chiusura del corso ne include una visita.
Per il docente: L'evento di chiusura del corso comprende una visita ai sistemi di supercalcolo del Dipartimento.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la prima domanda va cercata l'idea che definisce l'architettura, non un dettaglio. Il numero dei registri e la durata di un'istruzione variano da un processore all'altro, e ingresso e uscita sono una delle quattro unità, non un'opzione. Ciò che definisce l'architettura è che le istruzioni risiedono nella stessa memoria dei dati e sono prelevate ed eseguite in sequenza.
Per la seconda, la velocità è una proprietà di un particolare chip, non di un insieme di istruzioni, e RISC-V non è stato il primo progetto RISC: Berkeley RISC, MIPS e ARM lo hanno preceduto. Né è confinato ai microcontrollori. Ciò che è nuovo è la licenza: l'insieme di istruzioni è uno standard aperto che chiunque può implementare.
Per il docente: 1. Risposta: B. Il concetto di programma memorizzato: le istruzioni sono dati in memoria, prelevati ed eseguiti uno dopo l'altro.
2. Risposta: C. RISC-V è un'architettura a standard aperto; chiunque può progettare e vendere un processore RISC-V senza licenza sull'architettura. Non è stata la prima RISC (RISC di Berkeley, MIPS e ARM sono precedenti).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Tutti e quattro i nomi appartengono alla storia, con ruoli diversi. Babbage progettò la macchina. Turing definì il calcolo, un secolo dopo. Zuse costruì il primo calcolatore programmabile funzionante. La persona che scrisse una procedura per una macchina, e la pubblicò nel 1843, è Ada Lovelace.
Per il docente: Risposta: C. Ada Lovelace, per le sue note del 1843 sulla macchina analitica.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Dieci termini. L'italiano ha due parole per la macchina, calcolatore ed elaboratore, entrambe più antiche del prestito computer. Programma memorizzato nomina l'idea di von Neumann. L'unità di controllo e l'unità aritmetico-logica, ALU, sono due delle quattro unità, e ricompaiono nelle lezioni sul processore. Il calcolo ad alte prestazioni, HPC, è il campo dei cluster appena mostrati.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Quattro conclusioni. Il calcolo è più antico dell'elettronica: rappresentazione e procedura sono venute prima. Il calcolatore a programma memorizzato del 1945 è la macchina che si programma ancora oggi. Il RISC ha reso i processori abbastanza semplici da essere compresi nel loro insieme, e RISC-V li ha resi aperti. E l'informatica è pervasiva, perché l'informazione appartiene a ogni campo. Le letture sviluppano la stessa storia più distesamente. La prossima lezione compie il primo passo formale: come l'informazione diventa bit.
Stato di apprendimento, riepilogo. DA COMPRENDERE OGGI: che cos'è l'informatica; l'architettura di von Neumann; RISC e un ISA aperto. DA UTILIZZARE OGGI: il programma completo, gli strumenti di PRG32 (si usa, non si studia, in questo corso). DA COMPRENDERE PIÙ AVANTI: l'algebra di Boole (Lezione 08). Una slide senza etichetta è contesto: una storia, un esempio, una domanda, un esercizio.
Per il docente: Prossima lezione: come l'informazione diventa 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Architettura dei Calcolatori  |  Lezione 03: Storia della computazione  |  A.A.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image" Target="../media/image-5-2.jpg"/><Relationship Id="rId3" Type="http://schemas.openxmlformats.org/officeDocument/2006/relationships/image" Target="../media/image-5-3.jpg"/><Relationship Id="rId4" Type="http://schemas.openxmlformats.org/officeDocument/2006/relationships/image" Target="../media/image-5-4.jpg"/><Relationship Id="rId5" Type="http://schemas.openxmlformats.org/officeDocument/2006/relationships/slideLayout" Target="../slideLayouts/slideLayout2.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image" Target="../media/image-8-2.jpg"/><Relationship Id="rId3" Type="http://schemas.openxmlformats.org/officeDocument/2006/relationships/image" Target="../media/image-8-3.jpg"/><Relationship Id="rId4" Type="http://schemas.openxmlformats.org/officeDocument/2006/relationships/slideLayout" Target="../slideLayouts/slideLayout2.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image" Target="../media/image-9-2.png"/><Relationship Id="rId3" Type="http://schemas.openxmlformats.org/officeDocument/2006/relationships/slideLayout" Target="../slideLayouts/slideLayout2.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image" Target="../media/image-11-3.jpg"/><Relationship Id="rId4" Type="http://schemas.openxmlformats.org/officeDocument/2006/relationships/image" Target="../media/image-11-4.jpg"/><Relationship Id="rId5" Type="http://schemas.openxmlformats.org/officeDocument/2006/relationships/image" Target="../media/image-11-5.jpg"/><Relationship Id="rId6" Type="http://schemas.openxmlformats.org/officeDocument/2006/relationships/image" Target="../media/image-11-6.jpg"/><Relationship Id="rId7" Type="http://schemas.openxmlformats.org/officeDocument/2006/relationships/image" Target="../media/image-11-7.jpg"/><Relationship Id="rId8" Type="http://schemas.openxmlformats.org/officeDocument/2006/relationships/image" Target="../media/image-11-8.jpg"/><Relationship Id="rId9" Type="http://schemas.openxmlformats.org/officeDocument/2006/relationships/image" Target="../media/image-11-9.jpg"/><Relationship Id="rId10" Type="http://schemas.openxmlformats.org/officeDocument/2006/relationships/slideLayout" Target="../slideLayouts/slideLayout2.xml"/><Relationship Id="rId11"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image" Target="../media/image-16-2.jp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ARCHITETTURA DEI CALCOLATORI  ·  LEZIONE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Storia della computazione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2200" dirty="0">
                <a:solidFill>
                  <a:srgbClr val="CFE3EA"/>
                </a:solidFill>
                <a:latin typeface="Calibri" pitchFamily="34" charset="0"/>
                <a:ea typeface="Calibri" pitchFamily="34" charset="-122"/>
                <a:cs typeface="Calibri" pitchFamily="34" charset="-120"/>
              </a:rPr>
              <a:t>Dall'abaco a un processore aperto che potete programmare da soli</a:t>
            </a:r>
            <a:endParaRPr lang="en-US" sz="2200" dirty="0"/>
          </a:p>
        </p:txBody>
      </p:sp>
      <p:sp>
        <p:nvSpPr>
          <p:cNvPr id="10" name="Text 8"/>
          <p:cNvSpPr txBox="1"/>
          <p:nvPr/>
        </p:nvSpPr>
        <p:spPr>
          <a:xfrm>
            <a:off x="548640" y="4343400"/>
            <a:ext cx="8046720" cy="1097280"/>
          </a:xfrm>
          <a:prstGeom prst="rect">
            <a:avLst/>
          </a:prstGeom>
          <a:noFill/>
          <a:ln/>
        </p:spPr>
        <p:txBody>
          <a:bodyPr wrap="square" lIns="0" tIns="0" rIns="0" bIns="0" rtlCol="0" anchor="t"/>
          <a:lstStyle/>
          <a:p>
            <a:pPr indent="0" marL="0">
              <a:buNone/>
            </a:pPr>
            <a:r>
              <a:rPr lang="en-US" sz="1900" i="1" dirty="0">
                <a:solidFill>
                  <a:srgbClr val="FFFFFF"/>
                </a:solidFill>
                <a:latin typeface="Courier New" pitchFamily="34" charset="0"/>
                <a:ea typeface="Courier New" pitchFamily="34" charset="-122"/>
                <a:cs typeface="Courier New" pitchFamily="34" charset="-120"/>
              </a:rPr>
              <a:t>“printf("Hello, world!");”</a:t>
            </a:r>
            <a:endParaRPr lang="en-US" sz="1900" dirty="0"/>
          </a:p>
          <a:p>
            <a:pPr indent="0" marL="0">
              <a:buNone/>
            </a:pPr>
            <a:r>
              <a:rPr lang="en-US" sz="1200" dirty="0">
                <a:solidFill>
                  <a:srgbClr val="CFE3EA"/>
                </a:solidFill>
                <a:latin typeface="Courier New" pitchFamily="34" charset="0"/>
                <a:ea typeface="Courier New" pitchFamily="34" charset="-122"/>
                <a:cs typeface="Courier New" pitchFamily="34" charset="-120"/>
              </a:rPr>
              <a:t>Brian Kernighan e Dennis Ritchie, The C Programming Language, 1978</a:t>
            </a:r>
            <a:endParaRPr lang="en-US" sz="1900" dirty="0"/>
          </a:p>
        </p:txBody>
      </p:sp>
      <p:sp>
        <p:nvSpPr>
          <p:cNvPr id="11" name="Text 9"/>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Università degli Studi di Napoli “Parthenope”  ·  A.A.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2" name="Text 10"/>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Presentazione della lezione. I listati, il programma completo e come provarlo sono nella presentazione del codice:</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03-Architettura_dei_Calcolatori-Storia_della_Computazione-Lab.pptx</a:t>
            </a:r>
            <a:endParaRPr lang="en-US" sz="1300" dirty="0"/>
          </a:p>
        </p:txBody>
      </p:sp>
      <p:sp>
        <p:nvSpPr>
          <p:cNvPr id="13" name="Shape 11"/>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4"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15" name="Shape 12"/>
          <p:cNvSpPr/>
          <p:nvPr/>
        </p:nvSpPr>
        <p:spPr>
          <a:xfrm>
            <a:off x="8910777" y="91440"/>
            <a:ext cx="2732278" cy="274320"/>
          </a:xfrm>
          <a:prstGeom prst="rect">
            <a:avLst/>
          </a:prstGeom>
          <a:solidFill>
            <a:srgbClr val="F3E8FF"/>
          </a:solidFill>
          <a:ln w="12700">
            <a:solidFill>
              <a:srgbClr val="7E22CE"/>
            </a:solidFill>
            <a:prstDash val="dash"/>
          </a:ln>
        </p:spPr>
      </p:sp>
      <p:sp>
        <p:nvSpPr>
          <p:cNvPr id="16" name="Shape 13"/>
          <p:cNvSpPr/>
          <p:nvPr/>
        </p:nvSpPr>
        <p:spPr>
          <a:xfrm>
            <a:off x="8938209" y="128016"/>
            <a:ext cx="45720" cy="45720"/>
          </a:xfrm>
          <a:prstGeom prst="rect">
            <a:avLst/>
          </a:prstGeom>
          <a:solidFill>
            <a:srgbClr val="7E22CE"/>
          </a:solidFill>
          <a:ln w="12700">
            <a:solidFill>
              <a:srgbClr val="7E22CE"/>
            </a:solidFill>
            <a:prstDash val="solid"/>
          </a:ln>
        </p:spPr>
      </p:sp>
      <p:sp>
        <p:nvSpPr>
          <p:cNvPr id="17" name="Shape 14"/>
          <p:cNvSpPr/>
          <p:nvPr/>
        </p:nvSpPr>
        <p:spPr>
          <a:xfrm>
            <a:off x="8938209" y="205740"/>
            <a:ext cx="45720" cy="45720"/>
          </a:xfrm>
          <a:prstGeom prst="rect">
            <a:avLst/>
          </a:prstGeom>
          <a:solidFill>
            <a:srgbClr val="7E22CE"/>
          </a:solidFill>
          <a:ln w="12700">
            <a:solidFill>
              <a:srgbClr val="7E22CE"/>
            </a:solidFill>
            <a:prstDash val="solid"/>
          </a:ln>
        </p:spPr>
      </p:sp>
      <p:sp>
        <p:nvSpPr>
          <p:cNvPr id="18" name="Shape 15"/>
          <p:cNvSpPr/>
          <p:nvPr/>
        </p:nvSpPr>
        <p:spPr>
          <a:xfrm>
            <a:off x="8938209" y="283464"/>
            <a:ext cx="45720" cy="45720"/>
          </a:xfrm>
          <a:prstGeom prst="rect">
            <a:avLst/>
          </a:prstGeom>
          <a:solidFill>
            <a:srgbClr val="7E22CE"/>
          </a:solidFill>
          <a:ln w="12700">
            <a:solidFill>
              <a:srgbClr val="7E22CE"/>
            </a:solidFill>
            <a:prstDash val="solid"/>
          </a:ln>
        </p:spPr>
      </p:sp>
      <p:pic>
        <p:nvPicPr>
          <p:cNvPr id="19" name="Image 1" descr="preencoded.png">    </p:cNvPr>
          <p:cNvPicPr>
            <a:picLocks noChangeAspect="1"/>
          </p:cNvPicPr>
          <p:nvPr/>
        </p:nvPicPr>
        <p:blipFill>
          <a:blip r:embed="rId2"/>
          <a:stretch>
            <a:fillRect/>
          </a:stretch>
        </p:blipFill>
        <p:spPr>
          <a:xfrm>
            <a:off x="9038793" y="128016"/>
            <a:ext cx="201168" cy="201168"/>
          </a:xfrm>
          <a:prstGeom prst="rect">
            <a:avLst/>
          </a:prstGeom>
        </p:spPr>
      </p:pic>
      <p:sp>
        <p:nvSpPr>
          <p:cNvPr id="20" name="Text 16"/>
          <p:cNvSpPr txBox="1"/>
          <p:nvPr/>
        </p:nvSpPr>
        <p:spPr>
          <a:xfrm>
            <a:off x="9294825" y="91440"/>
            <a:ext cx="2311654"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endParaRPr lang="en-US" sz="1100" dirty="0"/>
          </a:p>
        </p:txBody>
      </p:sp>
      <p:sp>
        <p:nvSpPr>
          <p:cNvPr id="21" name="Shape 17"/>
          <p:cNvSpPr/>
          <p:nvPr/>
        </p:nvSpPr>
        <p:spPr>
          <a:xfrm>
            <a:off x="6675069" y="91440"/>
            <a:ext cx="2125980" cy="274320"/>
          </a:xfrm>
          <a:prstGeom prst="rect">
            <a:avLst/>
          </a:prstGeom>
          <a:solidFill>
            <a:srgbClr val="FEF3C7"/>
          </a:solidFill>
          <a:ln w="12700">
            <a:solidFill>
              <a:srgbClr val="B45309"/>
            </a:solidFill>
            <a:prstDash val="solid"/>
          </a:ln>
        </p:spPr>
      </p:sp>
      <p:sp>
        <p:nvSpPr>
          <p:cNvPr id="22" name="Shape 18"/>
          <p:cNvSpPr/>
          <p:nvPr/>
        </p:nvSpPr>
        <p:spPr>
          <a:xfrm>
            <a:off x="6675069" y="91440"/>
            <a:ext cx="27432" cy="274320"/>
          </a:xfrm>
          <a:prstGeom prst="rect">
            <a:avLst/>
          </a:prstGeom>
          <a:solidFill>
            <a:srgbClr val="B45309"/>
          </a:solidFill>
          <a:ln w="12700">
            <a:solidFill>
              <a:srgbClr val="B45309"/>
            </a:solidFill>
            <a:prstDash val="solid"/>
          </a:ln>
        </p:spPr>
      </p:sp>
      <p:sp>
        <p:nvSpPr>
          <p:cNvPr id="23" name="Shape 19"/>
          <p:cNvSpPr/>
          <p:nvPr/>
        </p:nvSpPr>
        <p:spPr>
          <a:xfrm>
            <a:off x="6729933" y="91440"/>
            <a:ext cx="27432" cy="274320"/>
          </a:xfrm>
          <a:prstGeom prst="rect">
            <a:avLst/>
          </a:prstGeom>
          <a:solidFill>
            <a:srgbClr val="B45309"/>
          </a:solidFill>
          <a:ln w="12700">
            <a:solidFill>
              <a:srgbClr val="B45309"/>
            </a:solidFill>
            <a:prstDash val="solid"/>
          </a:ln>
        </p:spPr>
      </p:sp>
      <p:pic>
        <p:nvPicPr>
          <p:cNvPr id="24" name="Image 2" descr="preencoded.png">    </p:cNvPr>
          <p:cNvPicPr>
            <a:picLocks noChangeAspect="1"/>
          </p:cNvPicPr>
          <p:nvPr/>
        </p:nvPicPr>
        <p:blipFill>
          <a:blip r:embed="rId3"/>
          <a:stretch>
            <a:fillRect/>
          </a:stretch>
        </p:blipFill>
        <p:spPr>
          <a:xfrm>
            <a:off x="6803085" y="128016"/>
            <a:ext cx="201168" cy="201168"/>
          </a:xfrm>
          <a:prstGeom prst="rect">
            <a:avLst/>
          </a:prstGeom>
        </p:spPr>
      </p:pic>
      <p:sp>
        <p:nvSpPr>
          <p:cNvPr id="25" name="Text 20"/>
          <p:cNvSpPr txBox="1"/>
          <p:nvPr/>
        </p:nvSpPr>
        <p:spPr>
          <a:xfrm>
            <a:off x="7059117" y="91440"/>
            <a:ext cx="1705356"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DA UTILIZZARE OGGI</a:t>
            </a:r>
            <a:endParaRPr lang="en-US" sz="1100" dirty="0"/>
          </a:p>
        </p:txBody>
      </p:sp>
      <p:sp>
        <p:nvSpPr>
          <p:cNvPr id="26" name="Shape 21"/>
          <p:cNvSpPr/>
          <p:nvPr/>
        </p:nvSpPr>
        <p:spPr>
          <a:xfrm>
            <a:off x="4352747" y="91440"/>
            <a:ext cx="2212594" cy="274320"/>
          </a:xfrm>
          <a:prstGeom prst="rect">
            <a:avLst/>
          </a:prstGeom>
          <a:solidFill>
            <a:srgbClr val="E0F2FE"/>
          </a:solidFill>
          <a:ln w="12700">
            <a:solidFill>
              <a:srgbClr val="0369A1"/>
            </a:solidFill>
            <a:prstDash val="solid"/>
          </a:ln>
        </p:spPr>
      </p:sp>
      <p:sp>
        <p:nvSpPr>
          <p:cNvPr id="27" name="Shape 22"/>
          <p:cNvSpPr/>
          <p:nvPr/>
        </p:nvSpPr>
        <p:spPr>
          <a:xfrm>
            <a:off x="4352747" y="91440"/>
            <a:ext cx="73152" cy="274320"/>
          </a:xfrm>
          <a:prstGeom prst="rect">
            <a:avLst/>
          </a:prstGeom>
          <a:solidFill>
            <a:srgbClr val="0369A1"/>
          </a:solidFill>
          <a:ln w="12700">
            <a:solidFill>
              <a:srgbClr val="0369A1"/>
            </a:solidFill>
            <a:prstDash val="solid"/>
          </a:ln>
        </p:spPr>
      </p:sp>
      <p:pic>
        <p:nvPicPr>
          <p:cNvPr id="28" name="Image 3" descr="preencoded.png">    </p:cNvPr>
          <p:cNvPicPr>
            <a:picLocks noChangeAspect="1"/>
          </p:cNvPicPr>
          <p:nvPr/>
        </p:nvPicPr>
        <p:blipFill>
          <a:blip r:embed="rId4"/>
          <a:stretch>
            <a:fillRect/>
          </a:stretch>
        </p:blipFill>
        <p:spPr>
          <a:xfrm>
            <a:off x="4480763" y="128016"/>
            <a:ext cx="201168" cy="201168"/>
          </a:xfrm>
          <a:prstGeom prst="rect">
            <a:avLst/>
          </a:prstGeom>
        </p:spPr>
      </p:pic>
      <p:sp>
        <p:nvSpPr>
          <p:cNvPr id="29" name="Text 23"/>
          <p:cNvSpPr txBox="1"/>
          <p:nvPr/>
        </p:nvSpPr>
        <p:spPr>
          <a:xfrm>
            <a:off x="4736795" y="91440"/>
            <a:ext cx="17919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Che cosa saprete fare alla fine</a:t>
            </a:r>
            <a:endParaRPr lang="en-US" sz="3200" dirty="0"/>
          </a:p>
        </p:txBody>
      </p:sp>
      <p:sp>
        <p:nvSpPr>
          <p:cNvPr id="3" name="Text 1"/>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41732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Definire l'informatica e dire perché non è la scienza dei computer</a:t>
            </a:r>
            <a:endParaRPr lang="en-US" sz="2200" dirty="0"/>
          </a:p>
        </p:txBody>
      </p:sp>
      <p:sp>
        <p:nvSpPr>
          <p:cNvPr id="5" name="Text 3"/>
          <p:cNvSpPr txBox="1"/>
          <p:nvPr/>
        </p:nvSpPr>
        <p:spPr>
          <a:xfrm>
            <a:off x="548640" y="227177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253488"/>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Collocare su una linea del tempo macchine e persone chiave, dall'abaco al calcolatore a programma memorizzato</a:t>
            </a:r>
            <a:endParaRPr lang="en-US" sz="2200" dirty="0"/>
          </a:p>
        </p:txBody>
      </p:sp>
      <p:sp>
        <p:nvSpPr>
          <p:cNvPr id="7" name="Text 5"/>
          <p:cNvSpPr txBox="1"/>
          <p:nvPr/>
        </p:nvSpPr>
        <p:spPr>
          <a:xfrm>
            <a:off x="548640" y="335076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3248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Nominare le quattro unità dell'architettura di von Neumann e ritrovarle nella macchina programmata la volta scorsa</a:t>
            </a:r>
            <a:endParaRPr lang="en-US" sz="2200" dirty="0"/>
          </a:p>
        </p:txBody>
      </p:sp>
      <p:sp>
        <p:nvSpPr>
          <p:cNvPr id="9" name="Text 7"/>
          <p:cNvSpPr txBox="1"/>
          <p:nvPr/>
        </p:nvSpPr>
        <p:spPr>
          <a:xfrm>
            <a:off x="548640" y="4429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411472"/>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Spiegare che cosa significa RISC e perché RISC-V è un insieme di istruzioni aperto</a:t>
            </a:r>
            <a:endParaRPr lang="en-US" sz="2200" dirty="0"/>
          </a:p>
        </p:txBody>
      </p:sp>
      <p:sp>
        <p:nvSpPr>
          <p:cNvPr id="11" name="Text 9"/>
          <p:cNvSpPr txBox="1"/>
          <p:nvPr/>
        </p:nvSpPr>
        <p:spPr>
          <a:xfrm>
            <a:off x="548640" y="550875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90464"/>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Descrivere dove si colloca l'informatica tra scienza, ingegneria ed economia</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Una definizione</a:t>
            </a:r>
            <a:endParaRPr lang="en-US" sz="3200" dirty="0"/>
          </a:p>
        </p:txBody>
      </p:sp>
      <p:sp>
        <p:nvSpPr>
          <p:cNvPr id="3" name="Shape 1"/>
          <p:cNvSpPr/>
          <p:nvPr/>
        </p:nvSpPr>
        <p:spPr>
          <a:xfrm>
            <a:off x="548640" y="1417320"/>
            <a:ext cx="11094415" cy="1596136"/>
          </a:xfrm>
          <a:prstGeom prst="roundRect">
            <a:avLst>
              <a:gd name="adj" fmla="val 4583"/>
            </a:avLst>
          </a:prstGeom>
          <a:solidFill>
            <a:srgbClr val="F6E7D2"/>
          </a:solidFill>
          <a:ln w="12700">
            <a:solidFill>
              <a:srgbClr val="F6E7D2"/>
            </a:solidFill>
            <a:prstDash val="solid"/>
          </a:ln>
        </p:spPr>
      </p:sp>
      <p:sp>
        <p:nvSpPr>
          <p:cNvPr id="4" name="Text 2"/>
          <p:cNvSpPr txBox="1"/>
          <p:nvPr/>
        </p:nvSpPr>
        <p:spPr>
          <a:xfrm>
            <a:off x="914400" y="1600200"/>
            <a:ext cx="10362895" cy="411480"/>
          </a:xfrm>
          <a:prstGeom prst="rect">
            <a:avLst/>
          </a:prstGeom>
          <a:noFill/>
          <a:ln/>
        </p:spPr>
        <p:txBody>
          <a:bodyPr wrap="square" lIns="0" tIns="0" rIns="0" bIns="0" rtlCol="0" anchor="ctr"/>
          <a:lstStyle/>
          <a:p>
            <a:pPr indent="0" marL="0">
              <a:buNone/>
            </a:pPr>
            <a:r>
              <a:rPr lang="en-US" sz="1600" b="1" dirty="0">
                <a:solidFill>
                  <a:srgbClr val="C7791B"/>
                </a:solidFill>
                <a:latin typeface="Calibri" pitchFamily="34" charset="0"/>
                <a:ea typeface="Calibri" pitchFamily="34" charset="-122"/>
                <a:cs typeface="Calibri" pitchFamily="34" charset="-120"/>
              </a:rPr>
              <a:t>Informatica</a:t>
            </a:r>
            <a:endParaRPr lang="en-US" sz="1600" dirty="0"/>
          </a:p>
        </p:txBody>
      </p:sp>
      <p:sp>
        <p:nvSpPr>
          <p:cNvPr id="5" name="Text 3"/>
          <p:cNvSpPr txBox="1"/>
          <p:nvPr/>
        </p:nvSpPr>
        <p:spPr>
          <a:xfrm>
            <a:off x="914400" y="2057400"/>
            <a:ext cx="10362895" cy="773176"/>
          </a:xfrm>
          <a:prstGeom prst="rect">
            <a:avLst/>
          </a:prstGeom>
          <a:noFill/>
          <a:ln/>
        </p:spPr>
        <p:txBody>
          <a:bodyPr wrap="square" lIns="0" tIns="0" rIns="0" bIns="0" rtlCol="0" anchor="ctr"/>
          <a:lstStyle/>
          <a:p>
            <a:pPr indent="0" marL="0">
              <a:buNone/>
            </a:pPr>
            <a:r>
              <a:rPr lang="en-US" sz="2400" i="1" dirty="0">
                <a:solidFill>
                  <a:srgbClr val="1B2530"/>
                </a:solidFill>
                <a:latin typeface="Cambria" pitchFamily="34" charset="0"/>
                <a:ea typeface="Cambria" pitchFamily="34" charset="-122"/>
                <a:cs typeface="Cambria" pitchFamily="34" charset="-120"/>
              </a:rPr>
              <a:t>La scienza applicata che si occupa del trattamento dell'informazione mediante procedure automatizzate.</a:t>
            </a:r>
            <a:endParaRPr lang="en-US" sz="2400" dirty="0"/>
          </a:p>
        </p:txBody>
      </p:sp>
      <p:sp>
        <p:nvSpPr>
          <p:cNvPr id="6" name="Shape 4"/>
          <p:cNvSpPr/>
          <p:nvPr/>
        </p:nvSpPr>
        <p:spPr>
          <a:xfrm>
            <a:off x="548640" y="3638296"/>
            <a:ext cx="146304" cy="146304"/>
          </a:xfrm>
          <a:prstGeom prst="rect">
            <a:avLst/>
          </a:prstGeom>
          <a:solidFill>
            <a:srgbClr val="0E7C86"/>
          </a:solidFill>
          <a:ln w="12700">
            <a:solidFill>
              <a:srgbClr val="0E7C86"/>
            </a:solidFill>
            <a:prstDash val="solid"/>
          </a:ln>
        </p:spPr>
      </p:sp>
      <p:sp>
        <p:nvSpPr>
          <p:cNvPr id="7" name="Text 5"/>
          <p:cNvSpPr txBox="1"/>
          <p:nvPr/>
        </p:nvSpPr>
        <p:spPr>
          <a:xfrm>
            <a:off x="932688" y="3516376"/>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Informatica, dal francese informatique: information automatique</a:t>
            </a:r>
            <a:endParaRPr lang="en-US" sz="2400" dirty="0"/>
          </a:p>
        </p:txBody>
      </p:sp>
      <p:sp>
        <p:nvSpPr>
          <p:cNvPr id="8" name="Shape 6"/>
          <p:cNvSpPr/>
          <p:nvPr/>
        </p:nvSpPr>
        <p:spPr>
          <a:xfrm>
            <a:off x="548640" y="4467352"/>
            <a:ext cx="146304" cy="146304"/>
          </a:xfrm>
          <a:prstGeom prst="rect">
            <a:avLst/>
          </a:prstGeom>
          <a:solidFill>
            <a:srgbClr val="C7791B"/>
          </a:solidFill>
          <a:ln w="12700">
            <a:solidFill>
              <a:srgbClr val="C7791B"/>
            </a:solidFill>
            <a:prstDash val="solid"/>
          </a:ln>
        </p:spPr>
      </p:sp>
      <p:sp>
        <p:nvSpPr>
          <p:cNvPr id="9" name="Text 7"/>
          <p:cNvSpPr txBox="1"/>
          <p:nvPr/>
        </p:nvSpPr>
        <p:spPr>
          <a:xfrm>
            <a:off x="932688" y="4345432"/>
            <a:ext cx="10710367" cy="37185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In inglese: computer science, e sempre più spesso informatics</a:t>
            </a:r>
            <a:endParaRPr lang="en-US" sz="2400" dirty="0"/>
          </a:p>
        </p:txBody>
      </p:sp>
      <p:sp>
        <p:nvSpPr>
          <p:cNvPr id="10" name="Shape 8"/>
          <p:cNvSpPr/>
          <p:nvPr/>
        </p:nvSpPr>
        <p:spPr>
          <a:xfrm>
            <a:off x="548640" y="5296408"/>
            <a:ext cx="146304" cy="146304"/>
          </a:xfrm>
          <a:prstGeom prst="rect">
            <a:avLst/>
          </a:prstGeom>
          <a:solidFill>
            <a:srgbClr val="0E7C86"/>
          </a:solidFill>
          <a:ln w="12700">
            <a:solidFill>
              <a:srgbClr val="0E7C86"/>
            </a:solidFill>
            <a:prstDash val="solid"/>
          </a:ln>
        </p:spPr>
      </p:sp>
      <p:sp>
        <p:nvSpPr>
          <p:cNvPr id="11" name="Text 9"/>
          <p:cNvSpPr txBox="1"/>
          <p:nvPr/>
        </p:nvSpPr>
        <p:spPr>
          <a:xfrm>
            <a:off x="932688" y="5174488"/>
            <a:ext cx="10710367" cy="743712"/>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Lo strumento: elaboratore in italiano, ordinateur in francese, computer in inglese</a:t>
            </a:r>
            <a:endParaRPr lang="en-US" sz="2400" dirty="0"/>
          </a:p>
        </p:txBody>
      </p:sp>
      <p:sp>
        <p:nvSpPr>
          <p:cNvPr id="12" name="Shape 10"/>
          <p:cNvSpPr/>
          <p:nvPr/>
        </p:nvSpPr>
        <p:spPr>
          <a:xfrm>
            <a:off x="7723327" y="91440"/>
            <a:ext cx="3919728" cy="274320"/>
          </a:xfrm>
          <a:prstGeom prst="rect">
            <a:avLst/>
          </a:prstGeom>
          <a:solidFill>
            <a:srgbClr val="E0F2FE"/>
          </a:solidFill>
          <a:ln w="12700">
            <a:solidFill>
              <a:srgbClr val="0369A1"/>
            </a:solidFill>
            <a:prstDash val="solid"/>
          </a:ln>
        </p:spPr>
      </p:sp>
      <p:sp>
        <p:nvSpPr>
          <p:cNvPr id="13" name="Shape 11"/>
          <p:cNvSpPr/>
          <p:nvPr/>
        </p:nvSpPr>
        <p:spPr>
          <a:xfrm>
            <a:off x="7723327" y="91440"/>
            <a:ext cx="73152" cy="274320"/>
          </a:xfrm>
          <a:prstGeom prst="rect">
            <a:avLst/>
          </a:prstGeom>
          <a:solidFill>
            <a:srgbClr val="0369A1"/>
          </a:solidFill>
          <a:ln w="12700">
            <a:solidFill>
              <a:srgbClr val="0369A1"/>
            </a:solidFill>
            <a:prstDash val="solid"/>
          </a:ln>
        </p:spPr>
      </p:sp>
      <p:pic>
        <p:nvPicPr>
          <p:cNvPr id="14"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5" name="Text 12"/>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che cos'è l'informatica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Due anime, una disciplina</a:t>
            </a:r>
            <a:endParaRPr lang="en-US" sz="3200" dirty="0"/>
          </a:p>
        </p:txBody>
      </p:sp>
      <p:sp>
        <p:nvSpPr>
          <p:cNvPr id="3" name="Shape 1"/>
          <p:cNvSpPr/>
          <p:nvPr/>
        </p:nvSpPr>
        <p:spPr>
          <a:xfrm>
            <a:off x="548640" y="1417320"/>
            <a:ext cx="5364328" cy="4754880"/>
          </a:xfrm>
          <a:prstGeom prst="roundRect">
            <a:avLst>
              <a:gd name="adj" fmla="val 1538"/>
            </a:avLst>
          </a:prstGeom>
          <a:solidFill>
            <a:srgbClr val="EEF2F4"/>
          </a:solidFill>
          <a:ln w="12700">
            <a:solidFill>
              <a:srgbClr val="EEF2F4"/>
            </a:solidFill>
            <a:prstDash val="solid"/>
          </a:ln>
        </p:spPr>
      </p:sp>
      <p:sp>
        <p:nvSpPr>
          <p:cNvPr id="4" name="Text 2"/>
          <p:cNvSpPr txBox="1"/>
          <p:nvPr/>
        </p:nvSpPr>
        <p:spPr>
          <a:xfrm>
            <a:off x="822960" y="1645920"/>
            <a:ext cx="4815688"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teorica</a:t>
            </a:r>
            <a:endParaRPr lang="en-US" sz="1900" dirty="0"/>
          </a:p>
        </p:txBody>
      </p:sp>
      <p:sp>
        <p:nvSpPr>
          <p:cNvPr id="5" name="Text 3"/>
          <p:cNvSpPr txBox="1"/>
          <p:nvPr/>
        </p:nvSpPr>
        <p:spPr>
          <a:xfrm>
            <a:off x="868680"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I fondamenti teorici dell'informazione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La computazione a livello logico: che cosa si può calcolare, e a quale costo</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Algoritmi: un insieme finito di operazioni che descrivono la trasformazione da A a B</a:t>
            </a:r>
            <a:endParaRPr lang="en-US" sz="2100" dirty="0"/>
          </a:p>
        </p:txBody>
      </p:sp>
      <p:sp>
        <p:nvSpPr>
          <p:cNvPr id="6" name="Shape 4"/>
          <p:cNvSpPr/>
          <p:nvPr/>
        </p:nvSpPr>
        <p:spPr>
          <a:xfrm>
            <a:off x="6278728" y="1417320"/>
            <a:ext cx="5364328" cy="4754880"/>
          </a:xfrm>
          <a:prstGeom prst="roundRect">
            <a:avLst>
              <a:gd name="adj" fmla="val 1538"/>
            </a:avLst>
          </a:prstGeom>
          <a:solidFill>
            <a:srgbClr val="EEF2F4"/>
          </a:solidFill>
          <a:ln w="12700">
            <a:solidFill>
              <a:srgbClr val="EEF2F4"/>
            </a:solidFill>
            <a:prstDash val="solid"/>
          </a:ln>
        </p:spPr>
      </p:sp>
      <p:sp>
        <p:nvSpPr>
          <p:cNvPr id="7" name="Text 5"/>
          <p:cNvSpPr txBox="1"/>
          <p:nvPr/>
        </p:nvSpPr>
        <p:spPr>
          <a:xfrm>
            <a:off x="6553048" y="1645920"/>
            <a:ext cx="4815688"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Informatica applicata</a:t>
            </a:r>
            <a:endParaRPr lang="en-US" sz="1900" dirty="0"/>
          </a:p>
        </p:txBody>
      </p:sp>
      <p:sp>
        <p:nvSpPr>
          <p:cNvPr id="8" name="Text 6"/>
          <p:cNvSpPr txBox="1"/>
          <p:nvPr/>
        </p:nvSpPr>
        <p:spPr>
          <a:xfrm>
            <a:off x="6598768" y="2423160"/>
            <a:ext cx="4724248" cy="3566160"/>
          </a:xfrm>
          <a:prstGeom prst="rect">
            <a:avLst/>
          </a:prstGeom>
          <a:noFill/>
          <a:ln/>
        </p:spPr>
        <p:txBody>
          <a:bodyPr wrap="square" lIns="0" tIns="0" rIns="0" bIns="0" rtlCol="0" anchor="t"/>
          <a:lstStyle/>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Tecnologie abilitanti e sistemi informativi</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Pervasiva: motore dello sviluppo economico e del settore ICT</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Una disciplina STEM al centro di una rivoluzione industriale</a:t>
            </a:r>
            <a:endParaRPr lang="en-US" sz="2100" dirty="0"/>
          </a:p>
          <a:p>
            <a:pPr marL="203200" indent="-203200">
              <a:spcAft>
                <a:spcPts val="800"/>
              </a:spcAft>
              <a:buSzPct val="100000"/>
              <a:buChar char="•"/>
            </a:pPr>
            <a:r>
              <a:rPr lang="en-US" sz="2100" dirty="0">
                <a:solidFill>
                  <a:srgbClr val="1B2530"/>
                </a:solidFill>
                <a:latin typeface="Calibri" pitchFamily="34" charset="0"/>
                <a:ea typeface="Calibri" pitchFamily="34" charset="-122"/>
                <a:cs typeface="Calibri" pitchFamily="34" charset="-120"/>
              </a:rPr>
              <a:t>Con un costo sociale da governare: il divario digitale</a:t>
            </a:r>
            <a:endParaRPr lang="en-US" sz="2100" dirty="0"/>
          </a:p>
        </p:txBody>
      </p:sp>
      <p:sp>
        <p:nvSpPr>
          <p:cNvPr id="9" name="Shape 7"/>
          <p:cNvSpPr/>
          <p:nvPr/>
        </p:nvSpPr>
        <p:spPr>
          <a:xfrm>
            <a:off x="7723327" y="91440"/>
            <a:ext cx="3919728" cy="274320"/>
          </a:xfrm>
          <a:prstGeom prst="rect">
            <a:avLst/>
          </a:prstGeom>
          <a:solidFill>
            <a:srgbClr val="E0F2FE"/>
          </a:solidFill>
          <a:ln w="12700">
            <a:solidFill>
              <a:srgbClr val="0369A1"/>
            </a:solidFill>
            <a:prstDash val="solid"/>
          </a:ln>
        </p:spPr>
      </p:sp>
      <p:sp>
        <p:nvSpPr>
          <p:cNvPr id="10" name="Shape 8"/>
          <p:cNvSpPr/>
          <p:nvPr/>
        </p:nvSpPr>
        <p:spPr>
          <a:xfrm>
            <a:off x="7723327" y="91440"/>
            <a:ext cx="73152" cy="274320"/>
          </a:xfrm>
          <a:prstGeom prst="rect">
            <a:avLst/>
          </a:prstGeom>
          <a:solidFill>
            <a:srgbClr val="0369A1"/>
          </a:solidFill>
          <a:ln w="12700">
            <a:solidFill>
              <a:srgbClr val="0369A1"/>
            </a:solidFill>
            <a:prstDash val="solid"/>
          </a:ln>
        </p:spPr>
      </p:sp>
      <p:pic>
        <p:nvPicPr>
          <p:cNvPr id="11" name="Image 0" descr="preencoded.png">    </p:cNvPr>
          <p:cNvPicPr>
            <a:picLocks noChangeAspect="1"/>
          </p:cNvPicPr>
          <p:nvPr/>
        </p:nvPicPr>
        <p:blipFill>
          <a:blip r:embed="rId1"/>
          <a:stretch>
            <a:fillRect/>
          </a:stretch>
        </p:blipFill>
        <p:spPr>
          <a:xfrm>
            <a:off x="7851343" y="128016"/>
            <a:ext cx="201168" cy="201168"/>
          </a:xfrm>
          <a:prstGeom prst="rect">
            <a:avLst/>
          </a:prstGeom>
        </p:spPr>
      </p:pic>
      <p:sp>
        <p:nvSpPr>
          <p:cNvPr id="12" name="Text 9"/>
          <p:cNvSpPr txBox="1"/>
          <p:nvPr/>
        </p:nvSpPr>
        <p:spPr>
          <a:xfrm>
            <a:off x="8107375" y="91440"/>
            <a:ext cx="349910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che cos'è l'informatica</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Le origini: l'abaco e la macchina di Anticitera</a:t>
            </a:r>
            <a:endParaRPr lang="en-US" sz="3200" dirty="0"/>
          </a:p>
        </p:txBody>
      </p:sp>
      <p:sp>
        <p:nvSpPr>
          <p:cNvPr id="3" name="Shape 1"/>
          <p:cNvSpPr/>
          <p:nvPr/>
        </p:nvSpPr>
        <p:spPr>
          <a:xfrm>
            <a:off x="548640" y="1417320"/>
            <a:ext cx="2567864" cy="3931920"/>
          </a:xfrm>
          <a:prstGeom prst="roundRect">
            <a:avLst>
              <a:gd name="adj" fmla="val 2849"/>
            </a:avLst>
          </a:prstGeom>
          <a:solidFill>
            <a:srgbClr val="EEF2F4"/>
          </a:solidFill>
          <a:ln w="12700">
            <a:solidFill>
              <a:srgbClr val="EEF2F4"/>
            </a:solidFill>
            <a:prstDash val="solid"/>
          </a:ln>
        </p:spPr>
      </p:sp>
      <p:pic>
        <p:nvPicPr>
          <p:cNvPr id="4" name="Image 0" descr="/Users/raffaelemontella/devel/riscv-prg32/computer-architecture-with-prg32/tools/assets/abacus_roman.jpg">    </p:cNvPr>
          <p:cNvPicPr>
            <a:picLocks noChangeAspect="1"/>
          </p:cNvPicPr>
          <p:nvPr/>
        </p:nvPicPr>
        <p:blipFill>
          <a:blip r:embed="rId1"/>
          <a:stretch>
            <a:fillRect/>
          </a:stretch>
        </p:blipFill>
        <p:spPr>
          <a:xfrm>
            <a:off x="685800" y="2234158"/>
            <a:ext cx="2293544" cy="1703885"/>
          </a:xfrm>
          <a:prstGeom prst="rect">
            <a:avLst/>
          </a:prstGeom>
        </p:spPr>
      </p:pic>
      <p:sp>
        <p:nvSpPr>
          <p:cNvPr id="5" name="Text 2"/>
          <p:cNvSpPr txBox="1"/>
          <p:nvPr/>
        </p:nvSpPr>
        <p:spPr>
          <a:xfrm>
            <a:off x="685800"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Abaco romano tascabile: una rappresentazione fisica di dati e operazioni</a:t>
            </a:r>
            <a:endParaRPr lang="en-US" sz="1200" dirty="0"/>
          </a:p>
        </p:txBody>
      </p:sp>
      <p:sp>
        <p:nvSpPr>
          <p:cNvPr id="6" name="Shape 3"/>
          <p:cNvSpPr/>
          <p:nvPr/>
        </p:nvSpPr>
        <p:spPr>
          <a:xfrm>
            <a:off x="3390824" y="1417320"/>
            <a:ext cx="2567864" cy="3931920"/>
          </a:xfrm>
          <a:prstGeom prst="roundRect">
            <a:avLst>
              <a:gd name="adj" fmla="val 2849"/>
            </a:avLst>
          </a:prstGeom>
          <a:solidFill>
            <a:srgbClr val="EEF2F4"/>
          </a:solidFill>
          <a:ln w="12700">
            <a:solidFill>
              <a:srgbClr val="EEF2F4"/>
            </a:solidFill>
            <a:prstDash val="solid"/>
          </a:ln>
        </p:spPr>
      </p:sp>
      <p:pic>
        <p:nvPicPr>
          <p:cNvPr id="7" name="Image 1" descr="/Users/raffaelemontella/devel/riscv-prg32/computer-architecture-with-prg32/tools/assets/abacus_chinese.jpg">    </p:cNvPr>
          <p:cNvPicPr>
            <a:picLocks noChangeAspect="1"/>
          </p:cNvPicPr>
          <p:nvPr/>
        </p:nvPicPr>
        <p:blipFill>
          <a:blip r:embed="rId2"/>
          <a:stretch>
            <a:fillRect/>
          </a:stretch>
        </p:blipFill>
        <p:spPr>
          <a:xfrm>
            <a:off x="3527984" y="2226021"/>
            <a:ext cx="2293544" cy="1720158"/>
          </a:xfrm>
          <a:prstGeom prst="rect">
            <a:avLst/>
          </a:prstGeom>
        </p:spPr>
      </p:pic>
      <p:sp>
        <p:nvSpPr>
          <p:cNvPr id="8" name="Text 4"/>
          <p:cNvSpPr txBox="1"/>
          <p:nvPr/>
        </p:nvSpPr>
        <p:spPr>
          <a:xfrm>
            <a:off x="3527984" y="4663440"/>
            <a:ext cx="2293544"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Suanpan cinese: babilonesi, cinesi, greci e romani usavano tutti tavole per contare</a:t>
            </a:r>
            <a:endParaRPr lang="en-US" sz="1200" dirty="0"/>
          </a:p>
        </p:txBody>
      </p:sp>
      <p:sp>
        <p:nvSpPr>
          <p:cNvPr id="9" name="Shape 5"/>
          <p:cNvSpPr/>
          <p:nvPr/>
        </p:nvSpPr>
        <p:spPr>
          <a:xfrm>
            <a:off x="6233008" y="1417320"/>
            <a:ext cx="2567864" cy="3931920"/>
          </a:xfrm>
          <a:prstGeom prst="roundRect">
            <a:avLst>
              <a:gd name="adj" fmla="val 2849"/>
            </a:avLst>
          </a:prstGeom>
          <a:solidFill>
            <a:srgbClr val="EEF2F4"/>
          </a:solidFill>
          <a:ln w="12700">
            <a:solidFill>
              <a:srgbClr val="EEF2F4"/>
            </a:solidFill>
            <a:prstDash val="solid"/>
          </a:ln>
        </p:spPr>
      </p:sp>
      <p:pic>
        <p:nvPicPr>
          <p:cNvPr id="10" name="Image 2" descr="/Users/raffaelemontella/devel/riscv-prg32/computer-architecture-with-prg32/tools/assets/antikythera.jpg">    </p:cNvPr>
          <p:cNvPicPr>
            <a:picLocks noChangeAspect="1"/>
          </p:cNvPicPr>
          <p:nvPr/>
        </p:nvPicPr>
        <p:blipFill>
          <a:blip r:embed="rId3"/>
          <a:stretch>
            <a:fillRect/>
          </a:stretch>
        </p:blipFill>
        <p:spPr>
          <a:xfrm>
            <a:off x="6370168" y="2063303"/>
            <a:ext cx="2293544" cy="2045593"/>
          </a:xfrm>
          <a:prstGeom prst="rect">
            <a:avLst/>
          </a:prstGeom>
        </p:spPr>
      </p:pic>
      <p:sp>
        <p:nvSpPr>
          <p:cNvPr id="11" name="Text 6"/>
          <p:cNvSpPr txBox="1"/>
          <p:nvPr/>
        </p:nvSpPr>
        <p:spPr>
          <a:xfrm>
            <a:off x="6370168" y="4663440"/>
            <a:ext cx="2293544" cy="594360"/>
          </a:xfrm>
          <a:prstGeom prst="rect">
            <a:avLst/>
          </a:prstGeom>
          <a:noFill/>
          <a:ln/>
        </p:spPr>
        <p:txBody>
          <a:bodyPr wrap="square" lIns="0" tIns="0" rIns="0" bIns="0" rtlCol="0" anchor="ctr"/>
          <a:lstStyle/>
          <a:p>
            <a:pPr algn="ctr" indent="0" marL="0">
              <a:buNone/>
            </a:pPr>
            <a:r>
              <a:rPr lang="en-US" sz="1000" dirty="0">
                <a:solidFill>
                  <a:srgbClr val="1B2530"/>
                </a:solidFill>
                <a:latin typeface="Calibri" pitchFamily="34" charset="0"/>
                <a:ea typeface="Calibri" pitchFamily="34" charset="-122"/>
                <a:cs typeface="Calibri" pitchFamily="34" charset="-120"/>
              </a:rPr>
              <a:t>Macchina di Anticitera, II-I secolo a.C.: il più antico calcolatore a ingranaggi conosciuto</a:t>
            </a:r>
            <a:endParaRPr lang="en-US" sz="1000" dirty="0"/>
          </a:p>
        </p:txBody>
      </p:sp>
      <p:sp>
        <p:nvSpPr>
          <p:cNvPr id="12" name="Shape 7"/>
          <p:cNvSpPr/>
          <p:nvPr/>
        </p:nvSpPr>
        <p:spPr>
          <a:xfrm>
            <a:off x="9075191" y="1417320"/>
            <a:ext cx="2567864" cy="3931920"/>
          </a:xfrm>
          <a:prstGeom prst="roundRect">
            <a:avLst>
              <a:gd name="adj" fmla="val 2849"/>
            </a:avLst>
          </a:prstGeom>
          <a:solidFill>
            <a:srgbClr val="EEF2F4"/>
          </a:solidFill>
          <a:ln w="12700">
            <a:solidFill>
              <a:srgbClr val="EEF2F4"/>
            </a:solidFill>
            <a:prstDash val="solid"/>
          </a:ln>
        </p:spPr>
      </p:sp>
      <p:pic>
        <p:nvPicPr>
          <p:cNvPr id="13" name="Image 3" descr="/Users/raffaelemontella/devel/riscv-prg32/computer-architecture-with-prg32/tools/assets/antikythera_plate.jpg">    </p:cNvPr>
          <p:cNvPicPr>
            <a:picLocks noChangeAspect="1"/>
          </p:cNvPicPr>
          <p:nvPr/>
        </p:nvPicPr>
        <p:blipFill>
          <a:blip r:embed="rId4"/>
          <a:stretch>
            <a:fillRect/>
          </a:stretch>
        </p:blipFill>
        <p:spPr>
          <a:xfrm>
            <a:off x="9212351" y="1557071"/>
            <a:ext cx="2293544" cy="3058058"/>
          </a:xfrm>
          <a:prstGeom prst="rect">
            <a:avLst/>
          </a:prstGeom>
        </p:spPr>
      </p:pic>
      <p:sp>
        <p:nvSpPr>
          <p:cNvPr id="14" name="Text 8"/>
          <p:cNvSpPr txBox="1"/>
          <p:nvPr/>
        </p:nvSpPr>
        <p:spPr>
          <a:xfrm>
            <a:off x="9212351" y="4663440"/>
            <a:ext cx="2293544"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Un modello moderno: i quadranti calcolavano posizioni astronomiche ed eclissi</a:t>
            </a:r>
            <a:endParaRPr lang="en-US" sz="1100" dirty="0"/>
          </a:p>
        </p:txBody>
      </p:sp>
      <p:sp>
        <p:nvSpPr>
          <p:cNvPr id="15" name="Text 9"/>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Un numero diventa una posizione di palline o l'angolo di un ingranaggio: la rappresentazione viene prima del calcolo.</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mondo islamico medievale (dal IX al XIII secolo)</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70281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Strumenti astronomici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l'astrolabio meccanico; il torqueto</a:t>
            </a:r>
            <a:endParaRPr lang="en-US" sz="2300" dirty="0"/>
          </a:p>
        </p:txBody>
      </p:sp>
      <p:sp>
        <p:nvSpPr>
          <p:cNvPr id="5" name="Shape 3"/>
          <p:cNvSpPr/>
          <p:nvPr/>
        </p:nvSpPr>
        <p:spPr>
          <a:xfrm>
            <a:off x="548640" y="2438019"/>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846"/>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Un contributo alla crittografia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crittoanalisi e analisi delle frequenze (al-Kindi, IX secolo)</a:t>
            </a:r>
            <a:endParaRPr lang="en-US" sz="2300" dirty="0"/>
          </a:p>
        </p:txBody>
      </p:sp>
      <p:sp>
        <p:nvSpPr>
          <p:cNvPr id="7" name="Shape 5"/>
          <p:cNvSpPr/>
          <p:nvPr/>
        </p:nvSpPr>
        <p:spPr>
          <a:xfrm>
            <a:off x="548640" y="365442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540252"/>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flautista automatico dei fratelli Banu Musa</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gli orologi a pesi e gli automi di al-Jazari (1206)</a:t>
            </a:r>
            <a:endParaRPr lang="en-US" sz="2300" dirty="0"/>
          </a:p>
        </p:txBody>
      </p:sp>
      <p:sp>
        <p:nvSpPr>
          <p:cNvPr id="9" name="Shape 7"/>
          <p:cNvSpPr/>
          <p:nvPr/>
        </p:nvSpPr>
        <p:spPr>
          <a:xfrm>
            <a:off x="548640" y="5217287"/>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103114"/>
            <a:ext cx="6565392" cy="1069086"/>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La parola algoritmo viene dal nome di al-Khwarizmi, come algebra viene dal titolo del suo libro</a:t>
            </a:r>
            <a:endParaRPr lang="en-US" sz="2300" dirty="0"/>
          </a:p>
        </p:txBody>
      </p:sp>
      <p:pic>
        <p:nvPicPr>
          <p:cNvPr id="11" name="Image 0" descr="/Users/raffaelemontella/devel/riscv-prg32/computer-architecture-with-prg32/tools/assets/astrolabe.jpg">    </p:cNvPr>
          <p:cNvPicPr>
            <a:picLocks noChangeAspect="1"/>
          </p:cNvPicPr>
          <p:nvPr/>
        </p:nvPicPr>
        <p:blipFill>
          <a:blip r:embed="rId1"/>
          <a:stretch>
            <a:fillRect/>
          </a:stretch>
        </p:blipFill>
        <p:spPr>
          <a:xfrm>
            <a:off x="7863840" y="2148954"/>
            <a:ext cx="3779215" cy="2834411"/>
          </a:xfrm>
          <a:prstGeom prst="rect">
            <a:avLst/>
          </a:prstGeom>
        </p:spPr>
      </p:pic>
      <p:sp>
        <p:nvSpPr>
          <p:cNvPr id="12" name="Text 9"/>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 astrolabio in ottone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Dal 1600 al 1800: calcolatrici meccaniche e logica</a:t>
            </a:r>
            <a:endParaRPr lang="en-US" sz="3200" dirty="0"/>
          </a:p>
        </p:txBody>
      </p:sp>
      <p:sp>
        <p:nvSpPr>
          <p:cNvPr id="3" name="Shape 1"/>
          <p:cNvSpPr/>
          <p:nvPr/>
        </p:nvSpPr>
        <p:spPr>
          <a:xfrm>
            <a:off x="548640" y="1531493"/>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2015490"/>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Le prime calcolatrici meccaniche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tavole dei logaritmi (Nepero, 1614)</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Pascalina di Blaise Pascal (1642): addizione con riporto</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la calcolatrice a scatti di Leibniz (1673): le quattro operazioni</a:t>
            </a:r>
            <a:endParaRPr lang="en-US" sz="2300" dirty="0"/>
          </a:p>
        </p:txBody>
      </p:sp>
      <p:sp>
        <p:nvSpPr>
          <p:cNvPr id="5" name="Shape 3"/>
          <p:cNvSpPr/>
          <p:nvPr/>
        </p:nvSpPr>
        <p:spPr>
          <a:xfrm>
            <a:off x="548640" y="373075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616579"/>
            <a:ext cx="6565392" cy="1359154"/>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Logica e matematica formale</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Leibniz descrive l'aritmetica binaria (1703)</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George Boole, The Laws of Thought (1854): la logica diventa algebra</a:t>
            </a:r>
            <a:endParaRPr lang="en-US" sz="2300" dirty="0"/>
          </a:p>
        </p:txBody>
      </p:sp>
      <p:sp>
        <p:nvSpPr>
          <p:cNvPr id="7" name="Shape 5"/>
          <p:cNvSpPr/>
          <p:nvPr/>
        </p:nvSpPr>
        <p:spPr>
          <a:xfrm>
            <a:off x="548640" y="5273675"/>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5159502"/>
            <a:ext cx="6565392" cy="1012698"/>
          </a:xfrm>
          <a:prstGeom prst="rect">
            <a:avLst/>
          </a:prstGeom>
          <a:noFill/>
          <a:ln/>
        </p:spPr>
        <p:txBody>
          <a:bodyPr wrap="square" lIns="0" tIns="0" rIns="0" bIns="0" rtlCol="0" anchor="t"/>
          <a:lstStyle/>
          <a:p>
            <a:pPr indent="0" marL="0">
              <a:spcAft>
                <a:spcPts val="200"/>
              </a:spcAft>
              <a:buNone/>
            </a:pPr>
            <a:r>
              <a:rPr lang="en-US" sz="2300" dirty="0">
                <a:solidFill>
                  <a:srgbClr val="1B2530"/>
                </a:solidFill>
                <a:latin typeface="Calibri" pitchFamily="34" charset="0"/>
                <a:ea typeface="Calibri" pitchFamily="34" charset="-122"/>
                <a:cs typeface="Calibri" pitchFamily="34" charset="-120"/>
              </a:rPr>
              <a:t>Macchine programmabili</a:t>
            </a:r>
            <a:endParaRPr lang="en-US" sz="2300" dirty="0"/>
          </a:p>
          <a:p>
            <a:pPr indent="0" marL="0">
              <a:spcAft>
                <a:spcPts val="200"/>
              </a:spcAft>
              <a:buNone/>
            </a:pPr>
            <a:r>
              <a:rPr lang="en-US" sz="2000" dirty="0">
                <a:solidFill>
                  <a:srgbClr val="5B6B78"/>
                </a:solidFill>
                <a:latin typeface="Calibri" pitchFamily="34" charset="0"/>
                <a:ea typeface="Calibri" pitchFamily="34" charset="-122"/>
                <a:cs typeface="Calibri" pitchFamily="34" charset="-120"/>
              </a:rPr>
              <a:t>– il telaio di Jacquard (1804): il disegno è memorizzato su schede perforate</a:t>
            </a:r>
            <a:endParaRPr lang="en-US" sz="2300" dirty="0"/>
          </a:p>
        </p:txBody>
      </p:sp>
      <p:pic>
        <p:nvPicPr>
          <p:cNvPr id="9" name="Image 0" descr="/Users/raffaelemontella/devel/riscv-prg32/computer-architecture-with-prg32/tools/assets/pascaline.jpg">    </p:cNvPr>
          <p:cNvPicPr>
            <a:picLocks noChangeAspect="1"/>
          </p:cNvPicPr>
          <p:nvPr/>
        </p:nvPicPr>
        <p:blipFill>
          <a:blip r:embed="rId1"/>
          <a:stretch>
            <a:fillRect/>
          </a:stretch>
        </p:blipFill>
        <p:spPr>
          <a:xfrm>
            <a:off x="7863840" y="2531305"/>
            <a:ext cx="3779215" cy="2069711"/>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Pascalina: ogni ruota è una cifra decimale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L'Ottocento: Charles Babbage e Ada Lovelace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difference_engine.jpg">    </p:cNvPr>
          <p:cNvPicPr>
            <a:picLocks noChangeAspect="1"/>
          </p:cNvPicPr>
          <p:nvPr/>
        </p:nvPicPr>
        <p:blipFill>
          <a:blip r:embed="rId1"/>
          <a:stretch>
            <a:fillRect/>
          </a:stretch>
        </p:blipFill>
        <p:spPr>
          <a:xfrm>
            <a:off x="685800" y="1913792"/>
            <a:ext cx="3240938" cy="2344616"/>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Macchina alle differenze: calcolo automatico di tavole matematiche</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analytical_engine.jpg">    </p:cNvPr>
          <p:cNvPicPr>
            <a:picLocks noChangeAspect="1"/>
          </p:cNvPicPr>
          <p:nvPr/>
        </p:nvPicPr>
        <p:blipFill>
          <a:blip r:embed="rId2"/>
          <a:stretch>
            <a:fillRect/>
          </a:stretch>
        </p:blipFill>
        <p:spPr>
          <a:xfrm>
            <a:off x="4475378" y="1818245"/>
            <a:ext cx="3240938" cy="253571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100" dirty="0">
                <a:solidFill>
                  <a:srgbClr val="1B2530"/>
                </a:solidFill>
                <a:latin typeface="Calibri" pitchFamily="34" charset="0"/>
                <a:ea typeface="Calibri" pitchFamily="34" charset="-122"/>
                <a:cs typeface="Calibri" pitchFamily="34" charset="-120"/>
              </a:rPr>
              <a:t>Macchina analitica: un mulino (unità aritmetica), un'unità di controllo, un magazzino (memoria) e un dispositivo di uscita</a:t>
            </a:r>
            <a:endParaRPr lang="en-US" sz="11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punched_cards.jpg">    </p:cNvPr>
          <p:cNvPicPr>
            <a:picLocks noChangeAspect="1"/>
          </p:cNvPicPr>
          <p:nvPr/>
        </p:nvPicPr>
        <p:blipFill>
          <a:blip r:embed="rId3"/>
          <a:stretch>
            <a:fillRect/>
          </a:stretch>
        </p:blipFill>
        <p:spPr>
          <a:xfrm>
            <a:off x="8264957" y="2007475"/>
            <a:ext cx="3240938" cy="215725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200" dirty="0">
                <a:solidFill>
                  <a:srgbClr val="1B2530"/>
                </a:solidFill>
                <a:latin typeface="Calibri" pitchFamily="34" charset="0"/>
                <a:ea typeface="Calibri" pitchFamily="34" charset="-122"/>
                <a:cs typeface="Calibri" pitchFamily="34" charset="-120"/>
              </a:rPr>
              <a:t>Programmi e dati su schede perforate, prese in prestito dal telaio di Jacquard</a:t>
            </a:r>
            <a:endParaRPr lang="en-US" sz="12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Ada Lovelace ideò un metodo per programmare la macchina analitica: è considerata la prima programmatrice della storia.</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Prima la teoria: Turing, Shannon e Nakajima</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Alan Turing</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1936: una macchina universale astratta definisce che cosa si può calcolare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a Bletchley Park lavora alla decifrazione del cifrario tedesco Enigma</a:t>
            </a:r>
            <a:endParaRPr lang="en-US" sz="2000" dirty="0"/>
          </a:p>
        </p:txBody>
      </p:sp>
      <p:sp>
        <p:nvSpPr>
          <p:cNvPr id="5" name="Shape 3"/>
          <p:cNvSpPr/>
          <p:nvPr/>
        </p:nvSpPr>
        <p:spPr>
          <a:xfrm>
            <a:off x="548640" y="3149092"/>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058160"/>
            <a:ext cx="6565392" cy="1436624"/>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Akira Nakajima e Claude Shannon</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teoria dei circuiti a commutazione (anni Trenta): l'algebra di Boole descrive i circuiti di interruttori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il principio su cui poggia tutta la progettazione digitale</a:t>
            </a:r>
            <a:endParaRPr lang="en-US" sz="2000" dirty="0"/>
          </a:p>
        </p:txBody>
      </p:sp>
      <p:sp>
        <p:nvSpPr>
          <p:cNvPr id="7" name="Shape 5"/>
          <p:cNvSpPr/>
          <p:nvPr/>
        </p:nvSpPr>
        <p:spPr>
          <a:xfrm>
            <a:off x="548640" y="4789932"/>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4699000"/>
            <a:ext cx="6565392" cy="147320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Konrad Zuse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Z3 (1941): il primo calcolatore funzionante controllato da programma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dimostrato Turing-completo nel 1998</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Z4: uno dei primi calcolatori venduti commercialmente</a:t>
            </a:r>
            <a:endParaRPr lang="en-US" sz="2000" dirty="0"/>
          </a:p>
        </p:txBody>
      </p:sp>
      <p:pic>
        <p:nvPicPr>
          <p:cNvPr id="9" name="Image 0" descr="/Users/raffaelemontella/devel/riscv-prg32/computer-architecture-with-prg32/tools/assets/enigma.jpg">    </p:cNvPr>
          <p:cNvPicPr>
            <a:picLocks noChangeAspect="1"/>
          </p:cNvPicPr>
          <p:nvPr/>
        </p:nvPicPr>
        <p:blipFill>
          <a:blip r:embed="rId1"/>
          <a:stretch>
            <a:fillRect/>
          </a:stretch>
        </p:blipFill>
        <p:spPr>
          <a:xfrm>
            <a:off x="7863840" y="2054474"/>
            <a:ext cx="3779215" cy="3023372"/>
          </a:xfrm>
          <a:prstGeom prst="rect">
            <a:avLst/>
          </a:prstGeom>
        </p:spPr>
      </p:pic>
      <p:sp>
        <p:nvSpPr>
          <p:cNvPr id="10" name="Text 7"/>
          <p:cNvSpPr txBox="1"/>
          <p:nvPr/>
        </p:nvSpPr>
        <p:spPr>
          <a:xfrm>
            <a:off x="7863840" y="5788152"/>
            <a:ext cx="377921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Una macchina cifrante Enigma</a:t>
            </a:r>
            <a:endParaRPr lang="en-US" sz="1200" dirty="0"/>
          </a:p>
        </p:txBody>
      </p:sp>
      <p:sp>
        <p:nvSpPr>
          <p:cNvPr id="11" name="Shape 8"/>
          <p:cNvSpPr/>
          <p:nvPr/>
        </p:nvSpPr>
        <p:spPr>
          <a:xfrm>
            <a:off x="6569405" y="91440"/>
            <a:ext cx="5073650" cy="274320"/>
          </a:xfrm>
          <a:prstGeom prst="rect">
            <a:avLst/>
          </a:prstGeom>
          <a:solidFill>
            <a:srgbClr val="F3E8FF"/>
          </a:solidFill>
          <a:ln w="12700">
            <a:solidFill>
              <a:srgbClr val="7E22CE"/>
            </a:solidFill>
            <a:prstDash val="dash"/>
          </a:ln>
        </p:spPr>
      </p:sp>
      <p:sp>
        <p:nvSpPr>
          <p:cNvPr id="12" name="Shape 9"/>
          <p:cNvSpPr/>
          <p:nvPr/>
        </p:nvSpPr>
        <p:spPr>
          <a:xfrm>
            <a:off x="6596837" y="128016"/>
            <a:ext cx="45720" cy="45720"/>
          </a:xfrm>
          <a:prstGeom prst="rect">
            <a:avLst/>
          </a:prstGeom>
          <a:solidFill>
            <a:srgbClr val="7E22CE"/>
          </a:solidFill>
          <a:ln w="12700">
            <a:solidFill>
              <a:srgbClr val="7E22CE"/>
            </a:solidFill>
            <a:prstDash val="solid"/>
          </a:ln>
        </p:spPr>
      </p:sp>
      <p:sp>
        <p:nvSpPr>
          <p:cNvPr id="13" name="Shape 10"/>
          <p:cNvSpPr/>
          <p:nvPr/>
        </p:nvSpPr>
        <p:spPr>
          <a:xfrm>
            <a:off x="6596837" y="205740"/>
            <a:ext cx="45720" cy="45720"/>
          </a:xfrm>
          <a:prstGeom prst="rect">
            <a:avLst/>
          </a:prstGeom>
          <a:solidFill>
            <a:srgbClr val="7E22CE"/>
          </a:solidFill>
          <a:ln w="12700">
            <a:solidFill>
              <a:srgbClr val="7E22CE"/>
            </a:solidFill>
            <a:prstDash val="solid"/>
          </a:ln>
        </p:spPr>
      </p:sp>
      <p:sp>
        <p:nvSpPr>
          <p:cNvPr id="14" name="Shape 11"/>
          <p:cNvSpPr/>
          <p:nvPr/>
        </p:nvSpPr>
        <p:spPr>
          <a:xfrm>
            <a:off x="6596837" y="283464"/>
            <a:ext cx="45720" cy="45720"/>
          </a:xfrm>
          <a:prstGeom prst="rect">
            <a:avLst/>
          </a:prstGeom>
          <a:solidFill>
            <a:srgbClr val="7E22CE"/>
          </a:solidFill>
          <a:ln w="12700">
            <a:solidFill>
              <a:srgbClr val="7E22CE"/>
            </a:solidFill>
            <a:prstDash val="solid"/>
          </a:ln>
        </p:spPr>
      </p:sp>
      <p:pic>
        <p:nvPicPr>
          <p:cNvPr id="15" name="Image 1" descr="preencoded.png">    </p:cNvPr>
          <p:cNvPicPr>
            <a:picLocks noChangeAspect="1"/>
          </p:cNvPicPr>
          <p:nvPr/>
        </p:nvPicPr>
        <p:blipFill>
          <a:blip r:embed="rId2"/>
          <a:stretch>
            <a:fillRect/>
          </a:stretch>
        </p:blipFill>
        <p:spPr>
          <a:xfrm>
            <a:off x="6697421" y="128016"/>
            <a:ext cx="201168" cy="201168"/>
          </a:xfrm>
          <a:prstGeom prst="rect">
            <a:avLst/>
          </a:prstGeom>
        </p:spPr>
      </p:pic>
      <p:sp>
        <p:nvSpPr>
          <p:cNvPr id="16" name="Text 12"/>
          <p:cNvSpPr txBox="1"/>
          <p:nvPr/>
        </p:nvSpPr>
        <p:spPr>
          <a:xfrm>
            <a:off x="6953453" y="91440"/>
            <a:ext cx="4653026"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DA COMPRENDERE PIÙ AVANTI</a:t>
            </a:r>
            <a:pPr indent="0" marL="0">
              <a:buNone/>
            </a:pPr>
            <a:r>
              <a:rPr lang="en-US" sz="1100" dirty="0">
                <a:solidFill>
                  <a:srgbClr val="6B21A8"/>
                </a:solidFill>
                <a:latin typeface="Calibri" pitchFamily="34" charset="0"/>
                <a:ea typeface="Calibri" pitchFamily="34" charset="-122"/>
                <a:cs typeface="Calibri" pitchFamily="34" charset="-120"/>
              </a:rPr>
              <a:t> · l'algebra di Boole</a:t>
            </a:r>
            <a:pPr indent="0" marL="0">
              <a:buNone/>
            </a:pPr>
            <a:r>
              <a:rPr lang="en-US" sz="1100" b="1" dirty="0">
                <a:solidFill>
                  <a:srgbClr val="6B21A8"/>
                </a:solidFill>
                <a:latin typeface="Calibri" pitchFamily="34" charset="0"/>
                <a:ea typeface="Calibri" pitchFamily="34" charset="-122"/>
                <a:cs typeface="Calibri" pitchFamily="34" charset="-120"/>
              </a:rPr>
              <a:t> → Lezione 08</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John von Neumann: il programma memorizzato</a:t>
            </a:r>
            <a:endParaRPr lang="en-US" sz="3200" dirty="0"/>
          </a:p>
        </p:txBody>
      </p:sp>
      <p:sp>
        <p:nvSpPr>
          <p:cNvPr id="3" name="Shape 1"/>
          <p:cNvSpPr/>
          <p:nvPr/>
        </p:nvSpPr>
        <p:spPr>
          <a:xfrm>
            <a:off x="548640" y="1508252"/>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Un'architettura hardware per calcolatori digitali programmabili (rapporto EDVAC, 1945)</a:t>
            </a:r>
            <a:endParaRPr lang="en-US" sz="2000" dirty="0"/>
          </a:p>
        </p:txBody>
      </p:sp>
      <p:sp>
        <p:nvSpPr>
          <p:cNvPr id="5" name="Shape 3"/>
          <p:cNvSpPr/>
          <p:nvPr/>
        </p:nvSpPr>
        <p:spPr>
          <a:xfrm>
            <a:off x="548640" y="241435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323423"/>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Programma e dati condividono la stessa memoria: un programma è un dato</a:t>
            </a:r>
            <a:endParaRPr lang="en-US" sz="2000" dirty="0"/>
          </a:p>
        </p:txBody>
      </p:sp>
      <p:sp>
        <p:nvSpPr>
          <p:cNvPr id="7" name="Shape 5"/>
          <p:cNvSpPr/>
          <p:nvPr/>
        </p:nvSpPr>
        <p:spPr>
          <a:xfrm>
            <a:off x="548640" y="3320457"/>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229525"/>
            <a:ext cx="5833872" cy="2036572"/>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Quattro unità essenziali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di controllo: governa la sequenza delle operazioni</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unità aritmetico-logica (ALU), con il suo registro accumulatore</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memoria</a:t>
            </a:r>
            <a:endParaRPr lang="en-US" sz="2000" dirty="0"/>
          </a:p>
          <a:p>
            <a:pPr indent="0" marL="0">
              <a:spcAft>
                <a:spcPts val="200"/>
              </a:spcAft>
              <a:buNone/>
            </a:pPr>
            <a:r>
              <a:rPr lang="en-US" sz="1700" dirty="0">
                <a:solidFill>
                  <a:srgbClr val="5B6B78"/>
                </a:solidFill>
                <a:latin typeface="Calibri" pitchFamily="34" charset="0"/>
                <a:ea typeface="Calibri" pitchFamily="34" charset="-122"/>
                <a:cs typeface="Calibri" pitchFamily="34" charset="-120"/>
              </a:rPr>
              <a:t>– ingresso e uscita</a:t>
            </a:r>
            <a:endParaRPr lang="en-US" sz="2000" dirty="0"/>
          </a:p>
        </p:txBody>
      </p:sp>
      <p:sp>
        <p:nvSpPr>
          <p:cNvPr id="9" name="Shape 7"/>
          <p:cNvSpPr/>
          <p:nvPr/>
        </p:nvSpPr>
        <p:spPr>
          <a:xfrm>
            <a:off x="548640" y="5643372"/>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5552440"/>
            <a:ext cx="5833872" cy="619760"/>
          </a:xfrm>
          <a:prstGeom prst="rect">
            <a:avLst/>
          </a:prstGeom>
          <a:noFill/>
          <a:ln/>
        </p:spPr>
        <p:txBody>
          <a:bodyPr wrap="square" lIns="0" tIns="0" rIns="0" bIns="0" rtlCol="0" anchor="t"/>
          <a:lstStyle/>
          <a:p>
            <a:pPr indent="0" marL="0">
              <a:spcAft>
                <a:spcPts val="200"/>
              </a:spcAft>
              <a:buNone/>
            </a:pPr>
            <a:r>
              <a:rPr lang="en-US" sz="2000" dirty="0">
                <a:solidFill>
                  <a:srgbClr val="1B2530"/>
                </a:solidFill>
                <a:latin typeface="Calibri" pitchFamily="34" charset="0"/>
                <a:ea typeface="Calibri" pitchFamily="34" charset="-122"/>
                <a:cs typeface="Calibri" pitchFamily="34" charset="-120"/>
              </a:rPr>
              <a:t>L'ESP32-C6 che avete programmato è ancora una macchina di von Neumann</a:t>
            </a:r>
            <a:endParaRPr lang="en-US" sz="2000" dirty="0"/>
          </a:p>
        </p:txBody>
      </p:sp>
      <p:sp>
        <p:nvSpPr>
          <p:cNvPr id="11" name="Shape 9"/>
          <p:cNvSpPr/>
          <p:nvPr/>
        </p:nvSpPr>
        <p:spPr>
          <a:xfrm>
            <a:off x="7132320" y="1417320"/>
            <a:ext cx="4526280" cy="4754880"/>
          </a:xfrm>
          <a:prstGeom prst="roundRect">
            <a:avLst>
              <a:gd name="adj" fmla="val 1616"/>
            </a:avLst>
          </a:prstGeom>
          <a:solidFill>
            <a:srgbClr val="EEF2F4"/>
          </a:solidFill>
          <a:ln w="12700">
            <a:solidFill>
              <a:srgbClr val="EEF2F4"/>
            </a:solidFill>
            <a:prstDash val="solid"/>
          </a:ln>
        </p:spPr>
      </p:sp>
      <p:sp>
        <p:nvSpPr>
          <p:cNvPr id="12" name="Text 10"/>
          <p:cNvSpPr txBox="1"/>
          <p:nvPr/>
        </p:nvSpPr>
        <p:spPr>
          <a:xfrm>
            <a:off x="7315200" y="1691640"/>
            <a:ext cx="4160520" cy="914400"/>
          </a:xfrm>
          <a:prstGeom prst="roundRect">
            <a:avLst>
              <a:gd name="adj" fmla="val 8000"/>
            </a:avLst>
          </a:prstGeom>
          <a:solidFill>
            <a:srgbClr val="2E4A62"/>
          </a:solidFill>
          <a:ln>
            <a:solidFill>
              <a:srgbClr val="2E4A62"/>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Memoria</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programma e dati</a:t>
            </a:r>
            <a:endParaRPr lang="en-US" sz="1600" dirty="0"/>
          </a:p>
        </p:txBody>
      </p:sp>
      <p:sp>
        <p:nvSpPr>
          <p:cNvPr id="13" name="Text 11"/>
          <p:cNvSpPr txBox="1"/>
          <p:nvPr/>
        </p:nvSpPr>
        <p:spPr>
          <a:xfrm>
            <a:off x="7315200" y="3246120"/>
            <a:ext cx="1920240" cy="1371600"/>
          </a:xfrm>
          <a:prstGeom prst="roundRect">
            <a:avLst>
              <a:gd name="adj" fmla="val 5333"/>
            </a:avLst>
          </a:prstGeom>
          <a:solidFill>
            <a:srgbClr val="0E7C86"/>
          </a:solidFill>
          <a:ln>
            <a:solidFill>
              <a:srgbClr val="0E7C86"/>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Unità di</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controllo</a:t>
            </a:r>
            <a:endParaRPr lang="en-US" sz="1600" dirty="0"/>
          </a:p>
        </p:txBody>
      </p:sp>
      <p:sp>
        <p:nvSpPr>
          <p:cNvPr id="14" name="Text 12"/>
          <p:cNvSpPr txBox="1"/>
          <p:nvPr/>
        </p:nvSpPr>
        <p:spPr>
          <a:xfrm>
            <a:off x="9555480" y="3246120"/>
            <a:ext cx="1920240" cy="1371600"/>
          </a:xfrm>
          <a:prstGeom prst="roundRect">
            <a:avLst>
              <a:gd name="adj" fmla="val 5333"/>
            </a:avLst>
          </a:prstGeom>
          <a:solidFill>
            <a:srgbClr val="C7791B"/>
          </a:solidFill>
          <a:ln>
            <a:solidFill>
              <a:srgbClr val="C7791B"/>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ALU</a:t>
            </a:r>
            <a:endParaRPr lang="en-US" sz="1600" dirty="0"/>
          </a:p>
          <a:p>
            <a:pPr algn="ctr" indent="0" marL="0">
              <a:buNone/>
            </a:pPr>
            <a:r>
              <a:rPr lang="en-US" sz="1600" b="1" dirty="0">
                <a:solidFill>
                  <a:srgbClr val="FFFFFF"/>
                </a:solidFill>
                <a:latin typeface="Calibri" pitchFamily="34" charset="0"/>
                <a:ea typeface="Calibri" pitchFamily="34" charset="-122"/>
                <a:cs typeface="Calibri" pitchFamily="34" charset="-120"/>
              </a:rPr>
              <a:t>(accumulatore)</a:t>
            </a:r>
            <a:endParaRPr lang="en-US" sz="1600" dirty="0"/>
          </a:p>
        </p:txBody>
      </p:sp>
      <p:sp>
        <p:nvSpPr>
          <p:cNvPr id="15" name="Text 13"/>
          <p:cNvSpPr txBox="1"/>
          <p:nvPr/>
        </p:nvSpPr>
        <p:spPr>
          <a:xfrm>
            <a:off x="731520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Ingresso</a:t>
            </a:r>
            <a:endParaRPr lang="en-US" sz="1600" dirty="0"/>
          </a:p>
        </p:txBody>
      </p:sp>
      <p:sp>
        <p:nvSpPr>
          <p:cNvPr id="16" name="Text 14"/>
          <p:cNvSpPr txBox="1"/>
          <p:nvPr/>
        </p:nvSpPr>
        <p:spPr>
          <a:xfrm>
            <a:off x="9555480" y="5166360"/>
            <a:ext cx="1920240" cy="731520"/>
          </a:xfrm>
          <a:prstGeom prst="roundRect">
            <a:avLst>
              <a:gd name="adj" fmla="val 10000"/>
            </a:avLst>
          </a:prstGeom>
          <a:solidFill>
            <a:srgbClr val="2F7D4F"/>
          </a:solidFill>
          <a:ln>
            <a:solidFill>
              <a:srgbClr val="2F7D4F"/>
            </a:solidFill>
          </a:ln>
        </p:spPr>
        <p:txBody>
          <a:bodyPr wrap="square" lIns="50800" tIns="50800" rIns="50800" bIns="508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Uscita</a:t>
            </a:r>
            <a:endParaRPr lang="en-US" sz="1600" dirty="0"/>
          </a:p>
        </p:txBody>
      </p:sp>
      <p:sp>
        <p:nvSpPr>
          <p:cNvPr id="17" name="Shape 15"/>
          <p:cNvSpPr/>
          <p:nvPr/>
        </p:nvSpPr>
        <p:spPr>
          <a:xfrm flipV="1">
            <a:off x="8275320" y="2651760"/>
            <a:ext cx="0" cy="548640"/>
          </a:xfrm>
          <a:prstGeom prst="line">
            <a:avLst/>
          </a:prstGeom>
          <a:noFill/>
          <a:ln w="25400">
            <a:solidFill>
              <a:srgbClr val="5B6B78"/>
            </a:solidFill>
            <a:prstDash val="solid"/>
            <a:tailEnd type="triangle"/>
          </a:ln>
        </p:spPr>
      </p:sp>
      <p:sp>
        <p:nvSpPr>
          <p:cNvPr id="18" name="Shape 16"/>
          <p:cNvSpPr/>
          <p:nvPr/>
        </p:nvSpPr>
        <p:spPr>
          <a:xfrm>
            <a:off x="10515600" y="2651760"/>
            <a:ext cx="0" cy="548640"/>
          </a:xfrm>
          <a:prstGeom prst="line">
            <a:avLst/>
          </a:prstGeom>
          <a:noFill/>
          <a:ln w="25400">
            <a:solidFill>
              <a:srgbClr val="5B6B78"/>
            </a:solidFill>
            <a:prstDash val="solid"/>
            <a:tailEnd type="triangle"/>
          </a:ln>
        </p:spPr>
      </p:sp>
      <p:sp>
        <p:nvSpPr>
          <p:cNvPr id="19" name="Shape 17"/>
          <p:cNvSpPr/>
          <p:nvPr/>
        </p:nvSpPr>
        <p:spPr>
          <a:xfrm>
            <a:off x="9262872" y="3931920"/>
            <a:ext cx="265176" cy="0"/>
          </a:xfrm>
          <a:prstGeom prst="line">
            <a:avLst/>
          </a:prstGeom>
          <a:noFill/>
          <a:ln w="25400">
            <a:solidFill>
              <a:srgbClr val="5B6B78"/>
            </a:solidFill>
            <a:prstDash val="solid"/>
            <a:tailEnd type="triangle"/>
          </a:ln>
        </p:spPr>
      </p:sp>
      <p:sp>
        <p:nvSpPr>
          <p:cNvPr id="20" name="Shape 18"/>
          <p:cNvSpPr/>
          <p:nvPr/>
        </p:nvSpPr>
        <p:spPr>
          <a:xfrm flipV="1">
            <a:off x="8275320" y="4663440"/>
            <a:ext cx="0" cy="457200"/>
          </a:xfrm>
          <a:prstGeom prst="line">
            <a:avLst/>
          </a:prstGeom>
          <a:noFill/>
          <a:ln w="25400">
            <a:solidFill>
              <a:srgbClr val="5B6B78"/>
            </a:solidFill>
            <a:prstDash val="solid"/>
            <a:tailEnd type="triangle"/>
          </a:ln>
        </p:spPr>
      </p:sp>
      <p:sp>
        <p:nvSpPr>
          <p:cNvPr id="21" name="Shape 19"/>
          <p:cNvSpPr/>
          <p:nvPr/>
        </p:nvSpPr>
        <p:spPr>
          <a:xfrm>
            <a:off x="10515600" y="4663440"/>
            <a:ext cx="0" cy="457200"/>
          </a:xfrm>
          <a:prstGeom prst="line">
            <a:avLst/>
          </a:prstGeom>
          <a:noFill/>
          <a:ln w="25400">
            <a:solidFill>
              <a:srgbClr val="5B6B78"/>
            </a:solidFill>
            <a:prstDash val="solid"/>
            <a:tailEnd type="triangle"/>
          </a:ln>
        </p:spPr>
      </p:sp>
      <p:sp>
        <p:nvSpPr>
          <p:cNvPr id="22" name="Shape 20"/>
          <p:cNvSpPr/>
          <p:nvPr/>
        </p:nvSpPr>
        <p:spPr>
          <a:xfrm>
            <a:off x="7329373" y="91440"/>
            <a:ext cx="4313682" cy="274320"/>
          </a:xfrm>
          <a:prstGeom prst="rect">
            <a:avLst/>
          </a:prstGeom>
          <a:solidFill>
            <a:srgbClr val="E0F2FE"/>
          </a:solidFill>
          <a:ln w="12700">
            <a:solidFill>
              <a:srgbClr val="0369A1"/>
            </a:solidFill>
            <a:prstDash val="solid"/>
          </a:ln>
        </p:spPr>
      </p:sp>
      <p:sp>
        <p:nvSpPr>
          <p:cNvPr id="23" name="Shape 21"/>
          <p:cNvSpPr/>
          <p:nvPr/>
        </p:nvSpPr>
        <p:spPr>
          <a:xfrm>
            <a:off x="7329373" y="91440"/>
            <a:ext cx="73152" cy="274320"/>
          </a:xfrm>
          <a:prstGeom prst="rect">
            <a:avLst/>
          </a:prstGeom>
          <a:solidFill>
            <a:srgbClr val="0369A1"/>
          </a:solidFill>
          <a:ln w="12700">
            <a:solidFill>
              <a:srgbClr val="0369A1"/>
            </a:solidFill>
            <a:prstDash val="solid"/>
          </a:ln>
        </p:spPr>
      </p:sp>
      <p:pic>
        <p:nvPicPr>
          <p:cNvPr id="24" name="Image 0" descr="preencoded.png">    </p:cNvPr>
          <p:cNvPicPr>
            <a:picLocks noChangeAspect="1"/>
          </p:cNvPicPr>
          <p:nvPr/>
        </p:nvPicPr>
        <p:blipFill>
          <a:blip r:embed="rId1"/>
          <a:stretch>
            <a:fillRect/>
          </a:stretch>
        </p:blipFill>
        <p:spPr>
          <a:xfrm>
            <a:off x="7457389" y="128016"/>
            <a:ext cx="201168" cy="201168"/>
          </a:xfrm>
          <a:prstGeom prst="rect">
            <a:avLst/>
          </a:prstGeom>
        </p:spPr>
      </p:pic>
      <p:sp>
        <p:nvSpPr>
          <p:cNvPr id="25" name="Text 22"/>
          <p:cNvSpPr txBox="1"/>
          <p:nvPr/>
        </p:nvSpPr>
        <p:spPr>
          <a:xfrm>
            <a:off x="7713421" y="91440"/>
            <a:ext cx="3893058"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l'architettura di von Neumann</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Otto decenni di calcolatori</a:t>
            </a:r>
            <a:endParaRPr lang="en-US" sz="3200" dirty="0"/>
          </a:p>
        </p:txBody>
      </p:sp>
      <p:sp>
        <p:nvSpPr>
          <p:cNvPr id="3" name="Shape 1"/>
          <p:cNvSpPr/>
          <p:nvPr/>
        </p:nvSpPr>
        <p:spPr>
          <a:xfrm>
            <a:off x="548640" y="3675888"/>
            <a:ext cx="11094415" cy="0"/>
          </a:xfrm>
          <a:prstGeom prst="line">
            <a:avLst/>
          </a:prstGeom>
          <a:noFill/>
          <a:ln w="38100">
            <a:solidFill>
              <a:srgbClr val="C9D2D8"/>
            </a:solidFill>
            <a:prstDash val="solid"/>
          </a:ln>
        </p:spPr>
      </p:sp>
      <p:sp>
        <p:nvSpPr>
          <p:cNvPr id="4" name="Shape 2"/>
          <p:cNvSpPr/>
          <p:nvPr/>
        </p:nvSpPr>
        <p:spPr>
          <a:xfrm>
            <a:off x="548640" y="1417320"/>
            <a:ext cx="1135177" cy="1737360"/>
          </a:xfrm>
          <a:prstGeom prst="roundRect">
            <a:avLst>
              <a:gd name="adj" fmla="val 6444"/>
            </a:avLst>
          </a:prstGeom>
          <a:solidFill>
            <a:srgbClr val="EEF2F4"/>
          </a:solidFill>
          <a:ln w="12700">
            <a:solidFill>
              <a:srgbClr val="EEF2F4"/>
            </a:solidFill>
            <a:prstDash val="solid"/>
          </a:ln>
        </p:spPr>
      </p:sp>
      <p:pic>
        <p:nvPicPr>
          <p:cNvPr id="5" name="Image 0" descr="/Users/raffaelemontella/devel/riscv-prg32/computer-architecture-with-prg32/tools/assets/eniac.png">    </p:cNvPr>
          <p:cNvPicPr>
            <a:picLocks noChangeAspect="1"/>
          </p:cNvPicPr>
          <p:nvPr/>
        </p:nvPicPr>
        <p:blipFill>
          <a:blip r:embed="rId1"/>
          <a:stretch>
            <a:fillRect/>
          </a:stretch>
        </p:blipFill>
        <p:spPr>
          <a:xfrm>
            <a:off x="621792" y="1908220"/>
            <a:ext cx="988873" cy="755561"/>
          </a:xfrm>
          <a:prstGeom prst="rect">
            <a:avLst/>
          </a:prstGeom>
        </p:spPr>
      </p:pic>
      <p:sp>
        <p:nvSpPr>
          <p:cNvPr id="6" name="Text 3"/>
          <p:cNvSpPr txBox="1"/>
          <p:nvPr/>
        </p:nvSpPr>
        <p:spPr>
          <a:xfrm>
            <a:off x="732180"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'40</a:t>
            </a:r>
            <a:endParaRPr lang="en-US" sz="1900" dirty="0"/>
          </a:p>
        </p:txBody>
      </p:sp>
      <p:sp>
        <p:nvSpPr>
          <p:cNvPr id="7" name="Text 4"/>
          <p:cNvSpPr txBox="1"/>
          <p:nvPr/>
        </p:nvSpPr>
        <p:spPr>
          <a:xfrm>
            <a:off x="54864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La guerra</a:t>
            </a:r>
            <a:endParaRPr lang="en-US" sz="1450" dirty="0"/>
          </a:p>
        </p:txBody>
      </p:sp>
      <p:sp>
        <p:nvSpPr>
          <p:cNvPr id="8" name="Text 5"/>
          <p:cNvSpPr txBox="1"/>
          <p:nvPr/>
        </p:nvSpPr>
        <p:spPr>
          <a:xfrm>
            <a:off x="54864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ENIAC, Colossus</a:t>
            </a:r>
            <a:endParaRPr lang="en-US" sz="1250" dirty="0"/>
          </a:p>
        </p:txBody>
      </p:sp>
      <p:sp>
        <p:nvSpPr>
          <p:cNvPr id="9" name="Shape 6"/>
          <p:cNvSpPr/>
          <p:nvPr/>
        </p:nvSpPr>
        <p:spPr>
          <a:xfrm>
            <a:off x="1793545" y="1417320"/>
            <a:ext cx="1135177" cy="1737360"/>
          </a:xfrm>
          <a:prstGeom prst="roundRect">
            <a:avLst>
              <a:gd name="adj" fmla="val 6444"/>
            </a:avLst>
          </a:prstGeom>
          <a:solidFill>
            <a:srgbClr val="EEF2F4"/>
          </a:solidFill>
          <a:ln w="12700">
            <a:solidFill>
              <a:srgbClr val="EEF2F4"/>
            </a:solidFill>
            <a:prstDash val="solid"/>
          </a:ln>
        </p:spPr>
      </p:sp>
      <p:pic>
        <p:nvPicPr>
          <p:cNvPr id="10" name="Image 1" descr="/Users/raffaelemontella/devel/riscv-prg32/computer-architecture-with-prg32/tools/assets/edvac.jpg">    </p:cNvPr>
          <p:cNvPicPr>
            <a:picLocks noChangeAspect="1"/>
          </p:cNvPicPr>
          <p:nvPr/>
        </p:nvPicPr>
        <p:blipFill>
          <a:blip r:embed="rId2"/>
          <a:stretch>
            <a:fillRect/>
          </a:stretch>
        </p:blipFill>
        <p:spPr>
          <a:xfrm>
            <a:off x="1866697" y="1644470"/>
            <a:ext cx="988873" cy="1283060"/>
          </a:xfrm>
          <a:prstGeom prst="rect">
            <a:avLst/>
          </a:prstGeom>
        </p:spPr>
      </p:pic>
      <p:sp>
        <p:nvSpPr>
          <p:cNvPr id="11" name="Text 7"/>
          <p:cNvSpPr txBox="1"/>
          <p:nvPr/>
        </p:nvSpPr>
        <p:spPr>
          <a:xfrm>
            <a:off x="1977085"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'50</a:t>
            </a:r>
            <a:endParaRPr lang="en-US" sz="1900" dirty="0"/>
          </a:p>
        </p:txBody>
      </p:sp>
      <p:sp>
        <p:nvSpPr>
          <p:cNvPr id="12" name="Text 8"/>
          <p:cNvSpPr txBox="1"/>
          <p:nvPr/>
        </p:nvSpPr>
        <p:spPr>
          <a:xfrm>
            <a:off x="1793545"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Militari e governi</a:t>
            </a:r>
            <a:endParaRPr lang="en-US" sz="1450" dirty="0"/>
          </a:p>
        </p:txBody>
      </p:sp>
      <p:sp>
        <p:nvSpPr>
          <p:cNvPr id="13" name="Text 9"/>
          <p:cNvSpPr txBox="1"/>
          <p:nvPr/>
        </p:nvSpPr>
        <p:spPr>
          <a:xfrm>
            <a:off x="1793545"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EDVAC, 1949</a:t>
            </a:r>
            <a:endParaRPr lang="en-US" sz="1250" dirty="0"/>
          </a:p>
        </p:txBody>
      </p:sp>
      <p:sp>
        <p:nvSpPr>
          <p:cNvPr id="14" name="Shape 10"/>
          <p:cNvSpPr/>
          <p:nvPr/>
        </p:nvSpPr>
        <p:spPr>
          <a:xfrm>
            <a:off x="3038450" y="1417320"/>
            <a:ext cx="1135177" cy="1737360"/>
          </a:xfrm>
          <a:prstGeom prst="roundRect">
            <a:avLst>
              <a:gd name="adj" fmla="val 6444"/>
            </a:avLst>
          </a:prstGeom>
          <a:solidFill>
            <a:srgbClr val="EEF2F4"/>
          </a:solidFill>
          <a:ln w="12700">
            <a:solidFill>
              <a:srgbClr val="EEF2F4"/>
            </a:solidFill>
            <a:prstDash val="solid"/>
          </a:ln>
        </p:spPr>
      </p:sp>
      <p:pic>
        <p:nvPicPr>
          <p:cNvPr id="15" name="Image 2" descr="/Users/raffaelemontella/devel/riscv-prg32/computer-architecture-with-prg32/tools/assets/mainframe.jpg">    </p:cNvPr>
          <p:cNvPicPr>
            <a:picLocks noChangeAspect="1"/>
          </p:cNvPicPr>
          <p:nvPr/>
        </p:nvPicPr>
        <p:blipFill>
          <a:blip r:embed="rId3"/>
          <a:stretch>
            <a:fillRect/>
          </a:stretch>
        </p:blipFill>
        <p:spPr>
          <a:xfrm>
            <a:off x="3111602" y="1942212"/>
            <a:ext cx="988873" cy="687576"/>
          </a:xfrm>
          <a:prstGeom prst="rect">
            <a:avLst/>
          </a:prstGeom>
        </p:spPr>
      </p:pic>
      <p:sp>
        <p:nvSpPr>
          <p:cNvPr id="16" name="Text 11"/>
          <p:cNvSpPr txBox="1"/>
          <p:nvPr/>
        </p:nvSpPr>
        <p:spPr>
          <a:xfrm>
            <a:off x="3221990"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'60</a:t>
            </a:r>
            <a:endParaRPr lang="en-US" sz="1900" dirty="0"/>
          </a:p>
        </p:txBody>
      </p:sp>
      <p:sp>
        <p:nvSpPr>
          <p:cNvPr id="17" name="Text 12"/>
          <p:cNvSpPr txBox="1"/>
          <p:nvPr/>
        </p:nvSpPr>
        <p:spPr>
          <a:xfrm>
            <a:off x="3038450"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L'era dei mainframe</a:t>
            </a:r>
            <a:endParaRPr lang="en-US" sz="1450" dirty="0"/>
          </a:p>
        </p:txBody>
      </p:sp>
      <p:sp>
        <p:nvSpPr>
          <p:cNvPr id="18" name="Text 13"/>
          <p:cNvSpPr txBox="1"/>
          <p:nvPr/>
        </p:nvSpPr>
        <p:spPr>
          <a:xfrm>
            <a:off x="3038450"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una macchina, molti utenti</a:t>
            </a:r>
            <a:endParaRPr lang="en-US" sz="1250" dirty="0"/>
          </a:p>
        </p:txBody>
      </p:sp>
      <p:sp>
        <p:nvSpPr>
          <p:cNvPr id="19" name="Shape 14"/>
          <p:cNvSpPr/>
          <p:nvPr/>
        </p:nvSpPr>
        <p:spPr>
          <a:xfrm>
            <a:off x="4283354" y="1417320"/>
            <a:ext cx="1135177" cy="1737360"/>
          </a:xfrm>
          <a:prstGeom prst="roundRect">
            <a:avLst>
              <a:gd name="adj" fmla="val 6444"/>
            </a:avLst>
          </a:prstGeom>
          <a:solidFill>
            <a:srgbClr val="EEF2F4"/>
          </a:solidFill>
          <a:ln w="12700">
            <a:solidFill>
              <a:srgbClr val="EEF2F4"/>
            </a:solidFill>
            <a:prstDash val="solid"/>
          </a:ln>
        </p:spPr>
      </p:sp>
      <p:pic>
        <p:nvPicPr>
          <p:cNvPr id="20" name="Image 3" descr="/Users/raffaelemontella/devel/riscv-prg32/computer-architecture-with-prg32/tools/assets/minicomputer.jpg">    </p:cNvPr>
          <p:cNvPicPr>
            <a:picLocks noChangeAspect="1"/>
          </p:cNvPicPr>
          <p:nvPr/>
        </p:nvPicPr>
        <p:blipFill>
          <a:blip r:embed="rId4"/>
          <a:stretch>
            <a:fillRect/>
          </a:stretch>
        </p:blipFill>
        <p:spPr>
          <a:xfrm>
            <a:off x="4356506" y="1830964"/>
            <a:ext cx="988873" cy="910072"/>
          </a:xfrm>
          <a:prstGeom prst="rect">
            <a:avLst/>
          </a:prstGeom>
        </p:spPr>
      </p:pic>
      <p:sp>
        <p:nvSpPr>
          <p:cNvPr id="21" name="Text 15"/>
          <p:cNvSpPr txBox="1"/>
          <p:nvPr/>
        </p:nvSpPr>
        <p:spPr>
          <a:xfrm>
            <a:off x="4466895" y="3401568"/>
            <a:ext cx="768096" cy="548640"/>
          </a:xfrm>
          <a:prstGeom prst="roundRect">
            <a:avLst>
              <a:gd name="adj" fmla="val 13333"/>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'70</a:t>
            </a:r>
            <a:endParaRPr lang="en-US" sz="1900" dirty="0"/>
          </a:p>
        </p:txBody>
      </p:sp>
      <p:sp>
        <p:nvSpPr>
          <p:cNvPr id="22" name="Text 16"/>
          <p:cNvSpPr txBox="1"/>
          <p:nvPr/>
        </p:nvSpPr>
        <p:spPr>
          <a:xfrm>
            <a:off x="428335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Minicomputer</a:t>
            </a:r>
            <a:endParaRPr lang="en-US" sz="1450" dirty="0"/>
          </a:p>
        </p:txBody>
      </p:sp>
      <p:sp>
        <p:nvSpPr>
          <p:cNvPr id="23" name="Text 17"/>
          <p:cNvSpPr txBox="1"/>
          <p:nvPr/>
        </p:nvSpPr>
        <p:spPr>
          <a:xfrm>
            <a:off x="428335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per reparto</a:t>
            </a:r>
            <a:endParaRPr lang="en-US" sz="1250" dirty="0"/>
          </a:p>
        </p:txBody>
      </p:sp>
      <p:sp>
        <p:nvSpPr>
          <p:cNvPr id="24" name="Shape 18"/>
          <p:cNvSpPr/>
          <p:nvPr/>
        </p:nvSpPr>
        <p:spPr>
          <a:xfrm>
            <a:off x="5528259" y="1417320"/>
            <a:ext cx="1135177" cy="1737360"/>
          </a:xfrm>
          <a:prstGeom prst="roundRect">
            <a:avLst>
              <a:gd name="adj" fmla="val 6444"/>
            </a:avLst>
          </a:prstGeom>
          <a:solidFill>
            <a:srgbClr val="EEF2F4"/>
          </a:solidFill>
          <a:ln w="12700">
            <a:solidFill>
              <a:srgbClr val="EEF2F4"/>
            </a:solidFill>
            <a:prstDash val="solid"/>
          </a:ln>
        </p:spPr>
      </p:sp>
      <p:pic>
        <p:nvPicPr>
          <p:cNvPr id="25" name="Image 4" descr="/Users/raffaelemontella/devel/riscv-prg32/computer-architecture-with-prg32/tools/assets/c64.jpg">    </p:cNvPr>
          <p:cNvPicPr>
            <a:picLocks noChangeAspect="1"/>
          </p:cNvPicPr>
          <p:nvPr/>
        </p:nvPicPr>
        <p:blipFill>
          <a:blip r:embed="rId5"/>
          <a:stretch>
            <a:fillRect/>
          </a:stretch>
        </p:blipFill>
        <p:spPr>
          <a:xfrm>
            <a:off x="5601411" y="2006721"/>
            <a:ext cx="988873" cy="558559"/>
          </a:xfrm>
          <a:prstGeom prst="rect">
            <a:avLst/>
          </a:prstGeom>
        </p:spPr>
      </p:pic>
      <p:sp>
        <p:nvSpPr>
          <p:cNvPr id="26" name="Text 19"/>
          <p:cNvSpPr txBox="1"/>
          <p:nvPr/>
        </p:nvSpPr>
        <p:spPr>
          <a:xfrm>
            <a:off x="5711800" y="3401568"/>
            <a:ext cx="768096" cy="548640"/>
          </a:xfrm>
          <a:prstGeom prst="roundRect">
            <a:avLst>
              <a:gd name="adj" fmla="val 13333"/>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'80</a:t>
            </a:r>
            <a:endParaRPr lang="en-US" sz="1900" dirty="0"/>
          </a:p>
        </p:txBody>
      </p:sp>
      <p:sp>
        <p:nvSpPr>
          <p:cNvPr id="27" name="Text 20"/>
          <p:cNvSpPr txBox="1"/>
          <p:nvPr/>
        </p:nvSpPr>
        <p:spPr>
          <a:xfrm>
            <a:off x="552825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Personal computer</a:t>
            </a:r>
            <a:endParaRPr lang="en-US" sz="1450" dirty="0"/>
          </a:p>
        </p:txBody>
      </p:sp>
      <p:sp>
        <p:nvSpPr>
          <p:cNvPr id="28" name="Text 21"/>
          <p:cNvSpPr txBox="1"/>
          <p:nvPr/>
        </p:nvSpPr>
        <p:spPr>
          <a:xfrm>
            <a:off x="552825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a persona</a:t>
            </a:r>
            <a:endParaRPr lang="en-US" sz="1250" dirty="0"/>
          </a:p>
        </p:txBody>
      </p:sp>
      <p:sp>
        <p:nvSpPr>
          <p:cNvPr id="29" name="Shape 22"/>
          <p:cNvSpPr/>
          <p:nvPr/>
        </p:nvSpPr>
        <p:spPr>
          <a:xfrm>
            <a:off x="6773164" y="1417320"/>
            <a:ext cx="1135177" cy="1737360"/>
          </a:xfrm>
          <a:prstGeom prst="roundRect">
            <a:avLst>
              <a:gd name="adj" fmla="val 6444"/>
            </a:avLst>
          </a:prstGeom>
          <a:solidFill>
            <a:srgbClr val="EEF2F4"/>
          </a:solidFill>
          <a:ln w="12700">
            <a:solidFill>
              <a:srgbClr val="EEF2F4"/>
            </a:solidFill>
            <a:prstDash val="solid"/>
          </a:ln>
        </p:spPr>
      </p:sp>
      <p:pic>
        <p:nvPicPr>
          <p:cNvPr id="30" name="Image 5" descr="/Users/raffaelemontella/devel/riscv-prg32/computer-architecture-with-prg32/tools/assets/network.jpg">    </p:cNvPr>
          <p:cNvPicPr>
            <a:picLocks noChangeAspect="1"/>
          </p:cNvPicPr>
          <p:nvPr/>
        </p:nvPicPr>
        <p:blipFill>
          <a:blip r:embed="rId6"/>
          <a:stretch>
            <a:fillRect/>
          </a:stretch>
        </p:blipFill>
        <p:spPr>
          <a:xfrm>
            <a:off x="6846316" y="1915173"/>
            <a:ext cx="988873" cy="741655"/>
          </a:xfrm>
          <a:prstGeom prst="rect">
            <a:avLst/>
          </a:prstGeom>
        </p:spPr>
      </p:pic>
      <p:sp>
        <p:nvSpPr>
          <p:cNvPr id="31" name="Text 23"/>
          <p:cNvSpPr txBox="1"/>
          <p:nvPr/>
        </p:nvSpPr>
        <p:spPr>
          <a:xfrm>
            <a:off x="6956704" y="3401568"/>
            <a:ext cx="768096" cy="548640"/>
          </a:xfrm>
          <a:prstGeom prst="roundRect">
            <a:avLst>
              <a:gd name="adj" fmla="val 13333"/>
            </a:avLst>
          </a:prstGeom>
          <a:solidFill>
            <a:srgbClr val="2E4A62"/>
          </a:solidFill>
          <a:ln>
            <a:solidFill>
              <a:srgbClr val="2E4A62"/>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'90</a:t>
            </a:r>
            <a:endParaRPr lang="en-US" sz="1900" dirty="0"/>
          </a:p>
        </p:txBody>
      </p:sp>
      <p:sp>
        <p:nvSpPr>
          <p:cNvPr id="32" name="Text 24"/>
          <p:cNvSpPr txBox="1"/>
          <p:nvPr/>
        </p:nvSpPr>
        <p:spPr>
          <a:xfrm>
            <a:off x="677316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Internet</a:t>
            </a:r>
            <a:endParaRPr lang="en-US" sz="1450" dirty="0"/>
          </a:p>
        </p:txBody>
      </p:sp>
      <p:sp>
        <p:nvSpPr>
          <p:cNvPr id="33" name="Text 25"/>
          <p:cNvSpPr txBox="1"/>
          <p:nvPr/>
        </p:nvSpPr>
        <p:spPr>
          <a:xfrm>
            <a:off x="677316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 calcolatori si collegano</a:t>
            </a:r>
            <a:endParaRPr lang="en-US" sz="1250" dirty="0"/>
          </a:p>
        </p:txBody>
      </p:sp>
      <p:sp>
        <p:nvSpPr>
          <p:cNvPr id="34" name="Shape 26"/>
          <p:cNvSpPr/>
          <p:nvPr/>
        </p:nvSpPr>
        <p:spPr>
          <a:xfrm>
            <a:off x="8018069" y="1417320"/>
            <a:ext cx="1135177" cy="1737360"/>
          </a:xfrm>
          <a:prstGeom prst="roundRect">
            <a:avLst>
              <a:gd name="adj" fmla="val 6444"/>
            </a:avLst>
          </a:prstGeom>
          <a:solidFill>
            <a:srgbClr val="EEF2F4"/>
          </a:solidFill>
          <a:ln w="12700">
            <a:solidFill>
              <a:srgbClr val="EEF2F4"/>
            </a:solidFill>
            <a:prstDash val="solid"/>
          </a:ln>
        </p:spPr>
      </p:sp>
      <p:pic>
        <p:nvPicPr>
          <p:cNvPr id="35" name="Image 6" descr="/Users/raffaelemontella/devel/riscv-prg32/computer-architecture-with-prg32/tools/assets/iphone.jpg">    </p:cNvPr>
          <p:cNvPicPr>
            <a:picLocks noChangeAspect="1"/>
          </p:cNvPicPr>
          <p:nvPr/>
        </p:nvPicPr>
        <p:blipFill>
          <a:blip r:embed="rId7"/>
          <a:stretch>
            <a:fillRect/>
          </a:stretch>
        </p:blipFill>
        <p:spPr>
          <a:xfrm>
            <a:off x="8091221" y="1540083"/>
            <a:ext cx="988873" cy="1491834"/>
          </a:xfrm>
          <a:prstGeom prst="rect">
            <a:avLst/>
          </a:prstGeom>
        </p:spPr>
      </p:pic>
      <p:sp>
        <p:nvSpPr>
          <p:cNvPr id="36" name="Text 27"/>
          <p:cNvSpPr txBox="1"/>
          <p:nvPr/>
        </p:nvSpPr>
        <p:spPr>
          <a:xfrm>
            <a:off x="8201609" y="3401568"/>
            <a:ext cx="768096" cy="548640"/>
          </a:xfrm>
          <a:prstGeom prst="roundRect">
            <a:avLst>
              <a:gd name="adj" fmla="val 13333"/>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'00</a:t>
            </a:r>
            <a:endParaRPr lang="en-US" sz="1900" dirty="0"/>
          </a:p>
        </p:txBody>
      </p:sp>
      <p:sp>
        <p:nvSpPr>
          <p:cNvPr id="37" name="Text 28"/>
          <p:cNvSpPr txBox="1"/>
          <p:nvPr/>
        </p:nvSpPr>
        <p:spPr>
          <a:xfrm>
            <a:off x="8018069"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Smartphone e tablet</a:t>
            </a:r>
            <a:endParaRPr lang="en-US" sz="1450" dirty="0"/>
          </a:p>
        </p:txBody>
      </p:sp>
      <p:sp>
        <p:nvSpPr>
          <p:cNvPr id="38" name="Text 29"/>
          <p:cNvSpPr txBox="1"/>
          <p:nvPr/>
        </p:nvSpPr>
        <p:spPr>
          <a:xfrm>
            <a:off x="8018069"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un calcolatore in tasca</a:t>
            </a:r>
            <a:endParaRPr lang="en-US" sz="1250" dirty="0"/>
          </a:p>
        </p:txBody>
      </p:sp>
      <p:sp>
        <p:nvSpPr>
          <p:cNvPr id="39" name="Shape 30"/>
          <p:cNvSpPr/>
          <p:nvPr/>
        </p:nvSpPr>
        <p:spPr>
          <a:xfrm>
            <a:off x="9262974" y="1417320"/>
            <a:ext cx="1135177" cy="1737360"/>
          </a:xfrm>
          <a:prstGeom prst="roundRect">
            <a:avLst>
              <a:gd name="adj" fmla="val 6444"/>
            </a:avLst>
          </a:prstGeom>
          <a:solidFill>
            <a:srgbClr val="EEF2F4"/>
          </a:solidFill>
          <a:ln w="12700">
            <a:solidFill>
              <a:srgbClr val="EEF2F4"/>
            </a:solidFill>
            <a:prstDash val="solid"/>
          </a:ln>
        </p:spPr>
      </p:sp>
      <p:pic>
        <p:nvPicPr>
          <p:cNvPr id="40" name="Image 7" descr="/Users/raffaelemontella/devel/riscv-prg32/computer-architecture-with-prg32/tools/assets/datacenter.jpg">    </p:cNvPr>
          <p:cNvPicPr>
            <a:picLocks noChangeAspect="1"/>
          </p:cNvPicPr>
          <p:nvPr/>
        </p:nvPicPr>
        <p:blipFill>
          <a:blip r:embed="rId8"/>
          <a:stretch>
            <a:fillRect/>
          </a:stretch>
        </p:blipFill>
        <p:spPr>
          <a:xfrm>
            <a:off x="9336126" y="1956118"/>
            <a:ext cx="988873" cy="659764"/>
          </a:xfrm>
          <a:prstGeom prst="rect">
            <a:avLst/>
          </a:prstGeom>
        </p:spPr>
      </p:pic>
      <p:sp>
        <p:nvSpPr>
          <p:cNvPr id="41" name="Text 31"/>
          <p:cNvSpPr txBox="1"/>
          <p:nvPr/>
        </p:nvSpPr>
        <p:spPr>
          <a:xfrm>
            <a:off x="9446514" y="3401568"/>
            <a:ext cx="768096" cy="548640"/>
          </a:xfrm>
          <a:prstGeom prst="roundRect">
            <a:avLst>
              <a:gd name="adj" fmla="val 13333"/>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'10</a:t>
            </a:r>
            <a:endParaRPr lang="en-US" sz="1900" dirty="0"/>
          </a:p>
        </p:txBody>
      </p:sp>
      <p:sp>
        <p:nvSpPr>
          <p:cNvPr id="42" name="Text 32"/>
          <p:cNvSpPr txBox="1"/>
          <p:nvPr/>
        </p:nvSpPr>
        <p:spPr>
          <a:xfrm>
            <a:off x="9262974"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Cloud computing</a:t>
            </a:r>
            <a:endParaRPr lang="en-US" sz="1450" dirty="0"/>
          </a:p>
        </p:txBody>
      </p:sp>
      <p:sp>
        <p:nvSpPr>
          <p:cNvPr id="43" name="Text 33"/>
          <p:cNvSpPr txBox="1"/>
          <p:nvPr/>
        </p:nvSpPr>
        <p:spPr>
          <a:xfrm>
            <a:off x="9262974"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il calcolo come servizio</a:t>
            </a:r>
            <a:endParaRPr lang="en-US" sz="1250" dirty="0"/>
          </a:p>
        </p:txBody>
      </p:sp>
      <p:sp>
        <p:nvSpPr>
          <p:cNvPr id="44" name="Shape 34"/>
          <p:cNvSpPr/>
          <p:nvPr/>
        </p:nvSpPr>
        <p:spPr>
          <a:xfrm>
            <a:off x="10507878" y="1417320"/>
            <a:ext cx="1135177" cy="1737360"/>
          </a:xfrm>
          <a:prstGeom prst="roundRect">
            <a:avLst>
              <a:gd name="adj" fmla="val 6444"/>
            </a:avLst>
          </a:prstGeom>
          <a:solidFill>
            <a:srgbClr val="EEF2F4"/>
          </a:solidFill>
          <a:ln w="12700">
            <a:solidFill>
              <a:srgbClr val="EEF2F4"/>
            </a:solidFill>
            <a:prstDash val="solid"/>
          </a:ln>
        </p:spPr>
      </p:sp>
      <p:pic>
        <p:nvPicPr>
          <p:cNvPr id="45" name="Image 8" descr="/Users/raffaelemontella/devel/riscv-prg32/computer-architecture-with-prg32/tools/assets/smart_speaker.jpg">    </p:cNvPr>
          <p:cNvPicPr>
            <a:picLocks noChangeAspect="1"/>
          </p:cNvPicPr>
          <p:nvPr/>
        </p:nvPicPr>
        <p:blipFill>
          <a:blip r:embed="rId9"/>
          <a:stretch>
            <a:fillRect/>
          </a:stretch>
        </p:blipFill>
        <p:spPr>
          <a:xfrm>
            <a:off x="10581030" y="1915173"/>
            <a:ext cx="988873" cy="741655"/>
          </a:xfrm>
          <a:prstGeom prst="rect">
            <a:avLst/>
          </a:prstGeom>
        </p:spPr>
      </p:pic>
      <p:sp>
        <p:nvSpPr>
          <p:cNvPr id="46" name="Text 35"/>
          <p:cNvSpPr txBox="1"/>
          <p:nvPr/>
        </p:nvSpPr>
        <p:spPr>
          <a:xfrm>
            <a:off x="10691419" y="3401568"/>
            <a:ext cx="768096" cy="548640"/>
          </a:xfrm>
          <a:prstGeom prst="roundRect">
            <a:avLst>
              <a:gd name="adj" fmla="val 13333"/>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'20</a:t>
            </a:r>
            <a:endParaRPr lang="en-US" sz="1900" dirty="0"/>
          </a:p>
        </p:txBody>
      </p:sp>
      <p:sp>
        <p:nvSpPr>
          <p:cNvPr id="47" name="Text 36"/>
          <p:cNvSpPr txBox="1"/>
          <p:nvPr/>
        </p:nvSpPr>
        <p:spPr>
          <a:xfrm>
            <a:off x="10507878" y="4114800"/>
            <a:ext cx="1135177" cy="777240"/>
          </a:xfrm>
          <a:prstGeom prst="rect">
            <a:avLst/>
          </a:prstGeom>
          <a:noFill/>
          <a:ln/>
        </p:spPr>
        <p:txBody>
          <a:bodyPr wrap="square" lIns="0" tIns="0" rIns="0" bIns="0" rtlCol="0" anchor="ctr"/>
          <a:lstStyle/>
          <a:p>
            <a:pPr algn="ctr" indent="0" marL="0">
              <a:buNone/>
            </a:pPr>
            <a:r>
              <a:rPr lang="en-US" sz="1450" b="1" dirty="0">
                <a:solidFill>
                  <a:srgbClr val="2E4A62"/>
                </a:solidFill>
                <a:latin typeface="Calibri" pitchFamily="34" charset="0"/>
                <a:ea typeface="Calibri" pitchFamily="34" charset="-122"/>
                <a:cs typeface="Calibri" pitchFamily="34" charset="-120"/>
              </a:rPr>
              <a:t>IoT e IA</a:t>
            </a:r>
            <a:endParaRPr lang="en-US" sz="1450" dirty="0"/>
          </a:p>
        </p:txBody>
      </p:sp>
      <p:sp>
        <p:nvSpPr>
          <p:cNvPr id="48" name="Text 37"/>
          <p:cNvSpPr txBox="1"/>
          <p:nvPr/>
        </p:nvSpPr>
        <p:spPr>
          <a:xfrm>
            <a:off x="10507878" y="4937760"/>
            <a:ext cx="1135177" cy="731520"/>
          </a:xfrm>
          <a:prstGeom prst="rect">
            <a:avLst/>
          </a:prstGeom>
          <a:noFill/>
          <a:ln/>
        </p:spPr>
        <p:txBody>
          <a:bodyPr wrap="square" lIns="0" tIns="0" rIns="0" bIns="0" rtlCol="0" anchor="t"/>
          <a:lstStyle/>
          <a:p>
            <a:pPr algn="ctr" indent="0" marL="0">
              <a:buNone/>
            </a:pPr>
            <a:r>
              <a:rPr lang="en-US" sz="1250" dirty="0">
                <a:solidFill>
                  <a:srgbClr val="5B6B78"/>
                </a:solidFill>
                <a:latin typeface="Calibri" pitchFamily="34" charset="0"/>
                <a:ea typeface="Calibri" pitchFamily="34" charset="-122"/>
                <a:cs typeface="Calibri" pitchFamily="34" charset="-120"/>
              </a:rPr>
              <a:t>calcolatori ovunque</a:t>
            </a:r>
            <a:endParaRPr lang="en-US" sz="1250" dirty="0"/>
          </a:p>
        </p:txBody>
      </p:sp>
      <p:sp>
        <p:nvSpPr>
          <p:cNvPr id="49" name="Text 38"/>
          <p:cNvSpPr txBox="1"/>
          <p:nvPr/>
        </p:nvSpPr>
        <p:spPr>
          <a:xfrm>
            <a:off x="548640" y="5715000"/>
            <a:ext cx="11094415" cy="457200"/>
          </a:xfrm>
          <a:prstGeom prst="rect">
            <a:avLst/>
          </a:prstGeom>
          <a:noFill/>
          <a:ln/>
        </p:spPr>
        <p:txBody>
          <a:bodyPr wrap="square" lIns="0" tIns="0" rIns="0" bIns="0" rtlCol="0" anchor="ctr"/>
          <a:lstStyle/>
          <a:p>
            <a:pPr indent="0" marL="0">
              <a:buNone/>
            </a:pPr>
            <a:r>
              <a:rPr lang="en-US" sz="1600" i="1" dirty="0">
                <a:solidFill>
                  <a:srgbClr val="1B2530"/>
                </a:solidFill>
                <a:latin typeface="Calibri" pitchFamily="34" charset="0"/>
                <a:ea typeface="Calibri" pitchFamily="34" charset="-122"/>
                <a:cs typeface="Calibri" pitchFamily="34" charset="-120"/>
              </a:rPr>
              <a:t>Ogni decennio ha reso il calcolatore più piccolo, più economico e più vicino alle persone; nessuno ha cambiato l'idea del programma memorizzato.</a:t>
            </a:r>
            <a:endParaRPr lang="en-US" sz="16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Microprocessori: da CISC a RISC a uno standard aperto</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182192"/>
                <a:gridCol w="3819389"/>
                <a:gridCol w="6092835"/>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Anno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Tappa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Perché conta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4004</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primo microprocessore commerciale: 2300 transistor su un chip</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MOS 6502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CPU a 8 bit economica: Apple II, Commodore 64, l'era degli home computer</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1978</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Intel 8086</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l'inizio di x86, un insieme di istruzioni complesso (CISC) ancora nei PC di oggi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1980-82</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di Berkeley e MIPS di Stanford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poche istruzioni, semplici e regolari, sono più veloci: l'idea RISC</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1985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ARM1</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 a basso consumo: oggi in quasi tutti i telefoni</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nasce a UC Berkeley</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il quinto progetto RISC di Berkeley diventa un insieme di istruzioni aperto</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2015-20</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Foundation, poi RISC-V International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una specifica condivisa, governata dalla Svizzera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2023-25</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Chips Act europeo; progetto DARE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RISC-V come strategia per la sovranità tecnologica europea</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bl>
          </a:graphicData>
        </a:graphic>
      </p:graphicFrame>
      <p:sp>
        <p:nvSpPr>
          <p:cNvPr id="4" name="Shape 1"/>
          <p:cNvSpPr/>
          <p:nvPr/>
        </p:nvSpPr>
        <p:spPr>
          <a:xfrm>
            <a:off x="7920304" y="91440"/>
            <a:ext cx="3722751" cy="274320"/>
          </a:xfrm>
          <a:prstGeom prst="rect">
            <a:avLst/>
          </a:prstGeom>
          <a:solidFill>
            <a:srgbClr val="E0F2FE"/>
          </a:solidFill>
          <a:ln w="12700">
            <a:solidFill>
              <a:srgbClr val="0369A1"/>
            </a:solidFill>
            <a:prstDash val="solid"/>
          </a:ln>
        </p:spPr>
      </p:sp>
      <p:sp>
        <p:nvSpPr>
          <p:cNvPr id="5" name="Shape 2"/>
          <p:cNvSpPr/>
          <p:nvPr/>
        </p:nvSpPr>
        <p:spPr>
          <a:xfrm>
            <a:off x="7920304"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48320" y="128016"/>
            <a:ext cx="201168" cy="201168"/>
          </a:xfrm>
          <a:prstGeom prst="rect">
            <a:avLst/>
          </a:prstGeom>
        </p:spPr>
      </p:pic>
      <p:sp>
        <p:nvSpPr>
          <p:cNvPr id="7" name="Text 3"/>
          <p:cNvSpPr txBox="1"/>
          <p:nvPr/>
        </p:nvSpPr>
        <p:spPr>
          <a:xfrm>
            <a:off x="8304352" y="91440"/>
            <a:ext cx="3302127"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DA COMPRENDERE OGGI</a:t>
            </a:r>
            <a:pPr indent="0" marL="0">
              <a:buNone/>
            </a:pPr>
            <a:r>
              <a:rPr lang="en-US" sz="1100" dirty="0">
                <a:solidFill>
                  <a:srgbClr val="075985"/>
                </a:solidFill>
                <a:latin typeface="Calibri" pitchFamily="34" charset="0"/>
                <a:ea typeface="Calibri" pitchFamily="34" charset="-122"/>
                <a:cs typeface="Calibri" pitchFamily="34" charset="-120"/>
              </a:rPr>
              <a:t> · RISC e un ISA aperto</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La legge di Moore in un numero</a:t>
            </a:r>
            <a:endParaRPr lang="en-US" sz="3200" dirty="0"/>
          </a:p>
        </p:txBody>
      </p:sp>
      <p:sp>
        <p:nvSpPr>
          <p:cNvPr id="3" name="Shape 1"/>
          <p:cNvSpPr/>
          <p:nvPr/>
        </p:nvSpPr>
        <p:spPr>
          <a:xfrm>
            <a:off x="548640" y="1523746"/>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6565392" cy="340868"/>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1971: l'Intel 4004 ha 2300 transistor</a:t>
            </a:r>
            <a:endParaRPr lang="en-US" sz="2200" dirty="0"/>
          </a:p>
        </p:txBody>
      </p:sp>
      <p:sp>
        <p:nvSpPr>
          <p:cNvPr id="5" name="Shape 3"/>
          <p:cNvSpPr/>
          <p:nvPr/>
        </p:nvSpPr>
        <p:spPr>
          <a:xfrm>
            <a:off x="548640" y="2201164"/>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094738"/>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Oggi il processore di un portatile ne ha decine di miliardi</a:t>
            </a:r>
            <a:endParaRPr lang="en-US" sz="2200" dirty="0"/>
          </a:p>
        </p:txBody>
      </p:sp>
      <p:sp>
        <p:nvSpPr>
          <p:cNvPr id="7" name="Shape 5"/>
          <p:cNvSpPr/>
          <p:nvPr/>
        </p:nvSpPr>
        <p:spPr>
          <a:xfrm>
            <a:off x="548640" y="32194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1302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Per cinquant'anni il numero di transistor su un chip è raddoppiato circa ogni due anni</a:t>
            </a:r>
            <a:endParaRPr lang="en-US" sz="2200" dirty="0"/>
          </a:p>
        </p:txBody>
      </p:sp>
      <p:sp>
        <p:nvSpPr>
          <p:cNvPr id="9" name="Shape 7"/>
          <p:cNvSpPr/>
          <p:nvPr/>
        </p:nvSpPr>
        <p:spPr>
          <a:xfrm>
            <a:off x="548640" y="423773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131310"/>
            <a:ext cx="6565392"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I limiti fisici sono ormai vicini: il progresso viene da architetture migliori, acceleratori specializzati e progetti aperti</a:t>
            </a:r>
            <a:endParaRPr lang="en-US" sz="2200" dirty="0"/>
          </a:p>
        </p:txBody>
      </p:sp>
      <p:sp>
        <p:nvSpPr>
          <p:cNvPr id="11" name="Shape 9"/>
          <p:cNvSpPr/>
          <p:nvPr/>
        </p:nvSpPr>
        <p:spPr>
          <a:xfrm>
            <a:off x="548640" y="5596890"/>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490464"/>
            <a:ext cx="6565392"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Ecco perché l'architettura, l'argomento di questo corso, conta più che mai</a:t>
            </a:r>
            <a:endParaRPr lang="en-US" sz="2200" dirty="0"/>
          </a:p>
        </p:txBody>
      </p:sp>
      <p:sp>
        <p:nvSpPr>
          <p:cNvPr id="13" name="Shape 11"/>
          <p:cNvSpPr/>
          <p:nvPr/>
        </p:nvSpPr>
        <p:spPr>
          <a:xfrm>
            <a:off x="7863840" y="1417320"/>
            <a:ext cx="3779215" cy="4754880"/>
          </a:xfrm>
          <a:prstGeom prst="roundRect">
            <a:avLst>
              <a:gd name="adj" fmla="val 1936"/>
            </a:avLst>
          </a:prstGeom>
          <a:solidFill>
            <a:srgbClr val="1B2530"/>
          </a:solidFill>
          <a:ln w="12700">
            <a:solidFill>
              <a:srgbClr val="1B2530"/>
            </a:solidFill>
            <a:prstDash val="solid"/>
          </a:ln>
        </p:spPr>
      </p:sp>
      <p:sp>
        <p:nvSpPr>
          <p:cNvPr id="14" name="Text 12"/>
          <p:cNvSpPr txBox="1"/>
          <p:nvPr/>
        </p:nvSpPr>
        <p:spPr>
          <a:xfrm>
            <a:off x="8046720" y="2148840"/>
            <a:ext cx="3413455" cy="1828800"/>
          </a:xfrm>
          <a:prstGeom prst="rect">
            <a:avLst/>
          </a:prstGeom>
          <a:noFill/>
          <a:ln/>
        </p:spPr>
        <p:txBody>
          <a:bodyPr wrap="square" lIns="0" tIns="0" rIns="0" bIns="0" rtlCol="0" anchor="ctr"/>
          <a:lstStyle/>
          <a:p>
            <a:pPr algn="ctr" indent="0" marL="0">
              <a:buNone/>
            </a:pPr>
            <a:r>
              <a:rPr lang="en-US" sz="4800" b="1" dirty="0">
                <a:solidFill>
                  <a:srgbClr val="FFFFFF"/>
                </a:solidFill>
                <a:latin typeface="Cambria" pitchFamily="34" charset="0"/>
                <a:ea typeface="Cambria" pitchFamily="34" charset="-122"/>
                <a:cs typeface="Cambria" pitchFamily="34" charset="-120"/>
              </a:rPr>
              <a:t>x 10.000.000</a:t>
            </a:r>
            <a:endParaRPr lang="en-US" sz="4800" dirty="0"/>
          </a:p>
        </p:txBody>
      </p:sp>
      <p:sp>
        <p:nvSpPr>
          <p:cNvPr id="15" name="Text 13"/>
          <p:cNvSpPr txBox="1"/>
          <p:nvPr/>
        </p:nvSpPr>
        <p:spPr>
          <a:xfrm>
            <a:off x="8138160" y="4160520"/>
            <a:ext cx="3230575" cy="1554480"/>
          </a:xfrm>
          <a:prstGeom prst="rect">
            <a:avLst/>
          </a:prstGeom>
          <a:noFill/>
          <a:ln/>
        </p:spPr>
        <p:txBody>
          <a:bodyPr wrap="square" lIns="0" tIns="0" rIns="0" bIns="0" rtlCol="0" anchor="t"/>
          <a:lstStyle/>
          <a:p>
            <a:pPr algn="ctr" indent="0" marL="0">
              <a:buNone/>
            </a:pPr>
            <a:r>
              <a:rPr lang="en-US" sz="1900" dirty="0">
                <a:solidFill>
                  <a:srgbClr val="CFE3EA"/>
                </a:solidFill>
                <a:latin typeface="Calibri" pitchFamily="34" charset="0"/>
                <a:ea typeface="Calibri" pitchFamily="34" charset="-122"/>
                <a:cs typeface="Calibri" pitchFamily="34" charset="-120"/>
              </a:rPr>
              <a:t>la crescita dei transistor per chip dall'Intel 4004 (1971) al processore di un portatile attuale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Lo spirito degli home computer, su una CPU aperta</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182508"/>
                <a:gridCol w="4183140"/>
                <a:gridCol w="4728767"/>
              </a:tblGrid>
              <a:tr h="0">
                <a:tc>
                  <a:txBody>
                    <a:bodyPr/>
                    <a:lstStyle/>
                    <a:p>
                      <a:pPr algn="l" indent="0" marL="0">
                        <a:buNone/>
                      </a:pP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Commodore 64 (1982), MOS 6510</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PRG32 su ESP32-C6, RISC-V</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Parola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8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bit</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Registri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 X, Y (più puntatore allo stack, stato, PC)</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 registri di uso generale, da x0 a x31</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Clock</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1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160 MHz</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Spazio di indirizzamento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64 KB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4 GB</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Insieme di istruzioni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56 istruzioni, proprietario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circa 40 istruzioni di base più estensioni, standard aperto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Schermo</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320 per 200 pixel, 16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area di 320 per 200, tavolozza RGB565 di 256 colori</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1B2530"/>
                          </a:solidFill>
                          <a:latin typeface="Calibri" pitchFamily="34" charset="0"/>
                          <a:ea typeface="Calibri" pitchFamily="34" charset="-122"/>
                          <a:cs typeface="Calibri" pitchFamily="34" charset="-120"/>
                        </a:rPr>
                        <a:t>Si programma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scrivendo sulla macchina stessa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600" dirty="0">
                          <a:solidFill>
                            <a:srgbClr val="1B2530"/>
                          </a:solidFill>
                          <a:latin typeface="Calibri" pitchFamily="34" charset="0"/>
                          <a:ea typeface="Calibri" pitchFamily="34" charset="-122"/>
                          <a:cs typeface="Calibri" pitchFamily="34" charset="-120"/>
                        </a:rPr>
                        <a:t>compilando una cartuccia e caricandola</a:t>
                      </a:r>
                      <a:endParaRPr lang="en-US" sz="16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Text 1"/>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400" i="1" dirty="0">
                <a:solidFill>
                  <a:srgbClr val="5B6B78"/>
                </a:solidFill>
                <a:latin typeface="Calibri" pitchFamily="34" charset="0"/>
                <a:ea typeface="Calibri" pitchFamily="34" charset="-122"/>
                <a:cs typeface="Calibri" pitchFamily="34" charset="-120"/>
              </a:rPr>
              <a:t>Stesso schermo, stessa immediatezza: a quarant'anni di distanza. Il 6502 si esplora ancora su skilldrick.github.io/easy6502</a:t>
            </a:r>
            <a:endParaRPr lang="en-US" sz="14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Dove si colloca l'informatica</a:t>
            </a:r>
            <a:endParaRPr lang="en-US" sz="3200" dirty="0"/>
          </a:p>
        </p:txBody>
      </p:sp>
      <p:sp>
        <p:nvSpPr>
          <p:cNvPr id="3" name="Shape 1"/>
          <p:cNvSpPr/>
          <p:nvPr/>
        </p:nvSpPr>
        <p:spPr>
          <a:xfrm>
            <a:off x="548640" y="1874520"/>
            <a:ext cx="1926275" cy="2468880"/>
          </a:xfrm>
          <a:prstGeom prst="roundRect">
            <a:avLst>
              <a:gd name="adj" fmla="val 3798"/>
            </a:avLst>
          </a:prstGeom>
          <a:solidFill>
            <a:srgbClr val="EEF2F4"/>
          </a:solidFill>
          <a:ln w="12700">
            <a:solidFill>
              <a:srgbClr val="EEF2F4"/>
            </a:solidFill>
            <a:prstDash val="solid"/>
          </a:ln>
        </p:spPr>
      </p:sp>
      <p:sp>
        <p:nvSpPr>
          <p:cNvPr id="4" name="Text 2"/>
          <p:cNvSpPr txBox="1"/>
          <p:nvPr/>
        </p:nvSpPr>
        <p:spPr>
          <a:xfrm>
            <a:off x="685800" y="2057400"/>
            <a:ext cx="1651955"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Fenomeno naturale</a:t>
            </a:r>
            <a:endParaRPr lang="en-US" sz="1900" dirty="0"/>
          </a:p>
        </p:txBody>
      </p:sp>
      <p:sp>
        <p:nvSpPr>
          <p:cNvPr id="5" name="Text 3"/>
          <p:cNvSpPr txBox="1"/>
          <p:nvPr/>
        </p:nvSpPr>
        <p:spPr>
          <a:xfrm>
            <a:off x="68580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una tempesta si forma sul mare</a:t>
            </a:r>
            <a:endParaRPr lang="en-US" sz="1700" dirty="0"/>
          </a:p>
        </p:txBody>
      </p:sp>
      <p:sp>
        <p:nvSpPr>
          <p:cNvPr id="6" name="Shape 4"/>
          <p:cNvSpPr/>
          <p:nvPr/>
        </p:nvSpPr>
        <p:spPr>
          <a:xfrm>
            <a:off x="2520635"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2840675" y="1874520"/>
            <a:ext cx="1926275" cy="2468880"/>
          </a:xfrm>
          <a:prstGeom prst="roundRect">
            <a:avLst>
              <a:gd name="adj" fmla="val 3798"/>
            </a:avLst>
          </a:prstGeom>
          <a:solidFill>
            <a:srgbClr val="EEF2F4"/>
          </a:solidFill>
          <a:ln w="12700">
            <a:solidFill>
              <a:srgbClr val="EEF2F4"/>
            </a:solidFill>
            <a:prstDash val="solid"/>
          </a:ln>
        </p:spPr>
      </p:sp>
      <p:sp>
        <p:nvSpPr>
          <p:cNvPr id="8" name="Text 6"/>
          <p:cNvSpPr txBox="1"/>
          <p:nvPr/>
        </p:nvSpPr>
        <p:spPr>
          <a:xfrm>
            <a:off x="2977835" y="2057400"/>
            <a:ext cx="1651955"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di base</a:t>
            </a:r>
            <a:endParaRPr lang="en-US" sz="1900" dirty="0"/>
          </a:p>
        </p:txBody>
      </p:sp>
      <p:sp>
        <p:nvSpPr>
          <p:cNvPr id="9" name="Text 7"/>
          <p:cNvSpPr txBox="1"/>
          <p:nvPr/>
        </p:nvSpPr>
        <p:spPr>
          <a:xfrm>
            <a:off x="297783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fisica e matematica la descrivono con equazioni</a:t>
            </a:r>
            <a:endParaRPr lang="en-US" sz="1700" dirty="0"/>
          </a:p>
        </p:txBody>
      </p:sp>
      <p:sp>
        <p:nvSpPr>
          <p:cNvPr id="10" name="Shape 8"/>
          <p:cNvSpPr/>
          <p:nvPr/>
        </p:nvSpPr>
        <p:spPr>
          <a:xfrm>
            <a:off x="4812670"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5132710" y="1874520"/>
            <a:ext cx="1926275" cy="2468880"/>
          </a:xfrm>
          <a:prstGeom prst="roundRect">
            <a:avLst>
              <a:gd name="adj" fmla="val 3798"/>
            </a:avLst>
          </a:prstGeom>
          <a:solidFill>
            <a:srgbClr val="EEF2F4"/>
          </a:solidFill>
          <a:ln w="12700">
            <a:solidFill>
              <a:srgbClr val="EEF2F4"/>
            </a:solidFill>
            <a:prstDash val="solid"/>
          </a:ln>
        </p:spPr>
      </p:sp>
      <p:sp>
        <p:nvSpPr>
          <p:cNvPr id="12" name="Text 10"/>
          <p:cNvSpPr txBox="1"/>
          <p:nvPr/>
        </p:nvSpPr>
        <p:spPr>
          <a:xfrm>
            <a:off x="5269870" y="2057400"/>
            <a:ext cx="1651955"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Scienze applicate</a:t>
            </a:r>
            <a:endParaRPr lang="en-US" sz="1900" dirty="0"/>
          </a:p>
        </p:txBody>
      </p:sp>
      <p:sp>
        <p:nvSpPr>
          <p:cNvPr id="13" name="Text 11"/>
          <p:cNvSpPr txBox="1"/>
          <p:nvPr/>
        </p:nvSpPr>
        <p:spPr>
          <a:xfrm>
            <a:off x="526987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l'informatica trasforma le equazioni in algoritmi e simulazioni</a:t>
            </a:r>
            <a:endParaRPr lang="en-US" sz="1700" dirty="0"/>
          </a:p>
        </p:txBody>
      </p:sp>
      <p:sp>
        <p:nvSpPr>
          <p:cNvPr id="14" name="Shape 12"/>
          <p:cNvSpPr/>
          <p:nvPr/>
        </p:nvSpPr>
        <p:spPr>
          <a:xfrm>
            <a:off x="7104705"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7424745" y="1874520"/>
            <a:ext cx="1926275" cy="2468880"/>
          </a:xfrm>
          <a:prstGeom prst="roundRect">
            <a:avLst>
              <a:gd name="adj" fmla="val 3798"/>
            </a:avLst>
          </a:prstGeom>
          <a:solidFill>
            <a:srgbClr val="EEF2F4"/>
          </a:solidFill>
          <a:ln w="12700">
            <a:solidFill>
              <a:srgbClr val="EEF2F4"/>
            </a:solidFill>
            <a:prstDash val="solid"/>
          </a:ln>
        </p:spPr>
      </p:sp>
      <p:sp>
        <p:nvSpPr>
          <p:cNvPr id="16" name="Text 14"/>
          <p:cNvSpPr txBox="1"/>
          <p:nvPr/>
        </p:nvSpPr>
        <p:spPr>
          <a:xfrm>
            <a:off x="7561905" y="2057400"/>
            <a:ext cx="1651955"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Ingegneria</a:t>
            </a:r>
            <a:endParaRPr lang="en-US" sz="1900" dirty="0"/>
          </a:p>
        </p:txBody>
      </p:sp>
      <p:sp>
        <p:nvSpPr>
          <p:cNvPr id="17" name="Text 15"/>
          <p:cNvSpPr txBox="1"/>
          <p:nvPr/>
        </p:nvSpPr>
        <p:spPr>
          <a:xfrm>
            <a:off x="7561905"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supercalcolatori, reti e sensori li eseguono in modo affidabile</a:t>
            </a:r>
            <a:endParaRPr lang="en-US" sz="1700" dirty="0"/>
          </a:p>
        </p:txBody>
      </p:sp>
      <p:sp>
        <p:nvSpPr>
          <p:cNvPr id="18" name="Shape 16"/>
          <p:cNvSpPr/>
          <p:nvPr/>
        </p:nvSpPr>
        <p:spPr>
          <a:xfrm>
            <a:off x="9396740" y="2962656"/>
            <a:ext cx="274320" cy="292608"/>
          </a:xfrm>
          <a:prstGeom prst="rightArrow">
            <a:avLst/>
          </a:prstGeom>
          <a:solidFill>
            <a:srgbClr val="5B6B78"/>
          </a:solidFill>
          <a:ln w="12700">
            <a:solidFill>
              <a:srgbClr val="5B6B78"/>
            </a:solidFill>
            <a:prstDash val="solid"/>
          </a:ln>
        </p:spPr>
      </p:sp>
      <p:sp>
        <p:nvSpPr>
          <p:cNvPr id="19" name="Shape 17"/>
          <p:cNvSpPr/>
          <p:nvPr/>
        </p:nvSpPr>
        <p:spPr>
          <a:xfrm>
            <a:off x="9716780" y="1874520"/>
            <a:ext cx="1926275" cy="2468880"/>
          </a:xfrm>
          <a:prstGeom prst="roundRect">
            <a:avLst>
              <a:gd name="adj" fmla="val 3798"/>
            </a:avLst>
          </a:prstGeom>
          <a:solidFill>
            <a:srgbClr val="EEF2F4"/>
          </a:solidFill>
          <a:ln w="12700">
            <a:solidFill>
              <a:srgbClr val="EEF2F4"/>
            </a:solidFill>
            <a:prstDash val="solid"/>
          </a:ln>
        </p:spPr>
      </p:sp>
      <p:sp>
        <p:nvSpPr>
          <p:cNvPr id="20" name="Text 18"/>
          <p:cNvSpPr txBox="1"/>
          <p:nvPr/>
        </p:nvSpPr>
        <p:spPr>
          <a:xfrm>
            <a:off x="9853940" y="2057400"/>
            <a:ext cx="1651955" cy="685800"/>
          </a:xfrm>
          <a:prstGeom prst="roundRect">
            <a:avLst>
              <a:gd name="adj" fmla="val 10667"/>
            </a:avLst>
          </a:prstGeom>
          <a:solidFill>
            <a:srgbClr val="B23A48"/>
          </a:solidFill>
          <a:ln>
            <a:solidFill>
              <a:srgbClr val="B23A48"/>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Economia</a:t>
            </a:r>
            <a:endParaRPr lang="en-US" sz="1900" dirty="0"/>
          </a:p>
        </p:txBody>
      </p:sp>
      <p:sp>
        <p:nvSpPr>
          <p:cNvPr id="21" name="Text 19"/>
          <p:cNvSpPr txBox="1"/>
          <p:nvPr/>
        </p:nvSpPr>
        <p:spPr>
          <a:xfrm>
            <a:off x="9853940" y="2880360"/>
            <a:ext cx="1651955"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previsioni e servizi raggiungono le persone e creano valore</a:t>
            </a:r>
            <a:endParaRPr lang="en-US" sz="1700" dirty="0"/>
          </a:p>
        </p:txBody>
      </p:sp>
      <p:sp>
        <p:nvSpPr>
          <p:cNvPr id="22" name="Shape 20"/>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23" name="Text 21"/>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Un esempio di questo Dipartimento: le previsioni meteo-marine di meteo.uniparthenope.it, calcolate ogni giorno sui nostri sistemi ad alte prestazioni.</a:t>
            </a:r>
            <a:endParaRPr lang="en-US" sz="20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Il calcolo ad alte prestazioni alla Parthenope</a:t>
            </a:r>
            <a:endParaRPr lang="en-US" sz="3200" dirty="0"/>
          </a:p>
        </p:txBody>
      </p:sp>
      <p:sp>
        <p:nvSpPr>
          <p:cNvPr id="3" name="Shape 1"/>
          <p:cNvSpPr/>
          <p:nvPr/>
        </p:nvSpPr>
        <p:spPr>
          <a:xfrm>
            <a:off x="548640" y="1417320"/>
            <a:ext cx="3515258" cy="3931920"/>
          </a:xfrm>
          <a:prstGeom prst="roundRect">
            <a:avLst>
              <a:gd name="adj" fmla="val 2081"/>
            </a:avLst>
          </a:prstGeom>
          <a:solidFill>
            <a:srgbClr val="EEF2F4"/>
          </a:solidFill>
          <a:ln w="12700">
            <a:solidFill>
              <a:srgbClr val="EEF2F4"/>
            </a:solidFill>
            <a:prstDash val="solid"/>
          </a:ln>
        </p:spPr>
      </p:sp>
      <p:pic>
        <p:nvPicPr>
          <p:cNvPr id="4" name="Image 0" descr="/Users/raffaelemontella/devel/riscv-prg32/computer-architecture-with-prg32/tools/assets/rcf_cluster.jpg">    </p:cNvPr>
          <p:cNvPicPr>
            <a:picLocks noChangeAspect="1"/>
          </p:cNvPicPr>
          <p:nvPr/>
        </p:nvPicPr>
        <p:blipFill>
          <a:blip r:embed="rId1"/>
          <a:stretch>
            <a:fillRect/>
          </a:stretch>
        </p:blipFill>
        <p:spPr>
          <a:xfrm>
            <a:off x="685800" y="2537166"/>
            <a:ext cx="3240938" cy="1097868"/>
          </a:xfrm>
          <a:prstGeom prst="rect">
            <a:avLst/>
          </a:prstGeom>
        </p:spPr>
      </p:pic>
      <p:sp>
        <p:nvSpPr>
          <p:cNvPr id="5" name="Text 2"/>
          <p:cNvSpPr txBox="1"/>
          <p:nvPr/>
        </p:nvSpPr>
        <p:spPr>
          <a:xfrm>
            <a:off x="685800"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Gli armadi delle Research Computing Facilities dell'Ateneo</a:t>
            </a:r>
            <a:endParaRPr lang="en-US" sz="1500" dirty="0"/>
          </a:p>
        </p:txBody>
      </p:sp>
      <p:sp>
        <p:nvSpPr>
          <p:cNvPr id="6" name="Shape 3"/>
          <p:cNvSpPr/>
          <p:nvPr/>
        </p:nvSpPr>
        <p:spPr>
          <a:xfrm>
            <a:off x="4338218" y="1417320"/>
            <a:ext cx="3515258" cy="3931920"/>
          </a:xfrm>
          <a:prstGeom prst="roundRect">
            <a:avLst>
              <a:gd name="adj" fmla="val 2081"/>
            </a:avLst>
          </a:prstGeom>
          <a:solidFill>
            <a:srgbClr val="EEF2F4"/>
          </a:solidFill>
          <a:ln w="12700">
            <a:solidFill>
              <a:srgbClr val="EEF2F4"/>
            </a:solidFill>
            <a:prstDash val="solid"/>
          </a:ln>
        </p:spPr>
      </p:sp>
      <p:pic>
        <p:nvPicPr>
          <p:cNvPr id="7" name="Image 1" descr="/Users/raffaelemontella/devel/riscv-prg32/computer-architecture-with-prg32/tools/assets/cluster_1.jpg">    </p:cNvPr>
          <p:cNvPicPr>
            <a:picLocks noChangeAspect="1"/>
          </p:cNvPicPr>
          <p:nvPr/>
        </p:nvPicPr>
        <p:blipFill>
          <a:blip r:embed="rId2"/>
          <a:stretch>
            <a:fillRect/>
          </a:stretch>
        </p:blipFill>
        <p:spPr>
          <a:xfrm>
            <a:off x="4947133" y="1554480"/>
            <a:ext cx="2297430" cy="3063240"/>
          </a:xfrm>
          <a:prstGeom prst="rect">
            <a:avLst/>
          </a:prstGeom>
        </p:spPr>
      </p:pic>
      <p:sp>
        <p:nvSpPr>
          <p:cNvPr id="8" name="Text 4"/>
          <p:cNvSpPr txBox="1"/>
          <p:nvPr/>
        </p:nvSpPr>
        <p:spPr>
          <a:xfrm>
            <a:off x="4475378"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Che cosa calcolano ogni giorno: le previsioni di meteo@uniparthenope</a:t>
            </a:r>
            <a:endParaRPr lang="en-US" sz="1500" dirty="0"/>
          </a:p>
        </p:txBody>
      </p:sp>
      <p:sp>
        <p:nvSpPr>
          <p:cNvPr id="9" name="Shape 5"/>
          <p:cNvSpPr/>
          <p:nvPr/>
        </p:nvSpPr>
        <p:spPr>
          <a:xfrm>
            <a:off x="8127797" y="1417320"/>
            <a:ext cx="3515258" cy="3931920"/>
          </a:xfrm>
          <a:prstGeom prst="roundRect">
            <a:avLst>
              <a:gd name="adj" fmla="val 2081"/>
            </a:avLst>
          </a:prstGeom>
          <a:solidFill>
            <a:srgbClr val="EEF2F4"/>
          </a:solidFill>
          <a:ln w="12700">
            <a:solidFill>
              <a:srgbClr val="EEF2F4"/>
            </a:solidFill>
            <a:prstDash val="solid"/>
          </a:ln>
        </p:spPr>
      </p:sp>
      <p:pic>
        <p:nvPicPr>
          <p:cNvPr id="10" name="Image 2" descr="/Users/raffaelemontella/devel/riscv-prg32/computer-architecture-with-prg32/tools/assets/rcf_page.png">    </p:cNvPr>
          <p:cNvPicPr>
            <a:picLocks noChangeAspect="1"/>
          </p:cNvPicPr>
          <p:nvPr/>
        </p:nvPicPr>
        <p:blipFill>
          <a:blip r:embed="rId3"/>
          <a:stretch>
            <a:fillRect/>
          </a:stretch>
        </p:blipFill>
        <p:spPr>
          <a:xfrm>
            <a:off x="8575891" y="1554480"/>
            <a:ext cx="2619070" cy="3063240"/>
          </a:xfrm>
          <a:prstGeom prst="rect">
            <a:avLst/>
          </a:prstGeom>
        </p:spPr>
      </p:pic>
      <p:sp>
        <p:nvSpPr>
          <p:cNvPr id="11" name="Text 6"/>
          <p:cNvSpPr txBox="1"/>
          <p:nvPr/>
        </p:nvSpPr>
        <p:spPr>
          <a:xfrm>
            <a:off x="8264957" y="4663440"/>
            <a:ext cx="3240938" cy="594360"/>
          </a:xfrm>
          <a:prstGeom prst="rect">
            <a:avLst/>
          </a:prstGeom>
          <a:noFill/>
          <a:ln/>
        </p:spPr>
        <p:txBody>
          <a:bodyPr wrap="square" lIns="0" tIns="0" rIns="0" bIns="0" rtlCol="0" anchor="ctr"/>
          <a:lstStyle/>
          <a:p>
            <a:pPr algn="ctr" indent="0" marL="0">
              <a:buNone/>
            </a:pPr>
            <a:r>
              <a:rPr lang="en-US" sz="1500" dirty="0">
                <a:solidFill>
                  <a:srgbClr val="1B2530"/>
                </a:solidFill>
                <a:latin typeface="Calibri" pitchFamily="34" charset="0"/>
                <a:ea typeface="Calibri" pitchFamily="34" charset="-122"/>
                <a:cs typeface="Calibri" pitchFamily="34" charset="-120"/>
              </a:rPr>
              <a:t>Research Computing Facilities: rcf.uniparthenope.it</a:t>
            </a:r>
            <a:endParaRPr lang="en-US" sz="1500" dirty="0"/>
          </a:p>
        </p:txBody>
      </p:sp>
      <p:sp>
        <p:nvSpPr>
          <p:cNvPr id="12" name="Text 7"/>
          <p:cNvSpPr txBox="1"/>
          <p:nvPr/>
        </p:nvSpPr>
        <p:spPr>
          <a:xfrm>
            <a:off x="548640" y="5486400"/>
            <a:ext cx="11094415" cy="685800"/>
          </a:xfrm>
          <a:prstGeom prst="rect">
            <a:avLst/>
          </a:prstGeom>
          <a:noFill/>
          <a:ln/>
        </p:spPr>
        <p:txBody>
          <a:bodyPr wrap="square" lIns="0" tIns="0" rIns="0" bIns="0" rtlCol="0" anchor="ctr"/>
          <a:lstStyle/>
          <a:p>
            <a:pPr indent="0" marL="0">
              <a:buNone/>
            </a:pPr>
            <a:r>
              <a:rPr lang="en-US" sz="1900" dirty="0">
                <a:solidFill>
                  <a:srgbClr val="1B2530"/>
                </a:solidFill>
                <a:latin typeface="Calibri" pitchFamily="34" charset="0"/>
                <a:ea typeface="Calibri" pitchFamily="34" charset="-122"/>
                <a:cs typeface="Calibri" pitchFamily="34" charset="-120"/>
              </a:rPr>
              <a:t>Le stesse idee che esercitate su un microcontrollore a 160 MHz si ritrovano nei cluster: registri, memoria, istruzioni, soltanto in numero molto maggiore.</a:t>
            </a:r>
            <a:endParaRPr lang="en-US" sz="19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56362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4" name="Text 2"/>
          <p:cNvSpPr txBox="1"/>
          <p:nvPr/>
        </p:nvSpPr>
        <p:spPr>
          <a:xfrm>
            <a:off x="1051560" y="141732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Quale idea è il cuore dell'architettura di von Neumann?</a:t>
            </a:r>
            <a:endParaRPr lang="en-US" sz="2000" dirty="0"/>
          </a:p>
        </p:txBody>
      </p:sp>
      <p:sp>
        <p:nvSpPr>
          <p:cNvPr id="5" name="Shape 3"/>
          <p:cNvSpPr/>
          <p:nvPr/>
        </p:nvSpPr>
        <p:spPr>
          <a:xfrm>
            <a:off x="548640" y="2148840"/>
            <a:ext cx="5410048" cy="724662"/>
          </a:xfrm>
          <a:prstGeom prst="roundRect">
            <a:avLst>
              <a:gd name="adj" fmla="val 10095"/>
            </a:avLst>
          </a:prstGeom>
          <a:solidFill>
            <a:srgbClr val="EEF2F4"/>
          </a:solidFill>
          <a:ln w="12700">
            <a:solidFill>
              <a:srgbClr val="EEF2F4"/>
            </a:solidFill>
            <a:prstDash val="solid"/>
          </a:ln>
        </p:spPr>
      </p:sp>
      <p:sp>
        <p:nvSpPr>
          <p:cNvPr id="6" name="Text 4"/>
          <p:cNvSpPr txBox="1"/>
          <p:nvPr/>
        </p:nvSpPr>
        <p:spPr>
          <a:xfrm>
            <a:off x="685800"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7" name="Text 5"/>
          <p:cNvSpPr txBox="1"/>
          <p:nvPr/>
        </p:nvSpPr>
        <p:spPr>
          <a:xfrm>
            <a:off x="1170432"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processore ha esattamente quattro registri</a:t>
            </a:r>
            <a:endParaRPr lang="en-US" sz="1700" dirty="0"/>
          </a:p>
        </p:txBody>
      </p:sp>
      <p:sp>
        <p:nvSpPr>
          <p:cNvPr id="8" name="Shape 6"/>
          <p:cNvSpPr/>
          <p:nvPr/>
        </p:nvSpPr>
        <p:spPr>
          <a:xfrm>
            <a:off x="6233008" y="2148840"/>
            <a:ext cx="5410048" cy="724662"/>
          </a:xfrm>
          <a:prstGeom prst="roundRect">
            <a:avLst>
              <a:gd name="adj" fmla="val 10095"/>
            </a:avLst>
          </a:prstGeom>
          <a:solidFill>
            <a:srgbClr val="EEF2F4"/>
          </a:solidFill>
          <a:ln w="12700">
            <a:solidFill>
              <a:srgbClr val="EEF2F4"/>
            </a:solidFill>
            <a:prstDash val="solid"/>
          </a:ln>
        </p:spPr>
      </p:sp>
      <p:sp>
        <p:nvSpPr>
          <p:cNvPr id="9" name="Text 7"/>
          <p:cNvSpPr txBox="1"/>
          <p:nvPr/>
        </p:nvSpPr>
        <p:spPr>
          <a:xfrm>
            <a:off x="6370168" y="234657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10" name="Text 8"/>
          <p:cNvSpPr txBox="1"/>
          <p:nvPr/>
        </p:nvSpPr>
        <p:spPr>
          <a:xfrm>
            <a:off x="6854800" y="220370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Programma e dati stanno nella stessa memoria</a:t>
            </a:r>
            <a:endParaRPr lang="en-US" sz="1700" dirty="0"/>
          </a:p>
        </p:txBody>
      </p:sp>
      <p:sp>
        <p:nvSpPr>
          <p:cNvPr id="11" name="Shape 9"/>
          <p:cNvSpPr/>
          <p:nvPr/>
        </p:nvSpPr>
        <p:spPr>
          <a:xfrm>
            <a:off x="548640" y="3001518"/>
            <a:ext cx="5410048" cy="724662"/>
          </a:xfrm>
          <a:prstGeom prst="roundRect">
            <a:avLst>
              <a:gd name="adj" fmla="val 10095"/>
            </a:avLst>
          </a:prstGeom>
          <a:solidFill>
            <a:srgbClr val="EEF2F4"/>
          </a:solidFill>
          <a:ln w="12700">
            <a:solidFill>
              <a:srgbClr val="EEF2F4"/>
            </a:solidFill>
            <a:prstDash val="solid"/>
          </a:ln>
        </p:spPr>
      </p:sp>
      <p:sp>
        <p:nvSpPr>
          <p:cNvPr id="12" name="Text 10"/>
          <p:cNvSpPr txBox="1"/>
          <p:nvPr/>
        </p:nvSpPr>
        <p:spPr>
          <a:xfrm>
            <a:off x="685800"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13" name="Text 11"/>
          <p:cNvSpPr txBox="1"/>
          <p:nvPr/>
        </p:nvSpPr>
        <p:spPr>
          <a:xfrm>
            <a:off x="1170432"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Ogni istruzione dura un ciclo di clock</a:t>
            </a:r>
            <a:endParaRPr lang="en-US" sz="1700" dirty="0"/>
          </a:p>
        </p:txBody>
      </p:sp>
      <p:sp>
        <p:nvSpPr>
          <p:cNvPr id="14" name="Shape 12"/>
          <p:cNvSpPr/>
          <p:nvPr/>
        </p:nvSpPr>
        <p:spPr>
          <a:xfrm>
            <a:off x="6233008" y="3001518"/>
            <a:ext cx="5410048" cy="724662"/>
          </a:xfrm>
          <a:prstGeom prst="roundRect">
            <a:avLst>
              <a:gd name="adj" fmla="val 10095"/>
            </a:avLst>
          </a:prstGeom>
          <a:solidFill>
            <a:srgbClr val="EEF2F4"/>
          </a:solidFill>
          <a:ln w="12700">
            <a:solidFill>
              <a:srgbClr val="EEF2F4"/>
            </a:solidFill>
            <a:prstDash val="solid"/>
          </a:ln>
        </p:spPr>
      </p:sp>
      <p:sp>
        <p:nvSpPr>
          <p:cNvPr id="15" name="Text 13"/>
          <p:cNvSpPr txBox="1"/>
          <p:nvPr/>
        </p:nvSpPr>
        <p:spPr>
          <a:xfrm>
            <a:off x="6370168" y="319925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16" name="Text 14"/>
          <p:cNvSpPr txBox="1"/>
          <p:nvPr/>
        </p:nvSpPr>
        <p:spPr>
          <a:xfrm>
            <a:off x="6854800" y="305638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Ingresso e uscita sono facoltativi</a:t>
            </a:r>
            <a:endParaRPr lang="en-US" sz="1700" dirty="0"/>
          </a:p>
        </p:txBody>
      </p:sp>
      <p:sp>
        <p:nvSpPr>
          <p:cNvPr id="17" name="Text 15"/>
          <p:cNvSpPr txBox="1"/>
          <p:nvPr/>
        </p:nvSpPr>
        <p:spPr>
          <a:xfrm>
            <a:off x="548640" y="4009644"/>
            <a:ext cx="365760" cy="365760"/>
          </a:xfrm>
          <a:prstGeom prst="roundRect">
            <a:avLst>
              <a:gd name="adj" fmla="val 20000"/>
            </a:avLst>
          </a:prstGeom>
          <a:solidFill>
            <a:srgbClr val="0E7C86"/>
          </a:solidFill>
          <a:ln>
            <a:solidFill>
              <a:srgbClr val="0E7C86"/>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8" name="Text 16"/>
          <p:cNvSpPr txBox="1"/>
          <p:nvPr/>
        </p:nvSpPr>
        <p:spPr>
          <a:xfrm>
            <a:off x="1051560" y="3863340"/>
            <a:ext cx="10591495" cy="658368"/>
          </a:xfrm>
          <a:prstGeom prst="rect">
            <a:avLst/>
          </a:prstGeom>
          <a:noFill/>
          <a:ln/>
        </p:spPr>
        <p:txBody>
          <a:bodyPr wrap="square" lIns="0" tIns="0" rIns="0" bIns="0" rtlCol="0" anchor="ctr"/>
          <a:lstStyle/>
          <a:p>
            <a:pPr indent="0" marL="0">
              <a:buNone/>
            </a:pPr>
            <a:r>
              <a:rPr lang="en-US" sz="2000" b="1" dirty="0">
                <a:solidFill>
                  <a:srgbClr val="1B2530"/>
                </a:solidFill>
                <a:latin typeface="Cambria" pitchFamily="34" charset="0"/>
                <a:ea typeface="Cambria" pitchFamily="34" charset="-122"/>
                <a:cs typeface="Cambria" pitchFamily="34" charset="-120"/>
              </a:rPr>
              <a:t>Che cosa distingue RISC-V da x86 e ARM?</a:t>
            </a:r>
            <a:endParaRPr lang="en-US" sz="2000" dirty="0"/>
          </a:p>
        </p:txBody>
      </p:sp>
      <p:sp>
        <p:nvSpPr>
          <p:cNvPr id="19" name="Shape 17"/>
          <p:cNvSpPr/>
          <p:nvPr/>
        </p:nvSpPr>
        <p:spPr>
          <a:xfrm>
            <a:off x="548640" y="4594860"/>
            <a:ext cx="5410048" cy="724662"/>
          </a:xfrm>
          <a:prstGeom prst="roundRect">
            <a:avLst>
              <a:gd name="adj" fmla="val 10095"/>
            </a:avLst>
          </a:prstGeom>
          <a:solidFill>
            <a:srgbClr val="EEF2F4"/>
          </a:solidFill>
          <a:ln w="12700">
            <a:solidFill>
              <a:srgbClr val="EEF2F4"/>
            </a:solidFill>
            <a:prstDash val="solid"/>
          </a:ln>
        </p:spPr>
      </p:sp>
      <p:sp>
        <p:nvSpPr>
          <p:cNvPr id="20" name="Text 18"/>
          <p:cNvSpPr txBox="1"/>
          <p:nvPr/>
        </p:nvSpPr>
        <p:spPr>
          <a:xfrm>
            <a:off x="685800"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A</a:t>
            </a:r>
            <a:endParaRPr lang="en-US" sz="1200" dirty="0"/>
          </a:p>
        </p:txBody>
      </p:sp>
      <p:sp>
        <p:nvSpPr>
          <p:cNvPr id="21" name="Text 19"/>
          <p:cNvSpPr txBox="1"/>
          <p:nvPr/>
        </p:nvSpPr>
        <p:spPr>
          <a:xfrm>
            <a:off x="1170432"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l'insieme di istruzioni più veloce</a:t>
            </a:r>
            <a:endParaRPr lang="en-US" sz="1700" dirty="0"/>
          </a:p>
        </p:txBody>
      </p:sp>
      <p:sp>
        <p:nvSpPr>
          <p:cNvPr id="22" name="Shape 20"/>
          <p:cNvSpPr/>
          <p:nvPr/>
        </p:nvSpPr>
        <p:spPr>
          <a:xfrm>
            <a:off x="6233008" y="4594860"/>
            <a:ext cx="5410048" cy="724662"/>
          </a:xfrm>
          <a:prstGeom prst="roundRect">
            <a:avLst>
              <a:gd name="adj" fmla="val 10095"/>
            </a:avLst>
          </a:prstGeom>
          <a:solidFill>
            <a:srgbClr val="EEF2F4"/>
          </a:solidFill>
          <a:ln w="12700">
            <a:solidFill>
              <a:srgbClr val="EEF2F4"/>
            </a:solidFill>
            <a:prstDash val="solid"/>
          </a:ln>
        </p:spPr>
      </p:sp>
      <p:sp>
        <p:nvSpPr>
          <p:cNvPr id="23" name="Text 21"/>
          <p:cNvSpPr txBox="1"/>
          <p:nvPr/>
        </p:nvSpPr>
        <p:spPr>
          <a:xfrm>
            <a:off x="6370168" y="4792599"/>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a:t>
            </a:r>
            <a:endParaRPr lang="en-US" sz="1200" dirty="0"/>
          </a:p>
        </p:txBody>
      </p:sp>
      <p:sp>
        <p:nvSpPr>
          <p:cNvPr id="24" name="Text 22"/>
          <p:cNvSpPr txBox="1"/>
          <p:nvPr/>
        </p:nvSpPr>
        <p:spPr>
          <a:xfrm>
            <a:off x="6854800" y="4649724"/>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È stata la prima architettura RISC</a:t>
            </a:r>
            <a:endParaRPr lang="en-US" sz="1700" dirty="0"/>
          </a:p>
        </p:txBody>
      </p:sp>
      <p:sp>
        <p:nvSpPr>
          <p:cNvPr id="25" name="Shape 23"/>
          <p:cNvSpPr/>
          <p:nvPr/>
        </p:nvSpPr>
        <p:spPr>
          <a:xfrm>
            <a:off x="548640" y="5447538"/>
            <a:ext cx="5410048" cy="724662"/>
          </a:xfrm>
          <a:prstGeom prst="roundRect">
            <a:avLst>
              <a:gd name="adj" fmla="val 10095"/>
            </a:avLst>
          </a:prstGeom>
          <a:solidFill>
            <a:srgbClr val="EEF2F4"/>
          </a:solidFill>
          <a:ln w="12700">
            <a:solidFill>
              <a:srgbClr val="EEF2F4"/>
            </a:solidFill>
            <a:prstDash val="solid"/>
          </a:ln>
        </p:spPr>
      </p:sp>
      <p:sp>
        <p:nvSpPr>
          <p:cNvPr id="26" name="Text 24"/>
          <p:cNvSpPr txBox="1"/>
          <p:nvPr/>
        </p:nvSpPr>
        <p:spPr>
          <a:xfrm>
            <a:off x="685800"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C</a:t>
            </a:r>
            <a:endParaRPr lang="en-US" sz="1200" dirty="0"/>
          </a:p>
        </p:txBody>
      </p:sp>
      <p:sp>
        <p:nvSpPr>
          <p:cNvPr id="27" name="Text 25"/>
          <p:cNvSpPr txBox="1"/>
          <p:nvPr/>
        </p:nvSpPr>
        <p:spPr>
          <a:xfrm>
            <a:off x="1170432"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Il suo insieme di istruzioni è uno standard aperto, libero da realizzare</a:t>
            </a:r>
            <a:endParaRPr lang="en-US" sz="1700" dirty="0"/>
          </a:p>
        </p:txBody>
      </p:sp>
      <p:sp>
        <p:nvSpPr>
          <p:cNvPr id="28" name="Shape 26"/>
          <p:cNvSpPr/>
          <p:nvPr/>
        </p:nvSpPr>
        <p:spPr>
          <a:xfrm>
            <a:off x="6233008" y="5447538"/>
            <a:ext cx="5410048" cy="724662"/>
          </a:xfrm>
          <a:prstGeom prst="roundRect">
            <a:avLst>
              <a:gd name="adj" fmla="val 10095"/>
            </a:avLst>
          </a:prstGeom>
          <a:solidFill>
            <a:srgbClr val="EEF2F4"/>
          </a:solidFill>
          <a:ln w="12700">
            <a:solidFill>
              <a:srgbClr val="EEF2F4"/>
            </a:solidFill>
            <a:prstDash val="solid"/>
          </a:ln>
        </p:spPr>
      </p:sp>
      <p:sp>
        <p:nvSpPr>
          <p:cNvPr id="29" name="Text 27"/>
          <p:cNvSpPr txBox="1"/>
          <p:nvPr/>
        </p:nvSpPr>
        <p:spPr>
          <a:xfrm>
            <a:off x="6370168" y="5645277"/>
            <a:ext cx="329184" cy="329184"/>
          </a:xfrm>
          <a:prstGeom prst="roundRect">
            <a:avLst>
              <a:gd name="adj" fmla="val 22222"/>
            </a:avLst>
          </a:prstGeom>
          <a:solidFill>
            <a:srgbClr val="2E4A62"/>
          </a:solidFill>
          <a:ln>
            <a:solidFill>
              <a:srgbClr val="2E4A62"/>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D</a:t>
            </a:r>
            <a:endParaRPr lang="en-US" sz="1200" dirty="0"/>
          </a:p>
        </p:txBody>
      </p:sp>
      <p:sp>
        <p:nvSpPr>
          <p:cNvPr id="30" name="Text 28"/>
          <p:cNvSpPr txBox="1"/>
          <p:nvPr/>
        </p:nvSpPr>
        <p:spPr>
          <a:xfrm>
            <a:off x="6854800" y="5502402"/>
            <a:ext cx="4632808" cy="614934"/>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Funziona solo sui microcontrollori</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Verifica la comprensione</a:t>
            </a:r>
            <a:endParaRPr lang="en-US" sz="3200" dirty="0"/>
          </a:p>
        </p:txBody>
      </p:sp>
      <p:sp>
        <p:nvSpPr>
          <p:cNvPr id="3" name="Text 1"/>
          <p:cNvSpPr txBox="1"/>
          <p:nvPr/>
        </p:nvSpPr>
        <p:spPr>
          <a:xfrm>
            <a:off x="548640" y="1417320"/>
            <a:ext cx="11094415" cy="1143000"/>
          </a:xfrm>
          <a:prstGeom prst="rect">
            <a:avLst/>
          </a:prstGeom>
          <a:noFill/>
          <a:ln/>
        </p:spPr>
        <p:txBody>
          <a:bodyPr wrap="square" lIns="0" tIns="0" rIns="0" bIns="0" rtlCol="0" anchor="ctr"/>
          <a:lstStyle/>
          <a:p>
            <a:pPr indent="0" marL="0">
              <a:buNone/>
            </a:pPr>
            <a:r>
              <a:rPr lang="en-US" sz="2600" b="1" dirty="0">
                <a:solidFill>
                  <a:srgbClr val="1B2530"/>
                </a:solidFill>
                <a:latin typeface="Cambria" pitchFamily="34" charset="0"/>
                <a:ea typeface="Cambria" pitchFamily="34" charset="-122"/>
                <a:cs typeface="Cambria" pitchFamily="34" charset="-120"/>
              </a:rPr>
              <a:t>Chi è considerato il primo programmatore della storia?</a:t>
            </a:r>
            <a:endParaRPr lang="en-US" sz="2600" dirty="0"/>
          </a:p>
        </p:txBody>
      </p:sp>
      <p:sp>
        <p:nvSpPr>
          <p:cNvPr id="4" name="Shape 2"/>
          <p:cNvSpPr/>
          <p:nvPr/>
        </p:nvSpPr>
        <p:spPr>
          <a:xfrm>
            <a:off x="548640" y="2834640"/>
            <a:ext cx="5410048" cy="1531620"/>
          </a:xfrm>
          <a:prstGeom prst="roundRect">
            <a:avLst>
              <a:gd name="adj" fmla="val 4776"/>
            </a:avLst>
          </a:prstGeom>
          <a:solidFill>
            <a:srgbClr val="EEF2F4"/>
          </a:solidFill>
          <a:ln w="12700">
            <a:solidFill>
              <a:srgbClr val="EEF2F4"/>
            </a:solidFill>
            <a:prstDash val="solid"/>
          </a:ln>
        </p:spPr>
      </p:sp>
      <p:sp>
        <p:nvSpPr>
          <p:cNvPr id="5" name="Text 3"/>
          <p:cNvSpPr txBox="1"/>
          <p:nvPr/>
        </p:nvSpPr>
        <p:spPr>
          <a:xfrm>
            <a:off x="777240"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6" name="Text 4"/>
          <p:cNvSpPr txBox="1"/>
          <p:nvPr/>
        </p:nvSpPr>
        <p:spPr>
          <a:xfrm>
            <a:off x="1508760"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Charles Babbage</a:t>
            </a:r>
            <a:endParaRPr lang="en-US" sz="2200" dirty="0"/>
          </a:p>
        </p:txBody>
      </p:sp>
      <p:sp>
        <p:nvSpPr>
          <p:cNvPr id="7" name="Shape 5"/>
          <p:cNvSpPr/>
          <p:nvPr/>
        </p:nvSpPr>
        <p:spPr>
          <a:xfrm>
            <a:off x="6233008" y="2834640"/>
            <a:ext cx="5410048" cy="1531620"/>
          </a:xfrm>
          <a:prstGeom prst="roundRect">
            <a:avLst>
              <a:gd name="adj" fmla="val 4776"/>
            </a:avLst>
          </a:prstGeom>
          <a:solidFill>
            <a:srgbClr val="EEF2F4"/>
          </a:solidFill>
          <a:ln w="12700">
            <a:solidFill>
              <a:srgbClr val="EEF2F4"/>
            </a:solidFill>
            <a:prstDash val="solid"/>
          </a:ln>
        </p:spPr>
      </p:sp>
      <p:sp>
        <p:nvSpPr>
          <p:cNvPr id="8" name="Text 6"/>
          <p:cNvSpPr txBox="1"/>
          <p:nvPr/>
        </p:nvSpPr>
        <p:spPr>
          <a:xfrm>
            <a:off x="6461608" y="335356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9" name="Text 7"/>
          <p:cNvSpPr txBox="1"/>
          <p:nvPr/>
        </p:nvSpPr>
        <p:spPr>
          <a:xfrm>
            <a:off x="7193128" y="297180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Alan Turing</a:t>
            </a:r>
            <a:endParaRPr lang="en-US" sz="2200" dirty="0"/>
          </a:p>
        </p:txBody>
      </p:sp>
      <p:sp>
        <p:nvSpPr>
          <p:cNvPr id="10" name="Shape 8"/>
          <p:cNvSpPr/>
          <p:nvPr/>
        </p:nvSpPr>
        <p:spPr>
          <a:xfrm>
            <a:off x="548640" y="4640580"/>
            <a:ext cx="5410048" cy="1531620"/>
          </a:xfrm>
          <a:prstGeom prst="roundRect">
            <a:avLst>
              <a:gd name="adj" fmla="val 4776"/>
            </a:avLst>
          </a:prstGeom>
          <a:solidFill>
            <a:srgbClr val="EEF2F4"/>
          </a:solidFill>
          <a:ln w="12700">
            <a:solidFill>
              <a:srgbClr val="EEF2F4"/>
            </a:solidFill>
            <a:prstDash val="solid"/>
          </a:ln>
        </p:spPr>
      </p:sp>
      <p:sp>
        <p:nvSpPr>
          <p:cNvPr id="11" name="Text 9"/>
          <p:cNvSpPr txBox="1"/>
          <p:nvPr/>
        </p:nvSpPr>
        <p:spPr>
          <a:xfrm>
            <a:off x="777240"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12" name="Text 10"/>
          <p:cNvSpPr txBox="1"/>
          <p:nvPr/>
        </p:nvSpPr>
        <p:spPr>
          <a:xfrm>
            <a:off x="1508760"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Ada Lovelace</a:t>
            </a:r>
            <a:endParaRPr lang="en-US" sz="2200" dirty="0"/>
          </a:p>
        </p:txBody>
      </p:sp>
      <p:sp>
        <p:nvSpPr>
          <p:cNvPr id="13" name="Shape 11"/>
          <p:cNvSpPr/>
          <p:nvPr/>
        </p:nvSpPr>
        <p:spPr>
          <a:xfrm>
            <a:off x="6233008" y="4640580"/>
            <a:ext cx="5410048" cy="1531620"/>
          </a:xfrm>
          <a:prstGeom prst="roundRect">
            <a:avLst>
              <a:gd name="adj" fmla="val 4776"/>
            </a:avLst>
          </a:prstGeom>
          <a:solidFill>
            <a:srgbClr val="EEF2F4"/>
          </a:solidFill>
          <a:ln w="12700">
            <a:solidFill>
              <a:srgbClr val="EEF2F4"/>
            </a:solidFill>
            <a:prstDash val="solid"/>
          </a:ln>
        </p:spPr>
      </p:sp>
      <p:sp>
        <p:nvSpPr>
          <p:cNvPr id="14" name="Text 12"/>
          <p:cNvSpPr txBox="1"/>
          <p:nvPr/>
        </p:nvSpPr>
        <p:spPr>
          <a:xfrm>
            <a:off x="6461608" y="5159502"/>
            <a:ext cx="493776" cy="493776"/>
          </a:xfrm>
          <a:prstGeom prst="roundRect">
            <a:avLst>
              <a:gd name="adj" fmla="val 14815"/>
            </a:avLst>
          </a:prstGeom>
          <a:solidFill>
            <a:srgbClr val="2E4A62"/>
          </a:solidFill>
          <a:ln>
            <a:solidFill>
              <a:srgbClr val="2E4A62"/>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15" name="Text 13"/>
          <p:cNvSpPr txBox="1"/>
          <p:nvPr/>
        </p:nvSpPr>
        <p:spPr>
          <a:xfrm>
            <a:off x="7193128" y="4777740"/>
            <a:ext cx="4221328" cy="1257300"/>
          </a:xfrm>
          <a:prstGeom prst="rect">
            <a:avLst/>
          </a:prstGeom>
          <a:noFill/>
          <a:ln/>
        </p:spPr>
        <p:txBody>
          <a:bodyPr wrap="square" lIns="0" tIns="0" rIns="0" bIns="0" rtlCol="0" anchor="ctr"/>
          <a:lstStyle/>
          <a:p>
            <a:pPr indent="0" marL="0">
              <a:buNone/>
            </a:pPr>
            <a:r>
              <a:rPr lang="en-US" sz="2200" dirty="0">
                <a:solidFill>
                  <a:srgbClr val="1B2530"/>
                </a:solidFill>
                <a:latin typeface="Calibri" pitchFamily="34" charset="0"/>
                <a:ea typeface="Calibri" pitchFamily="34" charset="-122"/>
                <a:cs typeface="Calibri" pitchFamily="34" charset="-120"/>
              </a:rPr>
              <a:t>Konrad Zuse</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Glossario: inglese e italiano</a:t>
            </a:r>
            <a:endParaRPr lang="en-US" sz="3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993731"/>
                <a:gridCol w="2641527"/>
                <a:gridCol w="2817629"/>
                <a:gridCol w="2641527"/>
              </a:tblGrid>
              <a:tr h="0">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Inglese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2100" b="1" dirty="0">
                          <a:solidFill>
                            <a:srgbClr val="FFFFFF"/>
                          </a:solidFill>
                          <a:latin typeface="Calibri" pitchFamily="34" charset="0"/>
                          <a:ea typeface="Calibri" pitchFamily="34" charset="-122"/>
                          <a:cs typeface="Calibri" pitchFamily="34" charset="-120"/>
                        </a:rPr>
                        <a:t>Italiano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 science / informatics</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informatica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stored program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programma memorizzato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computer</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calcolatore,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control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di controllo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punched card</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scheda perforata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arithmetic logic unit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unità aritmetico-logica</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loom</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telaio</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instruction set</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insieme (set) di istruzioni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2100" b="1" dirty="0">
                          <a:solidFill>
                            <a:srgbClr val="1B2530"/>
                          </a:solidFill>
                          <a:latin typeface="Calibri" pitchFamily="34" charset="0"/>
                          <a:ea typeface="Calibri" pitchFamily="34" charset="-122"/>
                          <a:cs typeface="Calibri" pitchFamily="34" charset="-120"/>
                        </a:rPr>
                        <a:t>mainframe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mainframe, grande elaboratore</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high-performance computing</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2100" dirty="0">
                          <a:solidFill>
                            <a:srgbClr val="1B2530"/>
                          </a:solidFill>
                          <a:latin typeface="Calibri" pitchFamily="34" charset="0"/>
                          <a:ea typeface="Calibri" pitchFamily="34" charset="-122"/>
                          <a:cs typeface="Calibri" pitchFamily="34" charset="-120"/>
                        </a:rPr>
                        <a:t>calcolo ad alte prestazioni</a:t>
                      </a:r>
                      <a:endParaRPr lang="en-US" sz="21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Conclusioni e letture</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calcolo è più antico dell'elettronica: rappresentazione e procedura sono venute prima</a:t>
            </a:r>
            <a:endParaRPr lang="en-US" sz="2100" dirty="0"/>
          </a:p>
        </p:txBody>
      </p:sp>
      <p:sp>
        <p:nvSpPr>
          <p:cNvPr id="5" name="Shape 3"/>
          <p:cNvSpPr/>
          <p:nvPr/>
        </p:nvSpPr>
        <p:spPr>
          <a:xfrm>
            <a:off x="548640" y="23867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288096"/>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Il calcolatore a programma memorizzato del 1945 è ancora la macchina che programmiamo oggi</a:t>
            </a:r>
            <a:endParaRPr lang="en-US" sz="2100" dirty="0"/>
          </a:p>
        </p:txBody>
      </p:sp>
      <p:sp>
        <p:nvSpPr>
          <p:cNvPr id="7" name="Shape 5"/>
          <p:cNvSpPr/>
          <p:nvPr/>
        </p:nvSpPr>
        <p:spPr>
          <a:xfrm>
            <a:off x="548640" y="3257550"/>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158871"/>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RISC ha reso i processori abbastanza semplici da capirli per intero; RISC-V li ha resi aperti</a:t>
            </a:r>
            <a:endParaRPr lang="en-US" sz="2100" dirty="0"/>
          </a:p>
        </p:txBody>
      </p:sp>
      <p:sp>
        <p:nvSpPr>
          <p:cNvPr id="9" name="Shape 7"/>
          <p:cNvSpPr/>
          <p:nvPr/>
        </p:nvSpPr>
        <p:spPr>
          <a:xfrm>
            <a:off x="548640" y="4128326"/>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29647"/>
            <a:ext cx="10710367"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L'informatica è pervasiva: l'informazione digitale appartiene a ogni campo, i dati ne sono la moneta, gli algoritmi trasformano i dati in decisioni</a:t>
            </a:r>
            <a:endParaRPr lang="en-US" sz="2100" dirty="0"/>
          </a:p>
        </p:txBody>
      </p:sp>
      <p:sp>
        <p:nvSpPr>
          <p:cNvPr id="11" name="Shape 9"/>
          <p:cNvSpPr/>
          <p:nvPr/>
        </p:nvSpPr>
        <p:spPr>
          <a:xfrm>
            <a:off x="548640" y="499910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4900422"/>
            <a:ext cx="10710367" cy="127177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Letture</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Patterson, Hennessy: Struttura e progetto dei calcolatori, edizione RISC-V, capitolo 1</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Playing with RISC-V, capitolo 1: Why a Game, Why RISC-V, Why Now</a:t>
            </a:r>
            <a:endParaRPr lang="en-US" sz="2100" dirty="0"/>
          </a:p>
          <a:p>
            <a:pPr indent="0" marL="0">
              <a:spcAft>
                <a:spcPts val="200"/>
              </a:spcAft>
              <a:buNone/>
            </a:pPr>
            <a:r>
              <a:rPr lang="en-US" sz="1800" dirty="0">
                <a:solidFill>
                  <a:srgbClr val="5B6B78"/>
                </a:solidFill>
                <a:latin typeface="Calibri" pitchFamily="34" charset="0"/>
                <a:ea typeface="Calibri" pitchFamily="34" charset="-122"/>
                <a:cs typeface="Calibri" pitchFamily="34" charset="-120"/>
              </a:rPr>
              <a:t>– Charles Petzold: Code. The Hidden Language of Computer Hardware and Software</a:t>
            </a:r>
            <a:endParaRPr lang="en-US" sz="2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Università degli Studi di Napoli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Architettura dei Calcolatori - Storia della computazione</dc:title>
  <dc:subject>Lezione 03</dc:subject>
  <dc:creator>Raffaele Montella</dc:creator>
  <cp:lastModifiedBy>Raffaele Montella</cp:lastModifiedBy>
  <cp:revision>1</cp:revision>
  <dcterms:created xsi:type="dcterms:W3CDTF">2026-10-16T23:36:44Z</dcterms:created>
  <dcterms:modified xsi:type="dcterms:W3CDTF">2026-10-16T23:36:44Z</dcterms:modified>
</cp:coreProperties>
</file>