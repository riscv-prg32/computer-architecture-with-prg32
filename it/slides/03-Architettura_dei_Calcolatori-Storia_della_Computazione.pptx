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b99c8a4-94ae-bd63-87ee-23ff7cf9b307}">
          <p14:sldIdLst>
            <p14:sldId id="256"/>
            <p14:sldId id="257"/>
          </p14:sldIdLst>
        </p14:section>
        <p14:section name="Che cos'è l'informatica?" id="{e2781ae8-bfd9-832b-8e97-cd4e15a83690}">
          <p14:sldIdLst>
            <p14:sldId id="258"/>
            <p14:sldId id="259"/>
          </p14:sldIdLst>
        </p14:section>
        <p14:section name="Prima dell'elettricità" id="{2140df9e-db26-57e9-0e77-21516841ca75}">
          <p14:sldIdLst>
            <p14:sldId id="260"/>
            <p14:sldId id="261"/>
            <p14:sldId id="262"/>
            <p14:sldId id="263"/>
          </p14:sldIdLst>
        </p14:section>
        <p14:section name="Il Novecento" id="{46664731-8911-8a6d-f617-26161fdf4a8a}">
          <p14:sldIdLst>
            <p14:sldId id="264"/>
            <p14:sldId id="265"/>
            <p14:sldId id="266"/>
          </p14:sldIdLst>
        </p14:section>
        <p14:section name="Dagli home computer a RISC-V" id="{62c8b1fd-63cf-ce29-f6a2-ee982f6da2ac}">
          <p14:sldIdLst>
            <p14:sldId id="267"/>
            <p14:sldId id="268"/>
            <p14:sldId id="269"/>
          </p14:sldIdLst>
        </p14:section>
        <p14:section name="L'informatica come scienza applicata" id="{8bceef4c-a699-a129-f224-343b1760572a}">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volta scorsa avete eseguito un programma RISC-V. Questa lezione si chiede da dove viene quella macchina. Non è un elenco di date da memorizzare: ogni tappa della storia aggiunge un'idea, e ognuna di quelle idee è ancora dentro il chip del kit PRG32. La citazione in copertina è il primo programma più famoso, dal libro che ha presentato il linguaggio C: da allora ogni programmatore ha cominciato facendo dire ciao a una macchina, come avete fatto voi con HELLO PRG32.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Il primo è una definizione: che cos'è l'informatica, e perché non è la scienza dei computer. Il secondo e il terzo sono storici: collocare su una linea del tempo le macchine e le persone principali, e nominare le quattro unità dell'architettura di von Neumann, che ritroverete nella macchina che avete programmato. Il quarto spiega il nome del nostro processore: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parti da soppesare. Scienza applicata: usa i risultati delle scienze di base per risolvere problemi. Trattamento dell'informazione: l'oggetto è l'informazione, non la macchina. Procedure automatizzate: il trattamento è svolto da procedure eseguibili senza giudizio umano. La parola italiana lo dice direttamente, dal francese information automatique. L'inglese preferisce computer science, che mette lo strumento nel nome e crea un equivoco. Lo corregge una frase attribuita a Edsger Dijkstra: l'informatica non riguarda i computer più di quanto l'astronomia riguardi i telescopi.
DA COMPRENDERE OGGI: che cos'è l'informatica.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anime. L'informatica teorica studia i fondamenti: che cosa si può calcolare, a quale costo, e con quali algoritmi, dove un algoritmo è un insieme finito di operazioni che trasforma A in B. L'informatica applicata costruisce le tecnologie e i sistemi informativi che attraversano economia e società, con un costo da governare: il divario digitale tra chi ha accesso e competenze e chi no. Questo corso appartiene a entrambe: l'algebra di Boole è teoria, una cartuccia è applicazione.
DA COMPRENDERE OGGI: che cos'è l'informatica.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Nell'abaco, romano o cinese, un numero è una posizione di palline: i dati sono rappresentati fisicamente, e le operazioni sono movimenti della mano. La macchina di Anticitera, costruita in Grecia intorno al II o I secolo a.C., va oltre: un treno di ingranaggi calcola le posizioni del Sole e della Luna e prevede le eclissi. Un numero è l'angolo di una ruota, e il calcolo sta nei rapporti tra gli ingranaggi. Tenete la frase sotto le immagini: la rappresentazione viene prima del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porta strumenti, metodi e parole. Strumenti: l'astrolabio e il torqueto, per l'astronomia. Metodi: al-Kindi inventa l'analisi delle frequenze, la prima tecnica sistematica per violare un cifrario. Macchine: il flautista automatico dei fratelli Banu Musa e gli automi di al-Jazari sono guidati da sequenze che si possono cambiare, una prima forma di programma. E parole: algoritmo viene dal nome di al-Khwarizmi, algebra dal titolo del suo libro.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1600 al 1800 due linee di sviluppo corrono parallele. La prima è il calcolo meccanico: i logaritmi di Nepero, la macchina di Pascal che somma con il riporto automatico, quella di Leibniz per le quattro operazioni. La seconda è la logica: Leibniz descrive l'aritmetica binaria nel 1703, e nel 1854 Boole trasforma la logica in un'algebra, quella che studierete nelle Lezioni 08 e 09. Un terzo filo compare nel 1804: il telaio di Jacquard tesse un disegno memorizzato su schede perforate. Si cambiano le schede e la stessa macchina fa un'altra cosa.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le sue parti hanno nomi che dovrebbero già suonarvi familiari: un mulino che fa i conti, un'unità di controllo, un magazzino che conserva i numeri, un dispositivo di uscita; programmi e dati arrivano su schede perforate, come nel telaio. Non fu mai completata. Ada Lovelace scrisse per essa un metodo per calcolare i numeri di Bernoulli, pubblicato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svolgere qualunque calcolo, e con essa la nozione stessa di ciò che è calcolabile. Negli anni Trenta Nakajima e Shannon mostrano che l'algebra di Boole descrive i circuiti fatti di interruttori: è il ponte tra logica ed elettronica su cui poggia tutta la progettazione digitale, ed è la ragione per cui studierete l'algebra di Boole. Nel 1941 Konrad Zuse completa lo Z3, il primo calcolatore funzionante controllato da programma.
DA COMPRENDERE PIÙ AVANTI: l'algebra di Boole (si studia nella Lezione 08).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con un'idea decisiva: programma e dati stanno nella stessa memoria, quindi un programma è esso stesso un dato. Lo schema mostra le quattro unità: la memoria, l'unità di controllo che governa la sequenza delle operazioni, l'unità aritmetico-logica con il suo accumulatore, e ingresso e uscita. Ora riguardate la Lezione 02: la ALU ha eseguito addi, la memoria conteneva sia counter sia l'istruzione 0x00130313, il joystick e il display sono ingresso e uscita. Il chip del kit è ancora una macchina di von Neumann.
DA COMPRENDERE OGGI: l'architettura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un'immagine, dalle macchine della guerra ai calcolatori nascosti negli oggetti di ogni giorno. Leggete le didascalie da sinistra a destra: una macchina per un intero paese, poi per molti utenti, poi una per reparto, una a persona, una in tasca, e infine calcolatori ovunque. Ogni decennio ha reso il calcolatore più piccolo, più economico e più vicino alle persone. La frase in basso è il punto: nessuno di questi passi ha cambiato l'idea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come un dibattito tra due modi di progettare un processore. I primi microprocessori, e la famiglia x86 nata nel 1978, seguono l'approccio CISC: molte istruzioni, alcune assai complesse. Intorno al 1980 Berkeley e Stanford mostrano che poche istruzioni, semplici e regolari, danno macchine più veloci: è il RISC, insieme di istruzioni ridotto. ARM lo applica al basso consumo nel 1985. Nel 2010 il quinto progetto di Berkeley, RISC-V, compie il passo ulteriore di fare dell'insieme di istruzioni uno standard aperto, che l'Europa considera oggi strategico.
DA COMPRENDERE OGGI: RISC e un ISA aperto.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1971 l'Intel 4004 aveva 2300 transistor; il processore di un portatile oggi ne ha decine di miliardi, dieci milioni di volte tanti. Per cinquant'anni il numero è raddoppiato circa ogni due anni. È la legge di Moore, che è un'osservazione su un'industria e non una legge di natura, e i suoi limiti fisici sono ormai vicini. Quando altri transistor non arrivano più gratis, il progresso deve venire da architetture migliori. Per questo l'argomento di questo corso conta più oggi che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32 bit, trentadue registri, 160 MHz e uno spazio di indirizzamento di 4 GB. Eppure lo schermo ha la stessa dimensione, 320 per 200 pixel, e lo stesso è lo spirito: una macchina abbastanza piccola da essere capita interamente da una persona sola. La differenza che vi riguarda sta nella riga dell'insieme di istruzioni: proprietario allora, standard aperto adesso.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tempesta da sinistra a destra. È prima un fenomeno naturale. Fisica e matematica la descrivono con equazioni. L'informatica trasforma le equazioni in algoritmi e simulazioni. L'ingegneria fornisce i supercalcolatori, le reti e i sensori che li eseguono in modo affidabile. L'economia riceve previsioni e servizi che hanno valore per le persone. L'informatica è l'anello di mezzo: senza di essa le equazioni restano sulla carta. L'esempio è reale: le previsioni meteo-marine del Dipartimento si calcolano ogni giorno in questo modo.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gli armadi delle Research Computing Facilities dell'Ateneo, ciò che producono ogni giorno, le previsioni meteo di meteo@uniparthenope, e la pagina che elenca le macchine. Un cluster è fatto di molti calcolatori che lavorano insieme a un solo problema. Le idee sono quelle che esercitate sul kit: registri, memoria, istruzioni, soltanto in numero enormemente maggiore e con il problema aggiuntivo di far collaborare le parti. L'ultima lezione del corso torna su queste macchine, e l'evento di chiusura comprende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Cercate l'idea, non un dettaglio. Il numero dei registri e la durata di un'istruzione cambiano da un processore all'altro, e ingresso e uscita sono una delle quattro unità, non un'opzione. Ciò che definisce l'architettura è che le istruzioni stanno nella stessa memoria dei dati, e vengono prelevate ed eseguite una dopo l'altra.
La velocità è una proprietà di un particolare chip, non di un insieme di istruzioni, e RISC-V non è stata la prima RISC: RISC di Berkeley, MIPS e ARM sono venuti prima. Né è limitata ai microcontrollori. La novità è la licenza: l'insieme di istruzioni è uno standard aperto che chiunque può realizzare.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la computazione,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Notate che l'italiano ha due parole per la macchina, calcolatore ed elaboratore, entrambe più antiche del prestito computer. Stored program, programma memorizzato, è l'idea di von Neumann. L'unità di controllo e l'unità aritmetico-logica, ALU, sono due delle quattro unità, e le ritroverete nelle lezioni sul processore. High-performance computing, HPC, è il campo dei cluster che avete appena 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programmiamo ancora. RISC ha reso i processori abbastanza semplici da essere capiti per intero, e RISC-V li ha resi aperti. E l'informatica è ovunque, perché l'informazione appartiene a ogni campo. Le letture raccontano la stessa storia più distesamente. La prossima lezione compie il primo passo formale: come l'informazione diventa bit.
Stato di apprendimento, riepilogo.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11" name="Shape 8"/>
          <p:cNvSpPr/>
          <p:nvPr/>
        </p:nvSpPr>
        <p:spPr>
          <a:xfrm>
            <a:off x="6569405" y="91440"/>
            <a:ext cx="5073650" cy="274320"/>
          </a:xfrm>
          <a:prstGeom prst="rect">
            <a:avLst/>
          </a:prstGeom>
          <a:solidFill>
            <a:srgbClr val="F3E8FF"/>
          </a:solidFill>
          <a:ln w="12700">
            <a:solidFill>
              <a:srgbClr val="7E22CE"/>
            </a:solidFill>
            <a:prstDash val="dash"/>
          </a:ln>
        </p:spPr>
      </p:sp>
      <p:sp>
        <p:nvSpPr>
          <p:cNvPr id="12" name="Shape 9"/>
          <p:cNvSpPr/>
          <p:nvPr/>
        </p:nvSpPr>
        <p:spPr>
          <a:xfrm>
            <a:off x="6596837" y="128016"/>
            <a:ext cx="45720" cy="45720"/>
          </a:xfrm>
          <a:prstGeom prst="rect">
            <a:avLst/>
          </a:prstGeom>
          <a:solidFill>
            <a:srgbClr val="7E22CE"/>
          </a:solidFill>
          <a:ln w="12700">
            <a:solidFill>
              <a:srgbClr val="7E22CE"/>
            </a:solidFill>
            <a:prstDash val="solid"/>
          </a:ln>
        </p:spPr>
      </p:sp>
      <p:sp>
        <p:nvSpPr>
          <p:cNvPr id="13" name="Shape 10"/>
          <p:cNvSpPr/>
          <p:nvPr/>
        </p:nvSpPr>
        <p:spPr>
          <a:xfrm>
            <a:off x="6596837" y="205740"/>
            <a:ext cx="45720" cy="45720"/>
          </a:xfrm>
          <a:prstGeom prst="rect">
            <a:avLst/>
          </a:prstGeom>
          <a:solidFill>
            <a:srgbClr val="7E22CE"/>
          </a:solidFill>
          <a:ln w="12700">
            <a:solidFill>
              <a:srgbClr val="7E22CE"/>
            </a:solidFill>
            <a:prstDash val="solid"/>
          </a:ln>
        </p:spPr>
      </p:sp>
      <p:sp>
        <p:nvSpPr>
          <p:cNvPr id="14" name="Shape 11"/>
          <p:cNvSpPr/>
          <p:nvPr/>
        </p:nvSpPr>
        <p:spPr>
          <a:xfrm>
            <a:off x="6596837"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6697421" y="128016"/>
            <a:ext cx="201168" cy="201168"/>
          </a:xfrm>
          <a:prstGeom prst="rect">
            <a:avLst/>
          </a:prstGeom>
        </p:spPr>
      </p:pic>
      <p:sp>
        <p:nvSpPr>
          <p:cNvPr id="16" name="Text 12"/>
          <p:cNvSpPr txBox="1"/>
          <p:nvPr/>
        </p:nvSpPr>
        <p:spPr>
          <a:xfrm>
            <a:off x="6953453" y="91440"/>
            <a:ext cx="465302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l'algebra di Boole</a:t>
            </a:r>
            <a:pPr indent="0" marL="0">
              <a:buNone/>
            </a:pPr>
            <a:r>
              <a:rPr lang="en-US" sz="1100" b="1" dirty="0">
                <a:solidFill>
                  <a:srgbClr val="6B21A8"/>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329373" y="91440"/>
            <a:ext cx="4313682" cy="274320"/>
          </a:xfrm>
          <a:prstGeom prst="rect">
            <a:avLst/>
          </a:prstGeom>
          <a:solidFill>
            <a:srgbClr val="E0F2FE"/>
          </a:solidFill>
          <a:ln w="12700">
            <a:solidFill>
              <a:srgbClr val="0369A1"/>
            </a:solidFill>
            <a:prstDash val="solid"/>
          </a:ln>
        </p:spPr>
      </p:sp>
      <p:sp>
        <p:nvSpPr>
          <p:cNvPr id="23" name="Shape 21"/>
          <p:cNvSpPr/>
          <p:nvPr/>
        </p:nvSpPr>
        <p:spPr>
          <a:xfrm>
            <a:off x="7329373"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5" name="Text 22"/>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RISC e un ISA aperto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2026-10-16T16:46:57Z</dcterms:created>
  <dcterms:modified xsi:type="dcterms:W3CDTF">2026-10-16T16:46:57Z</dcterms:modified>
</cp:coreProperties>
</file>