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a8effd2-ad62-134e-238d-fe5693c98767}">
          <p14:sldIdLst>
            <p14:sldId id="256"/>
            <p14:sldId id="257"/>
          </p14:sldIdLst>
        </p14:section>
        <p14:section name="Che cos'è l'informatica?" id="{4bb739ef-9d51-ec9c-2509-c9949a72ad50}">
          <p14:sldIdLst>
            <p14:sldId id="258"/>
            <p14:sldId id="259"/>
          </p14:sldIdLst>
        </p14:section>
        <p14:section name="Prima dell'elettricità" id="{95f94a5d-a15e-fdd7-0542-97f5434cc5e2}">
          <p14:sldIdLst>
            <p14:sldId id="260"/>
            <p14:sldId id="261"/>
            <p14:sldId id="262"/>
            <p14:sldId id="263"/>
          </p14:sldIdLst>
        </p14:section>
        <p14:section name="Il Novecento" id="{4e4671cb-4f5d-a030-68d0-e66a7df4cc3d}">
          <p14:sldIdLst>
            <p14:sldId id="264"/>
            <p14:sldId id="265"/>
            <p14:sldId id="266"/>
          </p14:sldIdLst>
        </p14:section>
        <p14:section name="Dagli home computer a RISC-V" id="{259e3cb3-c032-9c02-84c3-2fbe0d98ceb5}">
          <p14:sldIdLst>
            <p14:sldId id="267"/>
            <p14:sldId id="268"/>
            <p14:sldId id="269"/>
          </p14:sldIdLst>
        </p14:section>
        <p14:section name="L'informatica come scienza applicata" id="{ece2fe9b-052b-c738-35f8-e77d746a38e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eseguito un programma RISC-V; questa si chiede da dove venga quella macchina. Non è una cronologia da memorizzare. La storia è presentata come una sequenza di contributi concettuali, ciascuno dei quali aggiunge un'idea ancora incorporata nel chip del kit PRG32: la rappresentazione fisica, la procedura meccanizzata, il programma come dato, l'insieme ridotto di istruzioni, lo standard aperto. La citazione è il primo programma canonico, dal libro che ha introdotto il linguaggio C: da allora ogni programmatore comincia facendo dire ciao a una macchina, come lo studente ha fatto con HELLO PRG32.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Il primo è concettuale: definire l'informatica e spiegare perché non è la scienza dei calcolatori. Il secondo e il terzo sono storici: collocare su una linea del tempo le principali macchine e persone, e nominare le quattro unità dell'architettura di von Neumann, che si riconosceranno nella macchina già programmata. Il quarto spiega il nome del processore usato nel corso: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componenti, ciascuna da soppesare. Scienza applicata: l'informatica impiega i risultati delle scienze di base per risolvere problemi. Trattamento dell'informazione: il suo oggetto è l'informazione, non la macchina. Procedure automatiche: il trattamento è svolto da procedure che non richiedono giudizio umano nella loro esecuzione. La parola italiana informatica, dal francese information automatique, lo esprime direttamente; l'inglese computer science mette lo strumento nel nome e invita a un equivoco, che l'osservazione attribuita a Edsger Dijkstra corregge: l'informatica non riguarda i calcolatori più di quanto l'astronomia riguardi i telescopi.
DA COMPRENDERE OGGI: che cos'è l'informatica.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dimensioni complementari. L'informatica teorica ne studia i fondamenti: che cosa si può calcolare, a quale costo e con quali algoritmi, essendo un algoritmo un insieme finito di operazioni che trasforma un ingresso A in un'uscita B. L'informatica applicata costruisce le tecnologie e i sistemi informativi che permeano l'economia e la società, e deve gestirne i costi, tra cui il divario digitale tra chi ha accesso e competenze e chi no. Questo corso partecipa di entrambe: l'algebra di Boole è teoria, una cartuccia è applicazione, e il corso è costruito perché l'una illumini l'altra.
DA COMPRENDERE OGGI: che cos'è l'informatica.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illustrano la prima idea. Nell'abaco, romano o cinese, un numero è una configurazione di palline: i dati sono rappresentati fisicamente e le operazioni sono movimenti della mano. Il meccanismo di Antikythera, costruito in Grecia intorno al II o I secolo a.C., va oltre: un treno di ingranaggi calcola le posizioni del Sole e della Luna e prevede le eclissi. Un numero è l'angolo di una ruota, e il calcolo è incorporato nei rapporti tra gli ingranaggi. La frase sotto le immagini enuncia il principio che la prossima lezione svilupperà: la rappresentazione precede il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contribuisce strumenti, metodi e lessico. Strumenti: l'astrolabio e il torquetum, per l'astronomia. Metodi: al-Kindi elabora l'analisi delle frequenze, la prima tecnica sistematica di crittoanalisi. Macchine: il suonatore di flauto automatico dei fratelli Banu Musa e gli automi di al-Jazari sono guidati da sequenze intercambiabili, una forma precoce di programma. Lessico: algoritmo deriva dal nome di al-Khwarizmi, e algebra dal titolo del suo trattato.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1600 e il 1800 corrono in parallelo due linee di sviluppo. La prima è il calcolo meccanico: i logaritmi di Napier, la macchina di Pascal che somma con propagazione automatica del riporto, la macchina di Leibniz per le quattro operazioni. La seconda è la logica: Leibniz descrive l'aritmetica binaria nel 1703, e nel 1854 Boole riformula la logica come un'algebra, proprio l'algebra studiata nelle Lezioni 08 e 09. Un terzo filo compare nel 1804: il telaio di Jacquard tesse un disegno memorizzato su schede perforate. Cambiando le schede, la stessa macchina svolge un compito diverso, che è l'essenza della programmabilità.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i suoi componenti portano nomi che dovrebbero già suonare familiari: un mulino che esegue l'aritmetica, un meccanismo di controllo, un magazzino che conserva i numeri e un dispositivo di uscita, con programmi e dati forniti su schede perforate come nel telaio. Non fu mai completata. Per essa Ada Lovelace scrisse una procedura per calcolare i numeri di Bernoulli, pubblicata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eseguire qualsiasi calcolo, e con ciò dà un significato preciso alla nozione di calcolabilità. Negli anni Trenta Nakajima e Shannon mostrano che l'algebra di Boole descrive i circuiti costruiti con interruttori; è il ponte tra logica ed elettronica su cui poggia tutto il progetto digitale, e la ragione per cui l'algebra di Boole occupa due lezioni di questo corso. Nel 1941 Konrad Zuse completa lo Z3, il primo calcolatore funzionante controllato da un programma.
DA COMPRENDERE PIÙ AVANTI: l'algebra di Boole (si studia nella Lezione 08).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fondata su un'idea decisiva: programma e dati risiedono nella stessa memoria, così che un programma è esso stesso un dato. Lo schema mostra le quattro unità: la memoria; l'unità di controllo, che governa la sequenza delle operazioni; l'unità aritmetico-logica con il suo accumulatore; e ingresso e uscita. La Lezione 02 si può ora rileggere in questi termini: la ALU ha eseguito addi, la memoria conteneva sia counter sia la parola d'istruzione 0x00130313, e joystick e display sono ingresso e uscita. Il chip del kit resta, nell'essenziale, una macchina di von Neumann.
DA COMPRENDERE OGGI: l'architettura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un'unica immagine, dalle macchine della Seconda guerra mondiale ai calcolatori incorporati negli oggetti di tutti i giorni. Lette da sinistra a destra, le didascalie tracciano un progressivo cambiamento di scala: una macchina per una nazione, poi per molti utenti, poi una per dipartimento, una per persona, una in tasca, e infine calcolatori ovunque. Ogni decennio ha reso il calcolatore più piccolo, più economico e più vicino ai suoi utenti. La frase in fondo trae la conclusione: nessuna di queste transizioni ha alterato il principio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va letta come un dibattito tra due filosofie di progetto del processore. I primi microprocessori, e la famiglia x86 introdotta nel 1978, seguono l'approccio CISC: molte istruzioni, alcune di notevole complessità. Intorno al 1980 gruppi di ricerca a Berkeley e Stanford mostrarono che un piccolo numero di istruzioni semplici e regolari produce macchine più veloci; è il RISC, il calcolatore con insieme ridotto di istruzioni. ARM applicò l'approccio al progetto a basso consumo nel 1985. Nel 2010 il quinto progetto di Berkeley, RISC-V, fece l'ulteriore passo di rendere l'architettura dell'insieme di istruzioni uno standard aperto, che l'Europa considera oggi strategico.
DA COMPRENDERE OGGI: RISC e un ISA aperto.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1971 l'Intel 4004 conteneva 2.300 transistor; un processore contemporaneo per portatili ne contiene decine di miliardi, circa dieci milioni di volte tanti. Per cinque decenni il numero è raddoppiato approssimativamente ogni due anni. È la legge di Moore, un'osservazione empirica su un'industria più che una legge di natura, e i suoi limiti fisici sono ormai vicini. Quando i transistor aggiuntivi non arrivano più senza costo, le prestazioni devono venire da architetture migliori. È per questo che l'argomento di questo corso conta oggi più di quanto contasse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un processore a 32 bit con trentadue registri, un clock a 160 MHz e uno spazio di indirizzamento di 4 GB. Eppure lo schermo ha la stessa risoluzione, 320 per 200 pixel, e lo stesso spirito: una macchina abbastanza piccola da essere compresa per intero da una sola persona. La differenza più rilevante per lo studente sta nella riga dell'insieme di istruzioni: proprietario allora, standard aperto oggi.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perturbazione seguita da sinistra a destra illustra la posizione dell'informatica. È prima un fenomeno naturale. La fisica e la matematica la descrivono con equazioni. L'informatica trasforma le equazioni in algoritmi e simulazioni. L'ingegneria fornisce i supercalcolatori, le reti e i sensori che le eseguono in modo affidabile. L'economia riceve previsioni e servizi di valore per le persone. L'informatica è l'anello intermedio indispensabile: senza di essa le equazioni restano sulla carta. L'esempio non è ipotetico: le previsioni meteorologiche e del mare del Dipartimento sono prodotte ogni giorno esattamente così.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i rack delle Research Computing Facilities dell'Ateneo, il loro prodotto quotidiano, le previsioni di meteo@uniparthenope, e la pagina che elenca le macchine. Un cluster è un insieme di calcolatori che cooperano su un unico problema. I concetti sono quelli praticati sul kit, cioè registri, memoria e istruzioni, su scala enormemente più grande e con il problema aggiuntivo di coordinare le parti. La Lezione 24 torna su queste macchine, e l'evento di chiusura del corso ne include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 cercata l'idea che definisce l'architettura, non un dettaglio. Il numero dei registri e la durata di un'istruzione variano da un processore all'altro, e ingresso e uscita sono una delle quattro unità, non un'opzione. Ciò che definisce l'architettura è che le istruzioni risiedono nella stessa memoria dei dati e sono prelevate ed eseguite in sequenza.
Per la seconda, la velocità è una proprietà di un particolare chip, non di un insieme di istruzioni, e RISC-V non è stato il primo progetto RISC: Berkeley RISC, MIPS e ARM lo hanno preceduto. Né è confinato ai microcontrollori. Ciò che è nuovo è la licenza: l'insieme di istruzioni è uno standard aperto che chiunque può implementare.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il calcolo,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L'italiano ha due parole per la macchina, calcolatore ed elaboratore, entrambe più antiche del prestito computer. Programma memorizzato nomina l'idea di von Neumann. L'unità di controllo e l'unità aritmetico-logica, ALU, sono due delle quattro unità, e ricompaiono nelle lezioni sul processore. Il calcolo ad alte prestazioni, HPC, è il campo dei cluster appena mostrati.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si programma ancora oggi. Il RISC ha reso i processori abbastanza semplici da essere compresi nel loro insieme, e RISC-V li ha resi aperti. E l'informatica è pervasiva, perché l'informazione appartiene a ogni campo. Le letture sviluppano la stessa storia più distesamente. La prossima lezione compie il primo passo formale: come l'informazione diventa bit.
Stato di apprendimento, riepilogo.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11" name="Shape 8"/>
          <p:cNvSpPr/>
          <p:nvPr/>
        </p:nvSpPr>
        <p:spPr>
          <a:xfrm>
            <a:off x="6569405" y="91440"/>
            <a:ext cx="5073650" cy="274320"/>
          </a:xfrm>
          <a:prstGeom prst="rect">
            <a:avLst/>
          </a:prstGeom>
          <a:solidFill>
            <a:srgbClr val="F3E8FF"/>
          </a:solidFill>
          <a:ln w="12700">
            <a:solidFill>
              <a:srgbClr val="7E22CE"/>
            </a:solidFill>
            <a:prstDash val="dash"/>
          </a:ln>
        </p:spPr>
      </p:sp>
      <p:sp>
        <p:nvSpPr>
          <p:cNvPr id="12" name="Shape 9"/>
          <p:cNvSpPr/>
          <p:nvPr/>
        </p:nvSpPr>
        <p:spPr>
          <a:xfrm>
            <a:off x="6596837" y="128016"/>
            <a:ext cx="45720" cy="45720"/>
          </a:xfrm>
          <a:prstGeom prst="rect">
            <a:avLst/>
          </a:prstGeom>
          <a:solidFill>
            <a:srgbClr val="7E22CE"/>
          </a:solidFill>
          <a:ln w="12700">
            <a:solidFill>
              <a:srgbClr val="7E22CE"/>
            </a:solidFill>
            <a:prstDash val="solid"/>
          </a:ln>
        </p:spPr>
      </p:sp>
      <p:sp>
        <p:nvSpPr>
          <p:cNvPr id="13" name="Shape 10"/>
          <p:cNvSpPr/>
          <p:nvPr/>
        </p:nvSpPr>
        <p:spPr>
          <a:xfrm>
            <a:off x="6596837" y="205740"/>
            <a:ext cx="45720" cy="45720"/>
          </a:xfrm>
          <a:prstGeom prst="rect">
            <a:avLst/>
          </a:prstGeom>
          <a:solidFill>
            <a:srgbClr val="7E22CE"/>
          </a:solidFill>
          <a:ln w="12700">
            <a:solidFill>
              <a:srgbClr val="7E22CE"/>
            </a:solidFill>
            <a:prstDash val="solid"/>
          </a:ln>
        </p:spPr>
      </p:sp>
      <p:sp>
        <p:nvSpPr>
          <p:cNvPr id="14" name="Shape 11"/>
          <p:cNvSpPr/>
          <p:nvPr/>
        </p:nvSpPr>
        <p:spPr>
          <a:xfrm>
            <a:off x="6596837"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6697421" y="128016"/>
            <a:ext cx="201168" cy="201168"/>
          </a:xfrm>
          <a:prstGeom prst="rect">
            <a:avLst/>
          </a:prstGeom>
        </p:spPr>
      </p:pic>
      <p:sp>
        <p:nvSpPr>
          <p:cNvPr id="16" name="Text 12"/>
          <p:cNvSpPr txBox="1"/>
          <p:nvPr/>
        </p:nvSpPr>
        <p:spPr>
          <a:xfrm>
            <a:off x="6953453" y="91440"/>
            <a:ext cx="465302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l'algebra di Boole</a:t>
            </a:r>
            <a:pPr indent="0" marL="0">
              <a:buNone/>
            </a:pPr>
            <a:r>
              <a:rPr lang="en-US" sz="1100" b="1" dirty="0">
                <a:solidFill>
                  <a:srgbClr val="6B21A8"/>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329373" y="91440"/>
            <a:ext cx="4313682" cy="274320"/>
          </a:xfrm>
          <a:prstGeom prst="rect">
            <a:avLst/>
          </a:prstGeom>
          <a:solidFill>
            <a:srgbClr val="E0F2FE"/>
          </a:solidFill>
          <a:ln w="12700">
            <a:solidFill>
              <a:srgbClr val="0369A1"/>
            </a:solidFill>
            <a:prstDash val="solid"/>
          </a:ln>
        </p:spPr>
      </p:sp>
      <p:sp>
        <p:nvSpPr>
          <p:cNvPr id="23" name="Shape 21"/>
          <p:cNvSpPr/>
          <p:nvPr/>
        </p:nvSpPr>
        <p:spPr>
          <a:xfrm>
            <a:off x="7329373"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5" name="Text 22"/>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RISC e un ISA aperto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2026-10-16T20:22:25Z</dcterms:created>
  <dcterms:modified xsi:type="dcterms:W3CDTF">2026-10-16T20:22:25Z</dcterms:modified>
</cp:coreProperties>
</file>