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a8b11ff9-e5a7-80fa-14cf-6d4e2fbcdbec}">
          <p14:sldIdLst>
            <p14:sldId id="256"/>
            <p14:sldId id="257"/>
          </p14:sldIdLst>
        </p14:section>
        <p14:section name="I listati" id="{800cb6d6-5586-8a70-f6f1-c6be00bb0974}">
          <p14:sldIdLst>
            <p14:sldId id="258"/>
            <p14:sldId id="259"/>
            <p14:sldId id="260"/>
            <p14:sldId id="261"/>
          </p14:sldIdLst>
        </p14:section>
        <p14:section name="Il programma completo" id="{6aad8cb5-b72d-30f7-fe41-f3b2bfe1b6e4}">
          <p14:sldIdLst>
            <p14:sldId id="262"/>
            <p14:sldId id="263"/>
            <p14:sldId id="264"/>
          </p14:sldIdLst>
        </p14:section>
        <p14:section name="Eseguire e provare" id="{19c78d63-409e-24fa-ef72-4eb857103020}">
          <p14:sldIdLst>
            <p14:sldId id="265"/>
            <p14:sldId id="266"/>
            <p14:sldId id="267"/>
            <p14:sldId id="268"/>
            <p14:sldId id="269"/>
          </p14:sldIdLst>
        </p14:section>
        <p14:section name="Esercizi" id="{4ae38362-b795-2a4f-5f9c-7dd7cac08495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13. La presentazione della lezione contiene i concetti; questa contiene tutto ciò che si scrive e si esegue: i listati con la loro spiegazione, il programma completo, che cosa mostra, e il modo di provarlo su ciascuno dei tre host.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contiene la presentazione, nell'ordine delle slide. Il programma della lezione è un file che potete compilare ed eseguire così com'è: partite da lì, e tornate ai listati per capire ogni parte. Il programma di questa lezione è ~/arc12/code/l13.S;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~/arc12/code/l13.S;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gioco con una schermata del titolo, un campo di gioco e una schermata di fine partita. La variabile state contiene uno di tre valori. game_update legge il pulsante A e lo stato presente: in TITLE, premere A porta a PLAY; in OVER, premere A riporta a TITLE; altrimenti non cambia nulla. Quindi l'effetto di A dipende dallo stato. È una macchina a stati: update calcola lo stato prossimo dallo stato presente e dall'ingresso, lo stato sopravvive in memoria da un frame all'altro, e draw mostra una schermata per ogni stato.
Per il docente: Scritto per questa lezione; il gioco finale del libro di PRG32 ha la stessa struttura. Bug da discutere: tenendo premuto A nella schermata OVER si va a TITLE e, un frame dopo, a PLAY. Per correggerlo bisogna ricordare il valore precedente del pulsante: un bit di stato in più.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gioco del riscaldamento disegnato come diagramma: tre stati, con A che porta da TITLE a PLAY e da OVER a TITLE, e la fine delle vite che porta da PLAY a OVER. Gli anelli su ogni stato sono i casi in cui non cambia nulla. La tabella sotto elenca, per ogni stato, l'ingresso che lo cambia, lo stato prossimo e l'uscita disegnata. Disegnate il diagramma prima di scrivere il codice: per un gioco è l'abitudine di progetto più utile che ci sia.
Per il docente: Una macchina di Moore con tre stati: basterebbero due bit di stato, il programma usa una parola intera. Disegnare il diagramma prima di scrivere il codice è l'abitudine di progetto più utile per un gioco.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program counter, PC, è il registro che contiene l'indirizzo dell'istruzione in esecuzione. Il suo valore prossimo è calcolato da una piccola rete: un sommatore dà PC più 4, l'indirizzo dell'istruzione seguente, e un multiplexer sceglie tra quello e la destinazione di un salto. A ogni fronte di clock il valore prossimo diventa quello presente. Ha esattamente la forma dell'architettura generale. Con il solo percorso più 4 è un contatore, la più semplice delle macchine a stati.
Per il docente: Il comparatore della Lezione 11 produce «salto eseguito?» per beq e bne. Le istruzioni distano 4 byte; con l'estensione compressa il sommatore aggiunge 2 per le istruzioni a 16 bit.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L'intero processore è una macchina sequenziale. Il suo stato è il program counter, i trentadue registri e la memoria. Il suo ingresso è l'istruzione che si trova all'indirizzo contenuto nel PC, con i dati che legge. La rete dello stato prossimo è fatta di decodificatori, multiplexer e della ALU. Al fronte del clock i registri indicati dall'istruzione prendono i nuovi valori. Eseguire un programma è una passeggiata tra gli stati di una macchina a stati molto grande, e l'esecuzione passo-passo in PRG32-QT mostra quella passeggiata uno stato alla volta.
Per il docente: È il ponte verso le lezioni sul processore: datapath (la parte combinatoria e i registri) e controllo (a sua volta una macchina a stati finiti nei progetti multiciclo e microprogrammati).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code/l13.S,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code/l13.S,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code/l13.S,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mostra il programma quando gira, e che cosa premere. Prevedete prima di eseguire: se lo schermo è diverso da questa immagine, la differenza è informazione. L'immagine è stata scritta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rapida: PRG32-QT sul vostro computer. Quattro passi, ciascuno con il suo comando. PRG32-QT si comporta come una scheda sulla porta 8080, ed è per questo che il comando di caricamento dice esp32c6. Con la modalità debug abilitata potete fermarvi su qualsiasi istruzione e leggere registri e memoria.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qemu. Caricate la cartuccia mentre QEMU è chiuso. Il firmware si apre sul menu Setup: scegliete Run Cartridge e lo slot. Ricordate che la tastiera è letta dal terminale, non dalla finestra con l'immagine.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kit. Il firmware si scrive una volta, via USB; dopo, le cartucce viaggiano sul Wi-Fi. Il comando di caricamento è quello usato per PRG32-QT con l'indirizzo della scheda. È l'unico host che i test automatici non eseguono: provatelo, e riferite ciò che vedete.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comuni, che cosa significa ciascuno, e che cosa fare. Leggete il messaggio prima di cambiare qualcosa: quasi sempre nomina la causa.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esercizi. Progettate una macchina che dà 1 quando gli ultimi due ingressi erano entrambi 1, come macchina di Moore e come macchina di Mealy, e confrontate il numero di stati. Completate un diagramma temporale di un latch SR. Sintetizzate un contatore modulo 3 con due flip-flop D, e riflettete sul quarto stato, non usato. Aggiungete uno stato PAUSE al gioco del riscaldamento, disegnando prima il diagramma. E fate funzionare il pulsante A solo quando viene premuto di nuovo: è il rilevamento del fronte in software.
Per il docente: Esercizio 1: a Moore servono tre stati (nessun 1 visto, un 1 visto, due o più), a Mealy due. Esercizio 3: D1 = Q0, D0 = Q1'Q0' con lo stato 11 come indifferenza, oppure progettato per tornare a 00. Esercizio 5: si tiene prev in memoria; pressed_now = buttons AND NOT prev; poi si memorizza buttons in prev.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13: Macchine sequenziali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Macchine sequenziali: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2" name="Image 0" descr="/Users/raffaelemontella/devel/riscv-prg32/computer-architecture-with-prg32/tools/assets/game_pacm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095" y="4251960"/>
            <a:ext cx="2438400" cy="1828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listato della Lezione 13: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code/l13.S, 65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gioco è una macchina a stati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TITLE, 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PLAY,  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OVER,  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game_update: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buttons: the INPUT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the present STATE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t2, a0, 0x10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button 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t3, TITLE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  t1, t3, 1f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t2, done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TITLE: stay until A is pressed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PLAY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TITLE --A--&gt; PLAY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store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li   t3, OVER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  t1, t3, done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PLAY is handled elsewhere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t2, done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OVER: stay until A is pressed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TITLE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OVER --A--&gt; TITLE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store: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next state becomes the present state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done: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Premere A avvia il gioco dalla schermata del titolo e vi ritorna dalla schermata di fine partita: l'effetto dipende dallo stato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stato è una parola in memoria che sopravvive da un frame all'altro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calcola lo stato prossimo dallo stato presente e dall'ingresso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mostra una schermata diversa per ogni stato: l'uscita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riscaldamento come diagramma degli stati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3017520"/>
          </a:xfrm>
          <a:prstGeom prst="roundRect">
            <a:avLst>
              <a:gd name="adj" fmla="val 2424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71363" y="1463040"/>
            <a:ext cx="5848969" cy="2926080"/>
          </a:xfrm>
          <a:prstGeom prst="rect">
            <a:avLst/>
          </a:prstGeom>
        </p:spPr>
      </p:pic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61772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017520"/>
                <a:gridCol w="3017520"/>
                <a:gridCol w="304769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Stato presente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Ingresso che lo cambia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Stato prossimo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Uscita (draw)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TITLE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premuto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PLAY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schermata del titolo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PLAY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vite = 0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OVER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campo di gioco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OVER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premuto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TITLE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punteggio finale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 counter: un registro in un anello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697480"/>
            <a:ext cx="2011680" cy="1097280"/>
          </a:xfrm>
          <a:prstGeom prst="roundRect">
            <a:avLst>
              <a:gd name="adj" fmla="val 5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registro, 32 bit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114800" y="1783080"/>
            <a:ext cx="1463040" cy="914400"/>
          </a:xfrm>
          <a:prstGeom prst="roundRect">
            <a:avLst>
              <a:gd name="adj" fmla="val 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sommatore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+ 4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2423160"/>
            <a:ext cx="1005840" cy="1737360"/>
          </a:xfrm>
          <a:prstGeom prst="roundRect">
            <a:avLst>
              <a:gd name="adj" fmla="val 5455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MUX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3931920" y="3703320"/>
            <a:ext cx="1828800" cy="822960"/>
          </a:xfrm>
          <a:prstGeom prst="roundRect">
            <a:avLst>
              <a:gd name="adj" fmla="val 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destinazione del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salto, dalla ALU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 flipV="1">
            <a:off x="2953512" y="2240280"/>
            <a:ext cx="1133856" cy="731520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605272" y="2240280"/>
            <a:ext cx="768096" cy="548640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 flipV="1">
            <a:off x="5788152" y="3794760"/>
            <a:ext cx="585216" cy="320040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434072" y="3291840"/>
            <a:ext cx="429768" cy="0"/>
          </a:xfrm>
          <a:prstGeom prst="line">
            <a:avLst/>
          </a:prstGeom>
          <a:noFill/>
          <a:ln w="28575">
            <a:solidFill>
              <a:srgbClr val="B23A4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63840" y="3291840"/>
            <a:ext cx="0" cy="1783080"/>
          </a:xfrm>
          <a:prstGeom prst="line">
            <a:avLst/>
          </a:prstGeom>
          <a:noFill/>
          <a:ln w="28575">
            <a:solidFill>
              <a:srgbClr val="B23A4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H="1">
            <a:off x="1920240" y="5074920"/>
            <a:ext cx="5943600" cy="0"/>
          </a:xfrm>
          <a:prstGeom prst="line">
            <a:avLst/>
          </a:prstGeom>
          <a:noFill/>
          <a:ln w="28575">
            <a:solidFill>
              <a:srgbClr val="B23A4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920240" y="3822192"/>
            <a:ext cx="0" cy="1252728"/>
          </a:xfrm>
          <a:prstGeom prst="line">
            <a:avLst/>
          </a:prstGeom>
          <a:noFill/>
          <a:ln w="28575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3657600" y="5120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 prossimo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1920240" y="2057400"/>
            <a:ext cx="0" cy="612648"/>
          </a:xfrm>
          <a:prstGeom prst="line">
            <a:avLst/>
          </a:prstGeom>
          <a:noFill/>
          <a:ln w="25400">
            <a:solidFill>
              <a:srgbClr val="2E4A62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1371600" y="17373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clock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 flipV="1">
            <a:off x="6903720" y="4187952"/>
            <a:ext cx="0" cy="521208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6035040" y="472744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salto eseguito?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0" y="146951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613648" y="1417320"/>
            <a:ext cx="30294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PC contiene l'indirizzo dell'istruzione in esecuzione: è lo stato che dice dove si trova il programma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229600" y="254203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613648" y="2489835"/>
            <a:ext cx="30294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Stato prossimo: PC + 4 per un'istruzione normale, oppure la destinazione quando un salto viene eseguito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229600" y="361454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613648" y="3562350"/>
            <a:ext cx="30294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Stato presente, rete combinatoria, stato prossimo, clock: esattamente l'architettura generale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229600" y="468706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613648" y="4634865"/>
            <a:ext cx="3029407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il solo percorso + 4 è un contatore: la più semplice macchina a stati finiti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8229600" y="552716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613648" y="5474970"/>
            <a:ext cx="3029407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first_update della Lezione 02 era la stessa macchina in software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processore è una macchina sequenziale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74520"/>
            <a:ext cx="2499284" cy="2468880"/>
          </a:xfrm>
          <a:prstGeom prst="roundRect">
            <a:avLst>
              <a:gd name="adj" fmla="val 296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2057400"/>
            <a:ext cx="2224964" cy="685800"/>
          </a:xfrm>
          <a:prstGeom prst="roundRect">
            <a:avLst>
              <a:gd name="adj" fmla="val 10667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Stato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880360"/>
            <a:ext cx="22249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 counter, i trentadue registri, la memoria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3093644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13684" y="1874520"/>
            <a:ext cx="2499284" cy="2468880"/>
          </a:xfrm>
          <a:prstGeom prst="roundRect">
            <a:avLst>
              <a:gd name="adj" fmla="val 296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50844" y="2057400"/>
            <a:ext cx="2224964" cy="685800"/>
          </a:xfrm>
          <a:prstGeom prst="roundRect">
            <a:avLst>
              <a:gd name="adj" fmla="val 10667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Ingresso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3550844" y="2880360"/>
            <a:ext cx="22249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l'istruzione all'indirizzo contenuto nel PC, e i dati che legge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958688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78728" y="1874520"/>
            <a:ext cx="2499284" cy="2468880"/>
          </a:xfrm>
          <a:prstGeom prst="roundRect">
            <a:avLst>
              <a:gd name="adj" fmla="val 296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15888" y="2057400"/>
            <a:ext cx="2224964" cy="685800"/>
          </a:xfrm>
          <a:prstGeom prst="roundRect">
            <a:avLst>
              <a:gd name="adj" fmla="val 10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 dello stato prossimo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6415888" y="2880360"/>
            <a:ext cx="22249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decodificatori, multiplexer e ALU calcolano i nuovi valori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823731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3771" y="1874520"/>
            <a:ext cx="2499284" cy="2468880"/>
          </a:xfrm>
          <a:prstGeom prst="roundRect">
            <a:avLst>
              <a:gd name="adj" fmla="val 296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80931" y="2057400"/>
            <a:ext cx="2224964" cy="685800"/>
          </a:xfrm>
          <a:prstGeom prst="roundRect">
            <a:avLst>
              <a:gd name="adj" fmla="val 10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 di clock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9280931" y="2880360"/>
            <a:ext cx="22249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registri indicati dall'istruzione prendono i nuovi valori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548640" y="470916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4800600"/>
            <a:ext cx="105457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Eseguire un programma non è che una lunga passeggiata tra gli stati di una macchina a stati finiti molto grande, un fronte di clock alla volta. L'esecuzione passo-passo in PRG32-QT mostra quella passeggiata uno stato dopo l'altro.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l13.S (1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13: Sequential Machines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l13.S: a game is a state machine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one colour per state. Blue is TITLE: press A and the screen turns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green, PLAY. (OVER, red, is reached only when a game ends: this warm-up has no game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yet. Hold A on the red screen and you meet the bug discussed in the lecture.)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l13.S --portable \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l13 --name l13 --out l13.prg32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TITLE, 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PLAY,  1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OVER,  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l13_init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l13_update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l13_draw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l13_init: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l13.S (2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l13_update: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game_update: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buttons: the INPUT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the present STATE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t2, a0, 0x10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button A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t3, TITLE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  t1, t3, 1f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t2, done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TITLE: stay until A is pressed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PLAY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TITLE --A--&gt; PLAY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store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li   t3, OVER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  t1, t3, done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PLAY is handled elsewhere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t2, done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OVER: stay until A is pressed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TITLE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OVER --A--&gt; TITLE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store: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next state becomes the present state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done: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l13.S (3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l13_draw: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colours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OUTPUT depends on the state only: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t1, t1, 2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Moore machine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.rodata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colours: .word 0x001f, 0x07e0, 0xf800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TITLE blue, PLAY green, OVER red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state: .word TITLE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2035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 colore per stato. Blu è TITLE: premete A e lo schermo diventa verde, PLAY. (OVER, rosso, si raggiunge solo quando una partita finisce: questo riscaldamento non ha ancora un gioco.)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421462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4092702"/>
            <a:ext cx="5468112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premete A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~/arc12/code/l13.S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l13 --name l13 --out l13.prg32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l13.prg32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~/arc12/code/l13.S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l13 --name l13 --architecture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l13-qemu.prg32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l13-qemu.prg32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~/arc12/code/l13.S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l13 --name l13 --architecture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l13-esp32c6.prg32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l13-esp32c6.prg32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l13;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Disegnate il diagramma degli stati di una macchina che dà 1 quando gli ultimi due ingressi erano entrambi 1; scrivetela come macchina di Moore e come macchina di Mealy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57095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138807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Completate il diagramma temporale di un latch SR per una sequenza data di S e R, segnando dove mantiene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87858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860294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Sintetizzate un contatore modulo 3 (0, 1, 2, 0, ...) con due flip-flop D; che cosa accade nello stato non usato?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600069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81781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Aggiungete al gioco del riscaldamento uno stato PAUSE, in cui si entra e da cui si esce con il pulsante SELECT, disegnando prima il nuovo diagramma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32155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303268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Correggete il riscaldamento perché A debba essere rilasciato e premuto di nuovo: memorizzate lo stato precedente del pulsante e reagite solo a un passaggio da 0 a 1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PRG32: quattro schermate, e un pulsante tenuto premuto che causa esattamente una transizione. L'ultimo esercizio è il rilevamento del fronte in software: il programma si comporta da flip-flop invece che da latch.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Macchine sequenziali: il codice</dc:title>
  <dc:subject>Lezione 13</dc:subject>
  <dc:creator>Raffaele Montella</dc:creator>
  <cp:lastModifiedBy>Raffaele Montella</cp:lastModifiedBy>
  <cp:revision>1</cp:revision>
  <dcterms:created xsi:type="dcterms:W3CDTF">2026-10-13T08:56:25Z</dcterms:created>
  <dcterms:modified xsi:type="dcterms:W3CDTF">2026-10-13T08:56:25Z</dcterms:modified>
</cp:coreProperties>
</file>