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b96b7fa-2532-e3b9-9223-38b1af8559c0}">
          <p14:sldIdLst>
            <p14:sldId id="256"/>
            <p14:sldId id="257"/>
            <p14:sldId id="258"/>
            <p14:sldId id="259"/>
            <p14:sldId id="260"/>
          </p14:sldIdLst>
        </p14:section>
        <p14:section name="Passo 2: un'identità" id="{f099b860-3651-7d90-fe0b-93739c3bddd4}">
          <p14:sldIdLst>
            <p14:sldId id="261"/>
            <p14:sldId id="262"/>
            <p14:sldId id="263"/>
          </p14:sldIdLst>
        </p14:section>
        <p14:section name="Passo 5: la pubblicazione" id="{53e995e4-83c8-44d3-5568-fb00a3960363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progetto finisce oggi, con il passo che trasforma un programma in un prodotto. Il vostro Verm1 gira sulla vostra scrivania; alla fine di questa lezione sarà un unico file che chiunque può installare, sul kit, su QEMU o su PRG32-QT, con un nome, un'icona e la vostra firma. La citazione, dal gruppo che costruì il primo Macintosh, dice che un lavoro è finito solo quando è stato consegnato.
Per il docente: Ultima lezione del progetto; la Lezione 24 chiude il corso con uno sguardo in avanti. Ancora un tutorial: alla fine ogni studente ha un bundle, verm1-1.0.0.zip, controllato e pronto per l'invio. Il caricamento è un atto personale con un token personale: fatelo in laboratorio solo con gli studenti che lo desiderano. Tutto, fino al caricamento escluso, viene eseguito da tools/tests/verm1_store.py sul gioco di riferimento.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risultati. Il vostro gioco compilato per due architetture dallo stesso sorgente. Un manifest che gli dà un'identità: id, titolo, versione, autori, licenza. Un'icona e un colophon con crediti e comandi. Un bundle, un solo file ZIP, controllato e pronto per il Cartridge Store. E un'idea chiara di che cosa succede dopo la pubblicazione, e di che cosa rispondete.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Perché pubblicare? Un programma che gira solo sul calcolatore del suo autore è un esercizio; uno che altri possono installare è un prodotto. Pubblicare vi obbliga a rispondere a domande che un esercizio lascia saltare: come si chiama, chi l'ha fatto, su che cosa gira, che cosa possono farne gli altri. Il Cartridge Store è lo scaffale di PRG32, e ogni cartuccia che vi si trova è stata scritta da qualcuno che ha cominciato da dove avete cominciato voi.
Per il docente: Lo Store è su store.prg32.uniparthenope.it; il suo software è aperto, github.com/riscv-prg32/CartridgeStore. PRG32-QT ha un proprio browser dello Store. Mostrate entrambi.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percorso dal sorgente allo scaffale in sei tappe: il vostro file sorgente; due cartucce, una per architettura; i metadati, cioè identità, icona e crediti; il bundle; la revisione di un redattore; lo Store. I primi quattro passi di oggi avvengono interamente sul vostro calcolatore. Solo il quinto parla con lo Store: fino ad allora nulla lascia la vostra macchina.
Per il docente: Il percorso della lezione. Nulla lascia il calcolatore dello studente prima del comando di pubblicazione.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 di confezionare, chiedetevi se il gioco è finito. Sei controlli, ciascuno con un metodo e uno strumento. Parte, si gioca e finisce: giocate tre partite intere. Nessun frame è in ritardo: guardate la telemetria. La memoria è coerente: mettete in pausa a caso e confrontate anello, mappa e schermo. Gira sulla seconda architettura, QEMU, e sul kit vero se ne avete uno. Ed è vostro: ha qualcosa che il riferimento non ha. Una cartuccia mai eseguita su un target non va pubblicata per quel target.
Per il docente: Il debugger si usa un'ultima volta, come strumento di qualità. Una cartuccia che non è mai stata eseguita su un target non va pubblicata per quel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campo vi impegna a qualcosa. L'id è per consuetudine un nome di dominio rovesciato, e non cambia mai: metteteci il vostro nome, perché due studenti non possono pubblicare lo stesso. La version segue lo schema major, minor, patch, e una versione pubblicata si considera permanente: un errore si corregge con una nuova versione. Gli authors sono tutti quelli che hanno scritto il gioco. La license dice che cosa possono farne gli altri. I tags sono il modo in cui verrà trovato.
Per il docente: Due studenti non possono pubblicare lo stesso id: ciascuno usa un id proprio, per esempio it.uniparthenope.arc12.&lt;cognome&gt;.verm1. Concordate la convenzione in aula. Un id e una versione, una volta pubblicati, vanno considerati permanenti: un errore si corregge con una nuova versione, non con una sostituzione. È una regola di buona pratica (semantic versioning), su cui contano i giocatori che hanno già installato la 1.0.0.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L'icona è una piccola immagine PNG che rappresenta il gioco sullo scaffale. Quella di riferimento è di 64 per 64 pixel: un verme e un pezzo di cibo con i colori del gioco. La pixel art si addice a una macchina di questa risoluzione: disegnate in grande, cella per cella, con qualunque editor che salvi PNG. Salvatela come icon.png accanto al manifest. E disegnatela voi: un'immagine presa dal web è il lavoro di qualcun altro.
Per il docente: L'icona di riferimento è verm1/store/icon.png. Un'icona presa dal web è il lavoro di qualcun altro: disegnate la vostra.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omaggio non è una copia. Verm1 è un omaggio a Snake: l'idea di un verme che cresce è vecchia quanto Blockade, del 1976, e appartiene a tutti. Il nome, il codice, l'icona e i suoni sono nostri. Le regole di un gioco non sono protette; codice, immagini, musica e nomi sì. Quindi, prima di pubblicare, chiedetevi di ogni pezzo: l'ho fatto io? Se no, la sua licenza mi permette di pubblicarlo, e ho citato l'autore? Sopra c'è il vostro nome: pubblicate solo ciò che firmereste.
Per il docente: Le regole di un gioco non sono protette; codice, immagini, musica e nomi sì. Un'introduzione breve e concreta al diritto d'autore, che gli ingegneri incontrano presto.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succede dopo, in quattro tappe. In attesa: il bundle è conservato come invio, e non è ancora sullo scaffale. Revisione: un redattore controlla che si installi, giri, sia descritto onestamente e non contenga nulla che non sia vostro. Pubblicato: il gioco compare nello Store per le architetture dichiarate. E se trovate un errore: correggetelo, portate la versione a 1.0.1, confezionate e inviate di nuovo; la versione 1.0.0 resta com'era.
Per il docente: La moderazione protegge i giocatori e gli autori. Un rifiuto arriva con una motivazione: rispondete con una nuova versione.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lista di controllo per l'invio, sette punti: giocato fino alla fine su ogni architettura; abi-table per ogni file; id unico e vostro, versione nuova, descrizioni oneste; autori, licenza e colophon completi; i metadati giusti dentro ogni cartuccia; il bundle provato su un altro calcolatore; il token in nessun file. Una lista di controllo non è burocrazia: è lo strumento con cui gli esperti evitano gli errori degli esperti.
Per il docente: Stampatela. Una lista di controllo non è burocrazia: è il modo in cui piloti e chirurghi evitano gli errori che commettono gli esperti.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Ricordate la regola sulle versioni: ciò che è stato pubblicato si considera permanente.
Pensate a dove finiscono i metadati: dentro un file di cartuccia. Quante architetture ha un file di cartuccia?
Per il docente: 1. Risposta: B. Una versione pubblicata si considera permanente: una correzione è una nuova versione con lo stesso id.
2. Risposta: B. L'elenco dei file appartiene al bundle; una singola cartuccia dichiara la propria architettura, data sulla riga di comando.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token è una credenziale, come una password. Quale dei quattro posti non è un file che viene condiviso?
Per il docente: Risposta: C. Un token è una credenziale: non va mai in un file condiviso o sotto controllo di versione.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avete costruito in questo corso. Un gioco di seicento righe di assembly, cresciuto da tre funzioni che si limitavano a ritornare. Con esso, ogni livello della macchina: bit e numeri, porte e tabelle, stato e memoria, il processore, lo schermo, i dispositivi. Un metodo: un passo eseguibile alla volta, e uno sguardo dentro ogni volta che qualcosa vi sorprende. E l'ultimo passo, che ne fa ingegneria: un prodotto con un nome, una versione e un autore. La prossima lezione guarda oltre il kit.
Per il docente: Il progetto finisce qui; la Lezione 24 guarda oltre il kit, alle macchine che eseguono le stesse istruzioni su grande scala. I prodotti del progetto sono il sorgente della variante dello studente e il suo bundle; l'esame orale può partire da una qualunque delle sue righe.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23: Verm1: lo Store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23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 sul Cartridge Store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 programma che gira sulla vostra scrivania a un bundle che chiunque può installare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“Real artists ship.”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Jobs, al gruppo del Macintosh, 1983: i veri artisti consegnano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di riferimento di Verm1: contributo di Giuseppe Coviello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della lezione. I listati, il programma completo e come provarlo sono nella presentazione del codice: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23-Architettura_dei_Calcolatori-Verm1_sul_Cartridge_Store-Codice.pptx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5" name="Image 0" descr="/Users/raffaelemontella/devel/riscv-prg32/computer-architecture-with-prg32/tools/assets/prg32qt_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822" y="4251960"/>
            <a:ext cx="2646947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avrete alla 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71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884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Verm1 compilato per due architetture, il kit ESP32-C6 e QEMU, dallo stesso sorgente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60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5778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manifest che dà al gioco un'identità: id, titolo, versione, autori, licenza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150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69671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Un'icona, e un colophon con crediti e comandi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111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59282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bundle, un solo file ZIP, controllato e pronto per il Cartridge Store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072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48894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Un'idea chiara di che cosa succede dopo aver premuto «pubblica», e di che cosa siete responsabili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pubblicare?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programma che gira solo sul calcolatore del suo autore è un esercizio; uno che altri possono installare è un prodotto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61562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532444"/>
            <a:ext cx="5468112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Pubblicare impone le domande che un esercizio lascia saltare: come si chiama, chi l'ha fatto, su che cosa gira, che cosa possono farne gli altri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402513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41953"/>
            <a:ext cx="5468112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Cartridge Store è lo scaffale di PRG32: giochi e programmi che si installano sul kit, su QEMU e su PRG32-QT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514026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5057077"/>
            <a:ext cx="546811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cartuccia che c'è lì è stata scritta da qualcuno partito da dove siete partiti voi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5960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877814"/>
            <a:ext cx="5468112" cy="29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vostra può stare accanto alle altre</a:t>
            </a:r>
            <a:endParaRPr lang="en-US" sz="1900" dirty="0"/>
          </a:p>
        </p:txBody>
      </p:sp>
      <p:pic>
        <p:nvPicPr>
          <p:cNvPr id="13" name="Image 0" descr="/Users/raffaelemontella/devel/riscv-prg32/computer-architecture-with-prg32/tools/assets/prg32qt_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81553"/>
            <a:ext cx="4876495" cy="336921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Cartridge Store, da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sorgente allo scaffale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1544269" cy="2468880"/>
          </a:xfrm>
          <a:prstGeom prst="roundRect">
            <a:avLst>
              <a:gd name="adj" fmla="val 47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057400"/>
            <a:ext cx="1269949" cy="685800"/>
          </a:xfrm>
          <a:prstGeom prst="roundRect">
            <a:avLst>
              <a:gd name="adj" fmla="val 10667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verm1.S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126994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sorgente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138629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58669" y="1874520"/>
            <a:ext cx="1544269" cy="2468880"/>
          </a:xfrm>
          <a:prstGeom prst="roundRect">
            <a:avLst>
              <a:gd name="adj" fmla="val 47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95829" y="2057400"/>
            <a:ext cx="1269949" cy="685800"/>
          </a:xfrm>
          <a:prstGeom prst="roundRect">
            <a:avLst>
              <a:gd name="adj" fmla="val 10667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cartucce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595829" y="2880360"/>
            <a:ext cx="126994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 architettura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048658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8698" y="1874520"/>
            <a:ext cx="1544269" cy="2468880"/>
          </a:xfrm>
          <a:prstGeom prst="roundRect">
            <a:avLst>
              <a:gd name="adj" fmla="val 47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5858" y="2057400"/>
            <a:ext cx="1269949" cy="685800"/>
          </a:xfrm>
          <a:prstGeom prst="roundRect">
            <a:avLst>
              <a:gd name="adj" fmla="val 10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metadati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05858" y="2880360"/>
            <a:ext cx="126994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identità, icona, crediti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58688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1874520"/>
            <a:ext cx="1544269" cy="2468880"/>
          </a:xfrm>
          <a:prstGeom prst="roundRect">
            <a:avLst>
              <a:gd name="adj" fmla="val 47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15888" y="2057400"/>
            <a:ext cx="1269949" cy="685800"/>
          </a:xfrm>
          <a:prstGeom prst="roundRect">
            <a:avLst>
              <a:gd name="adj" fmla="val 10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880360"/>
            <a:ext cx="126994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file ZIP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868717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8757" y="1874520"/>
            <a:ext cx="1544269" cy="2468880"/>
          </a:xfrm>
          <a:prstGeom prst="roundRect">
            <a:avLst>
              <a:gd name="adj" fmla="val 47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5917" y="2057400"/>
            <a:ext cx="1269949" cy="685800"/>
          </a:xfrm>
          <a:prstGeom prst="roundRect">
            <a:avLst>
              <a:gd name="adj" fmla="val 10667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25917" y="2880360"/>
            <a:ext cx="126994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redattore lo controlla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778746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98786" y="1874520"/>
            <a:ext cx="1544269" cy="2468880"/>
          </a:xfrm>
          <a:prstGeom prst="roundRect">
            <a:avLst>
              <a:gd name="adj" fmla="val 47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35946" y="2057400"/>
            <a:ext cx="1269949" cy="685800"/>
          </a:xfrm>
          <a:prstGeom prst="roundRect">
            <a:avLst>
              <a:gd name="adj" fmla="val 10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0235946" y="2880360"/>
            <a:ext cx="126994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chiunque installa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80060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passi da 1 a 4 di oggi avvengono sul vostro calcolatore. Solo il passo 5 parla con lo Store.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 di confezionare: è finito?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72300"/>
                <a:gridCol w="5291183"/>
                <a:gridCol w="273093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Parte, si gioca e finisce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giocate tre partite intere, perdete in tre modi diversi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frame è in ritardo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telemetria in una partita lunga: i frame in ritardo restano a zero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PRG32-QT, modalità debug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memoria è coerente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mettete in pausa a caso e confrontate anello, mappa e schermo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PRG32-QT, vista Memory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Gira sulla seconda architettura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compilate per QEMU, caricate, giocate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Gira sull'hardware vero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caricate su un kit, giocate con joystick e altoparlante veri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kit, se ne avete uno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È vostro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titolo, una regola o un aspetto che il riferimento non ha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campi, e a che cosa vi impegnano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536150"/>
                <a:gridCol w="5291183"/>
                <a:gridCol w="426708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Regola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Verm1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consuetudine un nome di dominio rovesciato; non cambia mai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per studente: metteteci il vostro nome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major.minor.patch; una versione pubblicata si considera permanente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1.0.0, poi 1.0.1 per una correzione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ciò che legge il giocatore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Verm1, o il nome della vostra variante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persone che l'hanno scritto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voi, e chi ha lavorato con voi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possono farne gli altri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MIT, se volete che altri possano imparare dal vostro lavoro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verrà trovato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arcade, snake, assembly, education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Un'icona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piccolo PNG che rappresenta il gioco sullo scaffale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37159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65172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nostra è di 64 per 64 pixel: un verme e un pezzo di cibo, con i colori del gioco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1945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13024"/>
            <a:ext cx="6565392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pixel art si addice a una macchina di 320 per 200 pixel: disegnate in grande, cella per cella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40817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301744"/>
            <a:ext cx="6565392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Usate qualunque editor che salvi PNG, o disegnatela con un programma, come è stata fatta l'icona di riferimento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490464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Salvatela come icon.png accanto al manifest: il manifest la nomina sotto assets</a:t>
            </a:r>
            <a:endParaRPr lang="en-US" sz="2200" dirty="0"/>
          </a:p>
        </p:txBody>
      </p:sp>
      <p:pic>
        <p:nvPicPr>
          <p:cNvPr id="13" name="Image 0" descr="/Users/raffaelemontella/devel/riscv-prg32/computer-architecture-with-prg32/tools/assets/verm1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676552"/>
            <a:ext cx="3779215" cy="377921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icon.png, ingrandita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omaggio non è una copia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2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 è un omaggio a Snake: l'idea di un verme che cresce è vecchia quanto Blockade, 1976, ed è libera per tutti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4943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73999"/>
            <a:ext cx="65653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nome, il codice, l'icona e i suoni sono nostri: nulla è stato preso da un altro gioco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0611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30677"/>
            <a:ext cx="6565392" cy="1049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di pubblicare, chiedetevi di ogni pezzo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l'ho scritto o disegnato io?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se no, la sua licenza mi permette di pubblicarlo, e ho citato l'autore?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55428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78846"/>
            <a:ext cx="65653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 e personaggi dei giochi commerciali sono marchi registrati: non usateli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41096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335524"/>
            <a:ext cx="656539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licenza che scegliete dice agli altri che cosa possono fare del vostro lavoro: la MIT permette di studiarlo, modificarlo e condividerlo, conservando il vostro nome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645920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regola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286000"/>
            <a:ext cx="32305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Sopra c'è il vostro nome. Pubblicate solo ciò che firmereste.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succede dopo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attesa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bundle è conservato come invio: non è ancora sullo scaffale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redattore controlla che si installi, giri, sia descritto onestamente e non contenga nulla che non sia vostro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Pubblicato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compare nello Store, per le architetture che avete dichiarato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errore?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Correggetelo, portate la versione a 1.0.1, confezionate e inviate di nuovo: la 1.0.0 resta com'era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lista di controllo per l'invio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682733"/>
                <a:gridCol w="1041168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gioco è stato giocato fino alla fine su ogni architettura del manifest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summary dice import_model: abi-table per ogni file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l'id è vostro e unico; la versione è nuova; titolo, summary e description dicono che cos'è il gioco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autori, licenza e colophon sono completi; ogni pezzo è vostro o è citato l'autore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inspect-metadata mostra id, versione e architettura giusti in ogni cartuccia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bundle è stato estratto e provato su un altro calcolatore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token non è in nessun file, in nessuna schermata e in nessun repository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Avete pubblicato la versione 1.0.0 e trovato un errore. Che cosa fate?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caricate di nuovo la 1.0.0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pubblicate la 1.0.1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cambiate l'id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chiedete che il vecchio file venga modificato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metadata.json non contiene la voce architectures?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facoltativa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metadati vanno dentro una cartuccia, che ha una sola architettura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non la supporta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sarebbe troppo lunga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va tenuto il token dello Store?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35356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97180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verm1.S, come commento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33008" y="283464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335356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93128" y="297180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manifest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4058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15950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477774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una variabile d'ambiente della vostra shell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33008" y="464058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1608" y="515950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477774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README del repository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avete costruito in questo corso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di seicento righe di assembly, da tre funzioni che si limitavano a ritornare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4203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35606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esso, ogni livello della macchina: bit e numeri, porte e tabelle, stato e memoria, il processore, lo schermo, i dispositivi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56031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53892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metodo: un passo eseguibile alla volta, e uno sguardo dentro ogni volta che qualcosa vi sorprende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57860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72178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l'ultimo passo che ne fa ingegneria: un prodotto con un nome, una versione e un autore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490464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prossimo gioco sceglietelo voi; la prossima lezione mostra dove le stesse istruzioni girano su grande scala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Verm1 sul Cartridge Store</dc:title>
  <dc:subject>Lezione 23</dc:subject>
  <dc:creator>Raffaele Montella</dc:creator>
  <cp:lastModifiedBy>Raffaele Montella</cp:lastModifiedBy>
  <cp:revision>1</cp:revision>
  <dcterms:created xsi:type="dcterms:W3CDTF">2026-10-13T10:41:33Z</dcterms:created>
  <dcterms:modified xsi:type="dcterms:W3CDTF">2026-10-13T10:41:33Z</dcterms:modified>
</cp:coreProperties>
</file>