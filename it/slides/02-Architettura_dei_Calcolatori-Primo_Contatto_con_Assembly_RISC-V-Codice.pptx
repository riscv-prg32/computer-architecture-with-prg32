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8d7d5935-5ea7-1acd-d3ce-cb324107703c}">
          <p14:sldIdLst>
            <p14:sldId id="256"/>
            <p14:sldId id="257"/>
          </p14:sldIdLst>
        </p14:section>
        <p14:section name="La prima cartuccia" id="{d007d65b-db64-b12e-ee7e-60d55a943b10}">
          <p14:sldIdLst>
            <p14:sldId id="258"/>
            <p14:sldId id="259"/>
            <p14:sldId id="260"/>
            <p14:sldId id="261"/>
            <p14:sldId id="262"/>
          </p14:sldIdLst>
        </p14:section>
        <p14:section name="Il programma completo" id="{eb776692-8f46-0d6e-73d9-2c3c8a38f289}">
          <p14:sldIdLst>
            <p14:sldId id="263"/>
            <p14:sldId id="264"/>
            <p14:sldId id="265"/>
          </p14:sldIdLst>
        </p14:section>
        <p14:section name="Eseguire e provare" id="{9f8dd0f6-438f-92b4-32eb-d42a424c7c1d}">
          <p14:sldIdLst>
            <p14:sldId id="266"/>
            <p14:sldId id="267"/>
            <p14:sldId id="268"/>
            <p14:sldId id="269"/>
            <p14:sldId id="270"/>
          </p14:sldIdLst>
        </p14:section>
        <p14:section name="Esercizi" id="{225e09e5-bd6e-8950-dd71-d1bb81c3638c}">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la presentazione del codice della Lezione 02. La presentazione della lezione contiene i concetti; questa contiene tutto ciò che si scrive e si esegue: i listati con la loro spiegazione, il programma completo, che cosa mostra, e il modo di provarlo su ciascuno dei tre host.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registri, calcolo, trasferimento, salto; i registri; contratto init/update/draw; gli argomenti in a0 ... a7; perché si salva ra; indirizzo, valore, load, store; le istruzioni di base; le pseudo-istruzioni; un'istruzione è un numero; seguire a mano l'esecuzione. DA UTILIZZARE OGGI: la convenzione di chiamata (Lezione 18); le maschere di bit (Lezione 08) e, usati senza essere studiati nel corso, le direttive dell'assemblatore, gli strumenti di PRG32, le chiamate del runtime PRG32, il debugger di PRG32-QT, il programma completo. DA COMPRENDERE PIÙ AVANTI: la pila (Lezione 18); i modi di indirizzamento (Lezione 19); formati delle istruzioni (Lezione 19); l'esadecimale (Lezione 04); il complemento a due (Lezione 05); la virgola fissa (Lezione 06); l'algebra di Boole (Lezione 08); il sommatore (Lezione 09); dai volt ai bit (Lezione 10); latch e flip-flop (Lezione 13); il ciclo del processore (Lezione 19); il progetto Verm1 (Lezione 07). Una slide senza etichetta è contesto: una storia, un esempio, una domanda, un esercizio.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cosa contiene la presentazione, nell'ordine delle slide. Il programma della lezione è un file che potete compilare ed eseguire così com'è: partite da lì, e tornate ai listati per capire ogni parte. Il programma di questa lezione è ~/arc12/code/l02.S; tools/tests/cartridges/run.py lo compila, lo esegue su PRG32-QT con ingressi programmati e controlla i pixel del frame.
Per il docente: Procurarsi il codice una volta: git clone https://github.com/riscv-prg32/computer-architecture-with-prg32 ~/arc12. Il programma di questa lezione è ~/arc12/code/l02.S; tools/tests/cartridges/run.py lo compila, lo esegue su PRG32-QT con ingressi programmati e controlla i pixel del frame. Ogni listato di queste slide è letto dalla compilazione da un file provato, o verificato da tools/tests: si veda il suo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più piccolo programma che gira. .option norelax è una riga con cui comincia ogni esempio PRG32: rende prevedibile la disposizione della cartuccia. .section .text dice che segue del codice. Ogni .global rende un'etichetta visibile fuori dal file, così il firmware può trovare la funzione per nome. Poi tre funzioni, ciascuna fatta della sola istruzione ret, che ritorna al chiamante. Il risultato è uno schermo nero, ed è un successo: il framework ha trovato le vostre tre funzioni, le ha chiamate, e ha riavuto il controllo.
DA UTILIZZARE OGGI: le direttive dell'assemblatore (si usa, non si studia, in questo corso).
Per il docente: Sorgente: labs/05-asm-first-contact/step1_skeleton.S. Risultato atteso: uno schermo nero. Il risultato è che il framework ha trovato le tre funzioni, le ha chiamate, ed è sopravvissuto.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comandi che batterete centinaia di volte. cartridge build trasforma il file assembly in una cartuccia: --entry-prefix first è il prefisso delle vostre tre funzioni, --out il nome del risultato. Poi la si esegue: in QEMU con qemu upload e qemu run, oppure su una scheda o su PRG32-QT con upload-and-run e l'indirizzo dell'host. Per PRG32-QT sul vostro portatile l'indirizzo è http://localhost:8080. Il file della cartuccia è lo stesso per tutti e tre.
DA UTILIZZARE OGGI: gli strumenti di PRG32 (si usa, non si studia, in questo corso).
Per il docente: Sorgente: labs/run.sh. Con PRG32_HOME impostata, l'intera sequenza è: labs/run.sh 05-asm-first-contact/step1_skeleton.S first . Il file della cartuccia è identico byte per byte per QEMU, per la scheda e per PRG32-QT.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secondo passo scrive sullo schermo. Leggete first_draw in tre parti. Le prime due righe fanno spazio sullo stack e salvano ra. Poi due chiamate: prg32_gfx_clear con il colore in a0, e prg32_gfx_text8 con cinque argomenti da a0 ad a4: x, y, l'indirizzo della stringa, colore del testo, colore dello sfondo. Notate i due modi di caricare: li carica un numero, la carica l'indirizzo di un'etichetta. Le ultime tre righe ripristinano ra, rilasciano lo stack e ritornano. La stringa è un dato, nella sezione .rodata.
DA COMPRENDERE OGGI: gli argomenti in a0 ... a7. DA UTILIZZARE OGGI: le chiamate del runtime PRG32 (si usa, non si studia, in questo corso).
Per il docente: Sorgente: labs/05-asm-first-contact/step2_hello.S. Le righe .equ (BLACK 0x0000, WHITE 0xffff) sono omesse sulla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terzo passo conserva un valore da un frame al successivo. I registri non sopravvivono tra una chiamata di update e l'altra, quindi il valore deve vivere in memoria. counter è un'etichetta: dà un nome a una locazione della sezione .data che contiene una parola. Le quattro istruzioni sono lo schema di ogni variabile: la mette in t0 l'indirizzo della locazione; lw carica in t1 il valore; addi lo modifica; sw lo riscrive. Load, modify, store. Sullo schermo non cambia ancora nulla: il contatore avanza, ma nessuno lo disegna.
DA COMPRENDERE OGGI: indirizzo, valore, load, store.
Per il docente: Sorgente: labs/05-asm-first-contact/step3_counter.S. Non cambia ancora nulla di visibile: il contatore avanza ma nessuno lo disegna. Chiedere all'aula come si potrebbe dimostrare che avanza (risposta: il debugger di PRG32-QT, oppure il passo successivo).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quarto passo rende visibile il contatore come una barra verde. Il valore viene caricato, e andi a2, t1, 255 ne conserva solo gli otto bit bassi, così la larghezza va da 0 a 255 e poi ricomincia. Gli altri registri sono gli argomenti di prg32_gfx_rect: x, y, larghezza, altezza e colore. Otto righe, e vi si nascondono tre lezioni future: 255 scritto come 0xFF, andi usato come maschera, e 0x07e0 che significa verde. Ricordate dove li avete visti per la prima volta.
DA UTILIZZARE OGGI: le maschere di bit (si studia nella Lezione 08).
Per il docente: Sorgente: labs/05-asm-first-contact/step4_bar.S (le righe aggiunte a first_draw). In queste otto righe si nascondono tre lezioni future: 255 = 0xFF (notazione posizionale), andi come maschera di bit (algebra di Boole), 0x07e0 come colore (codifica dell'informazione).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esattamente com'è nel repository. Leggetelo dall'inizio: l'intestazione dice che cosa mostra il programma e come compilarlo; seguono le tre funzioni init, update e draw, poi i dati. Le righe incontrate nei listati della lezione hanno qui gli stessi commenti.
DA UTILIZZARE OGGI: il programma completo (si usa, non si studia, in questo corso).
Per il docente: code/l02.S,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esattamente com'è nel repository. Leggetelo dall'inizio: l'intestazione dice che cosa mostra il programma e come compilarlo; seguono le tre funzioni init, update e draw, poi i dati. Le righe incontrate nei listati della lezione hanno qui gli stessi commenti.
DA UTILIZZARE OGGI: il programma completo (si usa, non si studia, in questo corso).
Per il docente: code/l02.S,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esattamente com'è nel repository. Leggetelo dall'inizio: l'intestazione dice che cosa mostra il programma e come compilarlo; seguono le tre funzioni init, update e draw, poi i dati. Le righe incontrate nei listati della lezione hanno qui gli stessi commenti.
DA UTILIZZARE OGGI: il programma completo (si usa, non si studia, in questo corso).
Per il docente: code/l02.S,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cosa mostra il programma quando gira, e che cosa premere. Prevedete prima di eseguire: se lo schermo è diverso da questa immagine, la differenza è informazione. L'immagine è stata scritta dal test automatico, non disegnata a mano.
Per il docente: L'immagine è il frame che l'esecutore senza interfaccia di PRG32-QT ha prodotto nel test di questo programma. Su QEMU e sulla scheda l'area di gioco è la stessa, 320 per 200 pixel, tra le due bande di stato.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via più rapida: PRG32-QT sul vostro computer. Quattro passi, ciascuno con il suo comando. PRG32-QT si comporta come una scheda sulla porta 8080, ed è per questo che il comando di caricamento dice esp32c6. Con la modalità debug abilitata potete fermarvi su qualsiasi istruzione e leggere registri e memoria.
DA UTILIZZARE OGGI: gli strumenti di PRG32 (si usa, non si studia, in questo corso).
Per il docente: Eseguito dai test: la cartuccia di questa slide è compilata con questo comando ed eseguita sull'esecutore senza interfaccia di PRG32-QT. Senza la toolchain: importate il file .prg32 in PRG32-QT e scegliete Run Cartridge. Tasti: frecce o WASD per il joystick, Z o J per A, X o K per B, Invio per Start, Esc per tornare a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sull'emulatore. QEMU esegue il firmware vero su un chip emulato, quindi la cartuccia va compilata per l'architettura qemu. Caricate la cartuccia mentre QEMU è chiuso. Il firmware si apre sul menu Setup: scegliete Run Cartridge e lo slot. Ricordate che la tastiera è letta dal terminale, non dalla finestra con l'immagine.
DA UTILIZZARE OGGI: gli strumenti di PRG32 (si usa, non si studia, in questo corso).
Per il docente: Verificato dai test fino al caricamento: la cartuccia è compilata per l'architettura qemu e accettata nell'immagine flash dell'emulatore. Ciò che l'emulatore poi mostra non è verificato automaticamente: il QEMU di Espressif ha bisogno della sua finestra. Dall'ottobre 2026 il firmware parte da Setup: scegliete Run Cartridge, poi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 kit. Il firmware si scrive una volta, via USB; dopo, le cartucce viaggiano sul Wi-Fi. Il comando di caricamento è quello usato per PRG32-QT con l'indirizzo della scheda. È l'unico host che i test automatici non eseguono: provatelo, e riferite ciò che vedete.
DA UTILIZZARE OGGI: gli strumenti di PRG32 (si usa, non si studia, in questo corso).
Per il docente: Non eseguito dai test: sulla macchina di prova non c'è una scheda. La cartuccia per l'architettura esp32c6 è compilata dai test; i passi sono quelli della documentazione di PRG32. Se la porta seriale non viene trovata, passatela esplicitamente. Per usare il Wi-Fi dell'aula: python3 -m prg32 wifi set --ssid NOME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cinque sintomi più comuni, che cosa significa ciascuno, e che cosa fare. Leggete il messaggio prima di cambiare qualcosa: quasi sempre nomina la causa.
DA UTILIZZARE OGGI: gli strumenti di PRG32 (si usa, non si studia, in questo corso).
Per il docente: Le prime tre righe coprono la maggior parte dei casi. Quando chiedete aiuto, incollate il comando e l'intero messaggio come testo. docs/usage/troubleshooting.md del repository di PRG32 ha l'elenco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esercizi sulla vostra cartuccia; ognuno è il seme di una lezione successiva. Cambiate il testo e il suo colore. Fate crescere la barra a velocità doppia o quadrupla cambiando una sola istruzione. Fatela accorciare, e osservate che cosa accade quando il contatore supera lo zero: la barra salta alla larghezza massima, e la Lezione 05 spiegherà perché. Eseguite first_update passo-passo e annotate i registri. Disegnate una seconda barra larga quanto il contatore modulo 64. Prima prevedete, poi eseguite.
Per il docente: Suggerimenti: addi t1, t1, 2 oppure slli prima di andi per l'esercizio 2; addi t1, t1, -1 per l'esercizio 3; andi a2, t1, 63 per l'esercizio 5. Ogni esercizio è il seme di una lezione successiva.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02: Primo contatto con l'assembly RISC-V (codice)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Primo contatto: l'assembly RISC‑V su PRG32: il codice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Presentazione del codice: ogni listato spiegato, il programma completo, e come provarlo su PRG32-QT, su QEMU e sulla scheda</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 codice. I concetti, le figure e le domande sono nella presentazione della lezione: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02-Architettura_dei_Calcolatori-Primo_Contatto_con_Assembly_RISC-V.pptx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lab1_step4_bar.png">    </p:cNvPr>
          <p:cNvPicPr>
            <a:picLocks noChangeAspect="1"/>
          </p:cNvPicPr>
          <p:nvPr/>
        </p:nvPicPr>
        <p:blipFill>
          <a:blip r:embed="rId1"/>
          <a:stretch>
            <a:fillRect/>
          </a:stretch>
        </p:blipFill>
        <p:spPr>
          <a:xfrm>
            <a:off x="8716975" y="4280535"/>
            <a:ext cx="2834640" cy="1771650"/>
          </a:xfrm>
          <a:prstGeom prst="rect">
            <a:avLst/>
          </a:prstGeom>
        </p:spPr>
      </p:pic>
      <p:sp>
        <p:nvSpPr>
          <p:cNvPr id="14" name="Shape 11"/>
          <p:cNvSpPr/>
          <p:nvPr/>
        </p:nvSpPr>
        <p:spPr>
          <a:xfrm>
            <a:off x="8910777" y="91440"/>
            <a:ext cx="2732278" cy="274320"/>
          </a:xfrm>
          <a:prstGeom prst="rect">
            <a:avLst/>
          </a:prstGeom>
          <a:solidFill>
            <a:srgbClr val="F3E8FF"/>
          </a:solidFill>
          <a:ln w="12700">
            <a:solidFill>
              <a:srgbClr val="7E22CE"/>
            </a:solidFill>
            <a:prstDash val="dash"/>
          </a:ln>
        </p:spPr>
      </p:sp>
      <p:sp>
        <p:nvSpPr>
          <p:cNvPr id="15" name="Shape 12"/>
          <p:cNvSpPr/>
          <p:nvPr/>
        </p:nvSpPr>
        <p:spPr>
          <a:xfrm>
            <a:off x="8938209" y="128016"/>
            <a:ext cx="45720" cy="45720"/>
          </a:xfrm>
          <a:prstGeom prst="rect">
            <a:avLst/>
          </a:prstGeom>
          <a:solidFill>
            <a:srgbClr val="7E22CE"/>
          </a:solidFill>
          <a:ln w="12700">
            <a:solidFill>
              <a:srgbClr val="7E22CE"/>
            </a:solidFill>
            <a:prstDash val="solid"/>
          </a:ln>
        </p:spPr>
      </p:sp>
      <p:sp>
        <p:nvSpPr>
          <p:cNvPr id="16" name="Shape 13"/>
          <p:cNvSpPr/>
          <p:nvPr/>
        </p:nvSpPr>
        <p:spPr>
          <a:xfrm>
            <a:off x="8938209" y="205740"/>
            <a:ext cx="45720" cy="45720"/>
          </a:xfrm>
          <a:prstGeom prst="rect">
            <a:avLst/>
          </a:prstGeom>
          <a:solidFill>
            <a:srgbClr val="7E22CE"/>
          </a:solidFill>
          <a:ln w="12700">
            <a:solidFill>
              <a:srgbClr val="7E22CE"/>
            </a:solidFill>
            <a:prstDash val="solid"/>
          </a:ln>
        </p:spPr>
      </p:sp>
      <p:sp>
        <p:nvSpPr>
          <p:cNvPr id="17" name="Shape 14"/>
          <p:cNvSpPr/>
          <p:nvPr/>
        </p:nvSpPr>
        <p:spPr>
          <a:xfrm>
            <a:off x="8938209"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19" name="Text 15"/>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0" name="Shape 16"/>
          <p:cNvSpPr/>
          <p:nvPr/>
        </p:nvSpPr>
        <p:spPr>
          <a:xfrm>
            <a:off x="6675069" y="91440"/>
            <a:ext cx="2125980" cy="274320"/>
          </a:xfrm>
          <a:prstGeom prst="rect">
            <a:avLst/>
          </a:prstGeom>
          <a:solidFill>
            <a:srgbClr val="FEF3C7"/>
          </a:solidFill>
          <a:ln w="12700">
            <a:solidFill>
              <a:srgbClr val="B45309"/>
            </a:solidFill>
            <a:prstDash val="solid"/>
          </a:ln>
        </p:spPr>
      </p:sp>
      <p:sp>
        <p:nvSpPr>
          <p:cNvPr id="21" name="Shape 17"/>
          <p:cNvSpPr/>
          <p:nvPr/>
        </p:nvSpPr>
        <p:spPr>
          <a:xfrm>
            <a:off x="6675069" y="91440"/>
            <a:ext cx="27432" cy="274320"/>
          </a:xfrm>
          <a:prstGeom prst="rect">
            <a:avLst/>
          </a:prstGeom>
          <a:solidFill>
            <a:srgbClr val="B45309"/>
          </a:solidFill>
          <a:ln w="12700">
            <a:solidFill>
              <a:srgbClr val="B45309"/>
            </a:solidFill>
            <a:prstDash val="solid"/>
          </a:ln>
        </p:spPr>
      </p:sp>
      <p:sp>
        <p:nvSpPr>
          <p:cNvPr id="22" name="Shape 18"/>
          <p:cNvSpPr/>
          <p:nvPr/>
        </p:nvSpPr>
        <p:spPr>
          <a:xfrm>
            <a:off x="672993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4" name="Text 19"/>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5" name="Shape 20"/>
          <p:cNvSpPr/>
          <p:nvPr/>
        </p:nvSpPr>
        <p:spPr>
          <a:xfrm>
            <a:off x="4352747" y="91440"/>
            <a:ext cx="2212594" cy="274320"/>
          </a:xfrm>
          <a:prstGeom prst="rect">
            <a:avLst/>
          </a:prstGeom>
          <a:solidFill>
            <a:srgbClr val="E0F2FE"/>
          </a:solidFill>
          <a:ln w="12700">
            <a:solidFill>
              <a:srgbClr val="0369A1"/>
            </a:solidFill>
            <a:prstDash val="solid"/>
          </a:ln>
        </p:spPr>
      </p:sp>
      <p:sp>
        <p:nvSpPr>
          <p:cNvPr id="26" name="Shape 21"/>
          <p:cNvSpPr/>
          <p:nvPr/>
        </p:nvSpPr>
        <p:spPr>
          <a:xfrm>
            <a:off x="435274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8" name="Text 22"/>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questa presentazione</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5 listati della Lezione 02, uno per slide: leggete il codice, poi le osservazioni numerate a fianco</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programma completo: code/l02.S, 60 righe, stampato per intero</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Che cosa dovreste vedere quando gira, verificato sull'esecutore senza interfaccia di PRG32-QT</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Come provarlo, passo per passo: su PRG32-QT, su QEMU, sulla scheda</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Gli esercizi: modificare il programma, prevedere, eseguire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Passo 1: il più piccolo programma che gira</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Assembly Lab 1: the smallest program that runs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norelax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.text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first_init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first_update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first_draw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first_init: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first_update: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first_draw: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.option norelax rende prevedibile la disposizione della cartuccia: ogni esempio PRG32 comincia così</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.section .text dice che ciò che segue è codice eseguibile</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.global rende un'etichetta visibile al firmware, che trova le funzioni per nome</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ret ritorna al chiamante: tre funzioni che non fanno nulla, correttamente</a:t>
            </a:r>
            <a:endParaRPr lang="en-US" sz="1200" dirty="0"/>
          </a:p>
        </p:txBody>
      </p:sp>
      <p:sp>
        <p:nvSpPr>
          <p:cNvPr id="17" name="Shape 15"/>
          <p:cNvSpPr/>
          <p:nvPr/>
        </p:nvSpPr>
        <p:spPr>
          <a:xfrm>
            <a:off x="7350328" y="91440"/>
            <a:ext cx="4292727" cy="274320"/>
          </a:xfrm>
          <a:prstGeom prst="rect">
            <a:avLst/>
          </a:prstGeom>
          <a:solidFill>
            <a:srgbClr val="FEF3C7"/>
          </a:solidFill>
          <a:ln w="12700">
            <a:solidFill>
              <a:srgbClr val="B45309"/>
            </a:solidFill>
            <a:prstDash val="solid"/>
          </a:ln>
        </p:spPr>
      </p:sp>
      <p:sp>
        <p:nvSpPr>
          <p:cNvPr id="18" name="Shape 16"/>
          <p:cNvSpPr/>
          <p:nvPr/>
        </p:nvSpPr>
        <p:spPr>
          <a:xfrm>
            <a:off x="7350328" y="91440"/>
            <a:ext cx="27432" cy="274320"/>
          </a:xfrm>
          <a:prstGeom prst="rect">
            <a:avLst/>
          </a:prstGeom>
          <a:solidFill>
            <a:srgbClr val="B45309"/>
          </a:solidFill>
          <a:ln w="12700">
            <a:solidFill>
              <a:srgbClr val="B45309"/>
            </a:solidFill>
            <a:prstDash val="solid"/>
          </a:ln>
        </p:spPr>
      </p:sp>
      <p:sp>
        <p:nvSpPr>
          <p:cNvPr id="19" name="Shape 17"/>
          <p:cNvSpPr/>
          <p:nvPr/>
        </p:nvSpPr>
        <p:spPr>
          <a:xfrm>
            <a:off x="7405192"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7478344" y="128016"/>
            <a:ext cx="201168" cy="201168"/>
          </a:xfrm>
          <a:prstGeom prst="rect">
            <a:avLst/>
          </a:prstGeom>
        </p:spPr>
      </p:pic>
      <p:sp>
        <p:nvSpPr>
          <p:cNvPr id="21" name="Text 18"/>
          <p:cNvSpPr txBox="1"/>
          <p:nvPr/>
        </p:nvSpPr>
        <p:spPr>
          <a:xfrm>
            <a:off x="7734376" y="91440"/>
            <a:ext cx="3872103"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le direttive dell'assemblatore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Compilare, eseguire</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a portable cartridge from one assembly file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step1_skeleton.S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first --name step1 --out build/step1.prg32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2a. run it in QEMU on your laptop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qemu upload build/step1.prg32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qemu run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2b. or send it to a board, or to PRG32-QT, over the network</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build/step1.prg32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http://192.168.4.1 --slot cart0</a:t>
            </a:r>
            <a:endParaRPr lang="en-US" sz="1800" dirty="0"/>
          </a:p>
        </p:txBody>
      </p:sp>
      <p:sp>
        <p:nvSpPr>
          <p:cNvPr id="5" name="Shape 3"/>
          <p:cNvSpPr/>
          <p:nvPr/>
        </p:nvSpPr>
        <p:spPr>
          <a:xfrm>
            <a:off x="7875600" y="91440"/>
            <a:ext cx="3767455" cy="274320"/>
          </a:xfrm>
          <a:prstGeom prst="rect">
            <a:avLst/>
          </a:prstGeom>
          <a:solidFill>
            <a:srgbClr val="FEF3C7"/>
          </a:solidFill>
          <a:ln w="12700">
            <a:solidFill>
              <a:srgbClr val="B45309"/>
            </a:solidFill>
            <a:prstDash val="solid"/>
          </a:ln>
        </p:spPr>
      </p:sp>
      <p:sp>
        <p:nvSpPr>
          <p:cNvPr id="6" name="Shape 4"/>
          <p:cNvSpPr/>
          <p:nvPr/>
        </p:nvSpPr>
        <p:spPr>
          <a:xfrm>
            <a:off x="7875600" y="91440"/>
            <a:ext cx="27432" cy="274320"/>
          </a:xfrm>
          <a:prstGeom prst="rect">
            <a:avLst/>
          </a:prstGeom>
          <a:solidFill>
            <a:srgbClr val="B45309"/>
          </a:solidFill>
          <a:ln w="12700">
            <a:solidFill>
              <a:srgbClr val="B45309"/>
            </a:solidFill>
            <a:prstDash val="solid"/>
          </a:ln>
        </p:spPr>
      </p:sp>
      <p:sp>
        <p:nvSpPr>
          <p:cNvPr id="7" name="Shape 5"/>
          <p:cNvSpPr/>
          <p:nvPr/>
        </p:nvSpPr>
        <p:spPr>
          <a:xfrm>
            <a:off x="7930464"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9" name="Text 6"/>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Passo 2: dire ciao</a:t>
            </a:r>
            <a:endParaRPr lang="en-US" sz="3200" dirty="0"/>
          </a:p>
        </p:txBody>
      </p:sp>
      <p:sp>
        <p:nvSpPr>
          <p:cNvPr id="3" name="Shape 1"/>
          <p:cNvSpPr/>
          <p:nvPr/>
        </p:nvSpPr>
        <p:spPr>
          <a:xfrm>
            <a:off x="548640" y="1417320"/>
            <a:ext cx="667512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21792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first_draw:</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      </a:t>
            </a:r>
            <a:pPr indent="0" marL="0">
              <a:buNone/>
            </a:pPr>
            <a:r>
              <a:rPr lang="en-US" sz="1350" dirty="0">
                <a:solidFill>
                  <a:srgbClr val="8FB3A0"/>
                </a:solidFill>
                <a:latin typeface="Courier New" pitchFamily="34" charset="0"/>
                <a:ea typeface="Courier New" pitchFamily="34" charset="-122"/>
                <a:cs typeface="Courier New" pitchFamily="34" charset="-120"/>
              </a:rPr>
              <a:t># prologue: a 16-byte frame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       </a:t>
            </a:r>
            <a:pPr indent="0" marL="0">
              <a:buNone/>
            </a:pPr>
            <a:r>
              <a:rPr lang="en-US" sz="1350" dirty="0">
                <a:solidFill>
                  <a:srgbClr val="8FB3A0"/>
                </a:solidFill>
                <a:latin typeface="Courier New" pitchFamily="34" charset="0"/>
                <a:ea typeface="Courier New" pitchFamily="34" charset="-122"/>
                <a:cs typeface="Courier New" pitchFamily="34" charset="-120"/>
              </a:rPr>
              <a:t># save the return address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a0, BLACK</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prg32_gfx_clear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a0, 32           </a:t>
            </a:r>
            <a:pPr indent="0" marL="0">
              <a:buNone/>
            </a:pPr>
            <a:r>
              <a:rPr lang="en-US" sz="1350" dirty="0">
                <a:solidFill>
                  <a:srgbClr val="8FB3A0"/>
                </a:solidFill>
                <a:latin typeface="Courier New" pitchFamily="34" charset="0"/>
                <a:ea typeface="Courier New" pitchFamily="34" charset="-122"/>
                <a:cs typeface="Courier New" pitchFamily="34" charset="-120"/>
              </a:rPr>
              <a:t># 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a1, 40           </a:t>
            </a:r>
            <a:pPr indent="0" marL="0">
              <a:buNone/>
            </a:pPr>
            <a:r>
              <a:rPr lang="en-US" sz="1350" dirty="0">
                <a:solidFill>
                  <a:srgbClr val="8FB3A0"/>
                </a:solidFill>
                <a:latin typeface="Courier New" pitchFamily="34" charset="0"/>
                <a:ea typeface="Courier New" pitchFamily="34" charset="-122"/>
                <a:cs typeface="Courier New" pitchFamily="34" charset="-120"/>
              </a:rPr>
              <a:t># 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a2, title        </a:t>
            </a:r>
            <a:pPr indent="0" marL="0">
              <a:buNone/>
            </a:pPr>
            <a:r>
              <a:rPr lang="en-US" sz="1350" dirty="0">
                <a:solidFill>
                  <a:srgbClr val="8FB3A0"/>
                </a:solidFill>
                <a:latin typeface="Courier New" pitchFamily="34" charset="0"/>
                <a:ea typeface="Courier New" pitchFamily="34" charset="-122"/>
                <a:cs typeface="Courier New" pitchFamily="34" charset="-120"/>
              </a:rPr>
              <a:t># address of the string</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a3, WHITE        </a:t>
            </a:r>
            <a:pPr indent="0" marL="0">
              <a:buNone/>
            </a:pPr>
            <a:r>
              <a:rPr lang="en-US" sz="1350" dirty="0">
                <a:solidFill>
                  <a:srgbClr val="8FB3A0"/>
                </a:solidFill>
                <a:latin typeface="Courier New" pitchFamily="34" charset="0"/>
                <a:ea typeface="Courier New" pitchFamily="34" charset="-122"/>
                <a:cs typeface="Courier New" pitchFamily="34" charset="-120"/>
              </a:rPr>
              <a:t># foreground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BLACK        </a:t>
            </a:r>
            <a:pPr indent="0" marL="0">
              <a:buNone/>
            </a:pPr>
            <a:r>
              <a:rPr lang="en-US" sz="1350" dirty="0">
                <a:solidFill>
                  <a:srgbClr val="8FB3A0"/>
                </a:solidFill>
                <a:latin typeface="Courier New" pitchFamily="34" charset="0"/>
                <a:ea typeface="Courier New" pitchFamily="34" charset="-122"/>
                <a:cs typeface="Courier New" pitchFamily="34" charset="-120"/>
              </a:rPr>
              <a:t># background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prg32_gfx_text8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       </a:t>
            </a:r>
            <a:pPr indent="0" marL="0">
              <a:buNone/>
            </a:pPr>
            <a:r>
              <a:rPr lang="en-US" sz="1350" dirty="0">
                <a:solidFill>
                  <a:srgbClr val="8FB3A0"/>
                </a:solidFill>
                <a:latin typeface="Courier New" pitchFamily="34" charset="0"/>
                <a:ea typeface="Courier New" pitchFamily="34" charset="-122"/>
                <a:cs typeface="Courier New" pitchFamily="34" charset="-120"/>
              </a:rPr>
              <a:t># epilogue: restore ra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       </a:t>
            </a:r>
            <a:pPr indent="0" marL="0">
              <a:buNone/>
            </a:pPr>
            <a:r>
              <a:rPr lang="en-US" sz="1350" dirty="0">
                <a:solidFill>
                  <a:srgbClr val="8FB3A0"/>
                </a:solidFill>
                <a:latin typeface="Courier New" pitchFamily="34" charset="0"/>
                <a:ea typeface="Courier New" pitchFamily="34" charset="-122"/>
                <a:cs typeface="Courier New" pitchFamily="34" charset="-120"/>
              </a:rPr>
              <a:t># release the frame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.rodata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title: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.asciz "HELLO PRG32"</a:t>
            </a:r>
            <a:endParaRPr lang="en-US" sz="1350" dirty="0"/>
          </a:p>
        </p:txBody>
      </p:sp>
      <p:sp>
        <p:nvSpPr>
          <p:cNvPr id="5" name="Shape 3"/>
          <p:cNvSpPr/>
          <p:nvPr/>
        </p:nvSpPr>
        <p:spPr>
          <a:xfrm>
            <a:off x="7470648" y="1399032"/>
            <a:ext cx="4245559" cy="2708339"/>
          </a:xfrm>
          <a:prstGeom prst="roundRect">
            <a:avLst>
              <a:gd name="adj" fmla="val 2701"/>
            </a:avLst>
          </a:prstGeom>
          <a:solidFill>
            <a:srgbClr val="1B2530"/>
          </a:solidFill>
          <a:ln w="12700">
            <a:solidFill>
              <a:srgbClr val="1B2530"/>
            </a:solidFill>
            <a:prstDash val="solid"/>
          </a:ln>
        </p:spPr>
      </p:sp>
      <p:pic>
        <p:nvPicPr>
          <p:cNvPr id="6" name="Image 0" descr="/Users/raffaelemontella/devel/riscv-prg32/computer-architecture-with-prg32/tools/assets/lab1_step2_hello.png">    </p:cNvPr>
          <p:cNvPicPr>
            <a:picLocks noChangeAspect="1"/>
          </p:cNvPicPr>
          <p:nvPr/>
        </p:nvPicPr>
        <p:blipFill>
          <a:blip r:embed="rId1"/>
          <a:stretch>
            <a:fillRect/>
          </a:stretch>
        </p:blipFill>
        <p:spPr>
          <a:xfrm>
            <a:off x="7543800" y="1472184"/>
            <a:ext cx="4099255" cy="2562035"/>
          </a:xfrm>
          <a:prstGeom prst="rect">
            <a:avLst/>
          </a:prstGeom>
        </p:spPr>
      </p:pic>
      <p:sp>
        <p:nvSpPr>
          <p:cNvPr id="7" name="Text 4"/>
          <p:cNvSpPr txBox="1"/>
          <p:nvPr/>
        </p:nvSpPr>
        <p:spPr>
          <a:xfrm>
            <a:off x="7543800" y="4180523"/>
            <a:ext cx="4099255" cy="256032"/>
          </a:xfrm>
          <a:prstGeom prst="rect">
            <a:avLst/>
          </a:prstGeom>
          <a:noFill/>
          <a:ln/>
        </p:spPr>
        <p:txBody>
          <a:bodyPr wrap="square" lIns="0" tIns="0" rIns="0" bIns="0" rtlCol="0" anchor="t"/>
          <a:lstStyle/>
          <a:p>
            <a:pPr indent="0" marL="0">
              <a:buNone/>
            </a:pPr>
            <a:r>
              <a:rPr lang="en-US" sz="1150" i="1" dirty="0">
                <a:solidFill>
                  <a:srgbClr val="5B6B78"/>
                </a:solidFill>
                <a:latin typeface="Calibri" pitchFamily="34" charset="0"/>
                <a:ea typeface="Calibri" pitchFamily="34" charset="-122"/>
                <a:cs typeface="Calibri" pitchFamily="34" charset="-120"/>
              </a:rPr>
              <a:t>Schermata: questo passo, compilato ed eseguito su PRG32</a:t>
            </a:r>
            <a:endParaRPr lang="en-US" sz="1150" dirty="0"/>
          </a:p>
        </p:txBody>
      </p:sp>
      <p:sp>
        <p:nvSpPr>
          <p:cNvPr id="8" name="Shape 5"/>
          <p:cNvSpPr/>
          <p:nvPr/>
        </p:nvSpPr>
        <p:spPr>
          <a:xfrm>
            <a:off x="7470648" y="4527995"/>
            <a:ext cx="4245559" cy="1644205"/>
          </a:xfrm>
          <a:prstGeom prst="roundRect">
            <a:avLst>
              <a:gd name="adj" fmla="val 4449"/>
            </a:avLst>
          </a:prstGeom>
          <a:solidFill>
            <a:srgbClr val="EEF2F4"/>
          </a:solidFill>
          <a:ln w="12700">
            <a:solidFill>
              <a:srgbClr val="EEF2F4"/>
            </a:solidFill>
            <a:prstDash val="solid"/>
          </a:ln>
        </p:spPr>
      </p:sp>
      <p:sp>
        <p:nvSpPr>
          <p:cNvPr id="9" name="Text 6"/>
          <p:cNvSpPr txBox="1"/>
          <p:nvPr/>
        </p:nvSpPr>
        <p:spPr>
          <a:xfrm>
            <a:off x="7680960" y="4637723"/>
            <a:ext cx="3824935" cy="1424749"/>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primo argomento va in a0, il secondo in a1, e così via. li carica un numero; la carica l'indirizzo di un'etichetta.</a:t>
            </a:r>
            <a:endParaRPr lang="en-US" sz="1700" dirty="0"/>
          </a:p>
        </p:txBody>
      </p:sp>
      <p:sp>
        <p:nvSpPr>
          <p:cNvPr id="10" name="Shape 7"/>
          <p:cNvSpPr/>
          <p:nvPr/>
        </p:nvSpPr>
        <p:spPr>
          <a:xfrm>
            <a:off x="7415987" y="91440"/>
            <a:ext cx="4227068" cy="274320"/>
          </a:xfrm>
          <a:prstGeom prst="rect">
            <a:avLst/>
          </a:prstGeom>
          <a:solidFill>
            <a:srgbClr val="FEF3C7"/>
          </a:solidFill>
          <a:ln w="12700">
            <a:solidFill>
              <a:srgbClr val="B45309"/>
            </a:solidFill>
            <a:prstDash val="solid"/>
          </a:ln>
        </p:spPr>
      </p:sp>
      <p:sp>
        <p:nvSpPr>
          <p:cNvPr id="11" name="Shape 8"/>
          <p:cNvSpPr/>
          <p:nvPr/>
        </p:nvSpPr>
        <p:spPr>
          <a:xfrm>
            <a:off x="7415987" y="91440"/>
            <a:ext cx="27432" cy="274320"/>
          </a:xfrm>
          <a:prstGeom prst="rect">
            <a:avLst/>
          </a:prstGeom>
          <a:solidFill>
            <a:srgbClr val="B45309"/>
          </a:solidFill>
          <a:ln w="12700">
            <a:solidFill>
              <a:srgbClr val="B45309"/>
            </a:solidFill>
            <a:prstDash val="solid"/>
          </a:ln>
        </p:spPr>
      </p:sp>
      <p:sp>
        <p:nvSpPr>
          <p:cNvPr id="12" name="Shape 9"/>
          <p:cNvSpPr/>
          <p:nvPr/>
        </p:nvSpPr>
        <p:spPr>
          <a:xfrm>
            <a:off x="7470851" y="91440"/>
            <a:ext cx="27432" cy="274320"/>
          </a:xfrm>
          <a:prstGeom prst="rect">
            <a:avLst/>
          </a:prstGeom>
          <a:solidFill>
            <a:srgbClr val="B45309"/>
          </a:solidFill>
          <a:ln w="12700">
            <a:solidFill>
              <a:srgbClr val="B45309"/>
            </a:solidFill>
            <a:prstDash val="solid"/>
          </a:ln>
        </p:spPr>
      </p:sp>
      <p:pic>
        <p:nvPicPr>
          <p:cNvPr id="13" name="Image 1" descr="preencoded.png">    </p:cNvPr>
          <p:cNvPicPr>
            <a:picLocks noChangeAspect="1"/>
          </p:cNvPicPr>
          <p:nvPr/>
        </p:nvPicPr>
        <p:blipFill>
          <a:blip r:embed="rId2"/>
          <a:stretch>
            <a:fillRect/>
          </a:stretch>
        </p:blipFill>
        <p:spPr>
          <a:xfrm>
            <a:off x="7544003" y="128016"/>
            <a:ext cx="201168" cy="201168"/>
          </a:xfrm>
          <a:prstGeom prst="rect">
            <a:avLst/>
          </a:prstGeom>
        </p:spPr>
      </p:pic>
      <p:sp>
        <p:nvSpPr>
          <p:cNvPr id="14" name="Text 10"/>
          <p:cNvSpPr txBox="1"/>
          <p:nvPr/>
        </p:nvSpPr>
        <p:spPr>
          <a:xfrm>
            <a:off x="7800035" y="91440"/>
            <a:ext cx="380644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le chiamate del runtime PRG32</a:t>
            </a:r>
            <a:endParaRPr lang="en-US" sz="1100" dirty="0"/>
          </a:p>
        </p:txBody>
      </p:sp>
      <p:sp>
        <p:nvSpPr>
          <p:cNvPr id="15" name="Shape 11"/>
          <p:cNvSpPr/>
          <p:nvPr/>
        </p:nvSpPr>
        <p:spPr>
          <a:xfrm>
            <a:off x="3189554" y="91440"/>
            <a:ext cx="4116705" cy="274320"/>
          </a:xfrm>
          <a:prstGeom prst="rect">
            <a:avLst/>
          </a:prstGeom>
          <a:solidFill>
            <a:srgbClr val="E0F2FE"/>
          </a:solidFill>
          <a:ln w="12700">
            <a:solidFill>
              <a:srgbClr val="0369A1"/>
            </a:solidFill>
            <a:prstDash val="solid"/>
          </a:ln>
        </p:spPr>
      </p:sp>
      <p:sp>
        <p:nvSpPr>
          <p:cNvPr id="16" name="Shape 12"/>
          <p:cNvSpPr/>
          <p:nvPr/>
        </p:nvSpPr>
        <p:spPr>
          <a:xfrm>
            <a:off x="3189554" y="91440"/>
            <a:ext cx="73152" cy="274320"/>
          </a:xfrm>
          <a:prstGeom prst="rect">
            <a:avLst/>
          </a:prstGeom>
          <a:solidFill>
            <a:srgbClr val="0369A1"/>
          </a:solidFill>
          <a:ln w="12700">
            <a:solidFill>
              <a:srgbClr val="0369A1"/>
            </a:solidFill>
            <a:prstDash val="solid"/>
          </a:ln>
        </p:spPr>
      </p:sp>
      <p:pic>
        <p:nvPicPr>
          <p:cNvPr id="17" name="Image 2" descr="preencoded.png">    </p:cNvPr>
          <p:cNvPicPr>
            <a:picLocks noChangeAspect="1"/>
          </p:cNvPicPr>
          <p:nvPr/>
        </p:nvPicPr>
        <p:blipFill>
          <a:blip r:embed="rId3"/>
          <a:stretch>
            <a:fillRect/>
          </a:stretch>
        </p:blipFill>
        <p:spPr>
          <a:xfrm>
            <a:off x="3317570" y="128016"/>
            <a:ext cx="201168" cy="201168"/>
          </a:xfrm>
          <a:prstGeom prst="rect">
            <a:avLst/>
          </a:prstGeom>
        </p:spPr>
      </p:pic>
      <p:sp>
        <p:nvSpPr>
          <p:cNvPr id="18" name="Text 13"/>
          <p:cNvSpPr txBox="1"/>
          <p:nvPr/>
        </p:nvSpPr>
        <p:spPr>
          <a:xfrm>
            <a:off x="3573602"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gli argomenti in a0 ... a7</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Passo 3: un valore che sopravvive tra i frame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first_update: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pPr indent="0" marL="0">
              <a:buNone/>
            </a:pPr>
            <a:r>
              <a:rPr lang="en-US" sz="1400" dirty="0">
                <a:solidFill>
                  <a:srgbClr val="8FB3A0"/>
                </a:solidFill>
                <a:latin typeface="Courier New" pitchFamily="34" charset="0"/>
                <a:ea typeface="Courier New" pitchFamily="34" charset="-122"/>
                <a:cs typeface="Courier New" pitchFamily="34" charset="-120"/>
              </a:rPr>
              <a:t># A leaf function: it calls nothing,</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pPr indent="0" marL="0">
              <a:buNone/>
            </a:pPr>
            <a:r>
              <a:rPr lang="en-US" sz="1400" dirty="0">
                <a:solidFill>
                  <a:srgbClr val="8FB3A0"/>
                </a:solidFill>
                <a:latin typeface="Courier New" pitchFamily="34" charset="0"/>
                <a:ea typeface="Courier New" pitchFamily="34" charset="-122"/>
                <a:cs typeface="Courier New" pitchFamily="34" charset="-120"/>
              </a:rPr>
              <a:t># so it needs no stack frame.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counter      </a:t>
            </a:r>
            <a:pPr indent="0" marL="0">
              <a:buNone/>
            </a:pPr>
            <a:r>
              <a:rPr lang="en-US" sz="1400" dirty="0">
                <a:solidFill>
                  <a:srgbClr val="8FB3A0"/>
                </a:solidFill>
                <a:latin typeface="Courier New" pitchFamily="34" charset="0"/>
                <a:ea typeface="Courier New" pitchFamily="34" charset="-122"/>
                <a:cs typeface="Courier New" pitchFamily="34" charset="-120"/>
              </a:rPr>
              <a:t># t0 = ADDRESS of counter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t1, 0(t0)        </a:t>
            </a:r>
            <a:pPr indent="0" marL="0">
              <a:buNone/>
            </a:pPr>
            <a:r>
              <a:rPr lang="en-US" sz="1400" dirty="0">
                <a:solidFill>
                  <a:srgbClr val="8FB3A0"/>
                </a:solidFill>
                <a:latin typeface="Courier New" pitchFamily="34" charset="0"/>
                <a:ea typeface="Courier New" pitchFamily="34" charset="-122"/>
                <a:cs typeface="Courier New" pitchFamily="34" charset="-120"/>
              </a:rPr>
              <a:t># t1 = VALUE stored there   (load)</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t1, t1, 1        </a:t>
            </a:r>
            <a:pPr indent="0" marL="0">
              <a:buNone/>
            </a:pPr>
            <a:r>
              <a:rPr lang="en-US" sz="1400" dirty="0">
                <a:solidFill>
                  <a:srgbClr val="8FB3A0"/>
                </a:solidFill>
                <a:latin typeface="Courier New" pitchFamily="34" charset="0"/>
                <a:ea typeface="Courier New" pitchFamily="34" charset="-122"/>
                <a:cs typeface="Courier New" pitchFamily="34" charset="-120"/>
              </a:rPr>
              <a:t># one tick per frame        (modify)</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t1, 0(t0)        </a:t>
            </a:r>
            <a:pPr indent="0" marL="0">
              <a:buNone/>
            </a:pPr>
            <a:r>
              <a:rPr lang="en-US" sz="1400" dirty="0">
                <a:solidFill>
                  <a:srgbClr val="8FB3A0"/>
                </a:solidFill>
                <a:latin typeface="Courier New" pitchFamily="34" charset="0"/>
                <a:ea typeface="Courier New" pitchFamily="34" charset="-122"/>
                <a:cs typeface="Courier New" pitchFamily="34" charset="-120"/>
              </a:rPr>
              <a:t># write it back             (store)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.section .data</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counter: .word 0</a:t>
            </a:r>
            <a:endParaRPr lang="en-US" sz="14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counter è un'etichetta: dà un nome a una locazione di memoria, nella sezione .data, che contiene una parola di 32 bit</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la mette in t0 l'INDIRIZZO di quella locazione</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lw legge in t1 il VALORE a quell'indirizzo; sw lo riscrive</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Il processore calcola solo nei registri: load, modify, store</a:t>
            </a:r>
            <a:endParaRPr lang="en-US" sz="1200" dirty="0"/>
          </a:p>
        </p:txBody>
      </p:sp>
      <p:sp>
        <p:nvSpPr>
          <p:cNvPr id="17" name="Shape 15"/>
          <p:cNvSpPr/>
          <p:nvPr/>
        </p:nvSpPr>
        <p:spPr>
          <a:xfrm>
            <a:off x="7263714" y="91440"/>
            <a:ext cx="4379341" cy="274320"/>
          </a:xfrm>
          <a:prstGeom prst="rect">
            <a:avLst/>
          </a:prstGeom>
          <a:solidFill>
            <a:srgbClr val="E0F2FE"/>
          </a:solidFill>
          <a:ln w="12700">
            <a:solidFill>
              <a:srgbClr val="0369A1"/>
            </a:solidFill>
            <a:prstDash val="solid"/>
          </a:ln>
        </p:spPr>
      </p:sp>
      <p:sp>
        <p:nvSpPr>
          <p:cNvPr id="18" name="Shape 16"/>
          <p:cNvSpPr/>
          <p:nvPr/>
        </p:nvSpPr>
        <p:spPr>
          <a:xfrm>
            <a:off x="7263714"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391730" y="128016"/>
            <a:ext cx="201168" cy="201168"/>
          </a:xfrm>
          <a:prstGeom prst="rect">
            <a:avLst/>
          </a:prstGeom>
        </p:spPr>
      </p:pic>
      <p:sp>
        <p:nvSpPr>
          <p:cNvPr id="20" name="Text 17"/>
          <p:cNvSpPr txBox="1"/>
          <p:nvPr/>
        </p:nvSpPr>
        <p:spPr>
          <a:xfrm>
            <a:off x="7647762" y="91440"/>
            <a:ext cx="395871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indirizzo, valore, load, store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Passo 4: rendere visibile il contatore</a:t>
            </a:r>
            <a:endParaRPr lang="en-US" sz="3200" dirty="0"/>
          </a:p>
        </p:txBody>
      </p:sp>
      <p:sp>
        <p:nvSpPr>
          <p:cNvPr id="3" name="Shape 1"/>
          <p:cNvSpPr/>
          <p:nvPr/>
        </p:nvSpPr>
        <p:spPr>
          <a:xfrm>
            <a:off x="548640" y="1417320"/>
            <a:ext cx="667512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21792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    la   t0, counter</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t1,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andi a2, t1, 255      </a:t>
            </a:r>
            <a:pPr indent="0" marL="0">
              <a:buNone/>
            </a:pPr>
            <a:r>
              <a:rPr lang="en-US" sz="1450" dirty="0">
                <a:solidFill>
                  <a:srgbClr val="8FB3A0"/>
                </a:solidFill>
                <a:latin typeface="Courier New" pitchFamily="34" charset="0"/>
                <a:ea typeface="Courier New" pitchFamily="34" charset="-122"/>
                <a:cs typeface="Courier New" pitchFamily="34" charset="-120"/>
              </a:rPr>
              <a:t># width = counter modulo 256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a0, 32           </a:t>
            </a:r>
            <a:pPr indent="0" marL="0">
              <a:buNone/>
            </a:pPr>
            <a:r>
              <a:rPr lang="en-US" sz="1450" dirty="0">
                <a:solidFill>
                  <a:srgbClr val="8FB3A0"/>
                </a:solidFill>
                <a:latin typeface="Courier New" pitchFamily="34" charset="0"/>
                <a:ea typeface="Courier New" pitchFamily="34" charset="-122"/>
                <a:cs typeface="Courier New" pitchFamily="34" charset="-120"/>
              </a:rPr>
              <a:t># x</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a1, 60           </a:t>
            </a:r>
            <a:pPr indent="0" marL="0">
              <a:buNone/>
            </a:pPr>
            <a:r>
              <a:rPr lang="en-US" sz="1450" dirty="0">
                <a:solidFill>
                  <a:srgbClr val="8FB3A0"/>
                </a:solidFill>
                <a:latin typeface="Courier New" pitchFamily="34" charset="0"/>
                <a:ea typeface="Courier New" pitchFamily="34" charset="-122"/>
                <a:cs typeface="Courier New" pitchFamily="34" charset="-120"/>
              </a:rPr>
              <a:t># 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a3, 8            </a:t>
            </a:r>
            <a:pPr indent="0" marL="0">
              <a:buNone/>
            </a:pPr>
            <a:r>
              <a:rPr lang="en-US" sz="1450" dirty="0">
                <a:solidFill>
                  <a:srgbClr val="8FB3A0"/>
                </a:solidFill>
                <a:latin typeface="Courier New" pitchFamily="34" charset="0"/>
                <a:ea typeface="Courier New" pitchFamily="34" charset="-122"/>
                <a:cs typeface="Courier New" pitchFamily="34" charset="-120"/>
              </a:rPr>
              <a:t># height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a4, GREEN        </a:t>
            </a:r>
            <a:pPr indent="0" marL="0">
              <a:buNone/>
            </a:pPr>
            <a:r>
              <a:rPr lang="en-US" sz="1450" dirty="0">
                <a:solidFill>
                  <a:srgbClr val="8FB3A0"/>
                </a:solidFill>
                <a:latin typeface="Courier New" pitchFamily="34" charset="0"/>
                <a:ea typeface="Courier New" pitchFamily="34" charset="-122"/>
                <a:cs typeface="Courier New" pitchFamily="34" charset="-120"/>
              </a:rPr>
              <a:t># .equ GREEN, 0x07e0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prg32_gfx_rect</a:t>
            </a:r>
            <a:endParaRPr lang="en-US" sz="1450" dirty="0"/>
          </a:p>
        </p:txBody>
      </p:sp>
      <p:sp>
        <p:nvSpPr>
          <p:cNvPr id="5" name="Shape 3"/>
          <p:cNvSpPr/>
          <p:nvPr/>
        </p:nvSpPr>
        <p:spPr>
          <a:xfrm>
            <a:off x="7470648" y="1399032"/>
            <a:ext cx="4245559" cy="2708339"/>
          </a:xfrm>
          <a:prstGeom prst="roundRect">
            <a:avLst>
              <a:gd name="adj" fmla="val 2701"/>
            </a:avLst>
          </a:prstGeom>
          <a:solidFill>
            <a:srgbClr val="1B2530"/>
          </a:solidFill>
          <a:ln w="12700">
            <a:solidFill>
              <a:srgbClr val="1B2530"/>
            </a:solidFill>
            <a:prstDash val="solid"/>
          </a:ln>
        </p:spPr>
      </p:sp>
      <p:pic>
        <p:nvPicPr>
          <p:cNvPr id="6" name="Image 0" descr="/Users/raffaelemontella/devel/riscv-prg32/computer-architecture-with-prg32/tools/assets/lab1_step4_bar.png">    </p:cNvPr>
          <p:cNvPicPr>
            <a:picLocks noChangeAspect="1"/>
          </p:cNvPicPr>
          <p:nvPr/>
        </p:nvPicPr>
        <p:blipFill>
          <a:blip r:embed="rId1"/>
          <a:stretch>
            <a:fillRect/>
          </a:stretch>
        </p:blipFill>
        <p:spPr>
          <a:xfrm>
            <a:off x="7543800" y="1472184"/>
            <a:ext cx="4099255" cy="2562035"/>
          </a:xfrm>
          <a:prstGeom prst="rect">
            <a:avLst/>
          </a:prstGeom>
        </p:spPr>
      </p:pic>
      <p:sp>
        <p:nvSpPr>
          <p:cNvPr id="7" name="Text 4"/>
          <p:cNvSpPr txBox="1"/>
          <p:nvPr/>
        </p:nvSpPr>
        <p:spPr>
          <a:xfrm>
            <a:off x="7543800" y="4180523"/>
            <a:ext cx="4099255" cy="256032"/>
          </a:xfrm>
          <a:prstGeom prst="rect">
            <a:avLst/>
          </a:prstGeom>
          <a:noFill/>
          <a:ln/>
        </p:spPr>
        <p:txBody>
          <a:bodyPr wrap="square" lIns="0" tIns="0" rIns="0" bIns="0" rtlCol="0" anchor="t"/>
          <a:lstStyle/>
          <a:p>
            <a:pPr indent="0" marL="0">
              <a:buNone/>
            </a:pPr>
            <a:r>
              <a:rPr lang="en-US" sz="1150" i="1" dirty="0">
                <a:solidFill>
                  <a:srgbClr val="5B6B78"/>
                </a:solidFill>
                <a:latin typeface="Calibri" pitchFamily="34" charset="0"/>
                <a:ea typeface="Calibri" pitchFamily="34" charset="-122"/>
                <a:cs typeface="Calibri" pitchFamily="34" charset="-120"/>
              </a:rPr>
              <a:t>Schermata: questo passo, compilato ed eseguito su PRG32</a:t>
            </a:r>
            <a:endParaRPr lang="en-US" sz="1150" dirty="0"/>
          </a:p>
        </p:txBody>
      </p:sp>
      <p:sp>
        <p:nvSpPr>
          <p:cNvPr id="8" name="Shape 5"/>
          <p:cNvSpPr/>
          <p:nvPr/>
        </p:nvSpPr>
        <p:spPr>
          <a:xfrm>
            <a:off x="7470648" y="4527995"/>
            <a:ext cx="4245559" cy="1644205"/>
          </a:xfrm>
          <a:prstGeom prst="roundRect">
            <a:avLst>
              <a:gd name="adj" fmla="val 4449"/>
            </a:avLst>
          </a:prstGeom>
          <a:solidFill>
            <a:srgbClr val="EEF2F4"/>
          </a:solidFill>
          <a:ln w="12700">
            <a:solidFill>
              <a:srgbClr val="EEF2F4"/>
            </a:solidFill>
            <a:prstDash val="solid"/>
          </a:ln>
        </p:spPr>
      </p:sp>
      <p:sp>
        <p:nvSpPr>
          <p:cNvPr id="9" name="Text 6"/>
          <p:cNvSpPr txBox="1"/>
          <p:nvPr/>
        </p:nvSpPr>
        <p:spPr>
          <a:xfrm>
            <a:off x="7680960" y="4637723"/>
            <a:ext cx="3824935" cy="1424749"/>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barra cresce da 0 a 255 pixel, poi ricomincia. andi con 255 conserva solo gli otto bit bassi del contatore.</a:t>
            </a:r>
            <a:endParaRPr lang="en-US" sz="1700" dirty="0"/>
          </a:p>
        </p:txBody>
      </p:sp>
      <p:sp>
        <p:nvSpPr>
          <p:cNvPr id="10" name="Shape 7"/>
          <p:cNvSpPr/>
          <p:nvPr/>
        </p:nvSpPr>
        <p:spPr>
          <a:xfrm>
            <a:off x="7175703" y="91440"/>
            <a:ext cx="4467352" cy="274320"/>
          </a:xfrm>
          <a:prstGeom prst="rect">
            <a:avLst/>
          </a:prstGeom>
          <a:solidFill>
            <a:srgbClr val="FEF3C7"/>
          </a:solidFill>
          <a:ln w="12700">
            <a:solidFill>
              <a:srgbClr val="B45309"/>
            </a:solidFill>
            <a:prstDash val="solid"/>
          </a:ln>
        </p:spPr>
      </p:sp>
      <p:sp>
        <p:nvSpPr>
          <p:cNvPr id="11" name="Shape 8"/>
          <p:cNvSpPr/>
          <p:nvPr/>
        </p:nvSpPr>
        <p:spPr>
          <a:xfrm>
            <a:off x="7175703" y="91440"/>
            <a:ext cx="27432" cy="274320"/>
          </a:xfrm>
          <a:prstGeom prst="rect">
            <a:avLst/>
          </a:prstGeom>
          <a:solidFill>
            <a:srgbClr val="B45309"/>
          </a:solidFill>
          <a:ln w="12700">
            <a:solidFill>
              <a:srgbClr val="B45309"/>
            </a:solidFill>
            <a:prstDash val="solid"/>
          </a:ln>
        </p:spPr>
      </p:sp>
      <p:sp>
        <p:nvSpPr>
          <p:cNvPr id="12" name="Shape 9"/>
          <p:cNvSpPr/>
          <p:nvPr/>
        </p:nvSpPr>
        <p:spPr>
          <a:xfrm>
            <a:off x="7230567" y="91440"/>
            <a:ext cx="27432" cy="274320"/>
          </a:xfrm>
          <a:prstGeom prst="rect">
            <a:avLst/>
          </a:prstGeom>
          <a:solidFill>
            <a:srgbClr val="B45309"/>
          </a:solidFill>
          <a:ln w="12700">
            <a:solidFill>
              <a:srgbClr val="B45309"/>
            </a:solidFill>
            <a:prstDash val="solid"/>
          </a:ln>
        </p:spPr>
      </p:sp>
      <p:pic>
        <p:nvPicPr>
          <p:cNvPr id="13" name="Image 1" descr="preencoded.png">    </p:cNvPr>
          <p:cNvPicPr>
            <a:picLocks noChangeAspect="1"/>
          </p:cNvPicPr>
          <p:nvPr/>
        </p:nvPicPr>
        <p:blipFill>
          <a:blip r:embed="rId2"/>
          <a:stretch>
            <a:fillRect/>
          </a:stretch>
        </p:blipFill>
        <p:spPr>
          <a:xfrm>
            <a:off x="7303719" y="128016"/>
            <a:ext cx="201168" cy="201168"/>
          </a:xfrm>
          <a:prstGeom prst="rect">
            <a:avLst/>
          </a:prstGeom>
        </p:spPr>
      </p:pic>
      <p:sp>
        <p:nvSpPr>
          <p:cNvPr id="14" name="Text 10"/>
          <p:cNvSpPr txBox="1"/>
          <p:nvPr/>
        </p:nvSpPr>
        <p:spPr>
          <a:xfrm>
            <a:off x="7559751" y="91440"/>
            <a:ext cx="404672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le maschere di bit</a:t>
            </a:r>
            <a:pPr indent="0" marL="0">
              <a:buNone/>
            </a:pPr>
            <a:r>
              <a:rPr lang="en-US" sz="1100" b="1" dirty="0">
                <a:solidFill>
                  <a:srgbClr val="92400E"/>
                </a:solidFill>
                <a:latin typeface="Calibri" pitchFamily="34" charset="0"/>
                <a:ea typeface="Calibri" pitchFamily="34" charset="-122"/>
                <a:cs typeface="Calibri" pitchFamily="34" charset="-120"/>
              </a:rPr>
              <a:t> → Lezione 08</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l02.S (1 di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400" dirty="0">
                <a:solidFill>
                  <a:srgbClr val="8FB3A0"/>
                </a:solidFill>
                <a:latin typeface="Courier New" pitchFamily="34" charset="0"/>
                <a:ea typeface="Courier New" pitchFamily="34" charset="-122"/>
                <a:cs typeface="Courier New" pitchFamily="34" charset="-120"/>
              </a:rPr>
              <a:t># ARC12 Computer Architecture - Lecture 02: First Contact: RISC-V Assembly on PRG32</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l02.S: the four steps of the lecture in one file</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On the screen: HELLO PRG32 and, under it, a green bar that grows by one pixel per</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frame and starts again at 256.</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Build: python3 -m prg32 cartridge build l02.S --portable \</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--entry-prefix first --name first --out first.prg32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.option norelax</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BLACK, 0x0000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WHITE, 0xffff</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GREEN, 0x07e0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.section .text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first_init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first_update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first_draw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first_init:                  </a:t>
            </a:r>
            <a:pPr indent="0" marL="0">
              <a:buNone/>
            </a:pPr>
            <a:r>
              <a:rPr lang="en-US" sz="1400" dirty="0">
                <a:solidFill>
                  <a:srgbClr val="8FB3A0"/>
                </a:solidFill>
                <a:latin typeface="Courier New" pitchFamily="34" charset="0"/>
                <a:ea typeface="Courier New" pitchFamily="34" charset="-122"/>
                <a:cs typeface="Courier New" pitchFamily="34" charset="-120"/>
              </a:rPr>
              <a:t># step 1: a function that returns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l02.S (2 di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first_update:                </a:t>
            </a:r>
            <a:pPr indent="0" marL="0">
              <a:buNone/>
            </a:pPr>
            <a:r>
              <a:rPr lang="en-US" sz="1500" dirty="0">
                <a:solidFill>
                  <a:srgbClr val="8FB3A0"/>
                </a:solidFill>
                <a:latin typeface="Courier New" pitchFamily="34" charset="0"/>
                <a:ea typeface="Courier New" pitchFamily="34" charset="-122"/>
                <a:cs typeface="Courier New" pitchFamily="34" charset="-120"/>
              </a:rPr>
              <a:t># step 3: a value that survives between frames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pPr indent="0" marL="0">
              <a:buNone/>
            </a:pPr>
            <a:r>
              <a:rPr lang="en-US" sz="1500" dirty="0">
                <a:solidFill>
                  <a:srgbClr val="8FB3A0"/>
                </a:solidFill>
                <a:latin typeface="Courier New" pitchFamily="34" charset="0"/>
                <a:ea typeface="Courier New" pitchFamily="34" charset="-122"/>
                <a:cs typeface="Courier New" pitchFamily="34" charset="-120"/>
              </a:rPr>
              <a:t># A leaf function: it calls nothing, so it needs no stack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counter         </a:t>
            </a:r>
            <a:pPr indent="0" marL="0">
              <a:buNone/>
            </a:pPr>
            <a:r>
              <a:rPr lang="en-US" sz="1500" dirty="0">
                <a:solidFill>
                  <a:srgbClr val="8FB3A0"/>
                </a:solidFill>
                <a:latin typeface="Courier New" pitchFamily="34" charset="0"/>
                <a:ea typeface="Courier New" pitchFamily="34" charset="-122"/>
                <a:cs typeface="Courier New" pitchFamily="34" charset="-120"/>
              </a:rPr>
              <a:t># t0 = ADDRESS of counter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           </a:t>
            </a:r>
            <a:pPr indent="0" marL="0">
              <a:buNone/>
            </a:pPr>
            <a:r>
              <a:rPr lang="en-US" sz="1500" dirty="0">
                <a:solidFill>
                  <a:srgbClr val="8FB3A0"/>
                </a:solidFill>
                <a:latin typeface="Courier New" pitchFamily="34" charset="0"/>
                <a:ea typeface="Courier New" pitchFamily="34" charset="-122"/>
                <a:cs typeface="Courier New" pitchFamily="34" charset="-120"/>
              </a:rPr>
              <a:t># t1 = VALUE stored there   (load)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t1, t1, 1           </a:t>
            </a:r>
            <a:pPr indent="0" marL="0">
              <a:buNone/>
            </a:pPr>
            <a:r>
              <a:rPr lang="en-US" sz="1500" dirty="0">
                <a:solidFill>
                  <a:srgbClr val="8FB3A0"/>
                </a:solidFill>
                <a:latin typeface="Courier New" pitchFamily="34" charset="0"/>
                <a:ea typeface="Courier New" pitchFamily="34" charset="-122"/>
                <a:cs typeface="Courier New" pitchFamily="34" charset="-120"/>
              </a:rPr>
              <a:t># one tick per frame        (modify)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           </a:t>
            </a:r>
            <a:pPr indent="0" marL="0">
              <a:buNone/>
            </a:pPr>
            <a:r>
              <a:rPr lang="en-US" sz="1500" dirty="0">
                <a:solidFill>
                  <a:srgbClr val="8FB3A0"/>
                </a:solidFill>
                <a:latin typeface="Courier New" pitchFamily="34" charset="0"/>
                <a:ea typeface="Courier New" pitchFamily="34" charset="-122"/>
                <a:cs typeface="Courier New" pitchFamily="34" charset="-120"/>
              </a:rPr>
              <a:t># write it back             (store)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first_draw:                  </a:t>
            </a:r>
            <a:pPr indent="0" marL="0">
              <a:buNone/>
            </a:pPr>
            <a:r>
              <a:rPr lang="en-US" sz="1500" dirty="0">
                <a:solidFill>
                  <a:srgbClr val="8FB3A0"/>
                </a:solidFill>
                <a:latin typeface="Courier New" pitchFamily="34" charset="0"/>
                <a:ea typeface="Courier New" pitchFamily="34" charset="-122"/>
                <a:cs typeface="Courier New" pitchFamily="34" charset="-120"/>
              </a:rPr>
              <a:t># step 2: say hello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         </a:t>
            </a:r>
            <a:pPr indent="0" marL="0">
              <a:buNone/>
            </a:pPr>
            <a:r>
              <a:rPr lang="en-US" sz="1500" dirty="0">
                <a:solidFill>
                  <a:srgbClr val="8FB3A0"/>
                </a:solidFill>
                <a:latin typeface="Courier New" pitchFamily="34" charset="0"/>
                <a:ea typeface="Courier New" pitchFamily="34" charset="-122"/>
                <a:cs typeface="Courier New" pitchFamily="34" charset="-120"/>
              </a:rPr>
              <a:t># prologue: a 16-byte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ra, 12(sp)          </a:t>
            </a:r>
            <a:pPr indent="0" marL="0">
              <a:buNone/>
            </a:pPr>
            <a:r>
              <a:rPr lang="en-US" sz="1500" dirty="0">
                <a:solidFill>
                  <a:srgbClr val="8FB3A0"/>
                </a:solidFill>
                <a:latin typeface="Courier New" pitchFamily="34" charset="0"/>
                <a:ea typeface="Courier New" pitchFamily="34" charset="-122"/>
                <a:cs typeface="Courier New" pitchFamily="34" charset="-120"/>
              </a:rPr>
              <a:t># save the return address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BLACK</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prg32_gfx_clear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32              </a:t>
            </a:r>
            <a:pPr indent="0" marL="0">
              <a:buNone/>
            </a:pPr>
            <a:r>
              <a:rPr lang="en-US" sz="1500" dirty="0">
                <a:solidFill>
                  <a:srgbClr val="8FB3A0"/>
                </a:solidFill>
                <a:latin typeface="Courier New" pitchFamily="34" charset="0"/>
                <a:ea typeface="Courier New" pitchFamily="34" charset="-122"/>
                <a:cs typeface="Courier New" pitchFamily="34" charset="-120"/>
              </a:rPr>
              <a:t># 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40              </a:t>
            </a:r>
            <a:pPr indent="0" marL="0">
              <a:buNone/>
            </a:pPr>
            <a:r>
              <a:rPr lang="en-US" sz="1500" dirty="0">
                <a:solidFill>
                  <a:srgbClr val="8FB3A0"/>
                </a:solidFill>
                <a:latin typeface="Courier New" pitchFamily="34" charset="0"/>
                <a:ea typeface="Courier New" pitchFamily="34" charset="-122"/>
                <a:cs typeface="Courier New" pitchFamily="34" charset="-120"/>
              </a:rPr>
              <a:t># 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a2, title           </a:t>
            </a:r>
            <a:pPr indent="0" marL="0">
              <a:buNone/>
            </a:pPr>
            <a:r>
              <a:rPr lang="en-US" sz="1500" dirty="0">
                <a:solidFill>
                  <a:srgbClr val="8FB3A0"/>
                </a:solidFill>
                <a:latin typeface="Courier New" pitchFamily="34" charset="0"/>
                <a:ea typeface="Courier New" pitchFamily="34" charset="-122"/>
                <a:cs typeface="Courier New" pitchFamily="34" charset="-120"/>
              </a:rPr>
              <a:t># address of the string</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a3, WHITE           </a:t>
            </a:r>
            <a:pPr indent="0" marL="0">
              <a:buNone/>
            </a:pPr>
            <a:r>
              <a:rPr lang="en-US" sz="1500" dirty="0">
                <a:solidFill>
                  <a:srgbClr val="8FB3A0"/>
                </a:solidFill>
                <a:latin typeface="Courier New" pitchFamily="34" charset="0"/>
                <a:ea typeface="Courier New" pitchFamily="34" charset="-122"/>
                <a:cs typeface="Courier New" pitchFamily="34" charset="-120"/>
              </a:rPr>
              <a:t># foreground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a4, BLACK           </a:t>
            </a:r>
            <a:pPr indent="0" marL="0">
              <a:buNone/>
            </a:pPr>
            <a:r>
              <a:rPr lang="en-US" sz="1500" dirty="0">
                <a:solidFill>
                  <a:srgbClr val="8FB3A0"/>
                </a:solidFill>
                <a:latin typeface="Courier New" pitchFamily="34" charset="0"/>
                <a:ea typeface="Courier New" pitchFamily="34" charset="-122"/>
                <a:cs typeface="Courier New" pitchFamily="34" charset="-120"/>
              </a:rPr>
              <a:t># background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prg32_gfx_text8</a:t>
            </a:r>
            <a:endParaRPr lang="en-US" sz="15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l02.S (3 di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    la   t0, counter         </a:t>
            </a:r>
            <a:pPr indent="0" marL="0">
              <a:buNone/>
            </a:pPr>
            <a:r>
              <a:rPr lang="en-US" sz="1500" dirty="0">
                <a:solidFill>
                  <a:srgbClr val="8FB3A0"/>
                </a:solidFill>
                <a:latin typeface="Courier New" pitchFamily="34" charset="0"/>
                <a:ea typeface="Courier New" pitchFamily="34" charset="-122"/>
                <a:cs typeface="Courier New" pitchFamily="34" charset="-120"/>
              </a:rPr>
              <a:t># step 4: make the counter visible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andi a2, t1, 255         </a:t>
            </a:r>
            <a:pPr indent="0" marL="0">
              <a:buNone/>
            </a:pPr>
            <a:r>
              <a:rPr lang="en-US" sz="1500" dirty="0">
                <a:solidFill>
                  <a:srgbClr val="8FB3A0"/>
                </a:solidFill>
                <a:latin typeface="Courier New" pitchFamily="34" charset="0"/>
                <a:ea typeface="Courier New" pitchFamily="34" charset="-122"/>
                <a:cs typeface="Courier New" pitchFamily="34" charset="-120"/>
              </a:rPr>
              <a:t># width = counter modulo 256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32              </a:t>
            </a:r>
            <a:pPr indent="0" marL="0">
              <a:buNone/>
            </a:pPr>
            <a:r>
              <a:rPr lang="en-US" sz="1500" dirty="0">
                <a:solidFill>
                  <a:srgbClr val="8FB3A0"/>
                </a:solidFill>
                <a:latin typeface="Courier New" pitchFamily="34" charset="0"/>
                <a:ea typeface="Courier New" pitchFamily="34" charset="-122"/>
                <a:cs typeface="Courier New" pitchFamily="34" charset="-120"/>
              </a:rPr>
              <a:t># 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60              </a:t>
            </a:r>
            <a:pPr indent="0" marL="0">
              <a:buNone/>
            </a:pPr>
            <a:r>
              <a:rPr lang="en-US" sz="1500" dirty="0">
                <a:solidFill>
                  <a:srgbClr val="8FB3A0"/>
                </a:solidFill>
                <a:latin typeface="Courier New" pitchFamily="34" charset="0"/>
                <a:ea typeface="Courier New" pitchFamily="34" charset="-122"/>
                <a:cs typeface="Courier New" pitchFamily="34" charset="-120"/>
              </a:rPr>
              <a:t># 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a3, 8               </a:t>
            </a:r>
            <a:pPr indent="0" marL="0">
              <a:buNone/>
            </a:pPr>
            <a:r>
              <a:rPr lang="en-US" sz="1500" dirty="0">
                <a:solidFill>
                  <a:srgbClr val="8FB3A0"/>
                </a:solidFill>
                <a:latin typeface="Courier New" pitchFamily="34" charset="0"/>
                <a:ea typeface="Courier New" pitchFamily="34" charset="-122"/>
                <a:cs typeface="Courier New" pitchFamily="34" charset="-120"/>
              </a:rPr>
              <a:t># height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a4, GREEN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prg32_gfx_rect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ra, 12(sp)          </a:t>
            </a:r>
            <a:pPr indent="0" marL="0">
              <a:buNone/>
            </a:pPr>
            <a:r>
              <a:rPr lang="en-US" sz="1500" dirty="0">
                <a:solidFill>
                  <a:srgbClr val="8FB3A0"/>
                </a:solidFill>
                <a:latin typeface="Courier New" pitchFamily="34" charset="0"/>
                <a:ea typeface="Courier New" pitchFamily="34" charset="-122"/>
                <a:cs typeface="Courier New" pitchFamily="34" charset="-120"/>
              </a:rPr>
              <a:t># epilogue: restore ra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          </a:t>
            </a:r>
            <a:pPr indent="0" marL="0">
              <a:buNone/>
            </a:pPr>
            <a:r>
              <a:rPr lang="en-US" sz="1500" dirty="0">
                <a:solidFill>
                  <a:srgbClr val="8FB3A0"/>
                </a:solidFill>
                <a:latin typeface="Courier New" pitchFamily="34" charset="0"/>
                <a:ea typeface="Courier New" pitchFamily="34" charset="-122"/>
                <a:cs typeface="Courier New" pitchFamily="34" charset="-120"/>
              </a:rPr>
              <a:t># release the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.rodata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title: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.asciz "HELLO PRG32"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counter: .word 0</a:t>
            </a:r>
            <a:endParaRPr lang="en-US" sz="15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che cosa dovreste vedere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384554"/>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Sullo schermo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HELLO PRG32 e, sotto, una barra verde che cresce di un pixel per frame e ricomincia a 256.</a:t>
            </a:r>
            <a:endParaRPr lang="en-US" sz="2400" dirty="0"/>
          </a:p>
        </p:txBody>
      </p:sp>
      <p:sp>
        <p:nvSpPr>
          <p:cNvPr id="5" name="Shape 3"/>
          <p:cNvSpPr/>
          <p:nvPr/>
        </p:nvSpPr>
        <p:spPr>
          <a:xfrm>
            <a:off x="548640" y="356387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441954"/>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Che cosa premere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niente: il programma va da solo</a:t>
            </a:r>
            <a:endParaRPr lang="en-US" sz="2400" dirty="0"/>
          </a:p>
        </p:txBody>
      </p:sp>
      <p:pic>
        <p:nvPicPr>
          <p:cNvPr id="7" name="Image 0" descr="/Users/raffaelemontella/devel/riscv-prg32/computer-architecture-with-prg32/tools/assets/lab_l02.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frame scritto dal test automatico su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~/arc12/code/l02.S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first --name l02 --out l02.prg32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l02.prg32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deve essere in esecuzione: risponde sulla porta 8080, come una scheda</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Si compila una volta, dalla cartella PRG32, con ESP-IDF attivo nel terminale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memorizza la cartuccia nello slot cart0 e la avvia</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Modalità debug, in Settings: fermare il programma, leggere registri e memoria</a:t>
            </a:r>
            <a:endParaRPr lang="en-US" sz="12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~/arc12/code/l02.S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first --name l02 --architecture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l02-qemu.prg32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l02-qemu.prg32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L'emulatore esegue il firmware vero su un chip emulato: si compila una volta</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cartuccia è compilata per l'architettura qemu: lo stesso sorgente, un altro file</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Si carica la cartuccia con QEMU chiuso, poi lo si avvia e si sceglie Run Cartridge</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 tasti vanno al terminale: frecce o WASD, Z o J per A, X o K per B</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sulla scheda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~/arc12/code/l02.S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first --name l02 --architecture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l02-esp32c6.prg32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l02-esp32c6.prg32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Il firmware si scrive una volta per scheda, attraverso il cavo USB</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scheda crea la rete Wi-Fi PRG32: collegatevi con il vostro computer</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Lo stesso comando di caricamento di PRG32-QT, con l'indirizzo della scheda</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Schermo nero: confrontate il cablaggio del display con il firmware</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 non funziona</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Vedete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Significa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Fate così</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manca un punto di ingresso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prefisso non è quello del sorgente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first; controllate le tre righe .global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non è attivo in questo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eseguite export.sh, o aprite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l'host non ascolta a quell'indirizzo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avviate PRG32-QT; usate l'indirizzo della sua schermata Setup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schermo nero, o di nuovo il menu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funzione non ritorna, o ra non è stato salvato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modalità debug: passo-passo in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ignora i tasti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la tastiera va al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fate clic sul terminale che ha lanciato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875600" y="91440"/>
            <a:ext cx="3767455" cy="274320"/>
          </a:xfrm>
          <a:prstGeom prst="rect">
            <a:avLst/>
          </a:prstGeom>
          <a:solidFill>
            <a:srgbClr val="FEF3C7"/>
          </a:solidFill>
          <a:ln w="12700">
            <a:solidFill>
              <a:srgbClr val="B45309"/>
            </a:solidFill>
            <a:prstDash val="solid"/>
          </a:ln>
        </p:spPr>
      </p:sp>
      <p:sp>
        <p:nvSpPr>
          <p:cNvPr id="5" name="Shape 2"/>
          <p:cNvSpPr/>
          <p:nvPr/>
        </p:nvSpPr>
        <p:spPr>
          <a:xfrm>
            <a:off x="7875600" y="91440"/>
            <a:ext cx="27432" cy="274320"/>
          </a:xfrm>
          <a:prstGeom prst="rect">
            <a:avLst/>
          </a:prstGeom>
          <a:solidFill>
            <a:srgbClr val="B45309"/>
          </a:solidFill>
          <a:ln w="12700">
            <a:solidFill>
              <a:srgbClr val="B45309"/>
            </a:solidFill>
            <a:prstDash val="solid"/>
          </a:ln>
        </p:spPr>
      </p:sp>
      <p:sp>
        <p:nvSpPr>
          <p:cNvPr id="6" name="Shape 3"/>
          <p:cNvSpPr/>
          <p:nvPr/>
        </p:nvSpPr>
        <p:spPr>
          <a:xfrm>
            <a:off x="7930464"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8" name="Text 4"/>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Esercizi su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Cambiate la stringa del titolo e il suo colore in giallo (0xffe0); eseguite di nuovo</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Fate crescere la barra a velocità doppia, poi quadrupla, cambiando una sola istruzione</a:t>
            </a:r>
            <a:endParaRPr lang="en-US" sz="20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Fate accorciare la barra invece di farla crescere. Che cosa accade quando il contatore supera lo zero?</a:t>
            </a:r>
            <a:endParaRPr lang="en-US" sz="2000" dirty="0"/>
          </a:p>
        </p:txBody>
      </p:sp>
      <p:sp>
        <p:nvSpPr>
          <p:cNvPr id="10" name="Text 8"/>
          <p:cNvSpPr txBox="1"/>
          <p:nvPr/>
        </p:nvSpPr>
        <p:spPr>
          <a:xfrm>
            <a:off x="548640" y="371246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69417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PRG32-QT eseguite first_update passo-passo e annotate t0 e t1 dopo ogni istruzione</a:t>
            </a:r>
            <a:endParaRPr lang="en-US" sz="2000" dirty="0"/>
          </a:p>
        </p:txBody>
      </p:sp>
      <p:sp>
        <p:nvSpPr>
          <p:cNvPr id="12" name="Text 10"/>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Disegnate una seconda barra, rossa, larga quanto il contatore modulo 64</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Nell'esercizio 3 il contatore va a 0, poi a 0xFFFFFFFF: con andi 255 la barra salta a 255 e si accorcia. Conservate l'osservazione: la spiega la Lezione 05.</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Primo contatto: l'assembly RISC-V su PRG32: il codice</dc:title>
  <dc:subject>Lezione 02</dc:subject>
  <dc:creator>Raffaele Montella</dc:creator>
  <cp:lastModifiedBy>Raffaele Montella</cp:lastModifiedBy>
  <cp:revision>1</cp:revision>
  <dcterms:created xsi:type="dcterms:W3CDTF">2026-10-16T16:46:57Z</dcterms:created>
  <dcterms:modified xsi:type="dcterms:W3CDTF">2026-10-16T16:46:57Z</dcterms:modified>
</cp:coreProperties>
</file>