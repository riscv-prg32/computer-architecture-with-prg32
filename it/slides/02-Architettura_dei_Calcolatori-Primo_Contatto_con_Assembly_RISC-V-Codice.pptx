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5a629b6-7339-85e6-7cb3-7b200b57ecdb}">
          <p14:sldIdLst>
            <p14:sldId id="256"/>
            <p14:sldId id="257"/>
          </p14:sldIdLst>
        </p14:section>
        <p14:section name="La prima cartuccia" id="{42a2d9e4-e0e8-91f9-1dbf-de7c2efc43dd}">
          <p14:sldIdLst>
            <p14:sldId id="258"/>
            <p14:sldId id="259"/>
            <p14:sldId id="260"/>
            <p14:sldId id="261"/>
            <p14:sldId id="262"/>
          </p14:sldIdLst>
        </p14:section>
        <p14:section name="Il programma completo" id="{d1d6af84-6516-1460-9259-88a3e8af5f11}">
          <p14:sldIdLst>
            <p14:sldId id="263"/>
            <p14:sldId id="264"/>
            <p14:sldId id="265"/>
          </p14:sldIdLst>
        </p14:section>
        <p14:section name="Eseguire e provare" id="{ddfc94a0-259b-885d-ad52-7efbeccd3342}">
          <p14:sldIdLst>
            <p14:sldId id="266"/>
            <p14:sldId id="267"/>
            <p14:sldId id="268"/>
            <p14:sldId id="269"/>
            <p14:sldId id="270"/>
          </p14:sldIdLst>
        </p14:section>
        <p14:section name="Esercizi" id="{ef0e9a5d-bf93-7c1e-2f4c-90ab24f3dadf}">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02. La presentazione della lezione contiene i concetti; questa contiene tutto ciò che si scrive e si esegue: i listati con la loro spiegazione, il programma completo, che cosa mostra, e il modo di provarlo su ciascuno dei tre host.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registri, calcolo, trasferimento, salto; i registri; contratto init/update/draw; gli argomenti in a0 ... a7; perché si salva ra; indirizzo, valore, load, store; le istruzioni di base; le pseudo-istruzioni; un'istruzione è un numero; seguire a mano l'esecuzione. DA UTILIZZARE OGGI: la convenzione di chiamata (Lezione 18); le maschere di bit (Lezione 08) e, usati senza essere studiati nel corso, le direttive dell'assemblatore, gli strumenti di PRG32, le chiamate del runtime PRG32, il debugger di PRG32-QT, il programma completo. DA COMPRENDERE PIÙ AVANTI: la pila (Lezione 18); i modi di indirizzamento (Lezione 19); formati delle istruzioni (Lezione 19); l'esadecimale (Lezione 04); il complemento a due (Lezione 05); la virgola fissa (Lezione 06); l'algebra di Boole (Lezione 08); il sommatore (Lezione 09); dai volt ai bit (Lezione 10); latch e flip-flop (Lezione 13); il ciclo del processore (Lezione 19); il progetto Verm1 (Lezione 07). Una slide senza etichetta è contesto: una storia, un esempio, una domanda, un esercizio.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contiene la presentazione, nell'ordine delle slide. Il programma della lezione è un file che potete compilare ed eseguire così com'è: partite da lì, e tornate ai listati per capire ogni parte. Il programma di questa lezione è ~/arc12/code/l02.S; tools/tests/cartridges/run.py lo compila, lo esegue su PRG32-QT con ingressi programmati e controlla i pixel del frame.
Per il docente: Procurarsi il codice una volta: git clone https://github.com/riscv-prg32/computer-architecture-with-prg32 ~/arc12. Il programma di questa lezione è ~/arc12/code/l02.S; tools/tests/cartridges/run.py lo compila, lo esegue su PRG32-QT con ingressi programmati e controlla i pixel del frame.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più piccolo programma che gira. .option norelax è una riga con cui comincia ogni esempio PRG32: rende prevedibile la disposizione della cartuccia. .section .text dice che segue del codice. Ogni .global rende un'etichetta visibile fuori dal file, così il firmware può trovare la funzione per nome. Poi tre funzioni, ciascuna fatta della sola istruzione ret, che ritorna al chiamante. Il risultato è uno schermo nero, ed è un successo: il framework ha trovato le vostre tre funzioni, le ha chiamate, e ha riavuto il controllo.
DA UTILIZZARE OGGI: le direttive dell'assemblatore (si usa, non si studia, in questo corso).
Per il docente: Sorgente: labs/05-asm-first-contact/step1_skeleton.S. Risultato atteso: uno schermo nero. Il risultato è che il framework ha trovato le tre funzioni, le ha chiamate, ed è sopravvissuto.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comandi che batterete centinaia di volte. cartridge build trasforma il file assembly in una cartuccia: --entry-prefix first è il prefisso delle vostre tre funzioni, --out il nome del risultato. Poi la si esegue: in QEMU con qemu upload e qemu run, oppure su una scheda o su PRG32-QT con upload-and-run e l'indirizzo dell'host. Per PRG32-QT sul vostro portatile l'indirizzo è http://localhost:8080. Il file della cartuccia è lo stesso per tutti e tre.
DA UTILIZZARE OGGI: gli strumenti di PRG32 (si usa, non si studia, in questo corso).
Per il docente: Sorgente: labs/run.sh. Con PRG32_HOME impostata, l'intera sequenza è: labs/run.sh 05-asm-first-contact/step1_skeleton.S first . Il file della cartuccia è identico byte per byte per QEMU, per la scheda e per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passo scrive sullo schermo. Leggete first_draw in tre parti. Le prime due righe fanno spazio sullo stack e salvano ra. Poi due chiamate: prg32_gfx_clear con il colore in a0, e prg32_gfx_text8 con cinque argomenti da a0 ad a4: x, y, l'indirizzo della stringa, colore del testo, colore dello sfondo. Notate i due modi di caricare: li carica un numero, la carica l'indirizzo di un'etichetta. Le ultime tre righe ripristinano ra, rilasciano lo stack e ritornano. La stringa è un dato, nella sezione .rodata.
DA COMPRENDERE OGGI: gli argomenti in a0 ... a7. DA UTILIZZARE OGGI: le chiamate del runtime PRG32 (si usa, non si studia, in questo corso).
Per il docente: Sorgente: labs/05-asm-first-contact/step2_hello.S. Le righe .equ (BLACK 0x0000, WHITE 0xffff) sono omesse sulla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terzo passo conserva un valore da un frame al successivo. I registri non sopravvivono tra una chiamata di update e l'altra, quindi il valore deve vivere in memoria. counter è un'etichetta: dà un nome a una locazione della sezione .data che contiene una parola. Le quattro istruzioni sono lo schema di ogni variabile: la mette in t0 l'indirizzo della locazione; lw carica in t1 il valore; addi lo modifica; sw lo riscrive. Load, modify, store. Sullo schermo non cambia ancora nulla: il contatore avanza, ma nessuno lo disegna.
DA COMPRENDERE OGGI: indirizzo, valore, load, store.
Per il docente: Sorgente: labs/05-asm-first-contact/step3_counter.S. Non cambia ancora nulla di visibile: il contatore avanza ma nessuno lo disegna. Chiedere all'aula come si potrebbe dimostrare che avanza (risposta: il debugger di PRG32-QT, oppure il passo successivo).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quarto passo rende visibile il contatore come una barra verde. Il valore viene caricato, e andi a2, t1, 255 ne conserva solo gli otto bit bassi, così la larghezza va da 0 a 255 e poi ricomincia. Gli altri registri sono gli argomenti di prg32_gfx_rect: x, y, larghezza, altezza e colore. Otto righe, e vi si nascondono tre lezioni future: 255 scritto come 0xFF, andi usato come maschera, e 0x07e0 che significa verde. Ricordate dove li avete visti per la prima volta.
DA UTILIZZARE OGGI: le maschere di bit (si studia nella Lezione 08).
Per il docente: Sorgente: labs/05-asm-first-contact/step4_bar.S (le righe aggiunte a first_draw). In queste otto righe si nascondono tre lezioni future: 255 = 0xFF (notazione posizionale), andi come maschera di bit (algebra di Boole), 0x07e0 come colore (codifica dell'informazione).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DA UTILIZZARE OGGI: il programma completo (si usa, non si studia, in questo corso).
Per il docente: code/l02.S,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DA UTILIZZARE OGGI: il programma completo (si usa, non si studia, in questo corso).
Per il docente: code/l02.S,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DA UTILIZZARE OGGI: il programma completo (si usa, non si studia, in questo corso).
Per il docente: code/l02.S,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mostra il programma quando gira, e che cosa premere. Prevedete prima di eseguire: se lo schermo è diverso da questa immagine, la differenza è informazione. L'immagine è stata scritta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rapida: PRG32-QT sul vostro computer. Quattro passi, ciascuno con il suo comando. PRG32-QT si comporta come una scheda sulla porta 8080, ed è per questo che il comando di caricamento dice esp32c6. Con la modalità debug abilitata potete fermarvi su qualsiasi istruzione e leggere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Caricate la cartuccia mentre QEMU è chiuso. Il firmware si apre sul menu Setup: scegliete Run Cartridge e lo slot. Ricordate che la tastiera è letta dal terminale, non dalla finestra con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Il firmware si scrive una volta, via USB; dopo, le cartucce viaggiano sul Wi-Fi. Il comando di caricamento è quello usato per PRG32-QT con l'indirizzo della scheda. È l'unico host che i test automatici non eseguono: provatelo, e riferite ciò che vedete.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comuni, che cosa significa ciascuno, e che cosa fare. Leggete il messaggio prima di cambiare qualcosa: quasi sempre nomina la causa.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sulla vostra cartuccia; ognuno è il seme di una lezione successiva. Cambiate il testo e il suo colore. Fate crescere la barra a velocità doppia o quadrupla cambiando una sola istruzione. Fatela accorciare, e osservate che cosa accade quando il contatore supera lo zero: la barra salta alla larghezza massima, e la Lezione 05 spiegherà perché. Eseguite first_update passo-passo e annotate i registri. Disegnate una seconda barra larga quanto il contatore modulo 64. Prima prevedete, poi eseguite.
Per il docente: Suggerimenti: addi t1, t1, 2 oppure slli prima di andi per l'esercizio 2; addi t1, t1, -1 per l'esercizio 3; andi a2, t1, 63 per l'esercizio 5. Ogni esercizio è il seme di una lezione successiva.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02: Primo contatto con l'assembly RISC-V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Primo contatto: l'assembly RISC‑V su PRG32: il codice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02-Architettura_dei_Calcolatori-Primo_Contatto_con_Assembly_RISC-V.pptx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1_step4_bar.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8910777" y="91440"/>
            <a:ext cx="2732278" cy="274320"/>
          </a:xfrm>
          <a:prstGeom prst="rect">
            <a:avLst/>
          </a:prstGeom>
          <a:solidFill>
            <a:srgbClr val="F3E8FF"/>
          </a:solidFill>
          <a:ln w="12700">
            <a:solidFill>
              <a:srgbClr val="7E22CE"/>
            </a:solidFill>
            <a:prstDash val="dash"/>
          </a:ln>
        </p:spPr>
      </p:sp>
      <p:sp>
        <p:nvSpPr>
          <p:cNvPr id="15" name="Shape 12"/>
          <p:cNvSpPr/>
          <p:nvPr/>
        </p:nvSpPr>
        <p:spPr>
          <a:xfrm>
            <a:off x="8938209" y="128016"/>
            <a:ext cx="45720" cy="45720"/>
          </a:xfrm>
          <a:prstGeom prst="rect">
            <a:avLst/>
          </a:prstGeom>
          <a:solidFill>
            <a:srgbClr val="7E22CE"/>
          </a:solidFill>
          <a:ln w="12700">
            <a:solidFill>
              <a:srgbClr val="7E22CE"/>
            </a:solidFill>
            <a:prstDash val="solid"/>
          </a:ln>
        </p:spPr>
      </p:sp>
      <p:sp>
        <p:nvSpPr>
          <p:cNvPr id="16" name="Shape 13"/>
          <p:cNvSpPr/>
          <p:nvPr/>
        </p:nvSpPr>
        <p:spPr>
          <a:xfrm>
            <a:off x="8938209" y="205740"/>
            <a:ext cx="45720" cy="45720"/>
          </a:xfrm>
          <a:prstGeom prst="rect">
            <a:avLst/>
          </a:prstGeom>
          <a:solidFill>
            <a:srgbClr val="7E22CE"/>
          </a:solidFill>
          <a:ln w="12700">
            <a:solidFill>
              <a:srgbClr val="7E22CE"/>
            </a:solidFill>
            <a:prstDash val="solid"/>
          </a:ln>
        </p:spPr>
      </p:sp>
      <p:sp>
        <p:nvSpPr>
          <p:cNvPr id="17" name="Shape 14"/>
          <p:cNvSpPr/>
          <p:nvPr/>
        </p:nvSpPr>
        <p:spPr>
          <a:xfrm>
            <a:off x="8938209"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19" name="Text 15"/>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0" name="Shape 16"/>
          <p:cNvSpPr/>
          <p:nvPr/>
        </p:nvSpPr>
        <p:spPr>
          <a:xfrm>
            <a:off x="6675069" y="91440"/>
            <a:ext cx="2125980" cy="274320"/>
          </a:xfrm>
          <a:prstGeom prst="rect">
            <a:avLst/>
          </a:prstGeom>
          <a:solidFill>
            <a:srgbClr val="FEF3C7"/>
          </a:solidFill>
          <a:ln w="12700">
            <a:solidFill>
              <a:srgbClr val="B45309"/>
            </a:solidFill>
            <a:prstDash val="solid"/>
          </a:ln>
        </p:spPr>
      </p:sp>
      <p:sp>
        <p:nvSpPr>
          <p:cNvPr id="21" name="Shape 17"/>
          <p:cNvSpPr/>
          <p:nvPr/>
        </p:nvSpPr>
        <p:spPr>
          <a:xfrm>
            <a:off x="6675069" y="91440"/>
            <a:ext cx="27432" cy="274320"/>
          </a:xfrm>
          <a:prstGeom prst="rect">
            <a:avLst/>
          </a:prstGeom>
          <a:solidFill>
            <a:srgbClr val="B45309"/>
          </a:solidFill>
          <a:ln w="12700">
            <a:solidFill>
              <a:srgbClr val="B45309"/>
            </a:solidFill>
            <a:prstDash val="solid"/>
          </a:ln>
        </p:spPr>
      </p:sp>
      <p:sp>
        <p:nvSpPr>
          <p:cNvPr id="22" name="Shape 18"/>
          <p:cNvSpPr/>
          <p:nvPr/>
        </p:nvSpPr>
        <p:spPr>
          <a:xfrm>
            <a:off x="672993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4" name="Text 19"/>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5" name="Shape 20"/>
          <p:cNvSpPr/>
          <p:nvPr/>
        </p:nvSpPr>
        <p:spPr>
          <a:xfrm>
            <a:off x="4352747" y="91440"/>
            <a:ext cx="2212594" cy="274320"/>
          </a:xfrm>
          <a:prstGeom prst="rect">
            <a:avLst/>
          </a:prstGeom>
          <a:solidFill>
            <a:srgbClr val="E0F2FE"/>
          </a:solidFill>
          <a:ln w="12700">
            <a:solidFill>
              <a:srgbClr val="0369A1"/>
            </a:solidFill>
            <a:prstDash val="solid"/>
          </a:ln>
        </p:spPr>
      </p:sp>
      <p:sp>
        <p:nvSpPr>
          <p:cNvPr id="26" name="Shape 21"/>
          <p:cNvSpPr/>
          <p:nvPr/>
        </p:nvSpPr>
        <p:spPr>
          <a:xfrm>
            <a:off x="435274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8" name="Text 22"/>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5 listati della Lezione 02, uno per slide: leggete il codice, poi le osservazioni numerate a fianco</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completo: code/l02.S, 60 righe, stampato per intero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1: il più piccolo programma che gira</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Assembly Lab 1: the smallest program that runs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norelax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.text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.option norelax rende prevedibile la disposizione della cartuccia: ogni esempio PRG32 comincia così</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.section .text dice che ciò che segue è codice eseguibile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.global rende un'etichetta visibile al firmware, che trova le funzioni per nome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ret ritorna al chiamante: tre funzioni che non fanno nulla, correttamente</a:t>
            </a:r>
            <a:endParaRPr lang="en-US" sz="1200" dirty="0"/>
          </a:p>
        </p:txBody>
      </p:sp>
      <p:sp>
        <p:nvSpPr>
          <p:cNvPr id="17" name="Shape 15"/>
          <p:cNvSpPr/>
          <p:nvPr/>
        </p:nvSpPr>
        <p:spPr>
          <a:xfrm>
            <a:off x="7350328" y="91440"/>
            <a:ext cx="4292727" cy="274320"/>
          </a:xfrm>
          <a:prstGeom prst="rect">
            <a:avLst/>
          </a:prstGeom>
          <a:solidFill>
            <a:srgbClr val="FEF3C7"/>
          </a:solidFill>
          <a:ln w="12700">
            <a:solidFill>
              <a:srgbClr val="B45309"/>
            </a:solidFill>
            <a:prstDash val="solid"/>
          </a:ln>
        </p:spPr>
      </p:sp>
      <p:sp>
        <p:nvSpPr>
          <p:cNvPr id="18" name="Shape 16"/>
          <p:cNvSpPr/>
          <p:nvPr/>
        </p:nvSpPr>
        <p:spPr>
          <a:xfrm>
            <a:off x="7350328" y="91440"/>
            <a:ext cx="27432" cy="274320"/>
          </a:xfrm>
          <a:prstGeom prst="rect">
            <a:avLst/>
          </a:prstGeom>
          <a:solidFill>
            <a:srgbClr val="B45309"/>
          </a:solidFill>
          <a:ln w="12700">
            <a:solidFill>
              <a:srgbClr val="B45309"/>
            </a:solidFill>
            <a:prstDash val="solid"/>
          </a:ln>
        </p:spPr>
      </p:sp>
      <p:sp>
        <p:nvSpPr>
          <p:cNvPr id="19" name="Shape 17"/>
          <p:cNvSpPr/>
          <p:nvPr/>
        </p:nvSpPr>
        <p:spPr>
          <a:xfrm>
            <a:off x="7405192"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478344" y="128016"/>
            <a:ext cx="201168" cy="201168"/>
          </a:xfrm>
          <a:prstGeom prst="rect">
            <a:avLst/>
          </a:prstGeom>
        </p:spPr>
      </p:pic>
      <p:sp>
        <p:nvSpPr>
          <p:cNvPr id="21" name="Text 18"/>
          <p:cNvSpPr txBox="1"/>
          <p:nvPr/>
        </p:nvSpPr>
        <p:spPr>
          <a:xfrm>
            <a:off x="7734376" y="91440"/>
            <a:ext cx="3872103"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 direttive dell'assemblatore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Compilare, eseguire</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a portable cartridge from one assembly file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step1_skeleton.S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first --name step1 --out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2a. run it in QEMU on your laptop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upload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run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2b. or send it to a board, or to PRG32-QT, over the network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build/step1.prg32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http://192.168.4.1 --slot cart0</a:t>
            </a:r>
            <a:endParaRPr lang="en-US" sz="1800" dirty="0"/>
          </a:p>
        </p:txBody>
      </p:sp>
      <p:sp>
        <p:nvSpPr>
          <p:cNvPr id="5" name="Shape 3"/>
          <p:cNvSpPr/>
          <p:nvPr/>
        </p:nvSpPr>
        <p:spPr>
          <a:xfrm>
            <a:off x="7875600" y="91440"/>
            <a:ext cx="3767455" cy="274320"/>
          </a:xfrm>
          <a:prstGeom prst="rect">
            <a:avLst/>
          </a:prstGeom>
          <a:solidFill>
            <a:srgbClr val="FEF3C7"/>
          </a:solidFill>
          <a:ln w="12700">
            <a:solidFill>
              <a:srgbClr val="B45309"/>
            </a:solidFill>
            <a:prstDash val="solid"/>
          </a:ln>
        </p:spPr>
      </p:sp>
      <p:sp>
        <p:nvSpPr>
          <p:cNvPr id="6" name="Shape 4"/>
          <p:cNvSpPr/>
          <p:nvPr/>
        </p:nvSpPr>
        <p:spPr>
          <a:xfrm>
            <a:off x="7875600" y="91440"/>
            <a:ext cx="27432" cy="274320"/>
          </a:xfrm>
          <a:prstGeom prst="rect">
            <a:avLst/>
          </a:prstGeom>
          <a:solidFill>
            <a:srgbClr val="B45309"/>
          </a:solidFill>
          <a:ln w="12700">
            <a:solidFill>
              <a:srgbClr val="B45309"/>
            </a:solidFill>
            <a:prstDash val="solid"/>
          </a:ln>
        </p:spPr>
      </p:sp>
      <p:sp>
        <p:nvSpPr>
          <p:cNvPr id="7" name="Shape 5"/>
          <p:cNvSpPr/>
          <p:nvPr/>
        </p:nvSpPr>
        <p:spPr>
          <a:xfrm>
            <a:off x="7930464"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9" name="Text 6"/>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2: dire ciao</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first_draw: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prologue: a 16-byte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       </a:t>
            </a:r>
            <a:pPr indent="0" marL="0">
              <a:buNone/>
            </a:pPr>
            <a:r>
              <a:rPr lang="en-US" sz="1350" dirty="0">
                <a:solidFill>
                  <a:srgbClr val="8FB3A0"/>
                </a:solidFill>
                <a:latin typeface="Courier New" pitchFamily="34" charset="0"/>
                <a:ea typeface="Courier New" pitchFamily="34" charset="-122"/>
                <a:cs typeface="Courier New" pitchFamily="34" charset="-120"/>
              </a:rPr>
              <a:t># save the return address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BLACK</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prg32_gfx_clear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32           </a:t>
            </a:r>
            <a:pPr indent="0" marL="0">
              <a:buNone/>
            </a:pPr>
            <a:r>
              <a:rPr lang="en-US" sz="1350" dirty="0">
                <a:solidFill>
                  <a:srgbClr val="8FB3A0"/>
                </a:solidFill>
                <a:latin typeface="Courier New" pitchFamily="34" charset="0"/>
                <a:ea typeface="Courier New" pitchFamily="34" charset="-122"/>
                <a:cs typeface="Courier New" pitchFamily="34" charset="-120"/>
              </a:rPr>
              <a:t># 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40           </a:t>
            </a:r>
            <a:pPr indent="0" marL="0">
              <a:buNone/>
            </a:pPr>
            <a:r>
              <a:rPr lang="en-US" sz="1350" dirty="0">
                <a:solidFill>
                  <a:srgbClr val="8FB3A0"/>
                </a:solidFill>
                <a:latin typeface="Courier New" pitchFamily="34" charset="0"/>
                <a:ea typeface="Courier New" pitchFamily="34" charset="-122"/>
                <a:cs typeface="Courier New" pitchFamily="34" charset="-120"/>
              </a:rPr>
              <a:t># 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a2, title        </a:t>
            </a:r>
            <a:pPr indent="0" marL="0">
              <a:buNone/>
            </a:pPr>
            <a:r>
              <a:rPr lang="en-US" sz="1350" dirty="0">
                <a:solidFill>
                  <a:srgbClr val="8FB3A0"/>
                </a:solidFill>
                <a:latin typeface="Courier New" pitchFamily="34" charset="0"/>
                <a:ea typeface="Courier New" pitchFamily="34" charset="-122"/>
                <a:cs typeface="Courier New" pitchFamily="34" charset="-120"/>
              </a:rPr>
              <a:t># address of the string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WHITE        </a:t>
            </a:r>
            <a:pPr indent="0" marL="0">
              <a:buNone/>
            </a:pPr>
            <a:r>
              <a:rPr lang="en-US" sz="1350" dirty="0">
                <a:solidFill>
                  <a:srgbClr val="8FB3A0"/>
                </a:solidFill>
                <a:latin typeface="Courier New" pitchFamily="34" charset="0"/>
                <a:ea typeface="Courier New" pitchFamily="34" charset="-122"/>
                <a:cs typeface="Courier New" pitchFamily="34" charset="-120"/>
              </a:rPr>
              <a:t># foreground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BLACK        </a:t>
            </a:r>
            <a:pPr indent="0" marL="0">
              <a:buNone/>
            </a:pPr>
            <a:r>
              <a:rPr lang="en-US" sz="1350" dirty="0">
                <a:solidFill>
                  <a:srgbClr val="8FB3A0"/>
                </a:solidFill>
                <a:latin typeface="Courier New" pitchFamily="34" charset="0"/>
                <a:ea typeface="Courier New" pitchFamily="34" charset="-122"/>
                <a:cs typeface="Courier New" pitchFamily="34" charset="-120"/>
              </a:rPr>
              <a:t># background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prg32_gfx_text8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       </a:t>
            </a:r>
            <a:pPr indent="0" marL="0">
              <a:buNone/>
            </a:pPr>
            <a:r>
              <a:rPr lang="en-US" sz="1350" dirty="0">
                <a:solidFill>
                  <a:srgbClr val="8FB3A0"/>
                </a:solidFill>
                <a:latin typeface="Courier New" pitchFamily="34" charset="0"/>
                <a:ea typeface="Courier New" pitchFamily="34" charset="-122"/>
                <a:cs typeface="Courier New" pitchFamily="34" charset="-120"/>
              </a:rPr>
              <a:t># epilogue: restore ra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release the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.rodata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title: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.asciz "HELLO PRG32"</a:t>
            </a:r>
            <a:endParaRPr lang="en-US" sz="13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2_hello.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Schermata: questo passo, compilato ed eseguito su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primo argomento va in a0, il secondo in a1, e così via. li carica un numero; la carica l'indirizzo di un'etichetta.</a:t>
            </a:r>
            <a:endParaRPr lang="en-US" sz="1700" dirty="0"/>
          </a:p>
        </p:txBody>
      </p:sp>
      <p:sp>
        <p:nvSpPr>
          <p:cNvPr id="10" name="Shape 7"/>
          <p:cNvSpPr/>
          <p:nvPr/>
        </p:nvSpPr>
        <p:spPr>
          <a:xfrm>
            <a:off x="7415987" y="91440"/>
            <a:ext cx="4227068" cy="274320"/>
          </a:xfrm>
          <a:prstGeom prst="rect">
            <a:avLst/>
          </a:prstGeom>
          <a:solidFill>
            <a:srgbClr val="FEF3C7"/>
          </a:solidFill>
          <a:ln w="12700">
            <a:solidFill>
              <a:srgbClr val="B45309"/>
            </a:solidFill>
            <a:prstDash val="solid"/>
          </a:ln>
        </p:spPr>
      </p:sp>
      <p:sp>
        <p:nvSpPr>
          <p:cNvPr id="11" name="Shape 8"/>
          <p:cNvSpPr/>
          <p:nvPr/>
        </p:nvSpPr>
        <p:spPr>
          <a:xfrm>
            <a:off x="7415987" y="91440"/>
            <a:ext cx="27432" cy="274320"/>
          </a:xfrm>
          <a:prstGeom prst="rect">
            <a:avLst/>
          </a:prstGeom>
          <a:solidFill>
            <a:srgbClr val="B45309"/>
          </a:solidFill>
          <a:ln w="12700">
            <a:solidFill>
              <a:srgbClr val="B45309"/>
            </a:solidFill>
            <a:prstDash val="solid"/>
          </a:ln>
        </p:spPr>
      </p:sp>
      <p:sp>
        <p:nvSpPr>
          <p:cNvPr id="12" name="Shape 9"/>
          <p:cNvSpPr/>
          <p:nvPr/>
        </p:nvSpPr>
        <p:spPr>
          <a:xfrm>
            <a:off x="7470851" y="91440"/>
            <a:ext cx="27432" cy="274320"/>
          </a:xfrm>
          <a:prstGeom prst="rect">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7544003" y="128016"/>
            <a:ext cx="201168" cy="201168"/>
          </a:xfrm>
          <a:prstGeom prst="rect">
            <a:avLst/>
          </a:prstGeom>
        </p:spPr>
      </p:pic>
      <p:sp>
        <p:nvSpPr>
          <p:cNvPr id="14" name="Text 10"/>
          <p:cNvSpPr txBox="1"/>
          <p:nvPr/>
        </p:nvSpPr>
        <p:spPr>
          <a:xfrm>
            <a:off x="7800035" y="91440"/>
            <a:ext cx="380644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 chiamate del runtime PRG32</a:t>
            </a:r>
            <a:endParaRPr lang="en-US" sz="1100" dirty="0"/>
          </a:p>
        </p:txBody>
      </p:sp>
      <p:sp>
        <p:nvSpPr>
          <p:cNvPr id="15" name="Shape 11"/>
          <p:cNvSpPr/>
          <p:nvPr/>
        </p:nvSpPr>
        <p:spPr>
          <a:xfrm>
            <a:off x="3189554" y="91440"/>
            <a:ext cx="4116705" cy="274320"/>
          </a:xfrm>
          <a:prstGeom prst="rect">
            <a:avLst/>
          </a:prstGeom>
          <a:solidFill>
            <a:srgbClr val="E0F2FE"/>
          </a:solidFill>
          <a:ln w="12700">
            <a:solidFill>
              <a:srgbClr val="0369A1"/>
            </a:solidFill>
            <a:prstDash val="solid"/>
          </a:ln>
        </p:spPr>
      </p:sp>
      <p:sp>
        <p:nvSpPr>
          <p:cNvPr id="16" name="Shape 12"/>
          <p:cNvSpPr/>
          <p:nvPr/>
        </p:nvSpPr>
        <p:spPr>
          <a:xfrm>
            <a:off x="3189554" y="91440"/>
            <a:ext cx="73152" cy="274320"/>
          </a:xfrm>
          <a:prstGeom prst="rect">
            <a:avLst/>
          </a:prstGeom>
          <a:solidFill>
            <a:srgbClr val="0369A1"/>
          </a:solidFill>
          <a:ln w="12700">
            <a:solidFill>
              <a:srgbClr val="0369A1"/>
            </a:solidFill>
            <a:prstDash val="solid"/>
          </a:ln>
        </p:spPr>
      </p:sp>
      <p:pic>
        <p:nvPicPr>
          <p:cNvPr id="17" name="Image 2" descr="preencoded.png">    </p:cNvPr>
          <p:cNvPicPr>
            <a:picLocks noChangeAspect="1"/>
          </p:cNvPicPr>
          <p:nvPr/>
        </p:nvPicPr>
        <p:blipFill>
          <a:blip r:embed="rId3"/>
          <a:stretch>
            <a:fillRect/>
          </a:stretch>
        </p:blipFill>
        <p:spPr>
          <a:xfrm>
            <a:off x="3317570" y="128016"/>
            <a:ext cx="201168" cy="201168"/>
          </a:xfrm>
          <a:prstGeom prst="rect">
            <a:avLst/>
          </a:prstGeom>
        </p:spPr>
      </p:pic>
      <p:sp>
        <p:nvSpPr>
          <p:cNvPr id="18" name="Text 13"/>
          <p:cNvSpPr txBox="1"/>
          <p:nvPr/>
        </p:nvSpPr>
        <p:spPr>
          <a:xfrm>
            <a:off x="3573602"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argomenti in a0 ... a7</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3: un valore che sopravvive tra i frame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first_update: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A leaf function: it calls nothing,</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so it needs no stack frame.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counter      </a:t>
            </a:r>
            <a:pPr indent="0" marL="0">
              <a:buNone/>
            </a:pPr>
            <a:r>
              <a:rPr lang="en-US" sz="1400" dirty="0">
                <a:solidFill>
                  <a:srgbClr val="8FB3A0"/>
                </a:solidFill>
                <a:latin typeface="Courier New" pitchFamily="34" charset="0"/>
                <a:ea typeface="Courier New" pitchFamily="34" charset="-122"/>
                <a:cs typeface="Courier New" pitchFamily="34" charset="-120"/>
              </a:rPr>
              <a:t># t0 = ADDRESS of counter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        </a:t>
            </a:r>
            <a:pPr indent="0" marL="0">
              <a:buNone/>
            </a:pPr>
            <a:r>
              <a:rPr lang="en-US" sz="1400" dirty="0">
                <a:solidFill>
                  <a:srgbClr val="8FB3A0"/>
                </a:solidFill>
                <a:latin typeface="Courier New" pitchFamily="34" charset="0"/>
                <a:ea typeface="Courier New" pitchFamily="34" charset="-122"/>
                <a:cs typeface="Courier New" pitchFamily="34" charset="-120"/>
              </a:rPr>
              <a:t># t1 = VALUE stored there   (load)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1        </a:t>
            </a:r>
            <a:pPr indent="0" marL="0">
              <a:buNone/>
            </a:pPr>
            <a:r>
              <a:rPr lang="en-US" sz="1400" dirty="0">
                <a:solidFill>
                  <a:srgbClr val="8FB3A0"/>
                </a:solidFill>
                <a:latin typeface="Courier New" pitchFamily="34" charset="0"/>
                <a:ea typeface="Courier New" pitchFamily="34" charset="-122"/>
                <a:cs typeface="Courier New" pitchFamily="34" charset="-120"/>
              </a:rPr>
              <a:t># one tick per frame        (modify)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        </a:t>
            </a:r>
            <a:pPr indent="0" marL="0">
              <a:buNone/>
            </a:pPr>
            <a:r>
              <a:rPr lang="en-US" sz="1400" dirty="0">
                <a:solidFill>
                  <a:srgbClr val="8FB3A0"/>
                </a:solidFill>
                <a:latin typeface="Courier New" pitchFamily="34" charset="0"/>
                <a:ea typeface="Courier New" pitchFamily="34" charset="-122"/>
                <a:cs typeface="Courier New" pitchFamily="34" charset="-120"/>
              </a:rPr>
              <a:t># write it back             (store)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.data</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counter: .word 0</a:t>
            </a:r>
            <a:endParaRPr lang="en-US" sz="14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counter è un'etichetta: dà un nome a una locazione di memoria, nella sezione .data, che contiene una parola di 32 bit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mette in t0 l'INDIRIZZO di quella locazione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lw legge in t1 il VALORE a quell'indirizzo; sw lo riscrive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processore calcola solo nei registri: load, modify, store</a:t>
            </a:r>
            <a:endParaRPr lang="en-US" sz="1200" dirty="0"/>
          </a:p>
        </p:txBody>
      </p:sp>
      <p:sp>
        <p:nvSpPr>
          <p:cNvPr id="17" name="Shape 15"/>
          <p:cNvSpPr/>
          <p:nvPr/>
        </p:nvSpPr>
        <p:spPr>
          <a:xfrm>
            <a:off x="7263714" y="91440"/>
            <a:ext cx="4379341" cy="274320"/>
          </a:xfrm>
          <a:prstGeom prst="rect">
            <a:avLst/>
          </a:prstGeom>
          <a:solidFill>
            <a:srgbClr val="E0F2FE"/>
          </a:solidFill>
          <a:ln w="12700">
            <a:solidFill>
              <a:srgbClr val="0369A1"/>
            </a:solidFill>
            <a:prstDash val="solid"/>
          </a:ln>
        </p:spPr>
      </p:sp>
      <p:sp>
        <p:nvSpPr>
          <p:cNvPr id="18" name="Shape 16"/>
          <p:cNvSpPr/>
          <p:nvPr/>
        </p:nvSpPr>
        <p:spPr>
          <a:xfrm>
            <a:off x="726371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391730" y="128016"/>
            <a:ext cx="201168" cy="201168"/>
          </a:xfrm>
          <a:prstGeom prst="rect">
            <a:avLst/>
          </a:prstGeom>
        </p:spPr>
      </p:pic>
      <p:sp>
        <p:nvSpPr>
          <p:cNvPr id="20" name="Text 17"/>
          <p:cNvSpPr txBox="1"/>
          <p:nvPr/>
        </p:nvSpPr>
        <p:spPr>
          <a:xfrm>
            <a:off x="7647762" y="91440"/>
            <a:ext cx="395871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indirizzo, valore, load, store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4: rendere visibile il contatore</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la   t0, counter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andi a2, t1, 255      </a:t>
            </a:r>
            <a:pPr indent="0" marL="0">
              <a:buNone/>
            </a:pPr>
            <a:r>
              <a:rPr lang="en-US" sz="1450" dirty="0">
                <a:solidFill>
                  <a:srgbClr val="8FB3A0"/>
                </a:solidFill>
                <a:latin typeface="Courier New" pitchFamily="34" charset="0"/>
                <a:ea typeface="Courier New" pitchFamily="34" charset="-122"/>
                <a:cs typeface="Courier New" pitchFamily="34" charset="-120"/>
              </a:rPr>
              <a:t># width = counter modulo 256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a0, 32           </a:t>
            </a:r>
            <a:pPr indent="0" marL="0">
              <a:buNone/>
            </a:pPr>
            <a:r>
              <a:rPr lang="en-US" sz="1450" dirty="0">
                <a:solidFill>
                  <a:srgbClr val="8FB3A0"/>
                </a:solidFill>
                <a:latin typeface="Courier New" pitchFamily="34" charset="0"/>
                <a:ea typeface="Courier New" pitchFamily="34" charset="-122"/>
                <a:cs typeface="Courier New" pitchFamily="34" charset="-120"/>
              </a:rPr>
              <a:t># x</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a1, 60           </a:t>
            </a:r>
            <a:pPr indent="0" marL="0">
              <a:buNone/>
            </a:pPr>
            <a:r>
              <a:rPr lang="en-US" sz="1450" dirty="0">
                <a:solidFill>
                  <a:srgbClr val="8FB3A0"/>
                </a:solidFill>
                <a:latin typeface="Courier New" pitchFamily="34" charset="0"/>
                <a:ea typeface="Courier New" pitchFamily="34" charset="-122"/>
                <a:cs typeface="Courier New" pitchFamily="34" charset="-120"/>
              </a:rPr>
              <a:t># 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8            </a:t>
            </a:r>
            <a:pPr indent="0" marL="0">
              <a:buNone/>
            </a:pPr>
            <a:r>
              <a:rPr lang="en-US" sz="1450" dirty="0">
                <a:solidFill>
                  <a:srgbClr val="8FB3A0"/>
                </a:solidFill>
                <a:latin typeface="Courier New" pitchFamily="34" charset="0"/>
                <a:ea typeface="Courier New" pitchFamily="34" charset="-122"/>
                <a:cs typeface="Courier New" pitchFamily="34" charset="-120"/>
              </a:rPr>
              <a:t># height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a4, GREEN        </a:t>
            </a:r>
            <a:pPr indent="0" marL="0">
              <a:buNone/>
            </a:pPr>
            <a:r>
              <a:rPr lang="en-US" sz="1450" dirty="0">
                <a:solidFill>
                  <a:srgbClr val="8FB3A0"/>
                </a:solidFill>
                <a:latin typeface="Courier New" pitchFamily="34" charset="0"/>
                <a:ea typeface="Courier New" pitchFamily="34" charset="-122"/>
                <a:cs typeface="Courier New" pitchFamily="34" charset="-120"/>
              </a:rPr>
              <a:t># .equ GREEN, 0x07e0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4_bar.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Schermata: questo passo, compilato ed eseguito su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barra cresce da 0 a 255 pixel, poi ricomincia. andi con 255 conserva solo gli otto bit bassi del contatore.</a:t>
            </a:r>
            <a:endParaRPr lang="en-US" sz="1700" dirty="0"/>
          </a:p>
        </p:txBody>
      </p:sp>
      <p:sp>
        <p:nvSpPr>
          <p:cNvPr id="10" name="Shape 7"/>
          <p:cNvSpPr/>
          <p:nvPr/>
        </p:nvSpPr>
        <p:spPr>
          <a:xfrm>
            <a:off x="7175703" y="91440"/>
            <a:ext cx="4467352" cy="274320"/>
          </a:xfrm>
          <a:prstGeom prst="rect">
            <a:avLst/>
          </a:prstGeom>
          <a:solidFill>
            <a:srgbClr val="FEF3C7"/>
          </a:solidFill>
          <a:ln w="12700">
            <a:solidFill>
              <a:srgbClr val="B45309"/>
            </a:solidFill>
            <a:prstDash val="solid"/>
          </a:ln>
        </p:spPr>
      </p:sp>
      <p:sp>
        <p:nvSpPr>
          <p:cNvPr id="11" name="Shape 8"/>
          <p:cNvSpPr/>
          <p:nvPr/>
        </p:nvSpPr>
        <p:spPr>
          <a:xfrm>
            <a:off x="7175703" y="91440"/>
            <a:ext cx="27432" cy="274320"/>
          </a:xfrm>
          <a:prstGeom prst="rect">
            <a:avLst/>
          </a:prstGeom>
          <a:solidFill>
            <a:srgbClr val="B45309"/>
          </a:solidFill>
          <a:ln w="12700">
            <a:solidFill>
              <a:srgbClr val="B45309"/>
            </a:solidFill>
            <a:prstDash val="solid"/>
          </a:ln>
        </p:spPr>
      </p:sp>
      <p:sp>
        <p:nvSpPr>
          <p:cNvPr id="12" name="Shape 9"/>
          <p:cNvSpPr/>
          <p:nvPr/>
        </p:nvSpPr>
        <p:spPr>
          <a:xfrm>
            <a:off x="7230567" y="91440"/>
            <a:ext cx="27432" cy="274320"/>
          </a:xfrm>
          <a:prstGeom prst="rect">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7303719" y="128016"/>
            <a:ext cx="201168" cy="201168"/>
          </a:xfrm>
          <a:prstGeom prst="rect">
            <a:avLst/>
          </a:prstGeom>
        </p:spPr>
      </p:pic>
      <p:sp>
        <p:nvSpPr>
          <p:cNvPr id="14" name="Text 10"/>
          <p:cNvSpPr txBox="1"/>
          <p:nvPr/>
        </p:nvSpPr>
        <p:spPr>
          <a:xfrm>
            <a:off x="7559751" y="91440"/>
            <a:ext cx="404672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 maschere di bit</a:t>
            </a:r>
            <a:pPr indent="0" marL="0">
              <a:buNone/>
            </a:pPr>
            <a:r>
              <a:rPr lang="en-US" sz="1100" b="1" dirty="0">
                <a:solidFill>
                  <a:srgbClr val="92400E"/>
                </a:solidFill>
                <a:latin typeface="Calibri" pitchFamily="34" charset="0"/>
                <a:ea typeface="Calibri" pitchFamily="34" charset="-122"/>
                <a:cs typeface="Calibri" pitchFamily="34" charset="-120"/>
              </a:rPr>
              <a:t> → Lezione 08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l02.S (1 di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ARC12 Computer Architecture - Lecture 02: First Contact: RISC-V Assembly on PRG32</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l02.S: the four steps of the lecture in one file</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On the screen: HELLO PRG32 and, under it, a green bar that grows by one pixel per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frame and starts again at 256.</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Build: python3 -m prg32 cartridge build l02.S --portable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--entry-prefix first --name first --out first.prg32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.option norelax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BLACK, 0x0000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WHITE, 0xffff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GREEN, 0x07e0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.text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first_init:                  </a:t>
            </a:r>
            <a:pPr indent="0" marL="0">
              <a:buNone/>
            </a:pPr>
            <a:r>
              <a:rPr lang="en-US" sz="1400" dirty="0">
                <a:solidFill>
                  <a:srgbClr val="8FB3A0"/>
                </a:solidFill>
                <a:latin typeface="Courier New" pitchFamily="34" charset="0"/>
                <a:ea typeface="Courier New" pitchFamily="34" charset="-122"/>
                <a:cs typeface="Courier New" pitchFamily="34" charset="-120"/>
              </a:rPr>
              <a:t># step 1: a function that returns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l02.S (2 di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first_update:                </a:t>
            </a:r>
            <a:pPr indent="0" marL="0">
              <a:buNone/>
            </a:pPr>
            <a:r>
              <a:rPr lang="en-US" sz="1500" dirty="0">
                <a:solidFill>
                  <a:srgbClr val="8FB3A0"/>
                </a:solidFill>
                <a:latin typeface="Courier New" pitchFamily="34" charset="0"/>
                <a:ea typeface="Courier New" pitchFamily="34" charset="-122"/>
                <a:cs typeface="Courier New" pitchFamily="34" charset="-120"/>
              </a:rPr>
              <a:t># step 3: a value that survives between frames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pPr indent="0" marL="0">
              <a:buNone/>
            </a:pPr>
            <a:r>
              <a:rPr lang="en-US" sz="1500" dirty="0">
                <a:solidFill>
                  <a:srgbClr val="8FB3A0"/>
                </a:solidFill>
                <a:latin typeface="Courier New" pitchFamily="34" charset="0"/>
                <a:ea typeface="Courier New" pitchFamily="34" charset="-122"/>
                <a:cs typeface="Courier New" pitchFamily="34" charset="-120"/>
              </a:rPr>
              <a:t># A leaf function: it calls nothing, so it needs no stack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t0 = ADDRESS of counter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VALUE stored there   (load)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t1, t1, 1           </a:t>
            </a:r>
            <a:pPr indent="0" marL="0">
              <a:buNone/>
            </a:pPr>
            <a:r>
              <a:rPr lang="en-US" sz="1500" dirty="0">
                <a:solidFill>
                  <a:srgbClr val="8FB3A0"/>
                </a:solidFill>
                <a:latin typeface="Courier New" pitchFamily="34" charset="0"/>
                <a:ea typeface="Courier New" pitchFamily="34" charset="-122"/>
                <a:cs typeface="Courier New" pitchFamily="34" charset="-120"/>
              </a:rPr>
              <a:t># one tick per frame        (modify)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write it back             (store)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first_draw:                  </a:t>
            </a:r>
            <a:pPr indent="0" marL="0">
              <a:buNone/>
            </a:pPr>
            <a:r>
              <a:rPr lang="en-US" sz="1500" dirty="0">
                <a:solidFill>
                  <a:srgbClr val="8FB3A0"/>
                </a:solidFill>
                <a:latin typeface="Courier New" pitchFamily="34" charset="0"/>
                <a:ea typeface="Courier New" pitchFamily="34" charset="-122"/>
                <a:cs typeface="Courier New" pitchFamily="34" charset="-120"/>
              </a:rPr>
              <a:t># step 2: say hello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         </a:t>
            </a:r>
            <a:pPr indent="0" marL="0">
              <a:buNone/>
            </a:pPr>
            <a:r>
              <a:rPr lang="en-US" sz="1500" dirty="0">
                <a:solidFill>
                  <a:srgbClr val="8FB3A0"/>
                </a:solidFill>
                <a:latin typeface="Courier New" pitchFamily="34" charset="0"/>
                <a:ea typeface="Courier New" pitchFamily="34" charset="-122"/>
                <a:cs typeface="Courier New" pitchFamily="34" charset="-120"/>
              </a:rPr>
              <a:t># prologue: a 16-byte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          </a:t>
            </a:r>
            <a:pPr indent="0" marL="0">
              <a:buNone/>
            </a:pPr>
            <a:r>
              <a:rPr lang="en-US" sz="1500" dirty="0">
                <a:solidFill>
                  <a:srgbClr val="8FB3A0"/>
                </a:solidFill>
                <a:latin typeface="Courier New" pitchFamily="34" charset="0"/>
                <a:ea typeface="Courier New" pitchFamily="34" charset="-122"/>
                <a:cs typeface="Courier New" pitchFamily="34" charset="-120"/>
              </a:rPr>
              <a:t># save the return address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BLACK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prg32_gfx_clear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32              </a:t>
            </a:r>
            <a:pPr indent="0" marL="0">
              <a:buNone/>
            </a:pPr>
            <a:r>
              <a:rPr lang="en-US" sz="1500" dirty="0">
                <a:solidFill>
                  <a:srgbClr val="8FB3A0"/>
                </a:solidFill>
                <a:latin typeface="Courier New" pitchFamily="34" charset="0"/>
                <a:ea typeface="Courier New" pitchFamily="34" charset="-122"/>
                <a:cs typeface="Courier New" pitchFamily="34" charset="-120"/>
              </a:rPr>
              <a:t># 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40              </a:t>
            </a:r>
            <a:pPr indent="0" marL="0">
              <a:buNone/>
            </a:pPr>
            <a:r>
              <a:rPr lang="en-US" sz="1500" dirty="0">
                <a:solidFill>
                  <a:srgbClr val="8FB3A0"/>
                </a:solidFill>
                <a:latin typeface="Courier New" pitchFamily="34" charset="0"/>
                <a:ea typeface="Courier New" pitchFamily="34" charset="-122"/>
                <a:cs typeface="Courier New" pitchFamily="34" charset="-120"/>
              </a:rPr>
              <a:t># 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title           </a:t>
            </a:r>
            <a:pPr indent="0" marL="0">
              <a:buNone/>
            </a:pPr>
            <a:r>
              <a:rPr lang="en-US" sz="1500" dirty="0">
                <a:solidFill>
                  <a:srgbClr val="8FB3A0"/>
                </a:solidFill>
                <a:latin typeface="Courier New" pitchFamily="34" charset="0"/>
                <a:ea typeface="Courier New" pitchFamily="34" charset="-122"/>
                <a:cs typeface="Courier New" pitchFamily="34" charset="-120"/>
              </a:rPr>
              <a:t># address of the string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a3, WHITE           </a:t>
            </a:r>
            <a:pPr indent="0" marL="0">
              <a:buNone/>
            </a:pPr>
            <a:r>
              <a:rPr lang="en-US" sz="1500" dirty="0">
                <a:solidFill>
                  <a:srgbClr val="8FB3A0"/>
                </a:solidFill>
                <a:latin typeface="Courier New" pitchFamily="34" charset="0"/>
                <a:ea typeface="Courier New" pitchFamily="34" charset="-122"/>
                <a:cs typeface="Courier New" pitchFamily="34" charset="-120"/>
              </a:rPr>
              <a:t># foreground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a4, BLACK           </a:t>
            </a:r>
            <a:pPr indent="0" marL="0">
              <a:buNone/>
            </a:pPr>
            <a:r>
              <a:rPr lang="en-US" sz="1500" dirty="0">
                <a:solidFill>
                  <a:srgbClr val="8FB3A0"/>
                </a:solidFill>
                <a:latin typeface="Courier New" pitchFamily="34" charset="0"/>
                <a:ea typeface="Courier New" pitchFamily="34" charset="-122"/>
                <a:cs typeface="Courier New" pitchFamily="34" charset="-120"/>
              </a:rPr>
              <a:t># background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prg32_gfx_text8</a:t>
            </a:r>
            <a:endParaRPr lang="en-US" sz="15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l02.S (3 di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step 4: make the counter visible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andi a2, t1, 255         </a:t>
            </a:r>
            <a:pPr indent="0" marL="0">
              <a:buNone/>
            </a:pPr>
            <a:r>
              <a:rPr lang="en-US" sz="1500" dirty="0">
                <a:solidFill>
                  <a:srgbClr val="8FB3A0"/>
                </a:solidFill>
                <a:latin typeface="Courier New" pitchFamily="34" charset="0"/>
                <a:ea typeface="Courier New" pitchFamily="34" charset="-122"/>
                <a:cs typeface="Courier New" pitchFamily="34" charset="-120"/>
              </a:rPr>
              <a:t># width = counter modulo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32              </a:t>
            </a:r>
            <a:pPr indent="0" marL="0">
              <a:buNone/>
            </a:pPr>
            <a:r>
              <a:rPr lang="en-US" sz="1500" dirty="0">
                <a:solidFill>
                  <a:srgbClr val="8FB3A0"/>
                </a:solidFill>
                <a:latin typeface="Courier New" pitchFamily="34" charset="0"/>
                <a:ea typeface="Courier New" pitchFamily="34" charset="-122"/>
                <a:cs typeface="Courier New" pitchFamily="34" charset="-120"/>
              </a:rPr>
              <a:t># 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60              </a:t>
            </a:r>
            <a:pPr indent="0" marL="0">
              <a:buNone/>
            </a:pPr>
            <a:r>
              <a:rPr lang="en-US" sz="1500" dirty="0">
                <a:solidFill>
                  <a:srgbClr val="8FB3A0"/>
                </a:solidFill>
                <a:latin typeface="Courier New" pitchFamily="34" charset="0"/>
                <a:ea typeface="Courier New" pitchFamily="34" charset="-122"/>
                <a:cs typeface="Courier New" pitchFamily="34" charset="-120"/>
              </a:rPr>
              <a:t># 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a3, 8               </a:t>
            </a:r>
            <a:pPr indent="0" marL="0">
              <a:buNone/>
            </a:pPr>
            <a:r>
              <a:rPr lang="en-US" sz="1500" dirty="0">
                <a:solidFill>
                  <a:srgbClr val="8FB3A0"/>
                </a:solidFill>
                <a:latin typeface="Courier New" pitchFamily="34" charset="0"/>
                <a:ea typeface="Courier New" pitchFamily="34" charset="-122"/>
                <a:cs typeface="Courier New" pitchFamily="34" charset="-120"/>
              </a:rPr>
              <a:t># height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a4, GREEN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prg32_gfx_rect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ra, 12(sp)          </a:t>
            </a:r>
            <a:pPr indent="0" marL="0">
              <a:buNone/>
            </a:pPr>
            <a:r>
              <a:rPr lang="en-US" sz="1500" dirty="0">
                <a:solidFill>
                  <a:srgbClr val="8FB3A0"/>
                </a:solidFill>
                <a:latin typeface="Courier New" pitchFamily="34" charset="0"/>
                <a:ea typeface="Courier New" pitchFamily="34" charset="-122"/>
                <a:cs typeface="Courier New" pitchFamily="34" charset="-120"/>
              </a:rPr>
              <a:t># epilogue: restore ra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          </a:t>
            </a:r>
            <a:pPr indent="0" marL="0">
              <a:buNone/>
            </a:pPr>
            <a:r>
              <a:rPr lang="en-US" sz="1500" dirty="0">
                <a:solidFill>
                  <a:srgbClr val="8FB3A0"/>
                </a:solidFill>
                <a:latin typeface="Courier New" pitchFamily="34" charset="0"/>
                <a:ea typeface="Courier New" pitchFamily="34" charset="-122"/>
                <a:cs typeface="Courier New" pitchFamily="34" charset="-120"/>
              </a:rPr>
              <a:t># release the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.asciz "HELLO 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counter: .word 0</a:t>
            </a:r>
            <a:endParaRPr lang="en-US" sz="15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38455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HELLO PRG32 e, sotto, una barra verde che cresce di un pixel per frame e ricomincia a 256.</a:t>
            </a:r>
            <a:endParaRPr lang="en-US" sz="2400" dirty="0"/>
          </a:p>
        </p:txBody>
      </p:sp>
      <p:sp>
        <p:nvSpPr>
          <p:cNvPr id="5" name="Shape 3"/>
          <p:cNvSpPr/>
          <p:nvPr/>
        </p:nvSpPr>
        <p:spPr>
          <a:xfrm>
            <a:off x="548640" y="356387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441954"/>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lab_l02.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l02 --out l02.prg32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l02.prg32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l02-qemu.prg32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l02-qemu.prg32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l02-esp32c6.prg32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l02-esp32c6.prg32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first;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su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Cambiate la stringa del titolo e il suo colore in giallo (0xffe0); eseguite di nuovo</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Fate crescere la barra a velocità doppia, poi quadrupla, cambiando una sola istruzione</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Fate accorciare la barra invece di farla crescere. Che cosa accade quando il contatore supera lo zero?</a:t>
            </a:r>
            <a:endParaRPr lang="en-US" sz="2000" dirty="0"/>
          </a:p>
        </p:txBody>
      </p:sp>
      <p:sp>
        <p:nvSpPr>
          <p:cNvPr id="10" name="Text 8"/>
          <p:cNvSpPr txBox="1"/>
          <p:nvPr/>
        </p:nvSpPr>
        <p:spPr>
          <a:xfrm>
            <a:off x="548640" y="37124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6941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PRG32-QT eseguite first_update passo-passo e annotate t0 e t1 dopo ogni istruzione</a:t>
            </a:r>
            <a:endParaRPr lang="en-US" sz="20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Disegnate una seconda barra, rossa, larga quanto il contatore modulo 64</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Nell'esercizio 3 il contatore va a 0, poi a 0xFFFFFFFF: con andi 255 la barra salta a 255 e si accorcia. Conservate l'osservazione: la spiega la Lezione 05.</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Primo contatto: l'assembly RISC-V su PRG32: il codice</dc:title>
  <dc:subject>Lezione 02</dc:subject>
  <dc:creator>Raffaele Montella</dc:creator>
  <cp:lastModifiedBy>Raffaele Montella</cp:lastModifiedBy>
  <cp:revision>1</cp:revision>
  <dcterms:created xsi:type="dcterms:W3CDTF">2026-10-16T15:51:38Z</dcterms:created>
  <dcterms:modified xsi:type="dcterms:W3CDTF">2026-10-16T15:51:38Z</dcterms:modified>
</cp:coreProperties>
</file>