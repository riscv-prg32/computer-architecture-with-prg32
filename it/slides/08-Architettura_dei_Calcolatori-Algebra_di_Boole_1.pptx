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6de4fbd-a447-0718-221a-7bc1f4a09f51}">
          <p14:sldIdLst>
            <p14:sldId id="256"/>
            <p14:sldId id="257"/>
          </p14:sldIdLst>
        </p14:section>
        <p14:section name="Il calcolatore come macchina logica" id="{4b2b9ded-b399-f6dd-4e5e-4b3e545f2484}">
          <p14:sldIdLst>
            <p14:sldId id="258"/>
            <p14:sldId id="259"/>
            <p14:sldId id="260"/>
            <p14:sldId id="261"/>
            <p14:sldId id="262"/>
          </p14:sldIdLst>
        </p14:section>
        <p14:section name="Algebra di Boole" id="{9576a2d0-4f7b-dad9-4060-1411ce8879d3}">
          <p14:sldIdLst>
            <p14:sldId id="263"/>
            <p14:sldId id="264"/>
            <p14:sldId id="265"/>
            <p14:sldId id="266"/>
            <p14:sldId id="267"/>
            <p14:sldId id="268"/>
            <p14:sldId id="269"/>
            <p14:sldId id="270"/>
          </p14:sldIdLst>
        </p14:section>
        <p14:section name="Ritorno alla macchina" id="{e1a21cd0-da19-291f-415d-c023421d0a27}">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apre il secondo blocco del corso: la logica. Stabilito che cosa significano i bit, il corso si chiede come si combinano. L'algebra di Boole è in realtà in uso fin dalle prime settimane, ogni volta che un pulsante è stato verificato con andi; questa lezione dà un nome a quell'operazione e costruisce l'algebra attorno a essa. Il Bianconiglio in copertina, sempre di fretta, è un emblema appropriato: anche il processore realizza ogni cosa attraverso minuscoli passi logici, miliardi al secondo.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le maschere di bit; l'architettura di von Neumann; analisi e sintesi; l'algebra di Boole; le porte logiche. DA UTILIZZARE OGGI: il programma completo, gli strumenti di PRG32 (si usa, non si studia, in questo corso). DA COMPRENDERE PIÙ AVANTI: minimizzazione, Karnaugh (Lezione 09). Una slide senza etichetta è contesto: una storia, un esempio, una domanda, un esercizio.
Percorso. I risultati di oggi: (1) distinguere l'analisi di un circuito logico dalla sua sintesi; (2) applicare gli assiomi e i teoremi dell'algebra di Boole, compreso De Morgan; (3) porre a 1, azzerare e verificare bit con le maschere. Si appoggia su: l'architettura di von Neumann (Lezione 03). Prossimo passo: Lezione 09, Elementi di algebra di Boole.
Per il docente: Spirale: gli studenti usano andi per esaminare un pulsante fin dai primi giorni. La lezione dà un nome a ciò che hanno fatto (una maschera è un AND), poi costruisce l'algebra, poi torna alle istruzioni bit 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Descrivere un calcolatore come tre sottosistemi collegati da un bus. Distinguere i due problemi fondamentali del progetto logico, analisi e sintesi. Scrivere le tavole di verità di sei porte e riconoscerne i simboli. Applicare le proprietà dell'algebra, leggi di De Morgan comprese, per semplificare un'espressione. E, tornando alla macchina, usare le istruzioni bit a bit di RISC-V per verificare, porre a uno, azzerare e invertire singoli bit di un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calcolatore comprende tre sottosistemi: il processore, che esegue le istruzioni; la memoria centrale, che contiene istruzioni e dati; e il sottosistema di ingresso/uscita, che collega la macchina al mondo. Comunicano attraverso un bus, un insieme di linee condivise diviso in linee di indirizzo, linee di dato e linee di controllo. È il modello di von Neumann della Lezione 03 espresso in termini contemporanei. Tutto ciò che viaggia sul bus è una configurazione di bit. Sull'ESP32-C6 i tre sottosistemi risiedono su un solo chip.
DA COMPRENDERE OGGI: l'architettura di von Neumann.
Per il docente: Sostituisce le due figure della presentazione originale (modello di von Neumann; architettura a bus). Sull'ESP32-C6 i tre sottosistemi e il bus stanno tutti dentro un solo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processore è la sede della capacità di calcolo. Esegue istruzioni, comandi espliciti di due tipi: quelli che governano il trasferimento dell'informazione, dentro il calcolatore e tra esso e i suoi dispositivi, e quelli che specificano operazioni aritmetiche e logiche. La memoria contiene sia i dati sia la sequenza delle istruzioni, e una sequenza di istruzioni memorizzata è un programma. Il processore svolge un'unica attività all'infinito: preleva un'istruzione, la esegue e ricomincia. La Lezione 19 esamina questo ciclo nel dettaglio.
DA COMPRENDERE OGGI: l'architettura di von Neumann.
Per il docente: RV32I: circa quaranta istruzioni. Avete usato addi, lw, sw, andi, beqz, call e ret: trasferimento, aritmetica, logica e controllo ci sono tutti.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attributi caratterizzano un calcolatore elettronico. Numerico, o digitale: ogni informazione è rappresentata come stringa di bit. Automatico: una volta avviato, procede senza intervento. A programma memorizzato: il programma risiede in memoria e si può sostituire, quindi la stessa macchina svolge compiti diversi. Elettronico: è costruito con circuiti che memorizzano ed elaborano bit. Ogni attributo esclude qualcosa: un abaco è numerico ma non automatico; un carillon meccanico è automatico ma il suo programma è fisso.
DA COMPRENDERE OGGI: l'architettura di von Neumann.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circuiti che memorizzano ed elaborano i bit si chiamano circuiti di commutazione, o circuiti logici; interconnessi formano una rete di commutazione, e il loro progetto si chiama progetto logico. Descriverne il comportamento richiede un'algebra, che svolge per i circuiti il ruolo che l'algebra ordinaria svolge per le grandezze: una notazione in cui si può calcolare invece di enumerare ogni caso. I valori sono due, 0 e 1, che corrispondono fisicamente a due livelli di tensione o a due stati di un interruttore, una corrispondenza che la Lezione 10 rende precisa.
DA COMPRENDERE OGGI: analisi e sintesi.
Per il docente: Circuiti di commutazione: switching circuits. L'algebra è quella di Boole (1854), applicata agli interruttori da Nakajima e Shannon negli anni Trenta (Lezione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problemi, affrontati con una sola algebra. Analisi: data la struttura di un circuito, come è fatto, determinarne il comportamento, che cosa calcola. Leggere andi t3, t0, 1 e dire che cosa conterrà t3 è analisi. La sintesi procede nella direzione opposta: da un comportamento specificato a una struttura che lo realizza, per esempio dalla tavola di una somma a un sommatore. L'analisi ha una risposta unica; la sintesi in generale ne ha molte, e scegliere la meno costosa tra esse è il problema della minimizzazione trattato nella Lezione 09.
DA COMPRENDERE OGGI: analisi e sintesi. DA COMPRENDERE PIÙ AVANTI: minimizzazione, Karnaugh (si studia nella Lezione 09).
Per il docente: La sintesi ha di solito molte soluzioni; scegliere la più economica è il problema di minimizzazione della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Nell'algebra di Boole una variabile assume due soli valori, 0 e 1, e ci sono tre operazioni fondamentali. AND, il prodotto logico, scritto con un punto o per giustapposizione. OR, la somma logica, scritta con il segno più. NOT, il complemento, scritto qui con un apice, x', per comodità di battitura. La notazione non deve trarre in inganno: il segno più non indica una somma aritmetica, come mostra subito la tavola di verità dell'OR.
DA COMPRENDERE OGGI: l'algebra di Boole.
Per il docente: Congiunzione, disgiunzione, negazione: conjunction, disjunction, negation. In queste slide il complemento si scrive con un apice (x') per poterlo battere a tastiera.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Ogni riquadro presenta un'operazione in tre forme: il simbolo della porta, la notazione algebrica e la tavola di verità, che elenca l'uscita per ogni combinazione degli ingressi. AND dà 1 solo quando entrambi gli ingressi sono 1. OR dà 0 solo quando entrambi gli ingressi sono 0, quindi 1 OR 1 vale 1, non 2. NOT ha un solo ingresso e lo inverte. Le tre forme vanno imparate: dorso piatto e fronte arrotondata per AND, dorso curvo e fronte appuntita per OR, un triangolo con un cerchietto per NOT.
DA COMPRENDERE OGGI: le porte logiche.
Per il docente: AND vale 1 solo quando entrambi gli ingressi valgono 1; OR vale 0 solo quando entrambi valgono 0; NOT inverte. Una tabella di verità elenca l'uscita per ogni combinazione degli ingressi.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tre porte. XOR, l'OR esclusivo, dà 1 quando i suoi ingressi differiscono; è il bit di somma di un'addizione a un bit, come mostra il riscaldamento della Lezione 09. NAND e NOR sono AND e OR seguiti da una negazione, e il cerchietto all'uscita di un simbolo indica sempre NOT. NAND dà 0 solo quando entrambi gli ingressi sono 1; NOR dà 1 solo quando entrambi sono 0. La loro importanza pratica sta nel fatto che sono le porte più economiche da costruire con i transistor, come dimostra la Lezione 10.
DA COMPRENDERE OGGI: le porte logiche.
Per il docente: Slide nuova. XOR vale 1 quando gli ingressi sono diversi: è il bit di somma di un'addizione, e RISC-V lo ha come istruzione. Il cerchietto su un simbolo significa negazione.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prime quattro proprietà, ciascuna enunciata in una forma per AND e in una per OR. Commutatività e associatività valgono come nell'algebra ordinaria, e la seconda permette di estendere AND e OR a un numero qualsiasi di operandi. L'idempotenza è nuova: x AND x è x, e x OR x è x; ripetere una variabile non aggiunge nulla. L'assorbimento è la più utile per semplificare: x OR (x AND y) è uguale a x, perché quando x è 1 il risultato è 1 qualunque sia y, e quando x è 0 entrambi i termini sono 0.
DA COMPRENDERE OGGI: l'algebra di Boole.
Per il docente: Grazie alla proprietà associativa AND e OR si possono definire su più di due operandi: x . y . z. Ogni proprietà viene in coppia: si scambia AND con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Altre cinque proprietà. La prima legge distributiva è quella familiare. La seconda, x + yz = (x + y)(x + z), non ha corrispondente nell'algebra ordinaria: qui anche l'OR si distribuisce sull'AND. Poi le costanti: 1 è l'elemento neutro dell'AND e 0 quello dell'OR; 0 annulla un AND e 1 satura un OR. Le leggi del complemento affermano che una variabile combinata con la sua negazione dà 0 con l'AND e 1 con l'OR. L'involuzione: la doppia negazione restituisce la variabile. Due di queste proprietà, l'elemento neutro e l'elemento nullo, sono esattamente ciò che fa funzionare una maschera di bit.
DA COMPRENDERE OGGI: l'algebra di Boole.
Per il docente: La seconda legge distributiva non ha un corrispettivo nell'algebra ordinaria. La slide originale chiamava l'involuzione «convoluzione» e raggruppava elemento neutro ed elemento nullo come «minimo e massimo»; le leggi del complemento sono aggiunte 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leggi di De Morgan collegano le tre operazioni: il complemento di un prodotto è la somma dei complementi, e il complemento di una somma è il prodotto dei complementi. La tabella dimostra la prima per induzione completa: poiché ogni variabile assume due soli valori, una legge si può stabilire verificando in modo esaustivo ogni riga, e le due colonne evidenziate coincidono. In termini di porte, un NAND è un OR con ingressi negati. Queste leggi si useranno di continuo, sulla carta e nei programmi.
DA COMPRENDERE OGGI: l'algebra di Boole.
Per il docente: Augustus De Morgan, 1847. Le leggi si generalizzano a un numero qualsiasi di variabili. La presentazione originale mostrava la dimostrazione come immagine.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principi generali. La dualità: ogni identità resta valida scambiando AND e OR insieme a 0 e 1; è per questo che le proprietà comparivano a coppie, e dimezza il lavoro di dimostrarle. La precedenza: si applica prima NOT, poi AND, poi OR, così come l'elevamento a potenza precede la moltiplicazione e la moltiplicazione precede la somma; le parentesi cambiano l'ordine. E una definizione da conservare: due espressioni sono equivalenti quando hanno la stessa tavola di verità.
DA COMPRENDERE OGGI: l'algebra di Boole.
Per il docente: La dualità dimezza il lavoro: dimostrata una legge di ogni coppia, l'altra segue.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L'algebra al lavoro. L'espressione xy + xy' richiede due porte AND, una porta OR e un invertitore. Raccogliendo x con la legge distributiva si ottiene x(y + y'); la legge del complemento riduce la parentesi a 1; la legge dell'elemento neutro lascia x. Quattro porte sono diventate un filo. Ogni riga della derivazione nomina la legge che la giustifica, e questa disciplina va adottata: in una semplificazione ogni passo deve essere attribuibile a una legge. La didascalia mostra una seconda semplificazione che tornerà nella Lezione 09.
DA COMPRENDERE OGGI: l'algebra di Boole.
Per il docente: Due letterali e tre porte diventano un filo. L'identità nella didascalia (detta a volte teorema di semplificazione) usa la distributività di OR rispetto ad AND; la si riusa nella Lezione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NAND è AND seguito da NOT. Partendo dall'AND si individua l'unica riga della sua tavola con uscita 1; è l'unica riga in cui NAND dà 0.
Per la seconda si applica la prima legge di De Morgan al prodotto di a e b': il complemento diventa la somma dei complementi, a' più il complemento di b'. L'involuzione semplifica poi il secondo termine.
Per il docente: 1. Risposta: C. NAND è il complemento di AND: vale 0 solo quando entrambi gli ingressi valgono 1.
2. Risposta: B. (a . b')' = a' + (b')' = a' + b, usando l'involuzione sul secondo termine.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0x5A si scrive in binario, 0101 1010, e la maschera 0x0F come 0000 1111. L'AND conserva i bit dove la maschera ha un 1, i quattro bassi, e azzera gli altri.
Per la seconda, le quattro istruzioni si confrontano con la tabella delle operazioni con maschera. AND con 0x20 azzererebbe ogni altro bit; XOR invertirebbe il bit, portando un 1 a 0; una somma aritmetica funzionerebbe solo se il bit fosse 0, e altrimenti propagherebbe un riporto. Solo OR pone a uno il bit lasciando invariati tutti gli altri.
Per il docente: 1. Risposta: C. 0x5A = 0101 1010; AND con 0000 1111 conserva il nibble basso: 1010 = 0xA.
2. Risposta: B. OR con una maschera: x + 1 = 1 sul bit 5, x + 0 = x altrove. xori lo invertirebbe; addi propagherebbe un riporto nel bit 6 se il bit fosse già a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La tavola di verità definisce una funzione enumerandone in modo esaustivo i casi. Prodotto logico e somma logica sono AND e OR. To set, to clear e to toggle un bit significano porlo a 1, porlo a 0 e invertirlo; l'italiano non ha verbi singoli per questi e usa brevi locuzioni.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L'architettura di von Neumann descrive una macchina reale in forma semplificata. L'algebra di Boole descrive le funzioni logiche che i circuiti elettronici realizzano. Tre operazioni, una manciata di proprietà e le leggi di De Morgan bastano per trasformare qualsiasi espressione. E un'istruzione bit a bit è l'algebra applicata in parallelo a trentadue bit, con la maschera come leggi dell'elemento neutro e dell'elemento nullo al lavoro. La prossima lezione passa dagli operatori alle funzioni: forme canoniche e minimizzazione.
Stato di apprendimento, riepilogo. DA COMPRENDERE OGGI: le maschere di bit; l'architettura di von Neumann; analisi e sintesi; l'algebra di Boole; le porte logiche. DA UTILIZZARE OGGI: il programma completo, gli strumenti di PRG32 (si usa, non si studia, in questo corso). DA COMPRENDERE PIÙ AVANTI: minimizzazione, Karnaugh (Lezione 09). Una slide senza etichetta è contesto: una storia, un esempio, una domanda, un esercizio. Il filo della lezione: andi t3, t0, 1 è una fila di 32 porte AND: l'algebra di Boole descrive sia l'istruzione sia il circuito. Prossimo passo: da una tabella di verità al circuito più piccolo. Biglietto d'uscita (da due a quattro minuti, da soli, su carta): 1. Analisi o sintesi? (a) Dato uno schema, trovarne la tabella di verità. (b) Dato 'la luce è accesa quando esattamente uno dei due interruttori è alzato', costruire un circuito. (c) Leggere andi t3, t0, 1 e dire che cosa finisce in t3. 2. Scrivete un'istruzione che pone a 1 il bit 3 di t0 lasciando invariati gli altri bit, e una che lo azzera.
Per il docente: Prossima lezione: funzioni booleane, forme canoniche e minimizzazione.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08: Algebra di Boole (1)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08</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Elementi di algebra di Boole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Parte 1: il calcolatore come macchina logica; operatori e loro proprietà</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“Povero me! Povero me! Arriverò troppo tardi!”</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Lewis Carroll, Le avventure di Alice nel Paese delle Meraviglie, 1865</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08-Architettura_dei_Calcolatori-Algebra_di_Boole_1-Lab.pptx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2_step1_lamps.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un calcolatore come processore, memoria e ingresso/uscita, collegati da un bus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la differenza tra analisi e sintesi di un circuito logico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Scrivere le tabelle di verità di AND, OR, NOT, XOR, NAND e NOR e riconoscerne i simboli</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Applicare le proprietà dell'algebra di Boole, leggi di De Morgan comprese, per semplificare un'espressione</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Usare and, or, xor e not su RISC-V per esaminare, porre a 1, azzerare e invertire singoli bit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calcolatore elettronico: tre sottosistemi e un bus</a:t>
            </a:r>
            <a:endParaRPr lang="en-US" sz="3200" dirty="0"/>
          </a:p>
        </p:txBody>
      </p:sp>
      <p:sp>
        <p:nvSpPr>
          <p:cNvPr id="3" name="Text 1"/>
          <p:cNvSpPr txBox="1"/>
          <p:nvPr/>
        </p:nvSpPr>
        <p:spPr>
          <a:xfrm>
            <a:off x="548640" y="1508760"/>
            <a:ext cx="3210458" cy="2103120"/>
          </a:xfrm>
          <a:prstGeom prst="roundRect">
            <a:avLst>
              <a:gd name="adj" fmla="val 3478"/>
            </a:avLst>
          </a:prstGeom>
          <a:solidFill>
            <a:srgbClr val="0E7C86"/>
          </a:solidFill>
          <a:ln>
            <a:solidFill>
              <a:srgbClr val="0E7C86"/>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Processore (CPU)</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unità di controllo, ALU, registri</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esegue le istruzioni</a:t>
            </a:r>
            <a:endParaRPr lang="en-US" sz="2000" dirty="0"/>
          </a:p>
        </p:txBody>
      </p:sp>
      <p:sp>
        <p:nvSpPr>
          <p:cNvPr id="4" name="Shape 2"/>
          <p:cNvSpPr/>
          <p:nvPr/>
        </p:nvSpPr>
        <p:spPr>
          <a:xfrm>
            <a:off x="1925269" y="3611880"/>
            <a:ext cx="0" cy="502920"/>
          </a:xfrm>
          <a:prstGeom prst="line">
            <a:avLst/>
          </a:prstGeom>
          <a:noFill/>
          <a:ln w="38100">
            <a:solidFill>
              <a:srgbClr val="2E4A62"/>
            </a:solidFill>
            <a:prstDash val="solid"/>
          </a:ln>
        </p:spPr>
      </p:sp>
      <p:sp>
        <p:nvSpPr>
          <p:cNvPr id="5" name="Shape 3"/>
          <p:cNvSpPr/>
          <p:nvPr/>
        </p:nvSpPr>
        <p:spPr>
          <a:xfrm>
            <a:off x="2382469" y="3611880"/>
            <a:ext cx="0" cy="502920"/>
          </a:xfrm>
          <a:prstGeom prst="line">
            <a:avLst/>
          </a:prstGeom>
          <a:noFill/>
          <a:ln w="38100">
            <a:solidFill>
              <a:srgbClr val="2E4A62"/>
            </a:solidFill>
            <a:prstDash val="solid"/>
          </a:ln>
        </p:spPr>
      </p:sp>
      <p:sp>
        <p:nvSpPr>
          <p:cNvPr id="6" name="Text 4"/>
          <p:cNvSpPr txBox="1"/>
          <p:nvPr/>
        </p:nvSpPr>
        <p:spPr>
          <a:xfrm>
            <a:off x="4490618" y="1508760"/>
            <a:ext cx="3210458" cy="2103120"/>
          </a:xfrm>
          <a:prstGeom prst="roundRect">
            <a:avLst>
              <a:gd name="adj" fmla="val 3478"/>
            </a:avLst>
          </a:prstGeom>
          <a:solidFill>
            <a:srgbClr val="2E4A62"/>
          </a:solidFill>
          <a:ln>
            <a:solidFill>
              <a:srgbClr val="2E4A62"/>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Memoria centrale</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contiene le istruzioni</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e i dati</a:t>
            </a:r>
            <a:endParaRPr lang="en-US" sz="2000" dirty="0"/>
          </a:p>
        </p:txBody>
      </p:sp>
      <p:sp>
        <p:nvSpPr>
          <p:cNvPr id="7" name="Shape 5"/>
          <p:cNvSpPr/>
          <p:nvPr/>
        </p:nvSpPr>
        <p:spPr>
          <a:xfrm>
            <a:off x="5867248" y="3611880"/>
            <a:ext cx="0" cy="502920"/>
          </a:xfrm>
          <a:prstGeom prst="line">
            <a:avLst/>
          </a:prstGeom>
          <a:noFill/>
          <a:ln w="38100">
            <a:solidFill>
              <a:srgbClr val="2E4A62"/>
            </a:solidFill>
            <a:prstDash val="solid"/>
          </a:ln>
        </p:spPr>
      </p:sp>
      <p:sp>
        <p:nvSpPr>
          <p:cNvPr id="8" name="Shape 6"/>
          <p:cNvSpPr/>
          <p:nvPr/>
        </p:nvSpPr>
        <p:spPr>
          <a:xfrm>
            <a:off x="6324448" y="3611880"/>
            <a:ext cx="0" cy="502920"/>
          </a:xfrm>
          <a:prstGeom prst="line">
            <a:avLst/>
          </a:prstGeom>
          <a:noFill/>
          <a:ln w="38100">
            <a:solidFill>
              <a:srgbClr val="2E4A62"/>
            </a:solidFill>
            <a:prstDash val="solid"/>
          </a:ln>
        </p:spPr>
      </p:sp>
      <p:sp>
        <p:nvSpPr>
          <p:cNvPr id="9" name="Text 7"/>
          <p:cNvSpPr txBox="1"/>
          <p:nvPr/>
        </p:nvSpPr>
        <p:spPr>
          <a:xfrm>
            <a:off x="8432597" y="1508760"/>
            <a:ext cx="3210458" cy="2103120"/>
          </a:xfrm>
          <a:prstGeom prst="roundRect">
            <a:avLst>
              <a:gd name="adj" fmla="val 3478"/>
            </a:avLst>
          </a:prstGeom>
          <a:solidFill>
            <a:srgbClr val="2F7D4F"/>
          </a:solidFill>
          <a:ln>
            <a:solidFill>
              <a:srgbClr val="2F7D4F"/>
            </a:solidFill>
          </a:ln>
        </p:spPr>
        <p:txBody>
          <a:bodyPr wrap="square" lIns="101600" tIns="101600" rIns="101600" bIns="10160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Ingresso / uscita</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joystick, display, suono,</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rete, memoria di massa</a:t>
            </a:r>
            <a:endParaRPr lang="en-US" sz="2000" dirty="0"/>
          </a:p>
        </p:txBody>
      </p:sp>
      <p:sp>
        <p:nvSpPr>
          <p:cNvPr id="10" name="Shape 8"/>
          <p:cNvSpPr/>
          <p:nvPr/>
        </p:nvSpPr>
        <p:spPr>
          <a:xfrm>
            <a:off x="9809226" y="3611880"/>
            <a:ext cx="0" cy="502920"/>
          </a:xfrm>
          <a:prstGeom prst="line">
            <a:avLst/>
          </a:prstGeom>
          <a:noFill/>
          <a:ln w="38100">
            <a:solidFill>
              <a:srgbClr val="2E4A62"/>
            </a:solidFill>
            <a:prstDash val="solid"/>
          </a:ln>
        </p:spPr>
      </p:sp>
      <p:sp>
        <p:nvSpPr>
          <p:cNvPr id="11" name="Shape 9"/>
          <p:cNvSpPr/>
          <p:nvPr/>
        </p:nvSpPr>
        <p:spPr>
          <a:xfrm>
            <a:off x="10266426" y="3611880"/>
            <a:ext cx="0" cy="502920"/>
          </a:xfrm>
          <a:prstGeom prst="line">
            <a:avLst/>
          </a:prstGeom>
          <a:noFill/>
          <a:ln w="38100">
            <a:solidFill>
              <a:srgbClr val="2E4A62"/>
            </a:solidFill>
            <a:prstDash val="solid"/>
          </a:ln>
        </p:spPr>
      </p:sp>
      <p:sp>
        <p:nvSpPr>
          <p:cNvPr id="12" name="Text 10"/>
          <p:cNvSpPr txBox="1"/>
          <p:nvPr/>
        </p:nvSpPr>
        <p:spPr>
          <a:xfrm>
            <a:off x="548640" y="4114800"/>
            <a:ext cx="11094415" cy="548640"/>
          </a:xfrm>
          <a:prstGeom prst="rect">
            <a:avLst/>
          </a:prstGeom>
          <a:solidFill>
            <a:srgbClr val="C7791B"/>
          </a:solidFill>
          <a:ln>
            <a:solidFill>
              <a:srgbClr val="C7791B"/>
            </a:solid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Bus: linee degli indirizzi, linee dei dati, linee di controllo</a:t>
            </a:r>
            <a:endParaRPr lang="en-US" sz="1700" dirty="0"/>
          </a:p>
        </p:txBody>
      </p:sp>
      <p:sp>
        <p:nvSpPr>
          <p:cNvPr id="13" name="Shape 11"/>
          <p:cNvSpPr/>
          <p:nvPr/>
        </p:nvSpPr>
        <p:spPr>
          <a:xfrm>
            <a:off x="548640" y="5089906"/>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498348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modello di von Neumann in termini odierni: le unità del 1945, collegate da fili condivisi</a:t>
            </a:r>
            <a:endParaRPr lang="en-US" sz="2200" dirty="0"/>
          </a:p>
        </p:txBody>
      </p:sp>
      <p:sp>
        <p:nvSpPr>
          <p:cNvPr id="15" name="Shape 13"/>
          <p:cNvSpPr/>
          <p:nvPr/>
        </p:nvSpPr>
        <p:spPr>
          <a:xfrm>
            <a:off x="548640" y="5937758"/>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583133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Tutto ciò che viaggia sul bus è una configurazione di bit</a:t>
            </a:r>
            <a:endParaRPr lang="en-US" sz="2200" dirty="0"/>
          </a:p>
        </p:txBody>
      </p:sp>
      <p:sp>
        <p:nvSpPr>
          <p:cNvPr id="17" name="Shape 15"/>
          <p:cNvSpPr/>
          <p:nvPr/>
        </p:nvSpPr>
        <p:spPr>
          <a:xfrm>
            <a:off x="7329373" y="91440"/>
            <a:ext cx="4313682" cy="274320"/>
          </a:xfrm>
          <a:prstGeom prst="rect">
            <a:avLst/>
          </a:prstGeom>
          <a:solidFill>
            <a:srgbClr val="E0F2FE"/>
          </a:solidFill>
          <a:ln w="12700">
            <a:solidFill>
              <a:srgbClr val="0369A1"/>
            </a:solidFill>
            <a:prstDash val="solid"/>
          </a:ln>
        </p:spPr>
      </p:sp>
      <p:sp>
        <p:nvSpPr>
          <p:cNvPr id="18" name="Shape 16"/>
          <p:cNvSpPr/>
          <p:nvPr/>
        </p:nvSpPr>
        <p:spPr>
          <a:xfrm>
            <a:off x="732937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0" name="Text 17"/>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processore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capacità di elaborazione del calcolatore risiede nel processore</a:t>
            </a:r>
            <a:endParaRPr lang="en-US" sz="2000" dirty="0"/>
          </a:p>
        </p:txBody>
      </p:sp>
      <p:sp>
        <p:nvSpPr>
          <p:cNvPr id="5" name="Shape 3"/>
          <p:cNvSpPr/>
          <p:nvPr/>
        </p:nvSpPr>
        <p:spPr>
          <a:xfrm>
            <a:off x="548640" y="22603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69414"/>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Può eseguire un insieme di azioni elementari, più o meno complesse: le istruzioni</a:t>
            </a:r>
            <a:endParaRPr lang="en-US" sz="2000" dirty="0"/>
          </a:p>
        </p:txBody>
      </p:sp>
      <p:sp>
        <p:nvSpPr>
          <p:cNvPr id="7" name="Shape 5"/>
          <p:cNvSpPr/>
          <p:nvPr/>
        </p:nvSpPr>
        <p:spPr>
          <a:xfrm>
            <a:off x="548640" y="301244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21508"/>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istruzioni sono comandi espliciti che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governano il trasferimento dell'informazione dentro il calcolatore e tra il calcolatore e i dispositivi di I/O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specificano le operazioni aritmetiche e logiche da eseguire</a:t>
            </a:r>
            <a:endParaRPr lang="en-US" sz="2000" dirty="0"/>
          </a:p>
        </p:txBody>
      </p:sp>
      <p:sp>
        <p:nvSpPr>
          <p:cNvPr id="9" name="Shape 7"/>
          <p:cNvSpPr/>
          <p:nvPr/>
        </p:nvSpPr>
        <p:spPr>
          <a:xfrm>
            <a:off x="548640" y="45813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9046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centrale contiene i dati di ingresso e di uscita del calcolo, e la sequenza delle istruzioni</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 sequenza di istruzioni memorizzata nella memoria centrale è un programma</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3900" b="1" dirty="0">
                <a:solidFill>
                  <a:srgbClr val="FFFFFF"/>
                </a:solidFill>
                <a:latin typeface="Cambria" pitchFamily="34" charset="0"/>
                <a:ea typeface="Cambria" pitchFamily="34" charset="-122"/>
                <a:cs typeface="Cambria" pitchFamily="34" charset="-120"/>
              </a:rPr>
              <a:t>preleva, esegui, ripeti</a:t>
            </a:r>
            <a:endParaRPr lang="en-US" sz="3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il processore prende le istruzioni dalla memoria e le esegue, una per una</a:t>
            </a:r>
            <a:endParaRPr lang="en-US" sz="1900" dirty="0"/>
          </a:p>
        </p:txBody>
      </p:sp>
      <p:sp>
        <p:nvSpPr>
          <p:cNvPr id="16" name="Shape 14"/>
          <p:cNvSpPr/>
          <p:nvPr/>
        </p:nvSpPr>
        <p:spPr>
          <a:xfrm>
            <a:off x="7329373" y="91440"/>
            <a:ext cx="4313682" cy="274320"/>
          </a:xfrm>
          <a:prstGeom prst="rect">
            <a:avLst/>
          </a:prstGeom>
          <a:solidFill>
            <a:srgbClr val="E0F2FE"/>
          </a:solidFill>
          <a:ln w="12700">
            <a:solidFill>
              <a:srgbClr val="0369A1"/>
            </a:solidFill>
            <a:prstDash val="solid"/>
          </a:ln>
        </p:spPr>
      </p:sp>
      <p:sp>
        <p:nvSpPr>
          <p:cNvPr id="17" name="Shape 15"/>
          <p:cNvSpPr/>
          <p:nvPr/>
        </p:nvSpPr>
        <p:spPr>
          <a:xfrm>
            <a:off x="732937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19" name="Text 16"/>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tipo di sistema è un calcolatore elettronico?</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Numerico</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È un sistema digitale: tutta l'informazione che tratta è espressa come stringhe di bit.</a:t>
            </a:r>
            <a:endParaRPr lang="en-US" sz="20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Automatico</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Una volta avviato procede da solo, istruzione dopo istruzione, senza intervento umano.</a:t>
            </a:r>
            <a:endParaRPr lang="en-US" sz="20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 programma memorizzato</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Il programma è registrato in memoria e si può sostituire: la stessa macchina fa lavori diversi.</a:t>
            </a:r>
            <a:endParaRPr lang="en-US" sz="20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Elettronico</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2000" dirty="0">
                <a:solidFill>
                  <a:srgbClr val="1B2530"/>
                </a:solidFill>
                <a:latin typeface="Calibri" pitchFamily="34" charset="0"/>
                <a:ea typeface="Calibri" pitchFamily="34" charset="-122"/>
                <a:cs typeface="Calibri" pitchFamily="34" charset="-120"/>
              </a:rPr>
              <a:t>È costruito con circuiti elettronici che memorizzano i bit e li elaborano.</a:t>
            </a:r>
            <a:endParaRPr lang="en-US" sz="2000" dirty="0"/>
          </a:p>
        </p:txBody>
      </p:sp>
      <p:sp>
        <p:nvSpPr>
          <p:cNvPr id="19" name="Shape 17"/>
          <p:cNvSpPr/>
          <p:nvPr/>
        </p:nvSpPr>
        <p:spPr>
          <a:xfrm>
            <a:off x="7329373" y="91440"/>
            <a:ext cx="4313682" cy="274320"/>
          </a:xfrm>
          <a:prstGeom prst="rect">
            <a:avLst/>
          </a:prstGeom>
          <a:solidFill>
            <a:srgbClr val="E0F2FE"/>
          </a:solidFill>
          <a:ln w="12700">
            <a:solidFill>
              <a:srgbClr val="0369A1"/>
            </a:solidFill>
            <a:prstDash val="solid"/>
          </a:ln>
        </p:spPr>
      </p:sp>
      <p:sp>
        <p:nvSpPr>
          <p:cNvPr id="20" name="Shape 18"/>
          <p:cNvSpPr/>
          <p:nvPr/>
        </p:nvSpPr>
        <p:spPr>
          <a:xfrm>
            <a:off x="7329373" y="91440"/>
            <a:ext cx="73152" cy="274320"/>
          </a:xfrm>
          <a:prstGeom prst="rect">
            <a:avLst/>
          </a:prstGeom>
          <a:solidFill>
            <a:srgbClr val="0369A1"/>
          </a:solidFill>
          <a:ln w="12700">
            <a:solidFill>
              <a:srgbClr val="0369A1"/>
            </a:solidFill>
            <a:prstDash val="solid"/>
          </a:ln>
        </p:spPr>
      </p:sp>
      <p:pic>
        <p:nvPicPr>
          <p:cNvPr id="21"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2" name="Text 19"/>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Circuiti logici</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Tutta l'informazione trattata da un dispositivo numerico è espressa da stringhe di bit</a:t>
            </a:r>
            <a:endParaRPr lang="en-US" sz="2100" dirty="0"/>
          </a:p>
        </p:txBody>
      </p:sp>
      <p:sp>
        <p:nvSpPr>
          <p:cNvPr id="5" name="Shape 3"/>
          <p:cNvSpPr/>
          <p:nvPr/>
        </p:nvSpPr>
        <p:spPr>
          <a:xfrm>
            <a:off x="548640" y="24502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1532"/>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 circuiti elettronici che memorizzano i bit e li elaborano si chiamano circuiti di commutazione, o circuiti logici</a:t>
            </a:r>
            <a:endParaRPr lang="en-US" sz="2100" dirty="0"/>
          </a:p>
        </p:txBody>
      </p:sp>
      <p:sp>
        <p:nvSpPr>
          <p:cNvPr id="7" name="Shape 5"/>
          <p:cNvSpPr/>
          <p:nvPr/>
        </p:nvSpPr>
        <p:spPr>
          <a:xfrm>
            <a:off x="548640" y="370979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1111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circuito logico forma una rete di commutazione; progettarlo si chiama progetto logico</a:t>
            </a:r>
            <a:endParaRPr lang="en-US" sz="2100" dirty="0"/>
          </a:p>
        </p:txBody>
      </p:sp>
      <p:sp>
        <p:nvSpPr>
          <p:cNvPr id="9" name="Shape 7"/>
          <p:cNvSpPr/>
          <p:nvPr/>
        </p:nvSpPr>
        <p:spPr>
          <a:xfrm>
            <a:off x="548640" y="496938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70704"/>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 descrivere il comportamento dei circuiti logici si usa un'algebra: una notazione matematica che semplifica l'analisi e la sintesi delle reti logiche</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e 1</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due livelli di tensione su un filo, due stati di un interruttore, due valori di una variabile booleana</a:t>
            </a:r>
            <a:endParaRPr lang="en-US" sz="1900" dirty="0"/>
          </a:p>
        </p:txBody>
      </p:sp>
      <p:sp>
        <p:nvSpPr>
          <p:cNvPr id="14" name="Shape 12"/>
          <p:cNvSpPr/>
          <p:nvPr/>
        </p:nvSpPr>
        <p:spPr>
          <a:xfrm>
            <a:off x="8117281" y="91440"/>
            <a:ext cx="3525774" cy="274320"/>
          </a:xfrm>
          <a:prstGeom prst="rect">
            <a:avLst/>
          </a:prstGeom>
          <a:solidFill>
            <a:srgbClr val="E0F2FE"/>
          </a:solidFill>
          <a:ln w="12700">
            <a:solidFill>
              <a:srgbClr val="0369A1"/>
            </a:solidFill>
            <a:prstDash val="solid"/>
          </a:ln>
        </p:spPr>
      </p:sp>
      <p:sp>
        <p:nvSpPr>
          <p:cNvPr id="15" name="Shape 13"/>
          <p:cNvSpPr/>
          <p:nvPr/>
        </p:nvSpPr>
        <p:spPr>
          <a:xfrm>
            <a:off x="811728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17" name="Text 1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analisi e sintesi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problemi, una sola algebra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Analisi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Data: la descrizione della STRUTTURA di un circuito (come è fatto)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Trovare: il suo COMPORTAMENTO (che cosa fa)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leggere uno schema e ricavarne la tabella di verità</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leggere andi t3, t0, 1 e dire che cosa finisce in t3</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Sintesi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Data: la descrizione del COMPORTAMENTO (che cosa deve fare)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Trovare: una STRUTTURA che lo realizza (come costruirlo)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dalla tabella di verità di una somma a un circuito addizionatore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da «muoviti se è premuto LEFT o RIGHT» a una maschera e un salto</a:t>
            </a:r>
            <a:endParaRPr lang="en-US" sz="1900" dirty="0"/>
          </a:p>
        </p:txBody>
      </p:sp>
      <p:sp>
        <p:nvSpPr>
          <p:cNvPr id="9" name="Shape 7"/>
          <p:cNvSpPr/>
          <p:nvPr/>
        </p:nvSpPr>
        <p:spPr>
          <a:xfrm>
            <a:off x="6175451" y="91440"/>
            <a:ext cx="5467604" cy="274320"/>
          </a:xfrm>
          <a:prstGeom prst="rect">
            <a:avLst/>
          </a:prstGeom>
          <a:solidFill>
            <a:srgbClr val="F3E8FF"/>
          </a:solidFill>
          <a:ln w="12700">
            <a:solidFill>
              <a:srgbClr val="7E22CE"/>
            </a:solidFill>
            <a:prstDash val="dash"/>
          </a:ln>
        </p:spPr>
      </p:sp>
      <p:sp>
        <p:nvSpPr>
          <p:cNvPr id="10" name="Shape 8"/>
          <p:cNvSpPr/>
          <p:nvPr/>
        </p:nvSpPr>
        <p:spPr>
          <a:xfrm>
            <a:off x="6202883" y="128016"/>
            <a:ext cx="45720" cy="45720"/>
          </a:xfrm>
          <a:prstGeom prst="rect">
            <a:avLst/>
          </a:prstGeom>
          <a:solidFill>
            <a:srgbClr val="7E22CE"/>
          </a:solidFill>
          <a:ln w="12700">
            <a:solidFill>
              <a:srgbClr val="7E22CE"/>
            </a:solidFill>
            <a:prstDash val="solid"/>
          </a:ln>
        </p:spPr>
      </p:sp>
      <p:sp>
        <p:nvSpPr>
          <p:cNvPr id="11" name="Shape 9"/>
          <p:cNvSpPr/>
          <p:nvPr/>
        </p:nvSpPr>
        <p:spPr>
          <a:xfrm>
            <a:off x="6202883" y="205740"/>
            <a:ext cx="45720" cy="45720"/>
          </a:xfrm>
          <a:prstGeom prst="rect">
            <a:avLst/>
          </a:prstGeom>
          <a:solidFill>
            <a:srgbClr val="7E22CE"/>
          </a:solidFill>
          <a:ln w="12700">
            <a:solidFill>
              <a:srgbClr val="7E22CE"/>
            </a:solidFill>
            <a:prstDash val="solid"/>
          </a:ln>
        </p:spPr>
      </p:sp>
      <p:sp>
        <p:nvSpPr>
          <p:cNvPr id="12" name="Shape 10"/>
          <p:cNvSpPr/>
          <p:nvPr/>
        </p:nvSpPr>
        <p:spPr>
          <a:xfrm>
            <a:off x="6202883"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6303467" y="128016"/>
            <a:ext cx="201168" cy="201168"/>
          </a:xfrm>
          <a:prstGeom prst="rect">
            <a:avLst/>
          </a:prstGeom>
        </p:spPr>
      </p:pic>
      <p:sp>
        <p:nvSpPr>
          <p:cNvPr id="14" name="Text 11"/>
          <p:cNvSpPr txBox="1"/>
          <p:nvPr/>
        </p:nvSpPr>
        <p:spPr>
          <a:xfrm>
            <a:off x="6559499" y="91440"/>
            <a:ext cx="5046980"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minimizzazione, Karnaugh</a:t>
            </a:r>
            <a:pPr indent="0" marL="0">
              <a:buNone/>
            </a:pPr>
            <a:r>
              <a:rPr lang="en-US" sz="1100" b="1" dirty="0">
                <a:solidFill>
                  <a:srgbClr val="6B21A8"/>
                </a:solidFill>
                <a:latin typeface="Calibri" pitchFamily="34" charset="0"/>
                <a:ea typeface="Calibri" pitchFamily="34" charset="-122"/>
                <a:cs typeface="Calibri" pitchFamily="34" charset="-120"/>
              </a:rPr>
              <a:t> → Lezione 09</a:t>
            </a:r>
            <a:endParaRPr lang="en-US" sz="1100" dirty="0"/>
          </a:p>
        </p:txBody>
      </p:sp>
      <p:sp>
        <p:nvSpPr>
          <p:cNvPr id="15" name="Shape 12"/>
          <p:cNvSpPr/>
          <p:nvPr/>
        </p:nvSpPr>
        <p:spPr>
          <a:xfrm>
            <a:off x="2539949" y="91440"/>
            <a:ext cx="3525774" cy="274320"/>
          </a:xfrm>
          <a:prstGeom prst="rect">
            <a:avLst/>
          </a:prstGeom>
          <a:solidFill>
            <a:srgbClr val="E0F2FE"/>
          </a:solidFill>
          <a:ln w="12700">
            <a:solidFill>
              <a:srgbClr val="0369A1"/>
            </a:solidFill>
            <a:prstDash val="solid"/>
          </a:ln>
        </p:spPr>
      </p:sp>
      <p:sp>
        <p:nvSpPr>
          <p:cNvPr id="16" name="Shape 13"/>
          <p:cNvSpPr/>
          <p:nvPr/>
        </p:nvSpPr>
        <p:spPr>
          <a:xfrm>
            <a:off x="2539949"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2667965" y="128016"/>
            <a:ext cx="201168" cy="201168"/>
          </a:xfrm>
          <a:prstGeom prst="rect">
            <a:avLst/>
          </a:prstGeom>
        </p:spPr>
      </p:pic>
      <p:sp>
        <p:nvSpPr>
          <p:cNvPr id="18" name="Text 14"/>
          <p:cNvSpPr txBox="1"/>
          <p:nvPr/>
        </p:nvSpPr>
        <p:spPr>
          <a:xfrm>
            <a:off x="2923997"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analisi e sintesi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Algebra di Boole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Definizione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200" i="1" dirty="0">
                <a:solidFill>
                  <a:srgbClr val="1B2530"/>
                </a:solidFill>
                <a:latin typeface="Cambria" pitchFamily="34" charset="0"/>
                <a:ea typeface="Cambria" pitchFamily="34" charset="-122"/>
                <a:cs typeface="Cambria" pitchFamily="34" charset="-120"/>
              </a:rPr>
              <a:t>L'algebra usata per analizzare e sintetizzare i circuiti logici: variabili che possono assumere solo due valori, 0 e 1, e tre operazioni di base.</a:t>
            </a:r>
            <a:endParaRPr lang="en-US" sz="2200" dirty="0"/>
          </a:p>
        </p:txBody>
      </p:sp>
      <p:sp>
        <p:nvSpPr>
          <p:cNvPr id="6" name="Shape 4"/>
          <p:cNvSpPr/>
          <p:nvPr/>
        </p:nvSpPr>
        <p:spPr>
          <a:xfrm>
            <a:off x="548640" y="3439922"/>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 variabili sono binarie e si scrivono di solito con lettere: A, B, ... oppure x, y, ...</a:t>
            </a:r>
            <a:endParaRPr lang="en-US" sz="2200" dirty="0"/>
          </a:p>
        </p:txBody>
      </p:sp>
      <p:sp>
        <p:nvSpPr>
          <p:cNvPr id="8" name="Shape 6"/>
          <p:cNvSpPr/>
          <p:nvPr/>
        </p:nvSpPr>
        <p:spPr>
          <a:xfrm>
            <a:off x="548640" y="4386157"/>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279731"/>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AND, il prodotto logico: si scrive x AND y, oppure x . y, o semplicemente xy</a:t>
            </a:r>
            <a:endParaRPr lang="en-US" sz="2200" dirty="0"/>
          </a:p>
        </p:txBody>
      </p:sp>
      <p:sp>
        <p:nvSpPr>
          <p:cNvPr id="10" name="Shape 8"/>
          <p:cNvSpPr/>
          <p:nvPr/>
        </p:nvSpPr>
        <p:spPr>
          <a:xfrm>
            <a:off x="548640" y="499152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88509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OR, la somma logica: si scrive x OR y, oppure x + y</a:t>
            </a:r>
            <a:endParaRPr lang="en-US" sz="2200" dirty="0"/>
          </a:p>
        </p:txBody>
      </p:sp>
      <p:sp>
        <p:nvSpPr>
          <p:cNvPr id="12" name="Shape 10"/>
          <p:cNvSpPr/>
          <p:nvPr/>
        </p:nvSpPr>
        <p:spPr>
          <a:xfrm>
            <a:off x="548640" y="5596890"/>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 il complemento: si scrive NOT x, oppure x', oppure x con una barra sopra</a:t>
            </a:r>
            <a:endParaRPr lang="en-US" sz="2200" dirty="0"/>
          </a:p>
        </p:txBody>
      </p:sp>
      <p:sp>
        <p:nvSpPr>
          <p:cNvPr id="14"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5"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7"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tre operazioni fondamentali</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AND (congiunzione)</a:t>
            </a:r>
            <a:endParaRPr lang="en-US" sz="1800" dirty="0"/>
          </a:p>
        </p:txBody>
      </p:sp>
      <p:sp>
        <p:nvSpPr>
          <p:cNvPr id="5" name="Shape 3"/>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4"/>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5"/>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logiche</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0E7C86"/>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OR (disgiunzione)</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C7791B"/>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6B4FA0"/>
          </a:solidFill>
          <a:ln>
            <a:solidFill>
              <a:srgbClr val="6B4FA0"/>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NOT (negazione)</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a:t>
            </a:r>
            <a:endParaRPr lang="en-US" sz="15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8971026" y="3840480"/>
          <a:ext cx="1828800" cy="914400"/>
        </p:xfrm>
        <a:graphic>
          <a:graphicData uri="http://schemas.openxmlformats.org/drawingml/2006/table">
            <a:tbl>
              <a:tblPr/>
              <a:tblGrid>
                <a:gridCol w="914400"/>
                <a:gridCol w="91440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6B4FA0"/>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Altre tre porte che incontrerete ovunque</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777240" y="1600200"/>
            <a:ext cx="3058058"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XOR (or esclusivo)</a:t>
            </a:r>
            <a:endParaRPr lang="en-US" sz="1800" dirty="0"/>
          </a:p>
        </p:txBody>
      </p:sp>
      <p:sp>
        <p:nvSpPr>
          <p:cNvPr id="5" name="Shape 3"/>
          <p:cNvSpPr/>
          <p:nvPr/>
        </p:nvSpPr>
        <p:spPr>
          <a:xfrm>
            <a:off x="8182940" y="91440"/>
            <a:ext cx="3460115" cy="274320"/>
          </a:xfrm>
          <a:prstGeom prst="rect">
            <a:avLst/>
          </a:prstGeom>
          <a:solidFill>
            <a:srgbClr val="E0F2FE"/>
          </a:solidFill>
          <a:ln w="12700">
            <a:solidFill>
              <a:srgbClr val="0369A1"/>
            </a:solidFill>
            <a:prstDash val="solid"/>
          </a:ln>
        </p:spPr>
      </p:sp>
      <p:sp>
        <p:nvSpPr>
          <p:cNvPr id="6" name="Shape 4"/>
          <p:cNvSpPr/>
          <p:nvPr/>
        </p:nvSpPr>
        <p:spPr>
          <a:xfrm>
            <a:off x="818294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10956" y="128016"/>
            <a:ext cx="201168" cy="201168"/>
          </a:xfrm>
          <a:prstGeom prst="rect">
            <a:avLst/>
          </a:prstGeom>
        </p:spPr>
      </p:pic>
      <p:sp>
        <p:nvSpPr>
          <p:cNvPr id="8" name="Text 5"/>
          <p:cNvSpPr txBox="1"/>
          <p:nvPr/>
        </p:nvSpPr>
        <p:spPr>
          <a:xfrm>
            <a:off x="8566988" y="91440"/>
            <a:ext cx="303949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porte logiche</a:t>
            </a:r>
            <a:endParaRPr lang="en-US" sz="1100" dirty="0"/>
          </a:p>
        </p:txBody>
      </p:sp>
      <p:pic>
        <p:nvPicPr>
          <p:cNvPr id="10" name="Image 1" descr="preencoded.png">    </p:cNvPr>
          <p:cNvPicPr>
            <a:picLocks noChangeAspect="1"/>
          </p:cNvPicPr>
          <p:nvPr/>
        </p:nvPicPr>
        <p:blipFill>
          <a:blip r:embed="rId2"/>
          <a:stretch>
            <a:fillRect/>
          </a:stretch>
        </p:blipFill>
        <p:spPr>
          <a:xfrm>
            <a:off x="822960" y="2236278"/>
            <a:ext cx="2966618" cy="830964"/>
          </a:xfrm>
          <a:prstGeom prst="rect">
            <a:avLst/>
          </a:prstGeom>
        </p:spPr>
      </p:pic>
      <p:sp>
        <p:nvSpPr>
          <p:cNvPr id="11" name="Text 6"/>
          <p:cNvSpPr txBox="1"/>
          <p:nvPr/>
        </p:nvSpPr>
        <p:spPr>
          <a:xfrm>
            <a:off x="731520"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x'y + xy'</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208989"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F7D4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Shape 7"/>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14" name="Text 8"/>
          <p:cNvSpPr txBox="1"/>
          <p:nvPr/>
        </p:nvSpPr>
        <p:spPr>
          <a:xfrm>
            <a:off x="4566818" y="1600200"/>
            <a:ext cx="3058058" cy="457200"/>
          </a:xfrm>
          <a:prstGeom prst="roundRect">
            <a:avLst>
              <a:gd name="adj" fmla="val 16000"/>
            </a:avLst>
          </a:prstGeom>
          <a:solidFill>
            <a:srgbClr val="B23A48"/>
          </a:solidFill>
          <a:ln>
            <a:solidFill>
              <a:srgbClr val="B23A48"/>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NAND (not and)</a:t>
            </a:r>
            <a:endParaRPr lang="en-US" sz="1800" dirty="0"/>
          </a:p>
        </p:txBody>
      </p:sp>
      <p:pic>
        <p:nvPicPr>
          <p:cNvPr id="15" name="Image 2" descr="preencoded.png">    </p:cNvPr>
          <p:cNvPicPr>
            <a:picLocks noChangeAspect="1"/>
          </p:cNvPicPr>
          <p:nvPr/>
        </p:nvPicPr>
        <p:blipFill>
          <a:blip r:embed="rId3"/>
          <a:stretch>
            <a:fillRect/>
          </a:stretch>
        </p:blipFill>
        <p:spPr>
          <a:xfrm>
            <a:off x="4612538" y="2236278"/>
            <a:ext cx="2966618" cy="830964"/>
          </a:xfrm>
          <a:prstGeom prst="rect">
            <a:avLst/>
          </a:prstGeom>
        </p:spPr>
      </p:pic>
      <p:sp>
        <p:nvSpPr>
          <p:cNvPr id="16" name="Text 9"/>
          <p:cNvSpPr txBox="1"/>
          <p:nvPr/>
        </p:nvSpPr>
        <p:spPr>
          <a:xfrm>
            <a:off x="4521098"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998568"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B23A48"/>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8" name="Shape 10"/>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19" name="Text 11"/>
          <p:cNvSpPr txBox="1"/>
          <p:nvPr/>
        </p:nvSpPr>
        <p:spPr>
          <a:xfrm>
            <a:off x="8356397" y="1600200"/>
            <a:ext cx="3058058" cy="457200"/>
          </a:xfrm>
          <a:prstGeom prst="roundRect">
            <a:avLst>
              <a:gd name="adj" fmla="val 16000"/>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NOR (not or)</a:t>
            </a:r>
            <a:endParaRPr lang="en-US" sz="1800" dirty="0"/>
          </a:p>
        </p:txBody>
      </p:sp>
      <p:pic>
        <p:nvPicPr>
          <p:cNvPr id="20" name="Image 3" descr="preencoded.png">    </p:cNvPr>
          <p:cNvPicPr>
            <a:picLocks noChangeAspect="1"/>
          </p:cNvPicPr>
          <p:nvPr/>
        </p:nvPicPr>
        <p:blipFill>
          <a:blip r:embed="rId4"/>
          <a:stretch>
            <a:fillRect/>
          </a:stretch>
        </p:blipFill>
        <p:spPr>
          <a:xfrm>
            <a:off x="8402117" y="2236278"/>
            <a:ext cx="2966618" cy="830964"/>
          </a:xfrm>
          <a:prstGeom prst="rect">
            <a:avLst/>
          </a:prstGeom>
        </p:spPr>
      </p:pic>
      <p:sp>
        <p:nvSpPr>
          <p:cNvPr id="21" name="Text 12"/>
          <p:cNvSpPr txBox="1"/>
          <p:nvPr/>
        </p:nvSpPr>
        <p:spPr>
          <a:xfrm>
            <a:off x="8310677" y="3200400"/>
            <a:ext cx="3149498" cy="502920"/>
          </a:xfrm>
          <a:prstGeom prst="rect">
            <a:avLst/>
          </a:prstGeom>
          <a:noFill/>
          <a:ln/>
        </p:spPr>
        <p:txBody>
          <a:bodyPr wrap="square" lIns="0" tIns="0" rIns="0" bIns="0" rtlCol="0" anchor="ctr"/>
          <a:lstStyle/>
          <a:p>
            <a:pPr algn="ctr" indent="0" marL="0">
              <a:buNone/>
            </a:pPr>
            <a:r>
              <a:rPr lang="en-US" sz="1500" b="1" dirty="0">
                <a:solidFill>
                  <a:srgbClr val="1B2530"/>
                </a:solidFill>
                <a:latin typeface="Courier New" pitchFamily="34" charset="0"/>
                <a:ea typeface="Courier New" pitchFamily="34" charset="-122"/>
                <a:cs typeface="Courier New" pitchFamily="34" charset="-120"/>
              </a:rPr>
              <a:t>z = (x + y)'</a:t>
            </a:r>
            <a:endParaRPr lang="en-US" sz="15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8788146" y="3840480"/>
          <a:ext cx="2194560" cy="914400"/>
        </p:xfrm>
        <a:graphic>
          <a:graphicData uri="http://schemas.openxmlformats.org/drawingml/2006/table">
            <a:tbl>
              <a:tblPr/>
              <a:tblGrid>
                <a:gridCol w="731520"/>
                <a:gridCol w="731520"/>
                <a:gridCol w="73152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x</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z</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dell'algebra di Boole (1)</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4365016"/>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Proprietà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Forma AND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Forma 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Commutativa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Associativa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y) + z = x + (y + z)</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Idempotenza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Assorbimento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x + (x . y) = x</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Per l'associatività AND e OR si estendono a un numero qualsiasi di operandi: x . y . z, x + y + z.</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dell'algebra di Boole (2)</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91570"/>
                <a:gridCol w="4274078"/>
                <a:gridCol w="4728767"/>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Proprietà</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Forma 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Forma 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Distributiva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y . z = (x + y) . (x + z)</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Elemento neutro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Elemento nullo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0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+ 1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Complemento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 = 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Involuzione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(x')' = x</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Attenzione: anche OR si distribuisce rispetto ad AND. Per somma e prodotto ordinari è falso.</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leggi di De Morgan</a:t>
            </a:r>
            <a:endParaRPr lang="en-US" sz="3200" dirty="0"/>
          </a:p>
        </p:txBody>
      </p:sp>
      <p:sp>
        <p:nvSpPr>
          <p:cNvPr id="3" name="Shape 1"/>
          <p:cNvSpPr/>
          <p:nvPr/>
        </p:nvSpPr>
        <p:spPr>
          <a:xfrm>
            <a:off x="548640" y="1417320"/>
            <a:ext cx="5120640" cy="1051560"/>
          </a:xfrm>
          <a:prstGeom prst="roundRect">
            <a:avLst>
              <a:gd name="adj" fmla="val 6957"/>
            </a:avLst>
          </a:prstGeom>
          <a:solidFill>
            <a:srgbClr val="D8ECEE"/>
          </a:solidFill>
          <a:ln w="12700">
            <a:solidFill>
              <a:srgbClr val="D8ECEE"/>
            </a:solidFill>
            <a:prstDash val="solid"/>
          </a:ln>
        </p:spPr>
      </p:sp>
      <p:sp>
        <p:nvSpPr>
          <p:cNvPr id="4" name="Shape 2"/>
          <p:cNvSpPr/>
          <p:nvPr/>
        </p:nvSpPr>
        <p:spPr>
          <a:xfrm>
            <a:off x="548640" y="2651760"/>
            <a:ext cx="5120640" cy="1051560"/>
          </a:xfrm>
          <a:prstGeom prst="roundRect">
            <a:avLst>
              <a:gd name="adj" fmla="val 6957"/>
            </a:avLst>
          </a:prstGeom>
          <a:solidFill>
            <a:srgbClr val="F6E7D2"/>
          </a:solidFill>
          <a:ln w="12700">
            <a:solidFill>
              <a:srgbClr val="F6E7D2"/>
            </a:solidFill>
            <a:prstDash val="solid"/>
          </a:ln>
        </p:spPr>
      </p:sp>
      <p:sp>
        <p:nvSpPr>
          <p:cNvPr id="5" name="Text 3"/>
          <p:cNvSpPr txBox="1"/>
          <p:nvPr/>
        </p:nvSpPr>
        <p:spPr>
          <a:xfrm>
            <a:off x="548640" y="141732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6" name="Text 4"/>
          <p:cNvSpPr txBox="1"/>
          <p:nvPr/>
        </p:nvSpPr>
        <p:spPr>
          <a:xfrm>
            <a:off x="548640" y="2651760"/>
            <a:ext cx="5120640" cy="1051560"/>
          </a:xfrm>
          <a:prstGeom prst="rect">
            <a:avLst/>
          </a:prstGeom>
          <a:noFill/>
          <a:ln/>
        </p:spPr>
        <p:txBody>
          <a:bodyPr wrap="square" lIns="0" tIns="0" rIns="0" bIns="0" rtlCol="0" anchor="ctr"/>
          <a:lstStyle/>
          <a:p>
            <a:pPr algn="ctr" indent="0" marL="0">
              <a:buNone/>
            </a:pPr>
            <a:r>
              <a:rPr lang="en-US" sz="2800" b="1" dirty="0">
                <a:solidFill>
                  <a:srgbClr val="1B2530"/>
                </a:solidFill>
                <a:latin typeface="Courier New" pitchFamily="34" charset="0"/>
                <a:ea typeface="Courier New" pitchFamily="34" charset="-122"/>
                <a:cs typeface="Courier New" pitchFamily="34" charset="-120"/>
              </a:rPr>
              <a:t>(x + y)' = x' . y'</a:t>
            </a:r>
            <a:endParaRPr lang="en-US" sz="2800" dirty="0"/>
          </a:p>
        </p:txBody>
      </p:sp>
      <p:sp>
        <p:nvSpPr>
          <p:cNvPr id="7" name="Shape 5"/>
          <p:cNvSpPr/>
          <p:nvPr/>
        </p:nvSpPr>
        <p:spPr>
          <a:xfrm>
            <a:off x="548640" y="40073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31920"/>
            <a:ext cx="47365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Il complemento di un prodotto è la somma dei complementi, e viceversa</a:t>
            </a:r>
            <a:endParaRPr lang="en-US" sz="1800" dirty="0"/>
          </a:p>
        </p:txBody>
      </p:sp>
      <p:sp>
        <p:nvSpPr>
          <p:cNvPr id="9" name="Shape 7"/>
          <p:cNvSpPr/>
          <p:nvPr/>
        </p:nvSpPr>
        <p:spPr>
          <a:xfrm>
            <a:off x="548640" y="470916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33722"/>
            <a:ext cx="47365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Dimostrazione per induzione perfetta: si verifica ogni riga della tabella di verità</a:t>
            </a:r>
            <a:endParaRPr lang="en-US" sz="1800" dirty="0"/>
          </a:p>
        </p:txBody>
      </p:sp>
      <p:sp>
        <p:nvSpPr>
          <p:cNvPr id="11" name="Shape 9"/>
          <p:cNvSpPr/>
          <p:nvPr/>
        </p:nvSpPr>
        <p:spPr>
          <a:xfrm>
            <a:off x="548640" y="568985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614416"/>
            <a:ext cx="47365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 NAND è un OR degli ingressi negati; un NOR è un AND degli ingressi negati</a:t>
            </a:r>
            <a:endParaRPr lang="en-US" sz="1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989320" y="1417320"/>
          <a:ext cx="5632704" cy="914400"/>
        </p:xfrm>
        <a:graphic>
          <a:graphicData uri="http://schemas.openxmlformats.org/drawingml/2006/table">
            <a:tbl>
              <a:tblPr/>
              <a:tblGrid>
                <a:gridCol w="640080"/>
                <a:gridCol w="640080"/>
                <a:gridCol w="941832"/>
                <a:gridCol w="941832"/>
                <a:gridCol w="685800"/>
                <a:gridCol w="685800"/>
                <a:gridCol w="1097280"/>
              </a:tblGrid>
              <a:tr h="45720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x' + 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45720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4" name="Text 11"/>
          <p:cNvSpPr txBox="1"/>
          <p:nvPr/>
        </p:nvSpPr>
        <p:spPr>
          <a:xfrm>
            <a:off x="6035040" y="3931920"/>
            <a:ext cx="5605272" cy="822960"/>
          </a:xfrm>
          <a:prstGeom prst="rect">
            <a:avLst/>
          </a:prstGeom>
          <a:noFill/>
          <a:ln/>
        </p:spPr>
        <p:txBody>
          <a:bodyPr wrap="square" lIns="0" tIns="0" rIns="0" bIns="0" rtlCol="0" anchor="t"/>
          <a:lstStyle/>
          <a:p>
            <a:pPr indent="0" marL="0">
              <a:buNone/>
            </a:pPr>
            <a:r>
              <a:rPr lang="en-US" sz="1500" i="1" dirty="0">
                <a:solidFill>
                  <a:srgbClr val="5B6B78"/>
                </a:solidFill>
                <a:latin typeface="Calibri" pitchFamily="34" charset="0"/>
                <a:ea typeface="Calibri" pitchFamily="34" charset="-122"/>
                <a:cs typeface="Calibri" pitchFamily="34" charset="-120"/>
              </a:rPr>
              <a:t>Le due colonne evidenziate sono identiche: la prima legge vale. La seconda si dimostra allo stesso modo.</a:t>
            </a:r>
            <a:endParaRPr lang="en-US" sz="1500" dirty="0"/>
          </a:p>
        </p:txBody>
      </p:sp>
      <p:sp>
        <p:nvSpPr>
          <p:cNvPr id="15" name="Shape 12"/>
          <p:cNvSpPr/>
          <p:nvPr/>
        </p:nvSpPr>
        <p:spPr>
          <a:xfrm>
            <a:off x="8051622" y="91440"/>
            <a:ext cx="3591433" cy="274320"/>
          </a:xfrm>
          <a:prstGeom prst="rect">
            <a:avLst/>
          </a:prstGeom>
          <a:solidFill>
            <a:srgbClr val="E0F2FE"/>
          </a:solidFill>
          <a:ln w="12700">
            <a:solidFill>
              <a:srgbClr val="0369A1"/>
            </a:solidFill>
            <a:prstDash val="solid"/>
          </a:ln>
        </p:spPr>
      </p:sp>
      <p:sp>
        <p:nvSpPr>
          <p:cNvPr id="16" name="Shape 13"/>
          <p:cNvSpPr/>
          <p:nvPr/>
        </p:nvSpPr>
        <p:spPr>
          <a:xfrm>
            <a:off x="8051622"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8" name="Text 1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Dualità e precedenza</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143103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Principio di dualità: ogni identità resta vera scambiando AND con OR e 0 con 1</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1 = x diventa x + 0 = x; le due leggi di De Morgan sono l'una la duale dell'altra</a:t>
            </a:r>
            <a:endParaRPr lang="en-US" sz="2400" dirty="0"/>
          </a:p>
        </p:txBody>
      </p:sp>
      <p:sp>
        <p:nvSpPr>
          <p:cNvPr id="5" name="Shape 3"/>
          <p:cNvSpPr/>
          <p:nvPr/>
        </p:nvSpPr>
        <p:spPr>
          <a:xfrm>
            <a:off x="548640" y="33378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215894"/>
            <a:ext cx="10710367" cy="110566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Precedenza: prima NOT, poi AND, poi OR, come per potenze, prodotti e somme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x + y . z' significa x + (y . (z'))</a:t>
            </a:r>
            <a:endParaRPr lang="en-US" sz="2400" dirty="0"/>
          </a:p>
        </p:txBody>
      </p:sp>
      <p:sp>
        <p:nvSpPr>
          <p:cNvPr id="7" name="Shape 5"/>
          <p:cNvSpPr/>
          <p:nvPr/>
        </p:nvSpPr>
        <p:spPr>
          <a:xfrm>
            <a:off x="548640" y="48110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890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parentesi cambiano l'ordine, esattamente come nell'algebra ordinaria</a:t>
            </a:r>
            <a:endParaRPr lang="en-US" sz="2400" dirty="0"/>
          </a:p>
        </p:txBody>
      </p:sp>
      <p:sp>
        <p:nvSpPr>
          <p:cNvPr id="9" name="Shape 7"/>
          <p:cNvSpPr/>
          <p:nvPr/>
        </p:nvSpPr>
        <p:spPr>
          <a:xfrm>
            <a:off x="548640" y="5922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Due espressioni sono equivalenti se hanno la stessa tabella di verità</a:t>
            </a:r>
            <a:endParaRPr lang="en-US" sz="2400" dirty="0"/>
          </a:p>
        </p:txBody>
      </p:sp>
      <p:sp>
        <p:nvSpPr>
          <p:cNvPr id="11" name="Shape 9"/>
          <p:cNvSpPr/>
          <p:nvPr/>
        </p:nvSpPr>
        <p:spPr>
          <a:xfrm>
            <a:off x="8051622" y="91440"/>
            <a:ext cx="3591433" cy="274320"/>
          </a:xfrm>
          <a:prstGeom prst="rect">
            <a:avLst/>
          </a:prstGeom>
          <a:solidFill>
            <a:srgbClr val="E0F2FE"/>
          </a:solidFill>
          <a:ln w="12700">
            <a:solidFill>
              <a:srgbClr val="0369A1"/>
            </a:solidFill>
            <a:prstDash val="solid"/>
          </a:ln>
        </p:spPr>
      </p:sp>
      <p:sp>
        <p:nvSpPr>
          <p:cNvPr id="12" name="Shape 10"/>
          <p:cNvSpPr/>
          <p:nvPr/>
        </p:nvSpPr>
        <p:spPr>
          <a:xfrm>
            <a:off x="8051622"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14" name="Text 11"/>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Semplificare con l'algebra</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001264"/>
                <a:gridCol w="709315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Espressione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Legge applicata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x . y + x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l'espressione da semplificare: tre porte e un invertitore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(y + y')</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legge distributiva, letta da destra a sinistra</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 .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legge del complemento: y + y' = 1</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 x</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elemento neutro: resta solo un filo</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Allo stesso modo: x + x' . y = (x + x') . (x + y) = 1 . (x + y) = x + y</a:t>
            </a:r>
            <a:endParaRPr lang="en-US" sz="1500" dirty="0"/>
          </a:p>
        </p:txBody>
      </p:sp>
      <p:sp>
        <p:nvSpPr>
          <p:cNvPr id="5" name="Shape 2"/>
          <p:cNvSpPr/>
          <p:nvPr/>
        </p:nvSpPr>
        <p:spPr>
          <a:xfrm>
            <a:off x="8051622" y="91440"/>
            <a:ext cx="3591433" cy="274320"/>
          </a:xfrm>
          <a:prstGeom prst="rect">
            <a:avLst/>
          </a:prstGeom>
          <a:solidFill>
            <a:srgbClr val="E0F2FE"/>
          </a:solidFill>
          <a:ln w="12700">
            <a:solidFill>
              <a:srgbClr val="0369A1"/>
            </a:solidFill>
            <a:prstDash val="solid"/>
          </a:ln>
        </p:spPr>
      </p:sp>
      <p:sp>
        <p:nvSpPr>
          <p:cNvPr id="6" name="Shape 3"/>
          <p:cNvSpPr/>
          <p:nvPr/>
        </p:nvSpPr>
        <p:spPr>
          <a:xfrm>
            <a:off x="8051622"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179638" y="128016"/>
            <a:ext cx="201168" cy="201168"/>
          </a:xfrm>
          <a:prstGeom prst="rect">
            <a:avLst/>
          </a:prstGeom>
        </p:spPr>
      </p:pic>
      <p:sp>
        <p:nvSpPr>
          <p:cNvPr id="8" name="Text 4"/>
          <p:cNvSpPr txBox="1"/>
          <p:nvPr/>
        </p:nvSpPr>
        <p:spPr>
          <a:xfrm>
            <a:off x="8435670" y="91440"/>
            <a:ext cx="317080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l'algebra di Boole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 quali ingressi x NAND y vale 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0, y = 1</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 = 1, y =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Per De Morgan, (a . b')' è uguale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 b'</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 0x0000005A. Che cosa c'è in t1 dopo andi t1, t0, 0x0F?</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0x00000050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0x0000000F</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istruzione porta a 1 il bit 5 di t0 e lascia invariati tutti gli altri bit?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andi t0, t0, 0x20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ori t0, t0, 0x20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xori t0, t0, 0x20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addi t0, t0, 0x20</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817629"/>
                <a:gridCol w="2993731"/>
                <a:gridCol w="2465426"/>
                <a:gridCol w="2817629"/>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Inglese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 circuit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circuito logico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truth table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tabella di verità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switching network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rete di commutazione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logic gate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porta logica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analysis / synthesis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analisi / sintesi</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(negazione)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product (AND)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prodotto logico (congiunzione)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dualità</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logical sum (OR)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somma logica (disgiunzione)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maschera</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involution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involuzione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set / clear / toggle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porre a 1 / azzerare / invertire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L'architettura di von Neumann rappresenta in forma semplificata una macchina reale: processore, memoria, ingresso/uscita</a:t>
            </a:r>
            <a:endParaRPr lang="en-US" sz="2100" dirty="0"/>
          </a:p>
        </p:txBody>
      </p:sp>
      <p:sp>
        <p:nvSpPr>
          <p:cNvPr id="5" name="Shape 3"/>
          <p:cNvSpPr/>
          <p:nvPr/>
        </p:nvSpPr>
        <p:spPr>
          <a:xfrm>
            <a:off x="548640" y="23170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183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L'algebra di Boole rappresenta funzioni logiche realizzabili con circuiti elettronici</a:t>
            </a:r>
            <a:endParaRPr lang="en-US" sz="2100" dirty="0"/>
          </a:p>
        </p:txBody>
      </p:sp>
      <p:sp>
        <p:nvSpPr>
          <p:cNvPr id="7" name="Shape 5"/>
          <p:cNvSpPr/>
          <p:nvPr/>
        </p:nvSpPr>
        <p:spPr>
          <a:xfrm>
            <a:off x="548640" y="31181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19425"/>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Tre operazioni, una manciata di proprietà e le leggi di De Morgan bastano a trasformare qualunque espressione</a:t>
            </a:r>
            <a:endParaRPr lang="en-US" sz="21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2047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Un'istruzione bit a bit è l'algebra applicata a trentadue bit insieme; una maschera è la legge dell'elemento neutro al lavoro</a:t>
            </a:r>
            <a:endParaRPr lang="en-US" sz="2100" dirty="0"/>
          </a:p>
        </p:txBody>
      </p:sp>
      <p:sp>
        <p:nvSpPr>
          <p:cNvPr id="11" name="Shape 9"/>
          <p:cNvSpPr/>
          <p:nvPr/>
        </p:nvSpPr>
        <p:spPr>
          <a:xfrm>
            <a:off x="548640" y="4720209"/>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21530"/>
            <a:ext cx="10710367" cy="155067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appendice A (fondamenti di progetto logico)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6: State and Input: Branches, Bitmasks, and Boundaries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Bucci: Architettura dei calcolatori elettronici, i capitoli sull'algebra di Boole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Elementi di algebra di Boole</dc:title>
  <dc:subject>Lezione 08</dc:subject>
  <dc:creator>Raffaele Montella</dc:creator>
  <cp:lastModifiedBy>Raffaele Montella</cp:lastModifiedBy>
  <cp:revision>1</cp:revision>
  <dcterms:created xsi:type="dcterms:W3CDTF">2026-10-17T07:16:50Z</dcterms:created>
  <dcterms:modified xsi:type="dcterms:W3CDTF">2026-10-17T07:16:50Z</dcterms:modified>
</cp:coreProperties>
</file>