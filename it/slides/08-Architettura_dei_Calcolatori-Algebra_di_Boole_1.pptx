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eff6377-0d4c-4253-5c28-ddb361242c44}">
          <p14:sldIdLst>
            <p14:sldId id="256"/>
            <p14:sldId id="257"/>
          </p14:sldIdLst>
        </p14:section>
        <p14:section name="Riscaldamento sulla macchina" id="{ee0aa71a-4cab-2e33-5aa0-64823fe16e5a}">
          <p14:sldIdLst>
            <p14:sldId id="258"/>
            <p14:sldId id="259"/>
            <p14:sldId id="260"/>
          </p14:sldIdLst>
        </p14:section>
        <p14:section name="Il calcolatore come macchina logica" id="{be45850b-de8c-e28a-5683-1b1edbcf2545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Algebra di Boole" id="{27cdd110-cf3d-830a-a861-b8ed3cbf7e6b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Ritorno alla macchina" id="{43994e21-fbf1-751c-0a14-761929d27083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Comincia il secondo blocco del corso: la logica. Dopo aver imparato che cosa significano i bit, imparate come si combinano. In realtà usate l'algebra di Boole fin dai primi giorni, ogni volta che avete esaminato un pulsante con andi; questa lezione dà un nome a quell'operazione e le costruisce attorno l'algebra. Il Bianconiglio in copertina va sempre di fretta: anche il processore fa tutto a minuscoli passi logici, miliardi al secondo.
Per il docente: Spirale: gli studenti usano andi per esaminare un pulsante fin dai primi giorni. La lezione dà un nome a ciò che hanno fatto (una maschera è un AND), poi costruisce l'algebra, poi torna alle istruzioni bit a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obiettivi. Descrivere un calcolatore come tre sottosistemi collegati da un bus. Distinguere i due problemi del progetto logico, analisi e sintesi. Scrivere le tabelle di verità e riconoscere i simboli di sei porte. Applicare le proprietà dell'algebra, leggi di De Morgan comprese, per semplificare un'espressione. E, di ritorno sulla macchina, usare le istruzioni bit a bit di RISC-V per esaminare, porre a 1, azzerare e invertire singoli bit di un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 è codice che conoscete già. Rileggetelo con una domanda nuova in mente: che cosa fa esattamente andi ai trentadue bit di un registro?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prg32_input_read restituisce in a0 tutti i pulsanti insieme, un bit per pulsante. andi t3, t0, 0x01 conserva il bit 0 e forza a zero tutti gli altri; il risultato è diverso da zero esattamente quando LEFT è premuto, e in caso contrario beqz salta il movimento. Lo stesso schema, con 0x02, esamina RIGHT. La costante usata con andi si chiama maschera. L'ultima nota pone la domanda della lezione: andi sono trentadue porte AND che lavorano fianco a fianco; che cos'è dunque un AND?
Per il docente: Dal capitolo 6 (State and Input) e dal laboratorio 06-asm-state-and-input del libro di PRG32. La costante usata con andi si chiama maschera.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valore restituito dai pulsanti è una parola in cui ogni bit ha un significato: il bit 0 è LEFT, il bit 1 RIGHT, il bit 2 UP, il bit 3 DOWN, i bit 4 e 5 sono A e B, il bit 6 è START. Tenendo premuti insieme RIGHT e A si ottiene 0x12, cioè 0001 0010. Nell'immagine ogni lampada è un bit di questa parola. Ogni domanda che si può fare sul joystick, come «LEFT è premuto ma RIGHT no?», è un'espressione booleana su queste sette variabili.
Per il docente: Costanti dei pulsanti da prg32.h (PRG32_BTN_*). Il secondo giocatore usa la stessa disposizione nei bit più alti.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dell'algebra, uno sguardo alla macchina da un livello sotto le istruzioni: di quali parti è fatta, che cosa fa il processore, e con che tipo di circuiti è costruito il tutto.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calcolatore ha tre sottosistemi: il processore, che esegue le istruzioni; la memoria centrale, che contiene istruzioni e dati; e l'ingresso/uscita, che collega la macchina al mondo. Sono uniti da un bus, un insieme di fili condivisi diviso in linee degli indirizzi, linee dei dati e linee di controllo. È il modello di von Neumann della Lezione 03 in termini odierni. Tutto ciò che viaggia sul bus è una configurazione di bit. Sull'ESP32-C6 tutto questo sta dentro un solo chip.
Per il docente: Sostituisce le due figure della presentazione originale (modello di von Neumann; architettura a bus). Sull'ESP32-C6 i tre sottosistemi e il bus stanno tutti dentro un solo chip.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 processore risiede la capacità di elaborazione. Esegue istruzioni, che sono comandi espliciti di due tipi: quelli che governano il trasferimento dell'informazione, dentro il calcolatore e da e verso i dispositivi, e quelli che specificano operazioni aritmetiche e logiche. La memoria contiene i dati e la sequenza delle istruzioni, e una sequenza di istruzioni memorizzata è un programma. Il processore fa una cosa sola, all'infinito: preleva un'istruzione, la esegue, e ripete.
Per il docente: RV32I: circa quaranta istruzioni. Avete usato addi, lw, sw, andi, beqz, call e ret: trasferimento, aritmetica, logica e controllo ci sono tutti.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aggettivi definiscono un calcolatore elettronico. Numerico, o digitale: tutta l'informazione è fatta di stringhe di bit. Automatico: una volta avviato procede da solo. A programma memorizzato: il programma sta in memoria e si può sostituire, quindi la stessa macchina fa lavori diversi. Elettronico: è costruito con circuiti che memorizzano ed elaborano bit. Ogni aggettivo esclude qualcosa: un abaco è numerico ma non automatico; un carillon meccanico è automatico ma il suo programma è fisso.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circuiti che memorizzano ed elaborano i bit si chiamano circuiti di commutazione, o circuiti logici; collegati tra loro formano una rete di commutazione, e progettarne una è il progetto logico. Per descrivere ciò che fanno questi circuiti si usa un'algebra. Svolge per i circuiti il ruolo che l'algebra ordinaria svolge per le grandezze: una notazione in cui si può calcolare invece di provare ogni caso. I valori sono due, 0 e 1: due livelli di tensione, due stati di un interruttore.
Per il docente: Circuiti di commutazione: switching circuits. L'algebra è quella di Boole (1854), applicata agli interruttori da Nakajima e Shannon negli anni Trenta (Lezione 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problemi, e una sola algebra per entrambi. Analisi: è data la struttura di un circuito, come è fatto, e se ne deve trovare il comportamento, che cosa fa. Leggere andi t3, t0, 1 e dire che cosa finisce in t3 è analisi. La sintesi va nell'altro verso: da un comportamento desiderato a una struttura che lo realizza, per esempio dalla tabella di una somma a un addizionatore. La sintesi ha di solito molte soluzioni; scegliere la più economica è l'argomento della prossima lezione.
Per il docente: La sintesi ha di solito molte soluzioni; scegliere la più economica è il problema di minimizzazione della Lezione 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 l'algebra vera e propria: le sue variabili, le tre operazioni di base, altre tre porte che si usano ovunque, e le proprietà che permettono di trasformare le espressioni.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Nell'algebra di Boole una variabile può assumere solo due valori, 0 e 1, e le operazioni di base sono tre. AND, il prodotto logico, scritto con un punto o semplicemente accostando le variabili. OR, la somma logica, scritta con il segno più. NOT, il complemento, scritto qui con un apice, come in x', per poterlo battere a tastiera. Non fatevi ingannare dai simboli: il più non è una somma aritmetica, come vedrete subito nella tabella di verità di OR.
Per il docente: Congiunzione, disgiunzione, negazione: conjunction, disjunction, negation. In queste slide il complemento si scrive con un apice (x') per poterlo battere a tastiera.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riquadro mostra un'operazione in tre modi: il simbolo della porta, la notazione e la tabella di verità, che elenca l'uscita per ogni combinazione degli ingressi. AND dà 1 solo quando entrambi gli ingressi valgono 1. OR dà 0 solo quando entrambi valgono 0, quindi 1 OR 1 fa 1, non 2. NOT ha un solo ingresso e lo inverte. Imparate le tre forme: dorso piatto e fronte tonda per AND, dorso curvo e fronte a punta per OR, un triangolo con un cerchietto per NOT.
Per il docente: AND vale 1 solo quando entrambi gli ingressi valgono 1; OR vale 0 solo quando entrambi valgono 0; NOT inverte. Una tabella di verità elenca l'uscita per ogni combinazione degli ingressi.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tre porte. XOR, l'or esclusivo, dà 1 quando i due ingressi sono diversi: è il bit di somma di un'addizione a un bit. NAND e NOR sono AND e OR seguiti da una negazione: il cerchietto sull'uscita di un simbolo significa sempre NOT. NAND dà 0 solo quando entrambi gli ingressi valgono 1; NOR dà 1 solo quando entrambi valgono 0. In pratica contano perché sono le porte più economiche da costruire con i transistor, come mostrerà la Lezione 10.
Per il docente: Slide nuova. XOR vale 1 quando gli ingressi sono diversi: è il bit di somma di un'addizione, e RISC-V lo ha come istruzione. Il cerchietto su un simbolo significa negazione.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prime quattro proprietà, ciascuna in due forme, una per AND e una per OR. Commutativa e associativa sono come nell'algebra ordinaria; grazie alla seconda, AND e OR si estendono a un numero qualsiasi di operandi. L'idempotenza è nuova: x AND x è x, e x OR x è x; ripetere una variabile non aggiunge nulla. L'assorbimento è la più utile per semplificare: x OR (x AND y) è semplicemente x, perché quando x vale 1 il risultato è 1 qualunque sia y, e quando x vale 0 entrambi i termini valgono 0.
Per il docente: Grazie alla proprietà associativa AND e OR si possono definire su più di due operandi: x . y . z. Ogni proprietà viene in coppia: si scambia AND con 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cinque proprietà. La prima legge distributiva è quella consueta. La seconda, x + yz = (x + y)(x + z), non ha equivalente nell'algebra ordinaria: qui anche OR si distribuisce rispetto ad AND. Poi le costanti: 1 è l'elemento neutro per AND e 0 per OR; 0 annulla un AND e 1 satura un OR. Le leggi del complemento dicono che una variabile e la sua negazione danno 0 con AND e 1 con OR. Involuzione: negare due volte restituisce la variabile. Due di queste, elemento neutro ed elemento nullo, spiegano come funziona una maschera.
Per il docente: La seconda legge distributiva non ha un corrispettivo nell'algebra ordinaria. La slide originale chiamava l'involuzione «convoluzione» e raggruppava elemento neutro ed elemento nullo come «minimo e massimo»; le leggi del complemento sono aggiunte 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leggi di De Morgan collegano le tre operazioni: il complemento di un prodotto è la somma dei complementi, e il complemento di una somma è il prodotto dei complementi. La tabella dimostra la prima per induzione perfetta: poiché le variabili hanno solo due valori, una legge si verifica controllando ogni riga. Le due colonne evidenziate sono identiche. In termini di porte: un NAND è un OR con gli ingressi negati. Userete queste leggi di continuo, su carta e nei programmi.
Per il docente: Augustus De Morgan, 1847. Le leggi si generalizzano a un numero qualsiasi di variabili. La presentazione originale mostrava la dimostrazione come immagine.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regole generali. Dualità: ogni identità resta vera scambiando AND con OR e 0 con 1; per questo le proprietà venivano a coppie, e dimostrarle costa la metà. Precedenza: prima si applica NOT, poi AND, poi OR, come le potenze vengono prima dei prodotti e i prodotti prima delle somme; le parentesi cambiano l'ordine. E una definizione da ricordare: due espressioni sono equivalenti quando hanno la stessa tabella di verità.
Per il docente: La dualità dimezza il lavoro: dimostrata una legge di ogni coppia, l'altra segue.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L'algebra al lavoro. L'espressione xy + xy' richiede due porte AND, una OR e un invertitore. Raccogliendo x con la legge distributiva si ottiene x(y + y'); la legge del complemento trasforma la parentesi in 1; l'elemento neutro lascia x. Tre porte sono diventate un pezzo di filo. Ogni riga della tabella nomina la legge che la giustifica: quando semplificate, siate sempre in grado di dire quale legge state applicando. La didascalia mostra una seconda semplificazione che servirà ancora.
Per il docente: Due letterali e tre porte diventano un filo. L'identità nella didascalia (detta a volte teorema di semplificazione) usa la distributività di OR rispetto ad AND; la si riusa nella Lezione 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Ritorno alle istruzioni. Le porte appena studiate stanno dentro il processore, trentadue per tipo per ogni istruzione bit a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and, or, xor e not applicano una porta a ogni coppia di bit corrispondenti di due registri, in tutte le posizioni insieme. La terza colonna svolge un esempio su otto bit: con a uguale a 1100 1010 e b uguale a 0000 1111, AND dà 0000 1010, OR dà 1100 1111, XOR dà 1100 0101. L'ultima colonna mostra gli stessi operatori in C. not è una pseudo-istruzione: è xori con meno 1, perché meno 1 in complemento a due è fatto di tutti uni.
Per il docente: Ogni istruzione applica la stessa porta a tutte e trentadue le coppie di bit insieme (ne sono mostrate otto). Le forme con immediato andi, ori e xori prendono una costante di 12 bit; not è la pseudo-istruzione xori t0, a, -1, perché -1 è fatto di tutti uni.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quattro usi standard di una maschera, ciascuno fondato su una legge dell'algebra. Per esaminare un bit, AND con una maschera che ha 1 in quella posizione: x AND 1 è x, x AND 0 è 0. Per porlo a 1, OR con la stessa maschera. Per azzerarlo, AND con la maschera complementata. Per invertirlo, XOR con la maschera. Negli ultimi tre casi gli altri bit restano invariati, ed è proprio questo il punto: una maschera agisce sui bit scelti e lascia stare gli altri.
Per il docente: Le leggi dell'elemento neutro e dell'elemento nullo sono esattamente ciò che fa funzionare una maschera: un 1 nella maschera lascia passare il bit (AND) oppure lo forza (OR); uno 0 fa il contrario. ~0x10 è 0xFFFFFFEF, che l'assemblatore codifica come immediato -17.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Morgan in un programma. Il giocatore è fermo quando non è premuto né LEFT né RIGHT. La versione breve usa una maschera con due bit, 0x03: il risultato è zero solo se entrambi i bit sono zero, cioè NOT (LEFT OR RIGHT). La versione lunga esamina ogni pulsante separatamente: (NOT LEFT) AND (NOT RIGHT). La seconda legge di De Morgan dice che le due sono la stessa condizione. Due istruzioni invece di cinque: semplificare un'espressione è utile nel software come nell'hardware.
Per il docente: (x + y)' = x' . y'. Due istruzioni invece di cinque: la minimizzazione non riguarda solo l'hardware.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leggere il bit numero n di una parola quando n sta in un registro: si scorre la parola a destra di n posizioni, così il bit voluto arriva in posizione 0, poi si maschera con 1. Qui s0 contiene il numero della lampada, srl scorre la parola dei pulsanti, andi isola il bit, e il colore si sceglie di conseguenza: grigio per spenta, giallo per accesa. Scorrere e mascherare è uno degli idiomi più comuni della programmazione a basso livello.
Per il docente: Sorgente: laboratorio 06-asm-state-and-input del libro di PRG32, step1_lamps.S (dentro lamp_loop). srl è uno scorrimento logico a destra (Lezione 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NAND è AND seguito da NOT. Partite da AND: per quale unica riga della sua tabella l'uscita vale 1? Quella è la sola riga in cui NAND vale 0.
Per il docente: Risposta: C. NAND è il complemento di AND: vale 0 solo quando entrambi gli ingressi valgono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Applicate la prima legge di De Morgan al prodotto di a e b': il complemento diventa la somma dei complementi, a' più il complemento di b'. Poi usate l'involuzione sul secondo termine.
Per il docente: Risposta: B. (a . b')' = a' + (b')' = a' + b, usando l'involuzione sul secondo termine.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Scrivete in binario 0x5A, 0101 1010, e la maschera 0x0F, 0000 1111. L'AND conserva i bit dove la maschera ha 1, i quattro bassi, e azzera gli altri.
Per il docente: Risposta: C. 0x5A = 0101 1010; AND con 0000 1111 conserva il nibble basso: 1010 = 0xA.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Confrontate le quattro istruzioni con la tabella della maschera. AND con 0x20 azzererebbe tutti gli altri bit. XOR invertirebbe il bit, trasformando un 1 in uno 0. Una somma aritmetica funzionerebbe solo se il bit fosse 0, e altrimenti produrrebbe un riporto. Solo OR pone il bit a 1 e lascia invariato il resto.
Per il docente: Risposta: B. OR con una maschera: x + 1 = 1 sul bit 5, x + 0 = x altrove. xori lo invertirebbe; addi propagherebbe un riporto nel bit 6 se il bit fosse già 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Dimostrate con una tabella di verità la seconda legge di De Morgan. Semplificate un'espressione, nominando la legge a ogni passo. Scrivete la maschera e il test per «A e B premuti insieme»: notate che verificare un risultato diverso da zero significherebbe A oppure B. Modificate le lampade perché mostrino il complemento dei pulsanti. E convertite una lettera tra maiuscola e minuscola con una sola istruzione, ricordando dalla Lezione 04 che le due differiscono per un bit.
Per il docente: Esercizio 2: x y + x y' z + x' y = y (x + x') + x y' z = y + x y' z = y + x z. Esercizio 3: andi t1, t0, 0x30 e poi confronto con 0x30 (li t2, 0x30; beq t1, t2, both): verificare che sia diverso da zero significherebbe A OR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Truth table, tabella di verità, è la tabella che definisce una funzione elencando tutti i casi. Logical product e logical sum, prodotto e somma logica, sono AND e OR. To set, to clear e to toggle un bit significano porlo a 1, azzerarlo e invertirlo; l'italiano non ha verbi singoli e usa brevi locuzioni.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conclusioni. L'architettura di von Neumann descrive in forma semplificata una macchina reale. L'algebra di Boole descrive funzioni logiche che i circuiti elettronici possono realizzare. Tre operazioni, poche proprietà e le leggi di De Morgan bastano a trasformare qualunque espressione. E un'istruzione bit a bit è l'algebra applicata a trentadue bit insieme, con la maschera come legge dell'elemento neutro al lavoro. La prossima lezione passa dagli operatori alle funzioni: forme canoniche e minimizzazione.
Per il docente: Prossima lezione: funzioni booleane, forme canoniche e minimizzazione.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08: Algebra di Boole (1)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1: il calcolatore come macchina logica; operatori e loro proprietà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“Povero me! Povero me! Arriverò troppo tardi!”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Carroll, Le avventure di Alice nel Paese delle Meraviglie, 1865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un calcolatore come processore, memoria e ingresso/uscita, collegati da un bus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9631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la differenza tra analisi e sintesi di un circuito logico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0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24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Scrivere le tabelle di verità di AND, OR, NOT, XOR, NAND e NOR e riconoscerne i simboli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29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1147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Applicare le proprietà dell'algebra di Boole, leggi di De Morgan comprese, per semplificare un'espressione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 and, or, xor e not su RISC-V per esaminare, porre a 1, azzerare e invertire singoli bit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Riscaldamento sulla macchina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Fate algebra di Boole fin dai primi giorni.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è premuto?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all the buttons, one bit each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our own copy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0: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zero: LEFT is not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1: RIGHT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2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right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prg32_input_read restituisce tutti i pulsanti insieme: un bit per pulsante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con 0x01 conserva il bit 0 e forza a zero tutti gli altri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è diverso da zero esattamente quando LEFT è premuto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sono trentadue porte AND che lavorano fianco a fianco: che cos'è, esattamente, un AND?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bit per pulsante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0x01, RIGHT 0x02, UP 0x04, DOWN 0x08: bit da 0 a 3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0x10, B 0x20, START / SELECT 0x40: bit da 4 a 6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Tenendo premuti insieme RIGHT e A si ottiene 0x12 = 0001 0010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lampada del laboratorio è un bit della maschera: accesa quando il bit vale 1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domanda sul joystick è un'espressione booleana su queste variabili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06, passo 1: sette lampade, una per ogni bit dei pulsanti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calcolatore come macchina logica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livello sotto le istruzioni.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calcolatore elettronico: tre sottosistemi e un bus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3210458" cy="2103120"/>
          </a:xfrm>
          <a:prstGeom prst="roundRect">
            <a:avLst>
              <a:gd name="adj" fmla="val 347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Processore (CPU)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controllo, ALU, registri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esegue le istruzioni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925269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82469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90618" y="1508760"/>
            <a:ext cx="3210458" cy="2103120"/>
          </a:xfrm>
          <a:prstGeom prst="roundRect">
            <a:avLst>
              <a:gd name="adj" fmla="val 347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centrale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contiene le istruzioni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 dati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867248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24448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32597" y="1508760"/>
            <a:ext cx="3210458" cy="2103120"/>
          </a:xfrm>
          <a:prstGeom prst="roundRect">
            <a:avLst>
              <a:gd name="adj" fmla="val 347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 / uscita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joystick, display, suono,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rete, memoria di massa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9809226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266426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Bus: linee degli indirizzi, linee dei dati, linee di controllo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508990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98348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modello di von Neumann in termini odierni: le unità del 1945, collegate da fili condivisi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48640" y="593775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5831332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ciò che viaggia sul bus è una configurazione di bit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capacità di elaborazione del calcolatore risiede nel processore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26034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69414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 eseguire un insieme di azioni elementari, più o meno complesse: le istruzioni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124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21508"/>
            <a:ext cx="6565392" cy="143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sono comandi espliciti che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governano il trasferimento dell'informazione dentro il calcolatore e tra il calcolatore e i dispositivi di I/O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specificano le operazioni aritmetiche e logiche da eseguire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5813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90466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contiene i dati di ingresso e di uscita del calcolo, e la sequenza delle istruzioni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sequenza di istruzioni memorizzata nella memoria centrale è un programma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preleva, esegui, ripeti</a:t>
            </a:r>
            <a:endParaRPr lang="en-US" sz="3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prende le istruzioni dalla memoria e le esegue, una per una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tipo di sistema è un calcolatore elettronico?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un sistema digitale: tutta l'informazione che tratta è espressa come stringhe di bit.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volta avviato procede da solo, istruzione dopo istruzione, senza intervento umano.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programma memorizzato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registrato in memoria e si può sostituire: la stessa macchina fa lavori diversi.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Elettronico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costruito con circuiti elettronici che memorizzano i bit e li elaborano.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Circuiti logici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Tutta l'informazione trattata da un dispositivo numerico è espressa da stringhe di bit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4502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51532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circuiti elettronici che memorizzano i bit e li elaborano si chiamano circuiti di commutazione, o circuiti logici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7097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1111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circuito logico forma una rete di commutazione; progettarlo si chiama progetto logico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96938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70704"/>
            <a:ext cx="656539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descrivere il comportamento dei circuiti logici si usa un'algebra: una notazione matematica che semplifica l'analisi e la sintesi delle reti logiche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e 1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livelli di tensione su un filo, due stati di un interruttore, due valori di una variabile booleana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problemi, una sola algebra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la descrizione della STRUTTURA di un circuito (come è fatto)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Trovare: il suo COMPORTAMENTO (che cosa fa)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leggere uno schema e ricavarne la tabella di verità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leggere andi t3, t0, 1 e dire che cosa finisce in t3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la descrizione del COMPORTAMENTO (che cosa deve fare)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Trovare: una STRUTTURA che lo realizza (come costruirlo)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dalla tabella di verità di una somma a un circuito addizionatore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da «muoviti se è premuto LEFT o RIGHT» a una maschera e un salto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Algebra di Boole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 a due valori, tre operazioni di base.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Algebra di Boole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L'algebra usata per analizzare e sintetizzare i circuiti logici: variabili che possono assumere solo due valori, 0 e 1, e tre operazioni di base.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34399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variabili sono binarie e si scrivono di solito con lettere: A, B, ... oppure x, y, ...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43861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279731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AND, il prodotto logico: si scrive x AND y, oppure x . y, o semplicemente xy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99152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885097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OR, la somma logica: si scrive x OR y, oppure x + y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il complemento: si scrive NOT x, oppure x', oppure x con una barra sopra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tre operazioni fondamentali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(congiunzione)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36278"/>
            <a:ext cx="2966618" cy="8309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x . y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08989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4338218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66818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(disgiunzione)</a:t>
            </a:r>
            <a:endParaRPr lang="en-US" sz="1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538" y="2236278"/>
            <a:ext cx="2966618" cy="830964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521098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x + y</a:t>
            </a:r>
            <a:endParaRPr lang="en-US" sz="15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98568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79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79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791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7"/>
          <p:cNvSpPr/>
          <p:nvPr/>
        </p:nvSpPr>
        <p:spPr>
          <a:xfrm>
            <a:off x="8127797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8356397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(negazione)</a:t>
            </a:r>
            <a:endParaRPr lang="en-US" sz="18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17" y="2236278"/>
            <a:ext cx="2966618" cy="830964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310677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x'</a:t>
            </a:r>
            <a:endParaRPr lang="en-US" sz="1500" dirty="0"/>
          </a:p>
        </p:txBody>
      </p:sp>
      <p:graphicFrame>
        <p:nvGraphicFramePr>
          <p:cNvPr id="4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971026" y="3840480"/>
          <a:ext cx="18288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Altre tre porte che incontrerete ovunque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(or esclusivo)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36278"/>
            <a:ext cx="2966618" cy="8309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x'y + xy'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08989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D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D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D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4338218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66818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 (not and)</a:t>
            </a:r>
            <a:endParaRPr lang="en-US" sz="1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538" y="2236278"/>
            <a:ext cx="2966618" cy="830964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521098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(x . y)'</a:t>
            </a:r>
            <a:endParaRPr lang="en-US" sz="15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98568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7"/>
          <p:cNvSpPr/>
          <p:nvPr/>
        </p:nvSpPr>
        <p:spPr>
          <a:xfrm>
            <a:off x="8127797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8356397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 (not or)</a:t>
            </a:r>
            <a:endParaRPr lang="en-US" sz="18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17" y="2236278"/>
            <a:ext cx="2966618" cy="830964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310677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(x + y)'</a:t>
            </a:r>
            <a:endParaRPr lang="en-US" sz="1500" dirty="0"/>
          </a:p>
        </p:txBody>
      </p:sp>
      <p:graphicFrame>
        <p:nvGraphicFramePr>
          <p:cNvPr id="4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788146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Proprietà dell'algebra di Boole (1)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64384"/>
                <a:gridCol w="4365016"/>
                <a:gridCol w="43650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Proprietà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AND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OR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Commutativa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y = y .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y = y +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Associativa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(x . y) . z = x . (y . z)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(x + y) + z = x + (y + z)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Idempotenza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x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x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Assorbimento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(x + y)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(x . y)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l'associatività AND e OR si estendono a un numero qualsiasi di operandi: x . y . z, x + y + z.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Proprietà dell'algebra di Boole (2)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91570"/>
                <a:gridCol w="4274078"/>
                <a:gridCol w="472876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Proprietà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AND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OR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(y + z) = x . y + x . z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y . z = (x + y) . (x + z)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neutro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1 = x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+ 0 = x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nullo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0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+ 1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x'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x'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Involuzione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(x')' = x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Attenzione: anche OR si distribuisce rispetto ad AND. Per somma e prodotto ordinari è falso.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leggi di De Morgan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65176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. y)' = x' + y'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517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+ y)' = x' . y'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40073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31920"/>
            <a:ext cx="47365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complemento di un prodotto è la somma dei complementi, e viceversa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7091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33722"/>
            <a:ext cx="47365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Dimostrazione per induzione perfetta: si verifica ogni riga della tabella di verità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68985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614416"/>
            <a:ext cx="47365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NAND è un OR degli ingressi negati; un NOR è un AND degli ingressi negati</a:t>
            </a:r>
            <a:endParaRPr lang="en-US" sz="1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417320"/>
          <a:ext cx="5632704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941832"/>
                <a:gridCol w="941832"/>
                <a:gridCol w="685800"/>
                <a:gridCol w="68580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. 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(x . y)'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 + y'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6035040" y="3931920"/>
            <a:ext cx="5605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 colonne evidenziate sono identiche: la prima legge vale. La seconda si dimostra allo stesso modo.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Dualità e precedenza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1431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di dualità: ogni identità resta vera scambiando AND con OR e 0 con 1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x . 1 = x diventa x + 0 = x; le due leggi di De Morgan sono l'una la duale dell'altra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33781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215894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Precedenza: prima NOT, poi AND, poi OR, come per potenze, prodotti e somme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x + y . z' significa x + (y . (z'))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8110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689094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parentesi cambiano l'ordine, esattamente come nell'algebra ordinaria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92226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800344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espressioni sono equivalenti se hanno la stessa tabella di verità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Semplificare con l'algebra</a:t>
            </a:r>
            <a:endParaRPr lang="en-US" sz="3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001264"/>
                <a:gridCol w="709315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Espressione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applicata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y + x . y'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l'espressione da semplificare: tre porte e un invertitore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x . (y + y')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distributiva, letta da destra a sinistra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x .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del complemento: y + y' = 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x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neutro: resta solo un filo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 stesso modo: x + x' . y = (x + x') . (x + y) = 1 . (x + y) = x + 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Ritorno alla macchina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Trentadue porte per istruzione.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Istruzioni bit a bit: l'algebra su un registro intero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28135"/>
                <a:gridCol w="2728135"/>
                <a:gridCol w="3819389"/>
                <a:gridCol w="181875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1100 1010, b = 0000 1111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C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0000 1010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&amp;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 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1100 1111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|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1100 0101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^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 t0, 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complementa ogni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0011 0101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istruzione applica una porta a tutte le posizioni di bit insieme. not è una pseudo-istruzione: xori con -1, cioè con tutti uni.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cose da fare con una maschera</a:t>
            </a:r>
            <a:endParaRPr lang="en-US" sz="3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80203"/>
                <a:gridCol w="3120304"/>
                <a:gridCol w="3293655"/>
                <a:gridCol w="26002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usata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(bit 4 = pulsante A)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Effetto sugli altri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Esaminare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1 = x,  x . 0 = 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t1,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forzati a 0 nel risultato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Porre un bit 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+ 1 = 1,  x + 0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ori  t0,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Azzerare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0 = 0,  x . 1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t0, t0, ~0x10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Invertire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xor 1 = x',  x xor 0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xori t0,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Morgan al joystick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"idle" when NEITHER LEFT NOR RIGHT is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0x03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0x03 = LEFT | RIGHT: keep both bits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idle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all zero: (LEFT + RIGHT)' is true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long way: test each button, the result is the same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moving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 pressed: not idle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moving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 pressed: not idle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idle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LEFT' . RIGHT'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maschera con due bit esamina due pulsanti con una sola istruzione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è zero solo se entrambi i bit sono zero: NOT (LEFT OR RIGHT)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 Morgan equivale a (NOT LEFT) AND (NOT RIGHT): la via lunga, qui sotto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L'algebra dice che i due programmi sono equivalenti, e qual è il più economico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lampada per bit: scorrere e mascherare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67512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217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bit number, 0 to 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buttons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button mask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t1, s0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number s0 down to bit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prg32_gfx_rect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470648" y="1399032"/>
            <a:ext cx="4245559" cy="2708339"/>
          </a:xfrm>
          <a:prstGeom prst="roundRect">
            <a:avLst>
              <a:gd name="adj" fmla="val 2701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pic>
        <p:nvPicPr>
          <p:cNvPr id="6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472184"/>
            <a:ext cx="4099255" cy="25620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43800" y="4180523"/>
            <a:ext cx="4099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Schermata: questo passo, compilato ed eseguito su PRG32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470648" y="4527995"/>
            <a:ext cx="4245559" cy="1644205"/>
          </a:xfrm>
          <a:prstGeom prst="roundRect">
            <a:avLst>
              <a:gd name="adj" fmla="val 444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80960" y="4637723"/>
            <a:ext cx="3824935" cy="1424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Scorrere, poi mascherare con 1: il modo standard di leggere il bit numero n di una parola.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quali ingressi x NAND y vale 0?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0, y = 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0, y = 1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1, y = 1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De Morgan, (a . b')' è uguale a: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 . b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 + b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b'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 + b'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 = 0x0000005A. Che cosa c'è in t1 dopo andi t1, t0, 0x0F?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0x0000005A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0x00000050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0x0000000A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0x0000000F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istruzione porta a 1 il bit 5 di t0 e lascia invariati tutti gli altri bit?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t0, t0, 0x20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 t0, t0, 0x20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xori t0, t0, 0x20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t0, t0, 0x20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Dimostrate con una tabella di verità la seconda legge di De Morgan, (x + y)' = x' . y'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Semplificate con l'algebra: x . y + x . y' . z + x' . y, nominando la legge usata a ogni passo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la maschera e l'istruzione che verificano se A e B sono premuti insieme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Modificate il programma delle lampade perché mostrino il complemento dei pulsanti (accese quando rilasciati)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Convertite una lettera da maiuscola a minuscola e viceversa con una sola istruzione bit a bit (suggerimento: ASCII, Lezione 04)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tutte e sette le lampade accese a riposo, ognuna si spegne mentre il suo pulsante è premuto. Per la lettera: xori con 0x20 inverte il bit 5.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817629"/>
                <a:gridCol w="2993731"/>
                <a:gridCol w="2465426"/>
                <a:gridCol w="28176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 circuit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circuito logico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truth table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tabella di verità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switching network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 di commutazione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 gate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 logica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/ synthesis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analisi / sintesi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(negazione)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logical product (AND)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 logico (congiunzione)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duality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dualità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logical sum (OR)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 logica (disgiunzione)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set / clear / toggle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porre a 1 / azzerare / invertire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L'architettura di von Neumann rappresenta in forma semplificata una macchina reale: processore, memoria, ingresso/uscita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170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18373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L'algebra di Boole rappresenta funzioni logiche realizzabili con circuiti elettronici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11810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019425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operazioni, una manciata di proprietà e le leggi di De Morgan bastano a trasformare qualunque espressione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91915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820477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bit a bit è l'algebra applicata a trentadue bit insieme; una maschera è la legge dell'elemento neutro al lavoro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472020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621530"/>
            <a:ext cx="10710367" cy="1550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appendice A (fondamenti di progetto logico)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6: State and Input: Branches, Bitmasks, and Boundaries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Bucci: Architettura dei calcolatori elettronici, i capitoli sull'algebra di Boole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</dc:title>
  <dc:subject>Lezione 08</dc:subject>
  <dc:creator>Raffaele Montella</dc:creator>
  <cp:lastModifiedBy>Raffaele Montella</cp:lastModifiedBy>
  <cp:revision>1</cp:revision>
  <dcterms:created xsi:type="dcterms:W3CDTF">2026-10-12T11:28:40Z</dcterms:created>
  <dcterms:modified xsi:type="dcterms:W3CDTF">2026-10-12T11:28:40Z</dcterms:modified>
</cp:coreProperties>
</file>