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747a7956-a231-0606-8b25-61abc7bcd8af}">
          <p14:sldIdLst>
            <p14:sldId id="256"/>
            <p14:sldId id="257"/>
          </p14:sldIdLst>
        </p14:section>
        <p14:section name="Il calcolatore come macchina logica" id="{26877583-03f7-80ff-a059-79a7712b0596}">
          <p14:sldIdLst>
            <p14:sldId id="258"/>
            <p14:sldId id="259"/>
            <p14:sldId id="260"/>
            <p14:sldId id="261"/>
            <p14:sldId id="262"/>
          </p14:sldIdLst>
        </p14:section>
        <p14:section name="Algebra di Boole" id="{2c92e278-e44f-d2f1-dd02-cf603fb13905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itorno alla macchina" id="{b88de7b3-c72a-bb8b-d941-24a05bfaad86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Comincia il secondo blocco del corso: la logica. Dopo aver imparato che cosa significano i bit, imparate come si combinano. In realtà usate l'algebra di Boole fin dai primi giorni, ogni volta che avete esaminato un pulsante con andi; questa lezione dà un nome a quell'operazione e le costruisce attorno l'algebra. Il Bianconiglio in copertina va sempre di fretta: anche il processore fa tutto a minuscoli passi logici, miliardi al secondo.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le maschere di bit; l'architettura di von Neumann; analisi e sintesi; l'algebra di Boole; le porte logiche. DA UTILIZZARE OGGI: il programma completo, gli strumenti di PRG32 (si usa, non si studia, in questo corso). DA COMPRENDERE PIÙ AVANTI: minimizzazione, Karnaugh (Lezione 09). Una slide senza etichetta è contesto: una storia, un esempio, una domanda, un esercizio.
Per il docente: Spirale: gli studenti usano andi per esaminare un pulsante fin dai primi giorni. La lezione dà un nome a ciò che hanno fatto (una maschera è un AND), poi costruisce l'algebra, poi torna alle istruzioni bit a 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obiettivi. Descrivere un calcolatore come tre sottosistemi collegati da un bus. Distinguere i due problemi del progetto logico, analisi e sintesi. Scrivere le tabelle di verità e riconoscere i simboli di sei porte. Applicare le proprietà dell'algebra, leggi di De Morgan comprese, per semplificare un'espressione. E, di ritorno sulla macchina, usare le istruzioni bit a bit di RISC-V per esaminare, porre a 1, azzerare e invertire singoli bit di un registro.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calcolatore ha tre sottosistemi: il processore, che esegue le istruzioni; la memoria centrale, che contiene istruzioni e dati; e l'ingresso/uscita, che collega la macchina al mondo. Sono uniti da un bus, un insieme di fili condivisi diviso in linee degli indirizzi, linee dei dati e linee di controllo. È il modello di von Neumann della Lezione 03 in termini odierni. Tutto ciò che viaggia sul bus è una configurazione di bit. Sull'ESP32-C6 tutto questo sta dentro un solo chip.
DA COMPRENDERE OGGI: l'architettura di von Neumann.
Per il docente: Sostituisce le due figure della presentazione originale (modello di von Neumann; architettura a bus). Sull'ESP32-C6 i tre sottosistemi e il bus stanno tutti dentro un solo chip.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 processore risiede la capacità di elaborazione. Esegue istruzioni, che sono comandi espliciti di due tipi: quelli che governano il trasferimento dell'informazione, dentro il calcolatore e da e verso i dispositivi, e quelli che specificano operazioni aritmetiche e logiche. La memoria contiene i dati e la sequenza delle istruzioni, e una sequenza di istruzioni memorizzata è un programma. Il processore fa una cosa sola, all'infinito: preleva un'istruzione, la esegue, e ripete.
DA COMPRENDERE OGGI: l'architettura di von Neumann.
Per il docente: RV32I: circa quaranta istruzioni. Avete usato addi, lw, sw, andi, beqz, call e ret: trasferimento, aritmetica, logica e controllo ci sono tutti.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aggettivi definiscono un calcolatore elettronico. Numerico, o digitale: tutta l'informazione è fatta di stringhe di bit. Automatico: una volta avviato procede da solo. A programma memorizzato: il programma sta in memoria e si può sostituire, quindi la stessa macchina fa lavori diversi. Elettronico: è costruito con circuiti che memorizzano ed elaborano bit. Ogni aggettivo esclude qualcosa: un abaco è numerico ma non automatico; un carillon meccanico è automatico ma il suo programma è fisso.
DA COMPRENDERE OGGI: l'architettura di von Neumann.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circuiti che memorizzano ed elaborano i bit si chiamano circuiti di commutazione, o circuiti logici; collegati tra loro formano una rete di commutazione, e progettarne una è il progetto logico. Per descrivere ciò che fanno questi circuiti si usa un'algebra. Svolge per i circuiti il ruolo che l'algebra ordinaria svolge per le grandezze: una notazione in cui si può calcolare invece di provare ogni caso. I valori sono due, 0 e 1: due livelli di tensione, due stati di un interruttore.
DA COMPRENDERE OGGI: analisi e sintesi.
Per il docente: Circuiti di commutazione: switching circuits. L'algebra è quella di Boole (1854), applicata agli interruttori da Nakajima e Shannon negli anni Trenta (Lezione 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problemi, e una sola algebra per entrambi. Analisi: è data la struttura di un circuito, come è fatto, e se ne deve trovare il comportamento, che cosa fa. Leggere andi t3, t0, 1 e dire che cosa finisce in t3 è analisi. La sintesi va nell'altro verso: da un comportamento desiderato a una struttura che lo realizza, per esempio dalla tabella di una somma a un addizionatore. La sintesi ha di solito molte soluzioni; scegliere la più economica è l'argomento della prossima lezione.
DA COMPRENDERE OGGI: analisi e sintesi. DA COMPRENDERE PIÙ AVANTI: minimizzazione, Karnaugh (si studia nella Lezione 09).
Per il docente: La sintesi ha di solito molte soluzioni; scegliere la più economica è il problema di minimizzazione della Lezione 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Nell'algebra di Boole una variabile può assumere solo due valori, 0 e 1, e le operazioni di base sono tre. AND, il prodotto logico, scritto con un punto o semplicemente accostando le variabili. OR, la somma logica, scritta con il segno più. NOT, il complemento, scritto qui con un apice, come in x', per poterlo battere a tastiera. Non fatevi ingannare dai simboli: il più non è una somma aritmetica, come vedrete subito nella tabella di verità di OR.
DA COMPRENDERE OGGI: l'algebra di Boole.
Per il docente: Congiunzione, disgiunzione, negazione: conjunction, disjunction, negation. In queste slide il complemento si scrive con un apice (x') per poterlo battere a tastiera.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riquadro mostra un'operazione in tre modi: il simbolo della porta, la notazione e la tabella di verità, che elenca l'uscita per ogni combinazione degli ingressi. AND dà 1 solo quando entrambi gli ingressi valgono 1. OR dà 0 solo quando entrambi valgono 0, quindi 1 OR 1 fa 1, non 2. NOT ha un solo ingresso e lo inverte. Imparate le tre forme: dorso piatto e fronte tonda per AND, dorso curvo e fronte a punta per OR, un triangolo con un cerchietto per NOT.
DA COMPRENDERE OGGI: le porte logiche.
Per il docente: AND vale 1 solo quando entrambi gli ingressi valgono 1; OR vale 0 solo quando entrambi valgono 0; NOT inverte. Una tabella di verità elenca l'uscita per ogni combinazione degli ingressi.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Altre tre porte. XOR, l'or esclusivo, dà 1 quando i due ingressi sono diversi: è il bit di somma di un'addizione a un bit. NAND e NOR sono AND e OR seguiti da una negazione: il cerchietto sull'uscita di un simbolo significa sempre NOT. NAND dà 0 solo quando entrambi gli ingressi valgono 1; NOR dà 1 solo quando entrambi valgono 0. In pratica contano perché sono le porte più economiche da costruire con i transistor, come mostrerà la Lezione 10.
DA COMPRENDERE OGGI: le porte logiche.
Per il docente: Slide nuova. XOR vale 1 quando gli ingressi sono diversi: è il bit di somma di un'addizione, e RISC-V lo ha come istruzione. Il cerchietto su un simbolo significa negazione.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prime quattro proprietà, ciascuna in due forme, una per AND e una per OR. Commutativa e associativa sono come nell'algebra ordinaria; grazie alla seconda, AND e OR si estendono a un numero qualsiasi di operandi. L'idempotenza è nuova: x AND x è x, e x OR x è x; ripetere una variabile non aggiunge nulla. L'assorbimento è la più utile per semplificare: x OR (x AND y) è semplicemente x, perché quando x vale 1 il risultato è 1 qualunque sia y, e quando x vale 0 entrambi i termini valgono 0.
DA COMPRENDERE OGGI: l'algebra di Boole.
Per il docente: Grazie alla proprietà associativa AND e OR si possono definire su più di due operandi: x . y . z. Ogni proprietà viene in coppia: si scambia AND con 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Altre cinque proprietà. La prima legge distributiva è quella consueta. La seconda, x + yz = (x + y)(x + z), non ha equivalente nell'algebra ordinaria: qui anche OR si distribuisce rispetto ad AND. Poi le costanti: 1 è l'elemento neutro per AND e 0 per OR; 0 annulla un AND e 1 satura un OR. Le leggi del complemento dicono che una variabile e la sua negazione danno 0 con AND e 1 con OR. Involuzione: negare due volte restituisce la variabile. Due di queste, elemento neutro ed elemento nullo, spiegano come funziona una maschera.
DA COMPRENDERE OGGI: l'algebra di Boole.
Per il docente: La seconda legge distributiva non ha un corrispettivo nell'algebra ordinaria. La slide originale chiamava l'involuzione «convoluzione» e raggruppava elemento neutro ed elemento nullo come «minimo e massimo»; le leggi del complemento sono aggiunte 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leggi di De Morgan collegano le tre operazioni: il complemento di un prodotto è la somma dei complementi, e il complemento di una somma è il prodotto dei complementi. La tabella dimostra la prima per induzione perfetta: poiché le variabili hanno solo due valori, una legge si verifica controllando ogni riga. Le due colonne evidenziate sono identiche. In termini di porte: un NAND è un OR con gli ingressi negati. Userete queste leggi di continuo, su carta e nei programmi.
DA COMPRENDERE OGGI: l'algebra di Boole.
Per il docente: Augustus De Morgan, 1847. Le leggi si generalizzano a un numero qualsiasi di variabili. La presentazione originale mostrava la dimostrazione come immagine.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regole generali. Dualità: ogni identità resta vera scambiando AND con OR e 0 con 1; per questo le proprietà venivano a coppie, e dimostrarle costa la metà. Precedenza: prima si applica NOT, poi AND, poi OR, come le potenze vengono prima dei prodotti e i prodotti prima delle somme; le parentesi cambiano l'ordine. E una definizione da ricordare: due espressioni sono equivalenti quando hanno la stessa tabella di verità.
DA COMPRENDERE OGGI: l'algebra di Boole.
Per il docente: La dualità dimezza il lavoro: dimostrata una legge di ogni coppia, l'altra segue.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L'algebra al lavoro. L'espressione xy + xy' richiede due porte AND, una OR e un invertitore. Raccogliendo x con la legge distributiva si ottiene x(y + y'); la legge del complemento trasforma la parentesi in 1; l'elemento neutro lascia x. Tre porte sono diventate un pezzo di filo. Ogni riga della tabella nomina la legge che la giustifica: quando semplificate, siate sempre in grado di dire quale legge state applicando. La didascalia mostra una seconda semplificazione che servirà ancora.
DA COMPRENDERE OGGI: l'algebra di Boole.
Per il docente: Due letterali e tre porte diventano un filo. L'identità nella didascalia (detta a volte teorema di semplificazione) usa la distributività di OR rispetto ad AND; la si riusa nella Lezione 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NAND è AND seguito da NOT. Partite da AND: per quale unica riga della sua tabella l'uscita vale 1? Quella è la sola riga in cui NAND vale 0.
Applicate la prima legge di De Morgan al prodotto di a e b': il complemento diventa la somma dei complementi, a' più il complemento di b'. Poi usate l'involuzione sul secondo termine.
Per il docente: 1. Risposta: C. NAND è il complemento di AND: vale 0 solo quando entrambi gli ingressi valgono 1.
2. Risposta: B. (a . b')' = a' + (b')' = a' + b, usando l'involuzione sul secondo termine.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Scrivete in binario 0x5A, 0101 1010, e la maschera 0x0F, 0000 1111. L'AND conserva i bit dove la maschera ha 1, i quattro bassi, e azzera gli altri.
Confrontate le quattro istruzioni con la tabella della maschera. AND con 0x20 azzererebbe tutti gli altri bit. XOR invertirebbe il bit, trasformando un 1 in uno 0. Una somma aritmetica funzionerebbe solo se il bit fosse 0, e altrimenti produrrebbe un riporto. Solo OR pone il bit a 1 e lascia invariato il resto.
Per il docente: 1. Risposta: C. 0x5A = 0101 1010; AND con 0000 1111 conserva il nibble basso: 1010 = 0xA.
2. Risposta: B. OR con una maschera: x + 1 = 1 sul bit 5, x + 0 = x altrove. xori lo invertirebbe; addi propagherebbe un riporto nel bit 6 se il bit fosse già 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Dodici termini. Truth table, tabella di verità, è la tabella che definisce una funzione elencando tutti i casi. Logical product e logical sum, prodotto e somma logica, sono AND e OR. To set, to clear e to toggle un bit significano porlo a 1, azzerarlo e invertirlo; l'italiano non ha verbi singoli e usa brevi locuzioni.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conclusioni. L'architettura di von Neumann descrive in forma semplificata una macchina reale. L'algebra di Boole descrive funzioni logiche che i circuiti elettronici possono realizzare. Tre operazioni, poche proprietà e le leggi di De Morgan bastano a trasformare qualunque espressione. E un'istruzione bit a bit è l'algebra applicata a trentadue bit insieme, con la maschera come legge dell'elemento neutro al lavoro. La prossima lezione passa dagli operatori alle funzioni: forme canoniche e minimizzazione.
Stato di apprendimento, riepilogo. DA COMPRENDERE OGGI: le maschere di bit; l'architettura di von Neumann; analisi e sintesi; l'algebra di Boole; le porte logiche. DA UTILIZZARE OGGI: il programma completo, gli strumenti di PRG32 (si usa, non si studia, in questo corso). DA COMPRENDERE PIÙ AVANTI: minimizzazione, Karnaugh (Lezione 09). Una slide senza etichetta è contesto: una storia, un esempio, una domanda, un esercizio.
Per il docente: Prossima lezione: funzioni booleane, forme canoniche e minimizzazione.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08: Algebra di Boole (1)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08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Elementi di algebra di Boole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1: il calcolatore come macchina logica; operatori e loro proprietà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“Povero me! Povero me! Arriverò troppo tardi!”</a:t>
            </a: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Carroll, Le avventure di Alice nel Paese delle Meraviglie, 1865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della lezione. I listati, il programma completo e come provarlo sono nella presentazione del codice: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08-Architettura_dei_Calcolatori-Algebra_di_Boole_1-Codice.pptx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0" descr="/Users/raffaelemontella/devel/riscv-prg32/computer-architecture-with-prg32/tools/assets/lab2_step1_lam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saprete fare alla fine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732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Descrivere un calcolatore come processore, memoria e ingresso/uscita, collegati da un bus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49631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Spiegare la differenza tra analisi e sintesi di un circuito logico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507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33248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Scrivere le tabelle di verità di AND, OR, NOT, XOR, NAND e NOR e riconoscerne i simboli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297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411472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Applicare le proprietà dell'algebra di Boole, leggi di De Morgan comprese, per semplificare un'espressione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087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49046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 and, or, xor e not su RISC-V per esaminare, porre a 1, azzerare e invertire singoli bit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calcolatore elettronico: tre sottosistemi e un bus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3210458" cy="2103120"/>
          </a:xfrm>
          <a:prstGeom prst="roundRect">
            <a:avLst>
              <a:gd name="adj" fmla="val 347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Processore (CPU)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unità di controllo, ALU, registri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esegue le istruzioni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925269" y="3611880"/>
            <a:ext cx="0" cy="502920"/>
          </a:xfrm>
          <a:prstGeom prst="line">
            <a:avLst/>
          </a:prstGeom>
          <a:noFill/>
          <a:ln w="38100">
            <a:solidFill>
              <a:srgbClr val="2E4A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2469" y="3611880"/>
            <a:ext cx="0" cy="502920"/>
          </a:xfrm>
          <a:prstGeom prst="line">
            <a:avLst/>
          </a:prstGeom>
          <a:noFill/>
          <a:ln w="38100">
            <a:solidFill>
              <a:srgbClr val="2E4A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90618" y="1508760"/>
            <a:ext cx="3210458" cy="2103120"/>
          </a:xfrm>
          <a:prstGeom prst="roundRect">
            <a:avLst>
              <a:gd name="adj" fmla="val 347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centrale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le istruzioni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 dati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867248" y="3611880"/>
            <a:ext cx="0" cy="502920"/>
          </a:xfrm>
          <a:prstGeom prst="line">
            <a:avLst/>
          </a:prstGeom>
          <a:noFill/>
          <a:ln w="38100">
            <a:solidFill>
              <a:srgbClr val="2E4A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24448" y="3611880"/>
            <a:ext cx="0" cy="502920"/>
          </a:xfrm>
          <a:prstGeom prst="line">
            <a:avLst/>
          </a:prstGeom>
          <a:noFill/>
          <a:ln w="38100">
            <a:solidFill>
              <a:srgbClr val="2E4A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32597" y="1508760"/>
            <a:ext cx="3210458" cy="2103120"/>
          </a:xfrm>
          <a:prstGeom prst="roundRect">
            <a:avLst>
              <a:gd name="adj" fmla="val 347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 / uscita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joystick, display, suono,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rete, memoria di massa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809226" y="3611880"/>
            <a:ext cx="0" cy="502920"/>
          </a:xfrm>
          <a:prstGeom prst="line">
            <a:avLst/>
          </a:prstGeom>
          <a:noFill/>
          <a:ln w="38100">
            <a:solidFill>
              <a:srgbClr val="2E4A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66426" y="3611880"/>
            <a:ext cx="0" cy="502920"/>
          </a:xfrm>
          <a:prstGeom prst="line">
            <a:avLst/>
          </a:prstGeom>
          <a:noFill/>
          <a:ln w="38100">
            <a:solidFill>
              <a:srgbClr val="2E4A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Bus: linee degli indirizzi, linee dei dati, linee di controllo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508990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4983480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di von Neumann in termini odierni: le unità del 1945, collegate da fili condivisi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593775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5831332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ciò che viaggia sul bus è una configurazione di bit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29373" y="91440"/>
            <a:ext cx="431368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2937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389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713421" y="91440"/>
            <a:ext cx="3893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l'architettura di von Neumann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processore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2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capacità di elaborazione del calcolatore risiede nel processore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26034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69414"/>
            <a:ext cx="6565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 eseguire un insieme di azioni elementari, più o meno complesse: le istruzioni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01244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921508"/>
            <a:ext cx="6565392" cy="143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istruzioni sono comandi espliciti che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governano il trasferimento dell'informazione dentro il calcolatore e tra il calcolatore e i dispositivi di I/O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specificano le operazioni aritmetiche e logiche da eseguire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58139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90466"/>
            <a:ext cx="656539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centrale contiene i dati di ingresso e di uscita del calcolo, e la sequenza delle istruzioni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564337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552440"/>
            <a:ext cx="6565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sequenza di istruzioni memorizzata nella memoria centrale è un programma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preleva, esegui, ripeti</a:t>
            </a:r>
            <a:endParaRPr lang="en-US" sz="39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prende le istruzioni dalla memoria e le esegue, una per una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29373" y="91440"/>
            <a:ext cx="431368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2937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389" y="12801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713421" y="91440"/>
            <a:ext cx="3893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l'architettura di von Neumann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tipo di sistema è un calcolatore elettronico?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0020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un sistema digitale: tutta l'informazione che tratta è espressa come stringhe di bit.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1732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0020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3317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volta avviato procede da solo, istruzione dopo istruzione, senza intervento umano.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1480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programma memorizzato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è registrato in memoria e si può sostituire: la stessa macchina fa lavori diversi.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3192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1480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Elettronico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8463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costruito con circuiti elettronici che memorizzano i bit e li elaborano.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29373" y="91440"/>
            <a:ext cx="431368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2937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389" y="128016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713421" y="91440"/>
            <a:ext cx="3893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l'architettura di von Neumann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Circuiti logici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Tutta l'informazione trattata da un dispositivo numerico è espressa da stringhe di bit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45021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351532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circuiti elettronici che memorizzano i bit e li elaborano si chiamano circuiti di commutazione, o circuiti logici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70979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611118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circuito logico forma una rete di commutazione; progettarlo si chiama progetto logico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96938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870704"/>
            <a:ext cx="6565392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descrivere il comportamento dei circuiti logici si usa un'algebra: una notazione matematica che semplifica l'analisi e la sintesi delle reti logiche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e 1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livelli di tensione su un filo, due stati di un interruttore, due valori di una variabile booleana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analisi e sintesi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problemi, una sola algebra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la descrizione della STRUTTURA di un circuito (come è fatto)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Trovare: il suo COMPORTAMENTO (che cosa fa)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leggere uno schema e ricavarne la tabella di verità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leggere andi t3, t0, 1 e dire che cosa finisce in t3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78728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la descrizione del COMPORTAMENTO (che cosa deve fare)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Trovare: una STRUTTURA che lo realizza (come costruirlo)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dalla tabella di verità di una somma a un circuito addizionatore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da «muoviti se è premuto LEFT o RIGHT» a una maschera e un salto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75451" y="91440"/>
            <a:ext cx="5467604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202883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02883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02883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3467" y="128016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59499" y="91440"/>
            <a:ext cx="5046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pPr indent="0" marL="0">
              <a:buNone/>
            </a:pPr>
            <a:r>
              <a:rPr lang="en-US" sz="11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minimizzazione, Karnaugh</a:t>
            </a:r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09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39949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39949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965" y="128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923997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analisi e sintesi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Algebra di Boole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1596136"/>
          </a:xfrm>
          <a:prstGeom prst="roundRect">
            <a:avLst>
              <a:gd name="adj" fmla="val 4583"/>
            </a:avLst>
          </a:prstGeom>
          <a:solidFill>
            <a:srgbClr val="F6E7D2"/>
          </a:solidFill>
          <a:ln w="12700">
            <a:solidFill>
              <a:srgbClr val="F6E7D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1036289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L'algebra usata per analizzare e sintetizzare i circuiti logici: variabili che possono assumere solo due valori, 0 e 1, e tre operazioni di base.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43992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3333496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variabili sono binarie e si scrivono di solito con lettere: A, B, ... oppure x, y, ...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438615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4279731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il prodotto logico: si scrive x AND y, oppure x . y, o semplicemente xy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99152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4885097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OR, la somma logica: si scrive x OR y, oppure x + y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559689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5490464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NOT, il complemento: si scrive NOT x, oppure x', oppure x con una barra sopra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l'algebra di Boole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tre operazioni fondamentali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058058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(congiunzione)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porte logiche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36278"/>
            <a:ext cx="2966618" cy="8309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1520" y="320040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 . y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08989" y="3840480"/>
          <a:ext cx="21945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4338218" y="141732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4566818" y="1600200"/>
            <a:ext cx="3058058" cy="457200"/>
          </a:xfrm>
          <a:prstGeom prst="roundRect">
            <a:avLst>
              <a:gd name="adj" fmla="val 16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(disgiunzione)</a:t>
            </a:r>
            <a:endParaRPr lang="en-US" sz="1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538" y="2236278"/>
            <a:ext cx="2966618" cy="83096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521098" y="320040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 + y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98568" y="3840480"/>
          <a:ext cx="21945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9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9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9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0"/>
          <p:cNvSpPr/>
          <p:nvPr/>
        </p:nvSpPr>
        <p:spPr>
          <a:xfrm>
            <a:off x="8127797" y="141732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8356397" y="1600200"/>
            <a:ext cx="3058058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(negazione)</a:t>
            </a:r>
            <a:endParaRPr lang="en-US" sz="1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2117" y="2236278"/>
            <a:ext cx="2966618" cy="83096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310677" y="320040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x'</a:t>
            </a:r>
            <a:endParaRPr lang="en-US" sz="15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71026" y="3840480"/>
          <a:ext cx="1828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Altre tre porte che incontrerete ovunque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058058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(or esclusivo)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porte logiche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36278"/>
            <a:ext cx="2966618" cy="8309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1520" y="320040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x'y + xy'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08989" y="3840480"/>
          <a:ext cx="21945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4338218" y="141732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4566818" y="1600200"/>
            <a:ext cx="3058058" cy="457200"/>
          </a:xfrm>
          <a:prstGeom prst="roundRect">
            <a:avLst>
              <a:gd name="adj" fmla="val 16000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(not and)</a:t>
            </a:r>
            <a:endParaRPr lang="en-US" sz="1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538" y="2236278"/>
            <a:ext cx="2966618" cy="83096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521098" y="320040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(x . y)'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98568" y="3840480"/>
          <a:ext cx="21945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0"/>
          <p:cNvSpPr/>
          <p:nvPr/>
        </p:nvSpPr>
        <p:spPr>
          <a:xfrm>
            <a:off x="8127797" y="141732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8356397" y="1600200"/>
            <a:ext cx="3058058" cy="457200"/>
          </a:xfrm>
          <a:prstGeom prst="roundRect">
            <a:avLst>
              <a:gd name="adj" fmla="val 16000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 (not or)</a:t>
            </a:r>
            <a:endParaRPr lang="en-US" sz="1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2117" y="2236278"/>
            <a:ext cx="2966618" cy="83096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310677" y="320040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(x + y)'</a:t>
            </a:r>
            <a:endParaRPr lang="en-US" sz="15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88146" y="3840480"/>
          <a:ext cx="21945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Proprietà dell'algebra di Boole (1)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64384"/>
                <a:gridCol w="4365016"/>
                <a:gridCol w="4365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Proprietà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AND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OR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Commutativa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. y = y . x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y = y + x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Associativa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(x . y) . z = x . (y . z)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(x + y) + z = x + (y + z)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Idempotenza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. x = x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x = x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Assorbimento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. (x + y) = x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(x . y) = x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l'associatività AND e OR si estendono a un numero qualsiasi di operandi: x . y . z, x + y + z.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l'algebra di Boole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Proprietà dell'algebra di Boole (2)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091570"/>
                <a:gridCol w="4274078"/>
                <a:gridCol w="472876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Proprietà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AND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OR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Distributiva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. (y + z) = x . y + x . z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y . z = (x + y) . (x + z)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 neutro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. 1 = x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+ 0 = x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 nullo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. 0 = 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+ 1 = 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. x' = 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x' = 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Involuzione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(x')' = x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Attenzione: anche OR si distribuisce rispetto ad AND. Per somma e prodotto ordinari è falso.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l'algebra di Boole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leggi di De Morgan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6517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6E7D2"/>
          </a:solidFill>
          <a:ln w="12700">
            <a:solidFill>
              <a:srgbClr val="F6E7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. y)' = x' + y'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+ y)' = x' . y'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40073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931920"/>
            <a:ext cx="47365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complemento di un prodotto è la somma dei complementi, e viceversa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633722"/>
            <a:ext cx="473659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Dimostrazione per induzione perfetta: si verifica ogni riga della tabella di verità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568985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614416"/>
            <a:ext cx="47365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NAND è un OR degli ingressi negati; un NOR è un AND degli ingressi negati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417320"/>
          <a:ext cx="5632704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941832"/>
                <a:gridCol w="941832"/>
                <a:gridCol w="685800"/>
                <a:gridCol w="68580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. 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. y)'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x' + y'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E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035040" y="3931920"/>
            <a:ext cx="5605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due colonne evidenziate sono identiche: la prima legge vale. La seconda si dimostra allo stesso modo.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l'algebra di Boole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Dualità e precedenza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3924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di dualità: ogni identità resta vera scambiando AND con OR e 0 con 1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x . 1 = x diventa x + 0 = x; le due leggi di De Morgan sono l'una la duale dell'altra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33781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215894"/>
            <a:ext cx="10710367" cy="1105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Precedenza: prima NOT, poi AND, poi OR, come per potenze, prodotti e somme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x + y . z' significa x + (y . (z'))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481101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4689094"/>
            <a:ext cx="1071036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parentesi cambiano l'ordine, esattamente come nell'algebra ordinaria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592226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5800344"/>
            <a:ext cx="10710367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espressioni sono equivalenti se hanno la stessa tabella di verità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l'algebra di Boole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Semplificare con l'algebra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001264"/>
                <a:gridCol w="70931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Espressione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Legge applicata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. y + x . y'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l'espressione da semplificare: tre porte e un invertitore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x . (y + y')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legge distributiva, letta da destra a sinistra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x . 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legge del complemento: y + y' = 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x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 neutro: resta solo un filo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 stesso modo: x + x' . y = (x + x') . (x + y) = 1 . (x + y) = x + y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l'algebra di Boole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quali ingressi x NAND y vale 0?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0, y = 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0, y = 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1, y = 1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De Morgan, (a . b')' è uguale a: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 . b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 + b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b'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 + b'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 = 0x0000005A. Che cosa c'è in t1 dopo andi t1, t0, 0x0F?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0x0000005A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0x00000050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0x0000000A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0x0000000F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Quale istruzione porta a 1 il bit 5 di t0 e lascia invariati tutti gli altri bit?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t0, t0, 0x20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 t0, t0, 0x20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xori t0, t0, 0x20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t0, t0, 0x20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Glossario: inglese e italiano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817629"/>
                <a:gridCol w="2993731"/>
                <a:gridCol w="2465426"/>
                <a:gridCol w="281762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Inglese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Inglese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circuit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circuito logico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truth table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tabella di verità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switching network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 di commutazione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gate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 logica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/ synthesis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analisi / sintesi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complemento (negazione)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product (AND)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prodotto logico (congiunzione)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dualità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sum (OR)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somma logica (disgiunzione)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maschera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involuzione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set / clear / toggle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porre a 1 / azzerare / invertire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 e letture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L'architettura di von Neumann rappresenta in forma semplificata una macchina reale: processore, memoria, ingresso/uscita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31705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18373"/>
            <a:ext cx="10710367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L'algebra di Boole rappresenta funzioni logiche realizzabili con circuiti elettronici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019425"/>
            <a:ext cx="10710367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operazioni, una manciata di proprietà e le leggi di De Morgan bastano a trasformare qualunque espressione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391915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820477"/>
            <a:ext cx="10710367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Un'istruzione bit a bit è l'algebra applicata a trentadue bit insieme; una maschera è la legge dell'elemento neutro al lavoro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472020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621530"/>
            <a:ext cx="10710367" cy="155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Letture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Patterson, Hennessy: Struttura e progetto dei calcolatori, edizione RISC-V, appendice A (fondamenti di progetto logico)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Playing with RISC-V, capitolo 6: State and Input: Branches, Bitmasks, and Boundaries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Bucci: Architettura dei calcolatori elettronici, i capitoli sull'algebra di Boole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Elementi di algebra di Boole</dc:title>
  <dc:subject>Lezione 08</dc:subject>
  <dc:creator>Raffaele Montella</dc:creator>
  <cp:lastModifiedBy>Raffaele Montella</cp:lastModifiedBy>
  <cp:revision>1</cp:revision>
  <dcterms:created xsi:type="dcterms:W3CDTF">2026-10-16T16:46:57Z</dcterms:created>
  <dcterms:modified xsi:type="dcterms:W3CDTF">2026-10-16T16:46:57Z</dcterms:modified>
</cp:coreProperties>
</file>