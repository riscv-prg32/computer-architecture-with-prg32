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2764a4bf-eaf8-a72b-b088-4e4e78321b81}">
          <p14:sldIdLst>
            <p14:sldId id="256"/>
            <p14:sldId id="257"/>
          </p14:sldIdLst>
        </p14:section>
        <p14:section name="La prima cartuccia" id="{9aaa5209-b9f3-d4d6-370e-b2027d6cd47e}">
          <p14:sldIdLst>
            <p14:sldId id="258"/>
            <p14:sldId id="259"/>
            <p14:sldId id="260"/>
            <p14:sldId id="261"/>
            <p14:sldId id="262"/>
          </p14:sldIdLst>
        </p14:section>
        <p14:section name="Il programma completo" id="{f3040422-de07-4f5a-0ad8-ba10ae4360b3}">
          <p14:sldIdLst>
            <p14:sldId id="263"/>
            <p14:sldId id="264"/>
            <p14:sldId id="265"/>
          </p14:sldIdLst>
        </p14:section>
        <p14:section name="Eseguire e provare" id="{245c92f0-e341-038b-946b-b7160c8b4860}">
          <p14:sldIdLst>
            <p14:sldId id="266"/>
            <p14:sldId id="267"/>
            <p14:sldId id="268"/>
            <p14:sldId id="269"/>
            <p14:sldId id="270"/>
          </p14:sldIdLst>
        </p14:section>
        <p14:section name="Esercizi" id="{3f006170-70b2-ce44-aac5-774aab038141}">
          <p14:sldIdLst>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è la presentazione del codice della Lezione 02. Mentre la presentazione della lezione sviluppa i concetti, questa raccoglie tutto ciò che si scrive e si esegue: ogni listato con il suo commento, il programma completo della lezione, il risultato che deve produrre, e la procedura per provarlo su ciascuno dei tre host. Le due presentazioni vanno lette insieme: i concetti spiegano il codice, e il codice dà ai concetti una conseguenza osservabile.
Stato di apprendimento: DA COMPRENDERE OGGI, alla fine di questa lezione lo spiegate, lo seguite passo passo e lo applicate da soli; DA UTILIZZARE OGGI, oggi seguite e usate la ricetta; come funziona dentro si spiega più avanti, o non fa parte del corso; DA COMPRENDERE PIÙ AVANTI, riconoscete il nome e lo scopo; lo spiega una lezione successiva. Una slide senza etichetta è contesto: una storia, un esempio, una domanda, un esercizio.
Stato di apprendimento di questa lezione. DA COMPRENDERE OGGI: registri, calcolo, trasferimento, salto; i registri; funzioni, chiamata e ritorno; contratto init/update/draw; leggere una riga di assembly; gli argomenti in a0 ... a7; perché si salva ra; indirizzo, valore, load, store; le istruzioni di base; le pseudo-istruzioni; un'istruzione è un numero; seguire a mano l'esecuzione. DA UTILIZZARE OGGI: l'esadecimale (Lezione 04); bit, byte, parola (Lezione 04); la convenzione di chiamata (Lezione 18); le maschere di bit (Lezione 08) e, usati senza essere studiati nel corso, le direttive dell'assemblatore, gli strumenti di PRG32, le chiamate del runtime PRG32, il debugger di PRG32-QT, il programma completo. DA COMPRENDERE PIÙ AVANTI: la pila (Lezione 18); i modi di indirizzamento (Lezione 19); formati delle istruzioni (Lezione 19); il complemento a due (Lezione 05); la virgola fissa (Lezione 06); l'algebra di Boole (Lezione 08); il sommatore (Lezione 09); dai volt ai bit (Lezione 10); latch e flip-flop (Lezione 13); il ciclo del processore (Lezione 19); il progetto Verm1 (Lezione 07). Una slide senza etichetta è contesto: una storia, un esempio, una domanda, un esercizio.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contenuto della presentazione, nell'ordine delle slide. Il programma della lezione è un file sorgente completo, che si può compilare ed eseguire così com'è. Il percorso consigliato è eseguirlo per primo, osservarne il comportamento, e poi tornare ai singoli listati per capire come ciascuna parte contribuisce a quel comportamento. Il programma di questa lezione è ~/arc12/code/l02.S; tools/tests/cartridges/run.py lo compila, lo esegue su PRG32-QT con ingressi programmati e controlla i pixel del frame.
Per il docente: Procurarsi il codice una volta: git clone https://github.com/riscv-prg32/computer-architecture-with-prg32 ~/arc12. Il programma di questa lezione è ~/arc12/code/l02.S; tools/tests/cartridges/run.py lo compila, lo esegue su PRG32-QT con ingressi programmati e controlla i pixel del frame. Ogni listato di queste slide è letto dalla compilazione da un file provato, o verificato da tools/tests: si veda il suo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più piccolo programma che gira. .option norelax, con cui comincia ogni esempio di PRG32, mantiene prevedibile la disposizione della cartuccia impedendo al linker di riscrivere sequenze di istruzioni. .section .text dichiara che segue codice eseguibile. Ogni .global esporta un'etichetta oltre il file, così che il firmware possa trovare la funzione per nome. Seguono tre funzioni, ciascuna fatta della sola istruzione ret, che restituisce il controllo al chiamante. Il risultato è uno schermo nero, ed è un successo: il framework ha trovato i tre punti di ingresso, li ha invocati e ha riavuto il controllo. Queste direttive si usano così come sono; il corso non studia l'assemblatore in sé.
DA UTILIZZARE OGGI: le direttive dell'assemblatore (si usa, non si studia, in questo corso).
Per il docente: Sorgente: labs/05-asm-first-contact/step1_skeleton.S. Risultato atteso: uno schermo nero. Il risultato è che il framework ha trovato le tre funzioni, le ha chiamate, ed è sopravvissuto.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comandi che si digiteranno centinaia di volte. cartridge build trasforma il file assembly in una cartuccia: --entry-prefix first indica il prefisso dei tre punti di ingresso, --out il nome del file prodotto. La cartuccia si esegue poi: in QEMU con qemu upload seguito da qemu run, oppure su una scheda o su PRG32-QT con upload-and-run e l'indirizzo dell'host, che per PRG32-QT sul portatile dello studente è http://localhost:8080. Lo stesso file di cartuccia serve tutti e tre gli host.
DA UTILIZZARE OGGI: gli strumenti di PRG32 (si usa, non si studia, in questo corso).
Per il docente: Sorgente: labs/run.sh. Con PRG32_HOME impostata, l'intera sequenza è: labs/run.sh 05-asm-first-contact/step1_skeleton.S first . Il file della cartuccia è identico byte per byte per QEMU, per la scheda e per PRG32-QT.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secondo passo scrive sullo schermo. first_draw si legge meglio in tre parti. Le prime due righe aprono uno stack frame e salvano ra, perché la funzione sta per fare delle chiamate. Seguono due chiamate: prg32_gfx_clear, con il colore in a0, e prg32_gfx_text8, con cinque argomenti da a0 ad a4: x, y, l'indirizzo della stringa, colore di primo piano e colore di sfondo. Vanno distinti i due modi di caricare un registro: li carica una costante numerica, la l'indirizzo di un'etichetta. Le ultime tre righe ripristinano ra, rilasciano il frame e ritornano. La stringa stessa è un dato, collocato nella sezione di sola lettura .rodata.
DA COMPRENDERE OGGI: gli argomenti in a0 ... a7. DA UTILIZZARE OGGI: le chiamate del runtime PRG32 (si usa, non si studia, in questo corso).
Per il docente: Sorgente: labs/05-asm-first-contact/step2_hello.S. Le righe .equ (BLACK 0x0000, WHITE 0xffff) sono omesse sulla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terzo passo conserva un valore da un frame al successivo. I registri non mantengono il loro contenuto tra invocazioni successive di update, quindi il valore deve risiedere in memoria. counter è un'etichetta che nomina una posizione della sezione .data, la parte del programma che contiene dati invece di istruzioni; la posizione contiene una parola. Le quattro istruzioni costituiscono lo schema alla base di ogni variabile, un posto in memoria con un nome, il cui valore il programma cambia: la mette in t0 l'indirizzo della posizione; lw carica il valore in t1; addi lo modifica; sw lo riscrive. Carica, modifica, memorizza: l'idioma che definisce un'architettura load-store. Sullo schermo ancora non cambia nulla: il contatore avanza, ma nulla lo disegna.
DA COMPRENDERE OGGI: indirizzo, valore, load, store.
Per il docente: Sorgente: labs/05-asm-first-contact/step3_counter.S. Non cambia ancora nulla di visibile: il contatore avanza ma nessuno lo disegna. Chiedere all'aula come si potrebbe dimostrare che avanza (risposta: il debugger di PRG32-QT, oppure il passo successivo).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quarto passo rende visibile il contatore come una barra verde. Il valore viene caricato, e andi a2, t1, 255 ne conserva solo gli otto bit meno significativi, gli otto a destra, che valgono meno, così la larghezza va da 0 a 255 e poi ricomincia. Gli altri registri portano gli argomenti di prg32_gfx_rect: x, y, larghezza, altezza e colore. Queste otto righe contengono i semi di tre lezioni successive: 255 scritto come 0xFF (la notazione posizionale, Lezione 04), andi usato come maschera (l'algebra di Boole, Lezione 08) e 0x07e0 che indica il verde (la codifica del colore, Lezione 04). Conviene ricordare dove ciascuno è stato incontrato per la prima volta.
DA UTILIZZARE OGGI: le maschere di bit (si studia nella Lezione 08).
Per il docente: Sorgente: labs/05-asm-first-contact/step4_bar.S (le righe aggiunte a first_draw). In queste otto righe si nascondono tre lezioni future: 255 = 0xFF (notazione posizionale), andi come maschera di bit (algebra di Boole), 0x07e0 come colore (codifica dell'informazione).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pagina del programma completo, riprodotta esattamente com'è nel repository. Va letta dall'inizio. L'intestazione dice che cosa mostra il programma e come si compila; seguono i tre punti di ingresso, init, update e draw, e le sezioni dei dati chiudono il file. Le righe già incontrate nei listati della lezione hanno qui gli stessi commenti, così che ogni frammento si possa ritrovare nell'insieme.
DA UTILIZZARE OGGI: il programma completo (si usa, non si studia, in questo corso).
Per il docente: code/l02.S, come viene compilato ed eseguito dai test. I commenti fanno parte del programma, e sono in inglese come in tutti i listati: leggeteli con il codice.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pagina del programma completo, riprodotta esattamente com'è nel repository. Va letta dall'inizio. L'intestazione dice che cosa mostra il programma e come si compila; seguono i tre punti di ingresso, init, update e draw, e le sezioni dei dati chiudono il file. Le righe già incontrate nei listati della lezione hanno qui gli stessi commenti, così che ogni frammento si possa ritrovare nell'insieme.
DA UTILIZZARE OGGI: il programma completo (si usa, non si studia, in questo corso).
Per il docente: code/l02.S, come viene compilato ed eseguito dai test. I commenti fanno parte del programma, e sono in inglese come in tutti i listati: leggeteli con il codice.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pagina del programma completo, riprodotta esattamente com'è nel repository. Va letta dall'inizio. L'intestazione dice che cosa mostra il programma e come si compila; seguono i tre punti di ingresso, init, update e draw, e le sezioni dei dati chiudono il file. Le righe già incontrate nei listati della lezione hanno qui gli stessi commenti, così che ogni frammento si possa ritrovare nell'insieme.
DA UTILIZZARE OGGI: il programma completo (si usa, non si studia, in questo corso).
Per il docente: code/l02.S, come viene compilato ed eseguito dai test. I commenti fanno parte del programma, e sono in inglese come in tutti i listati: leggeteli con il codice.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comportamento atteso del programma, e l'ingresso che richiede. Il risultato va previsto prima di eseguire: ogni differenza tra la previsione e lo schermo è un'informazione sul proprio modello della macchina, e conviene spiegarla prima di correggerla. L'immagine è stata prodotta dal test automatico, non disegnata a mano.
Per il docente: L'immagine è il frame che l'esecutore senza interfaccia di PRG32-QT ha prodotto nel test di questo programma. Su QEMU e sulla scheda l'area di gioco è la stessa, 320 per 200 pixel, tra le due bande di stato.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via più diretta: PRG32-QT sul proprio computer, in quattro passi, ciascuno con il suo comando. Per gli strumenti PRG32-QT si presenta come una scheda in ascolto sulla porta 8080, ed è per questo che il comando di caricamento nomina l'esp32c6. Con la modalità debug attiva si può fermare l'esecuzione su qualsiasi istruzione e ispezionare registri e memoria.
DA UTILIZZARE OGGI: gli strumenti di PRG32 (si usa, non si studia, in questo corso).
Per il docente: Eseguito dai test: la cartuccia di questa slide è compilata con questo comando ed eseguita sull'esecutore senza interfaccia di PRG32-QT. Senza la toolchain: importate il file .prg32 in PRG32-QT e scegliete Run Cartridge. Tasti: frecce o WASD per il joystick, Z o J per A, X o K per B, Invio per Start, Esc per tornare a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stesso programma sull'emulatore. QEMU esegue il firmware vero su un chip emulato, quindi la cartuccia va compilata per l'architettura qemu e caricata mentre QEMU non è in esecuzione. Il firmware si avvia sul menu Setup, da cui si scelgono Run Cartridge e lo slot. La tastiera è letta dal terminale da cui QEMU è stato avviato, non dalla finestra che mostra l'immagine.
DA UTILIZZARE OGGI: gli strumenti di PRG32 (si usa, non si studia, in questo corso).
Per il docente: Verificato dai test fino al caricamento: la cartuccia è compilata per l'architettura qemu e accettata nell'immagine flash dell'emulatore. Ciò che l'emulatore poi mostra non è verificato automaticamente: il QEMU di Espressif ha bisogno della sua finestra. Dall'ottobre 2026 il firmware parte da Setup: scegliete Run Cartridge, poi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stesso programma sul kit fisico. Il firmware si scrive una volta, via USB; da quel momento le cartucce viaggiano sul Wi-Fi con lo stesso comando di caricamento usato per PRG32-QT, indirizzato alla scheda. È l'unico host non esercitato dai test automatici, quindi le osservazioni fatte sulla scheda sono particolarmente preziose e vanno riferite.
DA UTILIZZARE OGGI: gli strumenti di PRG32 (si usa, non si studia, in questo corso).
Per il docente: Non eseguito dai test: sulla macchina di prova non c'è una scheda. La cartuccia per l'architettura esp32c6 è compilata dai test; i passi sono quelli della documentazione di PRG32. Se la porta seriale non viene trovata, passatela esplicitamente. Per usare il Wi-Fi dell'aula: python3 -m prg32 wifi set --ssid NOME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cinque sintomi più frequenti, il loro significato e il rimedio. Il messaggio di errore va letto per intero prima di cambiare qualsiasi cosa: quasi sempre nomina la causa. Quando si chiede aiuto, vanno riportati alla lettera il comando e il messaggio completo.
DA UTILIZZARE OGGI: gli strumenti di PRG32 (si usa, non si studia, in questo corso).
Per il docente: Le prime tre righe coprono la maggior parte dei casi. Quando chiedete aiuto, incollate il comando e l'intero messaggio come testo. docs/usage/troubleshooting.md del repository di PRG32 ha l'elenco completo.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esercizi sulla cartuccia dello studente, ciascuno seme di una lezione successiva. Cambiare il testo e il suo colore. Far crescere la barra due o quattro volte più in fretta modificando una sola istruzione. Farla diminuire, e osservare che cosa accade quando il contatore passa per lo zero: la barra salta alla larghezza massima, un fenomeno che la Lezione 05 spiega con il complemento a due. Eseguire passo-passo first_update e annotare i registri dopo ogni istruzione. Disegnare una seconda barra la cui larghezza sia il contatore modulo 64. In ogni caso il risultato va previsto prima di eseguire il programma.
Per il docente: Suggerimenti: addi t1, t1, 2 oppure slli prima di andi per l'esercizio 2; addi t1, t1, -1 per l'esercizio 3; andi a2, t1, 63 per l'esercizio 5. Ogni esercizio è il seme di una lezione successiva.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02: Primo contatto con l'assembly RISC-V (codice)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02</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Primo contatto: l'assembly RISC‑V su PRG32: il codice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Presentazione del codice: ogni listato spiegato, il programma completo, e come provarlo su PRG32-QT, su QEMU e sulla scheda</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Presentazione del codice. I concetti, le figure e le domande sono nella presentazione della lezione:</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02-Architettura_dei_Calcolatori-Primo_Contatto_con_Assembly_RISC-V.pptx</a:t>
            </a:r>
            <a:endParaRPr lang="en-US" sz="13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lab1_step4_bar.png">    </p:cNvPr>
          <p:cNvPicPr>
            <a:picLocks noChangeAspect="1"/>
          </p:cNvPicPr>
          <p:nvPr/>
        </p:nvPicPr>
        <p:blipFill>
          <a:blip r:embed="rId1"/>
          <a:stretch>
            <a:fillRect/>
          </a:stretch>
        </p:blipFill>
        <p:spPr>
          <a:xfrm>
            <a:off x="8716975" y="4280535"/>
            <a:ext cx="2834640" cy="1771650"/>
          </a:xfrm>
          <a:prstGeom prst="rect">
            <a:avLst/>
          </a:prstGeom>
        </p:spPr>
      </p:pic>
      <p:sp>
        <p:nvSpPr>
          <p:cNvPr id="14" name="Shape 11"/>
          <p:cNvSpPr/>
          <p:nvPr/>
        </p:nvSpPr>
        <p:spPr>
          <a:xfrm>
            <a:off x="8910777" y="91440"/>
            <a:ext cx="2732278" cy="274320"/>
          </a:xfrm>
          <a:prstGeom prst="rect">
            <a:avLst/>
          </a:prstGeom>
          <a:solidFill>
            <a:srgbClr val="F3E8FF"/>
          </a:solidFill>
          <a:ln w="12700">
            <a:solidFill>
              <a:srgbClr val="7E22CE"/>
            </a:solidFill>
            <a:prstDash val="dash"/>
          </a:ln>
        </p:spPr>
      </p:sp>
      <p:sp>
        <p:nvSpPr>
          <p:cNvPr id="15" name="Shape 12"/>
          <p:cNvSpPr/>
          <p:nvPr/>
        </p:nvSpPr>
        <p:spPr>
          <a:xfrm>
            <a:off x="8938209" y="128016"/>
            <a:ext cx="45720" cy="45720"/>
          </a:xfrm>
          <a:prstGeom prst="rect">
            <a:avLst/>
          </a:prstGeom>
          <a:solidFill>
            <a:srgbClr val="7E22CE"/>
          </a:solidFill>
          <a:ln w="12700">
            <a:solidFill>
              <a:srgbClr val="7E22CE"/>
            </a:solidFill>
            <a:prstDash val="solid"/>
          </a:ln>
        </p:spPr>
      </p:sp>
      <p:sp>
        <p:nvSpPr>
          <p:cNvPr id="16" name="Shape 13"/>
          <p:cNvSpPr/>
          <p:nvPr/>
        </p:nvSpPr>
        <p:spPr>
          <a:xfrm>
            <a:off x="8938209" y="205740"/>
            <a:ext cx="45720" cy="45720"/>
          </a:xfrm>
          <a:prstGeom prst="rect">
            <a:avLst/>
          </a:prstGeom>
          <a:solidFill>
            <a:srgbClr val="7E22CE"/>
          </a:solidFill>
          <a:ln w="12700">
            <a:solidFill>
              <a:srgbClr val="7E22CE"/>
            </a:solidFill>
            <a:prstDash val="solid"/>
          </a:ln>
        </p:spPr>
      </p:sp>
      <p:sp>
        <p:nvSpPr>
          <p:cNvPr id="17" name="Shape 14"/>
          <p:cNvSpPr/>
          <p:nvPr/>
        </p:nvSpPr>
        <p:spPr>
          <a:xfrm>
            <a:off x="8938209" y="283464"/>
            <a:ext cx="45720" cy="45720"/>
          </a:xfrm>
          <a:prstGeom prst="rect">
            <a:avLst/>
          </a:prstGeom>
          <a:solidFill>
            <a:srgbClr val="7E22CE"/>
          </a:solidFill>
          <a:ln w="12700">
            <a:solidFill>
              <a:srgbClr val="7E22CE"/>
            </a:solidFill>
            <a:prstDash val="solid"/>
          </a:ln>
        </p:spPr>
      </p:sp>
      <p:pic>
        <p:nvPicPr>
          <p:cNvPr id="18" name="Image 1" descr="preencoded.png">    </p:cNvPr>
          <p:cNvPicPr>
            <a:picLocks noChangeAspect="1"/>
          </p:cNvPicPr>
          <p:nvPr/>
        </p:nvPicPr>
        <p:blipFill>
          <a:blip r:embed="rId2"/>
          <a:stretch>
            <a:fillRect/>
          </a:stretch>
        </p:blipFill>
        <p:spPr>
          <a:xfrm>
            <a:off x="9038793" y="128016"/>
            <a:ext cx="201168" cy="201168"/>
          </a:xfrm>
          <a:prstGeom prst="rect">
            <a:avLst/>
          </a:prstGeom>
        </p:spPr>
      </p:pic>
      <p:sp>
        <p:nvSpPr>
          <p:cNvPr id="19" name="Text 15"/>
          <p:cNvSpPr txBox="1"/>
          <p:nvPr/>
        </p:nvSpPr>
        <p:spPr>
          <a:xfrm>
            <a:off x="9294825" y="91440"/>
            <a:ext cx="2311654"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endParaRPr lang="en-US" sz="1100" dirty="0"/>
          </a:p>
        </p:txBody>
      </p:sp>
      <p:sp>
        <p:nvSpPr>
          <p:cNvPr id="20" name="Shape 16"/>
          <p:cNvSpPr/>
          <p:nvPr/>
        </p:nvSpPr>
        <p:spPr>
          <a:xfrm>
            <a:off x="6675069" y="91440"/>
            <a:ext cx="2125980" cy="274320"/>
          </a:xfrm>
          <a:prstGeom prst="rect">
            <a:avLst/>
          </a:prstGeom>
          <a:solidFill>
            <a:srgbClr val="FEF3C7"/>
          </a:solidFill>
          <a:ln w="12700">
            <a:solidFill>
              <a:srgbClr val="B45309"/>
            </a:solidFill>
            <a:prstDash val="solid"/>
          </a:ln>
        </p:spPr>
      </p:sp>
      <p:sp>
        <p:nvSpPr>
          <p:cNvPr id="21" name="Shape 17"/>
          <p:cNvSpPr/>
          <p:nvPr/>
        </p:nvSpPr>
        <p:spPr>
          <a:xfrm>
            <a:off x="6675069" y="91440"/>
            <a:ext cx="27432" cy="274320"/>
          </a:xfrm>
          <a:prstGeom prst="rect">
            <a:avLst/>
          </a:prstGeom>
          <a:solidFill>
            <a:srgbClr val="B45309"/>
          </a:solidFill>
          <a:ln w="12700">
            <a:solidFill>
              <a:srgbClr val="B45309"/>
            </a:solidFill>
            <a:prstDash val="solid"/>
          </a:ln>
        </p:spPr>
      </p:sp>
      <p:sp>
        <p:nvSpPr>
          <p:cNvPr id="22" name="Shape 18"/>
          <p:cNvSpPr/>
          <p:nvPr/>
        </p:nvSpPr>
        <p:spPr>
          <a:xfrm>
            <a:off x="6729933" y="91440"/>
            <a:ext cx="27432" cy="274320"/>
          </a:xfrm>
          <a:prstGeom prst="rect">
            <a:avLst/>
          </a:prstGeom>
          <a:solidFill>
            <a:srgbClr val="B45309"/>
          </a:solidFill>
          <a:ln w="12700">
            <a:solidFill>
              <a:srgbClr val="B45309"/>
            </a:solidFill>
            <a:prstDash val="solid"/>
          </a:ln>
        </p:spPr>
      </p:sp>
      <p:pic>
        <p:nvPicPr>
          <p:cNvPr id="23" name="Image 2" descr="preencoded.png">    </p:cNvPr>
          <p:cNvPicPr>
            <a:picLocks noChangeAspect="1"/>
          </p:cNvPicPr>
          <p:nvPr/>
        </p:nvPicPr>
        <p:blipFill>
          <a:blip r:embed="rId3"/>
          <a:stretch>
            <a:fillRect/>
          </a:stretch>
        </p:blipFill>
        <p:spPr>
          <a:xfrm>
            <a:off x="6803085" y="128016"/>
            <a:ext cx="201168" cy="201168"/>
          </a:xfrm>
          <a:prstGeom prst="rect">
            <a:avLst/>
          </a:prstGeom>
        </p:spPr>
      </p:pic>
      <p:sp>
        <p:nvSpPr>
          <p:cNvPr id="24" name="Text 19"/>
          <p:cNvSpPr txBox="1"/>
          <p:nvPr/>
        </p:nvSpPr>
        <p:spPr>
          <a:xfrm>
            <a:off x="7059117" y="91440"/>
            <a:ext cx="1705356"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endParaRPr lang="en-US" sz="1100" dirty="0"/>
          </a:p>
        </p:txBody>
      </p:sp>
      <p:sp>
        <p:nvSpPr>
          <p:cNvPr id="25" name="Shape 20"/>
          <p:cNvSpPr/>
          <p:nvPr/>
        </p:nvSpPr>
        <p:spPr>
          <a:xfrm>
            <a:off x="4352747" y="91440"/>
            <a:ext cx="2212594" cy="274320"/>
          </a:xfrm>
          <a:prstGeom prst="rect">
            <a:avLst/>
          </a:prstGeom>
          <a:solidFill>
            <a:srgbClr val="E0F2FE"/>
          </a:solidFill>
          <a:ln w="12700">
            <a:solidFill>
              <a:srgbClr val="0369A1"/>
            </a:solidFill>
            <a:prstDash val="solid"/>
          </a:ln>
        </p:spPr>
      </p:sp>
      <p:sp>
        <p:nvSpPr>
          <p:cNvPr id="26" name="Shape 21"/>
          <p:cNvSpPr/>
          <p:nvPr/>
        </p:nvSpPr>
        <p:spPr>
          <a:xfrm>
            <a:off x="4352747" y="91440"/>
            <a:ext cx="73152" cy="274320"/>
          </a:xfrm>
          <a:prstGeom prst="rect">
            <a:avLst/>
          </a:prstGeom>
          <a:solidFill>
            <a:srgbClr val="0369A1"/>
          </a:solidFill>
          <a:ln w="12700">
            <a:solidFill>
              <a:srgbClr val="0369A1"/>
            </a:solidFill>
            <a:prstDash val="solid"/>
          </a:ln>
        </p:spPr>
      </p:sp>
      <p:pic>
        <p:nvPicPr>
          <p:cNvPr id="27" name="Image 3" descr="preencoded.png">    </p:cNvPr>
          <p:cNvPicPr>
            <a:picLocks noChangeAspect="1"/>
          </p:cNvPicPr>
          <p:nvPr/>
        </p:nvPicPr>
        <p:blipFill>
          <a:blip r:embed="rId4"/>
          <a:stretch>
            <a:fillRect/>
          </a:stretch>
        </p:blipFill>
        <p:spPr>
          <a:xfrm>
            <a:off x="4480763" y="128016"/>
            <a:ext cx="201168" cy="201168"/>
          </a:xfrm>
          <a:prstGeom prst="rect">
            <a:avLst/>
          </a:prstGeom>
        </p:spPr>
      </p:pic>
      <p:sp>
        <p:nvSpPr>
          <p:cNvPr id="28" name="Text 22"/>
          <p:cNvSpPr txBox="1"/>
          <p:nvPr/>
        </p:nvSpPr>
        <p:spPr>
          <a:xfrm>
            <a:off x="4736795" y="91440"/>
            <a:ext cx="17919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questa presentazione</a:t>
            </a:r>
            <a:endParaRPr lang="en-US" sz="3200" dirty="0"/>
          </a:p>
        </p:txBody>
      </p:sp>
      <p:sp>
        <p:nvSpPr>
          <p:cNvPr id="3" name="Text 1"/>
          <p:cNvSpPr txBox="1"/>
          <p:nvPr/>
        </p:nvSpPr>
        <p:spPr>
          <a:xfrm>
            <a:off x="548640" y="15585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54025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 5 listati della Lezione 02, uno per slide: leggete il codice, poi le osservazioni numerate a fianco</a:t>
            </a:r>
            <a:endParaRPr lang="en-US" sz="2200" dirty="0"/>
          </a:p>
        </p:txBody>
      </p:sp>
      <p:sp>
        <p:nvSpPr>
          <p:cNvPr id="5" name="Text 3"/>
          <p:cNvSpPr txBox="1"/>
          <p:nvPr/>
        </p:nvSpPr>
        <p:spPr>
          <a:xfrm>
            <a:off x="548640" y="26974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67919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Il programma completo: code/l02.S, 60 righe, stampato per intero</a:t>
            </a:r>
            <a:endParaRPr lang="en-US" sz="2200" dirty="0"/>
          </a:p>
        </p:txBody>
      </p:sp>
      <p:sp>
        <p:nvSpPr>
          <p:cNvPr id="7" name="Text 5"/>
          <p:cNvSpPr txBox="1"/>
          <p:nvPr/>
        </p:nvSpPr>
        <p:spPr>
          <a:xfrm>
            <a:off x="548640" y="359359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57530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Che cosa dovreste vedere quando gira, verificato sull'esecutore senza interfaccia di PRG32-QT</a:t>
            </a:r>
            <a:endParaRPr lang="en-US" sz="2200" dirty="0"/>
          </a:p>
        </p:txBody>
      </p:sp>
      <p:sp>
        <p:nvSpPr>
          <p:cNvPr id="9" name="Text 7"/>
          <p:cNvSpPr txBox="1"/>
          <p:nvPr/>
        </p:nvSpPr>
        <p:spPr>
          <a:xfrm>
            <a:off x="548640" y="473252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71424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Come provarlo, passo per passo: su PRG32-QT, su QEMU, sulla scheda</a:t>
            </a:r>
            <a:endParaRPr lang="en-US" sz="2200" dirty="0"/>
          </a:p>
        </p:txBody>
      </p:sp>
      <p:sp>
        <p:nvSpPr>
          <p:cNvPr id="11" name="Text 9"/>
          <p:cNvSpPr txBox="1"/>
          <p:nvPr/>
        </p:nvSpPr>
        <p:spPr>
          <a:xfrm>
            <a:off x="548640" y="562864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61035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Gli esercizi: modificare il programma, prevedere, eseguire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Passo 1: il più piccolo programma che gira</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800" dirty="0">
                <a:solidFill>
                  <a:srgbClr val="8FB3A0"/>
                </a:solidFill>
                <a:latin typeface="Courier New" pitchFamily="34" charset="0"/>
                <a:ea typeface="Courier New" pitchFamily="34" charset="-122"/>
                <a:cs typeface="Courier New" pitchFamily="34" charset="-120"/>
              </a:rPr>
              <a:t># Assembly Lab 1: the smallest program that runs</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.option norelax</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.section .text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.global first_init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.global first_update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.global first_draw</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first_init: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first_update: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first_draw:</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.option norelax rende prevedibile la disposizione della cartuccia: ogni esempio PRG32 comincia così</a:t>
            </a:r>
            <a:endParaRPr lang="en-US" sz="12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.section .text dice che ciò che segue è codice eseguibile</a:t>
            </a:r>
            <a:endParaRPr lang="en-US" sz="12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.global rende un'etichetta visibile al firmware, che trova le funzioni per nome</a:t>
            </a:r>
            <a:endParaRPr lang="en-US" sz="12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ret ritorna al chiamante: tre funzioni che non fanno nulla, correttamente</a:t>
            </a:r>
            <a:endParaRPr lang="en-US" sz="1200" dirty="0"/>
          </a:p>
        </p:txBody>
      </p:sp>
      <p:sp>
        <p:nvSpPr>
          <p:cNvPr id="17" name="Shape 15"/>
          <p:cNvSpPr/>
          <p:nvPr/>
        </p:nvSpPr>
        <p:spPr>
          <a:xfrm>
            <a:off x="7350328" y="91440"/>
            <a:ext cx="4292727" cy="274320"/>
          </a:xfrm>
          <a:prstGeom prst="rect">
            <a:avLst/>
          </a:prstGeom>
          <a:solidFill>
            <a:srgbClr val="FEF3C7"/>
          </a:solidFill>
          <a:ln w="12700">
            <a:solidFill>
              <a:srgbClr val="B45309"/>
            </a:solidFill>
            <a:prstDash val="solid"/>
          </a:ln>
        </p:spPr>
      </p:sp>
      <p:sp>
        <p:nvSpPr>
          <p:cNvPr id="18" name="Shape 16"/>
          <p:cNvSpPr/>
          <p:nvPr/>
        </p:nvSpPr>
        <p:spPr>
          <a:xfrm>
            <a:off x="7350328" y="91440"/>
            <a:ext cx="27432" cy="274320"/>
          </a:xfrm>
          <a:prstGeom prst="rect">
            <a:avLst/>
          </a:prstGeom>
          <a:solidFill>
            <a:srgbClr val="B45309"/>
          </a:solidFill>
          <a:ln w="12700">
            <a:solidFill>
              <a:srgbClr val="B45309"/>
            </a:solidFill>
            <a:prstDash val="solid"/>
          </a:ln>
        </p:spPr>
      </p:sp>
      <p:sp>
        <p:nvSpPr>
          <p:cNvPr id="19" name="Shape 17"/>
          <p:cNvSpPr/>
          <p:nvPr/>
        </p:nvSpPr>
        <p:spPr>
          <a:xfrm>
            <a:off x="7405192"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7478344" y="128016"/>
            <a:ext cx="201168" cy="201168"/>
          </a:xfrm>
          <a:prstGeom prst="rect">
            <a:avLst/>
          </a:prstGeom>
        </p:spPr>
      </p:pic>
      <p:sp>
        <p:nvSpPr>
          <p:cNvPr id="21" name="Text 18"/>
          <p:cNvSpPr txBox="1"/>
          <p:nvPr/>
        </p:nvSpPr>
        <p:spPr>
          <a:xfrm>
            <a:off x="7734376" y="91440"/>
            <a:ext cx="3872103"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le direttive dell'assemblatore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Compilare, eseguire</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8FB3A0"/>
                </a:solidFill>
                <a:latin typeface="Courier New" pitchFamily="34" charset="0"/>
                <a:ea typeface="Courier New" pitchFamily="34" charset="-122"/>
                <a:cs typeface="Courier New" pitchFamily="34" charset="-120"/>
              </a:rPr>
              <a:t># 1. build a portable cartridge from one assembly file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python3 -m prg32 cartridge build step1_skeleton.S --portable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--entry-prefix first --name step1 --out build/step1.prg32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2a. run it in QEMU on your laptop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python3 -m prg32 qemu upload build/step1.prg32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python3 -m prg32 qemu run</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2b. or send it to a board, or to PRG32-QT, over the network</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python3 -m prg32 esp32c6 upload-and-run build/step1.prg32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--url http://192.168.4.1 --slot cart0</a:t>
            </a:r>
            <a:endParaRPr lang="en-US" sz="1800" dirty="0"/>
          </a:p>
        </p:txBody>
      </p:sp>
      <p:sp>
        <p:nvSpPr>
          <p:cNvPr id="5" name="Shape 3"/>
          <p:cNvSpPr/>
          <p:nvPr/>
        </p:nvSpPr>
        <p:spPr>
          <a:xfrm>
            <a:off x="7875600" y="91440"/>
            <a:ext cx="3767455" cy="274320"/>
          </a:xfrm>
          <a:prstGeom prst="rect">
            <a:avLst/>
          </a:prstGeom>
          <a:solidFill>
            <a:srgbClr val="FEF3C7"/>
          </a:solidFill>
          <a:ln w="12700">
            <a:solidFill>
              <a:srgbClr val="B45309"/>
            </a:solidFill>
            <a:prstDash val="solid"/>
          </a:ln>
        </p:spPr>
      </p:sp>
      <p:sp>
        <p:nvSpPr>
          <p:cNvPr id="6" name="Shape 4"/>
          <p:cNvSpPr/>
          <p:nvPr/>
        </p:nvSpPr>
        <p:spPr>
          <a:xfrm>
            <a:off x="7875600" y="91440"/>
            <a:ext cx="27432" cy="274320"/>
          </a:xfrm>
          <a:prstGeom prst="rect">
            <a:avLst/>
          </a:prstGeom>
          <a:solidFill>
            <a:srgbClr val="B45309"/>
          </a:solidFill>
          <a:ln w="12700">
            <a:solidFill>
              <a:srgbClr val="B45309"/>
            </a:solidFill>
            <a:prstDash val="solid"/>
          </a:ln>
        </p:spPr>
      </p:sp>
      <p:sp>
        <p:nvSpPr>
          <p:cNvPr id="7" name="Shape 5"/>
          <p:cNvSpPr/>
          <p:nvPr/>
        </p:nvSpPr>
        <p:spPr>
          <a:xfrm>
            <a:off x="7930464"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9" name="Text 6"/>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Passo 2: dire ciao</a:t>
            </a:r>
            <a:endParaRPr lang="en-US" sz="3200" dirty="0"/>
          </a:p>
        </p:txBody>
      </p:sp>
      <p:sp>
        <p:nvSpPr>
          <p:cNvPr id="3" name="Shape 1"/>
          <p:cNvSpPr/>
          <p:nvPr/>
        </p:nvSpPr>
        <p:spPr>
          <a:xfrm>
            <a:off x="548640" y="1417320"/>
            <a:ext cx="667512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217920" cy="4389120"/>
          </a:xfrm>
          <a:prstGeom prst="rect">
            <a:avLst/>
          </a:prstGeom>
          <a:noFill/>
          <a:ln/>
        </p:spPr>
        <p:txBody>
          <a:bodyPr wrap="square" lIns="0" tIns="0" rIns="0" bIns="0" rtlCol="0" anchor="t"/>
          <a:lstStyle/>
          <a:p>
            <a:pPr indent="0" marL="0">
              <a:buNone/>
            </a:pPr>
            <a:r>
              <a:rPr lang="en-US" sz="1350" dirty="0">
                <a:solidFill>
                  <a:srgbClr val="E6EDF2"/>
                </a:solidFill>
                <a:latin typeface="Courier New" pitchFamily="34" charset="0"/>
                <a:ea typeface="Courier New" pitchFamily="34" charset="-122"/>
                <a:cs typeface="Courier New" pitchFamily="34" charset="-120"/>
              </a:rPr>
              <a:t>first_draw:</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sp, sp, -16      </a:t>
            </a:r>
            <a:pPr indent="0" marL="0">
              <a:buNone/>
            </a:pPr>
            <a:r>
              <a:rPr lang="en-US" sz="1350" dirty="0">
                <a:solidFill>
                  <a:srgbClr val="8FB3A0"/>
                </a:solidFill>
                <a:latin typeface="Courier New" pitchFamily="34" charset="0"/>
                <a:ea typeface="Courier New" pitchFamily="34" charset="-122"/>
                <a:cs typeface="Courier New" pitchFamily="34" charset="-120"/>
              </a:rPr>
              <a:t># prologue: a 16-byte frame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ra, 12(sp)       </a:t>
            </a:r>
            <a:pPr indent="0" marL="0">
              <a:buNone/>
            </a:pPr>
            <a:r>
              <a:rPr lang="en-US" sz="1350" dirty="0">
                <a:solidFill>
                  <a:srgbClr val="8FB3A0"/>
                </a:solidFill>
                <a:latin typeface="Courier New" pitchFamily="34" charset="0"/>
                <a:ea typeface="Courier New" pitchFamily="34" charset="-122"/>
                <a:cs typeface="Courier New" pitchFamily="34" charset="-120"/>
              </a:rPr>
              <a:t># save the return address</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a0, BLACK</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call prg32_gfx_clear</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a0, 32           </a:t>
            </a:r>
            <a:pPr indent="0" marL="0">
              <a:buNone/>
            </a:pPr>
            <a:r>
              <a:rPr lang="en-US" sz="1350" dirty="0">
                <a:solidFill>
                  <a:srgbClr val="8FB3A0"/>
                </a:solidFill>
                <a:latin typeface="Courier New" pitchFamily="34" charset="0"/>
                <a:ea typeface="Courier New" pitchFamily="34" charset="-122"/>
                <a:cs typeface="Courier New" pitchFamily="34" charset="-120"/>
              </a:rPr>
              <a:t># x</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a1, 40           </a:t>
            </a:r>
            <a:pPr indent="0" marL="0">
              <a:buNone/>
            </a:pPr>
            <a:r>
              <a:rPr lang="en-US" sz="1350" dirty="0">
                <a:solidFill>
                  <a:srgbClr val="8FB3A0"/>
                </a:solidFill>
                <a:latin typeface="Courier New" pitchFamily="34" charset="0"/>
                <a:ea typeface="Courier New" pitchFamily="34" charset="-122"/>
                <a:cs typeface="Courier New" pitchFamily="34" charset="-120"/>
              </a:rPr>
              <a:t># y</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a2, title        </a:t>
            </a:r>
            <a:pPr indent="0" marL="0">
              <a:buNone/>
            </a:pPr>
            <a:r>
              <a:rPr lang="en-US" sz="1350" dirty="0">
                <a:solidFill>
                  <a:srgbClr val="8FB3A0"/>
                </a:solidFill>
                <a:latin typeface="Courier New" pitchFamily="34" charset="0"/>
                <a:ea typeface="Courier New" pitchFamily="34" charset="-122"/>
                <a:cs typeface="Courier New" pitchFamily="34" charset="-120"/>
              </a:rPr>
              <a:t># address of the string</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a3, WHITE        </a:t>
            </a:r>
            <a:pPr indent="0" marL="0">
              <a:buNone/>
            </a:pPr>
            <a:r>
              <a:rPr lang="en-US" sz="1350" dirty="0">
                <a:solidFill>
                  <a:srgbClr val="8FB3A0"/>
                </a:solidFill>
                <a:latin typeface="Courier New" pitchFamily="34" charset="0"/>
                <a:ea typeface="Courier New" pitchFamily="34" charset="-122"/>
                <a:cs typeface="Courier New" pitchFamily="34" charset="-120"/>
              </a:rPr>
              <a:t># foreground</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a4, BLACK        </a:t>
            </a:r>
            <a:pPr indent="0" marL="0">
              <a:buNone/>
            </a:pPr>
            <a:r>
              <a:rPr lang="en-US" sz="1350" dirty="0">
                <a:solidFill>
                  <a:srgbClr val="8FB3A0"/>
                </a:solidFill>
                <a:latin typeface="Courier New" pitchFamily="34" charset="0"/>
                <a:ea typeface="Courier New" pitchFamily="34" charset="-122"/>
                <a:cs typeface="Courier New" pitchFamily="34" charset="-120"/>
              </a:rPr>
              <a:t># background</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call prg32_gfx_text8</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ra, 12(sp)       </a:t>
            </a:r>
            <a:pPr indent="0" marL="0">
              <a:buNone/>
            </a:pPr>
            <a:r>
              <a:rPr lang="en-US" sz="1350" dirty="0">
                <a:solidFill>
                  <a:srgbClr val="8FB3A0"/>
                </a:solidFill>
                <a:latin typeface="Courier New" pitchFamily="34" charset="0"/>
                <a:ea typeface="Courier New" pitchFamily="34" charset="-122"/>
                <a:cs typeface="Courier New" pitchFamily="34" charset="-120"/>
              </a:rPr>
              <a:t># epilogue: restore ra</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sp, sp, 16       </a:t>
            </a:r>
            <a:pPr indent="0" marL="0">
              <a:buNone/>
            </a:pPr>
            <a:r>
              <a:rPr lang="en-US" sz="1350" dirty="0">
                <a:solidFill>
                  <a:srgbClr val="8FB3A0"/>
                </a:solidFill>
                <a:latin typeface="Courier New" pitchFamily="34" charset="0"/>
                <a:ea typeface="Courier New" pitchFamily="34" charset="-122"/>
                <a:cs typeface="Courier New" pitchFamily="34" charset="-120"/>
              </a:rPr>
              <a:t># release the frame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ret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.section .rodata</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title: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.asciz "HELLO PRG32"</a:t>
            </a:r>
            <a:endParaRPr lang="en-US" sz="1350" dirty="0"/>
          </a:p>
        </p:txBody>
      </p:sp>
      <p:sp>
        <p:nvSpPr>
          <p:cNvPr id="5" name="Shape 3"/>
          <p:cNvSpPr/>
          <p:nvPr/>
        </p:nvSpPr>
        <p:spPr>
          <a:xfrm>
            <a:off x="7470648" y="1399032"/>
            <a:ext cx="4245559" cy="2708339"/>
          </a:xfrm>
          <a:prstGeom prst="roundRect">
            <a:avLst>
              <a:gd name="adj" fmla="val 2701"/>
            </a:avLst>
          </a:prstGeom>
          <a:solidFill>
            <a:srgbClr val="1B2530"/>
          </a:solidFill>
          <a:ln w="12700">
            <a:solidFill>
              <a:srgbClr val="1B2530"/>
            </a:solidFill>
            <a:prstDash val="solid"/>
          </a:ln>
        </p:spPr>
      </p:sp>
      <p:pic>
        <p:nvPicPr>
          <p:cNvPr id="6" name="Image 0" descr="/Users/raffaelemontella/devel/riscv-prg32/computer-architecture-with-prg32/tools/assets/lab1_step2_hello.png">    </p:cNvPr>
          <p:cNvPicPr>
            <a:picLocks noChangeAspect="1"/>
          </p:cNvPicPr>
          <p:nvPr/>
        </p:nvPicPr>
        <p:blipFill>
          <a:blip r:embed="rId1"/>
          <a:stretch>
            <a:fillRect/>
          </a:stretch>
        </p:blipFill>
        <p:spPr>
          <a:xfrm>
            <a:off x="7543800" y="1472184"/>
            <a:ext cx="4099255" cy="2562035"/>
          </a:xfrm>
          <a:prstGeom prst="rect">
            <a:avLst/>
          </a:prstGeom>
        </p:spPr>
      </p:pic>
      <p:sp>
        <p:nvSpPr>
          <p:cNvPr id="7" name="Text 4"/>
          <p:cNvSpPr txBox="1"/>
          <p:nvPr/>
        </p:nvSpPr>
        <p:spPr>
          <a:xfrm>
            <a:off x="7543800" y="4180523"/>
            <a:ext cx="4099255" cy="256032"/>
          </a:xfrm>
          <a:prstGeom prst="rect">
            <a:avLst/>
          </a:prstGeom>
          <a:noFill/>
          <a:ln/>
        </p:spPr>
        <p:txBody>
          <a:bodyPr wrap="square" lIns="0" tIns="0" rIns="0" bIns="0" rtlCol="0" anchor="t"/>
          <a:lstStyle/>
          <a:p>
            <a:pPr indent="0" marL="0">
              <a:buNone/>
            </a:pPr>
            <a:r>
              <a:rPr lang="en-US" sz="1150" i="1" dirty="0">
                <a:solidFill>
                  <a:srgbClr val="5B6B78"/>
                </a:solidFill>
                <a:latin typeface="Calibri" pitchFamily="34" charset="0"/>
                <a:ea typeface="Calibri" pitchFamily="34" charset="-122"/>
                <a:cs typeface="Calibri" pitchFamily="34" charset="-120"/>
              </a:rPr>
              <a:t>Schermata: questo passo, compilato ed eseguito su PRG32</a:t>
            </a:r>
            <a:endParaRPr lang="en-US" sz="1150" dirty="0"/>
          </a:p>
        </p:txBody>
      </p:sp>
      <p:sp>
        <p:nvSpPr>
          <p:cNvPr id="8" name="Shape 5"/>
          <p:cNvSpPr/>
          <p:nvPr/>
        </p:nvSpPr>
        <p:spPr>
          <a:xfrm>
            <a:off x="7470648" y="4527995"/>
            <a:ext cx="4245559" cy="1644205"/>
          </a:xfrm>
          <a:prstGeom prst="roundRect">
            <a:avLst>
              <a:gd name="adj" fmla="val 4449"/>
            </a:avLst>
          </a:prstGeom>
          <a:solidFill>
            <a:srgbClr val="EEF2F4"/>
          </a:solidFill>
          <a:ln w="12700">
            <a:solidFill>
              <a:srgbClr val="EEF2F4"/>
            </a:solidFill>
            <a:prstDash val="solid"/>
          </a:ln>
        </p:spPr>
      </p:sp>
      <p:sp>
        <p:nvSpPr>
          <p:cNvPr id="9" name="Text 6"/>
          <p:cNvSpPr txBox="1"/>
          <p:nvPr/>
        </p:nvSpPr>
        <p:spPr>
          <a:xfrm>
            <a:off x="7680960" y="4637723"/>
            <a:ext cx="3824935" cy="1424749"/>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Il primo argomento va in a0, il secondo in a1, e così via. li carica un numero; la carica l'indirizzo di un'etichetta.</a:t>
            </a:r>
            <a:endParaRPr lang="en-US" sz="1700" dirty="0"/>
          </a:p>
        </p:txBody>
      </p:sp>
      <p:sp>
        <p:nvSpPr>
          <p:cNvPr id="10" name="Shape 7"/>
          <p:cNvSpPr/>
          <p:nvPr/>
        </p:nvSpPr>
        <p:spPr>
          <a:xfrm>
            <a:off x="7415987" y="91440"/>
            <a:ext cx="4227068" cy="274320"/>
          </a:xfrm>
          <a:prstGeom prst="rect">
            <a:avLst/>
          </a:prstGeom>
          <a:solidFill>
            <a:srgbClr val="FEF3C7"/>
          </a:solidFill>
          <a:ln w="12700">
            <a:solidFill>
              <a:srgbClr val="B45309"/>
            </a:solidFill>
            <a:prstDash val="solid"/>
          </a:ln>
        </p:spPr>
      </p:sp>
      <p:sp>
        <p:nvSpPr>
          <p:cNvPr id="11" name="Shape 8"/>
          <p:cNvSpPr/>
          <p:nvPr/>
        </p:nvSpPr>
        <p:spPr>
          <a:xfrm>
            <a:off x="7415987" y="91440"/>
            <a:ext cx="27432" cy="274320"/>
          </a:xfrm>
          <a:prstGeom prst="rect">
            <a:avLst/>
          </a:prstGeom>
          <a:solidFill>
            <a:srgbClr val="B45309"/>
          </a:solidFill>
          <a:ln w="12700">
            <a:solidFill>
              <a:srgbClr val="B45309"/>
            </a:solidFill>
            <a:prstDash val="solid"/>
          </a:ln>
        </p:spPr>
      </p:sp>
      <p:sp>
        <p:nvSpPr>
          <p:cNvPr id="12" name="Shape 9"/>
          <p:cNvSpPr/>
          <p:nvPr/>
        </p:nvSpPr>
        <p:spPr>
          <a:xfrm>
            <a:off x="7470851" y="91440"/>
            <a:ext cx="27432" cy="274320"/>
          </a:xfrm>
          <a:prstGeom prst="rect">
            <a:avLst/>
          </a:prstGeom>
          <a:solidFill>
            <a:srgbClr val="B45309"/>
          </a:solidFill>
          <a:ln w="12700">
            <a:solidFill>
              <a:srgbClr val="B45309"/>
            </a:solidFill>
            <a:prstDash val="solid"/>
          </a:ln>
        </p:spPr>
      </p:sp>
      <p:pic>
        <p:nvPicPr>
          <p:cNvPr id="13" name="Image 1" descr="preencoded.png">    </p:cNvPr>
          <p:cNvPicPr>
            <a:picLocks noChangeAspect="1"/>
          </p:cNvPicPr>
          <p:nvPr/>
        </p:nvPicPr>
        <p:blipFill>
          <a:blip r:embed="rId2"/>
          <a:stretch>
            <a:fillRect/>
          </a:stretch>
        </p:blipFill>
        <p:spPr>
          <a:xfrm>
            <a:off x="7544003" y="128016"/>
            <a:ext cx="201168" cy="201168"/>
          </a:xfrm>
          <a:prstGeom prst="rect">
            <a:avLst/>
          </a:prstGeom>
        </p:spPr>
      </p:pic>
      <p:sp>
        <p:nvSpPr>
          <p:cNvPr id="14" name="Text 10"/>
          <p:cNvSpPr txBox="1"/>
          <p:nvPr/>
        </p:nvSpPr>
        <p:spPr>
          <a:xfrm>
            <a:off x="7800035" y="91440"/>
            <a:ext cx="380644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le chiamate del runtime PRG32</a:t>
            </a:r>
            <a:endParaRPr lang="en-US" sz="1100" dirty="0"/>
          </a:p>
        </p:txBody>
      </p:sp>
      <p:sp>
        <p:nvSpPr>
          <p:cNvPr id="15" name="Shape 11"/>
          <p:cNvSpPr/>
          <p:nvPr/>
        </p:nvSpPr>
        <p:spPr>
          <a:xfrm>
            <a:off x="3189554" y="91440"/>
            <a:ext cx="4116705" cy="274320"/>
          </a:xfrm>
          <a:prstGeom prst="rect">
            <a:avLst/>
          </a:prstGeom>
          <a:solidFill>
            <a:srgbClr val="E0F2FE"/>
          </a:solidFill>
          <a:ln w="12700">
            <a:solidFill>
              <a:srgbClr val="0369A1"/>
            </a:solidFill>
            <a:prstDash val="solid"/>
          </a:ln>
        </p:spPr>
      </p:sp>
      <p:sp>
        <p:nvSpPr>
          <p:cNvPr id="16" name="Shape 12"/>
          <p:cNvSpPr/>
          <p:nvPr/>
        </p:nvSpPr>
        <p:spPr>
          <a:xfrm>
            <a:off x="3189554" y="91440"/>
            <a:ext cx="73152" cy="274320"/>
          </a:xfrm>
          <a:prstGeom prst="rect">
            <a:avLst/>
          </a:prstGeom>
          <a:solidFill>
            <a:srgbClr val="0369A1"/>
          </a:solidFill>
          <a:ln w="12700">
            <a:solidFill>
              <a:srgbClr val="0369A1"/>
            </a:solidFill>
            <a:prstDash val="solid"/>
          </a:ln>
        </p:spPr>
      </p:sp>
      <p:pic>
        <p:nvPicPr>
          <p:cNvPr id="17" name="Image 2" descr="preencoded.png">    </p:cNvPr>
          <p:cNvPicPr>
            <a:picLocks noChangeAspect="1"/>
          </p:cNvPicPr>
          <p:nvPr/>
        </p:nvPicPr>
        <p:blipFill>
          <a:blip r:embed="rId3"/>
          <a:stretch>
            <a:fillRect/>
          </a:stretch>
        </p:blipFill>
        <p:spPr>
          <a:xfrm>
            <a:off x="3317570" y="128016"/>
            <a:ext cx="201168" cy="201168"/>
          </a:xfrm>
          <a:prstGeom prst="rect">
            <a:avLst/>
          </a:prstGeom>
        </p:spPr>
      </p:pic>
      <p:sp>
        <p:nvSpPr>
          <p:cNvPr id="18" name="Text 13"/>
          <p:cNvSpPr txBox="1"/>
          <p:nvPr/>
        </p:nvSpPr>
        <p:spPr>
          <a:xfrm>
            <a:off x="3573602" y="91440"/>
            <a:ext cx="369608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gli argomenti in a0 ... a7</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Passo 3: un valore che sopravvive tra i frame</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400" dirty="0">
                <a:solidFill>
                  <a:srgbClr val="E6EDF2"/>
                </a:solidFill>
                <a:latin typeface="Courier New" pitchFamily="34" charset="0"/>
                <a:ea typeface="Courier New" pitchFamily="34" charset="-122"/>
                <a:cs typeface="Courier New" pitchFamily="34" charset="-120"/>
              </a:rPr>
              <a:t>first_update: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pPr indent="0" marL="0">
              <a:buNone/>
            </a:pPr>
            <a:r>
              <a:rPr lang="en-US" sz="1400" dirty="0">
                <a:solidFill>
                  <a:srgbClr val="8FB3A0"/>
                </a:solidFill>
                <a:latin typeface="Courier New" pitchFamily="34" charset="0"/>
                <a:ea typeface="Courier New" pitchFamily="34" charset="-122"/>
                <a:cs typeface="Courier New" pitchFamily="34" charset="-120"/>
              </a:rPr>
              <a:t># A leaf function: it calls nothing,</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pPr indent="0" marL="0">
              <a:buNone/>
            </a:pPr>
            <a:r>
              <a:rPr lang="en-US" sz="1400" dirty="0">
                <a:solidFill>
                  <a:srgbClr val="8FB3A0"/>
                </a:solidFill>
                <a:latin typeface="Courier New" pitchFamily="34" charset="0"/>
                <a:ea typeface="Courier New" pitchFamily="34" charset="-122"/>
                <a:cs typeface="Courier New" pitchFamily="34" charset="-120"/>
              </a:rPr>
              <a:t># so it needs no stack frame.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la   t0, counter      </a:t>
            </a:r>
            <a:pPr indent="0" marL="0">
              <a:buNone/>
            </a:pPr>
            <a:r>
              <a:rPr lang="en-US" sz="1400" dirty="0">
                <a:solidFill>
                  <a:srgbClr val="8FB3A0"/>
                </a:solidFill>
                <a:latin typeface="Courier New" pitchFamily="34" charset="0"/>
                <a:ea typeface="Courier New" pitchFamily="34" charset="-122"/>
                <a:cs typeface="Courier New" pitchFamily="34" charset="-120"/>
              </a:rPr>
              <a:t># t0 = ADDRESS of counter</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lw   t1, 0(t0)        </a:t>
            </a:r>
            <a:pPr indent="0" marL="0">
              <a:buNone/>
            </a:pPr>
            <a:r>
              <a:rPr lang="en-US" sz="1400" dirty="0">
                <a:solidFill>
                  <a:srgbClr val="8FB3A0"/>
                </a:solidFill>
                <a:latin typeface="Courier New" pitchFamily="34" charset="0"/>
                <a:ea typeface="Courier New" pitchFamily="34" charset="-122"/>
                <a:cs typeface="Courier New" pitchFamily="34" charset="-120"/>
              </a:rPr>
              <a:t># t1 = VALUE stored there   (load)</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addi t1, t1, 1        </a:t>
            </a:r>
            <a:pPr indent="0" marL="0">
              <a:buNone/>
            </a:pPr>
            <a:r>
              <a:rPr lang="en-US" sz="1400" dirty="0">
                <a:solidFill>
                  <a:srgbClr val="8FB3A0"/>
                </a:solidFill>
                <a:latin typeface="Courier New" pitchFamily="34" charset="0"/>
                <a:ea typeface="Courier New" pitchFamily="34" charset="-122"/>
                <a:cs typeface="Courier New" pitchFamily="34" charset="-120"/>
              </a:rPr>
              <a:t># one tick per frame        (modify)</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sw   t1, 0(t0)        </a:t>
            </a:r>
            <a:pPr indent="0" marL="0">
              <a:buNone/>
            </a:pPr>
            <a:r>
              <a:rPr lang="en-US" sz="1400" dirty="0">
                <a:solidFill>
                  <a:srgbClr val="8FB3A0"/>
                </a:solidFill>
                <a:latin typeface="Courier New" pitchFamily="34" charset="0"/>
                <a:ea typeface="Courier New" pitchFamily="34" charset="-122"/>
                <a:cs typeface="Courier New" pitchFamily="34" charset="-120"/>
              </a:rPr>
              <a:t># write it back             (store)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ret</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.section .data</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counter: .word 0</a:t>
            </a:r>
            <a:endParaRPr lang="en-US" sz="140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counter è un'etichetta: dà un nome a una locazione di memoria, nella sezione .data, che contiene una parola di 32 bit</a:t>
            </a:r>
            <a:endParaRPr lang="en-US" sz="12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la mette in t0 l'INDIRIZZO di quella locazione</a:t>
            </a:r>
            <a:endParaRPr lang="en-US" sz="12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lw legge in t1 il VALORE a quell'indirizzo; sw lo riscrive</a:t>
            </a:r>
            <a:endParaRPr lang="en-US" sz="12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Il processore calcola solo nei registri: load, modify, store</a:t>
            </a:r>
            <a:endParaRPr lang="en-US" sz="1200" dirty="0"/>
          </a:p>
        </p:txBody>
      </p:sp>
      <p:sp>
        <p:nvSpPr>
          <p:cNvPr id="17" name="Shape 15"/>
          <p:cNvSpPr/>
          <p:nvPr/>
        </p:nvSpPr>
        <p:spPr>
          <a:xfrm>
            <a:off x="7263714" y="91440"/>
            <a:ext cx="4379341" cy="274320"/>
          </a:xfrm>
          <a:prstGeom prst="rect">
            <a:avLst/>
          </a:prstGeom>
          <a:solidFill>
            <a:srgbClr val="E0F2FE"/>
          </a:solidFill>
          <a:ln w="12700">
            <a:solidFill>
              <a:srgbClr val="0369A1"/>
            </a:solidFill>
            <a:prstDash val="solid"/>
          </a:ln>
        </p:spPr>
      </p:sp>
      <p:sp>
        <p:nvSpPr>
          <p:cNvPr id="18" name="Shape 16"/>
          <p:cNvSpPr/>
          <p:nvPr/>
        </p:nvSpPr>
        <p:spPr>
          <a:xfrm>
            <a:off x="7263714"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7391730" y="128016"/>
            <a:ext cx="201168" cy="201168"/>
          </a:xfrm>
          <a:prstGeom prst="rect">
            <a:avLst/>
          </a:prstGeom>
        </p:spPr>
      </p:pic>
      <p:sp>
        <p:nvSpPr>
          <p:cNvPr id="20" name="Text 17"/>
          <p:cNvSpPr txBox="1"/>
          <p:nvPr/>
        </p:nvSpPr>
        <p:spPr>
          <a:xfrm>
            <a:off x="7647762" y="91440"/>
            <a:ext cx="395871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indirizzo, valore, load, store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Passo 4: rendere visibile il contatore</a:t>
            </a:r>
            <a:endParaRPr lang="en-US" sz="3200" dirty="0"/>
          </a:p>
        </p:txBody>
      </p:sp>
      <p:sp>
        <p:nvSpPr>
          <p:cNvPr id="3" name="Shape 1"/>
          <p:cNvSpPr/>
          <p:nvPr/>
        </p:nvSpPr>
        <p:spPr>
          <a:xfrm>
            <a:off x="548640" y="1417320"/>
            <a:ext cx="667512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217920" cy="4389120"/>
          </a:xfrm>
          <a:prstGeom prst="rect">
            <a:avLst/>
          </a:prstGeom>
          <a:noFill/>
          <a:ln/>
        </p:spPr>
        <p:txBody>
          <a:bodyPr wrap="square" lIns="0" tIns="0" rIns="0" bIns="0" rtlCol="0" anchor="t"/>
          <a:lstStyle/>
          <a:p>
            <a:pPr indent="0" marL="0">
              <a:buNone/>
            </a:pPr>
            <a:r>
              <a:rPr lang="en-US" sz="1450" dirty="0">
                <a:solidFill>
                  <a:srgbClr val="E6EDF2"/>
                </a:solidFill>
                <a:latin typeface="Courier New" pitchFamily="34" charset="0"/>
                <a:ea typeface="Courier New" pitchFamily="34" charset="-122"/>
                <a:cs typeface="Courier New" pitchFamily="34" charset="-120"/>
              </a:rPr>
              <a:t>    la   t0, counter</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lw   t1, 0(t0)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andi a2, t1, 255      </a:t>
            </a:r>
            <a:pPr indent="0" marL="0">
              <a:buNone/>
            </a:pPr>
            <a:r>
              <a:rPr lang="en-US" sz="1450" dirty="0">
                <a:solidFill>
                  <a:srgbClr val="8FB3A0"/>
                </a:solidFill>
                <a:latin typeface="Courier New" pitchFamily="34" charset="0"/>
                <a:ea typeface="Courier New" pitchFamily="34" charset="-122"/>
                <a:cs typeface="Courier New" pitchFamily="34" charset="-120"/>
              </a:rPr>
              <a:t># width = counter modulo 256</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a0, 32           </a:t>
            </a:r>
            <a:pPr indent="0" marL="0">
              <a:buNone/>
            </a:pPr>
            <a:r>
              <a:rPr lang="en-US" sz="1450" dirty="0">
                <a:solidFill>
                  <a:srgbClr val="8FB3A0"/>
                </a:solidFill>
                <a:latin typeface="Courier New" pitchFamily="34" charset="0"/>
                <a:ea typeface="Courier New" pitchFamily="34" charset="-122"/>
                <a:cs typeface="Courier New" pitchFamily="34" charset="-120"/>
              </a:rPr>
              <a:t># x</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a1, 60           </a:t>
            </a:r>
            <a:pPr indent="0" marL="0">
              <a:buNone/>
            </a:pPr>
            <a:r>
              <a:rPr lang="en-US" sz="1450" dirty="0">
                <a:solidFill>
                  <a:srgbClr val="8FB3A0"/>
                </a:solidFill>
                <a:latin typeface="Courier New" pitchFamily="34" charset="0"/>
                <a:ea typeface="Courier New" pitchFamily="34" charset="-122"/>
                <a:cs typeface="Courier New" pitchFamily="34" charset="-120"/>
              </a:rPr>
              <a:t># y</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a3, 8            </a:t>
            </a:r>
            <a:pPr indent="0" marL="0">
              <a:buNone/>
            </a:pPr>
            <a:r>
              <a:rPr lang="en-US" sz="1450" dirty="0">
                <a:solidFill>
                  <a:srgbClr val="8FB3A0"/>
                </a:solidFill>
                <a:latin typeface="Courier New" pitchFamily="34" charset="0"/>
                <a:ea typeface="Courier New" pitchFamily="34" charset="-122"/>
                <a:cs typeface="Courier New" pitchFamily="34" charset="-120"/>
              </a:rPr>
              <a:t># height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a4, GREEN        </a:t>
            </a:r>
            <a:pPr indent="0" marL="0">
              <a:buNone/>
            </a:pPr>
            <a:r>
              <a:rPr lang="en-US" sz="1450" dirty="0">
                <a:solidFill>
                  <a:srgbClr val="8FB3A0"/>
                </a:solidFill>
                <a:latin typeface="Courier New" pitchFamily="34" charset="0"/>
                <a:ea typeface="Courier New" pitchFamily="34" charset="-122"/>
                <a:cs typeface="Courier New" pitchFamily="34" charset="-120"/>
              </a:rPr>
              <a:t># .equ GREEN, 0x07e0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call prg32_gfx_rect</a:t>
            </a:r>
            <a:endParaRPr lang="en-US" sz="1450" dirty="0"/>
          </a:p>
        </p:txBody>
      </p:sp>
      <p:sp>
        <p:nvSpPr>
          <p:cNvPr id="5" name="Shape 3"/>
          <p:cNvSpPr/>
          <p:nvPr/>
        </p:nvSpPr>
        <p:spPr>
          <a:xfrm>
            <a:off x="7470648" y="1399032"/>
            <a:ext cx="4245559" cy="2708339"/>
          </a:xfrm>
          <a:prstGeom prst="roundRect">
            <a:avLst>
              <a:gd name="adj" fmla="val 2701"/>
            </a:avLst>
          </a:prstGeom>
          <a:solidFill>
            <a:srgbClr val="1B2530"/>
          </a:solidFill>
          <a:ln w="12700">
            <a:solidFill>
              <a:srgbClr val="1B2530"/>
            </a:solidFill>
            <a:prstDash val="solid"/>
          </a:ln>
        </p:spPr>
      </p:sp>
      <p:pic>
        <p:nvPicPr>
          <p:cNvPr id="6" name="Image 0" descr="/Users/raffaelemontella/devel/riscv-prg32/computer-architecture-with-prg32/tools/assets/lab1_step4_bar.png">    </p:cNvPr>
          <p:cNvPicPr>
            <a:picLocks noChangeAspect="1"/>
          </p:cNvPicPr>
          <p:nvPr/>
        </p:nvPicPr>
        <p:blipFill>
          <a:blip r:embed="rId1"/>
          <a:stretch>
            <a:fillRect/>
          </a:stretch>
        </p:blipFill>
        <p:spPr>
          <a:xfrm>
            <a:off x="7543800" y="1472184"/>
            <a:ext cx="4099255" cy="2562035"/>
          </a:xfrm>
          <a:prstGeom prst="rect">
            <a:avLst/>
          </a:prstGeom>
        </p:spPr>
      </p:pic>
      <p:sp>
        <p:nvSpPr>
          <p:cNvPr id="7" name="Text 4"/>
          <p:cNvSpPr txBox="1"/>
          <p:nvPr/>
        </p:nvSpPr>
        <p:spPr>
          <a:xfrm>
            <a:off x="7543800" y="4180523"/>
            <a:ext cx="4099255" cy="256032"/>
          </a:xfrm>
          <a:prstGeom prst="rect">
            <a:avLst/>
          </a:prstGeom>
          <a:noFill/>
          <a:ln/>
        </p:spPr>
        <p:txBody>
          <a:bodyPr wrap="square" lIns="0" tIns="0" rIns="0" bIns="0" rtlCol="0" anchor="t"/>
          <a:lstStyle/>
          <a:p>
            <a:pPr indent="0" marL="0">
              <a:buNone/>
            </a:pPr>
            <a:r>
              <a:rPr lang="en-US" sz="1150" i="1" dirty="0">
                <a:solidFill>
                  <a:srgbClr val="5B6B78"/>
                </a:solidFill>
                <a:latin typeface="Calibri" pitchFamily="34" charset="0"/>
                <a:ea typeface="Calibri" pitchFamily="34" charset="-122"/>
                <a:cs typeface="Calibri" pitchFamily="34" charset="-120"/>
              </a:rPr>
              <a:t>Schermata: questo passo, compilato ed eseguito su PRG32</a:t>
            </a:r>
            <a:endParaRPr lang="en-US" sz="1150" dirty="0"/>
          </a:p>
        </p:txBody>
      </p:sp>
      <p:sp>
        <p:nvSpPr>
          <p:cNvPr id="8" name="Shape 5"/>
          <p:cNvSpPr/>
          <p:nvPr/>
        </p:nvSpPr>
        <p:spPr>
          <a:xfrm>
            <a:off x="7470648" y="4527995"/>
            <a:ext cx="4245559" cy="1644205"/>
          </a:xfrm>
          <a:prstGeom prst="roundRect">
            <a:avLst>
              <a:gd name="adj" fmla="val 4449"/>
            </a:avLst>
          </a:prstGeom>
          <a:solidFill>
            <a:srgbClr val="EEF2F4"/>
          </a:solidFill>
          <a:ln w="12700">
            <a:solidFill>
              <a:srgbClr val="EEF2F4"/>
            </a:solidFill>
            <a:prstDash val="solid"/>
          </a:ln>
        </p:spPr>
      </p:sp>
      <p:sp>
        <p:nvSpPr>
          <p:cNvPr id="9" name="Text 6"/>
          <p:cNvSpPr txBox="1"/>
          <p:nvPr/>
        </p:nvSpPr>
        <p:spPr>
          <a:xfrm>
            <a:off x="7680960" y="4637723"/>
            <a:ext cx="3824935" cy="1424749"/>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La barra cresce da 0 a 255 pixel, poi ricomincia. andi con 255 conserva solo gli otto bit bassi del contatore.</a:t>
            </a:r>
            <a:endParaRPr lang="en-US" sz="1700" dirty="0"/>
          </a:p>
        </p:txBody>
      </p:sp>
      <p:sp>
        <p:nvSpPr>
          <p:cNvPr id="10" name="Shape 7"/>
          <p:cNvSpPr/>
          <p:nvPr/>
        </p:nvSpPr>
        <p:spPr>
          <a:xfrm>
            <a:off x="7175703" y="91440"/>
            <a:ext cx="4467352" cy="274320"/>
          </a:xfrm>
          <a:prstGeom prst="rect">
            <a:avLst/>
          </a:prstGeom>
          <a:solidFill>
            <a:srgbClr val="FEF3C7"/>
          </a:solidFill>
          <a:ln w="12700">
            <a:solidFill>
              <a:srgbClr val="B45309"/>
            </a:solidFill>
            <a:prstDash val="solid"/>
          </a:ln>
        </p:spPr>
      </p:sp>
      <p:sp>
        <p:nvSpPr>
          <p:cNvPr id="11" name="Shape 8"/>
          <p:cNvSpPr/>
          <p:nvPr/>
        </p:nvSpPr>
        <p:spPr>
          <a:xfrm>
            <a:off x="7175703" y="91440"/>
            <a:ext cx="27432" cy="274320"/>
          </a:xfrm>
          <a:prstGeom prst="rect">
            <a:avLst/>
          </a:prstGeom>
          <a:solidFill>
            <a:srgbClr val="B45309"/>
          </a:solidFill>
          <a:ln w="12700">
            <a:solidFill>
              <a:srgbClr val="B45309"/>
            </a:solidFill>
            <a:prstDash val="solid"/>
          </a:ln>
        </p:spPr>
      </p:sp>
      <p:sp>
        <p:nvSpPr>
          <p:cNvPr id="12" name="Shape 9"/>
          <p:cNvSpPr/>
          <p:nvPr/>
        </p:nvSpPr>
        <p:spPr>
          <a:xfrm>
            <a:off x="7230567" y="91440"/>
            <a:ext cx="27432" cy="274320"/>
          </a:xfrm>
          <a:prstGeom prst="rect">
            <a:avLst/>
          </a:prstGeom>
          <a:solidFill>
            <a:srgbClr val="B45309"/>
          </a:solidFill>
          <a:ln w="12700">
            <a:solidFill>
              <a:srgbClr val="B45309"/>
            </a:solidFill>
            <a:prstDash val="solid"/>
          </a:ln>
        </p:spPr>
      </p:sp>
      <p:pic>
        <p:nvPicPr>
          <p:cNvPr id="13" name="Image 1" descr="preencoded.png">    </p:cNvPr>
          <p:cNvPicPr>
            <a:picLocks noChangeAspect="1"/>
          </p:cNvPicPr>
          <p:nvPr/>
        </p:nvPicPr>
        <p:blipFill>
          <a:blip r:embed="rId2"/>
          <a:stretch>
            <a:fillRect/>
          </a:stretch>
        </p:blipFill>
        <p:spPr>
          <a:xfrm>
            <a:off x="7303719" y="128016"/>
            <a:ext cx="201168" cy="201168"/>
          </a:xfrm>
          <a:prstGeom prst="rect">
            <a:avLst/>
          </a:prstGeom>
        </p:spPr>
      </p:pic>
      <p:sp>
        <p:nvSpPr>
          <p:cNvPr id="14" name="Text 10"/>
          <p:cNvSpPr txBox="1"/>
          <p:nvPr/>
        </p:nvSpPr>
        <p:spPr>
          <a:xfrm>
            <a:off x="7559751" y="91440"/>
            <a:ext cx="4046728"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le maschere di bit</a:t>
            </a:r>
            <a:pPr indent="0" marL="0">
              <a:buNone/>
            </a:pPr>
            <a:r>
              <a:rPr lang="en-US" sz="1100" b="1" dirty="0">
                <a:solidFill>
                  <a:srgbClr val="92400E"/>
                </a:solidFill>
                <a:latin typeface="Calibri" pitchFamily="34" charset="0"/>
                <a:ea typeface="Calibri" pitchFamily="34" charset="-122"/>
                <a:cs typeface="Calibri" pitchFamily="34" charset="-120"/>
              </a:rPr>
              <a:t> → Lezione 08</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programma completo: l02.S (1 di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400" dirty="0">
                <a:solidFill>
                  <a:srgbClr val="8FB3A0"/>
                </a:solidFill>
                <a:latin typeface="Courier New" pitchFamily="34" charset="0"/>
                <a:ea typeface="Courier New" pitchFamily="34" charset="-122"/>
                <a:cs typeface="Courier New" pitchFamily="34" charset="-120"/>
              </a:rPr>
              <a:t># ARC12 Computer Architecture - Lecture 02: First Contact: RISC-V Assembly on PRG32</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l02.S: the four steps of the lecture in one file</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On the screen: HELLO PRG32 and, under it, a green bar that grows by one pixel per</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frame and starts again at 256.</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Build: python3 -m prg32 cartridge build l02.S --portable \</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--entry-prefix first --name first --out first.prg32</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.option norelax</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.equ BLACK, 0x0000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.equ WHITE, 0xffff</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.equ GREEN, 0x07e0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.section .text</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.global first_init</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.global first_update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.global first_draw</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first_init:                  </a:t>
            </a:r>
            <a:pPr indent="0" marL="0">
              <a:buNone/>
            </a:pPr>
            <a:r>
              <a:rPr lang="en-US" sz="1400" dirty="0">
                <a:solidFill>
                  <a:srgbClr val="8FB3A0"/>
                </a:solidFill>
                <a:latin typeface="Courier New" pitchFamily="34" charset="0"/>
                <a:ea typeface="Courier New" pitchFamily="34" charset="-122"/>
                <a:cs typeface="Courier New" pitchFamily="34" charset="-120"/>
              </a:rPr>
              <a:t># step 1: a function that returns</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ret</a:t>
            </a:r>
            <a:endParaRPr lang="en-US" sz="1400" dirty="0"/>
          </a:p>
        </p:txBody>
      </p:sp>
      <p:sp>
        <p:nvSpPr>
          <p:cNvPr id="5" name="Shape 3"/>
          <p:cNvSpPr/>
          <p:nvPr/>
        </p:nvSpPr>
        <p:spPr>
          <a:xfrm>
            <a:off x="7941259" y="91440"/>
            <a:ext cx="3701796" cy="274320"/>
          </a:xfrm>
          <a:prstGeom prst="rect">
            <a:avLst/>
          </a:prstGeom>
          <a:solidFill>
            <a:srgbClr val="FEF3C7"/>
          </a:solidFill>
          <a:ln w="12700">
            <a:solidFill>
              <a:srgbClr val="B45309"/>
            </a:solidFill>
            <a:prstDash val="solid"/>
          </a:ln>
        </p:spPr>
      </p:sp>
      <p:sp>
        <p:nvSpPr>
          <p:cNvPr id="6" name="Shape 4"/>
          <p:cNvSpPr/>
          <p:nvPr/>
        </p:nvSpPr>
        <p:spPr>
          <a:xfrm>
            <a:off x="7941259" y="91440"/>
            <a:ext cx="27432" cy="274320"/>
          </a:xfrm>
          <a:prstGeom prst="rect">
            <a:avLst/>
          </a:prstGeom>
          <a:solidFill>
            <a:srgbClr val="B45309"/>
          </a:solidFill>
          <a:ln w="12700">
            <a:solidFill>
              <a:srgbClr val="B45309"/>
            </a:solidFill>
            <a:prstDash val="solid"/>
          </a:ln>
        </p:spPr>
      </p:sp>
      <p:sp>
        <p:nvSpPr>
          <p:cNvPr id="7" name="Shape 5"/>
          <p:cNvSpPr/>
          <p:nvPr/>
        </p:nvSpPr>
        <p:spPr>
          <a:xfrm>
            <a:off x="7996123"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8069275" y="128016"/>
            <a:ext cx="201168" cy="201168"/>
          </a:xfrm>
          <a:prstGeom prst="rect">
            <a:avLst/>
          </a:prstGeom>
        </p:spPr>
      </p:pic>
      <p:sp>
        <p:nvSpPr>
          <p:cNvPr id="9" name="Text 6"/>
          <p:cNvSpPr txBox="1"/>
          <p:nvPr/>
        </p:nvSpPr>
        <p:spPr>
          <a:xfrm>
            <a:off x="8325307" y="91440"/>
            <a:ext cx="328117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il programma completo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programma completo: l02.S (2 di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first_update:                </a:t>
            </a:r>
            <a:pPr indent="0" marL="0">
              <a:buNone/>
            </a:pPr>
            <a:r>
              <a:rPr lang="en-US" sz="1500" dirty="0">
                <a:solidFill>
                  <a:srgbClr val="8FB3A0"/>
                </a:solidFill>
                <a:latin typeface="Courier New" pitchFamily="34" charset="0"/>
                <a:ea typeface="Courier New" pitchFamily="34" charset="-122"/>
                <a:cs typeface="Courier New" pitchFamily="34" charset="-120"/>
              </a:rPr>
              <a:t># step 3: a value that survives between frames</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pPr indent="0" marL="0">
              <a:buNone/>
            </a:pPr>
            <a:r>
              <a:rPr lang="en-US" sz="1500" dirty="0">
                <a:solidFill>
                  <a:srgbClr val="8FB3A0"/>
                </a:solidFill>
                <a:latin typeface="Courier New" pitchFamily="34" charset="0"/>
                <a:ea typeface="Courier New" pitchFamily="34" charset="-122"/>
                <a:cs typeface="Courier New" pitchFamily="34" charset="-120"/>
              </a:rPr>
              <a:t># A leaf function: it calls nothing, so it needs no stack frame.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t0, counter         </a:t>
            </a:r>
            <a:pPr indent="0" marL="0">
              <a:buNone/>
            </a:pPr>
            <a:r>
              <a:rPr lang="en-US" sz="1500" dirty="0">
                <a:solidFill>
                  <a:srgbClr val="8FB3A0"/>
                </a:solidFill>
                <a:latin typeface="Courier New" pitchFamily="34" charset="0"/>
                <a:ea typeface="Courier New" pitchFamily="34" charset="-122"/>
                <a:cs typeface="Courier New" pitchFamily="34" charset="-120"/>
              </a:rPr>
              <a:t># t0 = ADDRESS of counter</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lw   t1, 0(t0)           </a:t>
            </a:r>
            <a:pPr indent="0" marL="0">
              <a:buNone/>
            </a:pPr>
            <a:r>
              <a:rPr lang="en-US" sz="1500" dirty="0">
                <a:solidFill>
                  <a:srgbClr val="8FB3A0"/>
                </a:solidFill>
                <a:latin typeface="Courier New" pitchFamily="34" charset="0"/>
                <a:ea typeface="Courier New" pitchFamily="34" charset="-122"/>
                <a:cs typeface="Courier New" pitchFamily="34" charset="-120"/>
              </a:rPr>
              <a:t># t1 = VALUE stored there   (load)</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t1, t1, 1           </a:t>
            </a:r>
            <a:pPr indent="0" marL="0">
              <a:buNone/>
            </a:pPr>
            <a:r>
              <a:rPr lang="en-US" sz="1500" dirty="0">
                <a:solidFill>
                  <a:srgbClr val="8FB3A0"/>
                </a:solidFill>
                <a:latin typeface="Courier New" pitchFamily="34" charset="0"/>
                <a:ea typeface="Courier New" pitchFamily="34" charset="-122"/>
                <a:cs typeface="Courier New" pitchFamily="34" charset="-120"/>
              </a:rPr>
              <a:t># one tick per frame        (modify)</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t1, 0(t0)           </a:t>
            </a:r>
            <a:pPr indent="0" marL="0">
              <a:buNone/>
            </a:pPr>
            <a:r>
              <a:rPr lang="en-US" sz="1500" dirty="0">
                <a:solidFill>
                  <a:srgbClr val="8FB3A0"/>
                </a:solidFill>
                <a:latin typeface="Courier New" pitchFamily="34" charset="0"/>
                <a:ea typeface="Courier New" pitchFamily="34" charset="-122"/>
                <a:cs typeface="Courier New" pitchFamily="34" charset="-120"/>
              </a:rPr>
              <a:t># write it back             (store)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ret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first_draw:                  </a:t>
            </a:r>
            <a:pPr indent="0" marL="0">
              <a:buNone/>
            </a:pPr>
            <a:r>
              <a:rPr lang="en-US" sz="1500" dirty="0">
                <a:solidFill>
                  <a:srgbClr val="8FB3A0"/>
                </a:solidFill>
                <a:latin typeface="Courier New" pitchFamily="34" charset="0"/>
                <a:ea typeface="Courier New" pitchFamily="34" charset="-122"/>
                <a:cs typeface="Courier New" pitchFamily="34" charset="-120"/>
              </a:rPr>
              <a:t># step 2: say hello</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sp, sp, -16         </a:t>
            </a:r>
            <a:pPr indent="0" marL="0">
              <a:buNone/>
            </a:pPr>
            <a:r>
              <a:rPr lang="en-US" sz="1500" dirty="0">
                <a:solidFill>
                  <a:srgbClr val="8FB3A0"/>
                </a:solidFill>
                <a:latin typeface="Courier New" pitchFamily="34" charset="0"/>
                <a:ea typeface="Courier New" pitchFamily="34" charset="-122"/>
                <a:cs typeface="Courier New" pitchFamily="34" charset="-120"/>
              </a:rPr>
              <a:t># prologue: a 16-byte frame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ra, 12(sp)          </a:t>
            </a:r>
            <a:pPr indent="0" marL="0">
              <a:buNone/>
            </a:pPr>
            <a:r>
              <a:rPr lang="en-US" sz="1500" dirty="0">
                <a:solidFill>
                  <a:srgbClr val="8FB3A0"/>
                </a:solidFill>
                <a:latin typeface="Courier New" pitchFamily="34" charset="0"/>
                <a:ea typeface="Courier New" pitchFamily="34" charset="-122"/>
                <a:cs typeface="Courier New" pitchFamily="34" charset="-120"/>
              </a:rPr>
              <a:t># save the return address</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a0, BLACK</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call prg32_gfx_clear</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a0, 32              </a:t>
            </a:r>
            <a:pPr indent="0" marL="0">
              <a:buNone/>
            </a:pPr>
            <a:r>
              <a:rPr lang="en-US" sz="1500" dirty="0">
                <a:solidFill>
                  <a:srgbClr val="8FB3A0"/>
                </a:solidFill>
                <a:latin typeface="Courier New" pitchFamily="34" charset="0"/>
                <a:ea typeface="Courier New" pitchFamily="34" charset="-122"/>
                <a:cs typeface="Courier New" pitchFamily="34" charset="-120"/>
              </a:rPr>
              <a:t># x</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a1, 40              </a:t>
            </a:r>
            <a:pPr indent="0" marL="0">
              <a:buNone/>
            </a:pPr>
            <a:r>
              <a:rPr lang="en-US" sz="1500" dirty="0">
                <a:solidFill>
                  <a:srgbClr val="8FB3A0"/>
                </a:solidFill>
                <a:latin typeface="Courier New" pitchFamily="34" charset="0"/>
                <a:ea typeface="Courier New" pitchFamily="34" charset="-122"/>
                <a:cs typeface="Courier New" pitchFamily="34" charset="-120"/>
              </a:rPr>
              <a:t># y</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a2, title           </a:t>
            </a:r>
            <a:pPr indent="0" marL="0">
              <a:buNone/>
            </a:pPr>
            <a:r>
              <a:rPr lang="en-US" sz="1500" dirty="0">
                <a:solidFill>
                  <a:srgbClr val="8FB3A0"/>
                </a:solidFill>
                <a:latin typeface="Courier New" pitchFamily="34" charset="0"/>
                <a:ea typeface="Courier New" pitchFamily="34" charset="-122"/>
                <a:cs typeface="Courier New" pitchFamily="34" charset="-120"/>
              </a:rPr>
              <a:t># address of the string</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a3, WHITE           </a:t>
            </a:r>
            <a:pPr indent="0" marL="0">
              <a:buNone/>
            </a:pPr>
            <a:r>
              <a:rPr lang="en-US" sz="1500" dirty="0">
                <a:solidFill>
                  <a:srgbClr val="8FB3A0"/>
                </a:solidFill>
                <a:latin typeface="Courier New" pitchFamily="34" charset="0"/>
                <a:ea typeface="Courier New" pitchFamily="34" charset="-122"/>
                <a:cs typeface="Courier New" pitchFamily="34" charset="-120"/>
              </a:rPr>
              <a:t># foreground</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a4, BLACK           </a:t>
            </a:r>
            <a:pPr indent="0" marL="0">
              <a:buNone/>
            </a:pPr>
            <a:r>
              <a:rPr lang="en-US" sz="1500" dirty="0">
                <a:solidFill>
                  <a:srgbClr val="8FB3A0"/>
                </a:solidFill>
                <a:latin typeface="Courier New" pitchFamily="34" charset="0"/>
                <a:ea typeface="Courier New" pitchFamily="34" charset="-122"/>
                <a:cs typeface="Courier New" pitchFamily="34" charset="-120"/>
              </a:rPr>
              <a:t># background</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call prg32_gfx_text8</a:t>
            </a:r>
            <a:endParaRPr lang="en-US" sz="1500" dirty="0"/>
          </a:p>
        </p:txBody>
      </p:sp>
      <p:sp>
        <p:nvSpPr>
          <p:cNvPr id="5" name="Shape 3"/>
          <p:cNvSpPr/>
          <p:nvPr/>
        </p:nvSpPr>
        <p:spPr>
          <a:xfrm>
            <a:off x="7941259" y="91440"/>
            <a:ext cx="3701796" cy="274320"/>
          </a:xfrm>
          <a:prstGeom prst="rect">
            <a:avLst/>
          </a:prstGeom>
          <a:solidFill>
            <a:srgbClr val="FEF3C7"/>
          </a:solidFill>
          <a:ln w="12700">
            <a:solidFill>
              <a:srgbClr val="B45309"/>
            </a:solidFill>
            <a:prstDash val="solid"/>
          </a:ln>
        </p:spPr>
      </p:sp>
      <p:sp>
        <p:nvSpPr>
          <p:cNvPr id="6" name="Shape 4"/>
          <p:cNvSpPr/>
          <p:nvPr/>
        </p:nvSpPr>
        <p:spPr>
          <a:xfrm>
            <a:off x="7941259" y="91440"/>
            <a:ext cx="27432" cy="274320"/>
          </a:xfrm>
          <a:prstGeom prst="rect">
            <a:avLst/>
          </a:prstGeom>
          <a:solidFill>
            <a:srgbClr val="B45309"/>
          </a:solidFill>
          <a:ln w="12700">
            <a:solidFill>
              <a:srgbClr val="B45309"/>
            </a:solidFill>
            <a:prstDash val="solid"/>
          </a:ln>
        </p:spPr>
      </p:sp>
      <p:sp>
        <p:nvSpPr>
          <p:cNvPr id="7" name="Shape 5"/>
          <p:cNvSpPr/>
          <p:nvPr/>
        </p:nvSpPr>
        <p:spPr>
          <a:xfrm>
            <a:off x="7996123"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8069275" y="128016"/>
            <a:ext cx="201168" cy="201168"/>
          </a:xfrm>
          <a:prstGeom prst="rect">
            <a:avLst/>
          </a:prstGeom>
        </p:spPr>
      </p:pic>
      <p:sp>
        <p:nvSpPr>
          <p:cNvPr id="9" name="Text 6"/>
          <p:cNvSpPr txBox="1"/>
          <p:nvPr/>
        </p:nvSpPr>
        <p:spPr>
          <a:xfrm>
            <a:off x="8325307" y="91440"/>
            <a:ext cx="328117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il programma completo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programma completo: l02.S (3 di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    la   t0, counter         </a:t>
            </a:r>
            <a:pPr indent="0" marL="0">
              <a:buNone/>
            </a:pPr>
            <a:r>
              <a:rPr lang="en-US" sz="1500" dirty="0">
                <a:solidFill>
                  <a:srgbClr val="8FB3A0"/>
                </a:solidFill>
                <a:latin typeface="Courier New" pitchFamily="34" charset="0"/>
                <a:ea typeface="Courier New" pitchFamily="34" charset="-122"/>
                <a:cs typeface="Courier New" pitchFamily="34" charset="-120"/>
              </a:rPr>
              <a:t># step 4: make the counter visible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lw   t1, 0(t0)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andi a2, t1, 255         </a:t>
            </a:r>
            <a:pPr indent="0" marL="0">
              <a:buNone/>
            </a:pPr>
            <a:r>
              <a:rPr lang="en-US" sz="1500" dirty="0">
                <a:solidFill>
                  <a:srgbClr val="8FB3A0"/>
                </a:solidFill>
                <a:latin typeface="Courier New" pitchFamily="34" charset="0"/>
                <a:ea typeface="Courier New" pitchFamily="34" charset="-122"/>
                <a:cs typeface="Courier New" pitchFamily="34" charset="-120"/>
              </a:rPr>
              <a:t># width = counter modulo 256</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a0, 32              </a:t>
            </a:r>
            <a:pPr indent="0" marL="0">
              <a:buNone/>
            </a:pPr>
            <a:r>
              <a:rPr lang="en-US" sz="1500" dirty="0">
                <a:solidFill>
                  <a:srgbClr val="8FB3A0"/>
                </a:solidFill>
                <a:latin typeface="Courier New" pitchFamily="34" charset="0"/>
                <a:ea typeface="Courier New" pitchFamily="34" charset="-122"/>
                <a:cs typeface="Courier New" pitchFamily="34" charset="-120"/>
              </a:rPr>
              <a:t># x</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a1, 60              </a:t>
            </a:r>
            <a:pPr indent="0" marL="0">
              <a:buNone/>
            </a:pPr>
            <a:r>
              <a:rPr lang="en-US" sz="1500" dirty="0">
                <a:solidFill>
                  <a:srgbClr val="8FB3A0"/>
                </a:solidFill>
                <a:latin typeface="Courier New" pitchFamily="34" charset="0"/>
                <a:ea typeface="Courier New" pitchFamily="34" charset="-122"/>
                <a:cs typeface="Courier New" pitchFamily="34" charset="-120"/>
              </a:rPr>
              <a:t># y</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a3, 8               </a:t>
            </a:r>
            <a:pPr indent="0" marL="0">
              <a:buNone/>
            </a:pPr>
            <a:r>
              <a:rPr lang="en-US" sz="1500" dirty="0">
                <a:solidFill>
                  <a:srgbClr val="8FB3A0"/>
                </a:solidFill>
                <a:latin typeface="Courier New" pitchFamily="34" charset="0"/>
                <a:ea typeface="Courier New" pitchFamily="34" charset="-122"/>
                <a:cs typeface="Courier New" pitchFamily="34" charset="-120"/>
              </a:rPr>
              <a:t># height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a4, GREEN</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call prg32_gfx_rect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lw   ra, 12(sp)          </a:t>
            </a:r>
            <a:pPr indent="0" marL="0">
              <a:buNone/>
            </a:pPr>
            <a:r>
              <a:rPr lang="en-US" sz="1500" dirty="0">
                <a:solidFill>
                  <a:srgbClr val="8FB3A0"/>
                </a:solidFill>
                <a:latin typeface="Courier New" pitchFamily="34" charset="0"/>
                <a:ea typeface="Courier New" pitchFamily="34" charset="-122"/>
                <a:cs typeface="Courier New" pitchFamily="34" charset="-120"/>
              </a:rPr>
              <a:t># epilogue: restore ra</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sp, sp, 16          </a:t>
            </a:r>
            <a:pPr indent="0" marL="0">
              <a:buNone/>
            </a:pPr>
            <a:r>
              <a:rPr lang="en-US" sz="1500" dirty="0">
                <a:solidFill>
                  <a:srgbClr val="8FB3A0"/>
                </a:solidFill>
                <a:latin typeface="Courier New" pitchFamily="34" charset="0"/>
                <a:ea typeface="Courier New" pitchFamily="34" charset="-122"/>
                <a:cs typeface="Courier New" pitchFamily="34" charset="-120"/>
              </a:rPr>
              <a:t># release the frame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ret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.section .rodata</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title: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.asciz "HELLO PRG32"</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.section .data</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counter: .word 0</a:t>
            </a:r>
            <a:endParaRPr lang="en-US" sz="1500" dirty="0"/>
          </a:p>
        </p:txBody>
      </p:sp>
      <p:sp>
        <p:nvSpPr>
          <p:cNvPr id="5" name="Shape 3"/>
          <p:cNvSpPr/>
          <p:nvPr/>
        </p:nvSpPr>
        <p:spPr>
          <a:xfrm>
            <a:off x="7941259" y="91440"/>
            <a:ext cx="3701796" cy="274320"/>
          </a:xfrm>
          <a:prstGeom prst="rect">
            <a:avLst/>
          </a:prstGeom>
          <a:solidFill>
            <a:srgbClr val="FEF3C7"/>
          </a:solidFill>
          <a:ln w="12700">
            <a:solidFill>
              <a:srgbClr val="B45309"/>
            </a:solidFill>
            <a:prstDash val="solid"/>
          </a:ln>
        </p:spPr>
      </p:sp>
      <p:sp>
        <p:nvSpPr>
          <p:cNvPr id="6" name="Shape 4"/>
          <p:cNvSpPr/>
          <p:nvPr/>
        </p:nvSpPr>
        <p:spPr>
          <a:xfrm>
            <a:off x="7941259" y="91440"/>
            <a:ext cx="27432" cy="274320"/>
          </a:xfrm>
          <a:prstGeom prst="rect">
            <a:avLst/>
          </a:prstGeom>
          <a:solidFill>
            <a:srgbClr val="B45309"/>
          </a:solidFill>
          <a:ln w="12700">
            <a:solidFill>
              <a:srgbClr val="B45309"/>
            </a:solidFill>
            <a:prstDash val="solid"/>
          </a:ln>
        </p:spPr>
      </p:sp>
      <p:sp>
        <p:nvSpPr>
          <p:cNvPr id="7" name="Shape 5"/>
          <p:cNvSpPr/>
          <p:nvPr/>
        </p:nvSpPr>
        <p:spPr>
          <a:xfrm>
            <a:off x="7996123"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8069275" y="128016"/>
            <a:ext cx="201168" cy="201168"/>
          </a:xfrm>
          <a:prstGeom prst="rect">
            <a:avLst/>
          </a:prstGeom>
        </p:spPr>
      </p:pic>
      <p:sp>
        <p:nvSpPr>
          <p:cNvPr id="9" name="Text 6"/>
          <p:cNvSpPr txBox="1"/>
          <p:nvPr/>
        </p:nvSpPr>
        <p:spPr>
          <a:xfrm>
            <a:off x="8325307" y="91440"/>
            <a:ext cx="328117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il programma completo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Eseguite: che cosa dovreste vedere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1384554"/>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Sullo schermo</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HELLO PRG32 e, sotto, una barra verde che cresce di un pixel per frame e ricomincia a 256.</a:t>
            </a:r>
            <a:endParaRPr lang="en-US" sz="2400" dirty="0"/>
          </a:p>
        </p:txBody>
      </p:sp>
      <p:sp>
        <p:nvSpPr>
          <p:cNvPr id="5" name="Shape 3"/>
          <p:cNvSpPr/>
          <p:nvPr/>
        </p:nvSpPr>
        <p:spPr>
          <a:xfrm>
            <a:off x="548640" y="3563874"/>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441954"/>
            <a:ext cx="5468112"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Che cosa premere</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niente: il programma va da solo</a:t>
            </a:r>
            <a:endParaRPr lang="en-US" sz="2400" dirty="0"/>
          </a:p>
        </p:txBody>
      </p:sp>
      <p:pic>
        <p:nvPicPr>
          <p:cNvPr id="7" name="Image 0" descr="/Users/raffaelemontella/devel/riscv-prg32/computer-architecture-with-prg32/tools/assets/lab_l02.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Il frame scritto dal test automatico su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Provatelo su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~/arc12/code/l02.S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first --name l02 --out l02.prg32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l02.prg32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deve essere in esecuzione: risponde sulla porta 8080, come una scheda</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Si compila una volta, dalla cartella PRG32, con ESP-IDF attivo nel terminale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memorizza la cartuccia nello slot cart0 e la avvia</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Modalità debug, in Settings: fermare il programma, leggere registri e memoria</a:t>
            </a:r>
            <a:endParaRPr lang="en-US" sz="1200" dirty="0"/>
          </a:p>
        </p:txBody>
      </p:sp>
      <p:sp>
        <p:nvSpPr>
          <p:cNvPr id="17" name="Shape 15"/>
          <p:cNvSpPr/>
          <p:nvPr/>
        </p:nvSpPr>
        <p:spPr>
          <a:xfrm>
            <a:off x="7875600" y="91440"/>
            <a:ext cx="3767455" cy="274320"/>
          </a:xfrm>
          <a:prstGeom prst="rect">
            <a:avLst/>
          </a:prstGeom>
          <a:solidFill>
            <a:srgbClr val="FEF3C7"/>
          </a:solidFill>
          <a:ln w="12700">
            <a:solidFill>
              <a:srgbClr val="B45309"/>
            </a:solidFill>
            <a:prstDash val="solid"/>
          </a:ln>
        </p:spPr>
      </p:sp>
      <p:sp>
        <p:nvSpPr>
          <p:cNvPr id="18" name="Shape 16"/>
          <p:cNvSpPr/>
          <p:nvPr/>
        </p:nvSpPr>
        <p:spPr>
          <a:xfrm>
            <a:off x="7875600" y="91440"/>
            <a:ext cx="27432" cy="274320"/>
          </a:xfrm>
          <a:prstGeom prst="rect">
            <a:avLst/>
          </a:prstGeom>
          <a:solidFill>
            <a:srgbClr val="B45309"/>
          </a:solidFill>
          <a:ln w="12700">
            <a:solidFill>
              <a:srgbClr val="B45309"/>
            </a:solidFill>
            <a:prstDash val="solid"/>
          </a:ln>
        </p:spPr>
      </p:sp>
      <p:sp>
        <p:nvSpPr>
          <p:cNvPr id="19" name="Shape 17"/>
          <p:cNvSpPr/>
          <p:nvPr/>
        </p:nvSpPr>
        <p:spPr>
          <a:xfrm>
            <a:off x="7930464"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21" name="Text 18"/>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Provatelo su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~/arc12/code/l02.S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first --name l02 --architecture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l02-qemu.prg32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l02-qemu.prg32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L'emulatore esegue il firmware vero su un chip emulato: si compila una volta</a:t>
            </a:r>
            <a:endParaRPr lang="en-US" sz="11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La cartuccia è compilata per l'architettura qemu: lo stesso sorgente, un altro file</a:t>
            </a:r>
            <a:endParaRPr lang="en-US" sz="11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Si carica la cartuccia con QEMU chiuso, poi lo si avvia e si sceglie Run Cartridge</a:t>
            </a:r>
            <a:endParaRPr lang="en-US" sz="11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I tasti vanno al terminale: frecce o WASD, Z o J per A, X o K per B</a:t>
            </a:r>
            <a:endParaRPr lang="en-US" sz="1100" dirty="0"/>
          </a:p>
        </p:txBody>
      </p:sp>
      <p:sp>
        <p:nvSpPr>
          <p:cNvPr id="17" name="Shape 15"/>
          <p:cNvSpPr/>
          <p:nvPr/>
        </p:nvSpPr>
        <p:spPr>
          <a:xfrm>
            <a:off x="7875600" y="91440"/>
            <a:ext cx="3767455" cy="274320"/>
          </a:xfrm>
          <a:prstGeom prst="rect">
            <a:avLst/>
          </a:prstGeom>
          <a:solidFill>
            <a:srgbClr val="FEF3C7"/>
          </a:solidFill>
          <a:ln w="12700">
            <a:solidFill>
              <a:srgbClr val="B45309"/>
            </a:solidFill>
            <a:prstDash val="solid"/>
          </a:ln>
        </p:spPr>
      </p:sp>
      <p:sp>
        <p:nvSpPr>
          <p:cNvPr id="18" name="Shape 16"/>
          <p:cNvSpPr/>
          <p:nvPr/>
        </p:nvSpPr>
        <p:spPr>
          <a:xfrm>
            <a:off x="7875600" y="91440"/>
            <a:ext cx="27432" cy="274320"/>
          </a:xfrm>
          <a:prstGeom prst="rect">
            <a:avLst/>
          </a:prstGeom>
          <a:solidFill>
            <a:srgbClr val="B45309"/>
          </a:solidFill>
          <a:ln w="12700">
            <a:solidFill>
              <a:srgbClr val="B45309"/>
            </a:solidFill>
            <a:prstDash val="solid"/>
          </a:ln>
        </p:spPr>
      </p:sp>
      <p:sp>
        <p:nvSpPr>
          <p:cNvPr id="19" name="Shape 17"/>
          <p:cNvSpPr/>
          <p:nvPr/>
        </p:nvSpPr>
        <p:spPr>
          <a:xfrm>
            <a:off x="7930464"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21" name="Text 18"/>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Provatelo sulla scheda</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~/arc12/code/l02.S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first --name l02 --architecture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l02-esp32c6.prg32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l02-esp32c6.prg32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Il firmware si scrive una volta per scheda, attraverso il cavo USB</a:t>
            </a:r>
            <a:endParaRPr lang="en-US" sz="11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La scheda crea la rete Wi-Fi PRG32: collegatevi con il vostro computer</a:t>
            </a:r>
            <a:endParaRPr lang="en-US" sz="11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Lo stesso comando di caricamento di PRG32-QT, con l'indirizzo della scheda</a:t>
            </a:r>
            <a:endParaRPr lang="en-US" sz="11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Schermo nero: confrontate il cablaggio del display con il firmware</a:t>
            </a:r>
            <a:endParaRPr lang="en-US" sz="1100" dirty="0"/>
          </a:p>
        </p:txBody>
      </p:sp>
      <p:sp>
        <p:nvSpPr>
          <p:cNvPr id="17" name="Shape 15"/>
          <p:cNvSpPr/>
          <p:nvPr/>
        </p:nvSpPr>
        <p:spPr>
          <a:xfrm>
            <a:off x="7875600" y="91440"/>
            <a:ext cx="3767455" cy="274320"/>
          </a:xfrm>
          <a:prstGeom prst="rect">
            <a:avLst/>
          </a:prstGeom>
          <a:solidFill>
            <a:srgbClr val="FEF3C7"/>
          </a:solidFill>
          <a:ln w="12700">
            <a:solidFill>
              <a:srgbClr val="B45309"/>
            </a:solidFill>
            <a:prstDash val="solid"/>
          </a:ln>
        </p:spPr>
      </p:sp>
      <p:sp>
        <p:nvSpPr>
          <p:cNvPr id="18" name="Shape 16"/>
          <p:cNvSpPr/>
          <p:nvPr/>
        </p:nvSpPr>
        <p:spPr>
          <a:xfrm>
            <a:off x="7875600" y="91440"/>
            <a:ext cx="27432" cy="274320"/>
          </a:xfrm>
          <a:prstGeom prst="rect">
            <a:avLst/>
          </a:prstGeom>
          <a:solidFill>
            <a:srgbClr val="B45309"/>
          </a:solidFill>
          <a:ln w="12700">
            <a:solidFill>
              <a:srgbClr val="B45309"/>
            </a:solidFill>
            <a:prstDash val="solid"/>
          </a:ln>
        </p:spPr>
      </p:sp>
      <p:sp>
        <p:nvSpPr>
          <p:cNvPr id="19" name="Shape 17"/>
          <p:cNvSpPr/>
          <p:nvPr/>
        </p:nvSpPr>
        <p:spPr>
          <a:xfrm>
            <a:off x="7930464"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21" name="Text 18"/>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Se non funziona</a:t>
            </a:r>
            <a:endParaRPr lang="en-US" sz="3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Vedete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Significa</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Fate così</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manca un punto di ingresso</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il prefisso non è quello del sorgente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first; controllate le tre righe .global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non è attivo in questo terminale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eseguite export.sh, o aprite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l'host non ascolta a quell'indirizzo</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avviate PRG32-QT; usate l'indirizzo della sua schermata Setup</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schermo nero, o di nuovo il menu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una funzione non ritorna, o ra non è stato salvato</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modalità debug: passo-passo in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ignora i tasti</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la tastiera va al terminale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fate clic sul terminale che ha lanciato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7875600" y="91440"/>
            <a:ext cx="3767455" cy="274320"/>
          </a:xfrm>
          <a:prstGeom prst="rect">
            <a:avLst/>
          </a:prstGeom>
          <a:solidFill>
            <a:srgbClr val="FEF3C7"/>
          </a:solidFill>
          <a:ln w="12700">
            <a:solidFill>
              <a:srgbClr val="B45309"/>
            </a:solidFill>
            <a:prstDash val="solid"/>
          </a:ln>
        </p:spPr>
      </p:sp>
      <p:sp>
        <p:nvSpPr>
          <p:cNvPr id="5" name="Shape 2"/>
          <p:cNvSpPr/>
          <p:nvPr/>
        </p:nvSpPr>
        <p:spPr>
          <a:xfrm>
            <a:off x="7875600" y="91440"/>
            <a:ext cx="27432" cy="274320"/>
          </a:xfrm>
          <a:prstGeom prst="rect">
            <a:avLst/>
          </a:prstGeom>
          <a:solidFill>
            <a:srgbClr val="B45309"/>
          </a:solidFill>
          <a:ln w="12700">
            <a:solidFill>
              <a:srgbClr val="B45309"/>
            </a:solidFill>
            <a:prstDash val="solid"/>
          </a:ln>
        </p:spPr>
      </p:sp>
      <p:sp>
        <p:nvSpPr>
          <p:cNvPr id="6" name="Shape 3"/>
          <p:cNvSpPr/>
          <p:nvPr/>
        </p:nvSpPr>
        <p:spPr>
          <a:xfrm>
            <a:off x="7930464" y="91440"/>
            <a:ext cx="27432" cy="274320"/>
          </a:xfrm>
          <a:prstGeom prst="rect">
            <a:avLst/>
          </a:prstGeom>
          <a:solidFill>
            <a:srgbClr val="B45309"/>
          </a:solidFill>
          <a:ln w="12700">
            <a:solidFill>
              <a:srgbClr val="B45309"/>
            </a:solidFill>
            <a:prstDash val="solid"/>
          </a:ln>
        </p:spPr>
      </p:sp>
      <p:pic>
        <p:nvPicPr>
          <p:cNvPr id="7"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8" name="Text 4"/>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Esercizi su PRG32</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PROVA TU</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Cambiate la stringa del titolo e il suo colore in giallo (0xffe0); eseguite di nuovo</a:t>
            </a:r>
            <a:endParaRPr lang="en-US" sz="2000" dirty="0"/>
          </a:p>
        </p:txBody>
      </p:sp>
      <p:sp>
        <p:nvSpPr>
          <p:cNvPr id="6" name="Text 4"/>
          <p:cNvSpPr txBox="1"/>
          <p:nvPr/>
        </p:nvSpPr>
        <p:spPr>
          <a:xfrm>
            <a:off x="548640" y="21945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176272"/>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Fate crescere la barra a velocità doppia, poi quadrupla, cambiando una sola istruzione</a:t>
            </a:r>
            <a:endParaRPr lang="en-US" sz="2000" dirty="0"/>
          </a:p>
        </p:txBody>
      </p:sp>
      <p:sp>
        <p:nvSpPr>
          <p:cNvPr id="8" name="Text 6"/>
          <p:cNvSpPr txBox="1"/>
          <p:nvPr/>
        </p:nvSpPr>
        <p:spPr>
          <a:xfrm>
            <a:off x="548640" y="295351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935224"/>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Fate accorciare la barra invece di farla crescere. Che cosa accade quando il contatore supera lo zero?</a:t>
            </a:r>
            <a:endParaRPr lang="en-US" sz="2000" dirty="0"/>
          </a:p>
        </p:txBody>
      </p:sp>
      <p:sp>
        <p:nvSpPr>
          <p:cNvPr id="10" name="Text 8"/>
          <p:cNvSpPr txBox="1"/>
          <p:nvPr/>
        </p:nvSpPr>
        <p:spPr>
          <a:xfrm>
            <a:off x="548640" y="371246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694176"/>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In PRG32-QT eseguite first_update passo-passo e annotate t0 e t1 dopo ogni istruzione</a:t>
            </a:r>
            <a:endParaRPr lang="en-US" sz="2000" dirty="0"/>
          </a:p>
        </p:txBody>
      </p:sp>
      <p:sp>
        <p:nvSpPr>
          <p:cNvPr id="12" name="Text 10"/>
          <p:cNvSpPr txBox="1"/>
          <p:nvPr/>
        </p:nvSpPr>
        <p:spPr>
          <a:xfrm>
            <a:off x="548640" y="44714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453128"/>
            <a:ext cx="10436047" cy="438912"/>
          </a:xfrm>
          <a:prstGeom prst="rect">
            <a:avLst/>
          </a:prstGeom>
          <a:noFill/>
          <a:ln/>
        </p:spPr>
        <p:txBody>
          <a:bodyPr wrap="square" lIns="0" tIns="0" rIns="0" bIns="0" rtlCol="0" anchor="ctr"/>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Disegnate una seconda barra, rossa, larga quanto il contatore modulo 64</a:t>
            </a:r>
            <a:endParaRPr lang="en-US" sz="20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Risultato atteso</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Nell'esercizio 3 il contatore va a 0, poi a 0xFFFFFFFF: con andi 255 la barra salta a 255 e si accorcia. Conservate l'osservazione: la spiega la Lezione 05.</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Primo contatto: l'assembly RISC-V su PRG32: il codice</dc:title>
  <dc:subject>Lezione 02</dc:subject>
  <dc:creator>Raffaele Montella</dc:creator>
  <cp:lastModifiedBy>Raffaele Montella</cp:lastModifiedBy>
  <cp:revision>1</cp:revision>
  <dcterms:created xsi:type="dcterms:W3CDTF">2026-10-16T23:36:44Z</dcterms:created>
  <dcterms:modified xsi:type="dcterms:W3CDTF">2026-10-16T23:36:44Z</dcterms:modified>
</cp:coreProperties>
</file>