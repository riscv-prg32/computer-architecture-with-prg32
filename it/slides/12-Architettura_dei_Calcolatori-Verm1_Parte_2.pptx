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4ca77e84-defd-db00-3fcc-0d7efac9092d}">
          <p14:sldIdLst>
            <p14:sldId id="256"/>
            <p14:sldId id="257"/>
            <p14:sldId id="258"/>
            <p14:sldId id="259"/>
          </p14:sldIdLst>
        </p14:section>
        <p14:section name="Passo 1: nomi per i bit" id="{dbc1fa27-5635-a9e8-5836-c5cf4516eebc}">
          <p14:sldIdLst>
            <p14:sldId id="260"/>
          </p14:sldIdLst>
        </p14:section>
        <p14:section name="Passo 2: la guida" id="{21865116-3f0d-6113-cd88-903743ff2616}">
          <p14:sldIdLst>
            <p14:sldId id="261"/>
            <p14:sldId id="262"/>
          </p14:sldIdLst>
        </p14:section>
        <p14:section name="Passo 4: osservare una decisione" id="{35890d03-2bb5-ae67-a99c-1fc984fee85a}">
          <p14:sldIdLst>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tutorial del progetto. Alla fine della Parte 1 la testa attraversava lo schermo da sola; oggi entra in gioco il giocatore. Si aggiunge la guida con il joystick, insieme a un cibo che compare a caso, un punteggio e un suono. Tutto poggia sulle quattro lezioni del blocco di logica: un pulsante è un bit selezionato da una maschera, la regola che vieta l'inversione a U è un solo XOR, e il movimento si legge da una tabella come lo selezionerebbe un multiplexer. La frase di Sid Meier in copertina nomina ciò che si aggiunge: scelte che contano.
Stato di apprendimento: DA COMPRENDERE OGGI, alla fine di questa lezione lo spiegate, lo seguite passo passo e lo applicate da soli; DA UTILIZZARE OGGI, oggi seguite e usate la ricetta; come funziona dentro si spiega più avanti, o non fa parte del corso; DA COMPRENDERE PIÙ AVANTI, riconoscete il nome e lo scopo; lo spiega una lezione successiva. Una slide senza etichetta è contesto: una storia, un esempio, una domanda, un esercizio.
Stato di apprendimento di questa lezione. DA COMPRENDERE OGGI: le maschere di bit; i codici; gli array in memoria; gli ingressi con pull-up; l'algebra di Boole; la virgola fissa; i multiplexer; istruzioni con o senza segno; comparatori e parità; gli argomenti in a0 ... a7. DA UTILIZZARE OGGI: la convenzione di chiamata (Lezione 18) e, usati senza essere studiati nel corso, gli strumenti di PRG32, le chiamate del runtime PRG32, il debugger di PRG32-QT. DA COMPRENDERE PIÙ AVANTI: niente. Una slide senza etichetta è contesto: una storia, un esempio, una domanda, un esercizio.
Percorso. I risultati di oggi: (1) leggere i pulsanti con le maschere e rifiutare un'inversione a U con un solo XOR; (2) confrontare posizioni con XOR e OR per riconoscere il cibo; (3) tenere e mostrare un punteggio. Si appoggia su: le maschere di bit (Lezione 08); i codici (Lezione 11); gli array in memoria (Lezione 04); gli ingressi con pull-up (Lezione 10); l'algebra di Boole (Lezione 08). Prossimo passo: Lezione 13, Macchine sequenziali.
Ponte. Nella Lezione 07 una funzione che ne chiama un'altra salvava ra in un frame di 16 byte. Oggi le funzioni di Verm1 si chiamano più in profondità: ciascuna salva ra una volta, all'ingresso, e lo ripristina prima di ret. La Lezione 18 enuncia le regole: quali registri una chiamata può cambiare e quali deve conservare. Richiamo: Una funzione chiama altre due funzioni. Quante volte deve salvare ra, e dove?
Per il docente: Secondo tutorial del progetto. Usa le Lezioni da 08 a 11: operatori booleani e tabelle di verità (08), XOR e uguaglianza, semplificazione (09), pulsanti come interruttori con pull-up (10), comparatori, multiplexer e ROM come tabella (11). Gli studenti partono dalla propria Parte 1 funzionante; il file di riferimento è verm1/verm1_part2.S.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Cinque risultati: una testa guidata in quattro direzioni; una regola che vieta l'inversione a U, scritta con uno XOR e un confronto; un movimento preso da due piccole tabelle invece che da quattro salti; un cibo che compare in una cella casuale, viene mangiato e ricompare; e un punteggio, disegnato come piccole tacche accanto al titolo, con un suono a ogni boccone. Tre dei cinque riguardano lo scrivere bene il programma più che il farlo semplicemente funzionare, e questa enfasi sulla qualità di una soluzione è voluta.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riga collega un'idea delle lezioni di logica a un punto del programma di oggi. L'AND come maschera seleziona un pulsante dalla parola dei pulsanti. Una tavola di verità diventa il codice delle quattro direzioni. Lo XOR, che vale 1 dove due bit differiscono, fornisce sia la regola dell'inversione a U sia il test di uguaglianza. Il pull-up della Lezione 10 spiega perché un pulsante premuto arriva come 1. Il comparatore, il multiplexer e la ROM della Lezione 11 diventano il test "testa sul cibo" e le tabelle dx e dy. Il tutorial è dunque un'applicazione dell'intero blocco, non di una singola lezione.
Per il docente: Ogni riga è qualcosa che gli studenti hanno visto come circuito. Oggi le stesse idee sono istruzioni.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sessione parte da una Parte 1 che gira: si apre e si compila il file, e si verifica che la testa attraversi lo schermo. Se non lo fa, si usa al suo posto il file di riferimento della Parte 1. Oggi il file cambia in tre passi, e si esegue dopo il secondo e dopo il terzo. La quarta riga enuncia la convenzione di ogni tutorial da qui in avanti: una slide marcata CHANGED sostituisce codice già presente, e una slide marcata NEW aggiunge codice.
Per il docente: I file di riferimento sono nella cartella verm1 del materiale del corso. Tenete una copia di ogni parte finita: verm1_part1.S, verm1_part2.S e così 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codici delle direzioni sono stati scelti di proposito. Il bit 0 dice se il movimento è verticale; il bit 1 se è "all'indietro", verso coordinate minori. Di conseguenza una direzione e la sua opposta differiscono nel bit 1 e solo in quello: RIGHT è 00 e LEFT è 10, DOWN è 01 e UP è 11. Lo XOR di due direzioni opposte vale quindi sempre 10, cioè 2. Una codifica ben scelta riduce una regola a una sola porta, una lezione della Lezione 11 applicata direttamente. La didascalia ricorda una convenzione dello schermo: y cresce verso il basso, quindi DOWN è +1.
DA COMPRENDERE OGGI: i codici.
Per il docente: Il bit 0 dice verticale, il bit 1 dice all'indietro. Una direzione e la sua opposta differiscono nel bit 1 e solo lì: codice XOR opposta è sempre 10 in binario, cioè 2. Una buona codifica trasforma una regola in una sola porta: la lezione della Lezione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percorso di un pulsante, riassunto dalla Lezione 10. Il piedino è tenuto a 3,3 V da una resistenza di pull-up; premendo il pulsante lo si collega alla massa, quindi il piedino legge 0 quando è premuto. Il runtime inverte i livelli e impacchetta tutti i pulsanti in una parola, con 1 che significa premuto. La tabella dà la maschera di ogni pulsante di direzione. Ne seguono due conseguenze usate subito: UP e RIGHT premuti insieme danno 0x04 OR 0x02, cioè 0x06; e a0 AND 0x04 vale zero esattamente quando UP non è premuto.
DA COMPRENDERE OGGI: gli ingressi con pull-up.
Per il docente: Il kit ha pull-up interni di circa 45 kilohm; gli interruttori vanno a massa. La cartuccia non vede mai il livello elettrico: il runtime dà la stessa parola sulla scheda, su QEMU e su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regola espressa come tavola di verità, di cui sono mostrate sei delle sedici righe. Con la testa che va a destra, una richiesta di RIGHT dà 00 e la testa prosegue; una richiesta di DOWN o UP dà 01 o 11, e la testa gira; una richiesta di LEFT dà 10, cioè 2, e viene rifiutata. Lo stesso vale per DOWN e UP. Completando la tavola e contando i rifiuti se ne trovano quattro, uno per direzione. Con codici scelti a caso la stessa regola richiederebbe quattro confronti separati: la codifica ha assorbito la complessità.
DA COMPRENDERE OGGI: l'algebra di Boole.
Per il docente: Sedici righe in tutto: chiedere agli studenti di completare la tabella e di contare i rifiuti. Sono quattro, uno per direzione. Senza la codifica accurata la regola richiederebbe quattro confronti.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esegue la cartuccia in modalità debug con verm1_update visualizzata. Prima si osserva la telemetria tenendo premuto un pulsante: la maschera d'ingresso vale 0x04 per UP e 0x01 per LEFT. Si imposta poi un breakpoint su xor t3, t2, t1. Tenendo premuto LEFT mentre la testa va a destra e riprendendo l'esecuzione, il programma si ferma sullo XOR. I registri valgono t1 = 0, la direzione, e t2 = 2, la richiesta. Un passo porta t3 a 2; altri due mostrano il salto eseguito e lo sw saltato. La regola si osserva così operare su valori reali.
DA UTILIZZARE OGGI: il debugger di PRG32-QT (si usa, non si studia, in questo corso).
Per il docente: Abbassare la velocità del debugger a 0.25x se serve tempo per premere. Resume ignora una volta il breakpoint corrente: ogni Resume esegue un frame. Senza pulsanti premuti t2 è il desiderio precedente e t3 vale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contenuti attesi dei registri, con la testa che va a destra. Senza nulla premuto, la richiesta è quella precedente e lo XOR vale 0. Con DOWN vale 1, con UP 3, ed entrambe vengono memorizzate. Con LEFT vale 2, l'inversione a U, e nulla viene memorizzato. L'ultima riga rivela la priorità tra i test: con UP e RIGHT insieme prevale UP, perché è verificato per ultimo. a0 va letto alla prima istruzione dopo la chiamata, perché più avanti nel frame viene sovrascritto, un caso della convenzione sui registri salvati dal chiamante studiata nella Lezione 18.
DA UTILIZZARE OGGI: il debugger di PRG32-QT (si usa, non si studia, in questo corso).
Per il docente: Tutte con la testa che va a destra. L'ultima riga mostra la priorità dei test: UP è esaminato per ultimo e vince. a0 viene sovrascritto più avanti nel frame: va letto alla prima istruzione dopo la chiamata.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variabili si possono leggere anche in memoria. Dopo la t0, dir, t0 contiene l'indirizzo di dir, che si inserisce nel campo Memory. Le variabili si susseguono nell'ordine del file, quattro byte ciascuna: dir, want, step_q8, score, food_x, food_y. Dopo che il verme ha mangiato una volta, si mette in pausa il programma e si legge il punteggio: 01 00 00 00, il byte meno significativo per primo. Si legge poi la posizione del cibo e la si confronta con la cella rossa sullo schermo, chiudendo il cerchio tra memoria e display.
DA UTILIZZARE OGGI: il debugger di PRG32-QT (si usa, non si studia, in questo corso).
Per il docente: head_x e head_y sono le due parole prima di dir. Little-endian: il byte più basso viene per primo.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un bit per pulsante, DOWN vale 0x08 e RIGHT 0x02. Premuti insieme, entrambi i bit valgono 1, quindi il valore è l'OR delle due maschere.
Per la seconda si applica la regola: la richiesta rifiutata è quella il cui XOR con la direzione corrente vale 2. La direzione è 3, 11 in binario; la domanda è quale codice ne differisca nel solo bit 1.
Per il docente: 1. Risposta: C. 0x08 OR 0x02 = 0x0a: un bit per pulsante.
2. Risposta: B. 3 XOR 1 = 2: DOWN è l'opposto di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la prima domanda: le tabelle sono fatte di parole, e una parola è di quattro byte. La voce k si trova a 4k byte dall'inizio della tabella, e uno scorrimento a sinistra di 2 moltiplica per 4.
Per la seconda: lo XOR dà 1 in ogni posizione in cui i due bit differiscono, quindi un risultato tutto a zero significa che nessuna posizione differisce, cioè che i due valori sono uguali.
Per il docente: 1. Risposta: B. Gli elementi sono parole: l'elemento k sta allo scostamento 4k.
2. Risposta: C. XOR vale 1 dove i bit differiscono: nessuna differenza, tutti zeri.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situazione attuale. Il giocatore è ora nel gioco: una richiesta, una regola, un movimento, una ricompensa. La logica di quattro lezioni è diventata istruzioni: bit e maschere, lo XOR come comparatore, una tabella come selettore. Eppure il verme non ha corpo, nulla può andare storto, e il gioco non finisce mai. Il prossimo blocco, su stato e memoria, fornisce i concetti necessari, e la Parte 3 aggiunge un corpo che cresce, le collisioni, una schermata del titolo e una di fine partita.
Stato di apprendimento, riepilogo. DA COMPRENDERE OGGI: le maschere di bit; i codici; gli array in memoria; gli ingressi con pull-up; l'algebra di Boole; la virgola fissa; i multiplexer; istruzioni con o senza segno; comparatori e parità; gli argomenti in a0 ... a7. DA UTILIZZARE OGGI: la convenzione di chiamata (Lezione 18) e, usati senza essere studiati nel corso, gli strumenti di PRG32, le chiamate del runtime PRG32, il debugger di PRG32-QT. DA COMPRENDERE PIÙ AVANTI: niente. Una slide senza etichetta è contesto: una storia, un esempio, una domanda, un esercizio. Il filo della lezione: Ogni regola del gioco è diventata qualche istruzione logica: una maschera, uno XOR, un confronto. Prossimo passo: i circuiti che ricordano, e gli stati di un gioco. Biglietto d'uscita (da due a quattro minuti, da soli, su carta): 1. Le direzioni sono codificate RIGHT 0, DOWN 1, LEFT 2, UP 3. Il verme va a RIGHT e il giocatore spinge LEFT. Che cosa dà xor t3, t2, t1, e che cosa ne fa il codice?
Per il docente: File di riferimento di questa parte: verm1/verm1_part2.S (231 righe).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Architettura dei Calcolatori  |  Lezione 12: Verm1, parte 2  |  A.A.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ARCHITETTURA DEI CALCOLATORI  ·  LEZIONE 12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parte 2: la guida, il cibo e un punteggio</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Il giocatore entra nel gioco: bit, maschere, una regola in un solo XOR, una tabella che seleziona</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“Un gioco è una serie di scelte interessanti.”</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Sid Meier</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Università degli Studi di Napoli “Parthenope”  ·  A.A.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Implementazione di riferimento di Verm1: contributo di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Presentazione della lezione. I listati, il programma completo e come provarlo sono nella presentazione del codice:</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12-Architettura_dei_Calcolatori-Verm1_Parte_2-Lab.pptx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2.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8910777" y="91440"/>
            <a:ext cx="2732278" cy="274320"/>
          </a:xfrm>
          <a:prstGeom prst="rect">
            <a:avLst/>
          </a:prstGeom>
          <a:solidFill>
            <a:srgbClr val="F3E8FF"/>
          </a:solidFill>
          <a:ln w="12700">
            <a:solidFill>
              <a:srgbClr val="7E22CE"/>
            </a:solidFill>
            <a:prstDash val="dash"/>
          </a:ln>
        </p:spPr>
      </p:sp>
      <p:sp>
        <p:nvSpPr>
          <p:cNvPr id="17" name="Shape 14"/>
          <p:cNvSpPr/>
          <p:nvPr/>
        </p:nvSpPr>
        <p:spPr>
          <a:xfrm>
            <a:off x="8938209" y="128016"/>
            <a:ext cx="45720" cy="45720"/>
          </a:xfrm>
          <a:prstGeom prst="rect">
            <a:avLst/>
          </a:prstGeom>
          <a:solidFill>
            <a:srgbClr val="7E22CE"/>
          </a:solidFill>
          <a:ln w="12700">
            <a:solidFill>
              <a:srgbClr val="7E22CE"/>
            </a:solidFill>
            <a:prstDash val="solid"/>
          </a:ln>
        </p:spPr>
      </p:sp>
      <p:sp>
        <p:nvSpPr>
          <p:cNvPr id="18" name="Shape 15"/>
          <p:cNvSpPr/>
          <p:nvPr/>
        </p:nvSpPr>
        <p:spPr>
          <a:xfrm>
            <a:off x="8938209" y="205740"/>
            <a:ext cx="45720" cy="45720"/>
          </a:xfrm>
          <a:prstGeom prst="rect">
            <a:avLst/>
          </a:prstGeom>
          <a:solidFill>
            <a:srgbClr val="7E22CE"/>
          </a:solidFill>
          <a:ln w="12700">
            <a:solidFill>
              <a:srgbClr val="7E22CE"/>
            </a:solidFill>
            <a:prstDash val="solid"/>
          </a:ln>
        </p:spPr>
      </p:sp>
      <p:sp>
        <p:nvSpPr>
          <p:cNvPr id="19" name="Shape 16"/>
          <p:cNvSpPr/>
          <p:nvPr/>
        </p:nvSpPr>
        <p:spPr>
          <a:xfrm>
            <a:off x="8938209"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038793" y="128016"/>
            <a:ext cx="201168" cy="201168"/>
          </a:xfrm>
          <a:prstGeom prst="rect">
            <a:avLst/>
          </a:prstGeom>
        </p:spPr>
      </p:pic>
      <p:sp>
        <p:nvSpPr>
          <p:cNvPr id="21" name="Text 17"/>
          <p:cNvSpPr txBox="1"/>
          <p:nvPr/>
        </p:nvSpPr>
        <p:spPr>
          <a:xfrm>
            <a:off x="9294825" y="91440"/>
            <a:ext cx="2311654"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DA COMPRENDERE PIÙ AVANTI</a:t>
            </a:r>
            <a:endParaRPr lang="en-US" sz="1100" dirty="0"/>
          </a:p>
        </p:txBody>
      </p:sp>
      <p:sp>
        <p:nvSpPr>
          <p:cNvPr id="22" name="Shape 18"/>
          <p:cNvSpPr/>
          <p:nvPr/>
        </p:nvSpPr>
        <p:spPr>
          <a:xfrm>
            <a:off x="6675069" y="91440"/>
            <a:ext cx="2125980" cy="274320"/>
          </a:xfrm>
          <a:prstGeom prst="rect">
            <a:avLst/>
          </a:prstGeom>
          <a:solidFill>
            <a:srgbClr val="FEF3C7"/>
          </a:solidFill>
          <a:ln w="12700">
            <a:solidFill>
              <a:srgbClr val="B45309"/>
            </a:solidFill>
            <a:prstDash val="solid"/>
          </a:ln>
        </p:spPr>
      </p:sp>
      <p:sp>
        <p:nvSpPr>
          <p:cNvPr id="23" name="Shape 19"/>
          <p:cNvSpPr/>
          <p:nvPr/>
        </p:nvSpPr>
        <p:spPr>
          <a:xfrm>
            <a:off x="6675069" y="91440"/>
            <a:ext cx="27432" cy="274320"/>
          </a:xfrm>
          <a:prstGeom prst="rect">
            <a:avLst/>
          </a:prstGeom>
          <a:solidFill>
            <a:srgbClr val="B45309"/>
          </a:solidFill>
          <a:ln w="12700">
            <a:solidFill>
              <a:srgbClr val="B45309"/>
            </a:solidFill>
            <a:prstDash val="solid"/>
          </a:ln>
        </p:spPr>
      </p:sp>
      <p:sp>
        <p:nvSpPr>
          <p:cNvPr id="24" name="Shape 20"/>
          <p:cNvSpPr/>
          <p:nvPr/>
        </p:nvSpPr>
        <p:spPr>
          <a:xfrm>
            <a:off x="672993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6803085" y="128016"/>
            <a:ext cx="201168" cy="201168"/>
          </a:xfrm>
          <a:prstGeom prst="rect">
            <a:avLst/>
          </a:prstGeom>
        </p:spPr>
      </p:pic>
      <p:sp>
        <p:nvSpPr>
          <p:cNvPr id="26" name="Text 21"/>
          <p:cNvSpPr txBox="1"/>
          <p:nvPr/>
        </p:nvSpPr>
        <p:spPr>
          <a:xfrm>
            <a:off x="7059117" y="91440"/>
            <a:ext cx="1705356"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endParaRPr lang="en-US" sz="1100" dirty="0"/>
          </a:p>
        </p:txBody>
      </p:sp>
      <p:sp>
        <p:nvSpPr>
          <p:cNvPr id="27" name="Shape 22"/>
          <p:cNvSpPr/>
          <p:nvPr/>
        </p:nvSpPr>
        <p:spPr>
          <a:xfrm>
            <a:off x="4352747" y="91440"/>
            <a:ext cx="2212594" cy="274320"/>
          </a:xfrm>
          <a:prstGeom prst="rect">
            <a:avLst/>
          </a:prstGeom>
          <a:solidFill>
            <a:srgbClr val="E0F2FE"/>
          </a:solidFill>
          <a:ln w="12700">
            <a:solidFill>
              <a:srgbClr val="0369A1"/>
            </a:solidFill>
            <a:prstDash val="solid"/>
          </a:ln>
        </p:spPr>
      </p:sp>
      <p:sp>
        <p:nvSpPr>
          <p:cNvPr id="28" name="Shape 23"/>
          <p:cNvSpPr/>
          <p:nvPr/>
        </p:nvSpPr>
        <p:spPr>
          <a:xfrm>
            <a:off x="435274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4480763" y="128016"/>
            <a:ext cx="201168" cy="201168"/>
          </a:xfrm>
          <a:prstGeom prst="rect">
            <a:avLst/>
          </a:prstGeom>
        </p:spPr>
      </p:pic>
      <p:sp>
        <p:nvSpPr>
          <p:cNvPr id="30" name="Text 24"/>
          <p:cNvSpPr txBox="1"/>
          <p:nvPr/>
        </p:nvSpPr>
        <p:spPr>
          <a:xfrm>
            <a:off x="4736795" y="91440"/>
            <a:ext cx="179197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avrete alla fine</a:t>
            </a:r>
            <a:endParaRPr lang="en-US" sz="3200" dirty="0"/>
          </a:p>
        </p:txBody>
      </p:sp>
      <p:sp>
        <p:nvSpPr>
          <p:cNvPr id="3" name="Text 1"/>
          <p:cNvSpPr txBox="1"/>
          <p:nvPr/>
        </p:nvSpPr>
        <p:spPr>
          <a:xfrm>
            <a:off x="548640" y="155854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54025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 testa di un verme che guidate con il joystick, in quattro direzioni</a:t>
            </a:r>
            <a:endParaRPr lang="en-US" sz="2200" dirty="0"/>
          </a:p>
        </p:txBody>
      </p:sp>
      <p:sp>
        <p:nvSpPr>
          <p:cNvPr id="5" name="Text 3"/>
          <p:cNvSpPr txBox="1"/>
          <p:nvPr/>
        </p:nvSpPr>
        <p:spPr>
          <a:xfrm>
            <a:off x="548640" y="24546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3636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Una regola che vieta l'inversione a U, scritta con un solo XOR e un solo confronto</a:t>
            </a:r>
            <a:endParaRPr lang="en-US" sz="2200" dirty="0"/>
          </a:p>
        </p:txBody>
      </p:sp>
      <p:sp>
        <p:nvSpPr>
          <p:cNvPr id="7" name="Text 5"/>
          <p:cNvSpPr txBox="1"/>
          <p:nvPr/>
        </p:nvSpPr>
        <p:spPr>
          <a:xfrm>
            <a:off x="548640" y="3593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57530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movimento preso da due piccole tabelle invece che da quattro salti</a:t>
            </a:r>
            <a:endParaRPr lang="en-US" sz="2200" dirty="0"/>
          </a:p>
        </p:txBody>
      </p:sp>
      <p:sp>
        <p:nvSpPr>
          <p:cNvPr id="9" name="Text 7"/>
          <p:cNvSpPr txBox="1"/>
          <p:nvPr/>
        </p:nvSpPr>
        <p:spPr>
          <a:xfrm>
            <a:off x="548640" y="448970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47141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cibo che compare in una cella a caso, viene mangiato, e ricompare</a:t>
            </a:r>
            <a:endParaRPr lang="en-US" sz="2200" dirty="0"/>
          </a:p>
        </p:txBody>
      </p:sp>
      <p:sp>
        <p:nvSpPr>
          <p:cNvPr id="11" name="Text 9"/>
          <p:cNvSpPr txBox="1"/>
          <p:nvPr/>
        </p:nvSpPr>
        <p:spPr>
          <a:xfrm>
            <a:off x="548640" y="538581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36752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Un punteggio, mostrato come tacche nella riga del titolo, e un suono quando il verme mangia</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prende la Parte 2 dalle lezioni</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4910643"/>
                <a:gridCol w="472876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Dove compare oggi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08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AND come maschera: tenere un bit, azzerare gli altri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pulsante dalla parola dei pulsanti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08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tabelle di verità: un codice per ogni caso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 quattro direzioni in due bit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09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XOR vale 1 dove due bit differiscono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regola dell'inversione a U; il test di uguaglianza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 pulsante è un interruttore verso massa con un pull-up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perché premuto arriva come 1 solo dopo che il runtime lo inverte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Lezione 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comparatore, multiplexer, ROM come tabella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 testa sul cibo; dx e dy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Partire da una Parte 1 che gira</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Aprite il vostro verm1.S della Parte 1, compilatelo ed eseguitelo: la testa deve attraversare lo schermo</a:t>
            </a:r>
            <a:endParaRPr lang="en-US" sz="2200" dirty="0"/>
          </a:p>
        </p:txBody>
      </p:sp>
      <p:sp>
        <p:nvSpPr>
          <p:cNvPr id="5" name="Shape 3"/>
          <p:cNvSpPr/>
          <p:nvPr/>
        </p:nvSpPr>
        <p:spPr>
          <a:xfrm>
            <a:off x="548640" y="271246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0604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Se non lo fa, copiate il file di riferimento verm1_part1.S e partite da quello</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Oggi modificate il file in tre passi, e lo eseguite dopo il secondo e dopo il terzo</a:t>
            </a:r>
            <a:endParaRPr lang="en-US" sz="2200" dirty="0"/>
          </a:p>
        </p:txBody>
      </p:sp>
      <p:sp>
        <p:nvSpPr>
          <p:cNvPr id="9" name="Shape 7"/>
          <p:cNvSpPr/>
          <p:nvPr/>
        </p:nvSpPr>
        <p:spPr>
          <a:xfrm>
            <a:off x="548640" y="440817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0174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 slide con MODIFICATO sostituiscono codice che avete; quelle con NUOVO aggiungono codice</a:t>
            </a:r>
            <a:endParaRPr lang="en-US" sz="2200" dirty="0"/>
          </a:p>
        </p:txBody>
      </p:sp>
      <p:sp>
        <p:nvSpPr>
          <p:cNvPr id="11" name="Shape 9"/>
          <p:cNvSpPr/>
          <p:nvPr/>
        </p:nvSpPr>
        <p:spPr>
          <a:xfrm>
            <a:off x="548640" y="525602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Tenete aperto il debugger di PRG32-QT: il passo 4 lo usa per osservare una decisione mentre viene presa</a:t>
            </a:r>
            <a:endParaRPr lang="en-US" sz="2200" dirty="0"/>
          </a:p>
        </p:txBody>
      </p:sp>
      <p:pic>
        <p:nvPicPr>
          <p:cNvPr id="13" name="Image 0" descr="/Users/raffaelemontella/devel/riscv-prg32/computer-architecture-with-prg32/tools/assets/verm1_p2.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Verm1 alla fine della Parte 2</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Un codice scelto con cura: le quattro direzioni</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182192"/>
                <a:gridCol w="1182192"/>
                <a:gridCol w="1182192"/>
                <a:gridCol w="1182192"/>
                <a:gridCol w="1182192"/>
                <a:gridCol w="336470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Direzione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Codice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Bit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Bit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Opposta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LEFT = 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UP =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RIGHT =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DOWN =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Sullo schermo y cresce verso il basso: DOWN è +1, UP è -1.</a:t>
            </a:r>
            <a:endParaRPr lang="en-US" sz="1500" dirty="0"/>
          </a:p>
        </p:txBody>
      </p:sp>
      <p:sp>
        <p:nvSpPr>
          <p:cNvPr id="5" name="Shape 2"/>
          <p:cNvSpPr/>
          <p:nvPr/>
        </p:nvSpPr>
        <p:spPr>
          <a:xfrm>
            <a:off x="8708212" y="91440"/>
            <a:ext cx="2934843" cy="274320"/>
          </a:xfrm>
          <a:prstGeom prst="rect">
            <a:avLst/>
          </a:prstGeom>
          <a:solidFill>
            <a:srgbClr val="E0F2FE"/>
          </a:solidFill>
          <a:ln w="12700">
            <a:solidFill>
              <a:srgbClr val="0369A1"/>
            </a:solidFill>
            <a:prstDash val="solid"/>
          </a:ln>
        </p:spPr>
      </p:sp>
      <p:sp>
        <p:nvSpPr>
          <p:cNvPr id="6" name="Shape 3"/>
          <p:cNvSpPr/>
          <p:nvPr/>
        </p:nvSpPr>
        <p:spPr>
          <a:xfrm>
            <a:off x="8708212"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36228" y="128016"/>
            <a:ext cx="201168" cy="201168"/>
          </a:xfrm>
          <a:prstGeom prst="rect">
            <a:avLst/>
          </a:prstGeom>
        </p:spPr>
      </p:pic>
      <p:sp>
        <p:nvSpPr>
          <p:cNvPr id="8" name="Text 4"/>
          <p:cNvSpPr txBox="1"/>
          <p:nvPr/>
        </p:nvSpPr>
        <p:spPr>
          <a:xfrm>
            <a:off x="9092260" y="91440"/>
            <a:ext cx="251421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i codici</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Dal dito al bit</a:t>
            </a:r>
            <a:endParaRPr lang="en-US" sz="3200" dirty="0"/>
          </a:p>
        </p:txBody>
      </p:sp>
      <p:sp>
        <p:nvSpPr>
          <p:cNvPr id="3" name="Shape 1"/>
          <p:cNvSpPr/>
          <p:nvPr/>
        </p:nvSpPr>
        <p:spPr>
          <a:xfrm>
            <a:off x="7657668" y="91440"/>
            <a:ext cx="3985387" cy="274320"/>
          </a:xfrm>
          <a:prstGeom prst="rect">
            <a:avLst/>
          </a:prstGeom>
          <a:solidFill>
            <a:srgbClr val="E0F2FE"/>
          </a:solidFill>
          <a:ln w="12700">
            <a:solidFill>
              <a:srgbClr val="0369A1"/>
            </a:solidFill>
            <a:prstDash val="solid"/>
          </a:ln>
        </p:spPr>
      </p:sp>
      <p:sp>
        <p:nvSpPr>
          <p:cNvPr id="4" name="Shape 2"/>
          <p:cNvSpPr/>
          <p:nvPr/>
        </p:nvSpPr>
        <p:spPr>
          <a:xfrm>
            <a:off x="7657668"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7785684" y="128016"/>
            <a:ext cx="201168" cy="201168"/>
          </a:xfrm>
          <a:prstGeom prst="rect">
            <a:avLst/>
          </a:prstGeom>
        </p:spPr>
      </p:pic>
      <p:sp>
        <p:nvSpPr>
          <p:cNvPr id="6" name="Text 3"/>
          <p:cNvSpPr txBox="1"/>
          <p:nvPr/>
        </p:nvSpPr>
        <p:spPr>
          <a:xfrm>
            <a:off x="8041716" y="91440"/>
            <a:ext cx="356476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gli ingressi con pull-up</a:t>
            </a:r>
            <a:endParaRPr lang="en-US" sz="1100" dirty="0"/>
          </a:p>
        </p:txBody>
      </p:sp>
      <p:pic>
        <p:nvPicPr>
          <p:cNvPr id="8" name="Image 1" descr="preencoded.png">    </p:cNvPr>
          <p:cNvPicPr>
            <a:picLocks noChangeAspect="1"/>
          </p:cNvPicPr>
          <p:nvPr/>
        </p:nvPicPr>
        <p:blipFill>
          <a:blip r:embed="rId2"/>
          <a:stretch>
            <a:fillRect/>
          </a:stretch>
        </p:blipFill>
        <p:spPr>
          <a:xfrm>
            <a:off x="548640" y="1520141"/>
            <a:ext cx="3749040" cy="345195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1508760"/>
          <a:ext cx="6675120" cy="914400"/>
        </p:xfrm>
        <a:graphic>
          <a:graphicData uri="http://schemas.openxmlformats.org/drawingml/2006/table">
            <a:tbl>
              <a:tblPr/>
              <a:tblGrid>
                <a:gridCol w="1600200"/>
                <a:gridCol w="1600200"/>
                <a:gridCol w="2286000"/>
                <a:gridCol w="118872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Pulsante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Piedino</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Dopo il runtime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Maschera</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rilasciato</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1 (3,3 V)</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 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LEFT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0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RIGHT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1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0x02</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UP</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2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0x04</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DOWN</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3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0x08</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0" name="Shape 4"/>
          <p:cNvSpPr/>
          <p:nvPr/>
        </p:nvSpPr>
        <p:spPr>
          <a:xfrm>
            <a:off x="4480560" y="4228211"/>
            <a:ext cx="146304" cy="146304"/>
          </a:xfrm>
          <a:prstGeom prst="rect">
            <a:avLst/>
          </a:prstGeom>
          <a:solidFill>
            <a:srgbClr val="0E7C86"/>
          </a:solidFill>
          <a:ln w="12700">
            <a:solidFill>
              <a:srgbClr val="0E7C86"/>
            </a:solidFill>
            <a:prstDash val="solid"/>
          </a:ln>
        </p:spPr>
      </p:sp>
      <p:sp>
        <p:nvSpPr>
          <p:cNvPr id="11" name="Text 5"/>
          <p:cNvSpPr txBox="1"/>
          <p:nvPr/>
        </p:nvSpPr>
        <p:spPr>
          <a:xfrm>
            <a:off x="4864608" y="4160520"/>
            <a:ext cx="677844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Il piedino legge 0 quando il pulsante è premuto: attivo basso (Lezione 10)</a:t>
            </a:r>
            <a:endParaRPr lang="en-US" sz="1700" dirty="0"/>
          </a:p>
        </p:txBody>
      </p:sp>
      <p:sp>
        <p:nvSpPr>
          <p:cNvPr id="12" name="Shape 6"/>
          <p:cNvSpPr/>
          <p:nvPr/>
        </p:nvSpPr>
        <p:spPr>
          <a:xfrm>
            <a:off x="4480560" y="4898771"/>
            <a:ext cx="146304" cy="146304"/>
          </a:xfrm>
          <a:prstGeom prst="rect">
            <a:avLst/>
          </a:prstGeom>
          <a:solidFill>
            <a:srgbClr val="C7791B"/>
          </a:solidFill>
          <a:ln w="12700">
            <a:solidFill>
              <a:srgbClr val="C7791B"/>
            </a:solidFill>
            <a:prstDash val="solid"/>
          </a:ln>
        </p:spPr>
      </p:sp>
      <p:sp>
        <p:nvSpPr>
          <p:cNvPr id="13" name="Text 7"/>
          <p:cNvSpPr txBox="1"/>
          <p:nvPr/>
        </p:nvSpPr>
        <p:spPr>
          <a:xfrm>
            <a:off x="4864608" y="4831080"/>
            <a:ext cx="677844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prg32_input_read inverte e impacchetta: una parola, un bit per pulsante, 1 = premuto</a:t>
            </a:r>
            <a:endParaRPr lang="en-US" sz="1700" dirty="0"/>
          </a:p>
        </p:txBody>
      </p:sp>
      <p:sp>
        <p:nvSpPr>
          <p:cNvPr id="14" name="Shape 8"/>
          <p:cNvSpPr/>
          <p:nvPr/>
        </p:nvSpPr>
        <p:spPr>
          <a:xfrm>
            <a:off x="4480560" y="5569331"/>
            <a:ext cx="146304" cy="146304"/>
          </a:xfrm>
          <a:prstGeom prst="rect">
            <a:avLst/>
          </a:prstGeom>
          <a:solidFill>
            <a:srgbClr val="0E7C86"/>
          </a:solidFill>
          <a:ln w="12700">
            <a:solidFill>
              <a:srgbClr val="0E7C86"/>
            </a:solidFill>
            <a:prstDash val="solid"/>
          </a:ln>
        </p:spPr>
      </p:sp>
      <p:sp>
        <p:nvSpPr>
          <p:cNvPr id="15" name="Text 9"/>
          <p:cNvSpPr txBox="1"/>
          <p:nvPr/>
        </p:nvSpPr>
        <p:spPr>
          <a:xfrm>
            <a:off x="4864608" y="5501640"/>
            <a:ext cx="677844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UP e RIGHT insieme danno 0x04 OR 0x02 = 0x06</a:t>
            </a:r>
            <a:endParaRPr lang="en-US" sz="1700" dirty="0"/>
          </a:p>
        </p:txBody>
      </p:sp>
      <p:sp>
        <p:nvSpPr>
          <p:cNvPr id="16" name="Shape 10"/>
          <p:cNvSpPr/>
          <p:nvPr/>
        </p:nvSpPr>
        <p:spPr>
          <a:xfrm>
            <a:off x="4480560" y="5976493"/>
            <a:ext cx="146304" cy="146304"/>
          </a:xfrm>
          <a:prstGeom prst="rect">
            <a:avLst/>
          </a:prstGeom>
          <a:solidFill>
            <a:srgbClr val="C7791B"/>
          </a:solidFill>
          <a:ln w="12700">
            <a:solidFill>
              <a:srgbClr val="C7791B"/>
            </a:solidFill>
            <a:prstDash val="solid"/>
          </a:ln>
        </p:spPr>
      </p:sp>
      <p:sp>
        <p:nvSpPr>
          <p:cNvPr id="17" name="Text 11"/>
          <p:cNvSpPr txBox="1"/>
          <p:nvPr/>
        </p:nvSpPr>
        <p:spPr>
          <a:xfrm>
            <a:off x="4864608" y="5908802"/>
            <a:ext cx="677844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a0 AND 0x04 vale zero se e solo se UP non è premuto</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La regola dell'inversione a U, come tabella di verità</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2000632"/>
                <a:gridCol w="2364384"/>
                <a:gridCol w="1455005"/>
                <a:gridCol w="3273762"/>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 XOR 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 2 ?</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Decisione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prosegue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gira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rifiuta: inversione a 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gira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 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rifiuta: inversione a 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gira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Sei delle sedici righe. La regola è uno XOR e un confronto con la costante 2.</a:t>
            </a:r>
            <a:endParaRPr lang="en-US" sz="1500" dirty="0"/>
          </a:p>
        </p:txBody>
      </p:sp>
      <p:sp>
        <p:nvSpPr>
          <p:cNvPr id="5" name="Shape 2"/>
          <p:cNvSpPr/>
          <p:nvPr/>
        </p:nvSpPr>
        <p:spPr>
          <a:xfrm>
            <a:off x="8051622" y="91440"/>
            <a:ext cx="3591433" cy="274320"/>
          </a:xfrm>
          <a:prstGeom prst="rect">
            <a:avLst/>
          </a:prstGeom>
          <a:solidFill>
            <a:srgbClr val="E0F2FE"/>
          </a:solidFill>
          <a:ln w="12700">
            <a:solidFill>
              <a:srgbClr val="0369A1"/>
            </a:solidFill>
            <a:prstDash val="solid"/>
          </a:ln>
        </p:spPr>
      </p:sp>
      <p:sp>
        <p:nvSpPr>
          <p:cNvPr id="6" name="Shape 3"/>
          <p:cNvSpPr/>
          <p:nvPr/>
        </p:nvSpPr>
        <p:spPr>
          <a:xfrm>
            <a:off x="8051622"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179638" y="128016"/>
            <a:ext cx="201168" cy="201168"/>
          </a:xfrm>
          <a:prstGeom prst="rect">
            <a:avLst/>
          </a:prstGeom>
        </p:spPr>
      </p:pic>
      <p:sp>
        <p:nvSpPr>
          <p:cNvPr id="8" name="Text 4"/>
          <p:cNvSpPr txBox="1"/>
          <p:nvPr/>
        </p:nvSpPr>
        <p:spPr>
          <a:xfrm>
            <a:off x="8435670" y="91440"/>
            <a:ext cx="317080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DA COMPRENDERE OGGI</a:t>
            </a:r>
            <a:pPr indent="0" marL="0">
              <a:buNone/>
            </a:pPr>
            <a:r>
              <a:rPr lang="en-US" sz="1100" dirty="0">
                <a:solidFill>
                  <a:srgbClr val="075985"/>
                </a:solidFill>
                <a:latin typeface="Calibri" pitchFamily="34" charset="0"/>
                <a:ea typeface="Calibri" pitchFamily="34" charset="-122"/>
                <a:cs typeface="Calibri" pitchFamily="34" charset="-120"/>
              </a:rPr>
              <a:t> · l'algebra di Boole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Cogliere al lavoro la regola dell'inversione a U</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Eseguite la cartuccia in modalità debug e premete Update: il listato mostra verm1_update</a:t>
            </a:r>
            <a:endParaRPr lang="en-US" sz="2200" dirty="0"/>
          </a:p>
        </p:txBody>
      </p:sp>
      <p:sp>
        <p:nvSpPr>
          <p:cNvPr id="5" name="Text 3"/>
          <p:cNvSpPr txBox="1"/>
          <p:nvPr/>
        </p:nvSpPr>
        <p:spPr>
          <a:xfrm>
            <a:off x="548640" y="23473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290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Guardate la telemetria mentre tenete premuto un pulsante: la maschera di ingresso mostra 0x04 per UP, 0x01 per LEFT</a:t>
            </a:r>
            <a:endParaRPr lang="en-US" sz="2200" dirty="0"/>
          </a:p>
        </p:txBody>
      </p:sp>
      <p:sp>
        <p:nvSpPr>
          <p:cNvPr id="7" name="Text 5"/>
          <p:cNvSpPr txBox="1"/>
          <p:nvPr/>
        </p:nvSpPr>
        <p:spPr>
          <a:xfrm>
            <a:off x="548640" y="325912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240837"/>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Trovate l'istruzione xor t3, t2, t1 e cliccate nel margine: un breakpoint</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Tenete premuto LEFT mentre la testa va a destra, e premete Resume: il programma si ferma sulla xor</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Leggete i registri: t1 vale 0, la direzione; t2 vale 2, il desiderio</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Premete Step: t3 diventa 2. Altri due passi: il salto avviene e la sw è saltata</a:t>
            </a:r>
            <a:endParaRPr lang="en-US" sz="2200" dirty="0"/>
          </a:p>
        </p:txBody>
      </p:sp>
      <p:sp>
        <p:nvSpPr>
          <p:cNvPr id="15" name="Shape 13"/>
          <p:cNvSpPr/>
          <p:nvPr/>
        </p:nvSpPr>
        <p:spPr>
          <a:xfrm>
            <a:off x="7809941" y="91440"/>
            <a:ext cx="3833114" cy="274320"/>
          </a:xfrm>
          <a:prstGeom prst="rect">
            <a:avLst/>
          </a:prstGeom>
          <a:solidFill>
            <a:srgbClr val="FEF3C7"/>
          </a:solidFill>
          <a:ln w="12700">
            <a:solidFill>
              <a:srgbClr val="B45309"/>
            </a:solidFill>
            <a:prstDash val="solid"/>
          </a:ln>
        </p:spPr>
      </p:sp>
      <p:sp>
        <p:nvSpPr>
          <p:cNvPr id="16" name="Shape 14"/>
          <p:cNvSpPr/>
          <p:nvPr/>
        </p:nvSpPr>
        <p:spPr>
          <a:xfrm>
            <a:off x="7809941" y="91440"/>
            <a:ext cx="27432" cy="274320"/>
          </a:xfrm>
          <a:prstGeom prst="rect">
            <a:avLst/>
          </a:prstGeom>
          <a:solidFill>
            <a:srgbClr val="B45309"/>
          </a:solidFill>
          <a:ln w="12700">
            <a:solidFill>
              <a:srgbClr val="B45309"/>
            </a:solidFill>
            <a:prstDash val="solid"/>
          </a:ln>
        </p:spPr>
      </p:sp>
      <p:sp>
        <p:nvSpPr>
          <p:cNvPr id="17" name="Shape 15"/>
          <p:cNvSpPr/>
          <p:nvPr/>
        </p:nvSpPr>
        <p:spPr>
          <a:xfrm>
            <a:off x="7864805"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7937957" y="128016"/>
            <a:ext cx="201168" cy="201168"/>
          </a:xfrm>
          <a:prstGeom prst="rect">
            <a:avLst/>
          </a:prstGeom>
        </p:spPr>
      </p:pic>
      <p:sp>
        <p:nvSpPr>
          <p:cNvPr id="19" name="Text 16"/>
          <p:cNvSpPr txBox="1"/>
          <p:nvPr/>
        </p:nvSpPr>
        <p:spPr>
          <a:xfrm>
            <a:off x="8193989"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 cosa si legge nei registri</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1727819"/>
                <a:gridCol w="1455005"/>
                <a:gridCol w="1636881"/>
                <a:gridCol w="2364384"/>
                <a:gridCol w="190969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Premete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a0 (maschera)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t1 = dir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t2 = 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t3 = t2 XOR 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Memorizzato?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niente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 inversione a U</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0x04</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 +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0x06</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sì: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7809941" y="91440"/>
            <a:ext cx="3833114" cy="274320"/>
          </a:xfrm>
          <a:prstGeom prst="rect">
            <a:avLst/>
          </a:prstGeom>
          <a:solidFill>
            <a:srgbClr val="FEF3C7"/>
          </a:solidFill>
          <a:ln w="12700">
            <a:solidFill>
              <a:srgbClr val="B45309"/>
            </a:solidFill>
            <a:prstDash val="solid"/>
          </a:ln>
        </p:spPr>
      </p:sp>
      <p:sp>
        <p:nvSpPr>
          <p:cNvPr id="5" name="Shape 2"/>
          <p:cNvSpPr/>
          <p:nvPr/>
        </p:nvSpPr>
        <p:spPr>
          <a:xfrm>
            <a:off x="7809941" y="91440"/>
            <a:ext cx="27432" cy="274320"/>
          </a:xfrm>
          <a:prstGeom prst="rect">
            <a:avLst/>
          </a:prstGeom>
          <a:solidFill>
            <a:srgbClr val="B45309"/>
          </a:solidFill>
          <a:ln w="12700">
            <a:solidFill>
              <a:srgbClr val="B45309"/>
            </a:solidFill>
            <a:prstDash val="solid"/>
          </a:ln>
        </p:spPr>
      </p:sp>
      <p:sp>
        <p:nvSpPr>
          <p:cNvPr id="6" name="Shape 3"/>
          <p:cNvSpPr/>
          <p:nvPr/>
        </p:nvSpPr>
        <p:spPr>
          <a:xfrm>
            <a:off x="7864805"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7937957" y="128016"/>
            <a:ext cx="201168" cy="201168"/>
          </a:xfrm>
          <a:prstGeom prst="rect">
            <a:avLst/>
          </a:prstGeom>
        </p:spPr>
      </p:pic>
      <p:sp>
        <p:nvSpPr>
          <p:cNvPr id="8" name="Text 4"/>
          <p:cNvSpPr txBox="1"/>
          <p:nvPr/>
        </p:nvSpPr>
        <p:spPr>
          <a:xfrm>
            <a:off x="8193989"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Leggere le variabili in memoria</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Dopo la t0, dir il registro t0 contiene l'indirizzo di dir: scrivetelo nel campo Memory</a:t>
            </a:r>
            <a:endParaRPr lang="en-US" sz="2100" dirty="0"/>
          </a:p>
        </p:txBody>
      </p:sp>
      <p:sp>
        <p:nvSpPr>
          <p:cNvPr id="5" name="Shape 3"/>
          <p:cNvSpPr/>
          <p:nvPr/>
        </p:nvSpPr>
        <p:spPr>
          <a:xfrm>
            <a:off x="548640" y="26283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9650"/>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 variabili si susseguono, 4 byte ciascuna, nell'ordine del file</a:t>
            </a:r>
            <a:endParaRPr lang="en-US" sz="2100" dirty="0"/>
          </a:p>
        </p:txBody>
      </p:sp>
      <p:sp>
        <p:nvSpPr>
          <p:cNvPr id="7" name="Shape 5"/>
          <p:cNvSpPr/>
          <p:nvPr/>
        </p:nvSpPr>
        <p:spPr>
          <a:xfrm>
            <a:off x="548640" y="34152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16605"/>
            <a:ext cx="5468112" cy="95631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partire dall'indirizzo di dir</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+0 dir, +4 want, +8 step_q8</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+12 score, +16 food_x, +20 food_y</a:t>
            </a:r>
            <a:endParaRPr lang="en-US" sz="2100" dirty="0"/>
          </a:p>
        </p:txBody>
      </p:sp>
      <p:sp>
        <p:nvSpPr>
          <p:cNvPr id="9" name="Shape 7"/>
          <p:cNvSpPr/>
          <p:nvPr/>
        </p:nvSpPr>
        <p:spPr>
          <a:xfrm>
            <a:off x="548640" y="450780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09123"/>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Mangiate una volta, mettete in pausa, e leggete score: 01 00 00 00</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Leggete food_x e food_y, e confrontateli con lo schermo: colonna e riga della cella rossa</a:t>
            </a:r>
            <a:endParaRPr lang="en-US" sz="2100" dirty="0"/>
          </a:p>
        </p:txBody>
      </p:sp>
      <p:pic>
        <p:nvPicPr>
          <p:cNvPr id="13"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listato, registri, memoria</a:t>
            </a:r>
            <a:endParaRPr lang="en-US" sz="1200" dirty="0"/>
          </a:p>
        </p:txBody>
      </p:sp>
      <p:sp>
        <p:nvSpPr>
          <p:cNvPr id="15" name="Shape 12"/>
          <p:cNvSpPr/>
          <p:nvPr/>
        </p:nvSpPr>
        <p:spPr>
          <a:xfrm>
            <a:off x="7809941" y="91440"/>
            <a:ext cx="3833114" cy="274320"/>
          </a:xfrm>
          <a:prstGeom prst="rect">
            <a:avLst/>
          </a:prstGeom>
          <a:solidFill>
            <a:srgbClr val="FEF3C7"/>
          </a:solidFill>
          <a:ln w="12700">
            <a:solidFill>
              <a:srgbClr val="B45309"/>
            </a:solidFill>
            <a:prstDash val="solid"/>
          </a:ln>
        </p:spPr>
      </p:sp>
      <p:sp>
        <p:nvSpPr>
          <p:cNvPr id="16" name="Shape 13"/>
          <p:cNvSpPr/>
          <p:nvPr/>
        </p:nvSpPr>
        <p:spPr>
          <a:xfrm>
            <a:off x="7809941" y="91440"/>
            <a:ext cx="27432" cy="274320"/>
          </a:xfrm>
          <a:prstGeom prst="rect">
            <a:avLst/>
          </a:prstGeom>
          <a:solidFill>
            <a:srgbClr val="B45309"/>
          </a:solidFill>
          <a:ln w="12700">
            <a:solidFill>
              <a:srgbClr val="B45309"/>
            </a:solidFill>
            <a:prstDash val="solid"/>
          </a:ln>
        </p:spPr>
      </p:sp>
      <p:sp>
        <p:nvSpPr>
          <p:cNvPr id="17" name="Shape 14"/>
          <p:cNvSpPr/>
          <p:nvPr/>
        </p:nvSpPr>
        <p:spPr>
          <a:xfrm>
            <a:off x="7864805" y="91440"/>
            <a:ext cx="27432" cy="274320"/>
          </a:xfrm>
          <a:prstGeom prst="rect">
            <a:avLst/>
          </a:prstGeom>
          <a:solidFill>
            <a:srgbClr val="B45309"/>
          </a:solidFill>
          <a:ln w="12700">
            <a:solidFill>
              <a:srgbClr val="B45309"/>
            </a:solidFill>
            <a:prstDash val="solid"/>
          </a:ln>
        </p:spPr>
      </p:sp>
      <p:pic>
        <p:nvPicPr>
          <p:cNvPr id="18" name="Image 1" descr="preencoded.png">    </p:cNvPr>
          <p:cNvPicPr>
            <a:picLocks noChangeAspect="1"/>
          </p:cNvPicPr>
          <p:nvPr/>
        </p:nvPicPr>
        <p:blipFill>
          <a:blip r:embed="rId2"/>
          <a:stretch>
            <a:fillRect/>
          </a:stretch>
        </p:blipFill>
        <p:spPr>
          <a:xfrm>
            <a:off x="7937957" y="128016"/>
            <a:ext cx="201168" cy="201168"/>
          </a:xfrm>
          <a:prstGeom prst="rect">
            <a:avLst/>
          </a:prstGeom>
        </p:spPr>
      </p:pic>
      <p:sp>
        <p:nvSpPr>
          <p:cNvPr id="19" name="Text 15"/>
          <p:cNvSpPr txBox="1"/>
          <p:nvPr/>
        </p:nvSpPr>
        <p:spPr>
          <a:xfrm>
            <a:off x="8193989" y="91440"/>
            <a:ext cx="3412490"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DA UTILIZZARE OGGI</a:t>
            </a:r>
            <a:pPr indent="0" marL="0">
              <a:buNone/>
            </a:pPr>
            <a:r>
              <a:rPr lang="en-US" sz="1100" dirty="0">
                <a:solidFill>
                  <a:srgbClr val="92400E"/>
                </a:solidFill>
                <a:latin typeface="Calibri" pitchFamily="34" charset="0"/>
                <a:ea typeface="Calibri" pitchFamily="34" charset="-122"/>
                <a:cs typeface="Calibri" pitchFamily="34" charset="-120"/>
              </a:rPr>
              <a:t> · il debugger di PRG32-QT</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Il giocatore tiene premuti insieme DOWN e RIGHT: prg32_input_read restituisce</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0x08</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0x0a</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0x10</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Il verme va verso UP (3). Quale desiderio viene rifiutato?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RIGHT (0)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DOWN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LEFT (2)</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UP (3)</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Verifica la comprensione</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Perché slli t1, t1, 2 prima di sommare all'indirizzo di dx?</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rendere positivo il codice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ogni elemento della tabella è di 4 byte</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per azzerare il bit 1</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 tabelle cominciano all'indirizzo 4</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xor t1, t1, t4 dà zero esattamente quando</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vale zero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t4 vale zero</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e t4 sono uguali</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e t4 sono opposti</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Dove siamo, e che cosa viene dopo</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Il giocatore è nel gioco: un desiderio, una regola, un movimento, una ricompensa</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Bit e maschere, XOR come comparatore, una tabella come selettore: la logica trasformata in istruzioni</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Manca: il verme non ha corpo, niente può andare storto, e il gioco non finisce mai</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 Lezioni da 13 a 16 danno gli strumenti: macchine a stati, registri, la memoria come vettore, ciò che sopravvive allo spegnimento</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Parte 3: un corpo che cresce, le collisioni, una schermata del titolo e un game over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Università degli Studi di Napoli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Architettura dei Calcolatori - Verm1, parte 2: la guida, il cibo e un punteggio</dc:title>
  <dc:subject>Lezione 12</dc:subject>
  <dc:creator>Raffaele Montella</dc:creator>
  <cp:lastModifiedBy>Raffaele Montella</cp:lastModifiedBy>
  <cp:revision>1</cp:revision>
  <dcterms:created xsi:type="dcterms:W3CDTF">2026-10-17T07:16:50Z</dcterms:created>
  <dcterms:modified xsi:type="dcterms:W3CDTF">2026-10-17T07:16:50Z</dcterms:modified>
</cp:coreProperties>
</file>