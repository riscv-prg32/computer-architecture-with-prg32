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120f658-de19-2f73-bb3a-507ec6b17368}">
          <p14:sldIdLst>
            <p14:sldId id="256"/>
            <p14:sldId id="257"/>
          </p14:sldIdLst>
        </p14:section>
        <p14:section name="Il progetto" id="{e13ca0d3-4052-97ff-d334-6bbb9f117937}">
          <p14:sldIdLst>
            <p14:sldId id="258"/>
            <p14:sldId id="259"/>
            <p14:sldId id="260"/>
            <p14:sldId id="261"/>
          </p14:sldIdLst>
        </p14:section>
        <p14:section name="Passo 0: il ciclo di lavoro" id="{aa38ce6a-70c6-315c-aaef-963894e21f9f}">
          <p14:sldIdLst>
            <p14:sldId id="262"/>
            <p14:sldId id="263"/>
            <p14:sldId id="264"/>
          </p14:sldIdLst>
        </p14:section>
        <p14:section name="Passo 2: una griglia e una testa" id="{de1fa994-6c98-6ac4-a4c5-04bbe67bb00d}">
          <p14:sldIdLst>
            <p14:sldId id="265"/>
            <p14:sldId id="266"/>
            <p14:sldId id="267"/>
            <p14:sldId id="268"/>
            <p14:sldId id="269"/>
            <p14:sldId id="270"/>
            <p14:sldId id="271"/>
          </p14:sldIdLst>
        </p14:section>
        <p14:section name="Passo 3: il movimento" id="{0deb3831-3053-6336-af15-10814d112577}">
          <p14:sldIdLst>
            <p14:sldId id="272"/>
            <p14:sldId id="273"/>
            <p14:sldId id="274"/>
            <p14:sldId id="275"/>
            <p14:sldId id="276"/>
          </p14:sldIdLst>
        </p14:section>
        <p14:section name="Passo 4: guardare dentro con PRG32-QT" id="{d4818d71-e525-d47f-1e98-904e4e4df805}">
          <p14:sldIdLst>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comincia il progetto del corso. È un tutorial, non una lezione: scrivete un programma, passo per passo, e alla fine gira. Usa solo ciò che hanno insegnato le lezioni da 02 a 06: registri e memoria, colori e stringhe come numeri, confronti e scorrimenti, virgola fissa. L'immagine in copertina è ciò che avrete sullo schermo tra due ore: un titolo e un quadrato verde, la testa del verme, che attraversa lo schermo da solo. L'implementazione di riferimento è un contributo di Giuseppe Coviello.
Per il docente: Primo tutorial del progetto. Usa solo le Lezioni da 02 a 06: registri, load e store, chiamate (02), stringhe e colori (04), interi, confronti e ritorno a capo (05), virgola fissa (06), e un po' di storia (03). Gli studenti scrivono da sé il programma; il file di riferimento è verm1/verm1_part1.S. Tutto ciò che compare sulle slide di codice è letto da quel file, che viene compilato ed eseguito automaticamente.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Una cartuccia vostra, compilata da un solo file scritto da voi. Un titolo, una griglia di 40 per 24 celle e la testa disegnata in una di esse. La testa che si muove da sola, una cella alla volta, a una velocità fissata in virgola fissa. Un mondo senza bordi, in cui la testa che esce a destra rientra da sinistra. E un'abitudine, che conta più del programma: il ciclo di lavoro modificare, compilare, eseguire, guardare, con il debugger come strumento normale.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il progetto nel suo insieme: che cos'è il gioco, come si divide in quattro parti, e che cosa questa parte prende dalle lezioni che avete seguito.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si legge "vermone", è un omaggio a Snake: un verme che si muove su una griglia, mangia, cresce e non deve mordersi. L'idea risale all'arcade Blockade del 1976 ed è diventata celebre sui telefoni Nokia del 1997. È stato scelto perché è abbastanza piccolo da essere scritto da zero in assembly eppure richiede ogni argomento del corso. Scrivete ogni riga voi; sotto non c'è alcun motore. L'immagine a destra è il punto a cui arriverete nella Parte 4.
Per il docente: Snake per il Nokia 6110 fu scritto da Taneli Armanto. Verm1 è un omaggio, non una copia: il nome, le regole di dettaglio e l'aspetto sono nostri. L'implementazione di riferimento seguita dai tutorial è un contributo di Giuseppe Coviello.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piano del progetto. Ogni riga è un tutorial, ciò che vi si aggiunge e le lezioni che usa. Parte 1, oggi: una griglia, una testa, il movimento automatico. Parte 2, Lezione 12: la guida, il cibo, un punteggio. Parte 3, Lezione 17: un corpo che cresce e le collisioni. Parte 4, Lezione 22: il gioco finito. La Lezione 23 prepara il bundle per lo Store. Una regola vale per ogni parte: mai cominciare con un programma che non gira; se il vostro è rotto, partite dal file di riferimento.
Per il docente: Ogni parte finisce con un programma che gira. Non cominciare mai una parte con un programma che non gira: se il proprio è rotto, si parte dal file di riferimento della parte precedente.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programma di oggi non c'è nulla di nuovo: ogni idea viene da una lezione. I registri, la, lw, sw, le chiamate e il frame di stack vengono dalla Lezione 02. I colori come numeri RGB565 e le stringhe terminate da zero vengono dalla Lezione 04. Gli scorrimenti usati come moltiplicazioni, i confronti e il ritorno a capo vengono dalla Lezione 05. La virgola fissa, una frazione tenuta come intero scalato, viene dalla Lezione 06, e diventa la velocità del verme. Tenete aperta questa tabella: quando una riga di codice vi lascia perplessi, la terza colonna dice quale lezione rileggere.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passo 0 non è codice: è la routine che ripeterete dopo ogni modifica. Modificare il file, compilare la cartuccia, eseguirla, guardare il risultato. Più questo ciclo è rapido, più si impara.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nella vostra home una cartella verm1 e tenetevi un solo file, verm1.S, che crescerà di parte in parte. Il primo comando compila la cartuccia; il secondo la invia a PRG32-QT in esecuzione sullo stesso computer e la avvia. Questi due comandi sono identici in ogni tutorial. Se localhost non risponde, usate l'indirizzo mostrato nella schermata Setup di PRG32-QT. In alternativa si può importare il file dal menu di PRG32-QT.
Per il docente: Create una cartella ~/verm1 e tenetevi un solo file, verm1.S, che cresce di parte in parte. PRG32-QT ascolta sulla porta 8080 e mostra il proprio indirizzo nella schermata Setup: usate quello se localhost non risponde. La stessa cartuccia gira su QEMU (python3 -m prg32 qemu upload, poi qemu run) e sulla scheda (--url http://192.168.4.1).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passo 1 è lo scheletro della Lezione 02 con il prefisso verm1: tre etichette globali e tre funzioni che ritornano e basta. Scrivetelo, compilatelo, eseguitelo. Il risultato giusto è uno schermo nero: dimostra che gli strumenti funzionano e che il firmware trova le vostre funzioni. Se qui la compilazione fallisce il problema è l'installazione, non il programma, e va risolto prima di proseguire. L'ultima nota è la regola di tutto il progetto: aggiungere una cosa, eseguire, guardare. Mai due cose insieme.
Per il docente: Lo scheletro della Lezione 02. Se qui la compilazione fallisce il problema è l'installazione, non il programma: va risolto prima di proseguire.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passo 2 aggiunge ciò che serve per vedere qualcosa: nomi per i numeri, variabili in memoria, e un rettangolo sullo schermo. Alla fine del passo la testa è disegnata ma non si muove ancora.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righe sostituiscono l'inizio dello scheletro. Ogni .equ dà un nome a un numero e non usa memoria: l'assemblatore sostituisce semplicemente il numero. Tre colori in RGB565. Poi la geometria: una cella è di 8 per 8 pixel, quindi i 320 pixel di larghezza contengono 40 colonne; gli 8 pixel in alto sono riservati al titolo, e i 192 restanti contengono 24 righe. SPEED_Q8 è la velocità in virgola fissa e si userà nel passo 3. Le costanti con un nome rendono il programma leggibile e facile da modificare.
Per il docente: Sostituite con queste le prime righe dello scheletro. SPEED_Q8 si usa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verme non vive nei pixel: vive nelle celle. Una posizione è una colonna da 0 a 39 e una riga da 0 a 23, e la testa parte dalla colonna 5 della riga 12, la cella chiara nel disegno. Per disegnare una cella le sue coordinate si trasformano in pixel: x è la colonna per 8, uno scorrimento a sinistra di 3; y è la riga per 8 più 8, perché prima viene la riga del titolo. Pensare in celle rende semplici tutte le regole successive: muoversi è sommare 1, e due cose si scontrano quando le loro celle sono uguali.
Per il docente: Disegnare la griglia alla lavagna e chiedere le coordinate in pixel di alcune celle: (0,0) sta in (0,8); (39,23) sta in (312,192).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va in fondo al file. La sezione .rodata contiene ciò che non cambia mai: il titolo, una stringa che .asciz termina con un byte a zero. La sezione .data contiene le variabili, una parola di 32 bit ciascuna: la colonna della testa, la sua riga, e la frazione di passo accumulata finora. I valori iniziali scritti qui sono solo un punto di partenza: init li imposterà di nuovo in modo esplicito.
Per il docente: Mettete questo in fondo al file. step_q8 si usa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mette la testa al suo posto. Per ogni variabile lo schema è lo stesso: la carica l'indirizzo, li carica il valore, sw memorizza il valore all'indirizzo. La frazione step_q8 si azzera memorizzando direttamente il registro zero. La funzione non chiama nulla, quindi è una foglia e non le serve un frame di stack. Perché impostare valori che .data contiene già? Perché init può essere chiamata di nuovo per ricominciare la partita: mai fidarsi di ciò che la memoria conteneva.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fa tre chiamate: cancella lo schermo, scrive il titolo, disegna la testa. Salva quindi ra in un frame di stack all'inizio e lo ripristina alla fine, come nella Lezione 02. Guardate come la cella diventa pixel: la colonna è caricata in a0 e scorsa a sinistra di 3; la riga è caricata in a1, scorsa e aumentata di TOP. Gli argomenti restanti sono larghezza, altezza e colore. Gli argomenti viaggiano da a0 ad a4, nell'ordine in cui la funzione li aspetta.
Per il docente: prg32_gfx_text8(x, y, stringa, colore del testo, colore dello sfondo); prg32_gfx_rect(x, y, larghezza, altezza, colore).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Compilate ed eseguite. Dovreste vedere la parola VERM1 in alto a sinistra e un quadrato verde fermo nella colonna 5 della riga 12. La schermata sulla slide è stata presa più tardi, dalla Parte 1 finita, quindi la sua testa è più a destra: non preoccupatevi della differenza. Se il vostro quadrato è nel posto sbagliato, controllate per prima cosa i due scorrimenti e la somma di TOP.
Per il docente: Schermata prodotta da tools/tests/verm1_check.py a partire da verm1/verm1_part1.S.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passo 3 fa muovere la testa. Il problema è la velocità: il passo naturale, una cella per frame, è di gran lunga troppo veloce, e il processore ha solo gli interi. La soluzione è la virgola fissa della Lezione 06, usata come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viene eseguita circa trenta volte al secondo. A una cella per frame la testa attraverserebbe le quaranta colonne in poco più di un secondo. Vogliamo una frazione di cella per frame. Teniamo quindi una frazione in unità di 1/256 di cella, le sommiamo la velocità a ogni frame, e facciamo un passo ogni volta che si è accumulata una cella intera, 256. Con SPEED_Q8 uguale a 40 la testa avanza di 40/256 di cella per frame: un passo ogni sei frame circa. Il resto si conserva, quindi in media la velocità è esatta.
Per il docente: È la palla della Lezione 06, trasformata in un timer. Il resto si conserva, quindi la velocità media è esatta: 256 frame danno esattamente 40 passi.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Leggete verm1_update in due metà. Prima il timer: si carica step_q8, si somma la velocità, si confronta con 256. Se è minore si salta all'etichetta 2, si memorizza la frazione e si ritorna: in questo frame nulla si muove. Altrimenti si sottrae 256, tenendo il resto, e lo si memorizza. Poi il passo: si carica head_x, si somma 1, si confronta con COLS; se la colonna è arrivata a 40 diventa 0, e la testa rientra da sinistra. Le etichette 1: e 2: sono etichette locali: 1f significa «la prossima etichetta 1 in avanti».
Per il docente: blt confronta numeri con segno, e qui va bene: tutti i valori sono piccoli e positivi. Le etichette locali 1: e 2: si richiamano con 1f e 2f, «il prossimo 1 o 2 in avanti».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traccia a mano, l'esercizio più utile del tutorial. A ogni frame si somma 40 alla frazione. Nei frame da 1 a 6 la somma resta sotto 256 e la testa non si muove. Al frame 7 arriva a 280: si è accumulata una cella intera, si sottrae 256, resta 24, e la testa passa dalla colonna 5 alla colonna 6. I passi arrivano ogni sei o sette frame, e il resto porta con sé la differenza, come il giorno in più di un anno bisestile. Compilate voi i frame da 8 a 12.
Per il docente: Dopo 64 frame la somma è 64 x 40 = 2560 = 10 x 256: dieci passi, testa nella colonna 15, esattamente ciò che mostra la schermata. Chiedere agli studenti di compilare i frame da 8 a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Eseguite. La testa va verso destra a circa cinque celle al secondo, esce dalla colonna 39 e rientra dalla colonna 0. Poi sperimentate con la velocità: prima di ogni esecuzione, prevedete che cosa vedrete. Con 8 la testa è lenta; con 128 fa un passo ogni due frame; con 256, un passo per frame. Provate un valore più grande e scoprite un limite di questo programma: update fa al più un passo per frame.
Per il docente: Con SPEED_Q8 = 256 la testa avanza di una cella per frame; valori più grandi danno comunque un passo per frame, perché update fa al più un passo: un limite che vale la pena scoprire.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passo 4 non usa codice nuovo. Fermate il vostro programma in PRG32-QT e lo guardate dall'interno. In questo corso il debugger fa parte del metodo, e si usa quando le cose funzionano come quando non funzionano.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procedura precisa. Attivate la modalità debug in Settings ed eseguite la cartuccia. Premete Update: il listato mostra verm1_update. Cliccate nel margine accanto alla sua prima istruzione per mettere un breakpoint: il programma si ferma lì al frame successivo. Ora avanzate, un'istruzione alla volta, e osservate i registri. Dopo le due istruzioni che realizzano la, t0 contiene un indirizzo: scrivetelo nel campo Memory e vedrete i byte di step_q8. Ogni Resume esegue un frame, e il valore cresce di 40, 0x28.
Per il docente: Dalla guida al debug di PRG32-QT: pausa, ripresa, passo; viste Init / Update / Draw / PC; breakpoint nel margine; una vista di 128 byte di memoria. Resume ignora una volta il breakpoint corrente, quindi ogni pressione di Resume esegue un frame intero.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debugger non mostra il vostro sorgente: mostra ciò che l'assemblatore ha prodotto. I nomi sono spariti: le etichette sono diventate indirizzi e SPEED_Q8 è diventato il numero 40. Le pseudo-istruzioni sono espanse: la è auipc seguita da addi, li è una addi da zero, ret è un salto a ra. Alcune istruzioni cominciano con c.: sono le forme compresse, a 16 bit, delle stesse istruzioni, la C di RV32IMAC. Riconoscere il proprio programma in questo listato è un'abilità che cresce con la pratica.
Per il docente: Disassemblato di verm1_update da verm1/verm1_part1.S (objdump, rv32imac), abbreviato; gli scostamenti esatti dipendono dalla compilazione. Formati delle istruzioni e istruzioni compresse sono l'argomento della Lezione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vista della memoria mostra 128 byte in esadecimale a partire dall'indirizzo scritto. Una parola occupa quattro byte, il meno significativo per primo: quando step_q8 vale 240 si legge F0 00 00 00. È l'ordine little-endian della Lezione 04, visto dal vivo. Le variabili stanno in memoria nell'ordine del file: head_x, head_y, step_q8, quindi la colonna della testa sta otto byte prima della frazione. Il debugger osserva soltanto: per cambiare il programma si modifica, si compila e si esegue.
Per il docente: Ordine dei byte: Lezione 04. Nel file l'ordine è head_x, head_y, step_q8, quattro byte ciascuna: se step_q8 sta all'indirizzo A, head_x sta in A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su 256 è un quarto di cella per frame. Quanti quarti fanno una cella intera? I due numeri grandi sono distrattori: 64 è la velocità stessa, e 256 è la dimensione di una cella nelle unità del timer.
Per il docente: Risposta: B. 64/256 = 1/4 di cella per frame: una cella intera ogni 4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Applicate le due formule della griglia: x è la colonna per 8; y è la riga per 8, più gli 8 pixel della riga del titolo. L'opzione che dimentica la riga del titolo è l'errore più comune.
Per il docente: Risposta: C. x = 10 x 8 = 80; y = 3 x 8 + 8 =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è questione di lunghezza. Una chiamata scrive in ra l'indirizzo di ritorno, quindi una funzione che fa chiamate deve mettere al sicuro sullo stack il proprio ra. verm1_update è una foglia: non chiama nulla, e quando arriva a ret il registro ra contiene ancora l'indirizzo giusto.
Per il docente: Risposta: B. Una chiamata scrive in ra l'indirizzo di ritorno. Una funzione che fa chiamate deve mettere al sicuro sullo stack il proprio ra; a una funzione foglia non 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modifiche per fare vostro il programma, ciascuna di poche righe. Fate muovere la testa verso sinistra: la somma diventa una sottrazione, e il bordo si rileva sul segno del risultato. Fatela muovere verso il basso. Disegnate una seconda cella, più scura, dietro la testa. Scrivete il vostro nome accanto al titolo in un colore calcolato a mano. Prima di sperimentare tenete una copia della Parte 1 funzionante: la Parte 2 parte da lì.
Per il docente: Verso sinistra: addi t3, t3, -1, poi bgez t3 per saltare il rientro, altrimenti li t3, COLS-1. Il confronto è sul segno: Lezione 05. Verde più scuro: 0x03e0.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siete. Avete una cartuccia che gira e che capite riga per riga. Ha già la forma di ogni gioco: uno stato in memoria, una regola che lo cambia a ogni frame, e una funzione che lo disegna. Manca il giocatore: la testa va dove vuole lei. Le prossime quattro lezioni danno gli strumenti per leggere il joystick e per decidere, bit, maschere e tabelle, e la Parte 2 li usa per aggiungere la guida, il cibo e un punteggio.
Per il docente: File di riferimento di questa parte: verm1/verm1_part1.S (78 righe). Se all'inizio della Parte 2 il programma di uno studente non funziona, si parte da questo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07: Verm1, parte 1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parte 1: una testa che attraversa il mondo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Comincia il progetto del corso: una griglia, una cella, una velocità in virgola fissa</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viaggio di mille miglia comincia con un solo passo.”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Laozi, Tao Te Ching</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avrete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cartuccia vostra, verm1.prg32, compilata da un solo file assembly scritto da voi</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titolo, una griglia di 40 per 24 celle, e la testa del verme disegnata in una di esse</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testa che si muove da sola, una cella alla volta, a una velocità che controllate in virgola fissa</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mondo senza bordi: superata l'ultima colonna la testa rientra dalla prima</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L'abitudine del ciclo di lavoro: modificare, compilare, eseguire, guardare, e fermare il programma nel debugger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Il progetto</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Un solo gioco, costruito in quattro sedute e pubblicato alla fine.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un omaggio a Snake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Verm1, si legge "vermone": un verme che si muove su una griglia, mangia, cresce, e non deve mordersi</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gioco con una lunga storia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Blockade, un arcade della Gremlin, 1976</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Snake sul Nokia 6110, 1997: uno dei giochi più giocati di sempre</a:t>
            </a:r>
            <a:endParaRPr lang="en-US" sz="2000" dirty="0"/>
          </a:p>
        </p:txBody>
      </p:sp>
      <p:sp>
        <p:nvSpPr>
          <p:cNvPr id="7" name="Shape 5"/>
          <p:cNvSpPr/>
          <p:nvPr/>
        </p:nvSpPr>
        <p:spPr>
          <a:xfrm>
            <a:off x="548640" y="36976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0667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Abbastanza piccolo da scriverlo da zero in assembly, abbastanza ricco da richiedere ogni argomento del corso</a:t>
            </a:r>
            <a:endParaRPr lang="en-US" sz="2000" dirty="0"/>
          </a:p>
        </p:txBody>
      </p:sp>
      <p:sp>
        <p:nvSpPr>
          <p:cNvPr id="9" name="Shape 7"/>
          <p:cNvSpPr/>
          <p:nvPr/>
        </p:nvSpPr>
        <p:spPr>
          <a:xfrm>
            <a:off x="548640" y="482542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3449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ogni riga: nessun motore, nessuna libreria oltre alle chiamate di PRG32</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Ecco dove state andando: l'immagine a destra è il gioco della Parte 4</a:t>
            </a:r>
            <a:endParaRPr lang="en-US" sz="20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alla fine del corso (Parte 4)</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piano: quattro parti e una pubblicazione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638145"/>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Aggiungete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Usa le Lezioni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07  Parte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una griglia, una testa, il movimento automatico, il ritorno a capo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da 03 a 06: informazione e numeri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  Parte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guida con il joystick, il cibo, un 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da 08 a 11: logica e circuiti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17  Parte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corpo che cresce, le collisioni, le schermate di titolo e di fine partita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da 13 a 16: stato e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22  Parte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disegno veloce, punteggio in cifre, livelli, suono: il gioco finito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da 18 a 21: la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23  Lo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bundle con manifest, icona e crediti, pronto per la revisione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prende la Parte 1 dalle lezioni</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092518"/>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 compare oggi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registri, la / lw / sw, call e il frame di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ovunque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giochi rétro come esemplari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scelta del gioco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04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colori come numeri RGB565; stringhe terminate da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GREEN, il titolo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scorrimenti come moltiplicazioni; confronti; ritorno a capo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da cella a pixel; il bordo del mondo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 una frazione come intero scalato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velocità del verme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Passo 0: il ciclo di lavoro</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Modificare, compilare, eseguire, guardare.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Compilare ed eseguire</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1: tre funzioni che ritornano</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verm1.S - my Verm1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Scrivetelo, compilatelo, eseguitelo: uno schermo nero è la risposta giusta</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Il prefisso verm1 è il nome che passate a --entry-prefix</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init viene eseguita una volta; update e draw una volta per frame</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Da ora in poi: aggiungere una cosa, eseguire, guardare. Mai due cose insieme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Passo 2: una griglia e una testa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Costanti, variabili, e un rettangolo.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Costanti: i colori e la griglia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500" dirty="0">
                <a:solidFill>
                  <a:srgbClr val="8FB3A0"/>
                </a:solidFill>
                <a:latin typeface="Courier New" pitchFamily="34" charset="0"/>
                <a:ea typeface="Courier New" pitchFamily="34" charset="-122"/>
                <a:cs typeface="Courier New" pitchFamily="34" charset="-120"/>
              </a:rPr>
              <a:t># RGB565 colours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WHITE, 0xffff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  8               </a:t>
            </a:r>
            <a:pPr indent="0" marL="0">
              <a:buNone/>
            </a:pPr>
            <a:r>
              <a:rPr lang="en-US" sz="1500" dirty="0">
                <a:solidFill>
                  <a:srgbClr val="8FB3A0"/>
                </a:solidFill>
                <a:latin typeface="Courier New" pitchFamily="34" charset="0"/>
                <a:ea typeface="Courier New" pitchFamily="34" charset="-122"/>
                <a:cs typeface="Courier New" pitchFamily="34" charset="-120"/>
              </a:rPr>
              <a:t># a cell is 8 x 8 pixels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COLS,  40              </a:t>
            </a:r>
            <a:pPr indent="0" marL="0">
              <a:buNone/>
            </a:pPr>
            <a:r>
              <a:rPr lang="en-US" sz="1500" dirty="0">
                <a:solidFill>
                  <a:srgbClr val="8FB3A0"/>
                </a:solidFill>
                <a:latin typeface="Courier New" pitchFamily="34" charset="0"/>
                <a:ea typeface="Courier New" pitchFamily="34" charset="-122"/>
                <a:cs typeface="Courier New" pitchFamily="34" charset="-120"/>
              </a:rPr>
              <a:t># 320 / 8 cells across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ROWS,  24              </a:t>
            </a:r>
            <a:pPr indent="0" marL="0">
              <a:buNone/>
            </a:pPr>
            <a:r>
              <a:rPr lang="en-US" sz="1500" dirty="0">
                <a:solidFill>
                  <a:srgbClr val="8FB3A0"/>
                </a:solidFill>
                <a:latin typeface="Courier New" pitchFamily="34" charset="0"/>
                <a:ea typeface="Courier New" pitchFamily="34" charset="-122"/>
                <a:cs typeface="Courier New" pitchFamily="34" charset="-120"/>
              </a:rPr>
              <a:t># 192 / 8 cells down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TOP,   8               </a:t>
            </a:r>
            <a:pPr indent="0" marL="0">
              <a:buNone/>
            </a:pPr>
            <a:r>
              <a:rPr lang="en-US" sz="1500" dirty="0">
                <a:solidFill>
                  <a:srgbClr val="8FB3A0"/>
                </a:solidFill>
                <a:latin typeface="Courier New" pitchFamily="34" charset="0"/>
                <a:ea typeface="Courier New" pitchFamily="34" charset="-122"/>
                <a:cs typeface="Courier New" pitchFamily="34" charset="-120"/>
              </a:rPr>
              <a:t># the top 8 pixels are the title line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SPEED_Q8, 40           </a:t>
            </a:r>
            <a:pPr indent="0" marL="0">
              <a:buNone/>
            </a:pPr>
            <a:r>
              <a:rPr lang="en-US" sz="1500" dirty="0">
                <a:solidFill>
                  <a:srgbClr val="8FB3A0"/>
                </a:solidFill>
                <a:latin typeface="Courier New" pitchFamily="34" charset="0"/>
                <a:ea typeface="Courier New" pitchFamily="34" charset="-122"/>
                <a:cs typeface="Courier New" pitchFamily="34" charset="-120"/>
              </a:rPr>
              <a:t># 40/256 of a cell per frame (Q24.8)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verm1_draw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colori sono numeri RGB565: 0x07e0 è verde puro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320 pixel in larghezza, 8 per cella: 40 colonne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8 pixel in alto contengono il titolo; ne restano 192: 24 righe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.equ dà un nome a un numero: non si usa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mondo di Verm1</a:t>
            </a:r>
            <a:endParaRPr lang="en-US" sz="3200" dirty="0"/>
          </a:p>
        </p:txBody>
      </p:sp>
      <p:pic>
        <p:nvPicPr>
          <p:cNvPr id="4" name="Image 0" descr="preencoded.png">    </p:cNvPr>
          <p:cNvPicPr>
            <a:picLocks noChangeAspect="1"/>
          </p:cNvPicPr>
          <p:nvPr/>
        </p:nvPicPr>
        <p:blipFill>
          <a:blip r:embed="rId1"/>
          <a:stretch>
            <a:fillRect/>
          </a:stretch>
        </p:blipFill>
        <p:spPr>
          <a:xfrm>
            <a:off x="548640" y="1434168"/>
            <a:ext cx="6949440" cy="4721184"/>
          </a:xfrm>
          <a:prstGeom prst="rect">
            <a:avLst/>
          </a:prstGeom>
        </p:spPr>
      </p:pic>
      <p:sp>
        <p:nvSpPr>
          <p:cNvPr id="5" name="Shape 1"/>
          <p:cNvSpPr/>
          <p:nvPr/>
        </p:nvSpPr>
        <p:spPr>
          <a:xfrm>
            <a:off x="7772400" y="1485011"/>
            <a:ext cx="146304" cy="146304"/>
          </a:xfrm>
          <a:prstGeom prst="rect">
            <a:avLst/>
          </a:prstGeom>
          <a:solidFill>
            <a:srgbClr val="0E7C86"/>
          </a:solidFill>
          <a:ln w="12700">
            <a:solidFill>
              <a:srgbClr val="0E7C86"/>
            </a:solidFill>
            <a:prstDash val="solid"/>
          </a:ln>
        </p:spPr>
      </p:sp>
      <p:sp>
        <p:nvSpPr>
          <p:cNvPr id="6" name="Text 2"/>
          <p:cNvSpPr txBox="1"/>
          <p:nvPr/>
        </p:nvSpPr>
        <p:spPr>
          <a:xfrm>
            <a:off x="8156448" y="1417320"/>
            <a:ext cx="3486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verme non vive nei pixel: vive nelle celle</a:t>
            </a:r>
            <a:endParaRPr lang="en-US" sz="1700" dirty="0"/>
          </a:p>
        </p:txBody>
      </p:sp>
      <p:sp>
        <p:nvSpPr>
          <p:cNvPr id="7" name="Shape 3"/>
          <p:cNvSpPr/>
          <p:nvPr/>
        </p:nvSpPr>
        <p:spPr>
          <a:xfrm>
            <a:off x="7772400" y="2240979"/>
            <a:ext cx="146304" cy="146304"/>
          </a:xfrm>
          <a:prstGeom prst="rect">
            <a:avLst/>
          </a:prstGeom>
          <a:solidFill>
            <a:srgbClr val="C7791B"/>
          </a:solidFill>
          <a:ln w="12700">
            <a:solidFill>
              <a:srgbClr val="C7791B"/>
            </a:solidFill>
            <a:prstDash val="solid"/>
          </a:ln>
        </p:spPr>
      </p:sp>
      <p:sp>
        <p:nvSpPr>
          <p:cNvPr id="8" name="Text 4"/>
          <p:cNvSpPr txBox="1"/>
          <p:nvPr/>
        </p:nvSpPr>
        <p:spPr>
          <a:xfrm>
            <a:off x="8156448" y="2173288"/>
            <a:ext cx="3486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Una posizione è una colonna, da 0 a 39, e una riga, da 0 a 23</a:t>
            </a:r>
            <a:endParaRPr lang="en-US" sz="1700" dirty="0"/>
          </a:p>
        </p:txBody>
      </p:sp>
      <p:sp>
        <p:nvSpPr>
          <p:cNvPr id="9" name="Shape 5"/>
          <p:cNvSpPr/>
          <p:nvPr/>
        </p:nvSpPr>
        <p:spPr>
          <a:xfrm>
            <a:off x="7772400" y="2996946"/>
            <a:ext cx="146304" cy="146304"/>
          </a:xfrm>
          <a:prstGeom prst="rect">
            <a:avLst/>
          </a:prstGeom>
          <a:solidFill>
            <a:srgbClr val="0E7C86"/>
          </a:solidFill>
          <a:ln w="12700">
            <a:solidFill>
              <a:srgbClr val="0E7C86"/>
            </a:solidFill>
            <a:prstDash val="solid"/>
          </a:ln>
        </p:spPr>
      </p:sp>
      <p:sp>
        <p:nvSpPr>
          <p:cNvPr id="10" name="Text 6"/>
          <p:cNvSpPr txBox="1"/>
          <p:nvPr/>
        </p:nvSpPr>
        <p:spPr>
          <a:xfrm>
            <a:off x="8156448" y="2929255"/>
            <a:ext cx="3486607" cy="146761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Per disegnare una cella la si trasforma in pixel</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x = colonna x 8: uno scorrimento a sinistra di 3</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y = riga x 8 + 8: prima viene la riga del titolo</a:t>
            </a:r>
            <a:endParaRPr lang="en-US" sz="1700" dirty="0"/>
          </a:p>
        </p:txBody>
      </p:sp>
      <p:sp>
        <p:nvSpPr>
          <p:cNvPr id="11" name="Shape 7"/>
          <p:cNvSpPr/>
          <p:nvPr/>
        </p:nvSpPr>
        <p:spPr>
          <a:xfrm>
            <a:off x="7772400" y="4693730"/>
            <a:ext cx="146304" cy="146304"/>
          </a:xfrm>
          <a:prstGeom prst="rect">
            <a:avLst/>
          </a:prstGeom>
          <a:solidFill>
            <a:srgbClr val="C7791B"/>
          </a:solidFill>
          <a:ln w="12700">
            <a:solidFill>
              <a:srgbClr val="C7791B"/>
            </a:solidFill>
            <a:prstDash val="solid"/>
          </a:ln>
        </p:spPr>
      </p:sp>
      <p:sp>
        <p:nvSpPr>
          <p:cNvPr id="12" name="Text 8"/>
          <p:cNvSpPr txBox="1"/>
          <p:nvPr/>
        </p:nvSpPr>
        <p:spPr>
          <a:xfrm>
            <a:off x="8156448" y="4626039"/>
            <a:ext cx="3486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La testa parte dalla colonna 5 della riga 12</a:t>
            </a:r>
            <a:endParaRPr lang="en-US" sz="1700" dirty="0"/>
          </a:p>
        </p:txBody>
      </p:sp>
      <p:sp>
        <p:nvSpPr>
          <p:cNvPr id="13" name="Shape 9"/>
          <p:cNvSpPr/>
          <p:nvPr/>
        </p:nvSpPr>
        <p:spPr>
          <a:xfrm>
            <a:off x="7772400" y="5449697"/>
            <a:ext cx="146304" cy="146304"/>
          </a:xfrm>
          <a:prstGeom prst="rect">
            <a:avLst/>
          </a:prstGeom>
          <a:solidFill>
            <a:srgbClr val="0E7C86"/>
          </a:solidFill>
          <a:ln w="12700">
            <a:solidFill>
              <a:srgbClr val="0E7C86"/>
            </a:solidFill>
            <a:prstDash val="solid"/>
          </a:ln>
        </p:spPr>
      </p:sp>
      <p:sp>
        <p:nvSpPr>
          <p:cNvPr id="14" name="Text 10"/>
          <p:cNvSpPr txBox="1"/>
          <p:nvPr/>
        </p:nvSpPr>
        <p:spPr>
          <a:xfrm>
            <a:off x="8156448" y="5382006"/>
            <a:ext cx="3486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Pensare in celle rende semplice ogni regola successiva: muoversi è sommare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Variabili e una stringa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   .asciz "VERM1"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head_x:  .word 5                </a:t>
            </a:r>
            <a:pPr indent="0" marL="0">
              <a:buNone/>
            </a:pPr>
            <a:r>
              <a:rPr lang="en-US" sz="1500" dirty="0">
                <a:solidFill>
                  <a:srgbClr val="8FB3A0"/>
                </a:solidFill>
                <a:latin typeface="Courier New" pitchFamily="34" charset="0"/>
                <a:ea typeface="Courier New" pitchFamily="34" charset="-122"/>
                <a:cs typeface="Courier New" pitchFamily="34" charset="-120"/>
              </a:rPr>
              <a:t># column of the head, 0 .. COLS-1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head_y:  .word 12               </a:t>
            </a:r>
            <a:pPr indent="0" marL="0">
              <a:buNone/>
            </a:pPr>
            <a:r>
              <a:rPr lang="en-US" sz="1500" dirty="0">
                <a:solidFill>
                  <a:srgbClr val="8FB3A0"/>
                </a:solidFill>
                <a:latin typeface="Courier New" pitchFamily="34" charset="0"/>
                <a:ea typeface="Courier New" pitchFamily="34" charset="-122"/>
                <a:cs typeface="Courier New" pitchFamily="34" charset="-120"/>
              </a:rPr>
              <a:t># row of the head, 0 .. ROWS-1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                </a:t>
            </a:r>
            <a:pPr indent="0" marL="0">
              <a:buNone/>
            </a:pPr>
            <a:r>
              <a:rPr lang="en-US" sz="1500" dirty="0">
                <a:solidFill>
                  <a:srgbClr val="8FB3A0"/>
                </a:solidFill>
                <a:latin typeface="Courier New" pitchFamily="34" charset="0"/>
                <a:ea typeface="Courier New" pitchFamily="34" charset="-122"/>
                <a:cs typeface="Courier New" pitchFamily="34" charset="-120"/>
              </a:rPr>
              <a:t># fraction of a step, in 1/256</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.rodata contiene le costanti: il titolo termina con un byte a zero</a:t>
            </a:r>
            <a:endParaRPr lang="en-US" sz="15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.data contiene le variabili: una parola di 32 bit ciascuna</a:t>
            </a:r>
            <a:endParaRPr lang="en-US" sz="15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 valori iniziali sono solo un punto di partenza: init li imposta di nuovo</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init: la testa al suo posto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5</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the head starts in column 5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 of row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zero, 0(t0)            </a:t>
            </a:r>
            <a:pPr indent="0" marL="0">
              <a:buNone/>
            </a:pPr>
            <a:r>
              <a:rPr lang="en-US" sz="1500" dirty="0">
                <a:solidFill>
                  <a:srgbClr val="8FB3A0"/>
                </a:solidFill>
                <a:latin typeface="Courier New" pitchFamily="34" charset="0"/>
                <a:ea typeface="Courier New" pitchFamily="34" charset="-122"/>
                <a:cs typeface="Courier New" pitchFamily="34" charset="-120"/>
              </a:rPr>
              <a:t># no fraction of a step yet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prende un INDIRIZZO, sw vi memorizza un VALORE</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init imposta la partenza in modo esplicito: mai fidarsi di ciò che la memoria conteneva</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zero è il registro che si legge sempre 0</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Una funzione foglia: nessuna chiamata, quindi nessun frame di stack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draw: titolo e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verm1_draw:</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prg32_gfx_clear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0                  </a:t>
            </a:r>
            <a:pPr indent="0" marL="0">
              <a:buNone/>
            </a:pPr>
            <a:r>
              <a:rPr lang="en-US" sz="1150" dirty="0">
                <a:solidFill>
                  <a:srgbClr val="8FB3A0"/>
                </a:solidFill>
                <a:latin typeface="Courier New" pitchFamily="34" charset="0"/>
                <a:ea typeface="Courier New" pitchFamily="34" charset="-122"/>
                <a:cs typeface="Courier New" pitchFamily="34" charset="-120"/>
              </a:rPr>
              <a:t># 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a1, 0                  </a:t>
            </a:r>
            <a:pPr indent="0" marL="0">
              <a:buNone/>
            </a:pPr>
            <a:r>
              <a:rPr lang="en-US" sz="1150" dirty="0">
                <a:solidFill>
                  <a:srgbClr val="8FB3A0"/>
                </a:solidFill>
                <a:latin typeface="Courier New" pitchFamily="34" charset="0"/>
                <a:ea typeface="Courier New" pitchFamily="34" charset="-122"/>
                <a:cs typeface="Courier New" pitchFamily="34" charset="-120"/>
              </a:rPr>
              <a:t># 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a2, title              </a:t>
            </a:r>
            <a:pPr indent="0" marL="0">
              <a:buNone/>
            </a:pPr>
            <a:r>
              <a:rPr lang="en-US" sz="1150" dirty="0">
                <a:solidFill>
                  <a:srgbClr val="8FB3A0"/>
                </a:solidFill>
                <a:latin typeface="Courier New" pitchFamily="34" charset="0"/>
                <a:ea typeface="Courier New" pitchFamily="34" charset="-122"/>
                <a:cs typeface="Courier New" pitchFamily="34" charset="-120"/>
              </a:rPr>
              <a:t># address of the string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WHITE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prg32_gfx_text8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a0,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a0, a0, 3              </a:t>
            </a:r>
            <a:pPr indent="0" marL="0">
              <a:buNone/>
            </a:pPr>
            <a:r>
              <a:rPr lang="en-US" sz="1150" dirty="0">
                <a:solidFill>
                  <a:srgbClr val="8FB3A0"/>
                </a:solidFill>
                <a:latin typeface="Courier New" pitchFamily="34" charset="0"/>
                <a:ea typeface="Courier New" pitchFamily="34" charset="-122"/>
                <a:cs typeface="Courier New" pitchFamily="34" charset="-120"/>
              </a:rPr>
              <a:t># x = column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a1, a1,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150" dirty="0">
                <a:solidFill>
                  <a:srgbClr val="8FB3A0"/>
                </a:solidFill>
                <a:latin typeface="Courier New" pitchFamily="34" charset="0"/>
                <a:ea typeface="Courier New" pitchFamily="34" charset="-122"/>
                <a:cs typeface="Courier New" pitchFamily="34" charset="-120"/>
              </a:rPr>
              <a:t># y = row * 8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a2, CELL               </a:t>
            </a:r>
            <a:pPr indent="0" marL="0">
              <a:buNone/>
            </a:pPr>
            <a:r>
              <a:rPr lang="en-US" sz="1150" dirty="0">
                <a:solidFill>
                  <a:srgbClr val="8FB3A0"/>
                </a:solidFill>
                <a:latin typeface="Courier New" pitchFamily="34" charset="0"/>
                <a:ea typeface="Courier New" pitchFamily="34" charset="-122"/>
                <a:cs typeface="Courier New" pitchFamily="34" charset="-120"/>
              </a:rPr>
              <a:t># width</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CELL               </a:t>
            </a:r>
            <a:pPr indent="0" marL="0">
              <a:buNone/>
            </a:pPr>
            <a:r>
              <a:rPr lang="en-US" sz="1150" dirty="0">
                <a:solidFill>
                  <a:srgbClr val="8FB3A0"/>
                </a:solidFill>
                <a:latin typeface="Courier New" pitchFamily="34" charset="0"/>
                <a:ea typeface="Courier New" pitchFamily="34" charset="-122"/>
                <a:cs typeface="Courier New" pitchFamily="34" charset="-120"/>
              </a:rPr>
              <a:t># height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GREEN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prg32_gfx_rect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Cancellare, scrivere il titolo, disegnare un rettangolo: tre chiamate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argomenti viaggiano da a0 ad a4, nell'ordine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slli di 3 moltiplica per 8: da cella a pixel</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fa delle chiamate, quindi salva ra in un frame di stack</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una testa sulla griglia</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1.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Il titolo e la testa. Dopo il passo 3 la testa si muoverà: questa immagine è stata presa a 64 frame dall'avvio della Parte 1 finita</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Atteso ora: la parola VERM1 in alto a sinistra e un quadrato verde fermo nella colonna 5, riga 12.</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Passo 3: il movimento</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Una velocità minore di una cella per frame.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che velocità deve andare un verme?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viene eseguita circa trenta volte al secondo</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cella per frame attraverserebbe lo schermo in poco più di un secondo: ingiocabile</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Vogliamo una frazione di cella per frame, e il processore del kit ha solo gli interi</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Virgola fissa, Q24.8: si tiene la frazione in 1/256 di cella, e si fa un passo ogni volta che si è accumulata una cella intera</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SPEED_Q8 = 40 significa 40/256 = 0,156 celle per frame: circa un passo ogni 6 frame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40 / 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di cella per frame: un passo quando la somma supera 256, e il resto non si butta via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update: accumulare, avanzare, rientrare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350" dirty="0">
                <a:solidFill>
                  <a:srgbClr val="8FB3A0"/>
                </a:solidFill>
                <a:latin typeface="Courier New" pitchFamily="34" charset="0"/>
                <a:ea typeface="Courier New" pitchFamily="34" charset="-122"/>
                <a:cs typeface="Courier New" pitchFamily="34" charset="-120"/>
              </a:rPr>
              <a:t># add a fraction of a cell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t2, 256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t1, t2, 2f             </a:t>
            </a:r>
            <a:pPr indent="0" marL="0">
              <a:buNone/>
            </a:pPr>
            <a:r>
              <a:rPr lang="en-US" sz="1350" dirty="0">
                <a:solidFill>
                  <a:srgbClr val="8FB3A0"/>
                </a:solidFill>
                <a:latin typeface="Courier New" pitchFamily="34" charset="0"/>
                <a:ea typeface="Courier New" pitchFamily="34" charset="-122"/>
                <a:cs typeface="Courier New" pitchFamily="34" charset="-120"/>
              </a:rPr>
              <a:t># less than one whole cell: wait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sub  t1, t1, t2             </a:t>
            </a:r>
            <a:pPr indent="0" marL="0">
              <a:buNone/>
            </a:pPr>
            <a:r>
              <a:rPr lang="en-US" sz="1350" dirty="0">
                <a:solidFill>
                  <a:srgbClr val="8FB3A0"/>
                </a:solidFill>
                <a:latin typeface="Courier New" pitchFamily="34" charset="0"/>
                <a:ea typeface="Courier New" pitchFamily="34" charset="-122"/>
                <a:cs typeface="Courier New" pitchFamily="34" charset="-120"/>
              </a:rPr>
              <a:t># one cell done: keep the remainder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t3, t3, 1              </a:t>
            </a:r>
            <a:pPr indent="0" marL="0">
              <a:buNone/>
            </a:pPr>
            <a:r>
              <a:rPr lang="en-US" sz="1350" dirty="0">
                <a:solidFill>
                  <a:srgbClr val="8FB3A0"/>
                </a:solidFill>
                <a:latin typeface="Courier New" pitchFamily="34" charset="0"/>
                <a:ea typeface="Courier New" pitchFamily="34" charset="-122"/>
                <a:cs typeface="Courier New" pitchFamily="34" charset="-120"/>
              </a:rPr>
              <a:t># one cell to the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t3, t4,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t3, 0                  </a:t>
            </a:r>
            <a:pPr indent="0" marL="0">
              <a:buNone/>
            </a:pPr>
            <a:r>
              <a:rPr lang="en-US" sz="1350" dirty="0">
                <a:solidFill>
                  <a:srgbClr val="8FB3A0"/>
                </a:solidFill>
                <a:latin typeface="Courier New" pitchFamily="34" charset="0"/>
                <a:ea typeface="Courier New" pitchFamily="34" charset="-122"/>
                <a:cs typeface="Courier New" pitchFamily="34" charset="-120"/>
              </a:rPr>
              <a:t># past the right edge: back to column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 somma la velocità alla frazione; sotto 256, si aspetta</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256: lo si sottrae, si tiene il resto, si avanza di una cella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La colonna 40 non esiste: si torna alla colonna 0</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Due uscite: ognuna memorizza ciò che ha cambiato</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Tracciare a mano</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2091570"/>
                <a:gridCol w="1364067"/>
                <a:gridCol w="2728135"/>
                <a:gridCol w="2000632"/>
                <a:gridCol w="172781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prima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Cella intera?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dopo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head_x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 280 - 256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 264 - 256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 passi arrivano ogni 6 o 7 frame: il resto porta con sé la differenza, come in un anno bisestile.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la testa attraversa il mondo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la testa va verso destra, circa cinque celle al secondo</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Aspettate il bordo destro: la testa esce dalla colonna 39 e rientra dalla colonna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Portate SPEED_Q8 a 8, poi a 128, poi a 256: prevedete la velocità prima di eseguire</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Cambiate in init la riga di partenza e il colore della testa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 testa attraversa le quaranta colonne in 256 frame, circa otto secondi e mezzo a trenta frame al secondo, all'infinito.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300" b="1" dirty="0">
                <a:solidFill>
                  <a:srgbClr val="FFFFFF"/>
                </a:solidFill>
                <a:latin typeface="Cambria" pitchFamily="34" charset="0"/>
                <a:ea typeface="Cambria" pitchFamily="34" charset="-122"/>
                <a:cs typeface="Cambria" pitchFamily="34" charset="-120"/>
              </a:rPr>
              <a:t>Passo 4: guardare dentro con PRG32-QT</a:t>
            </a:r>
            <a:endParaRPr lang="en-US" sz="43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Il debugger fa parte del metodo: non è uno strumento d'emergenza.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Fermare il programma e leggere la macchina</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aprite Settings e attivate: Run cartridges in RISC-V debug mode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Eseguite la vostra cartuccia: il gioco è a sinistra, il debugger a destra</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Premete Update: il listato salta a verm1_update. Cliccate nel margine per mettere un breakpoint sulla sua prima istruzione</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si ferma lì al frame successivo. Premete Step e guardate cambiare i registri, un'istruzione alla volta</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Dopo le due istruzioni di la, t0 contiene un indirizzo: scrivetelo nel campo Memory per vedere step_q8 in memoria</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e guardate i byte di step_q8 crescere di 40 (0x28) a ogni fermata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listato: il vostro codice dopo l'assemblatore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auipc   t0, 0x0          # la t0, step_q8   is two instructions: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t0, t0, ...      #   t0 = address of step_q8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t1, t1, 40       # SPEED_Q8 is gone: only the number is left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t2, zero, 256    # li t2,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t1, t2,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sub     t1, t1, t2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c.addi  t3, 1            # addi t3, t3, 1 in a 16-bit form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c.jr    ra               # ret</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nomi sono spariti: le etichette sono diventate indirizzi, le costanti numeri</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Le pseudo-istruzioni sono espanse: la è auipc più addi, li è addi da zero, ret è un salto a ra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Alcune istruzioni cominciano con c.: sono le forme compresse a 16 bit delle stesse istruzioni</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cartuccia è caricata all'indirizzo 0x40800000: ogni indirizzo che vedete parte da lì</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Leggere la memoria: little-endian, dal vivo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vista Memory mostra 128 byte a partire dall'indirizzo scritto, in esadecimale</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step_q8 è una parola di .data: i suoi quattro byte arrivano dal meno significativo</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Con step_q8 = 240 si legge F0 00 00 00</a:t>
            </a:r>
            <a:endParaRPr lang="en-US" sz="2100" dirty="0"/>
          </a:p>
        </p:txBody>
      </p:sp>
      <p:sp>
        <p:nvSpPr>
          <p:cNvPr id="9" name="Shape 7"/>
          <p:cNvSpPr/>
          <p:nvPr/>
        </p:nvSpPr>
        <p:spPr>
          <a:xfrm>
            <a:off x="548640" y="386200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6332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head_x e head_y sono le due parole che la precedono nel file, e che la precedono in memoria</a:t>
            </a:r>
            <a:endParaRPr lang="en-US" sz="2100" dirty="0"/>
          </a:p>
        </p:txBody>
      </p:sp>
      <p:sp>
        <p:nvSpPr>
          <p:cNvPr id="11" name="Shape 9"/>
          <p:cNvSpPr/>
          <p:nvPr/>
        </p:nvSpPr>
        <p:spPr>
          <a:xfrm>
            <a:off x="548640" y="496938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70704"/>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Qui non si cambia nulla: il debugger osserva soltanto. Per cambiare il programma: modificare, compilare, eseguire</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listato, registri,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Con SPEED_Q8 = 64, quanti frame passano tra due passi della testa?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64</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256</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Quale pixel è l'angolo in alto a sinistra della cella in colonna 10, riga 3?</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(10, 3)</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(80, 24)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(80, 32)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(88, 32)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Perché verm1_draw salva ra e verm1_update no?</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è più lunga</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chiama altre funzioni, che sovrascrivono ra</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update non usa registri</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update ra è salvato automaticamente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Fatelo vostro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 muovere la testa verso sinistra: quale istruzione cambia, e quale confronto rileva il bordo?</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Fatela muovere invece verso il basso, rientrando dalla riga 23 alla riga 0</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Disegnate una seconda cella, di un verde più scuro, una colonna dietro la testa: un primo accenno di corpo</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Scrivete il vostro nome accanto al titolo, in un colore calcolato a mano in RGB565</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Ogni modifica sono poche righe. Tenete una copia della Parte 1 funzionante prima di sperimentare: la Parte 2 parte da lì.</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siamo, e che cosa viene dopo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Avete una cartuccia che gira, compilata da un file che avete scritto e che capite riga per riga</a:t>
            </a:r>
            <a:endParaRPr lang="en-US" sz="2200" dirty="0"/>
          </a:p>
        </p:txBody>
      </p:sp>
      <p:sp>
        <p:nvSpPr>
          <p:cNvPr id="5" name="Shape 3"/>
          <p:cNvSpPr/>
          <p:nvPr/>
        </p:nvSpPr>
        <p:spPr>
          <a:xfrm>
            <a:off x="548640" y="27622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558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Uno stato in memoria, una regola che lo cambia a ogni frame, una funzione che lo disegna: la forma di ogni gioco</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Manca il giocatore. La testa va dove vuole lei</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Lezioni da 08 a 11 danno gli strumenti: bit e maschere per leggere il joystick, regole booleane, tabelle che selezionano</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Parte 2: la guida, il cibo e un punteggio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1: una testa che attraversa il mondo</dc:title>
  <dc:subject>Lezione 07</dc:subject>
  <dc:creator>Raffaele Montella</dc:creator>
  <cp:lastModifiedBy>Raffaele Montella</cp:lastModifiedBy>
  <cp:revision>1</cp:revision>
  <dcterms:created xsi:type="dcterms:W3CDTF">2026-10-12T11:28:40Z</dcterms:created>
  <dcterms:modified xsi:type="dcterms:W3CDTF">2026-10-12T11:28:40Z</dcterms:modified>
</cp:coreProperties>
</file>