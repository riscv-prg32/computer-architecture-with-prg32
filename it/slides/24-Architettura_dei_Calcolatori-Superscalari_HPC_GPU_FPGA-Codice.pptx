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a5e1dc3-7e44-f7e8-fc83-7b6dba1582d6}">
          <p14:sldIdLst>
            <p14:sldId id="256"/>
            <p14:sldId id="257"/>
          </p14:sldIdLst>
        </p14:section>
        <p14:section name="I listati" id="{33aae4a0-7980-be46-5931-12e3e65c8875}">
          <p14:sldIdLst>
            <p14:sldId id="258"/>
            <p14:sldId id="259"/>
            <p14:sldId id="260"/>
            <p14:sldId id="261"/>
            <p14:sldId id="262"/>
            <p14:sldId id="263"/>
            <p14:sldId id="264"/>
            <p14:sldId id="265"/>
          </p14:sldIdLst>
        </p14:section>
        <p14:section name="Il programma completo" id="{15464e6f-82a3-8b23-be11-55fe87369be8}">
          <p14:sldIdLst>
            <p14:sldId id="266"/>
            <p14:sldId id="267"/>
            <p14:sldId id="268"/>
            <p14:sldId id="269"/>
          </p14:sldIdLst>
        </p14:section>
        <p14:section name="Eseguire e provare" id="{490f4416-a588-71ed-5f3f-a72e3eb785ee}">
          <p14:sldIdLst>
            <p14:sldId id="270"/>
            <p14:sldId id="271"/>
            <p14:sldId id="272"/>
            <p14:sldId id="273"/>
            <p14:sldId id="274"/>
            <p14:sldId id="275"/>
          </p14:sldIdLst>
        </p14:section>
        <p14:section name="Esercizi" id="{644985fa-1505-1edb-4824-336765678b7b}">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24.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~/arc12/code/l24.S; tools/tests/cartridges/run.py lo compila, lo esegue su PRG32-QT con ingressi programmati e controlla i pixel del frame.
Per il docente: Procurarsi il codice una volta: git clone https://github.com/riscv-prg32/computer-architecture-with-prg32 ~/arc12. Il programma di questa lezione è ~/arc12/code/l24.S;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che svuota la mappa in new_game: 960 byte messi a zero. Quattro istruzioni per giro: lo store di un byte, l'incremento dell'indirizzo, il decremento del contatore, il salto all'indietro. In tutto 3.840 istruzioni, un byte alla volta, un'istruzione alla volta. Sul kit impiega circa 24 microsecondi, e nessuno ha bisogno che sia più veloce. È stato scelto perché è abbastanza piccolo da poterlo seguire su ogni macchina di oggi. In quanti modi lo si può rendere più veloce?
Per il docente: Il ciclo del processore della Lezione 19. Nel caso migliore un'istruzione per ciclo di clock, e 160 milioni di cicli al secondo sul kit: circa 24 microsecondi. Nessuno ha bisogno che questo ciclo sia più veloce; è abbastanza piccolo da poterlo seguire su ogni macchina di oggi.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si mette di mezzo. La seconda istruzione usa t0, che la prima sta ancora calcolando: non può correrle accanto. È una dipendenza sui dati. La terza non dipende da nessuno, eppure in un processore in ordine aspetta dietro la seconda. La quarta è un salto: finché non è risolto il processore non sa se la quinta vada eseguita. È una dipendenza sul controllo. I programmi veri sono pieni di catene così, quindi la larghezza da sola non basta.
Per il docente: Dipendenze sui dati, dipendenze sul controllo. Un superscalare in ordine si blocca a i2 e tutto ciò che sta dietro aspetta. Il rimedio è lasciare che i3 sorpassi.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ridenominazione dei registri su un esempio. A sinistra il codice come è scritto: due metà, ciascuna delle quali carica una parola, la incrementa e la memorizza di nuovo, ed entrambe usano t0. La seconda metà riusa il nome, non il valore: è una falsa dipendenza. A destra, dopo la ridenominazione, ogni nuovo valore ha il suo registro fisico, e le due metà non condividono nulla, quindi possono essere eseguite nello stesso momento. I trentadue registri che conoscete sono nomi; il chip ha qualche centinaio di registri.
Per il docente: Una falsa dipendenza: lo stesso nome per due valori che non c'entrano l'uno con l'altro. Da p41 a p44 sono numeri inventati di registri fisici. Un core grande ne ha qualche centinaio.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ciclo con l'estensione vettoriale. v0 è un registro vettoriale, largo molti byte, riempito di zeri. A ogni giro vsetvli chiede: dei byte ancora da fare, quanti ne entrano in un registro? La risposta va in t2. vse8.v memorizza quel numero di byte con una sola istruzione, e l'indirizzo e il contatore avanzano di t2. Con registri a 128 bit un giro tratta 16 byte: 60 giri invece di 960. Il codice non dichiara mai la larghezza dei registri, quindi lo stesso programma funziona con qualunque larghezza.
Per il docente: L'estensione V, ratificata nel 2021. Sul kit non c'è: l'ESP32-C6 è RV32IMAC. Il codice non dice mai quanto sono larghi i registri: è indipendente dalla lunghezza del vettore (vector-length agnostic), e lo stesso binario usa 128, 256 o 1024 bit. Provato su QEMU a 128, 256, 512 e 1024 bit da tools/tests/vector_qemu.S.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somma, corsia per corsia. Un registro vettoriale contiene più parole, ciascuna nella sua corsia (lane). vle32.v carica più parole insieme; vadd.vv somma due registri corsia per corsia, così v1 accumula tante somme parziali quante sono le corsie. Alla fine vredsum somma tra loro le corsie in un solo numero. Con i sedici numeri da 1 a 16 il risultato è 136. È la somma parallela che avete visto come figura nella Lezione 04, ora in forma di istruzioni.
Per il docente: La somma parallela delle Lezioni 04 e 20, in RISC-V. tu, tail undisturbed, conserva le somme parziali delle corsie che l'ultimo giro non usa. Provato su QEMU insieme al listato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mappa di Verm1 su una GPU. La funzione marcata come kernel gira una volta in ogni thread. Ogni thread calcola anzitutto chi è, il suo indice i, dal numero del suo blocco e dalla sua posizione nel blocco; poi, se l'indice sta dentro la mappa, azzera la propria cella. Non c'è un ciclo: ci sono 960 thread. L'ultima riga, sull'host, lancia quattro blocchi di 256 thread. Per 960 byte le due copie costano molto più del lavoro: questo esempio mostra la forma, non un guadagno.
Per il docente: CUDA C, nella sua forma abituale da manuale; non compilato per queste slide. L'ultima osservazione è seria: una GPU ripaga quando i dati sono grandi e il lavoro per elemento è reale. Chiedete: per quale dimensione della mappa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regola di Verm1 che vieta l'inversione a U, scritta come hardware. Verilog è un linguaggio che descrive circuiti, non sequenze di passi. Il modulo ha due ingressi di due bit, la direzione attuale e quella richiesta, e un'uscita. La riga con assign è un filo sempre vero: l'uscita vale 1 quando lo XOR delle due direzioni è uguale a 10 in binario. Non c'è un prima e un dopo. Sul kit la stessa regola costava tre istruzioni.
Per il docente: Un linguaggio di descrizione dell'hardware: Verilog, o VHDL. Non sintetizzato per queste slide. Le xor, li, beq della Parte 2 diventano porte che rispondono in una frazione di nanosecondo, in continuazione. Chiedete agli studenti di disegnare il circuito: refuse = (d1 xor w1) and not (d0 xor w0).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Svuotare le 960 celle della mappa. Sul kit: un byte per giro, 3.840 cicli. Su un core RISC-V fuori ordine: lo stesso binario, in una frazione di quei cicli. Con vettori a 128 bit: 60 giri. Su una GPU: un lancio di 960 thread, più due copie. Su una FPGA: 960 flip-flop con un reset comune, un ciclo di clock. Il lavoro è lo stesso; cambia quanta parte ne avviene nello stesso momento, e quanto costa ottenerlo. La domanda dell'ingegnere non è quale sia la più veloce, ma quale basti.
Per il docente: Il lavoro è lo stesso; cambia quanta parte ne avviene nello stesso momento. E i costi: alla prima riga servono un chip da due euro e quattro righe di assembly; all'ultima serve un progetto hardware. La domanda dell'ingegnere non è mai quale sia la più veloce, ma quale basti.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code/l24.S,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listati vettoriali di questa lezione non possono girare sul kit, il cui processore non ha l'estensione V. Sono provati invece su un processore emulato senza sistema: i comandi compilano un solo binario e lo eseguono con quattro lunghezze di vettore. Il codice di uscita è il risultato.
Per il docente: Eseguito dai test (tools/tests/run_all.sh, passo vectors). Su macOS non c'è il comando timeout: se un listato entra in un ciclo infinito, fermate QEMU con Ctrl-A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Compilate la tabella di Amdahl per p = 0,95. Disegnate il diagramma della pipeline di un processore di larghezza tre per nove istruzioni indipendenti. Rinominate i registri di un frammento di Verm1 e dite quali istruzioni potrebbero correre nello stesso ciclo. Scrivete la tabella di verità di una tabella di look-up a quattro ingressi per la regola dell'inversione a U. E compilate il test vettoriale ed eseguitelo su QEMU con due larghezze diverse: perché funziona lo stesso binario?
Per il docente: QEMU: qemu-system-riscv32 -machine virt -cpu rv32,v=true,vlen=128; il comando di compilazione è in tools/tests/README.md. I quattro uni della tabella: (dir, want) = (0,2), (1,3), (2,0),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24: Oltre un solo core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3500" b="1" dirty="0">
                <a:solidFill>
                  <a:srgbClr val="FFFFFF"/>
                </a:solidFill>
                <a:latin typeface="Cambria" pitchFamily="34" charset="0"/>
                <a:ea typeface="Cambria" pitchFamily="34" charset="-122"/>
                <a:cs typeface="Cambria" pitchFamily="34" charset="-120"/>
              </a:rPr>
              <a:t>Oltre un solo core: RISC-V superscalare, HPC, GPU e FPGA: il codice</a:t>
            </a:r>
            <a:endParaRPr lang="en-US" sz="3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cluster_1.jp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7 listati della Lezione 24,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code/l24.S, 72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che svuota la mappa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sb   zero, 0(t0)            </a:t>
            </a:r>
            <a:pPr indent="0" marL="0">
              <a:buNone/>
            </a:pPr>
            <a:r>
              <a:rPr lang="en-US" sz="1550" dirty="0">
                <a:solidFill>
                  <a:srgbClr val="8FB3A0"/>
                </a:solidFill>
                <a:latin typeface="Courier New" pitchFamily="34" charset="0"/>
                <a:ea typeface="Courier New" pitchFamily="34" charset="-122"/>
                <a:cs typeface="Courier New" pitchFamily="34" charset="-120"/>
              </a:rPr>
              <a:t># one byte per turn of the loop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t0, t0,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addi t1, t1,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Da new_game di Verm1: 960 byte messi a zero</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Quattro istruzioni per byte: 3 840 istruzioni in tutto</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byte alla volta, un'istruzione alla volta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In quanti modi lo si può rendere più veloce?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si mette di mezzo: le dipendenze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add  t0, t1, t2        </a:t>
            </a:r>
            <a:pPr indent="0" marL="0">
              <a:buNone/>
            </a:pPr>
            <a:r>
              <a:rPr lang="en-US" sz="1500" dirty="0">
                <a:solidFill>
                  <a:srgbClr val="8FB3A0"/>
                </a:solidFill>
                <a:latin typeface="Courier New" pitchFamily="34" charset="0"/>
                <a:ea typeface="Courier New" pitchFamily="34" charset="-122"/>
                <a:cs typeface="Courier New" pitchFamily="34" charset="-120"/>
              </a:rPr>
              <a:t># i1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t3, t0, t4        </a:t>
            </a:r>
            <a:pPr indent="0" marL="0">
              <a:buNone/>
            </a:pPr>
            <a:r>
              <a:rPr lang="en-US" sz="1500" dirty="0">
                <a:solidFill>
                  <a:srgbClr val="8FB3A0"/>
                </a:solidFill>
                <a:latin typeface="Courier New" pitchFamily="34" charset="0"/>
                <a:ea typeface="Courier New" pitchFamily="34" charset="-122"/>
                <a:cs typeface="Courier New" pitchFamily="34" charset="-120"/>
              </a:rPr>
              <a:t># i2 needs the t0 of i1: it must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t5, 0(t6)         </a:t>
            </a:r>
            <a:pPr indent="0" marL="0">
              <a:buNone/>
            </a:pPr>
            <a:r>
              <a:rPr lang="en-US" sz="1500" dirty="0">
                <a:solidFill>
                  <a:srgbClr val="8FB3A0"/>
                </a:solidFill>
                <a:latin typeface="Courier New" pitchFamily="34" charset="0"/>
                <a:ea typeface="Courier New" pitchFamily="34" charset="-122"/>
                <a:cs typeface="Courier New" pitchFamily="34" charset="-120"/>
              </a:rPr>
              <a:t># i3 is independent: it could go now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skip          </a:t>
            </a:r>
            <a:pPr indent="0" marL="0">
              <a:buNone/>
            </a:pPr>
            <a:r>
              <a:rPr lang="en-US" sz="1500" dirty="0">
                <a:solidFill>
                  <a:srgbClr val="8FB3A0"/>
                </a:solidFill>
                <a:latin typeface="Courier New" pitchFamily="34" charset="0"/>
                <a:ea typeface="Courier New" pitchFamily="34" charset="-122"/>
                <a:cs typeface="Courier New" pitchFamily="34" charset="-120"/>
              </a:rPr>
              <a:t># i4: which way? known only after i2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t5, t5, 1         </a:t>
            </a:r>
            <a:pPr indent="0" marL="0">
              <a:buNone/>
            </a:pPr>
            <a:r>
              <a:rPr lang="en-US" sz="1500" dirty="0">
                <a:solidFill>
                  <a:srgbClr val="8FB3A0"/>
                </a:solidFill>
                <a:latin typeface="Courier New" pitchFamily="34" charset="0"/>
                <a:ea typeface="Courier New" pitchFamily="34" charset="-122"/>
                <a:cs typeface="Courier New" pitchFamily="34" charset="-120"/>
              </a:rPr>
              <a:t># i5: executed, or not?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skip:</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i2 non può correre accanto a i1: ne usa il risultato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i3 non dipende da nessuno: perché dovrebbe aspettare?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Dopo un salto il processore non sa che cosa viene dopo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codice vero è pieno di catene così: la larghezza da sola non basta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Ridenominazione dei registri: trentadue nomi, molti registri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as written                 # as executed, after renaming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0(a0)                lw   p41,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p42, p41,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0(a0)                sw   p42, 0(a0)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t0, 4(a0)                lw   p43, 4(a0)      </a:t>
            </a:r>
            <a:pPr indent="0" marL="0">
              <a:buNone/>
            </a:pPr>
            <a:r>
              <a:rPr lang="en-US" sz="1500" dirty="0">
                <a:solidFill>
                  <a:srgbClr val="8FB3A0"/>
                </a:solidFill>
                <a:latin typeface="Courier New" pitchFamily="34" charset="0"/>
                <a:ea typeface="Courier New" pitchFamily="34" charset="-122"/>
                <a:cs typeface="Courier New" pitchFamily="34" charset="-120"/>
              </a:rPr>
              <a:t># a new 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t0, t0, 1                addi p44, p43, 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t0, 4(a0)                sw   p44, 4(a0)</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seconda metà riusa il nome t0, non il suo valore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Rinominate, le due metà non condividono nulla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Possono correre insieme, su registri diversi</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32 registri che conoscete sono nomi; il chip ne ha molti di più</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stesso ciclo, con i vettori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    la   t0, grid</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li   t1, COLS*ROWS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elements are bytes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vmv.v.i v0, 0                   </a:t>
            </a:r>
            <a:pPr indent="0" marL="0">
              <a:buNone/>
            </a:pPr>
            <a:r>
              <a:rPr lang="en-US" sz="1550" dirty="0">
                <a:solidFill>
                  <a:srgbClr val="8FB3A0"/>
                </a:solidFill>
                <a:latin typeface="Courier New" pitchFamily="34" charset="0"/>
                <a:ea typeface="Courier New" pitchFamily="34" charset="-122"/>
                <a:cs typeface="Courier New" pitchFamily="34" charset="-120"/>
              </a:rPr>
              <a:t># a register full of zeros</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1:  vsetvli t2, t1, e8, m1, ta, ma  </a:t>
            </a:r>
            <a:pPr indent="0" marL="0">
              <a:buNone/>
            </a:pPr>
            <a:r>
              <a:rPr lang="en-US" sz="1550" dirty="0">
                <a:solidFill>
                  <a:srgbClr val="8FB3A0"/>
                </a:solidFill>
                <a:latin typeface="Courier New" pitchFamily="34" charset="0"/>
                <a:ea typeface="Courier New" pitchFamily="34" charset="-122"/>
                <a:cs typeface="Courier New" pitchFamily="34" charset="-120"/>
              </a:rPr>
              <a:t># t2 = bytes of this turn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vse8.v  v0, (t0)                </a:t>
            </a:r>
            <a:pPr indent="0" marL="0">
              <a:buNone/>
            </a:pPr>
            <a:r>
              <a:rPr lang="en-US" sz="1550" dirty="0">
                <a:solidFill>
                  <a:srgbClr val="8FB3A0"/>
                </a:solidFill>
                <a:latin typeface="Courier New" pitchFamily="34" charset="0"/>
                <a:ea typeface="Courier New" pitchFamily="34" charset="-122"/>
                <a:cs typeface="Courier New" pitchFamily="34" charset="-120"/>
              </a:rPr>
              <a:t># store t2 bytes at once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add  t0, t0,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sub  t1, t1, t2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bnez t1, 1b</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v0 è un registro vettoriale: largo molti byte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vsetvli chiede: quanti dei byte rimasti ci stanno? La risposta è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vse8.v memorizza t2 byte con una sola istruzione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Con registri a 128 bit: 16 byte per giro, 60 giri invece di 960</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somma, corsia per corsia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numbers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t1, 16                 </a:t>
            </a:r>
            <a:pPr indent="0" marL="0">
              <a:buNone/>
            </a:pPr>
            <a:r>
              <a:rPr lang="en-US" sz="1500" dirty="0">
                <a:solidFill>
                  <a:srgbClr val="8FB3A0"/>
                </a:solidFill>
                <a:latin typeface="Courier New" pitchFamily="34" charset="0"/>
                <a:ea typeface="Courier New" pitchFamily="34" charset="-122"/>
                <a:cs typeface="Courier New" pitchFamily="34" charset="-120"/>
              </a:rPr>
              <a:t># sixteen words to add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vmv.v.i v1, 0               </a:t>
            </a:r>
            <a:pPr indent="0" marL="0">
              <a:buNone/>
            </a:pPr>
            <a:r>
              <a:rPr lang="en-US" sz="1500" dirty="0">
                <a:solidFill>
                  <a:srgbClr val="8FB3A0"/>
                </a:solidFill>
                <a:latin typeface="Courier New" pitchFamily="34" charset="0"/>
                <a:ea typeface="Courier New" pitchFamily="34" charset="-122"/>
                <a:cs typeface="Courier New" pitchFamily="34" charset="-120"/>
              </a:rPr>
              <a:t># v1 = partial sums, one per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vsetvli t2, t1, e32, m1, tu,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vle32.v v2, (t0)            </a:t>
            </a:r>
            <a:pPr indent="0" marL="0">
              <a:buNone/>
            </a:pPr>
            <a:r>
              <a:rPr lang="en-US" sz="1500" dirty="0">
                <a:solidFill>
                  <a:srgbClr val="8FB3A0"/>
                </a:solidFill>
                <a:latin typeface="Courier New" pitchFamily="34" charset="0"/>
                <a:ea typeface="Courier New" pitchFamily="34" charset="-122"/>
                <a:cs typeface="Courier New" pitchFamily="34" charset="-120"/>
              </a:rPr>
              <a:t># load t2 words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vadd.vv v1, v1, v2          </a:t>
            </a:r>
            <a:pPr indent="0" marL="0">
              <a:buNone/>
            </a:pPr>
            <a:r>
              <a:rPr lang="en-US" sz="1500" dirty="0">
                <a:solidFill>
                  <a:srgbClr val="8FB3A0"/>
                </a:solidFill>
                <a:latin typeface="Courier New" pitchFamily="34" charset="0"/>
                <a:ea typeface="Courier New" pitchFamily="34" charset="-122"/>
                <a:cs typeface="Courier New" pitchFamily="34" charset="-120"/>
              </a:rPr>
              <a:t># add them, lane by lane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t3, t2,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t3</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bnez t1, 1b</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vsetvli t2, zero, e32, m1, ta, ma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vmv.s.x v3, zero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vredsum.vs v3, v1, v3       </a:t>
            </a:r>
            <a:pPr indent="0" marL="0">
              <a:buNone/>
            </a:pPr>
            <a:r>
              <a:rPr lang="en-US" sz="1500" dirty="0">
                <a:solidFill>
                  <a:srgbClr val="8FB3A0"/>
                </a:solidFill>
                <a:latin typeface="Courier New" pitchFamily="34" charset="0"/>
                <a:ea typeface="Courier New" pitchFamily="34" charset="-122"/>
                <a:cs typeface="Courier New" pitchFamily="34" charset="-120"/>
              </a:rPr>
              <a:t># add the lanes together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vmv.x.s a0, v3</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vle32.v carica più parole insieme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vadd.vv somma registro a registro, corsia per corsia</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Alla fine vredsum somma tra loro le corsie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Sedici numeri, da 1 a 16: il risultato è 136</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mappa di Verm1, un thread per cella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the kernel: this function runs once in every thread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__global__ void clear(unsigned char *grid, int n)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int i = blockIdx.x * blockDim.x + threadIdx.x;   </a:t>
            </a:r>
            <a:pPr indent="0" marL="0">
              <a:buNone/>
            </a:pPr>
            <a:r>
              <a:rPr lang="en-US" sz="1250" dirty="0">
                <a:solidFill>
                  <a:srgbClr val="8FB3A0"/>
                </a:solidFill>
                <a:latin typeface="Courier New" pitchFamily="34" charset="0"/>
                <a:ea typeface="Courier New" pitchFamily="34" charset="-122"/>
                <a:cs typeface="Courier New" pitchFamily="34" charset="-120"/>
              </a:rPr>
              <a:t>// who am I?</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if (i &lt; 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grid[i] = 0;                                 </a:t>
            </a:r>
            <a:pPr indent="0" marL="0">
              <a:buNone/>
            </a:pPr>
            <a:r>
              <a:rPr lang="en-US" sz="1250" dirty="0">
                <a:solidFill>
                  <a:srgbClr val="8FB3A0"/>
                </a:solidFill>
                <a:latin typeface="Courier New" pitchFamily="34" charset="0"/>
                <a:ea typeface="Courier New" pitchFamily="34" charset="-122"/>
                <a:cs typeface="Courier New" pitchFamily="34" charset="-120"/>
              </a:rPr>
              <a:t>// my cell, and only mine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host: 4 blocks of 256 threads cover the 960 cells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clear&lt;&lt;&lt;(960 + 255) / 256, 256&gt;&gt;&gt;(grid, 960);</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Non c'è un ciclo: ci sono 960 thread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thread calcola il proprio indice e fa uno store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thread vanno a blocchi; gli ultimi non trovano nulla da fare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Per 960 byte le copie costano molto più del lavoro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regola dell'inversione a U di Verm1, in hardware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Lecture 12: opposite directions differ in bit 1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module uturn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dir,      </a:t>
            </a:r>
            <a:pPr indent="0" marL="0">
              <a:buNone/>
            </a:pPr>
            <a:r>
              <a:rPr lang="en-US" sz="1500" dirty="0">
                <a:solidFill>
                  <a:srgbClr val="8FB3A0"/>
                </a:solidFill>
                <a:latin typeface="Courier New" pitchFamily="34" charset="0"/>
                <a:ea typeface="Courier New" pitchFamily="34" charset="-122"/>
                <a:cs typeface="Courier New" pitchFamily="34" charset="-120"/>
              </a:rPr>
              <a:t>// direction of the last step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input  wire [1:0] want,     </a:t>
            </a:r>
            <a:pPr indent="0" marL="0">
              <a:buNone/>
            </a:pPr>
            <a:r>
              <a:rPr lang="en-US" sz="1500" dirty="0">
                <a:solidFill>
                  <a:srgbClr val="8FB3A0"/>
                </a:solidFill>
                <a:latin typeface="Courier New" pitchFamily="34" charset="0"/>
                <a:ea typeface="Courier New" pitchFamily="34" charset="-122"/>
                <a:cs typeface="Courier New" pitchFamily="34" charset="-120"/>
              </a:rPr>
              <a:t>// direction asked by the player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output wire       refuse    </a:t>
            </a:r>
            <a:pPr indent="0" marL="0">
              <a:buNone/>
            </a:pPr>
            <a:r>
              <a:rPr lang="en-US" sz="1500" dirty="0">
                <a:solidFill>
                  <a:srgbClr val="8FB3A0"/>
                </a:solidFill>
                <a:latin typeface="Courier New" pitchFamily="34" charset="0"/>
                <a:ea typeface="Courier New" pitchFamily="34" charset="-122"/>
                <a:cs typeface="Courier New" pitchFamily="34" charset="-120"/>
              </a:rPr>
              <a:t>// 1 = this would be a U-turn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assign refuse = (dir ^ want) == 2'b10;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endmodule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Verilog: un linguaggio che descrive circuiti, non passi</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assign è un filo, sempre vero: non c'è un prima e un dopo</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Due porte XOR e una AND con un ingresso negato</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 kit questa regola costava tre istruzioni e tre cicli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Svuotare la mappa di Verm1: 960 celle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52850"/>
                <a:gridCol w="5388716"/>
                <a:gridCol w="285285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Passi nel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Il kit: 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byte per giro, un'istruzione per ciclo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3 840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Core RISC-V fuori ordine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stesso binario; più istruzioni per ciclo, il salto predetto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frazione di quei cicli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RISC-V con i vettori, 128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byte per giro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60 giri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GPU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thread, uno per cella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lancio, più due copie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FPGA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960 flip-flop con un reset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ciclo di clock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prime tre righe sono lo stesso insieme di istruzioni. La prima e la terza sono state eseguite per queste slide.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(1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ARC12 Computer Architecture - Lecture 24: Beyond One Core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l24.S: the loop that empties the map of Verm1, one byte at a time</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On the screen: a green square: the 960 bytes of the map, filled with ones by init,</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were all set to zero by the four-instruction loop of the lecture. A red square would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mean that some byte survived.</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Build: python3 -m prg32 cartridge build l24.S --portable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--entry-prefix l24 --name l24 --out l24.prg32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.option norelax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BLACK, 0x0000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GREEN, 0x07e0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RED,   0xf800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.equ CELLS, 960              </a:t>
            </a:r>
            <a:pPr indent="0" marL="0">
              <a:buNone/>
            </a:pPr>
            <a:r>
              <a:rPr lang="en-US" sz="1500" dirty="0">
                <a:solidFill>
                  <a:srgbClr val="8FB3A0"/>
                </a:solidFill>
                <a:latin typeface="Courier New" pitchFamily="34" charset="0"/>
                <a:ea typeface="Courier New" pitchFamily="34" charset="-122"/>
                <a:cs typeface="Courier New" pitchFamily="34" charset="-120"/>
              </a:rPr>
              <a:t># 40 columns by 24 rows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l24_init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.global l24_draw</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(2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l24_init:                    </a:t>
            </a:r>
            <a:pPr indent="0" marL="0">
              <a:buNone/>
            </a:pPr>
            <a:r>
              <a:rPr lang="en-US" sz="1650" dirty="0">
                <a:solidFill>
                  <a:srgbClr val="8FB3A0"/>
                </a:solidFill>
                <a:latin typeface="Courier New" pitchFamily="34" charset="0"/>
                <a:ea typeface="Courier New" pitchFamily="34" charset="-122"/>
                <a:cs typeface="Courier New" pitchFamily="34" charset="-120"/>
              </a:rPr>
              <a:t># fill the map with ones, so that there is work to do</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t2,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l24_update: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grid            </a:t>
            </a:r>
            <a:pPr indent="0" marL="0">
              <a:buNone/>
            </a:pPr>
            <a:r>
              <a:rPr lang="en-US" sz="1650" dirty="0">
                <a:solidFill>
                  <a:srgbClr val="8FB3A0"/>
                </a:solidFill>
                <a:latin typeface="Courier New" pitchFamily="34" charset="0"/>
                <a:ea typeface="Courier New" pitchFamily="34" charset="-122"/>
                <a:cs typeface="Courier New" pitchFamily="34" charset="-120"/>
              </a:rPr>
              <a:t># the loop of the lecture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t1, CELLS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sb   zero, 0(t0)         </a:t>
            </a:r>
            <a:pPr indent="0" marL="0">
              <a:buNone/>
            </a:pPr>
            <a:r>
              <a:rPr lang="en-US" sz="1650" dirty="0">
                <a:solidFill>
                  <a:srgbClr val="8FB3A0"/>
                </a:solidFill>
                <a:latin typeface="Courier New" pitchFamily="34" charset="0"/>
                <a:ea typeface="Courier New" pitchFamily="34" charset="-122"/>
                <a:cs typeface="Courier New" pitchFamily="34" charset="-120"/>
              </a:rPr>
              <a:t># one byte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t0, t0, 1           </a:t>
            </a:r>
            <a:pPr indent="0" marL="0">
              <a:buNone/>
            </a:pPr>
            <a:r>
              <a:rPr lang="en-US" sz="1650" dirty="0">
                <a:solidFill>
                  <a:srgbClr val="8FB3A0"/>
                </a:solidFill>
                <a:latin typeface="Courier New" pitchFamily="34" charset="0"/>
                <a:ea typeface="Courier New" pitchFamily="34" charset="-122"/>
                <a:cs typeface="Courier New" pitchFamily="34" charset="-120"/>
              </a:rPr>
              <a:t># ... the next address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          </a:t>
            </a:r>
            <a:pPr indent="0" marL="0">
              <a:buNone/>
            </a:pPr>
            <a:r>
              <a:rPr lang="en-US" sz="1650" dirty="0">
                <a:solidFill>
                  <a:srgbClr val="8FB3A0"/>
                </a:solidFill>
                <a:latin typeface="Courier New" pitchFamily="34" charset="0"/>
                <a:ea typeface="Courier New" pitchFamily="34" charset="-122"/>
                <a:cs typeface="Courier New" pitchFamily="34" charset="-120"/>
              </a:rPr>
              <a:t># ... one fewer to go ...</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1b              </a:t>
            </a:r>
            <a:pPr indent="0" marL="0">
              <a:buNone/>
            </a:pPr>
            <a:r>
              <a:rPr lang="en-US" sz="1650" dirty="0">
                <a:solidFill>
                  <a:srgbClr val="8FB3A0"/>
                </a:solidFill>
                <a:latin typeface="Courier New" pitchFamily="34" charset="0"/>
                <a:ea typeface="Courier New" pitchFamily="34" charset="-122"/>
                <a:cs typeface="Courier New" pitchFamily="34" charset="-120"/>
              </a:rPr>
              <a:t># ... 960 times: 3840 instructions</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(3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grid            </a:t>
            </a:r>
            <a:pPr indent="0" marL="0">
              <a:buNone/>
            </a:pPr>
            <a:r>
              <a:rPr lang="en-US" sz="1800" dirty="0">
                <a:solidFill>
                  <a:srgbClr val="8FB3A0"/>
                </a:solidFill>
                <a:latin typeface="Courier New" pitchFamily="34" charset="0"/>
                <a:ea typeface="Courier New" pitchFamily="34" charset="-122"/>
                <a:cs typeface="Courier New" pitchFamily="34" charset="-120"/>
              </a:rPr>
              <a:t># count the bytes that are not zero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t1, CELLS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t3,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lbu  t2,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t3, t3, t2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t0, t0,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bnez t1, 2b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l24.S (4 di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l24_draw: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prg32_gfx_clear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left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GREEN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beqz t1, 1f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RED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1:  li   a0, 136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76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a2,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prg32_gfx_rect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.data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left: .word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grid: .space CELLS</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quadrato verde: i 960 byte della mappa, riempiti di uni da init, sono stati tutti posti a zero dal ciclo di quattro istruzioni della lezione. Un quadrato rosso vorrebbe dire che qualche byte è sopravvissuto.</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2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l24 --out l24.prg32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l24-qemu.prg32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~/arc12/code/l24.S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l24 --name l24 --architecture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l24-esp32c6.prg32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l24-esp32c6.prg32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listati vettoriali: provateli sul QEMU originale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from ~/arc12/tools/tests, with the RISC-V compiler on the PATH</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riscv32-esp-elf-gcc -march=rv32imv_zicsr -mabi=ilp32 -nostdlib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-nostartfiles -T link.ld -o v.elf vector_qemu.S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binary, with vector registers of four different widths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for n in 128 256 512 1024; do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qemu-system-riscv32 -machine virt -cpu rv32,v=true,vlen=$n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-bios none -kernel v.elf -nographic -display none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echo "vlen=$n: exit code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done</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kit non ha l'estensione vettoriale: questi listati girano su un RV32 emulato con V</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Codice di uscita 0: ogni controllo è passato; ogni altro valore è il numero del controllo fallito</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binario passa con registri di 128, 256, 512 e 1024 bit</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Qui serve il QEMU originale (upstream), non la versione di Espressif</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l24;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sulla macchina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la tabella di Amdahl per p = 0,95 e n = 10, 100, 1000</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di un processore di larghezza tre per nove istruzioni indipendenti con cinque stadi</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Rinominate i registri del codice step-wrap di Verm1, Parte 2: quali istruzioni potrebbero correre nello stesso ciclo?</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la tabella di verità memorizzata in una tabella di look-up a quattro ingressi per refuse = (dir xor want) == 2</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Compilate tools/tests/vector_qemu.S ed eseguitelo su QEMU con vlen=128 e vlen=512: perché funziona lo stesso binario?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Amdahl, p = 0,95: 6,9; 16,8; 19,6. Nove istruzioni, larghezza tre: sette cicli. La tabella di look-up ha quattro uni su sedici voci.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Oltre un solo core: RISC-V superscalare, HPC, GPU e FPGA: il codice</dc:title>
  <dc:subject>Lezione 24</dc:subject>
  <dc:creator>Raffaele Montella</dc:creator>
  <cp:lastModifiedBy>Raffaele Montella</cp:lastModifiedBy>
  <cp:revision>1</cp:revision>
  <dcterms:created xsi:type="dcterms:W3CDTF">2026-10-13T08:56:26Z</dcterms:created>
  <dcterms:modified xsi:type="dcterms:W3CDTF">2026-10-13T08:56:26Z</dcterms:modified>
</cp:coreProperties>
</file>