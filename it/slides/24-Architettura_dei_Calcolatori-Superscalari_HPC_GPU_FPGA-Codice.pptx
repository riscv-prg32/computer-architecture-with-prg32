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2d815e6-a151-0f78-1911-d150dd414900}">
          <p14:sldIdLst>
            <p14:sldId id="256"/>
            <p14:sldId id="257"/>
          </p14:sldIdLst>
        </p14:section>
        <p14:section name="Riscaldamento sulla macchina" id="{3bbf9657-4023-7f38-7444-e9f80607b07e}">
          <p14:sldIdLst>
            <p14:sldId id="258"/>
          </p14:sldIdLst>
        </p14:section>
        <p14:section name="Processori superscalari" id="{2764e2b9-b894-ac58-1a80-48b9b52ff959}">
          <p14:sldIdLst>
            <p14:sldId id="259"/>
            <p14:sldId id="260"/>
          </p14:sldIdLst>
        </p14:section>
        <p14:section name="Vettori: un'istruzione, molti dati" id="{bcab22c9-1757-2e38-9ee6-c14e4b8bda8a}">
          <p14:sldIdLst>
            <p14:sldId id="261"/>
            <p14:sldId id="262"/>
          </p14:sldIdLst>
        </p14:section>
        <p14:section name="Acceleratori GPU" id="{01460c91-c181-b566-4fc9-70e6245dff6c}">
          <p14:sldIdLst>
            <p14:sldId id="263"/>
          </p14:sldIdLst>
        </p14:section>
        <p14:section name="Acceleratori FPGA" id="{dab23c3c-7116-eaf4-46cd-1a594f695da6}">
          <p14:sldIdLst>
            <p14:sldId id="264"/>
          </p14:sldIdLst>
        </p14:section>
        <p14:section name="Ritorno alla macchina" id="{43c9b649-60a5-169c-d76c-9c47e2bfc89d}">
          <p14:sldIdLst>
            <p14:sldId id="265"/>
          </p14:sldIdLst>
        </p14:section>
        <p14:section name="Il programma completo" id="{da1f6c69-6a8f-991d-b889-f5388cdb8fe1}">
          <p14:sldIdLst>
            <p14:sldId id="266"/>
            <p14:sldId id="267"/>
            <p14:sldId id="268"/>
            <p14:sldId id="269"/>
          </p14:sldIdLst>
        </p14:section>
        <p14:section name="Eseguire e provare" id="{dbb3d072-8639-e761-5dce-81f068b099a0}">
          <p14:sldIdLst>
            <p14:sldId id="270"/>
            <p14:sldId id="271"/>
            <p14:sldId id="272"/>
            <p14:sldId id="273"/>
            <p14:sldId id="274"/>
            <p14:sldId id="275"/>
          </p14:sldIdLst>
        </p14:section>
        <p14:section name="Esercizi" id="{a8cf4d4a-b2b0-8b3a-cd7a-5d8fef59eb9e}">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24. La presentazione della lezione contiene i concetti; questa contiene tutto ciò che si scrive e si esegue: i listati con la loro spiegazione, il programma completo, che cosa mostra, e il modo di provarlo su ciascuno dei tre host.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~/arc12/code/l24.S; tools/tests/cartridges/run.py lo compila, lo esegue su PRG32-QT con ingressi programmati e controlla i pixel del frame.
Per il docente: Procurarsi il codice una volta: git clone https://github.com/riscv-prg32/computer-architecture-with-prg32 ~/arc12. Il programma di questa lezione è ~/arc12/code/l24.S;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che svuota la mappa in new_game: 960 byte messi a zero. Quattro istruzioni per giro: lo store di un byte, l'incremento dell'indirizzo, il decremento del contatore, il salto all'indietro. In tutto 3.840 istruzioni, un byte alla volta, un'istruzione alla volta. Sul kit impiega circa 24 microsecondi, e nessuno ha bisogno che sia più veloce. È stato scelto perché è abbastanza piccolo da poterlo seguire su ogni macchina di oggi. In quanti modi lo si può rendere più veloce?
DA COMPRENDERE OGGI: l'equazione delle prestazioni.
Per il docente: Il ciclo del processore della Lezione 19. Nel caso migliore un'istruzione per ciclo di clock, e 160 milioni di cicli al secondo sul kit: circa 24 microsecondi. Nessuno ha bisogno che questo ciclo sia più veloce; è abbastanza piccolo da poterlo seguire su ogni macchina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 mette di mezzo. La seconda istruzione usa t0, che la prima sta ancora calcolando: non può correrle accanto. È una dipendenza sui dati. La terza non dipende da nessuno, eppure in un processore in ordine aspetta dietro la seconda. La quarta è un salto: finché non è risolto il processore non sa se la quinta vada eseguita. È una dipendenza sul controllo. I programmi veri sono pieni di catene così, quindi la larghezza da sola non basta.
DA COMPRENDERE OGGI: i processori superscalari.
Per il docente: Dipendenze sui dati, dipendenze sul controllo. Un superscalare in ordine si blocca a i2 e tutto ciò che sta dietro aspetta. Il rimedio è lasciare che i3 sorpassi.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ridenominazione dei registri su un esempio. A sinistra il codice come è scritto: due metà, ciascuna delle quali carica una parola, la incrementa e la memorizza di nuovo, ed entrambe usano t0. La seconda metà riusa il nome, non il valore: è una falsa dipendenza. A destra, dopo la ridenominazione, ogni nuovo valore ha il suo registro fisico, e le due metà non condividono nulla, quindi possono essere eseguite nello stesso momento. I trentadue registri che conoscete sono nomi; il chip ha qualche centinaio di registri.
DA COMPRENDERE OGGI: i processori superscalari.
Per il docente: Una falsa dipendenza: lo stesso nome per due valori che non c'entrano l'uno con l'altro. Da p41 a p44 sono numeri inventati di registri fisici. Un core grande ne ha qualche centinaio.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ciclo con l'estensione vettoriale. v0 è un registro vettoriale, largo molti byte, riempito di zeri. A ogni giro vsetvli chiede: dei byte ancora da fare, quanti ne entrano in un registro? La risposta va in t2. vse8.v memorizza quel numero di byte con una sola istruzione, e l'indirizzo e il contatore avanzano di t2. Con registri a 128 bit un giro tratta 16 byte: 60 giri invece di 960. Il codice non dichiara mai la larghezza dei registri, quindi lo stesso programma funziona con qualunque larghezza.
DA COMPRENDERE OGGI: le istruzioni vettoriali.
Per il docente: L'estensione V, ratificata nel 2021. Sul kit non c'è: l'ESP32-C6 è RV32IMAC. Il codice non dice mai quanto sono larghi i registri: è indipendente dalla lunghezza del vettore (vector-length agnostic), e lo stesso binario usa 128, 256 o 1024 bit. Provato su QEMU a 128, 256, 512 e 1024 bit da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somma, corsia per corsia. Un registro vettoriale contiene più parole, ciascuna nella sua corsia (lane). vle32.v carica più parole insieme; vadd.vv somma due registri corsia per corsia, così v1 accumula tante somme parziali quante sono le corsie. Alla fine vredsum somma tra loro le corsie in un solo numero. Con i sedici numeri da 1 a 16 il risultato è 136. È la somma parallela che avete visto come figura nella Lezione 04, ora in forma di istruzioni.
DA COMPRENDERE OGGI: le istruzioni vettoriali.
Per il docente: La somma parallela delle Lezioni 04 e 20, in RISC-V. tu, tail undisturbed, conserva le somme parziali delle corsie che l'ultimo giro non usa. Provato su QEMU insieme al listato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mappa di Verm1 su una GPU. La funzione marcata come kernel gira una volta in ogni thread. Ogni thread calcola anzitutto chi è, il suo indice i, dal numero del suo blocco e dalla sua posizione nel blocco; poi, se l'indice sta dentro la mappa, azzera la propria cella. Non c'è un ciclo: ci sono 960 thread. L'ultima riga, sull'host, lancia quattro blocchi di 256 thread. Per 960 byte le due copie costano molto più del lavoro: questo esempio mostra la forma, non un guadagno.
DA COMPRENDERE OGGI: acceleratori GPU e FPGA.
Per il docente: CUDA C, nella sua forma abituale da manuale; non compilato per queste slide. L'ultima osservazione è seria: una GPU ripaga quando i dati sono grandi e il lavoro per elemento è reale. Chiedete: per quale dimensione della mappa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di Verm1 che vieta l'inversione a U, scritta come hardware. Verilog è un linguaggio che descrive circuiti, non sequenze di passi. Il modulo ha due ingressi di due bit, la direzione attuale e quella richiesta, e un'uscita. La riga con assign è un filo sempre vero: l'uscita vale 1 quando lo XOR delle due direzioni è uguale a 10 in binario. Non c'è un prima e un dopo. Sul kit la stessa regola costava tre istruzioni.
DA COMPRENDERE OGGI: acceleratori GPU e FPGA.
Per il docente: Un linguaggio di descrizione dell'hardware: Verilog, o VHDL. Non sintetizzato per queste slide. Le xor, li, beq della Parte 2 diventano porte che rispondono in una frazione di nanosecondo, in continuazione. Chiedete agli studenti di disegnare il circuito: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Svuotare le 960 celle della mappa. Sul kit: un byte per giro, 3.840 cicli. Su un core RISC-V fuori ordine: lo stesso binario, in una frazione di quei cicli. Con vettori a 128 bit: 60 giri. Su una GPU: un lancio di 960 thread, più due copie. Su una FPGA: 960 flip-flop con un reset comune, un ciclo di clock. Il lavoro è lo stesso; cambia quanta parte ne avviene nello stesso momento, e quanto costa ottenerlo. La domanda dell'ingegnere non è quale sia la più veloce, ma quale basti.
DA COMPRENDERE OGGI: acceleratori GPU e FPGA.
Per il docente: Il lavoro è lo stesso; cambia quanta parte ne avviene nello stesso momento. E i costi: alla prima riga servono un chip da due euro e quattro righe di assembly; all'ultima serve un progetto hardware. La domanda dell'ingegnere non è mai quale sia la più veloce, ma quale basti.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listati vettoriali di questa lezione non possono girare sul kit, il cui processore non ha l'estensione V. Sono provati invece su un processore emulato senza sistema: i comandi compilano un solo binario e lo eseguono con quattro lunghezze di vettore. Il codice di uscita è il risultato.
DA UTILIZZARE OGGI: gli strumenti di PRG32 (si usa, non si studia, in questo corso).
Per il docente: Eseguito dai test (tools/tests/run_all.sh, passo vectors). Su macOS non c'è il comando timeout: se un listato entra in un ciclo infinito, fermate QEMU con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Compilate la tabella di Amdahl per p = 0,95. Disegnate il diagramma della pipeline di un processore di larghezza tre per nove istruzioni indipendenti. Rinominate i registri di un frammento di Verm1 e dite quali istruzioni potrebbero correre nello stesso ciclo. Scrivete la tabella di verità di una tabella di look-up a quattro ingressi per la regola dell'inversione a U. E compilate il test vettoriale ed eseguitelo su QEMU con due larghezze diverse: perché funziona lo stesso binario?
Per il docente: QEMU: qemu-system-riscv32 -machine virt -cpu rv32,v=true,vlen=128; il comando di compilazione è in tools/tests/README.md. I quattro uni della tabella: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500" b="1" dirty="0">
                <a:solidFill>
                  <a:srgbClr val="FFFFFF"/>
                </a:solidFill>
                <a:latin typeface="Cambria" pitchFamily="34" charset="0"/>
                <a:ea typeface="Cambria" pitchFamily="34" charset="-122"/>
                <a:cs typeface="Cambria" pitchFamily="34" charset="-120"/>
              </a:rPr>
              <a:t>Oltre un solo core: RISC‑V superscalare, HPC, GPU e FPGA: il codice</a:t>
            </a:r>
            <a:endParaRPr lang="en-US" sz="3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7 listati della Lezione 24,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code/l24.S, 72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che svuota la mappa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 new_game di Verm1: 960 byte messi a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Quattro istruzioni per byte: 3 840 istruzioni in tutto</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byte alla volta, un'istruzione alla volta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In quanti modi lo si può rendere più veloce?</a:t>
            </a:r>
            <a:endParaRPr lang="en-US" sz="15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mette di mezzo: le dipendenze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i2 non può correre accanto a i1: ne usa il risultato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i3 non dipende da nessuno: perché dovrebbe aspettare?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Dopo un salto il processore non sa che cosa viene dopo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codice vero è pieno di catene così: la larghezza da sola non basta</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Ridenominazione dei registri: trentadue nomi, molti registri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seconda metà riusa il nome t0, non il suo valore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Rinominate, le due metà non condividono nulla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Possono correre insieme, su registri diversi</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32 registri che conoscete sono nomi; il chip ne ha molti di più</a:t>
            </a:r>
            <a:endParaRPr lang="en-US" sz="1200" dirty="0"/>
          </a:p>
        </p:txBody>
      </p:sp>
      <p:sp>
        <p:nvSpPr>
          <p:cNvPr id="17" name="Shape 15"/>
          <p:cNvSpPr/>
          <p:nvPr/>
        </p:nvSpPr>
        <p:spPr>
          <a:xfrm>
            <a:off x="7592009" y="91440"/>
            <a:ext cx="4051046" cy="274320"/>
          </a:xfrm>
          <a:prstGeom prst="rect">
            <a:avLst/>
          </a:prstGeom>
          <a:solidFill>
            <a:srgbClr val="E0F2FE"/>
          </a:solidFill>
          <a:ln w="12700">
            <a:solidFill>
              <a:srgbClr val="0369A1"/>
            </a:solidFill>
            <a:prstDash val="solid"/>
          </a:ln>
        </p:spPr>
      </p:sp>
      <p:sp>
        <p:nvSpPr>
          <p:cNvPr id="18" name="Shape 16"/>
          <p:cNvSpPr/>
          <p:nvPr/>
        </p:nvSpPr>
        <p:spPr>
          <a:xfrm>
            <a:off x="759200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0" name="Text 17"/>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stesso ciclo, con i vettori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è un registro vettoriale: largo molti byte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chiede: quanti dei byte rimasti ci stanno? La risposta è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memorizza t2 byte con una sola istruzione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Con registri a 128 bit: 16 byte per giro, 60 giri invece di 960</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somma, corsia per corsia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vle32.v carica più parole insieme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vadd.vv somma registro a registro, corsia per corsia</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Alla fine vredsum somma tra loro le corsie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Sedici numeri, da 1 a 16: il risultato è 136</a:t>
            </a:r>
            <a:endParaRPr lang="en-US" sz="14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vettoriali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di Verm1, un thread per cella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Non c'è un ciclo: ci sono 960 thread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thread calcola il proprio indice e fa uno store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thread vanno a blocchi; gli ultimi non trovano nulla da fare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Per 960 byte le copie costano molto più del lavoro</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di Verm1, in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un linguaggio che descrive circuiti, non passi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è un filo, sempre vero: non c'è un prima e un dopo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Due porte XOR e una AND con un ingresso negato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Sul kit questa regola costava tre istruzioni e tre cicli</a:t>
            </a:r>
            <a:endParaRPr lang="en-US" sz="1200" dirty="0"/>
          </a:p>
        </p:txBody>
      </p:sp>
      <p:sp>
        <p:nvSpPr>
          <p:cNvPr id="17" name="Shape 15"/>
          <p:cNvSpPr/>
          <p:nvPr/>
        </p:nvSpPr>
        <p:spPr>
          <a:xfrm>
            <a:off x="7723327" y="91440"/>
            <a:ext cx="3919728" cy="274320"/>
          </a:xfrm>
          <a:prstGeom prst="rect">
            <a:avLst/>
          </a:prstGeom>
          <a:solidFill>
            <a:srgbClr val="E0F2FE"/>
          </a:solidFill>
          <a:ln w="12700">
            <a:solidFill>
              <a:srgbClr val="0369A1"/>
            </a:solidFill>
            <a:prstDash val="solid"/>
          </a:ln>
        </p:spPr>
      </p:sp>
      <p:sp>
        <p:nvSpPr>
          <p:cNvPr id="18" name="Shape 16"/>
          <p:cNvSpPr/>
          <p:nvPr/>
        </p:nvSpPr>
        <p:spPr>
          <a:xfrm>
            <a:off x="772332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0" name="Text 17"/>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Svuotare la mappa di Verm1: 960 celle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Passi nel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Il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byte per giro, un'istruzione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Core RISC-V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stesso binario; più istruzioni per ciclo, il salto predetto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frazione di quei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con i vettori, 128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 per giro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giri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 uno per cella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lancio, più due copie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 con un reset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ciclo di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prime tre righe sono lo stesso insieme di istruzioni. La prima e la terza sono state eseguite per queste slide.</a:t>
            </a:r>
            <a:endParaRPr lang="en-US" sz="15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(1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(2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(3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(4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quadrato verde: i 960 byte della mappa, riempiti di uni da init, sono stati tutti posti a zero dal ciclo di quattro istruzioni della lezione. Un quadrato rosso vorrebbe dire che qualche byte è sopravvissuto.</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listati vettoriali: provateli sul QEMU originale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kit non ha l'estensione vettoriale: questi listati girano su un RV32 emulato con V</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Codice di uscita 0: ogni controllo è passato; ogni altro valore è il numero del controllo fallito</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binario passa con registri di 128, 256, 512 e 1024 bit</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Qui serve il QEMU originale (upstream), non la versione di Espressif</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sulla macchina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la tabella di Amdahl per p = 0,95 e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di un processore di larghezza tre per nove istruzioni indipendenti con cinque stadi</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Rinominate i registri del codice step-wrap di Verm1, Parte 2: quali istruzioni potrebbero correre nello stesso ciclo?</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la tabella di verità memorizzata in una tabella di look-up a quattro ingressi per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tools/tests/vector_qemu.S ed eseguitelo su QEMU con vlen=128 e vlen=512: perché funziona lo stesso binario?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Nove istruzioni, larghezza tre: sette cicli. La tabella di look-up ha quattro uni su sedici voci.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 il codice</dc:title>
  <dc:subject>Lezione 24</dc:subject>
  <dc:creator>Raffaele Montella</dc:creator>
  <cp:lastModifiedBy>Raffaele Montella</cp:lastModifiedBy>
  <cp:revision>1</cp:revision>
  <dcterms:created xsi:type="dcterms:W3CDTF">2026-10-16T16:46:58Z</dcterms:created>
  <dcterms:modified xsi:type="dcterms:W3CDTF">2026-10-16T16:46:58Z</dcterms:modified>
</cp:coreProperties>
</file>