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2626a70d-4fb0-5d4f-64d7-dce342941893}">
          <p14:sldIdLst>
            <p14:sldId id="256"/>
            <p14:sldId id="257"/>
          </p14:sldIdLst>
        </p14:section>
        <p14:section name="Periferiche e controller" id="{050daab4-7be8-e99a-27eb-80275e51615a}">
          <p14:sldIdLst>
            <p14:sldId id="258"/>
            <p14:sldId id="259"/>
          </p14:sldIdLst>
        </p14:section>
        <p14:section name="I bus" id="{98427fbb-dded-5142-d2a6-9bf06aeddac4}">
          <p14:sldIdLst>
            <p14:sldId id="260"/>
            <p14:sldId id="261"/>
            <p14:sldId id="262"/>
          </p14:sldIdLst>
        </p14:section>
        <p14:section name="La scheda video" id="{537f78bc-5b35-6dc1-e7f9-bbc46a06e6a5}">
          <p14:sldIdLst>
            <p14:sldId id="263"/>
            <p14:sldId id="264"/>
            <p14:sldId id="265"/>
            <p14:sldId id="266"/>
            <p14:sldId id="267"/>
            <p14:sldId id="268"/>
            <p14:sldId id="269"/>
          </p14:sldIdLst>
        </p14:section>
        <p14:section name="GPU e GPGPU" id="{e4b2f474-2207-c61a-3ee9-1e293ab6e52c}">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questa lezione il corso lascia il processore e si rivolge a ciò che lo circonda. L'argomento è il percorso di un'immagine: da un numero in memoria a un punto di luce sullo schermo. Lungo la strada incontrate due idee generali, il controller di una periferica e il bus, e una macchina specifica, la scheda video, con il suo processore, la GPU. Il kit non ha alcuna scheda video, ed è un vantaggio: ogni passaggio che una scheda nasconderebbe è svolto da codice che potete leggere.
Per il docente: Spirale: su PRG32 una chiamata disegna un pixel; la lezione segue quel pixel dal frame buffer al display, poi generalizza a bus, schede video, GPU e GPGPU. Il kit non ha una scheda video: fa tutto il suo processore, e questo rende visibile ogni passaggio.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obiettivi. Spiegare che cos'è il controller di una periferica e perché i dispositivi vanno sincronizzati con il processore. Caratterizzare un bus per larghezza, velocità e velocità di trasferimento. Descrivere il compito di una scheda video: frame buffer, risoluzione, profondità di colore e interfaccia di uscita. Calcolare quanta memoria serve a un frame e quanto tempo occorre per inviarlo lungo un bus. E spiegare che cosa fa una GPU e che cosa significa usarla per il calcolo generico.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periferiche servono all'interazione tra l'utente e il sistema. Hanno un'autonomia limitata: il processore le controlla e le coordina. E lavorano in modo asincrono, al proprio ritmo, quindi servono meccanismi di sincronizzazione: per sapere quando è disponibile un dato in ingresso, e quando un dispositivo di uscita ha finito. Il terminale, lo strumento di interazione più comune, è in realtà due dispositivi indipendenti, una tastiera e un video; è il processore a copiare sul video ciò che arriva dalla tastiera.
Per il docente: Tastiera e video non sono collegati direttamente: è il processore a riprodurre sul video ciò che arriva dalla tastiera (Lezione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periferica non è mai collegata direttamente al processore: in mezzo c'è un controller. Guardate lo schema: il processore e la memoria stanno sul bus, e così i controller; ogni controller ha il proprio dispositivo dall'altra parte. Il controller gestisce il dialogo con il dispositivo e presenta sul bus pochi registri, che il processore legge e scrive come memoria. Quando un'operazione termina, di solito alza un'interruzione, come nella lezione precedente. La scheda video è il controller del monitor.
Per il docente: Sull'ESP32-C6 i controller (SPI, I2S, GPIO, USB) stanno sullo stesso chip del processore, e i loro registri sono mappati in memoria (Lezione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bus è un canale di comunicazione condiviso da più unità, e le sue caratteristiche decidono le prestazioni dell'intero sistema. La sua larghezza è il numero di bit del bus dati. La sua velocità è la frequenza a cui lavora. Il loro prodotto è la velocità di trasferimento: un bus a 32 bit a 66 MHz porta 4 byte 66 milioni di volte al secondo, 264 megabyte al secondo. Un bus è anche uno standard: segnali, connettori e un protocollo su cui tutte le unità concordano.
Per il docente: L'esempio è il bus PCI: 4 byte x 66 milioni di cicli al secondo = 264 MB/s. Interfaccia: il modulo hardware che codifica i dati in forma elettrica o ottica. Protocollo: la descrizione di livello più alto di come si svolge il dialogo.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Perché i bus, e che cosa costano. I vantaggi: si aggiungono facilmente nuovi dispositivi; una periferica può passare a un altro calcolatore con lo stesso bus; un solo insieme di fili collega molte periferiche; il costo per byte è basso. Gli svantaggi: la banda del bus limita la velocità di trasferimento; la velocità massima cala quando il bus si allunga e quando i dispositivi collegati aumentano; e, essendo condiviso, il bus porta un solo trasferimento alla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Quarant'anni di bus in una tabella. Leggetela per colonne. I primi bus, ISA, PCI, AGP per la sola scheda video, IDE e SCSI per i dischi, erano paralleli: molti fili affiancati. I loro successori, PCI Express, Serial ATA, USB, sono seriali: pochi fili, molto più veloci. È la lezione della Lezione 14. L'ultima riga è il kit: SPI, I2C e I2S sono i piccoli bus seriali che collegano i chip sulla stessa scheda.
Per il docente: USB: universal serial bus. PCI: peripheral component interconnect. AGP: accelerated graphics port. IDE: integrated device electronics. ISA: industry standard architecture. SCSI: small computer system interface. Nell'elenco originale c'erano anche PCMCIA e FireWire. Il passaggio dal parallelo al seriale è la lezione della Lezione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funzione di una scheda video è inviare al monitor le informazioni da visualizzare. Traduce la rappresentazione dell'immagine prodotta dal processore in una forma che il monitor può mostrare. Ha una memoria propria, la memoria video, che conserva il frame: il frame buffer. Ogni volta che lo schermo viene ridisegnato, la scheda legge quella memoria e invia il segnale per il colore di ogni pixel. E ha una capacità di elaborazione propria, che l'ultima parte della lezione esamina.
Per il docente: DAC: convertitore digitale-analogico, necessario per i monitor analogici. Su PRG32 la «scheda video» è una regione di RAM più la periferica SPI: nessun hardware separato.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generazioni di monitor. Un monitor a tubo catodico ha un ingresso analogico: la scheda deve convertire l'immagine digitale in segnali analogici con un componente detto RAMDAC, e lungo il cavo entrano rumore e distorsione. Un monitor a cristalli liquidi ha un ingresso digitale: la scheda adatta colori e risoluzione, e ogni pixel dell'uscita corrisponde esattamente a un pixel dello schermo. La conversione in analogico, con i suoi difetti, scompare.
Per il docente: RAMDAC: random access memory digital-analog converter. Il DVI poteva portare anche i segnali analogici VGA, per compatibilità.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uscite, in ordine di tempo. VGA, analogica, per i monitor a tubo catodico. DVI, la prima uscita digitale, arrivata con i monitor LCD. HDMI, digitale, che porta anche l'audio. DisplayPort, digitale, che viaggia anche sui connettori USB-C. L'ultima riga è il kit: il display si raggiunge attraverso un bus SPI, e il chip sul modulo del display, un ILI9341, fa la parte dell'elettronica del monitor per un pannello di 320 per 240 pixel.
Per il docente: High-Definition Multimedia Interface; Digital Visual Interface; Video Graphics Array. L'ILI9341 è il chip sul modulo del display: ha una memoria propria per il frame e pilota i cristalli liquidi (Lezione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risoluzione è la dimensione della griglia di pixel, colonne per righe. La tabella va da 320 per 200, 64.000 pixel, la risoluzione del Commodore 64 e del viewport di PRG32, al 4K con più di otto milioni. La terza colonna è il rapporto d'aspetto: il tradizionale 4:3 ha lasciato il posto al 16:9. La risoluzione determina la definizione dell'immagine, e anche quanti pixel vanno memorizzati e inviati per ogni frame.
Per il docente: La tabella della presentazione originale elencava anche 800 x 600, 1280 x 1024 (5:4) e 1600 x 1200. Il tradizionale rapporto 4:3 ha lasciato il posto al panoramico 16:9. La riga 4K è nuova.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profondità di colore è il numero di bit per pixel. Con 4 bit ci sono 16 colori; con 8 bit, 256, e ogni valore di solito è un indice in una tabella di colori, la palette; con 16 bit, 65.536, nel formato RGB565 che conoscete; con 24 bit, più di sedici milioni, 256 sfumature per ogni primario. La memoria per un frame è pixel per byte per pixel. PRG32 usa insieme le due righe centrali: un frame buffer a 8 bit di indici e una palette di 256 colori RGB565.
Per il docente: In True Color ogni colore si ottiene da 256 sfumature di ciascuno dei tre primari additivi. PRG32 usa entrambe le righe centrali: un frame buffer a 8 bit di indici di palette, e una palette di 256 colori RGB565 (Lezione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percorso del pixel sul kit, in cinque blocchi: il vostro codice, il frame buffer in RAM, la palette che trasforma un indice in un colore, il bus SPI, il display. La tabella fa i conti. Un frame a un byte per pixel sono 64.000 byte; a due byte sarebbe un quarto della RAM del chip. Sul bus ogni pixel viaggia come 16 bit: circa un milione di bit per frame, 38 millisecondi a 27 MHz. Da qui le due risposte ingegneristiche: un frame buffer indicizzato, e inviare solo ciò che è cambiato.
Per il docente: Dati dal repository PRG32 (docs/hardware/ili9341.md): frame buffer indicizzato a 8 bit di 64.000 byte, palette di 512 byte, clock SPI predefinito di 27 MHz, trasferimenti in DMA e tracciamento dei rettangoli modificati. 1.024.000 / 27.000.000 = 37,9 ms. Il contatore di FPS delle cartucce dimostrative mostra il risultato.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stessi conti, alla scala di un PC, spiegano la storia dell'hardware video. Più definizione significa più memoria per ogni frame, e il flusso di dati verso la scheda rischia di saturare il bus. Le due risposte sono state più memoria sulla scheda stessa, e un bus più largo o dedicato: prima AGP, oggi PCI Express. La cifra a destra dà la scala: uno schermo 4K a 60 frame al secondo è circa un gigabyte e mezzo di pixel ogni secondo.
Per il docente: Con AGP il processore grafico usava parte della memoria centrale con accesso diretto. PCI Express (2004) l'ha sostituito con più banda e più potenza. SLI (NVIDIA) e CrossFire (AMD) collegavano fino a quattro schede; oggi la regola è una sola scheda, oppure molte schede in un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diffondersi delle interfacce grafiche, calcolare immagini ha occupato una quota crescente del tempo di processore. Per alleggerire la CPU, le schede video hanno ricevuto processori dedicati: le unità di elaborazione grafica, GPU. Accelerano le operazioni raster, come la copia di blocchi di pixel, e la grafica 3D: trasformazioni, texture, illuminazione. I programmi le raggiungono tramite librerie, e un driver di periferica adatta il software alle primitive di ogni GPU. Sul kit non c'è una GPU: un rettangolo è un ciclo di store eseguito dal core RISC-V, e ne potete vedere il costo.
Per il docente: Su PRG32 non c'è una GPU: prg32_gfx_rect è un ciclo di istruzioni di store eseguite dal core RISC-V. Per questo la frequenza dei frame di una cartuccia impegnativa cala, e gli studenti possono vedere il costo di ogni 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GPU applica la stessa operazione, in parallelo, a intere matrici di pixel. Nulla obbliga quei numeri a essere pixel: il GPGPU è l'uso dei processori grafici per il calcolo generico. Una GPU ha un numero molto grande di core semplici, e si programma con modelli come CUDA e OpenCL. Simulazione scientifica, analisi dei dati e, oggi soprattutto, addestramento e uso delle reti neurali girano su GPU. La figura richiama la somma parallela della Lezione 04: la stessa operazione su molti dati insieme.
Per il docente: Compute Unified Device Architecture. La somma parallela della Lezione 04 è il più semplice esempio di GPGPU. I modelli meteorologici e marini del Dipartimento girano su cluster di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memoria per un frame è il numero di pixel per i byte per pixel. Prima calcolate i pixel, poi ricordate quanti byte sono 24 bit.
La velocità di trasferimento è larghezza per frequenza. Convertite la larghezza in byte prima di moltiplicare.
Per il docente: 1. Risposta: C. 307.200 pixel x 3 byte = 921.600 byte.
2. Risposta: B. 2 byte x 50 milioni di trasferimenti al secondo = 100 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«Indicizzato» è la parola chiave. Il byte non descrive il colore: dice dove trovarlo.
Sciogliete l'acronimo: le prime due lettere stanno per «general-purpose».
Per il docente: 1. Risposta: C. Il byte è un indice; il colore vero si cerca in una tabella di 256 voci, la palette.
2. Risposta: B. General-purpose computing on graphics processing units: calcolo generico su unità di elaborazione grafica.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Dieci termini. Peripheral è la periferica; il suo controller conserva il nome inglese. Bus width e transfer rate sono larghezza del bus e velocità di trasferimento. Colour depth è la profondità di colore. Palette è la tavolozza, anche se i programmatori dicono palette. Un device driver è il software che adatta i programmi a un dispositivo specifico.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I dispositivi di ingresso/uscita sono una parte fondamentale di un calcolatore. Ciascuno è gestito da un controller che lo interfaccia al bus. Un bus è caratterizzato da larghezza, velocità e velocità di trasferimento, e la sua banda è un limite di cui il progetto deve tenere conto. Una scheda video visualizza grafica e testo: un frame buffer, una risoluzione, una profondità di colore, un'uscita. E i suoi processori, le GPU, si usano oggi per il calcolo ad alte prestazioni. La prossima lezione tratta gli altri dispositivi di ingresso e di uscita.
Per il docente: Prossima lezione: i dispositivi di ingresso e di uscita.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20: La scheda video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20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 bus e la scheda video</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Da un byte in memoria a un pixel sullo schermo; i processori grafici e il calcolo generico su di essi</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“...nulla è più serio del gioco...”</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attribuita a Jean Cocteau (1889-1963)</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20-Architettura_dei_Calcolatori-Scheda_Video-Codice.pptx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cos'è il controller di una periferica e perché i dispositivi vanno sincronizzati con il processore</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Caratterizzare un bus per larghezza, velocità e velocità di trasferimento, ed elencarne vantaggi e limiti</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il compito di una scheda video: frame buffer, risoluzione, profondità di colore, interfaccia di uscita</a:t>
            </a:r>
            <a:endParaRPr lang="en-US" sz="2200" dirty="0"/>
          </a:p>
        </p:txBody>
      </p:sp>
      <p:sp>
        <p:nvSpPr>
          <p:cNvPr id="9" name="Text 7"/>
          <p:cNvSpPr txBox="1"/>
          <p:nvPr/>
        </p:nvSpPr>
        <p:spPr>
          <a:xfrm>
            <a:off x="548640" y="467258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65429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Calcolare la memoria che serve a un frame e il tempo necessario a inviarlo su un bus</a:t>
            </a:r>
            <a:endParaRPr lang="en-US" sz="2200" dirty="0"/>
          </a:p>
        </p:txBody>
      </p:sp>
      <p:sp>
        <p:nvSpPr>
          <p:cNvPr id="11" name="Text 9"/>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cosa fa una GPU e che cos'è il calcolo generico su GPU</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Dispositivi di ingresso/uscita</a:t>
            </a:r>
            <a:endParaRPr lang="en-US" sz="3200" dirty="0"/>
          </a:p>
        </p:txBody>
      </p:sp>
      <p:sp>
        <p:nvSpPr>
          <p:cNvPr id="3" name="Shape 1"/>
          <p:cNvSpPr/>
          <p:nvPr/>
        </p:nvSpPr>
        <p:spPr>
          <a:xfrm>
            <a:off x="548640" y="156743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4551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Le periferiche servono all'interazione tra l'utente e il sistema</a:t>
            </a:r>
            <a:endParaRPr lang="en-US" sz="2400" dirty="0"/>
          </a:p>
        </p:txBody>
      </p:sp>
      <p:sp>
        <p:nvSpPr>
          <p:cNvPr id="5" name="Shape 3"/>
          <p:cNvSpPr/>
          <p:nvPr/>
        </p:nvSpPr>
        <p:spPr>
          <a:xfrm>
            <a:off x="548640" y="239649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457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Hanno un'autonomia limitata: sono controllate e coordinate dal processore</a:t>
            </a:r>
            <a:endParaRPr lang="en-US" sz="2400" dirty="0"/>
          </a:p>
        </p:txBody>
      </p:sp>
      <p:sp>
        <p:nvSpPr>
          <p:cNvPr id="7" name="Shape 5"/>
          <p:cNvSpPr/>
          <p:nvPr/>
        </p:nvSpPr>
        <p:spPr>
          <a:xfrm>
            <a:off x="548640" y="359740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75482"/>
            <a:ext cx="10710367" cy="14676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Lavorano in modo asincrono rispetto al processore, quindi servono meccanismi di sincronizzazione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per sapere quando sarà disponibile un dato in ingresso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per sapere quando un dispositivo di uscita ha finito di produrre i suoi dati</a:t>
            </a:r>
            <a:endParaRPr lang="en-US" sz="2400" dirty="0"/>
          </a:p>
        </p:txBody>
      </p:sp>
      <p:sp>
        <p:nvSpPr>
          <p:cNvPr id="9" name="Shape 7"/>
          <p:cNvSpPr/>
          <p:nvPr/>
        </p:nvSpPr>
        <p:spPr>
          <a:xfrm>
            <a:off x="548640" y="552221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00294"/>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Il terminale, lo strumento di interazione più comune, è fatto di due dispositivi indipendenti: la tastiera e il video</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controller</a:t>
            </a:r>
            <a:endParaRPr lang="en-US" sz="3200" dirty="0"/>
          </a:p>
        </p:txBody>
      </p:sp>
      <p:sp>
        <p:nvSpPr>
          <p:cNvPr id="3" name="Text 1"/>
          <p:cNvSpPr txBox="1"/>
          <p:nvPr/>
        </p:nvSpPr>
        <p:spPr>
          <a:xfrm>
            <a:off x="731520" y="1691640"/>
            <a:ext cx="201168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processore</a:t>
            </a:r>
            <a:endParaRPr lang="en-US" sz="1600" dirty="0"/>
          </a:p>
        </p:txBody>
      </p:sp>
      <p:sp>
        <p:nvSpPr>
          <p:cNvPr id="4" name="Text 2"/>
          <p:cNvSpPr txBox="1"/>
          <p:nvPr/>
        </p:nvSpPr>
        <p:spPr>
          <a:xfrm>
            <a:off x="3291840" y="1691640"/>
            <a:ext cx="2011680" cy="822960"/>
          </a:xfrm>
          <a:prstGeom prst="roundRect">
            <a:avLst>
              <a:gd name="adj" fmla="val 6667"/>
            </a:avLst>
          </a:prstGeom>
          <a:solidFill>
            <a:srgbClr val="6B4FA0"/>
          </a:solidFill>
          <a:ln>
            <a:solidFill>
              <a:srgbClr val="6B4FA0"/>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memoria</a:t>
            </a:r>
            <a:endParaRPr lang="en-US" sz="1600" dirty="0"/>
          </a:p>
        </p:txBody>
      </p:sp>
      <p:sp>
        <p:nvSpPr>
          <p:cNvPr id="5" name="Shape 3"/>
          <p:cNvSpPr/>
          <p:nvPr/>
        </p:nvSpPr>
        <p:spPr>
          <a:xfrm>
            <a:off x="548640" y="3246120"/>
            <a:ext cx="6126480" cy="0"/>
          </a:xfrm>
          <a:prstGeom prst="line">
            <a:avLst/>
          </a:prstGeom>
          <a:noFill/>
          <a:ln w="76200">
            <a:solidFill>
              <a:srgbClr val="C7791B"/>
            </a:solidFill>
            <a:prstDash val="solid"/>
          </a:ln>
        </p:spPr>
      </p:sp>
      <p:sp>
        <p:nvSpPr>
          <p:cNvPr id="6" name="Text 4"/>
          <p:cNvSpPr txBox="1"/>
          <p:nvPr/>
        </p:nvSpPr>
        <p:spPr>
          <a:xfrm>
            <a:off x="548640" y="3337560"/>
            <a:ext cx="3657600" cy="274320"/>
          </a:xfrm>
          <a:prstGeom prst="rect">
            <a:avLst/>
          </a:prstGeom>
          <a:noFill/>
          <a:ln/>
        </p:spPr>
        <p:txBody>
          <a:bodyPr wrap="square" lIns="0" tIns="0" rIns="0" bIns="0" rtlCol="0" anchor="t"/>
          <a:lstStyle/>
          <a:p>
            <a:pPr indent="0" marL="0">
              <a:buNone/>
            </a:pPr>
            <a:r>
              <a:rPr lang="en-US" sz="1300" b="1" dirty="0">
                <a:solidFill>
                  <a:srgbClr val="C7791B"/>
                </a:solidFill>
                <a:latin typeface="Calibri" pitchFamily="34" charset="0"/>
                <a:ea typeface="Calibri" pitchFamily="34" charset="-122"/>
                <a:cs typeface="Calibri" pitchFamily="34" charset="-120"/>
              </a:rPr>
              <a:t>bus dati, bus indirizzi, controllo</a:t>
            </a:r>
            <a:endParaRPr lang="en-US" sz="1300" dirty="0"/>
          </a:p>
        </p:txBody>
      </p:sp>
      <p:sp>
        <p:nvSpPr>
          <p:cNvPr id="7" name="Shape 5"/>
          <p:cNvSpPr/>
          <p:nvPr/>
        </p:nvSpPr>
        <p:spPr>
          <a:xfrm>
            <a:off x="1737360" y="2542032"/>
            <a:ext cx="0" cy="658368"/>
          </a:xfrm>
          <a:prstGeom prst="line">
            <a:avLst/>
          </a:prstGeom>
          <a:noFill/>
          <a:ln w="31750">
            <a:solidFill>
              <a:srgbClr val="5B6B78"/>
            </a:solidFill>
            <a:prstDash val="solid"/>
          </a:ln>
        </p:spPr>
      </p:sp>
      <p:sp>
        <p:nvSpPr>
          <p:cNvPr id="8" name="Shape 6"/>
          <p:cNvSpPr/>
          <p:nvPr/>
        </p:nvSpPr>
        <p:spPr>
          <a:xfrm>
            <a:off x="4297680" y="2542032"/>
            <a:ext cx="0" cy="658368"/>
          </a:xfrm>
          <a:prstGeom prst="line">
            <a:avLst/>
          </a:prstGeom>
          <a:noFill/>
          <a:ln w="31750">
            <a:solidFill>
              <a:srgbClr val="5B6B78"/>
            </a:solidFill>
            <a:prstDash val="solid"/>
          </a:ln>
        </p:spPr>
      </p:sp>
      <p:sp>
        <p:nvSpPr>
          <p:cNvPr id="9" name="Text 7"/>
          <p:cNvSpPr txBox="1"/>
          <p:nvPr/>
        </p:nvSpPr>
        <p:spPr>
          <a:xfrm>
            <a:off x="731520" y="4069080"/>
            <a:ext cx="173736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controller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video</a:t>
            </a:r>
            <a:endParaRPr lang="en-US" sz="1400" dirty="0"/>
          </a:p>
        </p:txBody>
      </p:sp>
      <p:sp>
        <p:nvSpPr>
          <p:cNvPr id="10" name="Shape 8"/>
          <p:cNvSpPr/>
          <p:nvPr/>
        </p:nvSpPr>
        <p:spPr>
          <a:xfrm>
            <a:off x="1600200" y="3291840"/>
            <a:ext cx="0" cy="749808"/>
          </a:xfrm>
          <a:prstGeom prst="line">
            <a:avLst/>
          </a:prstGeom>
          <a:noFill/>
          <a:ln w="31750">
            <a:solidFill>
              <a:srgbClr val="5B6B78"/>
            </a:solidFill>
            <a:prstDash val="solid"/>
          </a:ln>
        </p:spPr>
      </p:sp>
      <p:sp>
        <p:nvSpPr>
          <p:cNvPr id="11" name="Text 9"/>
          <p:cNvSpPr txBox="1"/>
          <p:nvPr/>
        </p:nvSpPr>
        <p:spPr>
          <a:xfrm>
            <a:off x="731520" y="5349240"/>
            <a:ext cx="1737360" cy="731520"/>
          </a:xfrm>
          <a:prstGeom prst="roundRect">
            <a:avLst>
              <a:gd name="adj" fmla="val 7500"/>
            </a:avLst>
          </a:prstGeom>
          <a:solidFill>
            <a:srgbClr val="2F7D4F"/>
          </a:solidFill>
          <a:ln>
            <a:solidFill>
              <a:srgbClr val="2F7D4F"/>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monitor</a:t>
            </a:r>
            <a:endParaRPr lang="en-US" sz="1400" dirty="0"/>
          </a:p>
        </p:txBody>
      </p:sp>
      <p:sp>
        <p:nvSpPr>
          <p:cNvPr id="12" name="Shape 10"/>
          <p:cNvSpPr/>
          <p:nvPr/>
        </p:nvSpPr>
        <p:spPr>
          <a:xfrm>
            <a:off x="1600200" y="4919472"/>
            <a:ext cx="0" cy="402336"/>
          </a:xfrm>
          <a:prstGeom prst="line">
            <a:avLst/>
          </a:prstGeom>
          <a:noFill/>
          <a:ln w="31750">
            <a:solidFill>
              <a:srgbClr val="5B6B78"/>
            </a:solidFill>
            <a:prstDash val="solid"/>
          </a:ln>
        </p:spPr>
      </p:sp>
      <p:sp>
        <p:nvSpPr>
          <p:cNvPr id="13" name="Text 11"/>
          <p:cNvSpPr txBox="1"/>
          <p:nvPr/>
        </p:nvSpPr>
        <p:spPr>
          <a:xfrm>
            <a:off x="2834640" y="4069080"/>
            <a:ext cx="173736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controller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USB</a:t>
            </a:r>
            <a:endParaRPr lang="en-US" sz="1400" dirty="0"/>
          </a:p>
        </p:txBody>
      </p:sp>
      <p:sp>
        <p:nvSpPr>
          <p:cNvPr id="14" name="Shape 12"/>
          <p:cNvSpPr/>
          <p:nvPr/>
        </p:nvSpPr>
        <p:spPr>
          <a:xfrm>
            <a:off x="3703320" y="3291840"/>
            <a:ext cx="0" cy="749808"/>
          </a:xfrm>
          <a:prstGeom prst="line">
            <a:avLst/>
          </a:prstGeom>
          <a:noFill/>
          <a:ln w="31750">
            <a:solidFill>
              <a:srgbClr val="5B6B78"/>
            </a:solidFill>
            <a:prstDash val="solid"/>
          </a:ln>
        </p:spPr>
      </p:sp>
      <p:sp>
        <p:nvSpPr>
          <p:cNvPr id="15" name="Text 13"/>
          <p:cNvSpPr txBox="1"/>
          <p:nvPr/>
        </p:nvSpPr>
        <p:spPr>
          <a:xfrm>
            <a:off x="2834640" y="5349240"/>
            <a:ext cx="1737360" cy="731520"/>
          </a:xfrm>
          <a:prstGeom prst="roundRect">
            <a:avLst>
              <a:gd name="adj" fmla="val 7500"/>
            </a:avLst>
          </a:prstGeom>
          <a:solidFill>
            <a:srgbClr val="2F7D4F"/>
          </a:solidFill>
          <a:ln>
            <a:solidFill>
              <a:srgbClr val="2F7D4F"/>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tastiera,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mouse</a:t>
            </a:r>
            <a:endParaRPr lang="en-US" sz="1400" dirty="0"/>
          </a:p>
        </p:txBody>
      </p:sp>
      <p:sp>
        <p:nvSpPr>
          <p:cNvPr id="16" name="Shape 14"/>
          <p:cNvSpPr/>
          <p:nvPr/>
        </p:nvSpPr>
        <p:spPr>
          <a:xfrm>
            <a:off x="3703320" y="4919472"/>
            <a:ext cx="0" cy="402336"/>
          </a:xfrm>
          <a:prstGeom prst="line">
            <a:avLst/>
          </a:prstGeom>
          <a:noFill/>
          <a:ln w="31750">
            <a:solidFill>
              <a:srgbClr val="5B6B78"/>
            </a:solidFill>
            <a:prstDash val="solid"/>
          </a:ln>
        </p:spPr>
      </p:sp>
      <p:sp>
        <p:nvSpPr>
          <p:cNvPr id="17" name="Text 15"/>
          <p:cNvSpPr txBox="1"/>
          <p:nvPr/>
        </p:nvSpPr>
        <p:spPr>
          <a:xfrm>
            <a:off x="4937760" y="4069080"/>
            <a:ext cx="173736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controller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dei dischi</a:t>
            </a:r>
            <a:endParaRPr lang="en-US" sz="1400" dirty="0"/>
          </a:p>
        </p:txBody>
      </p:sp>
      <p:sp>
        <p:nvSpPr>
          <p:cNvPr id="18" name="Shape 16"/>
          <p:cNvSpPr/>
          <p:nvPr/>
        </p:nvSpPr>
        <p:spPr>
          <a:xfrm>
            <a:off x="5806440" y="3291840"/>
            <a:ext cx="0" cy="749808"/>
          </a:xfrm>
          <a:prstGeom prst="line">
            <a:avLst/>
          </a:prstGeom>
          <a:noFill/>
          <a:ln w="31750">
            <a:solidFill>
              <a:srgbClr val="5B6B78"/>
            </a:solidFill>
            <a:prstDash val="solid"/>
          </a:ln>
        </p:spPr>
      </p:sp>
      <p:sp>
        <p:nvSpPr>
          <p:cNvPr id="19" name="Text 17"/>
          <p:cNvSpPr txBox="1"/>
          <p:nvPr/>
        </p:nvSpPr>
        <p:spPr>
          <a:xfrm>
            <a:off x="4937760" y="5349240"/>
            <a:ext cx="1737360" cy="731520"/>
          </a:xfrm>
          <a:prstGeom prst="roundRect">
            <a:avLst>
              <a:gd name="adj" fmla="val 7500"/>
            </a:avLst>
          </a:prstGeom>
          <a:solidFill>
            <a:srgbClr val="2F7D4F"/>
          </a:solidFill>
          <a:ln>
            <a:solidFill>
              <a:srgbClr val="2F7D4F"/>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dischi</a:t>
            </a:r>
            <a:endParaRPr lang="en-US" sz="1400" dirty="0"/>
          </a:p>
        </p:txBody>
      </p:sp>
      <p:sp>
        <p:nvSpPr>
          <p:cNvPr id="20" name="Shape 18"/>
          <p:cNvSpPr/>
          <p:nvPr/>
        </p:nvSpPr>
        <p:spPr>
          <a:xfrm>
            <a:off x="5806440" y="4919472"/>
            <a:ext cx="0" cy="402336"/>
          </a:xfrm>
          <a:prstGeom prst="line">
            <a:avLst/>
          </a:prstGeom>
          <a:noFill/>
          <a:ln w="31750">
            <a:solidFill>
              <a:srgbClr val="5B6B78"/>
            </a:solidFill>
            <a:prstDash val="solid"/>
          </a:ln>
        </p:spPr>
      </p:sp>
      <p:sp>
        <p:nvSpPr>
          <p:cNvPr id="21" name="Shape 19"/>
          <p:cNvSpPr/>
          <p:nvPr/>
        </p:nvSpPr>
        <p:spPr>
          <a:xfrm>
            <a:off x="7132320" y="1485011"/>
            <a:ext cx="146304" cy="146304"/>
          </a:xfrm>
          <a:prstGeom prst="rect">
            <a:avLst/>
          </a:prstGeom>
          <a:solidFill>
            <a:srgbClr val="0E7C86"/>
          </a:solidFill>
          <a:ln w="12700">
            <a:solidFill>
              <a:srgbClr val="0E7C86"/>
            </a:solidFill>
            <a:prstDash val="solid"/>
          </a:ln>
        </p:spPr>
      </p:sp>
      <p:sp>
        <p:nvSpPr>
          <p:cNvPr id="22" name="Text 20"/>
          <p:cNvSpPr txBox="1"/>
          <p:nvPr/>
        </p:nvSpPr>
        <p:spPr>
          <a:xfrm>
            <a:off x="7516368" y="1417320"/>
            <a:ext cx="412668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Le periferiche sono interfacciate al processore tramite controller dedicati</a:t>
            </a:r>
            <a:endParaRPr lang="en-US" sz="1700" dirty="0"/>
          </a:p>
        </p:txBody>
      </p:sp>
      <p:sp>
        <p:nvSpPr>
          <p:cNvPr id="23" name="Shape 21"/>
          <p:cNvSpPr/>
          <p:nvPr/>
        </p:nvSpPr>
        <p:spPr>
          <a:xfrm>
            <a:off x="7132320" y="2212784"/>
            <a:ext cx="146304" cy="146304"/>
          </a:xfrm>
          <a:prstGeom prst="rect">
            <a:avLst/>
          </a:prstGeom>
          <a:solidFill>
            <a:srgbClr val="C7791B"/>
          </a:solidFill>
          <a:ln w="12700">
            <a:solidFill>
              <a:srgbClr val="C7791B"/>
            </a:solidFill>
            <a:prstDash val="solid"/>
          </a:ln>
        </p:spPr>
      </p:sp>
      <p:sp>
        <p:nvSpPr>
          <p:cNvPr id="24" name="Text 22"/>
          <p:cNvSpPr txBox="1"/>
          <p:nvPr/>
        </p:nvSpPr>
        <p:spPr>
          <a:xfrm>
            <a:off x="7516368" y="2145094"/>
            <a:ext cx="4126687" cy="1053592"/>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Il controller gestisce la comunicazione tra il dispositivo e tutti gli altri componenti, processore compreso</a:t>
            </a:r>
            <a:endParaRPr lang="en-US" sz="1700" dirty="0"/>
          </a:p>
        </p:txBody>
      </p:sp>
      <p:sp>
        <p:nvSpPr>
          <p:cNvPr id="25" name="Shape 23"/>
          <p:cNvSpPr/>
          <p:nvPr/>
        </p:nvSpPr>
        <p:spPr>
          <a:xfrm>
            <a:off x="7132320" y="3467354"/>
            <a:ext cx="146304" cy="146304"/>
          </a:xfrm>
          <a:prstGeom prst="rect">
            <a:avLst/>
          </a:prstGeom>
          <a:solidFill>
            <a:srgbClr val="0E7C86"/>
          </a:solidFill>
          <a:ln w="12700">
            <a:solidFill>
              <a:srgbClr val="0E7C86"/>
            </a:solidFill>
            <a:prstDash val="solid"/>
          </a:ln>
        </p:spPr>
      </p:sp>
      <p:sp>
        <p:nvSpPr>
          <p:cNvPr id="26" name="Text 24"/>
          <p:cNvSpPr txBox="1"/>
          <p:nvPr/>
        </p:nvSpPr>
        <p:spPr>
          <a:xfrm>
            <a:off x="7516368" y="3399663"/>
            <a:ext cx="4126687"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Presenta sul bus pochi registri: il processore li legge e li scrive come memoria</a:t>
            </a:r>
            <a:endParaRPr lang="en-US" sz="1700" dirty="0"/>
          </a:p>
        </p:txBody>
      </p:sp>
      <p:sp>
        <p:nvSpPr>
          <p:cNvPr id="27" name="Shape 25"/>
          <p:cNvSpPr/>
          <p:nvPr/>
        </p:nvSpPr>
        <p:spPr>
          <a:xfrm>
            <a:off x="7132320" y="4458525"/>
            <a:ext cx="146304" cy="146304"/>
          </a:xfrm>
          <a:prstGeom prst="rect">
            <a:avLst/>
          </a:prstGeom>
          <a:solidFill>
            <a:srgbClr val="C7791B"/>
          </a:solidFill>
          <a:ln w="12700">
            <a:solidFill>
              <a:srgbClr val="C7791B"/>
            </a:solidFill>
            <a:prstDash val="solid"/>
          </a:ln>
        </p:spPr>
      </p:sp>
      <p:sp>
        <p:nvSpPr>
          <p:cNvPr id="28" name="Text 26"/>
          <p:cNvSpPr txBox="1"/>
          <p:nvPr/>
        </p:nvSpPr>
        <p:spPr>
          <a:xfrm>
            <a:off x="7516368" y="4390835"/>
            <a:ext cx="4126687" cy="1053592"/>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In genere un controller segnala la fine dell'operazione in corso alzando un segnale: un'interruzione (Lezione 19)</a:t>
            </a:r>
            <a:endParaRPr lang="en-US" sz="1700" dirty="0"/>
          </a:p>
        </p:txBody>
      </p:sp>
      <p:sp>
        <p:nvSpPr>
          <p:cNvPr id="29" name="Shape 27"/>
          <p:cNvSpPr/>
          <p:nvPr/>
        </p:nvSpPr>
        <p:spPr>
          <a:xfrm>
            <a:off x="7132320" y="5713095"/>
            <a:ext cx="146304" cy="146304"/>
          </a:xfrm>
          <a:prstGeom prst="rect">
            <a:avLst/>
          </a:prstGeom>
          <a:solidFill>
            <a:srgbClr val="0E7C86"/>
          </a:solidFill>
          <a:ln w="12700">
            <a:solidFill>
              <a:srgbClr val="0E7C86"/>
            </a:solidFill>
            <a:prstDash val="solid"/>
          </a:ln>
        </p:spPr>
      </p:sp>
      <p:sp>
        <p:nvSpPr>
          <p:cNvPr id="30" name="Text 28"/>
          <p:cNvSpPr txBox="1"/>
          <p:nvPr/>
        </p:nvSpPr>
        <p:spPr>
          <a:xfrm>
            <a:off x="7516368" y="5645404"/>
            <a:ext cx="412668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La scheda video è il controller del monitor</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caratterizza un bus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bus è un canale di comunicazione condiviso da più unità; le sue caratteristiche influenzano in modo decisivo le prestazioni dell'intero sistema</a:t>
            </a:r>
            <a:endParaRPr lang="en-US" sz="2100" dirty="0"/>
          </a:p>
        </p:txBody>
      </p:sp>
      <p:sp>
        <p:nvSpPr>
          <p:cNvPr id="5" name="Shape 3"/>
          <p:cNvSpPr/>
          <p:nvPr/>
        </p:nvSpPr>
        <p:spPr>
          <a:xfrm>
            <a:off x="548640" y="265404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55367"/>
            <a:ext cx="656539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Larghezza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il numero di bit del bus dati</a:t>
            </a:r>
            <a:endParaRPr lang="en-US" sz="2100" dirty="0"/>
          </a:p>
        </p:txBody>
      </p:sp>
      <p:sp>
        <p:nvSpPr>
          <p:cNvPr id="7" name="Shape 5"/>
          <p:cNvSpPr/>
          <p:nvPr/>
        </p:nvSpPr>
        <p:spPr>
          <a:xfrm>
            <a:off x="548640" y="345681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58134"/>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Velocità</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 frequenza di lavoro del bus; il numero di byte per ciclo di clock</a:t>
            </a:r>
            <a:endParaRPr lang="en-US" sz="2100" dirty="0"/>
          </a:p>
        </p:txBody>
      </p:sp>
      <p:sp>
        <p:nvSpPr>
          <p:cNvPr id="9" name="Shape 7"/>
          <p:cNvSpPr/>
          <p:nvPr/>
        </p:nvSpPr>
        <p:spPr>
          <a:xfrm>
            <a:off x="548640" y="453847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39793"/>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Velocità di trasferimento</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megabyte trasmessi al secondo: un bus a 32 bit a 66 MHz porta 264 MB/s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bus è uno standard: segnali, connettori e un protocollo su cui tutte le unità concordano</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264 MB/s</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32 bit a 66 MHz: larghezza per frequenza dà la velocità di trasferimento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bus: vantaggi e svantaggi</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Vantaggi</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Si aggiungono facilmente nuovi dispositivi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Le periferiche si possono spostare da un calcolatore a un altro che usa lo stesso bus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Un solo insieme di fili collega più periferiche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Basso costo per byte trasmesso</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Svantaggi</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La banda del bus limita la velocità di trasferimento</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La velocità massima dipende dalla lunghezza del bus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 dal numero di dispositivi collegati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Una risorsa condivisa: un solo trasferimento alla volta</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bus negli anni</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2546259"/>
                <a:gridCol w="2910011"/>
                <a:gridCol w="3455638"/>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Bus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Tipo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Usato per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Oggi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ISA, EISA, VESA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parallelo, da 16 a 32 bit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schede di espansione dei primi PC</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in disuso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PCI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parallelo, 32 o 64 bit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schede di espansione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sostituito da PCI Express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AGP</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parallelo, porta dedicata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la sola scheda video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sostituito da PCI Express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PCI Express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seriale, da 1 a 16 linee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schede video, memorie veloci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attuale: ogni generazione raddoppia la velocità</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IDE (ATA), SCSI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dischi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sostituiti da Serial ATA e NVMe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USB</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seriale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quasi ogni dispositivo esterno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attuale: da 12 Mbit/s a decine di Gbit/s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SPI, I2C, I2S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seriale, pochi fili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chip sulla stessa scheda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attuali: i bus del kit PRG32</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fa una scheda video</a:t>
            </a:r>
            <a:endParaRPr lang="en-US" sz="3200" dirty="0"/>
          </a:p>
        </p:txBody>
      </p:sp>
      <p:sp>
        <p:nvSpPr>
          <p:cNvPr id="3" name="Shape 1"/>
          <p:cNvSpPr/>
          <p:nvPr/>
        </p:nvSpPr>
        <p:spPr>
          <a:xfrm>
            <a:off x="548640" y="162331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51688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sua funzione: inviare al monitor le informazioni da visualizzare</a:t>
            </a:r>
            <a:endParaRPr lang="en-US" sz="2200" dirty="0"/>
          </a:p>
        </p:txBody>
      </p:sp>
      <p:sp>
        <p:nvSpPr>
          <p:cNvPr id="5" name="Shape 3"/>
          <p:cNvSpPr/>
          <p:nvPr/>
        </p:nvSpPr>
        <p:spPr>
          <a:xfrm>
            <a:off x="548640" y="24213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495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Traduce la rappresentazione dell'immagine prodotta dal processore in un formato che il monitor può mostrare</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Contiene una memoria propria, la memoria video, che conserva il frame: il frame buffer</a:t>
            </a:r>
            <a:endParaRPr lang="en-US" sz="2200" dirty="0"/>
          </a:p>
        </p:txBody>
      </p:sp>
      <p:sp>
        <p:nvSpPr>
          <p:cNvPr id="9" name="Shape 7"/>
          <p:cNvSpPr/>
          <p:nvPr/>
        </p:nvSpPr>
        <p:spPr>
          <a:xfrm>
            <a:off x="548640" y="46992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282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Ogni volta che lo schermo va ridisegnato, legge la rappresentazione digitale dell'immagine e invia al monitor il segnale per il colore di ogni pixel</a:t>
            </a:r>
            <a:endParaRPr lang="en-US" sz="2200" dirty="0"/>
          </a:p>
        </p:txBody>
      </p:sp>
      <p:sp>
        <p:nvSpPr>
          <p:cNvPr id="11" name="Shape 9"/>
          <p:cNvSpPr/>
          <p:nvPr/>
        </p:nvSpPr>
        <p:spPr>
          <a:xfrm>
            <a:off x="548640" y="58381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73176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Ha una capacità di elaborazione propria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Monitor analogici e digitali</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Monitor CRT, ingresso analogico</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La scheda converte l'immagine digitale in segnali analogici</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La conversione è svolta da un componente detto RAMDAC</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Uscita VGA (1987): progettata per i tubi a raggi catodici</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Problemi: rumore elettrico, distorsione, errori nel posizionamento dei pixel</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Monitor LCD, ingresso digitale</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La scheda adatta colori e risoluzione dell'immagine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Fornisce memoria locale da usare come buffer</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Supporta l'accelerazione grafica, per esempio 3D</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DVI: ogni pixel dell'uscita corrisponde a un pixel dello schermo, alla sua risoluzione nativa</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Uscite video</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91886"/>
                <a:gridCol w="1091254"/>
                <a:gridCol w="2546259"/>
                <a:gridCol w="43650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Interfaccia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Anno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Segnale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Note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VGA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1987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analogico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 i monitor CRT; mantenuta per anni per compatibilità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DVI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1999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digitale (e analogico)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introdotta con i monitor LCD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HDMI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2003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sostituisce gli standard precedenti; porta anche l'audio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DisplayPort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2006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video, audio e altri dati; anche su connettori USB-C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SPI verso un controller di display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digitale, seriale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kit PRG32: un pannello ILI9341 di 320 per 240 pixel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Risoluzione: la dimensione della griglia di pixel</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2000632"/>
                <a:gridCol w="1818757"/>
                <a:gridCol w="5092518"/>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Risoluzione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Pixel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Rapporto d'aspetto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Dove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320 x 200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64.000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Commodore 64, giochi VGA, il viewport di PRG32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640 x 480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307.200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1024 x 768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786.432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monitor degli anni Novanta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1920 x 1080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2.073.600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Full HD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3840 x 2160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8.294.400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La risoluzione determina la definizione dell'immagine, e quanti pixel vanno memorizzati e inviati per ogni frame.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Profondità di colore: bit per pixel</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2182508"/>
                <a:gridCol w="2182508"/>
                <a:gridCol w="5092518"/>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Profondità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Colori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Byte per pixel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Nome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VGA standard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8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modo a 256 colori: ogni valore è un indice in una palette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16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65.536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High Color: RGB565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24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16.777.216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True Color: 256 sfumature per ciascuno tra rosso, verde e blu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Seguire il pixel su PRG32</a:t>
            </a:r>
            <a:endParaRPr lang="en-US" sz="3200" dirty="0"/>
          </a:p>
        </p:txBody>
      </p:sp>
      <p:sp>
        <p:nvSpPr>
          <p:cNvPr id="3" name="Text 1"/>
          <p:cNvSpPr txBox="1"/>
          <p:nvPr/>
        </p:nvSpPr>
        <p:spPr>
          <a:xfrm>
            <a:off x="548640" y="1783080"/>
            <a:ext cx="1828800" cy="1280160"/>
          </a:xfrm>
          <a:prstGeom prst="roundRect">
            <a:avLst>
              <a:gd name="adj" fmla="val 4286"/>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il vostro codice</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prg32_gfx_pixel</a:t>
            </a:r>
            <a:endParaRPr lang="en-US" sz="1600" dirty="0"/>
          </a:p>
        </p:txBody>
      </p:sp>
      <p:sp>
        <p:nvSpPr>
          <p:cNvPr id="4" name="Shape 2"/>
          <p:cNvSpPr/>
          <p:nvPr/>
        </p:nvSpPr>
        <p:spPr>
          <a:xfrm>
            <a:off x="2414016" y="2423160"/>
            <a:ext cx="414452" cy="0"/>
          </a:xfrm>
          <a:prstGeom prst="line">
            <a:avLst/>
          </a:prstGeom>
          <a:noFill/>
          <a:ln w="31750">
            <a:solidFill>
              <a:srgbClr val="5B6B78"/>
            </a:solidFill>
            <a:prstDash val="solid"/>
            <a:tailEnd type="triangle"/>
          </a:ln>
        </p:spPr>
      </p:sp>
      <p:sp>
        <p:nvSpPr>
          <p:cNvPr id="5" name="Text 3"/>
          <p:cNvSpPr txBox="1"/>
          <p:nvPr/>
        </p:nvSpPr>
        <p:spPr>
          <a:xfrm>
            <a:off x="2865044" y="1783080"/>
            <a:ext cx="1828800" cy="1280160"/>
          </a:xfrm>
          <a:prstGeom prst="roundRect">
            <a:avLst>
              <a:gd name="adj" fmla="val 4286"/>
            </a:avLst>
          </a:prstGeom>
          <a:solidFill>
            <a:srgbClr val="6B4FA0"/>
          </a:solidFill>
          <a:ln>
            <a:solidFill>
              <a:srgbClr val="6B4FA0"/>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frame buffer</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320 x 200 byte</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in RAM</a:t>
            </a:r>
            <a:endParaRPr lang="en-US" sz="1600" dirty="0"/>
          </a:p>
        </p:txBody>
      </p:sp>
      <p:sp>
        <p:nvSpPr>
          <p:cNvPr id="6" name="Shape 4"/>
          <p:cNvSpPr/>
          <p:nvPr/>
        </p:nvSpPr>
        <p:spPr>
          <a:xfrm>
            <a:off x="4730420" y="2423160"/>
            <a:ext cx="414452" cy="0"/>
          </a:xfrm>
          <a:prstGeom prst="line">
            <a:avLst/>
          </a:prstGeom>
          <a:noFill/>
          <a:ln w="31750">
            <a:solidFill>
              <a:srgbClr val="5B6B78"/>
            </a:solidFill>
            <a:prstDash val="solid"/>
            <a:tailEnd type="triangle"/>
          </a:ln>
        </p:spPr>
      </p:sp>
      <p:sp>
        <p:nvSpPr>
          <p:cNvPr id="7" name="Text 5"/>
          <p:cNvSpPr txBox="1"/>
          <p:nvPr/>
        </p:nvSpPr>
        <p:spPr>
          <a:xfrm>
            <a:off x="5181448" y="1783080"/>
            <a:ext cx="1828800" cy="1280160"/>
          </a:xfrm>
          <a:prstGeom prst="roundRect">
            <a:avLst>
              <a:gd name="adj" fmla="val 4286"/>
            </a:avLst>
          </a:prstGeom>
          <a:solidFill>
            <a:srgbClr val="C7791B"/>
          </a:solidFill>
          <a:ln>
            <a:solidFill>
              <a:srgbClr val="C7791B"/>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palette</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256 voci</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RGB565</a:t>
            </a:r>
            <a:endParaRPr lang="en-US" sz="1600" dirty="0"/>
          </a:p>
        </p:txBody>
      </p:sp>
      <p:sp>
        <p:nvSpPr>
          <p:cNvPr id="8" name="Shape 6"/>
          <p:cNvSpPr/>
          <p:nvPr/>
        </p:nvSpPr>
        <p:spPr>
          <a:xfrm>
            <a:off x="7046824" y="2423160"/>
            <a:ext cx="414452" cy="0"/>
          </a:xfrm>
          <a:prstGeom prst="line">
            <a:avLst/>
          </a:prstGeom>
          <a:noFill/>
          <a:ln w="31750">
            <a:solidFill>
              <a:srgbClr val="5B6B78"/>
            </a:solidFill>
            <a:prstDash val="solid"/>
            <a:tailEnd type="triangle"/>
          </a:ln>
        </p:spPr>
      </p:sp>
      <p:sp>
        <p:nvSpPr>
          <p:cNvPr id="9" name="Text 7"/>
          <p:cNvSpPr txBox="1"/>
          <p:nvPr/>
        </p:nvSpPr>
        <p:spPr>
          <a:xfrm>
            <a:off x="7497851" y="1783080"/>
            <a:ext cx="1828800" cy="1280160"/>
          </a:xfrm>
          <a:prstGeom prst="roundRect">
            <a:avLst>
              <a:gd name="adj" fmla="val 4286"/>
            </a:avLst>
          </a:prstGeom>
          <a:solidFill>
            <a:srgbClr val="B23A48"/>
          </a:solidFill>
          <a:ln>
            <a:solidFill>
              <a:srgbClr val="B23A48"/>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bus SPI</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27 MHz,</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seriale, con DMA</a:t>
            </a:r>
            <a:endParaRPr lang="en-US" sz="1600" dirty="0"/>
          </a:p>
        </p:txBody>
      </p:sp>
      <p:sp>
        <p:nvSpPr>
          <p:cNvPr id="10" name="Shape 8"/>
          <p:cNvSpPr/>
          <p:nvPr/>
        </p:nvSpPr>
        <p:spPr>
          <a:xfrm>
            <a:off x="9363227" y="2423160"/>
            <a:ext cx="414452" cy="0"/>
          </a:xfrm>
          <a:prstGeom prst="line">
            <a:avLst/>
          </a:prstGeom>
          <a:noFill/>
          <a:ln w="31750">
            <a:solidFill>
              <a:srgbClr val="5B6B78"/>
            </a:solidFill>
            <a:prstDash val="solid"/>
            <a:tailEnd type="triangle"/>
          </a:ln>
        </p:spPr>
      </p:sp>
      <p:sp>
        <p:nvSpPr>
          <p:cNvPr id="11" name="Text 9"/>
          <p:cNvSpPr txBox="1"/>
          <p:nvPr/>
        </p:nvSpPr>
        <p:spPr>
          <a:xfrm>
            <a:off x="9814255" y="1783080"/>
            <a:ext cx="1828800" cy="1280160"/>
          </a:xfrm>
          <a:prstGeom prst="roundRect">
            <a:avLst>
              <a:gd name="adj" fmla="val 4286"/>
            </a:avLst>
          </a:prstGeom>
          <a:solidFill>
            <a:srgbClr val="2F7D4F"/>
          </a:solidFill>
          <a:ln>
            <a:solidFill>
              <a:srgbClr val="2F7D4F"/>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display</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ILI9341,</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320 x 240</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4415" cy="914400"/>
        </p:xfrm>
        <a:graphic>
          <a:graphicData uri="http://schemas.openxmlformats.org/drawingml/2006/table">
            <a:tbl>
              <a:tblPr/>
              <a:tblGrid>
                <a:gridCol w="4937760"/>
                <a:gridCol w="6156655"/>
              </a:tblGrid>
              <a:tr h="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Grandezza</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Valore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memoria per un frame, un byte per pixel</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320 x 200 x 1 = 64.000 byte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lo stesso frame a due byte per pixel</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128.000 byte: un quarto di tutta la RAM del chip</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bit inviati al display per un frame intero</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64.000 pixel x 16 bit = 1.024.000 bit</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tempo sul bus a 27 MHz</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circa 38 ms: al massimo 26 frame interi al secondo</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48640" y="5715000"/>
            <a:ext cx="11094415" cy="457200"/>
          </a:xfrm>
          <a:prstGeom prst="rect">
            <a:avLst/>
          </a:prstGeom>
          <a:noFill/>
          <a:ln/>
        </p:spPr>
        <p:txBody>
          <a:bodyPr wrap="square" lIns="0" tIns="0" rIns="0" bIns="0" rtlCol="0" anchor="ctr"/>
          <a:lstStyle/>
          <a:p>
            <a:pPr indent="0" marL="0">
              <a:buNone/>
            </a:pPr>
            <a:r>
              <a:rPr lang="en-US" sz="1500" i="1" dirty="0">
                <a:solidFill>
                  <a:srgbClr val="1B2530"/>
                </a:solidFill>
                <a:latin typeface="Calibri" pitchFamily="34" charset="0"/>
                <a:ea typeface="Calibri" pitchFamily="34" charset="-122"/>
                <a:cs typeface="Calibri" pitchFamily="34" charset="-120"/>
              </a:rPr>
              <a:t>Due risposte ingegneristiche: un frame buffer indicizzato dimezza la memoria, e si inviano solo le righe cambiate.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Memoria e banda: la pressione sull'hardware video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23952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memoria e il tempo di processore richiesti da una grafica sempre più esigente, i videogiochi 3D soprattutto, hanno imposto alle schede video una rapida evoluzione</a:t>
            </a:r>
            <a:endParaRPr lang="en-US" sz="2000" dirty="0"/>
          </a:p>
        </p:txBody>
      </p:sp>
      <p:sp>
        <p:nvSpPr>
          <p:cNvPr id="5" name="Shape 3"/>
          <p:cNvSpPr/>
          <p:nvPr/>
        </p:nvSpPr>
        <p:spPr>
          <a:xfrm>
            <a:off x="548640" y="293433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843403"/>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Al crescere della definizione delle immagini cresce la memoria necessaria a rappresentare un frame</a:t>
            </a:r>
            <a:endParaRPr lang="en-US" sz="2000" dirty="0"/>
          </a:p>
        </p:txBody>
      </p:sp>
      <p:sp>
        <p:nvSpPr>
          <p:cNvPr id="7" name="Shape 5"/>
          <p:cNvSpPr/>
          <p:nvPr/>
        </p:nvSpPr>
        <p:spPr>
          <a:xfrm>
            <a:off x="548640" y="374065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49726"/>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flusso di dati dalla memoria alla scheda video rischia di saturare la capacità del bus</a:t>
            </a:r>
            <a:endParaRPr lang="en-US" sz="2000" dirty="0"/>
          </a:p>
        </p:txBody>
      </p:sp>
      <p:sp>
        <p:nvSpPr>
          <p:cNvPr id="9" name="Shape 7"/>
          <p:cNvSpPr/>
          <p:nvPr/>
        </p:nvSpPr>
        <p:spPr>
          <a:xfrm>
            <a:off x="548640" y="454698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56049"/>
            <a:ext cx="6565392" cy="909828"/>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Due linee d'attacco</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sempre più memoria sulla scheda stessa: la memoria video</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un bus più largo o dedicato: ieri AGP, oggi PCI Express</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Si potevano perfino collegare più schede per dividere il lavoro</a:t>
            </a:r>
            <a:endParaRPr lang="en-US" sz="20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4K, 60 Hz</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8,3 milioni di pixel x 3 byte x 60 frame: circa 1,5 GB di pixel al secondo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L'unità di elaborazione grafica</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 quota di tempo di processore spesa a calcolare immagini è cresciuta con l'uso delle interfacce grafiche</a:t>
            </a:r>
            <a:endParaRPr lang="en-US" sz="1900" dirty="0"/>
          </a:p>
        </p:txBody>
      </p:sp>
      <p:sp>
        <p:nvSpPr>
          <p:cNvPr id="5" name="Shape 3"/>
          <p:cNvSpPr/>
          <p:nvPr/>
        </p:nvSpPr>
        <p:spPr>
          <a:xfrm>
            <a:off x="548640" y="255860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75421"/>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Per alleggerire la CPU, le schede video hanno ricevuto processori dedicati: le GPU</a:t>
            </a:r>
            <a:endParaRPr lang="en-US" sz="1900" dirty="0"/>
          </a:p>
        </p:txBody>
      </p:sp>
      <p:sp>
        <p:nvSpPr>
          <p:cNvPr id="7" name="Shape 5"/>
          <p:cNvSpPr/>
          <p:nvPr/>
        </p:nvSpPr>
        <p:spPr>
          <a:xfrm>
            <a:off x="548640" y="332232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39135"/>
            <a:ext cx="6565392" cy="111125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Accelerano</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grafica raster: copia di blocchi di pixel (blitting), operazioni sulle texture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grafica 3D: trasformazioni, texture mapping, illuminazione</a:t>
            </a:r>
            <a:endParaRPr lang="en-US" sz="1900" dirty="0"/>
          </a:p>
        </p:txBody>
      </p:sp>
      <p:sp>
        <p:nvSpPr>
          <p:cNvPr id="9" name="Shape 7"/>
          <p:cNvSpPr/>
          <p:nvPr/>
        </p:nvSpPr>
        <p:spPr>
          <a:xfrm>
            <a:off x="548640" y="460851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253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programmi le usano tramite librerie: OpenGL, Direct3D, e oggi Vulkan e Metal</a:t>
            </a:r>
            <a:endParaRPr lang="en-US" sz="1900" dirty="0"/>
          </a:p>
        </p:txBody>
      </p:sp>
      <p:sp>
        <p:nvSpPr>
          <p:cNvPr id="11" name="Shape 9"/>
          <p:cNvSpPr/>
          <p:nvPr/>
        </p:nvSpPr>
        <p:spPr>
          <a:xfrm>
            <a:off x="548640" y="537222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89042"/>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 driver di periferica adatta il software che gira sulla CPU alle primitive offerte dalla GPU; ciò che non è supportato viene emulato dalla CPU, lentamente</a:t>
            </a:r>
            <a:endParaRPr lang="en-US" sz="1900" dirty="0"/>
          </a:p>
        </p:txBody>
      </p:sp>
      <p:pic>
        <p:nvPicPr>
          <p:cNvPr id="13" name="Image 0" descr="/Users/raffaelemontella/devel/riscv-prg32/computer-architecture-with-prg32/tools/assets/game_tetris.pn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Nessuna GPU sul kit: ogni pixel è un'istruzione di store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Calcolo generico su GPU</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 GPU moderne eseguono la stessa operazione in parallelo su intere matrici di pixel</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GPGPU: usare le GPU per applicazioni di tipo generale, non necessariamente grafiche</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numero molto grande di core semplici per GPU: centinaia, migliaia</a:t>
            </a:r>
            <a:endParaRPr lang="en-US" sz="2100" dirty="0"/>
          </a:p>
        </p:txBody>
      </p:sp>
      <p:sp>
        <p:nvSpPr>
          <p:cNvPr id="9" name="Shape 7"/>
          <p:cNvSpPr/>
          <p:nvPr/>
        </p:nvSpPr>
        <p:spPr>
          <a:xfrm>
            <a:off x="548640" y="45127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Modelli di programmazione: CUDA (NVIDIA) e OpenCL, uno standard aperto</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Simulazione scientifica, analisi dei dati e, oggi soprattutto, addestramento e uso delle reti neurali girano su GPU</a:t>
            </a:r>
            <a:endParaRPr lang="en-US" sz="2100" dirty="0"/>
          </a:p>
        </p:txBody>
      </p:sp>
      <p:pic>
        <p:nvPicPr>
          <p:cNvPr id="13" name="Image 0" descr="/Users/raffaelemontella/devel/riscv-prg32/computer-architecture-with-prg32/tools/assets/gpgpu_sum.png">    </p:cNvPr>
          <p:cNvPicPr>
            <a:picLocks noChangeAspect="1"/>
          </p:cNvPicPr>
          <p:nvPr/>
        </p:nvPicPr>
        <p:blipFill>
          <a:blip r:embed="rId1"/>
          <a:stretch>
            <a:fillRect/>
          </a:stretch>
        </p:blipFill>
        <p:spPr>
          <a:xfrm>
            <a:off x="6766560" y="2265761"/>
            <a:ext cx="4876495" cy="2600797"/>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 stessa operazione su molti dati insieme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Quanta memoria serve a un frame di 640 x 480 pixel in True Color (24 bit)?</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307.200 byte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614.400 byte</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921.600 byte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7.372.800 byte</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Un bus a 16 bit lavora a 50 MHz, un trasferimento per ciclo. Qual è la sua velocità di trasferimento?</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50 MB/s</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100 MB/s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400 MB/s</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800 MB/s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un frame buffer indicizzato a 8 bit, il byte di un pixel contiene: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sua componente rossa</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sua luminosità</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posizione del suo colore in una palette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sua coordinata x</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Che cos'è il GPGPU?</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Un'uscita video più veloce</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L'uso dei processori grafici per calcoli non grafici</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bus per schede video</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tipo di memoria video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53553"/>
                <a:gridCol w="3640355"/>
                <a:gridCol w="2426903"/>
                <a:gridCol w="277360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peripheral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resolution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risoluzione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controller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controller (unità di controllo della 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colour depth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profondità di colore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bus width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larghezza del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palette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tavolozza (palette)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transfer rate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velocità di trasferimento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video 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memoria video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video card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scheda video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device driver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driver di 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 dispositivi di ingresso/uscita sono una componente fondamentale dei calcolatori</a:t>
            </a:r>
            <a:endParaRPr lang="en-US" sz="2000" dirty="0"/>
          </a:p>
        </p:txBody>
      </p:sp>
      <p:sp>
        <p:nvSpPr>
          <p:cNvPr id="5" name="Shape 3"/>
          <p:cNvSpPr/>
          <p:nvPr/>
        </p:nvSpPr>
        <p:spPr>
          <a:xfrm>
            <a:off x="548640" y="204063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49704"/>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 dispositivi sono gestiti da un controller che li interfaccia al bus</a:t>
            </a:r>
            <a:endParaRPr lang="en-US" sz="2000" dirty="0"/>
          </a:p>
        </p:txBody>
      </p:sp>
      <p:sp>
        <p:nvSpPr>
          <p:cNvPr id="7" name="Shape 5"/>
          <p:cNvSpPr/>
          <p:nvPr/>
        </p:nvSpPr>
        <p:spPr>
          <a:xfrm>
            <a:off x="548640" y="257302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482088"/>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bus è caratterizzato da larghezza, velocità e velocità di trasferimento; la sua banda è un limite di cui il progetto deve tenere conto</a:t>
            </a:r>
            <a:endParaRPr lang="en-US" sz="2000" dirty="0"/>
          </a:p>
        </p:txBody>
      </p:sp>
      <p:sp>
        <p:nvSpPr>
          <p:cNvPr id="9" name="Shape 7"/>
          <p:cNvSpPr/>
          <p:nvPr/>
        </p:nvSpPr>
        <p:spPr>
          <a:xfrm>
            <a:off x="548640" y="341528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32435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 schede video permettono di visualizzare grafica e testo: un frame buffer, una risoluzione, una profondità di colore, un'uscita</a:t>
            </a:r>
            <a:endParaRPr lang="en-US" sz="2000" dirty="0"/>
          </a:p>
        </p:txBody>
      </p:sp>
      <p:sp>
        <p:nvSpPr>
          <p:cNvPr id="11" name="Shape 9"/>
          <p:cNvSpPr/>
          <p:nvPr/>
        </p:nvSpPr>
        <p:spPr>
          <a:xfrm>
            <a:off x="548640" y="42575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66616"/>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 loro processori, le GPU, si usano anche per il calcolo ad alte prestazioni</a:t>
            </a:r>
            <a:endParaRPr lang="en-US" sz="2000" dirty="0"/>
          </a:p>
        </p:txBody>
      </p:sp>
      <p:sp>
        <p:nvSpPr>
          <p:cNvPr id="13" name="Shape 11"/>
          <p:cNvSpPr/>
          <p:nvPr/>
        </p:nvSpPr>
        <p:spPr>
          <a:xfrm>
            <a:off x="548640" y="4789932"/>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699000"/>
            <a:ext cx="10710367" cy="147320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Tanenbaum, Austin: Architettura dei calcolatori. Un approccio strutturale, capitoli 2 e 3 (bus, display)</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Playing with RISC-V, capitolo 7: il gioco grafico</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Repository PRG32: docs/hardware/ili9341.md</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I bus e la scheda video</dc:title>
  <dc:subject>Lezione 20</dc:subject>
  <dc:creator>Raffaele Montella</dc:creator>
  <cp:lastModifiedBy>Raffaele Montella</cp:lastModifiedBy>
  <cp:revision>1</cp:revision>
  <dcterms:created xsi:type="dcterms:W3CDTF">2026-10-13T10:41:33Z</dcterms:created>
  <dcterms:modified xsi:type="dcterms:W3CDTF">2026-10-13T10:41:33Z</dcterms:modified>
</cp:coreProperties>
</file>