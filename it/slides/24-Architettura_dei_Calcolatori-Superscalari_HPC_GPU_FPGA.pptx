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307dced-7c41-5eb6-59b0-300f2d497e3d}">
          <p14:sldIdLst>
            <p14:sldId id="256"/>
            <p14:sldId id="257"/>
          </p14:sldIdLst>
        </p14:section>
        <p14:section name="Riscaldamento sulla macchina" id="{ca8f0351-6fe7-80ba-8845-4736e098e83c}">
          <p14:sldIdLst>
            <p14:sldId id="258"/>
            <p14:sldId id="259"/>
          </p14:sldIdLst>
        </p14:section>
        <p14:section name="Processori superscalari" id="{9c047856-a03b-6c6b-6af6-c241e79816cc}">
          <p14:sldIdLst>
            <p14:sldId id="260"/>
            <p14:sldId id="261"/>
            <p14:sldId id="262"/>
            <p14:sldId id="263"/>
            <p14:sldId id="264"/>
          </p14:sldIdLst>
        </p14:section>
        <p14:section name="Calcolo ad alte prestazioni" id="{d44b2e49-0ff3-0baf-a21d-81e1053bd3d1}">
          <p14:sldIdLst>
            <p14:sldId id="265"/>
            <p14:sldId id="266"/>
            <p14:sldId id="267"/>
            <p14:sldId id="268"/>
          </p14:sldIdLst>
        </p14:section>
        <p14:section name="Acceleratori GPU" id="{7b53bf13-621b-edc8-479c-942defc4b0ec}">
          <p14:sldIdLst>
            <p14:sldId id="269"/>
          </p14:sldIdLst>
        </p14:section>
        <p14:section name="Acceleratori FPGA" id="{3b8847f0-40e4-5314-6294-8f63e2102269}">
          <p14:sldIdLst>
            <p14:sldId id="270"/>
            <p14:sldId id="271"/>
          </p14:sldIdLst>
        </p14:section>
        <p14:section name="Ritorno alla macchina" id="{dcf27405-6b62-ee1f-4ef9-7a7a0d62411a}">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lezione guarda oltre il kit. Tutto ciò che si è imparato finora lo si è imparato su un piccolo processore che esegue un'istruzione alla volta. Le macchine che prevedono il tempo o addestrano una rete neurale eseguono istruzioni dello stesso tipo, in numero enorme e contemporaneamente. La lezione prende un piccolo ciclo di Verm1 e lo segue su quattro classi di macchine, così che l'intero panorama del calcolo ad alte prestazioni si veda attraverso un solo esempio familiare. La domanda di Seymour Cray su buoi e galline tornerà, e non ha una risposta unica. Questa lezione è uno sguardo d'insieme e non fa parte della prova intercorso.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Percorso. I risultati di oggi: (1) usare l'equazione delle prestazioni per dire dove va il tempo; (2) spiegare esecuzione superscalare, vettori, GPU e FPGA come risposte a essa; (3) limitare l'accelerazione parallela con la legge di Amdahl. Si appoggia su: solo ciò che ha preparato la Lezione 01. È l'ultima lezione del corso.
Per il docente: Lezione conclusiva e di prospettiva, nuova nel 2026/27: non ha una presentazione italiana di origine. Parte da un ciclo di Verm1 e lo segue su quattro tipi di macchina. Prepara la visita ai sistemi di supercalcolo del Dipartimento. Non fa parte della prova intercorso. I listati vettoriali RISC-V sono provati su QEMU (tools/tests/vector_qemu.S); i frammenti CUDA e Verilog sono forme standard da manuale, non compilate per queste slide. Le cifre sui supercalcolatori sono arrotondate e risalgono alle liste TOP500 dal 2022 al 2025: controllate la lista corrente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Enunciare l'equazione delle prestazioni e individuare su quale dei suoi fattori agisce ciascuna tecnica. Spiegare come un processore superscalare fuori ordine esegue più istruzioni per ciclo. Leggere un ciclo scritto con l'estensione vettoriale di RISC-V. Descrivere un supercalcolatore, calcolare uno speed-up con la legge di Amdahl, e spiegare perché l'energia è il vincolo decisivo. E dire per che cosa sono adatte una GPU e una FPGA, e che cosa ciascuna chiede al programmatore.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esecuzione di un programma è il prodotto di tre grandezze: il numero di istruzioni eseguite, il numero medio di cicli di clock che ciascuna richiede, e la durata di un ciclo. Ogni fattore si può ridurre. Meno istruzioni: algoritmi migliori, istruzioni più ricche, vettori. Meno cicli per istruzione: pipeline ed esecuzione superscalare. Un ciclo più breve: transistor più veloci. E quando un processore non basta più, più processori. Questa equazione organizza la lezione: ogni macchina presentata è una risposta diversa a essa.
DA COMPRENDERE OGGI: l'equazione delle prestazioni.
Per il docente: L'equazione delle prestazioni di Patterson e Hennessy. Per il ciclo del riscaldamento (presentazione del codice) sul kit: 3 840 istruzioni, circa 1 ciclo ciascuna, 6,25 nanosecondi per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non alzare semplicemente la frequenza di clock? Per tre decenni ogni generazione di transistor è stata più piccola e più veloce senza dissipare più calore per unità di superficie. Intorno al 2005 questa scala si è interrotta: un clock più veloce produce ora più calore di quanto un chip possa smaltire. Le frequenze sono rimaste a pochi gigahertz, e i transistor aggiuntivi sono stati spesi diversamente: processori più larghi, più core, unità vettoriali e acceleratori. Le prestazioni vengono ora dal parallelismo, dal fare molte cose insieme, ed è per questo che il resto della lezione tratta di macchine parallele.
DA COMPRENDERE OGGI: l'equazione delle prestazioni.
Per il docente: La legge di Moore (più transistor) è proseguita; la scalatura di Dennard (densità di potenza costante) è finita. I 160 MHz del kit sono lenti per scelta: costano milliwatt.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tipi di processore, in ordine di ambizione. Il processore multiciclo completa un'istruzione prima di cominciare la successiva. Il processore a pipeline ha più istruzioni in corso, ciascuna in uno stadio diverso, e ne completa al più una per ciclo; è il kit. Il processore superscalare in ordine ha due o più pipeline affiancate. Il processore superscalare fuori ordine avvia ogni istruzione appena i suoi operandi sono pronti e sostiene quattro, sei o otto istruzioni per ciclo; è il processore di portatili e telefoni.
DA COMPRENDERE OGGI: i processori superscalari.
Per il docente: La Lezione 19 ha introdotto la pipeline e nominato i processori superscalari in una riga: questa sezione apre quella riga. La larghezza è il numero di istruzioni che il processore può avviare in un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L'esecuzione fuori ordine in quattro fasi. Le istruzioni si prelevano e si decodificano nell'ordine del programma, più per ciclo, in una finestra di decine o centinaia. A ogni risultato si assegna un registro fisico nuovo: è la ridenominazione, che elimina le false dipendenze tra usi non correlati dello stesso nome di registro. Ogni istruzione si esegue appena i suoi operandi sono disponibili, ovunque si trovi nel programma. Infine i risultati si consolidano nell'ordine del programma, così che dall'esterno nulla sembri aver sorpassato nulla. Il modello sequenziale di esecuzione imparato nel corso è preservato esattamente; cambiano solo i tempi.
DA COMPRENDERE OGGI: i processori superscalari.
Per il docente: L'algoritmo è quello di Tomasulo, progettato nel 1967 per l'unità in virgola mobile dell'IBM System/360 Model 91; il reorder buffer che fa il commit in ordine è arrivato negli anni Ottanta. Il modello del programmatore, quello che avete imparato, è conservato esattamente: è il contratto dell'insieme di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largo incontra un salto ogni poche istruzioni e non può aspettare di conoscerne l'esito. Perciò predice: deduce la direzione probabile dalla storia di quel salto e prosegue speculativamente lungo la predizione. Se la predizione era corretta non si perde nulla; altrimenti il lavoro speculativo si scarta. Il ciclo del riscaldamento salta all'indietro 959 volte e prosegue una volta, uno schema che qualsiasi predittore impara subito. I predittori moderni hanno ragione ben più di nove volte su dieci, e la loro accuratezza è un fattore principale delle prestazioni.
DA COMPRENDERE OGGI: i processori superscalari.
Per il docente: L'esecuzione speculativa ha un lato oscuro: nel 2018 gli attacchi Spectre e Meltdown hanno mostrato che il lavoro buttato via può lasciare comunque nella cache tracce che rivelano segreti. I trucchi per le prestazioni sono anche questioni di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Esistono processori RISC-V di questa classe. La prima riga è il core del kit: in ordine, un'istruzione per ciclo. Le altre sono core fuori ordine: BOOM di Berkeley e XiangShan dell'Accademia cinese delle scienze, entrambi open source; e il C910, il P550 e Veyron, dall'industria. Poiché l'insieme di istruzioni è aperto, chiunque può costruire un core del genere, e alcuni sono pubblicati come codice sorgente che uno studente potrebbe leggere.
DA COMPRENDERE OGGI: i processori superscalari.
Per il docente: BOOM è la Berkeley Out-of-Order Machine. Poiché l'insieme di istruzioni è aperto, chiunque può costruire un core simile, e parecchi sono pubblicati come codice sorgente che uno studente può leggere: non ha precedenti tra le architetture commerciali. L'elenco invecchia in fretta: aggiornatelo.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organizza l'intero corso. L'architettura è il contratto: le istruzioni, i registri, e l'effetto di ciascuna istruzione. La microarchitettura è un modo particolare di onorare quel contratto: stadi della pipeline, larghezza, predittori, cache. L'add scritto per un microcontrollore è lo stesso add su un core da server, e Verm1 girerebbe invariato su qualsiasi core della slide precedente. Questa separazione è il motivo per cui un insieme di istruzioni, una volta imparato, è una conoscenza duratura, e per cui il corso ha potuto insegnare l'architettura su una piccola macchina senza perdita di generalità.
DA COMPRENDERE OGGI: i processori superscalari.
Per il docente: La distinzione che organizza l'intero corso: le Lezioni dalla 02 alla 22 hanno insegnato l'architettura; il kit è una piccola microarchitettura.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supercalcolatore non è un unico enorme processore ma migliaia di calcolatori ordinari, i nodi, che lavorano sullo stesso problema. Ogni nodo ha uno o due processori con decine di core, spesso più GPU, e memoria abbondante. Una rete molto veloce collega i nodi, e un file system parallelo li serve tutti. Le prestazioni si misurano in operazioni in virgola mobile al secondo su un benchmark standard, e la lista TOP500 classifica le macchine più veloci dal 1993. L'immagine mostra rack di nodi delle Research Computing Facilities dell'Ateneo, incontrate nella Lezione 03.
DA COMPRENDERE OGGI: HPC e legge di Amdahl.
Per il docente: Il benchmark è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Amdahl dice quanto può dare il parallelismo. Se una frazione p del lavoro si può parallelizzare e il resto no, lo speed-up con n processori è 1 / ((1 - p) + p / n). La parte seriale non si riduce per quanti processori si aggiungano, quindi lo speed-up è limitato da 1 / (1 - p): con p = 0,9 non può mai superare 10. La lezione pratica è misurare p prima di acquistare processori, e riconoscere che ridurre la frazione seriale vale spesso più che aggiungere hardware.
DA COMPRENDERE OGGI: HPC e legge di Amdahl.
Per il docente: Gene Amdahl, 1967. La stessa legge vale per ogni miglioramento che si applica solo a una parte del lavoro: una GPU più veloce non aiuta la parte che gira sulla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modelli per condividere il lavoro. Con la memoria condivisa, più core dello stesso nodo vedono la stessa memoria, e il programma gira come thread che leggono e scrivono variabili comuni; è facile cominciare, e il suo pericolo caratteristico sono due thread che scrivono la stessa variabile. Con la memoria distribuita ogni nodo ha la sua memoria, e il programma gira come processi che si scambiano messaggi, secondo lo standard MPI; scala fino a un milione di core, al prezzo di un maggiore sforzo da parte del programmatore. Le applicazioni reali combinano i due.
DA COMPRENDERE OGGI: HPC e legge di Amdahl.
Per il docente: Le applicazioni reali usano entrambi: MPI tra i nodi, thread e GPU dentro ogni nodo. I modelli meteorologici e marini del Dipartimento funzionano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vincolo decisivo è l'energia. Una macchina exascale assorbe circa venti megawatt, il consumo di una piccola città, e l'elettricità usata nella sua vita costa quanto la macchina stessa. La cifra che conta è quindi operazioni per watt, che ha una propria classifica, la Green500. In testa c'è l'hardware specializzato, perché ottiene di più da ogni joule. Lo stesso ragionamento, all'estremo opposto della scala, mette un piccolo core RISC-V nel kit.
DA COMPRENDERE OGGI: HPC e legge di Amdahl.
Per il docente: Frontier ha raggiunto il suo exaflop a circa 21 megawatt. L'efficienza energetica è il filo che lega un microcontrollore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spendere gli stessi transistor. Una CPU ha pochi core grandi, ciascuno fuori ordine, con predittori e cache ampie; è progettata per completare un singolo compito il più in fretta possibile, e gestisce bene salti e dati irregolari. Una GPU ha migliaia di core piccoli e semplici che eseguono lo stesso codice su dati diversi; è progettata per completare un numero molto grande di compiti al secondo, ed eccelle sugli array regolari. Buoi e galline: quale sia preferibile dipende dal campo da arare.
DA COMPRENDERE OGGI: acceleratori GPU e FPGA.
Per il docente: La Lezione 20 ha raccontato la storia dalla scheda video al GPGPU. I buoi e i polli di Cray: la risposta dipende dal campo. La GPU non è più veloce in nessuna singola cosa; fa più cose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FPGA, un array di porte programmabile sul campo, è un chip che diventa il circuito che si descrive. Internamente è un mare di piccoli blocchi: tabelle di consultazione, ciascuna capace di realizzare qualsiasi funzione di pochi ingressi, cioè una tavola di verità tenuta in memoria; un flip-flop accanto a ogni tabella; e fili con interruttori capaci di collegare qualsiasi blocco a qualsiasi altro. Un file di configurazione, il bitstream, imposta ogni tabella e interruttore. Caricando un altro bitstream lo stesso chip diventa un circuito diverso. Non esegue un programma: è un circuito, che unisce le macchine combinatorie e sequenziali del corso in un solo dispositivo riconfigurabile.
DA COMPRENDERE OGGI: acceleratori GPU e FPGA.
Per il docente: Lo Xilinx XC2064, 1985. Una FPGA non esegue un programma: diventa un circuito. Nulla viene prelevato o decodificato; tutte le porte lavorano nello stesso momento.
Immagini: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 di calcolare, confrontati riga per riga. Una CPU consiste di pochi core complessi, programmabili in qualsiasi linguaggio, competenti in tutto con moderazione. Una GPU consiste di migliaia di core semplici per dati regolari in grande quantità. Una FPGA è un circuito configurabile, adatto a flussi di dati e a bassa latenza. Un ASIC è un circuito fatto per un solo compito. Da sinistra a destra cresce il lavoro svolto per joule, e cresce lo sforzo di progetto richiesto. La generalità si paga in energia, l'efficienza in sforzo; è il compromesso centrale dell'architettura dei calcolatori contemporanea.
DA COMPRENDERE OGGI: acceleratori GPU e FPGA.
Per il docente: La generalità si paga in energia; l'efficienza si paga in fatica. Un moderno system on a chip li ha tutti e quattro: il vostro telefono contiene core CPU, una GPU, e circuiti fissi per video e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vale l'ultima colonna della tabella della legge di Amdahl: con processori illimitati resta solo la frazione seriale.
Per la seconda si ricorda l'esempio con le due metà che usavano entrambe t0: che cosa impediva loro di eseguirsi insieme, e che cosa ha cambiato la ridenominazione.
Per il docente: 1. Risposta: B. Con n illimitato, S = 1 / (1 - p) = 1 / 0,2 = 5.
2. Risposta: C. Due valori indipendenti che condividono un nome ricevono registri fisici diversi e si possono calcolare nello stesso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256 bit sono 32 byte, e i 960 byte si dividono per quel numero.
Per la seconda, i quattro bit memorizzati si scrivono come tavola di verità con ingressi a e b, e si riconosce la funzione.
Per il docente: 1. Risposta: B. 256 bit sono 32 byte per giro: 960 / 32 = 30. Il codice non cambia.
2. Risposta: B. L'uscita vale 1 ogni volta che almeno un ingresso vale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di questa lezione. L'out-of-order execution è l'esecuzione fuori ordine; il register renaming è la ridenominazione dei registri; la branch prediction è la predizione dei salti. Memoria condivisa e scambio di messaggi sono i due modelli della programmazione parallela. Diversi termini, kernel, bitstream, soft core, si usano in italiano senza traduzione.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Una sola equazione con tre fattori: ogni macchina veloce ne riduce uno, o moltiplica i processori. I core superscalari fuori ordine onorano il contratto dell'insieme di istruzioni pur eseguendo molte istruzioni insieme. Vettori, GPU e cluster sfruttano dati che si possono elaborare indipendentemente, e la legge di Amdahl dice fin dove arriva questo. Le FPGA trasformano una descrizione in un circuito. Il corso finisce qui: da un singolo bit a un supercalcolatore, con un solo insieme di istruzioni dall'inizio alla fine.
Stato di apprendimento, riepilogo.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Il filo della lezione: Il ciclo che svuota la mappa di Verm1 si può rendere più veloce in cinque modi, e ciascuno è una macchina a sé. La domanda dell'ingegnere non è quale macchina sia la più veloce, ma quale sia sufficiente. Biglietto d'uscita (da due a quattro minuti, da soli, su carta): 1. Il ciclo che svuota la mappa di Verm1 esegue 3.840 istruzioni a circa un ciclo ciascuna con un clock a 160 MHz. Quanto dura? Nominate un modo per ridurre ciascuno dei tre fattori. 2. Un programma è parallelo all'80%. Con tutti i processori che si vuole, qual è l'accelerazione massima, e perché?
Per il docente: Il corso finisce qui: da un bit a un supercalcolatore, con un solo insieme di istruzioni. Poi: la visita ai sistemi di calcolo del Dipartimento, e la presentazione dei giochi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Oltre un solo core: RISC‑V superscalare, HPC, GPU e FPGA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Le stesse istruzioni, su macchine che ne eseguono molte insieme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“Se doveste arare un campo, che cosa usereste: due buoi robusti o 1024 polli?”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l'equazione delle prestazioni e dire quale fattore attacca ciascuna tecnica</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processore superscalare fuori ordine esegue più istruzioni per ciclo, e nominare core RISC-V che lo fanno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 ciclo scritto con l'estensione vettoriale di RISC-V</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supercalcolatore, calcolare uno speed-up con la legge di Amdahl, e dire perché il limite è l'energia</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in che cosa sono forti una GPU e una FPGA, e quanto costa ciascuna al programmatore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 istruzioni x cicli per istruzione x periodo di clock</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tempo impiegato da un programma è il prodotto di tre numeri</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Ciascuno si può attaccare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istruzioni: algoritmi migliori, istruzioni più ricche, vettori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cicli per istruzione: pipeline, esecuzione superscalare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ciclo più corto: transistor più veloci, pipeline più profonde</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 quando un processore non basta: più processori che lavorano insieme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macchina di questa lezione è una risposta diversa alla stessa equazione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istruzioni, CPI cicli per istruzione, t secondi per ciclo</a:t>
            </a:r>
            <a:endParaRPr lang="en-US" sz="1900" dirty="0"/>
          </a:p>
        </p:txBody>
      </p:sp>
      <p:sp>
        <p:nvSpPr>
          <p:cNvPr id="14" name="Shape 12"/>
          <p:cNvSpPr/>
          <p:nvPr/>
        </p:nvSpPr>
        <p:spPr>
          <a:xfrm>
            <a:off x="7329373" y="91440"/>
            <a:ext cx="4313682" cy="274320"/>
          </a:xfrm>
          <a:prstGeom prst="rect">
            <a:avLst/>
          </a:prstGeom>
          <a:solidFill>
            <a:srgbClr val="E0F2FE"/>
          </a:solidFill>
          <a:ln w="12700">
            <a:solidFill>
              <a:srgbClr val="0369A1"/>
            </a:solidFill>
            <a:prstDash val="solid"/>
          </a:ln>
        </p:spPr>
      </p:sp>
      <p:sp>
        <p:nvSpPr>
          <p:cNvPr id="15" name="Shape 13"/>
          <p:cNvSpPr/>
          <p:nvPr/>
        </p:nvSpPr>
        <p:spPr>
          <a:xfrm>
            <a:off x="732937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7" name="Text 14"/>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non semplicemente un clock più veloce?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trent'anni ogni nuova generazione di transistor è stata più piccola, più veloce e non più calda per millimetro quadrato</a:t>
            </a:r>
            <a:endParaRPr lang="en-US" sz="1900" dirty="0"/>
          </a:p>
        </p:txBody>
      </p:sp>
      <p:sp>
        <p:nvSpPr>
          <p:cNvPr id="5" name="Shape 3"/>
          <p:cNvSpPr/>
          <p:nvPr/>
        </p:nvSpPr>
        <p:spPr>
          <a:xfrm>
            <a:off x="548640" y="26892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Intorno al 2005 questo è finito: i transistor più piccoli arrivano ancora, ma un clock più veloce significa più calore di quanto un chip possa smaltire</a:t>
            </a:r>
            <a:endParaRPr lang="en-US" sz="19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 allora le frequenze di clock sono rimaste a pochi gigahertz</a:t>
            </a:r>
            <a:endParaRPr lang="en-US" sz="1900" dirty="0"/>
          </a:p>
        </p:txBody>
      </p:sp>
      <p:sp>
        <p:nvSpPr>
          <p:cNvPr id="9" name="Shape 7"/>
          <p:cNvSpPr/>
          <p:nvPr/>
        </p:nvSpPr>
        <p:spPr>
          <a:xfrm>
            <a:off x="548640" y="477227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909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transistor in più sono andati altrove: processori più larghi, più core, unità vettoriali, acceleratori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Oggi le prestazioni vengono dal fare molte cose insieme: dal parallelismo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fine del pasto gratis: i clock si fermano a pochi gigahertz, i core si moltiplicano</a:t>
            </a:r>
            <a:endParaRPr lang="en-US" sz="1900" dirty="0"/>
          </a:p>
        </p:txBody>
      </p:sp>
      <p:sp>
        <p:nvSpPr>
          <p:cNvPr id="16" name="Shape 14"/>
          <p:cNvSpPr/>
          <p:nvPr/>
        </p:nvSpPr>
        <p:spPr>
          <a:xfrm>
            <a:off x="7329373" y="91440"/>
            <a:ext cx="4313682" cy="274320"/>
          </a:xfrm>
          <a:prstGeom prst="rect">
            <a:avLst/>
          </a:prstGeom>
          <a:solidFill>
            <a:srgbClr val="E0F2FE"/>
          </a:solidFill>
          <a:ln w="12700">
            <a:solidFill>
              <a:srgbClr val="0369A1"/>
            </a:solidFill>
            <a:prstDash val="solid"/>
          </a:ln>
        </p:spPr>
      </p:sp>
      <p:sp>
        <p:nvSpPr>
          <p:cNvPr id="17" name="Shape 15"/>
          <p:cNvSpPr/>
          <p:nvPr/>
        </p:nvSpPr>
        <p:spPr>
          <a:xfrm>
            <a:off x="732937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9" name="Text 16"/>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una alla volta a molte insieme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 funziona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Istruzioni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un'istruzione termina prima che cominci la successiva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meno di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macchina della 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più istruzioni in volo, ciascuna in uno stadio diverso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massimo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l'ESP32-C6 del kit: quattro stadi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in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due o più pipeline affiancate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2 o più</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piccoli core applicativi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istruzioni partono appena i loro operandi sono pronti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portatili, telefoni, server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Esecuzione fuori ordine</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700" b="1" dirty="0">
                <a:solidFill>
                  <a:srgbClr val="2E4A62"/>
                </a:solidFill>
                <a:latin typeface="Calibri" pitchFamily="34" charset="0"/>
                <a:ea typeface="Calibri" pitchFamily="34" charset="-122"/>
                <a:cs typeface="Calibri" pitchFamily="34" charset="-120"/>
              </a:rPr>
              <a:t>Prelievo e decodifica, in ordine</a:t>
            </a:r>
            <a:endParaRPr lang="en-US" sz="17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Più istruzioni per ciclo entrano in una finestra di decine o centinaia di istruzioni</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Ridenominazione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risultato riceve un registro fisico nuovo, così due usi del nome t0 non si scontrano più</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Esecuzione appena pronta</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Un'istruzione parte appena esistono i suoi operandi, qualunque sia la sua posizione nel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ordine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 risultati diventano ufficiali nell'ordine del programma: visto da fuori, nessuno ha mai sorpassato</a:t>
            </a:r>
            <a:endParaRPr lang="en-US" sz="1900" dirty="0"/>
          </a:p>
        </p:txBody>
      </p:sp>
      <p:sp>
        <p:nvSpPr>
          <p:cNvPr id="22" name="Shape 20"/>
          <p:cNvSpPr/>
          <p:nvPr/>
        </p:nvSpPr>
        <p:spPr>
          <a:xfrm>
            <a:off x="7592009" y="91440"/>
            <a:ext cx="4051046" cy="274320"/>
          </a:xfrm>
          <a:prstGeom prst="rect">
            <a:avLst/>
          </a:prstGeom>
          <a:solidFill>
            <a:srgbClr val="E0F2FE"/>
          </a:solidFill>
          <a:ln w="12700">
            <a:solidFill>
              <a:srgbClr val="0369A1"/>
            </a:solidFill>
            <a:prstDash val="solid"/>
          </a:ln>
        </p:spPr>
      </p:sp>
      <p:sp>
        <p:nvSpPr>
          <p:cNvPr id="23" name="Shape 21"/>
          <p:cNvSpPr/>
          <p:nvPr/>
        </p:nvSpPr>
        <p:spPr>
          <a:xfrm>
            <a:off x="7592009"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5" name="Text 2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Indovinare il futuro: la predizione dei salti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processore largo incontra un salto ogni poche istruzioni: non può aspettare di conoscerne l'esito</a:t>
            </a:r>
            <a:endParaRPr lang="en-US" sz="2100" dirty="0"/>
          </a:p>
        </p:txBody>
      </p:sp>
      <p:sp>
        <p:nvSpPr>
          <p:cNvPr id="5" name="Shape 3"/>
          <p:cNvSpPr/>
          <p:nvPr/>
        </p:nvSpPr>
        <p:spPr>
          <a:xfrm>
            <a:off x="548640" y="27860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738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Predice la direzione dalla storia di quel salto, e prosegue l'esecuzione lungo l'ipotesi</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Un'ipotesi giusta non costa nulla; una sbagliata butta via il lavoro speculativo e ricomincia</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ciclo del riscaldamento salta all'indietro 959 volte e prosegue una volta: facile da predire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predittori moderni hanno ragione ben più di nove volte su dieci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è preso 959 volte e non preso una: un predittore lo impara nei primi giri</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diventa superscalare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HP dell'ESP32-C6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ordine, quattro stadi, un'istruzione per ciclo: il vostro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Università della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per ricerca e didattica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Accademia Cinese delle Scienze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alte prestazioni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rilasciato come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tredici stadi; venduto come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per i data center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Un'architettura, molte microarchitetture</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Architettura e microarchitettura</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L'architettura è il contratto: istruzioni, registri, che cosa fa ogni istruzione. La microarchitettura è un modo di rispettarlo: stadi, larghezza, predittori, cache.</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add che avete scritto per un microcontrollore a 160 MHz è la add di un core da server</a:t>
            </a:r>
            <a:endParaRPr lang="en-US" sz="2400" dirty="0"/>
          </a:p>
        </p:txBody>
      </p:sp>
      <p:sp>
        <p:nvSpPr>
          <p:cNvPr id="8" name="Shape 6"/>
          <p:cNvSpPr/>
          <p:nvPr/>
        </p:nvSpPr>
        <p:spPr>
          <a:xfrm>
            <a:off x="548640" y="467334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5142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girerebbe senza modifiche su uno qualunque dei core della slide precedente, dato uno schermo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 questo un insieme di istruzioni imparato una volta è una conoscenza che dura</a:t>
            </a:r>
            <a:endParaRPr lang="en-US" sz="2400" dirty="0"/>
          </a:p>
        </p:txBody>
      </p:sp>
      <p:sp>
        <p:nvSpPr>
          <p:cNvPr id="12" name="Shape 10"/>
          <p:cNvSpPr/>
          <p:nvPr/>
        </p:nvSpPr>
        <p:spPr>
          <a:xfrm>
            <a:off x="7592009" y="91440"/>
            <a:ext cx="4051046" cy="274320"/>
          </a:xfrm>
          <a:prstGeom prst="rect">
            <a:avLst/>
          </a:prstGeom>
          <a:solidFill>
            <a:srgbClr val="E0F2FE"/>
          </a:solidFill>
          <a:ln w="12700">
            <a:solidFill>
              <a:srgbClr val="0369A1"/>
            </a:solidFill>
            <a:prstDash val="solid"/>
          </a:ln>
        </p:spPr>
      </p:sp>
      <p:sp>
        <p:nvSpPr>
          <p:cNvPr id="13" name="Shape 11"/>
          <p:cNvSpPr/>
          <p:nvPr/>
        </p:nvSpPr>
        <p:spPr>
          <a:xfrm>
            <a:off x="759200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5" name="Text 1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supercalcolatore?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Non un unico processore enorme: migliaia di calcolatori normali, i nodi, che lavorano allo stesso problema</a:t>
            </a:r>
            <a:endParaRPr lang="en-US" sz="19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277"/>
            <a:ext cx="656539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nodo ha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o due processori con decine di core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spesso più GPU</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moltissima memoria</a:t>
            </a:r>
            <a:endParaRPr lang="en-US" sz="1900" dirty="0"/>
          </a:p>
        </p:txBody>
      </p:sp>
      <p:sp>
        <p:nvSpPr>
          <p:cNvPr id="7" name="Shape 5"/>
          <p:cNvSpPr/>
          <p:nvPr/>
        </p:nvSpPr>
        <p:spPr>
          <a:xfrm>
            <a:off x="548640" y="38630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990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molto veloce unisce i nodi, e un file system parallelo li serve tutti</a:t>
            </a:r>
            <a:endParaRPr lang="en-US" sz="1900" dirty="0"/>
          </a:p>
        </p:txBody>
      </p:sp>
      <p:sp>
        <p:nvSpPr>
          <p:cNvPr id="9" name="Shape 7"/>
          <p:cNvSpPr/>
          <p:nvPr/>
        </p:nvSpPr>
        <p:spPr>
          <a:xfrm>
            <a:off x="548640" y="4617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3447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velocità si misura in operazioni in virgola mobile al secondo, FLOPS, su un problema standard: un enorme sistema di equazioni lineari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lista TOP500 classifica le macchine più veloci due volte l'anno dal 1993</a:t>
            </a:r>
            <a:endParaRPr lang="en-US" sz="19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Armadi di nodi: le Research Computing Facilities dell'Ateneo</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Amdahl</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con n processori</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dove p è la frazione del lavoro che si può svolgere in parallelo.</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frazione seriale, 1 - p, non si riduce per quanti processori si aggiungano</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 p = 0,9 lo speed-up non può mai superare 10, nemmeno con un milione di processori</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Prima di comprare processori, misurate p</a:t>
            </a:r>
            <a:endParaRPr lang="en-US" sz="2400" dirty="0"/>
          </a:p>
        </p:txBody>
      </p:sp>
      <p:sp>
        <p:nvSpPr>
          <p:cNvPr id="12"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3"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5"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dividere il lavoro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condivisa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Più core di un nodo vedono la stessa memoria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thread che leggono e scrivono le stesse variabili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Facile cominciare: OpenMP aggiunge una riga sopra un ciclo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pericolo: due thread che scrivono la stessa variabile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distribuita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Ogni nodo ha la propria memoria; nulla è condiviso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processi che si scambiano messaggi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Message Passing Interface, è lo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Scala fino a un milione di core, e lo paga il programmatore</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limite è l'energia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macchina exascale assorbe circa venti megawatt: il consumo di una piccola città</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L'elettricità della sua vita utile costa quanto la macchina</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Quindi la cifra che conta sono le operazioni per watt, e ha una classifica sua: la Green500</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guidano GPU e altri acceleratori: l'hardware specializzato fa di più con ogni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la stessa ragione nel vostro kit c'è un piccolo core RISC-V: milliwatt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per 10^18 operazioni al secondo: circa 50 miliardi di operazioni per joule</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spendere i transistor</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Pochi core grandi: decine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Ciascuno fuori ordine, con predittori e grandi cache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compito il prima possibile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salti e dati irregolari</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Migliaia di core piccoli e semplici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Tutti eseguono lo stesso codice su dati diversi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milione di compiti al secondo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array regolari: pixel, matrici, griglie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chip che diventa il circuito che descrivete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Dentro: un mare di piccoli blocchi programmabili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tabelle di look-up, ciascuna capace di essere qualunque funzione di pochi ingressi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 uno accanto a ogni tabella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fili e interruttori che possono collegare ogni blocco a ogni altro</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file di configurazione, il bitstream, imposta ogni tabella e ogni interruttore</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Caricate un altro bitstream e lo stesso chip è un altro circuito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vendita dal 1985; oggi da pochi euro fino alle schede per i data center</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scheda di sviluppo FPGA: il chip grande è l'FPGA</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modi di calcolare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FPGA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ASIC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Che cos'è</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pochi core complessi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migliaia di core semplici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che si configura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fatto per un solo compito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Si programma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qualunque linguaggio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CUDA, OpenCL, SYCL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Verilog, VHDL, HLS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lo stesso, poi una fabbrica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Forte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tutto, con moderazione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regolari in massa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flussi, bassa latenza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una cosa, alla perfezione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Lavoro per joule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più 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Fatica d'uso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media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molto 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Per cambiare idea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programma è parallelo all'80%. Qual è il massimo speed-up che un numero qualunque di processori può dare?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elimina la ridenominazione dei registri?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salti</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bisogno di uno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false dipendenze tra usi dello stesso nome di registro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cache miss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Con registri vettoriali a 256 bit, quanti giri servono al ciclo vettoriale per i 960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tabella di look-up a due ingressi memorizza, per gli ingressi 00, 01, 10, 11, i bit 0, 1, 1, 1. Quale porta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Un'equazione, tre fattori: ogni macchina veloce ne attacca uno, oppure moltiplica i processori</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core superscalari fuori ordine rispettano il contratto dell'insieme di istruzioni ed eseguono molte istruzioni insieme</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Vettori, GPU e cluster sfruttano i dati che si possono elaborare in modo indipendente; la legge di Amdahl dice fin dove si arriva</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FPGA trasformano una descrizione in un circuito: la logica di questo corso, su grande scala</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capitoli 4 e 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top500.org; la specifica vettoriale di RISC-V su riscv.org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dc:title>
  <dc:subject>Lezione 24</dc:subject>
  <dc:creator>Raffaele Montella</dc:creator>
  <cp:lastModifiedBy>Raffaele Montella</cp:lastModifiedBy>
  <cp:revision>1</cp:revision>
  <dcterms:created xsi:type="dcterms:W3CDTF">2026-10-17T07:16:50Z</dcterms:created>
  <dcterms:modified xsi:type="dcterms:W3CDTF">2026-10-17T07:16:50Z</dcterms:modified>
</cp:coreProperties>
</file>