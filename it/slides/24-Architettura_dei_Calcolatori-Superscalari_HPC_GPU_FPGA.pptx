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pertura" id="{9ae977d3-23a8-6aaa-31f0-08c2f98dfe8d}">
          <p14:sldIdLst>
            <p14:sldId id="256"/>
            <p14:sldId id="257"/>
          </p14:sldIdLst>
        </p14:section>
        <p14:section name="Riscaldamento sulla macchina" id="{25b4a12a-d93e-b997-9689-b2b291c17a8d}">
          <p14:sldIdLst>
            <p14:sldId id="258"/>
            <p14:sldId id="259"/>
          </p14:sldIdLst>
        </p14:section>
        <p14:section name="Processori superscalari" id="{a44df114-a474-2d76-07c5-864a8829bc09}">
          <p14:sldIdLst>
            <p14:sldId id="260"/>
            <p14:sldId id="261"/>
            <p14:sldId id="262"/>
            <p14:sldId id="263"/>
          </p14:sldIdLst>
        </p14:section>
        <p14:section name="Calcolo ad alte prestazioni" id="{19f11a4d-9ca9-2709-f690-b8273f896ed0}">
          <p14:sldIdLst>
            <p14:sldId id="264"/>
            <p14:sldId id="265"/>
            <p14:sldId id="266"/>
            <p14:sldId id="267"/>
          </p14:sldIdLst>
        </p14:section>
        <p14:section name="Acceleratori GPU" id="{b9cd64ab-c5a8-8b18-30ba-d136b59637c6}">
          <p14:sldIdLst>
            <p14:sldId id="268"/>
          </p14:sldIdLst>
        </p14:section>
        <p14:section name="Acceleratori FPGA" id="{d3909730-f667-e549-e585-12db0f1edc14}">
          <p14:sldIdLst>
            <p14:sldId id="269"/>
            <p14:sldId id="270"/>
            <p14:sldId id="271"/>
          </p14:sldIdLst>
        </p14:section>
        <p14:section name="Ritorno alla macchina" id="{699f8ca7-29a4-01ab-d2c5-b18a6b2231e8}">
          <p14:sldIdLst>
            <p14:sldId id="272"/>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L'ultima lezione guarda oltre il kit. Tutto ciò che avete imparato lo avete imparato su un piccolo processore che esegue un'istruzione alla volta. Le macchine che prevedono il tempo o addestrano una rete neurale eseguono lo stesso tipo di istruzioni, in numero enorme e tutte insieme. La lezione prende un piccolo ciclo di Verm1 e lo segue su quattro tipi di macchina. La domanda di Cray su buoi e polli tornerà: non ha una risposta unica. Questa lezione è uno sguardo in avanti, e non fa parte della prova intercorso.
Per il docente: Lezione conclusiva e di prospettiva, nuova nel 2026/27: non ha una presentazione italiana di origine. Parte da un ciclo di Verm1 e lo segue su quattro tipi di macchina. Prepara la visita ai sistemi di supercalcolo del Dipartimento. Non fa parte della prova intercorso. I listati vettoriali RISC-V sono provati su QEMU (tools/tests/vector_qemu.S); i frammenti CUDA e Verilog sono forme standard da manuale, non compilate per queste slide. Le cifre sui supercalcolatori sono arrotondate e risalgono alle liste TOP500 dal 2022 al 2025: controllate la lista corrente prima della lezione.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Cinque obiettivi. Scrivere l'equazione delle prestazioni e dire quale dei suoi fattori attacca ciascuna tecnica. Spiegare come un processore superscalare fuori ordine esegue più istruzioni per ciclo. Leggere un ciclo scritto con l'estensione vettoriale di RISC-V. Descrivere un supercalcolatore, calcolare uno speed-up con la legge di Amdahl e dire perché il limite è l'energia. E dire in che cosa sono forti una GPU e una FPGA, e quanto costa ciascuna al programmatore.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tempo impiegato da un programma è il prodotto di tre numeri: le istruzioni eseguite, i cicli di clock che ciascuna richiede in media, e la durata di un ciclo. Ogni fattore si può attaccare. Meno istruzioni: algoritmi migliori, istruzioni più ricche, vettori. Meno cicli per istruzione: pipeline ed esecuzione superscalare. Un ciclo più corto: transistor più veloci. E quando un processore non basta, più processori. Tenete d'occhio questa equazione: ogni macchina della lezione ne è una risposta diversa.
Per il docente: L'equazione delle prestazioni di Patterson e Hennessy. Per il ciclo della slide precedente sul kit: 3 840 istruzioni, circa 1 ciclo ciascuna, 6,25 nanosecondi per ciclo.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Perché non alzare semplicemente la frequenza di clock? Per trent'anni ogni generazione di transistor è stata più piccola e più veloce senza essere più calda per unità di area. Intorno al 2005 questo è finito: oggi un clock più veloce significa più calore di quanto un chip possa smaltire. Le frequenze sono rimaste a pochi gigahertz, e i transistor in più sono stati spesi diversamente: processori più larghi, più core, unità vettoriali, acceleratori. Oggi le prestazioni vengono dal parallelismo, dal fare molte cose insieme.
Per il docente: La legge di Moore (più transistor) è proseguita; la scalatura di Dennard (densità di potenza costante) è finita. I 160 MHz del kit sono lenti per scelta: costano milliwatt.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Quattro tipi di processore, in ordine di ambizione. Il processore multiciclo termina un'istruzione prima di cominciare la successiva. Quello con pipeline ha più istruzioni in volo, ciascuna in uno stadio diverso, e ne termina al massimo una per ciclo: è il vostro kit. Il superscalare in ordine ha due o più pipeline affiancate. Il superscalare fuori ordine avvia ogni istruzione appena i suoi operandi sono pronti, e arriva a quattro, sei, otto istruzioni per ciclo: è nel vostro portatile e nel vostro telefono.
Per il docente: La Lezione 19 ha introdotto la pipeline e nominato i processori superscalari in una riga: questa sezione apre quella riga. La larghezza è il numero di istruzioni che il processore può avviare in un ciclo.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L'esecuzione fuori ordine, in quattro tappe. Le istruzioni vengono prelevate e decodificate in ordine, più d'una per ciclo, in una finestra di decine o centinaia. A ogni risultato viene dato un registro fisico nuovo: la ridenominazione. Ogni istruzione viene eseguita appena esistono i suoi operandi, dovunque si trovi nel programma. Infine i risultati vengono confermati nell'ordine del programma, così che, visto da fuori, nessuno ha mai sorpassato. Il modello che avete imparato, un'istruzione dopo l'altra, è conservato esattamente: cambiano solo i tempi.
Per il docente: L'algoritmo è quello di Tomasulo, progettato nel 1967 per l'unità in virgola mobile dell'IBM System/360 Model 91; il reorder buffer che fa il commit in ordine è arrivato negli anni Ottanta. Il modello del programmatore, quello che avete imparato, è conservato esattamente: è il contratto dell'insieme di istruzioni.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processore largo incontra un salto ogni poche istruzioni e non può aspettare di conoscerne l'esito. Quindi predice: indovina la direzione dalla storia di quel salto e prosegue lungo l'ipotesi. Se l'ipotesi era giusta, non si perde nulla; se era sbagliata, il lavoro speculativo viene buttato via. Il ciclo del riscaldamento salta all'indietro 959 volte e prosegue una volta: un predittore lo impara subito. I predittori moderni hanno ragione ben più di nove volte su dieci.
Per il docente: L'esecuzione speculativa ha un lato oscuro: nel 2018 gli attacchi Spectre e Meltdown hanno mostrato che il lavoro buttato via può lasciare comunque nella cache tracce che rivelano segreti. I trucchi per le prestazioni sono anche questioni di sicurezza.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distinzione che organizza l'intero corso. L'architettura è il contratto: le istruzioni, i registri, che cosa fa ogni istruzione. La microarchitettura è un modo di rispettare il contratto: stadi, larghezza, predittori, cache. La add che avete scritto per un microcontrollore è la stessa add di un core da server. Verm1 girerebbe senza modifiche su qualunque core della slide precedente. Per questo un insieme di istruzioni, una volta imparato, è una conoscenza che dura.
Per il docente: La distinzione che organizza l'intero corso: le Lezioni dalla 02 alla 22 hanno insegnato l'architettura; il kit è una piccola microarchitettura.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supercalcolatore non è un unico processore enorme: sono migliaia di calcolatori normali, i nodi, che lavorano allo stesso problema. Ogni nodo ha uno o due processori con decine di core, spesso più GPU, e molta memoria. Una rete molto veloce unisce i nodi, e un file system parallelo li serve tutti. La velocità si misura in operazioni in virgola mobile al secondo su un problema standard, e la lista TOP500 classifica le macchine più veloci dal 1993. La foto è un piccolo cluster con la stessa struttura.
Per il docente: Il benchmark è HPL, High-Performance Linpack. La foto è il cluster didattico mostrato nella Lezione 03: la stessa struttura, in piccolo.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legge di Amdahl dice quanto può dare il parallelismo. Se una frazione p del lavoro si può svolgere in parallelo e il resto no, con n processori lo speed-up è 1 diviso la parte seriale più la parte parallela divisa per n. La parte seriale non si riduce per quanti processori si aggiungano. Con p uguale a 0,9 lo speed-up non può mai superare 10. La lezione pratica: prima di comprare processori, misurate p.
Per il docente: Gene Amdahl, 1967. La stessa legge vale per ogni miglioramento che si applica solo a una parte del lavoro: una GPU più veloce non aiuta la parte che gira sulla CPU.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Due modi di dividere il lavoro. Con la memoria condivisa, più core dello stesso nodo vedono la stessa memoria, e il programma gira come thread che leggono e scrivono le stesse variabili; è facile cominciare, e il pericolo sono due thread che scrivono la stessa variabile. Con la memoria distribuita ogni nodo ha la propria memoria, e il programma gira come processi che si scambiano messaggi, con lo standard MPI; scala fino a un milione di core, a spese del programmatore. Le applicazioni reali usano entrambi.
Per il docente: Le applicazioni reali usano entrambi: MPI tra i nodi, thread e GPU dentro ogni nodo. I modelli meteorologici e marini del Dipartimento funzionano così.</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limite è l'energia. Una macchina exascale assorbe circa venti megawatt, il consumo di una piccola città, e l'elettricità della sua vita utile costa quanto la macchina. Quindi la cifra che conta sono le operazioni per watt, che hanno una classifica propria, la Green500. La guida l'hardware specializzato, perché fa di più con ogni joule. La stessa ragione, all'altro estremo della scala, mette un piccolo core RISC-V nel vostro kit.
Per il docente: Frontier ha raggiunto il suo exaflop a circa 21 megawatt. L'efficienza energetica è il filo che lega un microcontrollore a un supercalcolatore.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Due modi di spendere gli stessi transistor. Una CPU ha pochi core grandi, ciascuno fuori ordine, con predittori e grandi cache: è costruita per finire un compito il prima possibile, ed è a suo agio con salti e dati irregolari. Una GPU ha migliaia di core piccoli e semplici che eseguono lo stesso codice su dati diversi: è costruita per finire moltissimi compiti al secondo, ed è a suo agio con array regolari. Buoi e polli: la risposta dipende dal campo.
Per il docente: La Lezione 20 ha raccontato la storia dalla scheda video al GPGPU. I buoi e i polli di Cray: la risposta dipende dal campo. La GPU non è più veloce in nessuna singola cosa; fa più cose insieme.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FPGA, field-programmable gate array, è un chip che diventa il circuito che descrivete. Dentro c'è un mare di piccoli blocchi: tabelle di look-up, ciascuna capace di essere qualunque funzione di pochi ingressi; un flip-flop accanto a ogni tabella; e fili con interruttori che possono collegare ogni blocco a ogni altro. Un file di configurazione, il bitstream, imposta ogni tabella e ogni interruttore. Caricate un altro bitstream e lo stesso chip è un circuito diverso. Non esegue un programma: è un circuito.
Per il docente: Lo Xilinx XC2064, 1985. Una FPGA non esegue un programma: diventa un circuito. Nulla viene prelevato o decodificato; tutte le porte lavorano nello stesso momento.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tabella di look-up è una tabella di verità tenuta in memoria. Gli ingressi a e b sono l'indirizzo; i bit memorizzati sono le uscite. Leggete le tre colonne di destra: con i bit 0, 0, 0, 1 la tabella è una AND; con 0, 1, 1, 0 una XOR; con 1, 1, 0, 0 è NOT a. Cambiare i bit memorizzati cambia la porta. È la ROM che realizza qualunque funzione, dalla Lezione 11, in miniatura.
Per il docente: La Lezione 08 ha detto che una tabella di verità definisce una funzione; la Lezione 11 che una ROM indirizzata dagli ingressi realizza qualunque funzione. Una LUT è quella ROM, con quattro-sei ingressi, da sedici a sessantaquattro bit. Il flip-flop accanto è quello della Lezione 13. Una FPGA è questo corso, ripetuto centomila volte su un chip.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Quattro modi di calcolare, a confronto. Leggete la tabella per righe. Una CPU sono pochi core complessi, programmati in qualunque linguaggio, bravi in tutto con moderazione. Una GPU sono migliaia di core semplici per dati regolari in massa. Una FPGA è un circuito che si configura, per flussi e bassa latenza. Un ASIC è un circuito fatto per un solo compito. Da sinistra a destra cresce il lavoro svolto per joule, e cresce la fatica richiesta. La generalità si paga in energia, l'efficienza in fatica.
Per il docente: La generalità si paga in energia; l'efficienza si paga in fatica. Un moderno system on a chip li ha tutti e quattro: il vostro telefono contiene core CPU, una GPU, e circuiti fissi per video e radio.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Usate l'ultima colonna della tabella della legge di Amdahl: con processori illimitati resta solo la parte seriale.
Pensate all'esempio con le due metà che usavano entrambe t0: che cosa impediva loro di correre insieme, e che cosa ha cambiato la ridenominazione?
Per il docente: 1. Risposta: B. Con n illimitato, S = 1 / (1 - p) = 1 / 0,2 = 5.
2. Risposta: C. Due valori indipendenti che condividono un nome ricevono registri fisici diversi e si possono calcolare nello stesso momento.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Quanti byte sono 256 bit? Dividete i 960 byte per quel numero.
Scrivete i quattro bit memorizzati come tabella di verità con ingressi a e b, e riconoscete la funzione.
Per il docente: 1. Risposta: B. 256 bit sono 32 byte per giro: 960 / 32 = 30. Il codice non cambia.
2. Risposta: B. L'uscita vale 1 ogni volta che almeno un ingresso vale 1: 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Quattordici termini di questa lezione. Out-of-order execution è l'esecuzione fuori ordine; register renaming è la ridenominazione dei registri; branch prediction è la predizione dei salti. Shared memory e message passing, memoria condivisa e scambio di messaggi, sono i due modelli della programmazione parallela. Alcune parole, kernel, bitstream, soft core, si usano in italiano così come sono.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Quattro conclusioni. Un'equazione con tre fattori: ogni macchina veloce ne attacca uno, oppure moltiplica i processori. I core superscalari fuori ordine rispettano il contratto dell'insieme di istruzioni ed eseguono molte istruzioni insieme. Vettori, GPU e cluster sfruttano i dati che si possono elaborare in modo indipendente, e la legge di Amdahl dice fin dove si arriva. Le FPGA trasformano una descrizione in un circuito. Il corso finisce qui: da un bit a un supercalcolatore, con un solo insieme di istruzioni.
Per il docente: Il corso finisce qui: da un bit a un supercalcolatore, con un solo insieme di istruzioni. Poi: la visita ai sistemi di calcolo del Dipartimento, e la presentazione dei giochi degli studenti.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Architettura dei Calcolatori  |  Lezione 24: Oltre un solo core  |  A.A.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ARCHITETTURA DEI CALCOLATORI  ·  LEZIONE 24</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Oltre un solo core: RISC-V superscalare, HPC, GPU e FPGA</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2200" dirty="0">
                <a:solidFill>
                  <a:srgbClr val="CFE3EA"/>
                </a:solidFill>
                <a:latin typeface="Calibri" pitchFamily="34" charset="0"/>
                <a:ea typeface="Calibri" pitchFamily="34" charset="-122"/>
                <a:cs typeface="Calibri" pitchFamily="34" charset="-120"/>
              </a:rPr>
              <a:t>Le stesse istruzioni, su macchine che ne eseguono molte insieme</a:t>
            </a:r>
            <a:endParaRPr lang="en-US" sz="22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alibri" pitchFamily="34" charset="0"/>
                <a:ea typeface="Calibri" pitchFamily="34" charset="-122"/>
                <a:cs typeface="Calibri" pitchFamily="34" charset="-120"/>
              </a:rPr>
              <a:t>“Se doveste arare un campo, che cosa usereste: due buoi robusti o 1024 polli?”</a:t>
            </a:r>
            <a:endParaRPr lang="en-US" sz="1900" dirty="0"/>
          </a:p>
          <a:p>
            <a:pPr indent="0" marL="0">
              <a:buNone/>
            </a:pPr>
            <a:r>
              <a:rPr lang="en-US" sz="1200" dirty="0">
                <a:solidFill>
                  <a:srgbClr val="CFE3EA"/>
                </a:solidFill>
                <a:latin typeface="Calibri" pitchFamily="34" charset="0"/>
                <a:ea typeface="Calibri" pitchFamily="34" charset="-122"/>
                <a:cs typeface="Calibri" pitchFamily="34" charset="-120"/>
              </a:rPr>
              <a:t>attribuita a Seymour Cray</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Università degli Studi di Napoli “Parthenope”  ·  A.A.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Shape 10"/>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3" name="Image 0" descr="/Users/raffaelemontella/devel/riscv-prg32/computer-architecture-with-prg32/tools/assets/cluster_1.jpg">    </p:cNvPr>
          <p:cNvPicPr>
            <a:picLocks noChangeAspect="1"/>
          </p:cNvPicPr>
          <p:nvPr/>
        </p:nvPicPr>
        <p:blipFill>
          <a:blip r:embed="rId1"/>
          <a:stretch>
            <a:fillRect/>
          </a:stretch>
        </p:blipFill>
        <p:spPr>
          <a:xfrm>
            <a:off x="8915095" y="4251960"/>
            <a:ext cx="2438400" cy="1828800"/>
          </a:xfrm>
          <a:prstGeom prst="rect">
            <a:avLst/>
          </a:prstGeom>
        </p:spPr>
      </p:pic>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 cosa saprete fare alla fine</a:t>
            </a:r>
            <a:endParaRPr lang="en-US" sz="3200" dirty="0"/>
          </a:p>
        </p:txBody>
      </p:sp>
      <p:sp>
        <p:nvSpPr>
          <p:cNvPr id="3" name="Text 1"/>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732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Scrivere l'equazione delle prestazioni e dire quale fattore attacca ciascuna tecnica</a:t>
            </a:r>
            <a:endParaRPr lang="en-US" sz="2200" dirty="0"/>
          </a:p>
        </p:txBody>
      </p:sp>
      <p:sp>
        <p:nvSpPr>
          <p:cNvPr id="5" name="Text 3"/>
          <p:cNvSpPr txBox="1"/>
          <p:nvPr/>
        </p:nvSpPr>
        <p:spPr>
          <a:xfrm>
            <a:off x="548640" y="251460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496312"/>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Spiegare come un processore superscalare fuori ordine esegue più istruzioni per ciclo, e nominare core RISC-V che lo fanno</a:t>
            </a:r>
            <a:endParaRPr lang="en-US" sz="2200" dirty="0"/>
          </a:p>
        </p:txBody>
      </p:sp>
      <p:sp>
        <p:nvSpPr>
          <p:cNvPr id="7" name="Text 5"/>
          <p:cNvSpPr txBox="1"/>
          <p:nvPr/>
        </p:nvSpPr>
        <p:spPr>
          <a:xfrm>
            <a:off x="548640" y="359359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575304"/>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Leggere un ciclo scritto con l'estensione vettoriale di RISC-V</a:t>
            </a:r>
            <a:endParaRPr lang="en-US" sz="2200" dirty="0"/>
          </a:p>
        </p:txBody>
      </p:sp>
      <p:sp>
        <p:nvSpPr>
          <p:cNvPr id="9" name="Text 7"/>
          <p:cNvSpPr txBox="1"/>
          <p:nvPr/>
        </p:nvSpPr>
        <p:spPr>
          <a:xfrm>
            <a:off x="548640" y="442976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411472"/>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Descrivere un supercalcolatore, calcolare uno speed-up con la legge di Amdahl, e dire perché il limite è l'energia</a:t>
            </a:r>
            <a:endParaRPr lang="en-US" sz="2200" dirty="0"/>
          </a:p>
        </p:txBody>
      </p:sp>
      <p:sp>
        <p:nvSpPr>
          <p:cNvPr id="11" name="Text 9"/>
          <p:cNvSpPr txBox="1"/>
          <p:nvPr/>
        </p:nvSpPr>
        <p:spPr>
          <a:xfrm>
            <a:off x="548640" y="550875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49046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Dire in che cosa sono forti una GPU e una FPGA, e quanto costa ciascuna al programmatore</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Tempo = istruzioni x cicli per istruzione x periodo di clock</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Il tempo impiegato da un programma è il prodotto di tre numeri</a:t>
            </a:r>
            <a:endParaRPr lang="en-US" sz="2200" dirty="0"/>
          </a:p>
        </p:txBody>
      </p:sp>
      <p:sp>
        <p:nvSpPr>
          <p:cNvPr id="5" name="Shape 3"/>
          <p:cNvSpPr/>
          <p:nvPr/>
        </p:nvSpPr>
        <p:spPr>
          <a:xfrm>
            <a:off x="548640" y="236973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63309"/>
            <a:ext cx="6565392" cy="2216912"/>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Ciascuno si può attaccare</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meno istruzioni: algoritmi migliori, istruzioni più ricche, vettori</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meno cicli per istruzione: pipeline, esecuzione superscalare</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un ciclo più corto: transistor più veloci, pipeline più profonde</a:t>
            </a:r>
            <a:endParaRPr lang="en-US" sz="2200" dirty="0"/>
          </a:p>
        </p:txBody>
      </p:sp>
      <p:sp>
        <p:nvSpPr>
          <p:cNvPr id="7" name="Shape 5"/>
          <p:cNvSpPr/>
          <p:nvPr/>
        </p:nvSpPr>
        <p:spPr>
          <a:xfrm>
            <a:off x="548640" y="4750901"/>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4644475"/>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 quando un processore non basta: più processori che lavorano insieme</a:t>
            </a:r>
            <a:endParaRPr lang="en-US" sz="2200" dirty="0"/>
          </a:p>
        </p:txBody>
      </p:sp>
      <p:sp>
        <p:nvSpPr>
          <p:cNvPr id="9" name="Shape 7"/>
          <p:cNvSpPr/>
          <p:nvPr/>
        </p:nvSpPr>
        <p:spPr>
          <a:xfrm>
            <a:off x="548640" y="5596890"/>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490464"/>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Ogni macchina di questa lezione è una risposta diversa alla stessa equazione</a:t>
            </a:r>
            <a:endParaRPr lang="en-US" sz="2200" dirty="0"/>
          </a:p>
        </p:txBody>
      </p:sp>
      <p:sp>
        <p:nvSpPr>
          <p:cNvPr id="11" name="Shape 9"/>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2" name="Text 10"/>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5900" b="1" dirty="0">
                <a:solidFill>
                  <a:srgbClr val="FFFFFF"/>
                </a:solidFill>
                <a:latin typeface="Cambria" pitchFamily="34" charset="0"/>
                <a:ea typeface="Cambria" pitchFamily="34" charset="-122"/>
                <a:cs typeface="Cambria" pitchFamily="34" charset="-120"/>
              </a:rPr>
              <a:t>T = N x CPI x t</a:t>
            </a:r>
            <a:endParaRPr lang="en-US" sz="5900" dirty="0"/>
          </a:p>
        </p:txBody>
      </p:sp>
      <p:sp>
        <p:nvSpPr>
          <p:cNvPr id="13" name="Text 11"/>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N istruzioni, CPI cicli per istruzione, t secondi per ciclo</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Perché non semplicemente un clock più veloce?</a:t>
            </a:r>
            <a:endParaRPr lang="en-US" sz="3200" dirty="0"/>
          </a:p>
        </p:txBody>
      </p:sp>
      <p:sp>
        <p:nvSpPr>
          <p:cNvPr id="3" name="Shape 1"/>
          <p:cNvSpPr/>
          <p:nvPr/>
        </p:nvSpPr>
        <p:spPr>
          <a:xfrm>
            <a:off x="548640" y="1500505"/>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883158"/>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Per trent'anni ogni nuova generazione di transistor è stata più piccola, più veloce e non più calda per millimetro quadrato</a:t>
            </a:r>
            <a:endParaRPr lang="en-US" sz="1900" dirty="0"/>
          </a:p>
        </p:txBody>
      </p:sp>
      <p:sp>
        <p:nvSpPr>
          <p:cNvPr id="5" name="Shape 3"/>
          <p:cNvSpPr/>
          <p:nvPr/>
        </p:nvSpPr>
        <p:spPr>
          <a:xfrm>
            <a:off x="548640" y="268922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606040"/>
            <a:ext cx="6565392" cy="883158"/>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Intorno al 2005 questo è finito: i transistor più piccoli arrivano ancora, ma un clock più veloce significa più calore di quanto un chip possa smaltire</a:t>
            </a:r>
            <a:endParaRPr lang="en-US" sz="1900" dirty="0"/>
          </a:p>
        </p:txBody>
      </p:sp>
      <p:sp>
        <p:nvSpPr>
          <p:cNvPr id="7" name="Shape 5"/>
          <p:cNvSpPr/>
          <p:nvPr/>
        </p:nvSpPr>
        <p:spPr>
          <a:xfrm>
            <a:off x="548640" y="3877945"/>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794760"/>
            <a:ext cx="656539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Da allora le frequenze di clock sono rimaste a pochi gigahertz</a:t>
            </a:r>
            <a:endParaRPr lang="en-US" sz="1900" dirty="0"/>
          </a:p>
        </p:txBody>
      </p:sp>
      <p:sp>
        <p:nvSpPr>
          <p:cNvPr id="9" name="Shape 7"/>
          <p:cNvSpPr/>
          <p:nvPr/>
        </p:nvSpPr>
        <p:spPr>
          <a:xfrm>
            <a:off x="548640" y="4772279"/>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689094"/>
            <a:ext cx="656539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I transistor in più sono andati altrove: processori più larghi, più core, unità vettoriali, acceleratori</a:t>
            </a:r>
            <a:endParaRPr lang="en-US" sz="1900" dirty="0"/>
          </a:p>
        </p:txBody>
      </p:sp>
      <p:sp>
        <p:nvSpPr>
          <p:cNvPr id="11" name="Shape 9"/>
          <p:cNvSpPr/>
          <p:nvPr/>
        </p:nvSpPr>
        <p:spPr>
          <a:xfrm>
            <a:off x="548640" y="5666613"/>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83428"/>
            <a:ext cx="656539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Oggi le prestazioni vengono dal fare molte cose insieme: dal parallelismo</a:t>
            </a:r>
            <a:endParaRPr lang="en-US" sz="19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~2005</a:t>
            </a:r>
            <a:endParaRPr lang="en-US" sz="60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la fine del pasto gratis: i clock si fermano a pochi gigahertz, i core si moltiplicano</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Da una alla volta a molte insieme</a:t>
            </a:r>
            <a:endParaRPr lang="en-US" sz="32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281830"/>
                <a:gridCol w="4170241"/>
                <a:gridCol w="1967095"/>
                <a:gridCol w="2675249"/>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Processore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Come funziona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Istruzioni per ciclo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Esempio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Multiciclo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un'istruzione termina prima che cominci la successiva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meno di 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la macchina della Lezione 18</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Con pipeline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più istruzioni in volo, ciascuna in uno stadio diverso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al massimo 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l'ESP32-C6 del kit: quattro stadi</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Superscalare, in ordine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due o più pipeline affiancate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fino a 2 o più</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piccoli core applicativi</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Superscalare, fuori ordine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le istruzioni partono appena i loro operandi sono pronti</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fino a 4, 6, 8 ...</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portatili, telefoni, server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Esecuzione fuori ordine</a:t>
            </a:r>
            <a:endParaRPr lang="en-US" sz="3200" dirty="0"/>
          </a:p>
        </p:txBody>
      </p:sp>
      <p:sp>
        <p:nvSpPr>
          <p:cNvPr id="3" name="Shape 1"/>
          <p:cNvSpPr/>
          <p:nvPr/>
        </p:nvSpPr>
        <p:spPr>
          <a:xfrm>
            <a:off x="548640" y="1828800"/>
            <a:ext cx="2464994" cy="4251960"/>
          </a:xfrm>
          <a:prstGeom prst="roundRect">
            <a:avLst>
              <a:gd name="adj" fmla="val 2968"/>
            </a:avLst>
          </a:prstGeom>
          <a:solidFill>
            <a:srgbClr val="EEF2F4"/>
          </a:solidFill>
          <a:ln w="12700">
            <a:solidFill>
              <a:srgbClr val="EEF2F4"/>
            </a:solidFill>
            <a:prstDash val="solid"/>
          </a:ln>
        </p:spPr>
      </p:sp>
      <p:sp>
        <p:nvSpPr>
          <p:cNvPr id="4" name="Text 2"/>
          <p:cNvSpPr txBox="1"/>
          <p:nvPr/>
        </p:nvSpPr>
        <p:spPr>
          <a:xfrm>
            <a:off x="1506817" y="1554480"/>
            <a:ext cx="548640"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5" name="Text 3"/>
          <p:cNvSpPr txBox="1"/>
          <p:nvPr/>
        </p:nvSpPr>
        <p:spPr>
          <a:xfrm>
            <a:off x="731520" y="2240280"/>
            <a:ext cx="2099234" cy="822960"/>
          </a:xfrm>
          <a:prstGeom prst="rect">
            <a:avLst/>
          </a:prstGeom>
          <a:noFill/>
          <a:ln/>
        </p:spPr>
        <p:txBody>
          <a:bodyPr wrap="square" lIns="0" tIns="0" rIns="0" bIns="0" rtlCol="0" anchor="ctr"/>
          <a:lstStyle/>
          <a:p>
            <a:pPr algn="ctr" indent="0" marL="0">
              <a:buNone/>
            </a:pPr>
            <a:r>
              <a:rPr lang="en-US" sz="1700" b="1" dirty="0">
                <a:solidFill>
                  <a:srgbClr val="2E4A62"/>
                </a:solidFill>
                <a:latin typeface="Calibri" pitchFamily="34" charset="0"/>
                <a:ea typeface="Calibri" pitchFamily="34" charset="-122"/>
                <a:cs typeface="Calibri" pitchFamily="34" charset="-120"/>
              </a:rPr>
              <a:t>Prelievo e decodifica, in ordine</a:t>
            </a:r>
            <a:endParaRPr lang="en-US" sz="1700" dirty="0"/>
          </a:p>
        </p:txBody>
      </p:sp>
      <p:sp>
        <p:nvSpPr>
          <p:cNvPr id="6" name="Text 4"/>
          <p:cNvSpPr txBox="1"/>
          <p:nvPr/>
        </p:nvSpPr>
        <p:spPr>
          <a:xfrm>
            <a:off x="731520" y="3200400"/>
            <a:ext cx="2099234" cy="269748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Più istruzioni per ciclo entrano in una finestra di decine o centinaia di istruzioni</a:t>
            </a:r>
            <a:endParaRPr lang="en-US" sz="1900" dirty="0"/>
          </a:p>
        </p:txBody>
      </p:sp>
      <p:sp>
        <p:nvSpPr>
          <p:cNvPr id="7" name="Shape 5"/>
          <p:cNvSpPr/>
          <p:nvPr/>
        </p:nvSpPr>
        <p:spPr>
          <a:xfrm>
            <a:off x="3077642" y="3808476"/>
            <a:ext cx="283464" cy="292608"/>
          </a:xfrm>
          <a:prstGeom prst="rightArrow">
            <a:avLst/>
          </a:prstGeom>
          <a:solidFill>
            <a:srgbClr val="C9D2D8"/>
          </a:solidFill>
          <a:ln w="12700">
            <a:solidFill>
              <a:srgbClr val="C9D2D8"/>
            </a:solidFill>
            <a:prstDash val="solid"/>
          </a:ln>
        </p:spPr>
      </p:sp>
      <p:sp>
        <p:nvSpPr>
          <p:cNvPr id="8" name="Shape 6"/>
          <p:cNvSpPr/>
          <p:nvPr/>
        </p:nvSpPr>
        <p:spPr>
          <a:xfrm>
            <a:off x="3425114" y="1828800"/>
            <a:ext cx="2464994" cy="4251960"/>
          </a:xfrm>
          <a:prstGeom prst="roundRect">
            <a:avLst>
              <a:gd name="adj" fmla="val 2968"/>
            </a:avLst>
          </a:prstGeom>
          <a:solidFill>
            <a:srgbClr val="EEF2F4"/>
          </a:solidFill>
          <a:ln w="12700">
            <a:solidFill>
              <a:srgbClr val="EEF2F4"/>
            </a:solidFill>
            <a:prstDash val="solid"/>
          </a:ln>
        </p:spPr>
      </p:sp>
      <p:sp>
        <p:nvSpPr>
          <p:cNvPr id="9" name="Text 7"/>
          <p:cNvSpPr txBox="1"/>
          <p:nvPr/>
        </p:nvSpPr>
        <p:spPr>
          <a:xfrm>
            <a:off x="4383291" y="1554480"/>
            <a:ext cx="548640"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0" name="Text 8"/>
          <p:cNvSpPr txBox="1"/>
          <p:nvPr/>
        </p:nvSpPr>
        <p:spPr>
          <a:xfrm>
            <a:off x="3607994" y="2240280"/>
            <a:ext cx="2099234" cy="822960"/>
          </a:xfrm>
          <a:prstGeom prst="rect">
            <a:avLst/>
          </a:prstGeom>
          <a:noFill/>
          <a:ln/>
        </p:spPr>
        <p:txBody>
          <a:bodyPr wrap="square" lIns="0" tIns="0" rIns="0" bIns="0" rtlCol="0" anchor="ctr"/>
          <a:lstStyle/>
          <a:p>
            <a:pPr algn="ctr" indent="0" marL="0">
              <a:buNone/>
            </a:pPr>
            <a:r>
              <a:rPr lang="en-US" sz="1900" b="1" dirty="0">
                <a:solidFill>
                  <a:srgbClr val="2E4A62"/>
                </a:solidFill>
                <a:latin typeface="Calibri" pitchFamily="34" charset="0"/>
                <a:ea typeface="Calibri" pitchFamily="34" charset="-122"/>
                <a:cs typeface="Calibri" pitchFamily="34" charset="-120"/>
              </a:rPr>
              <a:t>Ridenominazione</a:t>
            </a:r>
            <a:endParaRPr lang="en-US" sz="1900" dirty="0"/>
          </a:p>
        </p:txBody>
      </p:sp>
      <p:sp>
        <p:nvSpPr>
          <p:cNvPr id="11" name="Text 9"/>
          <p:cNvSpPr txBox="1"/>
          <p:nvPr/>
        </p:nvSpPr>
        <p:spPr>
          <a:xfrm>
            <a:off x="3607994" y="3200400"/>
            <a:ext cx="2099234" cy="269748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Ogni risultato riceve un registro fisico nuovo, così due usi del nome t0 non si scontrano più</a:t>
            </a:r>
            <a:endParaRPr lang="en-US" sz="1900" dirty="0"/>
          </a:p>
        </p:txBody>
      </p:sp>
      <p:sp>
        <p:nvSpPr>
          <p:cNvPr id="12" name="Shape 10"/>
          <p:cNvSpPr/>
          <p:nvPr/>
        </p:nvSpPr>
        <p:spPr>
          <a:xfrm>
            <a:off x="5954116" y="3808476"/>
            <a:ext cx="283464" cy="292608"/>
          </a:xfrm>
          <a:prstGeom prst="rightArrow">
            <a:avLst/>
          </a:prstGeom>
          <a:solidFill>
            <a:srgbClr val="C9D2D8"/>
          </a:solidFill>
          <a:ln w="12700">
            <a:solidFill>
              <a:srgbClr val="C9D2D8"/>
            </a:solidFill>
            <a:prstDash val="solid"/>
          </a:ln>
        </p:spPr>
      </p:sp>
      <p:sp>
        <p:nvSpPr>
          <p:cNvPr id="13" name="Shape 11"/>
          <p:cNvSpPr/>
          <p:nvPr/>
        </p:nvSpPr>
        <p:spPr>
          <a:xfrm>
            <a:off x="6301588" y="1828800"/>
            <a:ext cx="2464994" cy="4251960"/>
          </a:xfrm>
          <a:prstGeom prst="roundRect">
            <a:avLst>
              <a:gd name="adj" fmla="val 2968"/>
            </a:avLst>
          </a:prstGeom>
          <a:solidFill>
            <a:srgbClr val="EEF2F4"/>
          </a:solidFill>
          <a:ln w="12700">
            <a:solidFill>
              <a:srgbClr val="EEF2F4"/>
            </a:solidFill>
            <a:prstDash val="solid"/>
          </a:ln>
        </p:spPr>
      </p:sp>
      <p:sp>
        <p:nvSpPr>
          <p:cNvPr id="14" name="Text 12"/>
          <p:cNvSpPr txBox="1"/>
          <p:nvPr/>
        </p:nvSpPr>
        <p:spPr>
          <a:xfrm>
            <a:off x="7259765" y="1554480"/>
            <a:ext cx="548640"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15" name="Text 13"/>
          <p:cNvSpPr txBox="1"/>
          <p:nvPr/>
        </p:nvSpPr>
        <p:spPr>
          <a:xfrm>
            <a:off x="6484468" y="2240280"/>
            <a:ext cx="2099234" cy="822960"/>
          </a:xfrm>
          <a:prstGeom prst="rect">
            <a:avLst/>
          </a:prstGeom>
          <a:noFill/>
          <a:ln/>
        </p:spPr>
        <p:txBody>
          <a:bodyPr wrap="square" lIns="0" tIns="0" rIns="0" bIns="0" rtlCol="0" anchor="ctr"/>
          <a:lstStyle/>
          <a:p>
            <a:pPr algn="ctr" indent="0" marL="0">
              <a:buNone/>
            </a:pPr>
            <a:r>
              <a:rPr lang="en-US" sz="1900" b="1" dirty="0">
                <a:solidFill>
                  <a:srgbClr val="2E4A62"/>
                </a:solidFill>
                <a:latin typeface="Calibri" pitchFamily="34" charset="0"/>
                <a:ea typeface="Calibri" pitchFamily="34" charset="-122"/>
                <a:cs typeface="Calibri" pitchFamily="34" charset="-120"/>
              </a:rPr>
              <a:t>Esecuzione appena pronta</a:t>
            </a:r>
            <a:endParaRPr lang="en-US" sz="1900" dirty="0"/>
          </a:p>
        </p:txBody>
      </p:sp>
      <p:sp>
        <p:nvSpPr>
          <p:cNvPr id="16" name="Text 14"/>
          <p:cNvSpPr txBox="1"/>
          <p:nvPr/>
        </p:nvSpPr>
        <p:spPr>
          <a:xfrm>
            <a:off x="6484468" y="3200400"/>
            <a:ext cx="2099234" cy="269748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Un'istruzione parte appena esistono i suoi operandi, qualunque sia la sua posizione nel programma</a:t>
            </a:r>
            <a:endParaRPr lang="en-US" sz="1900" dirty="0"/>
          </a:p>
        </p:txBody>
      </p:sp>
      <p:sp>
        <p:nvSpPr>
          <p:cNvPr id="17" name="Shape 15"/>
          <p:cNvSpPr/>
          <p:nvPr/>
        </p:nvSpPr>
        <p:spPr>
          <a:xfrm>
            <a:off x="8830589" y="3808476"/>
            <a:ext cx="283464" cy="292608"/>
          </a:xfrm>
          <a:prstGeom prst="rightArrow">
            <a:avLst/>
          </a:prstGeom>
          <a:solidFill>
            <a:srgbClr val="C9D2D8"/>
          </a:solidFill>
          <a:ln w="12700">
            <a:solidFill>
              <a:srgbClr val="C9D2D8"/>
            </a:solidFill>
            <a:prstDash val="solid"/>
          </a:ln>
        </p:spPr>
      </p:sp>
      <p:sp>
        <p:nvSpPr>
          <p:cNvPr id="18" name="Shape 16"/>
          <p:cNvSpPr/>
          <p:nvPr/>
        </p:nvSpPr>
        <p:spPr>
          <a:xfrm>
            <a:off x="9178061" y="1828800"/>
            <a:ext cx="2464994" cy="4251960"/>
          </a:xfrm>
          <a:prstGeom prst="roundRect">
            <a:avLst>
              <a:gd name="adj" fmla="val 2968"/>
            </a:avLst>
          </a:prstGeom>
          <a:solidFill>
            <a:srgbClr val="EEF2F4"/>
          </a:solidFill>
          <a:ln w="12700">
            <a:solidFill>
              <a:srgbClr val="EEF2F4"/>
            </a:solidFill>
            <a:prstDash val="solid"/>
          </a:ln>
        </p:spPr>
      </p:sp>
      <p:sp>
        <p:nvSpPr>
          <p:cNvPr id="19" name="Text 17"/>
          <p:cNvSpPr txBox="1"/>
          <p:nvPr/>
        </p:nvSpPr>
        <p:spPr>
          <a:xfrm>
            <a:off x="10136238" y="1554480"/>
            <a:ext cx="548640"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20" name="Text 18"/>
          <p:cNvSpPr txBox="1"/>
          <p:nvPr/>
        </p:nvSpPr>
        <p:spPr>
          <a:xfrm>
            <a:off x="9360941" y="2240280"/>
            <a:ext cx="2099234" cy="822960"/>
          </a:xfrm>
          <a:prstGeom prst="rect">
            <a:avLst/>
          </a:prstGeom>
          <a:noFill/>
          <a:ln/>
        </p:spPr>
        <p:txBody>
          <a:bodyPr wrap="square" lIns="0" tIns="0" rIns="0" bIns="0" rtlCol="0" anchor="ctr"/>
          <a:lstStyle/>
          <a:p>
            <a:pPr algn="ctr" indent="0" marL="0">
              <a:buNone/>
            </a:pPr>
            <a:r>
              <a:rPr lang="en-US" sz="1900" b="1" dirty="0">
                <a:solidFill>
                  <a:srgbClr val="2E4A62"/>
                </a:solidFill>
                <a:latin typeface="Calibri" pitchFamily="34" charset="0"/>
                <a:ea typeface="Calibri" pitchFamily="34" charset="-122"/>
                <a:cs typeface="Calibri" pitchFamily="34" charset="-120"/>
              </a:rPr>
              <a:t>Commit, in ordine</a:t>
            </a:r>
            <a:endParaRPr lang="en-US" sz="1900" dirty="0"/>
          </a:p>
        </p:txBody>
      </p:sp>
      <p:sp>
        <p:nvSpPr>
          <p:cNvPr id="21" name="Text 19"/>
          <p:cNvSpPr txBox="1"/>
          <p:nvPr/>
        </p:nvSpPr>
        <p:spPr>
          <a:xfrm>
            <a:off x="9360941" y="3200400"/>
            <a:ext cx="2099234" cy="269748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I risultati diventano ufficiali nell'ordine del programma: visto da fuori, nessuno ha mai sorpassato</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Indovinare il futuro: la predizione dei salti</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Un processore largo incontra un salto ogni poche istruzioni: non può aspettare di conoscerne l'esito</a:t>
            </a:r>
            <a:endParaRPr lang="en-US" sz="2100" dirty="0"/>
          </a:p>
        </p:txBody>
      </p:sp>
      <p:sp>
        <p:nvSpPr>
          <p:cNvPr id="5" name="Shape 3"/>
          <p:cNvSpPr/>
          <p:nvPr/>
        </p:nvSpPr>
        <p:spPr>
          <a:xfrm>
            <a:off x="548640" y="278606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687383"/>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Predice la direzione dalla storia di quel salto, e prosegue l'esecuzione lungo l'ipotesi</a:t>
            </a:r>
            <a:endParaRPr lang="en-US" sz="2100" dirty="0"/>
          </a:p>
        </p:txBody>
      </p:sp>
      <p:sp>
        <p:nvSpPr>
          <p:cNvPr id="7" name="Shape 5"/>
          <p:cNvSpPr/>
          <p:nvPr/>
        </p:nvSpPr>
        <p:spPr>
          <a:xfrm>
            <a:off x="548640" y="3730752"/>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632073"/>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Un'ipotesi giusta non costa nulla; una sbagliata butta via il lavoro speculativo e ricomincia</a:t>
            </a:r>
            <a:endParaRPr lang="en-US" sz="2100" dirty="0"/>
          </a:p>
        </p:txBody>
      </p:sp>
      <p:sp>
        <p:nvSpPr>
          <p:cNvPr id="9" name="Shape 7"/>
          <p:cNvSpPr/>
          <p:nvPr/>
        </p:nvSpPr>
        <p:spPr>
          <a:xfrm>
            <a:off x="548640" y="4675441"/>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576763"/>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Il ciclo del riscaldamento salta all'indietro 959 volte e prosegue una volta: facile da predire</a:t>
            </a:r>
            <a:endParaRPr lang="en-US" sz="2100" dirty="0"/>
          </a:p>
        </p:txBody>
      </p:sp>
      <p:sp>
        <p:nvSpPr>
          <p:cNvPr id="11" name="Shape 9"/>
          <p:cNvSpPr/>
          <p:nvPr/>
        </p:nvSpPr>
        <p:spPr>
          <a:xfrm>
            <a:off x="548640" y="562013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21452"/>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 predittori moderni hanno ragione ben più di nove volte su dieci</a:t>
            </a:r>
            <a:endParaRPr lang="en-US" sz="21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959 : 1</a:t>
            </a:r>
            <a:endParaRPr lang="en-US" sz="60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bnez t1, 1b è preso 959 volte e non preso una: un predittore lo impara nei primi giri</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Un'architettura, molte microarchitetture</a:t>
            </a:r>
            <a:endParaRPr lang="en-US" sz="3200" dirty="0"/>
          </a:p>
        </p:txBody>
      </p:sp>
      <p:sp>
        <p:nvSpPr>
          <p:cNvPr id="3" name="Shape 1"/>
          <p:cNvSpPr/>
          <p:nvPr/>
        </p:nvSpPr>
        <p:spPr>
          <a:xfrm>
            <a:off x="548640" y="1417320"/>
            <a:ext cx="11094415" cy="1937004"/>
          </a:xfrm>
          <a:prstGeom prst="roundRect">
            <a:avLst>
              <a:gd name="adj" fmla="val 3777"/>
            </a:avLst>
          </a:prstGeom>
          <a:solidFill>
            <a:srgbClr val="F6E7D2"/>
          </a:solidFill>
          <a:ln w="12700">
            <a:solidFill>
              <a:srgbClr val="F6E7D2"/>
            </a:solidFill>
            <a:prstDash val="solid"/>
          </a:ln>
        </p:spPr>
      </p:sp>
      <p:sp>
        <p:nvSpPr>
          <p:cNvPr id="4" name="Text 2"/>
          <p:cNvSpPr txBox="1"/>
          <p:nvPr/>
        </p:nvSpPr>
        <p:spPr>
          <a:xfrm>
            <a:off x="914400" y="1600200"/>
            <a:ext cx="10362895" cy="411480"/>
          </a:xfrm>
          <a:prstGeom prst="rect">
            <a:avLst/>
          </a:prstGeom>
          <a:noFill/>
          <a:ln/>
        </p:spPr>
        <p:txBody>
          <a:bodyPr wrap="square" lIns="0" tIns="0" rIns="0" bIns="0" rtlCol="0" anchor="ctr"/>
          <a:lstStyle/>
          <a:p>
            <a:pPr indent="0" marL="0">
              <a:buNone/>
            </a:pPr>
            <a:r>
              <a:rPr lang="en-US" sz="1600" b="1" dirty="0">
                <a:solidFill>
                  <a:srgbClr val="C7791B"/>
                </a:solidFill>
                <a:latin typeface="Calibri" pitchFamily="34" charset="0"/>
                <a:ea typeface="Calibri" pitchFamily="34" charset="-122"/>
                <a:cs typeface="Calibri" pitchFamily="34" charset="-120"/>
              </a:rPr>
              <a:t>Architettura e microarchitettura</a:t>
            </a:r>
            <a:endParaRPr lang="en-US" sz="1600" dirty="0"/>
          </a:p>
        </p:txBody>
      </p:sp>
      <p:sp>
        <p:nvSpPr>
          <p:cNvPr id="5" name="Text 3"/>
          <p:cNvSpPr txBox="1"/>
          <p:nvPr/>
        </p:nvSpPr>
        <p:spPr>
          <a:xfrm>
            <a:off x="914400" y="2057400"/>
            <a:ext cx="10362895" cy="1114044"/>
          </a:xfrm>
          <a:prstGeom prst="rect">
            <a:avLst/>
          </a:prstGeom>
          <a:noFill/>
          <a:ln/>
        </p:spPr>
        <p:txBody>
          <a:bodyPr wrap="square" lIns="0" tIns="0" rIns="0" bIns="0" rtlCol="0" anchor="ctr"/>
          <a:lstStyle/>
          <a:p>
            <a:pPr indent="0" marL="0">
              <a:buNone/>
            </a:pPr>
            <a:r>
              <a:rPr lang="en-US" sz="2300" i="1" dirty="0">
                <a:solidFill>
                  <a:srgbClr val="1B2530"/>
                </a:solidFill>
                <a:latin typeface="Cambria" pitchFamily="34" charset="0"/>
                <a:ea typeface="Cambria" pitchFamily="34" charset="-122"/>
                <a:cs typeface="Cambria" pitchFamily="34" charset="-120"/>
              </a:rPr>
              <a:t>L'architettura è il contratto: istruzioni, registri, che cosa fa ogni istruzione. La microarchitettura è un modo di rispettarlo: stadi, larghezza, predittori, cache.</a:t>
            </a:r>
            <a:endParaRPr lang="en-US" sz="2300" dirty="0"/>
          </a:p>
        </p:txBody>
      </p:sp>
      <p:sp>
        <p:nvSpPr>
          <p:cNvPr id="6" name="Shape 4"/>
          <p:cNvSpPr/>
          <p:nvPr/>
        </p:nvSpPr>
        <p:spPr>
          <a:xfrm>
            <a:off x="548640" y="3796284"/>
            <a:ext cx="146304" cy="146304"/>
          </a:xfrm>
          <a:prstGeom prst="rect">
            <a:avLst/>
          </a:prstGeom>
          <a:solidFill>
            <a:srgbClr val="0E7C86"/>
          </a:solidFill>
          <a:ln w="12700">
            <a:solidFill>
              <a:srgbClr val="0E7C86"/>
            </a:solidFill>
            <a:prstDash val="solid"/>
          </a:ln>
        </p:spPr>
      </p:sp>
      <p:sp>
        <p:nvSpPr>
          <p:cNvPr id="7" name="Text 5"/>
          <p:cNvSpPr txBox="1"/>
          <p:nvPr/>
        </p:nvSpPr>
        <p:spPr>
          <a:xfrm>
            <a:off x="932688" y="3674364"/>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La add che avete scritto per un microcontrollore a 160 MHz è la add di un core da server</a:t>
            </a:r>
            <a:endParaRPr lang="en-US" sz="2400" dirty="0"/>
          </a:p>
        </p:txBody>
      </p:sp>
      <p:sp>
        <p:nvSpPr>
          <p:cNvPr id="8" name="Shape 6"/>
          <p:cNvSpPr/>
          <p:nvPr/>
        </p:nvSpPr>
        <p:spPr>
          <a:xfrm>
            <a:off x="548640" y="4673346"/>
            <a:ext cx="146304" cy="146304"/>
          </a:xfrm>
          <a:prstGeom prst="rect">
            <a:avLst/>
          </a:prstGeom>
          <a:solidFill>
            <a:srgbClr val="C7791B"/>
          </a:solidFill>
          <a:ln w="12700">
            <a:solidFill>
              <a:srgbClr val="C7791B"/>
            </a:solidFill>
            <a:prstDash val="solid"/>
          </a:ln>
        </p:spPr>
      </p:sp>
      <p:sp>
        <p:nvSpPr>
          <p:cNvPr id="9" name="Text 7"/>
          <p:cNvSpPr txBox="1"/>
          <p:nvPr/>
        </p:nvSpPr>
        <p:spPr>
          <a:xfrm>
            <a:off x="932688" y="4551426"/>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Verm1 girerebbe senza modifiche su uno qualunque dei core della slide precedente, dato uno schermo</a:t>
            </a:r>
            <a:endParaRPr lang="en-US" sz="2400" dirty="0"/>
          </a:p>
        </p:txBody>
      </p:sp>
      <p:sp>
        <p:nvSpPr>
          <p:cNvPr id="10" name="Shape 8"/>
          <p:cNvSpPr/>
          <p:nvPr/>
        </p:nvSpPr>
        <p:spPr>
          <a:xfrm>
            <a:off x="548640" y="5550408"/>
            <a:ext cx="146304" cy="146304"/>
          </a:xfrm>
          <a:prstGeom prst="rect">
            <a:avLst/>
          </a:prstGeom>
          <a:solidFill>
            <a:srgbClr val="0E7C86"/>
          </a:solidFill>
          <a:ln w="12700">
            <a:solidFill>
              <a:srgbClr val="0E7C86"/>
            </a:solidFill>
            <a:prstDash val="solid"/>
          </a:ln>
        </p:spPr>
      </p:sp>
      <p:sp>
        <p:nvSpPr>
          <p:cNvPr id="11" name="Text 9"/>
          <p:cNvSpPr txBox="1"/>
          <p:nvPr/>
        </p:nvSpPr>
        <p:spPr>
          <a:xfrm>
            <a:off x="932688" y="5428488"/>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Per questo un insieme di istruzioni imparato una volta è una conoscenza che dura</a:t>
            </a:r>
            <a:endParaRPr lang="en-US" sz="24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 cos'è un supercalcolatore?</a:t>
            </a:r>
            <a:endParaRPr lang="en-US" sz="3200" dirty="0"/>
          </a:p>
        </p:txBody>
      </p:sp>
      <p:sp>
        <p:nvSpPr>
          <p:cNvPr id="3" name="Shape 1"/>
          <p:cNvSpPr/>
          <p:nvPr/>
        </p:nvSpPr>
        <p:spPr>
          <a:xfrm>
            <a:off x="548640" y="1500505"/>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883158"/>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Non un unico processore enorme: migliaia di calcolatori normali, i nodi, che lavorano allo stesso problema</a:t>
            </a:r>
            <a:endParaRPr lang="en-US" sz="1900" dirty="0"/>
          </a:p>
        </p:txBody>
      </p:sp>
      <p:sp>
        <p:nvSpPr>
          <p:cNvPr id="5" name="Shape 3"/>
          <p:cNvSpPr/>
          <p:nvPr/>
        </p:nvSpPr>
        <p:spPr>
          <a:xfrm>
            <a:off x="548640" y="254946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466277"/>
            <a:ext cx="6565392" cy="1147826"/>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Ogni nodo ha</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uno o due processori con decine di core</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spesso più GPU</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moltissima memoria</a:t>
            </a:r>
            <a:endParaRPr lang="en-US" sz="1900" dirty="0"/>
          </a:p>
        </p:txBody>
      </p:sp>
      <p:sp>
        <p:nvSpPr>
          <p:cNvPr id="7" name="Shape 5"/>
          <p:cNvSpPr/>
          <p:nvPr/>
        </p:nvSpPr>
        <p:spPr>
          <a:xfrm>
            <a:off x="548640" y="3863086"/>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779901"/>
            <a:ext cx="656539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Una rete molto veloce unisce i nodi, e un file system parallelo li serve tutti</a:t>
            </a:r>
            <a:endParaRPr lang="en-US" sz="1900" dirty="0"/>
          </a:p>
        </p:txBody>
      </p:sp>
      <p:sp>
        <p:nvSpPr>
          <p:cNvPr id="9" name="Shape 7"/>
          <p:cNvSpPr/>
          <p:nvPr/>
        </p:nvSpPr>
        <p:spPr>
          <a:xfrm>
            <a:off x="548640" y="4617657"/>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534472"/>
            <a:ext cx="6565392" cy="883158"/>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La velocità si misura in operazioni in virgola mobile al secondo, FLOPS, su un problema standard: un enorme sistema di equazioni lineari</a:t>
            </a:r>
            <a:endParaRPr lang="en-US" sz="1900" dirty="0"/>
          </a:p>
        </p:txBody>
      </p:sp>
      <p:sp>
        <p:nvSpPr>
          <p:cNvPr id="11" name="Shape 9"/>
          <p:cNvSpPr/>
          <p:nvPr/>
        </p:nvSpPr>
        <p:spPr>
          <a:xfrm>
            <a:off x="548640" y="5666613"/>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83428"/>
            <a:ext cx="656539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La lista TOP500 classifica le macchine più veloci due volte l'anno dal 1993</a:t>
            </a:r>
            <a:endParaRPr lang="en-US" sz="1900" dirty="0"/>
          </a:p>
        </p:txBody>
      </p:sp>
      <p:pic>
        <p:nvPicPr>
          <p:cNvPr id="13" name="Image 0" descr="/Users/raffaelemontella/devel/riscv-prg32/computer-architecture-with-prg32/tools/assets/cluster_1.jpg">    </p:cNvPr>
          <p:cNvPicPr>
            <a:picLocks noChangeAspect="1"/>
          </p:cNvPicPr>
          <p:nvPr/>
        </p:nvPicPr>
        <p:blipFill>
          <a:blip r:embed="rId1"/>
          <a:stretch>
            <a:fillRect/>
          </a:stretch>
        </p:blipFill>
        <p:spPr>
          <a:xfrm>
            <a:off x="7863840" y="2148954"/>
            <a:ext cx="3779215" cy="2834411"/>
          </a:xfrm>
          <a:prstGeom prst="rect">
            <a:avLst/>
          </a:prstGeom>
        </p:spPr>
      </p:pic>
      <p:sp>
        <p:nvSpPr>
          <p:cNvPr id="14" name="Text 11"/>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Un piccolo cluster: nodi, GPU, una rete veloce</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La legge di Amdahl</a:t>
            </a:r>
            <a:endParaRPr lang="en-US" sz="3200" dirty="0"/>
          </a:p>
        </p:txBody>
      </p:sp>
      <p:sp>
        <p:nvSpPr>
          <p:cNvPr id="3" name="Shape 1"/>
          <p:cNvSpPr/>
          <p:nvPr/>
        </p:nvSpPr>
        <p:spPr>
          <a:xfrm>
            <a:off x="548640" y="1417320"/>
            <a:ext cx="11094415" cy="1596136"/>
          </a:xfrm>
          <a:prstGeom prst="roundRect">
            <a:avLst>
              <a:gd name="adj" fmla="val 4583"/>
            </a:avLst>
          </a:prstGeom>
          <a:solidFill>
            <a:srgbClr val="F6E7D2"/>
          </a:solidFill>
          <a:ln w="12700">
            <a:solidFill>
              <a:srgbClr val="F6E7D2"/>
            </a:solidFill>
            <a:prstDash val="solid"/>
          </a:ln>
        </p:spPr>
      </p:sp>
      <p:sp>
        <p:nvSpPr>
          <p:cNvPr id="4" name="Text 2"/>
          <p:cNvSpPr txBox="1"/>
          <p:nvPr/>
        </p:nvSpPr>
        <p:spPr>
          <a:xfrm>
            <a:off x="914400" y="1600200"/>
            <a:ext cx="10362895" cy="411480"/>
          </a:xfrm>
          <a:prstGeom prst="rect">
            <a:avLst/>
          </a:prstGeom>
          <a:noFill/>
          <a:ln/>
        </p:spPr>
        <p:txBody>
          <a:bodyPr wrap="square" lIns="0" tIns="0" rIns="0" bIns="0" rtlCol="0" anchor="ctr"/>
          <a:lstStyle/>
          <a:p>
            <a:pPr indent="0" marL="0">
              <a:buNone/>
            </a:pPr>
            <a:r>
              <a:rPr lang="en-US" sz="1600" b="1" dirty="0">
                <a:solidFill>
                  <a:srgbClr val="C7791B"/>
                </a:solidFill>
                <a:latin typeface="Calibri" pitchFamily="34" charset="0"/>
                <a:ea typeface="Calibri" pitchFamily="34" charset="-122"/>
                <a:cs typeface="Calibri" pitchFamily="34" charset="-120"/>
              </a:rPr>
              <a:t>Speed-up con n processori</a:t>
            </a:r>
            <a:endParaRPr lang="en-US" sz="1600" dirty="0"/>
          </a:p>
        </p:txBody>
      </p:sp>
      <p:sp>
        <p:nvSpPr>
          <p:cNvPr id="5" name="Text 3"/>
          <p:cNvSpPr txBox="1"/>
          <p:nvPr/>
        </p:nvSpPr>
        <p:spPr>
          <a:xfrm>
            <a:off x="914400" y="2057400"/>
            <a:ext cx="10362895" cy="773176"/>
          </a:xfrm>
          <a:prstGeom prst="rect">
            <a:avLst/>
          </a:prstGeom>
          <a:noFill/>
          <a:ln/>
        </p:spPr>
        <p:txBody>
          <a:bodyPr wrap="square" lIns="0" tIns="0" rIns="0" bIns="0" rtlCol="0" anchor="ctr"/>
          <a:lstStyle/>
          <a:p>
            <a:pPr indent="0" marL="0">
              <a:buNone/>
            </a:pPr>
            <a:r>
              <a:rPr lang="en-US" sz="2400" i="1" dirty="0">
                <a:solidFill>
                  <a:srgbClr val="1B2530"/>
                </a:solidFill>
                <a:latin typeface="Cambria" pitchFamily="34" charset="0"/>
                <a:ea typeface="Cambria" pitchFamily="34" charset="-122"/>
                <a:cs typeface="Cambria" pitchFamily="34" charset="-120"/>
              </a:rPr>
              <a:t>S = 1 / ((1 - p) + p / n), dove p è la frazione del lavoro che si può svolgere in parallelo.</a:t>
            </a:r>
            <a:endParaRPr lang="en-US" sz="2400" dirty="0"/>
          </a:p>
        </p:txBody>
      </p:sp>
      <p:sp>
        <p:nvSpPr>
          <p:cNvPr id="6" name="Shape 4"/>
          <p:cNvSpPr/>
          <p:nvPr/>
        </p:nvSpPr>
        <p:spPr>
          <a:xfrm>
            <a:off x="548640" y="3487928"/>
            <a:ext cx="146304" cy="146304"/>
          </a:xfrm>
          <a:prstGeom prst="rect">
            <a:avLst/>
          </a:prstGeom>
          <a:solidFill>
            <a:srgbClr val="0E7C86"/>
          </a:solidFill>
          <a:ln w="12700">
            <a:solidFill>
              <a:srgbClr val="0E7C86"/>
            </a:solidFill>
            <a:prstDash val="solid"/>
          </a:ln>
        </p:spPr>
      </p:sp>
      <p:sp>
        <p:nvSpPr>
          <p:cNvPr id="7" name="Text 5"/>
          <p:cNvSpPr txBox="1"/>
          <p:nvPr/>
        </p:nvSpPr>
        <p:spPr>
          <a:xfrm>
            <a:off x="932688" y="3366008"/>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La frazione seriale, 1 - p, non si riduce per quanti processori si aggiungano</a:t>
            </a:r>
            <a:endParaRPr lang="en-US" sz="2400" dirty="0"/>
          </a:p>
        </p:txBody>
      </p:sp>
      <p:sp>
        <p:nvSpPr>
          <p:cNvPr id="8" name="Shape 6"/>
          <p:cNvSpPr/>
          <p:nvPr/>
        </p:nvSpPr>
        <p:spPr>
          <a:xfrm>
            <a:off x="548640" y="4688840"/>
            <a:ext cx="146304" cy="146304"/>
          </a:xfrm>
          <a:prstGeom prst="rect">
            <a:avLst/>
          </a:prstGeom>
          <a:solidFill>
            <a:srgbClr val="C7791B"/>
          </a:solidFill>
          <a:ln w="12700">
            <a:solidFill>
              <a:srgbClr val="C7791B"/>
            </a:solidFill>
            <a:prstDash val="solid"/>
          </a:ln>
        </p:spPr>
      </p:sp>
      <p:sp>
        <p:nvSpPr>
          <p:cNvPr id="9" name="Text 7"/>
          <p:cNvSpPr txBox="1"/>
          <p:nvPr/>
        </p:nvSpPr>
        <p:spPr>
          <a:xfrm>
            <a:off x="932688" y="4566920"/>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Con p = 0,9 lo speed-up non può mai superare 10, nemmeno con un milione di processori</a:t>
            </a:r>
            <a:endParaRPr lang="en-US" sz="2400" dirty="0"/>
          </a:p>
        </p:txBody>
      </p:sp>
      <p:sp>
        <p:nvSpPr>
          <p:cNvPr id="10" name="Shape 8"/>
          <p:cNvSpPr/>
          <p:nvPr/>
        </p:nvSpPr>
        <p:spPr>
          <a:xfrm>
            <a:off x="548640" y="5889752"/>
            <a:ext cx="146304" cy="146304"/>
          </a:xfrm>
          <a:prstGeom prst="rect">
            <a:avLst/>
          </a:prstGeom>
          <a:solidFill>
            <a:srgbClr val="0E7C86"/>
          </a:solidFill>
          <a:ln w="12700">
            <a:solidFill>
              <a:srgbClr val="0E7C86"/>
            </a:solidFill>
            <a:prstDash val="solid"/>
          </a:ln>
        </p:spPr>
      </p:sp>
      <p:sp>
        <p:nvSpPr>
          <p:cNvPr id="11" name="Text 9"/>
          <p:cNvSpPr txBox="1"/>
          <p:nvPr/>
        </p:nvSpPr>
        <p:spPr>
          <a:xfrm>
            <a:off x="932688" y="5767832"/>
            <a:ext cx="10710367" cy="37185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Prima di comprare processori, misurate p</a:t>
            </a:r>
            <a:endParaRPr lang="en-US" sz="24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Due modi di dividere il lavoro</a:t>
            </a:r>
            <a:endParaRPr lang="en-US" sz="3200" dirty="0"/>
          </a:p>
        </p:txBody>
      </p:sp>
      <p:sp>
        <p:nvSpPr>
          <p:cNvPr id="3" name="Shape 1"/>
          <p:cNvSpPr/>
          <p:nvPr/>
        </p:nvSpPr>
        <p:spPr>
          <a:xfrm>
            <a:off x="548640" y="1417320"/>
            <a:ext cx="5364328" cy="4754880"/>
          </a:xfrm>
          <a:prstGeom prst="roundRect">
            <a:avLst>
              <a:gd name="adj" fmla="val 1538"/>
            </a:avLst>
          </a:prstGeom>
          <a:solidFill>
            <a:srgbClr val="EEF2F4"/>
          </a:solidFill>
          <a:ln w="12700">
            <a:solidFill>
              <a:srgbClr val="EEF2F4"/>
            </a:solidFill>
            <a:prstDash val="solid"/>
          </a:ln>
        </p:spPr>
      </p:sp>
      <p:sp>
        <p:nvSpPr>
          <p:cNvPr id="4" name="Text 2"/>
          <p:cNvSpPr txBox="1"/>
          <p:nvPr/>
        </p:nvSpPr>
        <p:spPr>
          <a:xfrm>
            <a:off x="822960" y="1645920"/>
            <a:ext cx="4815688"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Memoria condivisa</a:t>
            </a:r>
            <a:endParaRPr lang="en-US" sz="1900" dirty="0"/>
          </a:p>
        </p:txBody>
      </p:sp>
      <p:sp>
        <p:nvSpPr>
          <p:cNvPr id="5" name="Text 3"/>
          <p:cNvSpPr txBox="1"/>
          <p:nvPr/>
        </p:nvSpPr>
        <p:spPr>
          <a:xfrm>
            <a:off x="868680"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Più core di un nodo vedono la stessa memoria</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Il programma gira come thread che leggono e scrivono le stesse variabili</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Facile cominciare: OpenMP aggiunge una riga sopra un ciclo</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Il pericolo: due thread che scrivono la stessa variabile</a:t>
            </a:r>
            <a:endParaRPr lang="en-US" sz="2100" dirty="0"/>
          </a:p>
        </p:txBody>
      </p:sp>
      <p:sp>
        <p:nvSpPr>
          <p:cNvPr id="6" name="Shape 4"/>
          <p:cNvSpPr/>
          <p:nvPr/>
        </p:nvSpPr>
        <p:spPr>
          <a:xfrm>
            <a:off x="6278728" y="1417320"/>
            <a:ext cx="5364328" cy="4754880"/>
          </a:xfrm>
          <a:prstGeom prst="roundRect">
            <a:avLst>
              <a:gd name="adj" fmla="val 1538"/>
            </a:avLst>
          </a:prstGeom>
          <a:solidFill>
            <a:srgbClr val="EEF2F4"/>
          </a:solidFill>
          <a:ln w="12700">
            <a:solidFill>
              <a:srgbClr val="EEF2F4"/>
            </a:solidFill>
            <a:prstDash val="solid"/>
          </a:ln>
        </p:spPr>
      </p:sp>
      <p:sp>
        <p:nvSpPr>
          <p:cNvPr id="7" name="Text 5"/>
          <p:cNvSpPr txBox="1"/>
          <p:nvPr/>
        </p:nvSpPr>
        <p:spPr>
          <a:xfrm>
            <a:off x="6553048" y="1645920"/>
            <a:ext cx="4815688" cy="548640"/>
          </a:xfrm>
          <a:prstGeom prst="roundRect">
            <a:avLst>
              <a:gd name="adj" fmla="val 13333"/>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Memoria distribuita</a:t>
            </a:r>
            <a:endParaRPr lang="en-US" sz="1900" dirty="0"/>
          </a:p>
        </p:txBody>
      </p:sp>
      <p:sp>
        <p:nvSpPr>
          <p:cNvPr id="8" name="Text 6"/>
          <p:cNvSpPr txBox="1"/>
          <p:nvPr/>
        </p:nvSpPr>
        <p:spPr>
          <a:xfrm>
            <a:off x="6598768"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Ogni nodo ha la propria memoria; nulla è condiviso</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Il programma gira come processi che si scambiano messaggi</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MPI, Message Passing Interface, è lo standard</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Scala fino a un milione di core, e lo paga il programmatore</a:t>
            </a:r>
            <a:endParaRPr lang="en-US" sz="2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limite è l'energia</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Una macchina exascale assorbe circa venti megawatt: il consumo di una piccola città</a:t>
            </a:r>
            <a:endParaRPr lang="en-US" sz="2200" dirty="0"/>
          </a:p>
        </p:txBody>
      </p:sp>
      <p:sp>
        <p:nvSpPr>
          <p:cNvPr id="5" name="Shape 3"/>
          <p:cNvSpPr/>
          <p:nvPr/>
        </p:nvSpPr>
        <p:spPr>
          <a:xfrm>
            <a:off x="548640" y="245681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350389"/>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L'elettricità della sua vita utile costa quanto la macchina</a:t>
            </a:r>
            <a:endParaRPr lang="en-US" sz="2200" dirty="0"/>
          </a:p>
        </p:txBody>
      </p:sp>
      <p:sp>
        <p:nvSpPr>
          <p:cNvPr id="7" name="Shape 5"/>
          <p:cNvSpPr/>
          <p:nvPr/>
        </p:nvSpPr>
        <p:spPr>
          <a:xfrm>
            <a:off x="548640" y="3389884"/>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283458"/>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Quindi la cifra che conta sono le operazioni per watt, e ha una classifica sua: la Green500</a:t>
            </a:r>
            <a:endParaRPr lang="en-US" sz="2200" dirty="0"/>
          </a:p>
        </p:txBody>
      </p:sp>
      <p:sp>
        <p:nvSpPr>
          <p:cNvPr id="9" name="Shape 7"/>
          <p:cNvSpPr/>
          <p:nvPr/>
        </p:nvSpPr>
        <p:spPr>
          <a:xfrm>
            <a:off x="548640" y="4322953"/>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216527"/>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La guidano GPU e altri acceleratori: l'hardware specializzato fa di più con ogni joule</a:t>
            </a:r>
            <a:endParaRPr lang="en-US" sz="2200" dirty="0"/>
          </a:p>
        </p:txBody>
      </p:sp>
      <p:sp>
        <p:nvSpPr>
          <p:cNvPr id="11" name="Shape 9"/>
          <p:cNvSpPr/>
          <p:nvPr/>
        </p:nvSpPr>
        <p:spPr>
          <a:xfrm>
            <a:off x="548640" y="559689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490464"/>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Per la stessa ragione nel vostro kit c'è un piccolo core RISC-V: milliwatt</a:t>
            </a:r>
            <a:endParaRPr lang="en-US" sz="22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~20 MW</a:t>
            </a:r>
            <a:endParaRPr lang="en-US" sz="60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per 10^18 operazioni al secondo: circa 50 miliardi di operazioni per joule</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Due modi di spendere i transistor</a:t>
            </a:r>
            <a:endParaRPr lang="en-US" sz="3200" dirty="0"/>
          </a:p>
        </p:txBody>
      </p:sp>
      <p:sp>
        <p:nvSpPr>
          <p:cNvPr id="3" name="Shape 1"/>
          <p:cNvSpPr/>
          <p:nvPr/>
        </p:nvSpPr>
        <p:spPr>
          <a:xfrm>
            <a:off x="548640" y="1417320"/>
            <a:ext cx="5364328" cy="4754880"/>
          </a:xfrm>
          <a:prstGeom prst="roundRect">
            <a:avLst>
              <a:gd name="adj" fmla="val 1538"/>
            </a:avLst>
          </a:prstGeom>
          <a:solidFill>
            <a:srgbClr val="EEF2F4"/>
          </a:solidFill>
          <a:ln w="12700">
            <a:solidFill>
              <a:srgbClr val="EEF2F4"/>
            </a:solidFill>
            <a:prstDash val="solid"/>
          </a:ln>
        </p:spPr>
      </p:sp>
      <p:sp>
        <p:nvSpPr>
          <p:cNvPr id="4" name="Text 2"/>
          <p:cNvSpPr txBox="1"/>
          <p:nvPr/>
        </p:nvSpPr>
        <p:spPr>
          <a:xfrm>
            <a:off x="822960" y="1645920"/>
            <a:ext cx="4815688"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Una CPU</a:t>
            </a:r>
            <a:endParaRPr lang="en-US" sz="1900" dirty="0"/>
          </a:p>
        </p:txBody>
      </p:sp>
      <p:sp>
        <p:nvSpPr>
          <p:cNvPr id="5" name="Text 3"/>
          <p:cNvSpPr txBox="1"/>
          <p:nvPr/>
        </p:nvSpPr>
        <p:spPr>
          <a:xfrm>
            <a:off x="868680"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Pochi core grandi: decine</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Ciascuno fuori ordine, con predittori e grandi cache</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Costruita per finire un compito il prima possibile</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A suo agio con salti e dati irregolari</a:t>
            </a:r>
            <a:endParaRPr lang="en-US" sz="2100" dirty="0"/>
          </a:p>
        </p:txBody>
      </p:sp>
      <p:sp>
        <p:nvSpPr>
          <p:cNvPr id="6" name="Shape 4"/>
          <p:cNvSpPr/>
          <p:nvPr/>
        </p:nvSpPr>
        <p:spPr>
          <a:xfrm>
            <a:off x="6278728" y="1417320"/>
            <a:ext cx="5364328" cy="4754880"/>
          </a:xfrm>
          <a:prstGeom prst="roundRect">
            <a:avLst>
              <a:gd name="adj" fmla="val 1538"/>
            </a:avLst>
          </a:prstGeom>
          <a:solidFill>
            <a:srgbClr val="EEF2F4"/>
          </a:solidFill>
          <a:ln w="12700">
            <a:solidFill>
              <a:srgbClr val="EEF2F4"/>
            </a:solidFill>
            <a:prstDash val="solid"/>
          </a:ln>
        </p:spPr>
      </p:sp>
      <p:sp>
        <p:nvSpPr>
          <p:cNvPr id="7" name="Text 5"/>
          <p:cNvSpPr txBox="1"/>
          <p:nvPr/>
        </p:nvSpPr>
        <p:spPr>
          <a:xfrm>
            <a:off x="6553048" y="1645920"/>
            <a:ext cx="4815688" cy="548640"/>
          </a:xfrm>
          <a:prstGeom prst="roundRect">
            <a:avLst>
              <a:gd name="adj" fmla="val 13333"/>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Una GPU</a:t>
            </a:r>
            <a:endParaRPr lang="en-US" sz="1900" dirty="0"/>
          </a:p>
        </p:txBody>
      </p:sp>
      <p:sp>
        <p:nvSpPr>
          <p:cNvPr id="8" name="Text 6"/>
          <p:cNvSpPr txBox="1"/>
          <p:nvPr/>
        </p:nvSpPr>
        <p:spPr>
          <a:xfrm>
            <a:off x="6598768"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Migliaia di core piccoli e semplici</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Tutti eseguono lo stesso codice su dati diversi</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Costruita per finire un milione di compiti al secondo</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A suo agio con array regolari: pixel, matrici, griglie</a:t>
            </a:r>
            <a:endParaRPr lang="en-US" sz="2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Un chip che diventa il circuito che descrivete</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325374"/>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FPGA: field-programmable gate array</a:t>
            </a:r>
            <a:endParaRPr lang="en-US" sz="2100" dirty="0"/>
          </a:p>
        </p:txBody>
      </p:sp>
      <p:sp>
        <p:nvSpPr>
          <p:cNvPr id="5" name="Shape 3"/>
          <p:cNvSpPr/>
          <p:nvPr/>
        </p:nvSpPr>
        <p:spPr>
          <a:xfrm>
            <a:off x="548640" y="2003298"/>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1904619"/>
            <a:ext cx="6565392" cy="182956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Dentro: un mare di piccoli blocchi programmabili</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tabelle di look-up, ciascuna capace di essere qualunque funzione di pochi ingressi</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flip-flop, uno accanto a ogni tabella</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fili e interruttori che possono collegare ogni blocco a ogni altro</a:t>
            </a:r>
            <a:endParaRPr lang="en-US" sz="2100" dirty="0"/>
          </a:p>
        </p:txBody>
      </p:sp>
      <p:sp>
        <p:nvSpPr>
          <p:cNvPr id="7" name="Shape 5"/>
          <p:cNvSpPr/>
          <p:nvPr/>
        </p:nvSpPr>
        <p:spPr>
          <a:xfrm>
            <a:off x="548640" y="3994785"/>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896106"/>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Un file di configurazione, il bitstream, imposta ogni tabella e ogni interruttore</a:t>
            </a:r>
            <a:endParaRPr lang="en-US" sz="2100" dirty="0"/>
          </a:p>
        </p:txBody>
      </p:sp>
      <p:sp>
        <p:nvSpPr>
          <p:cNvPr id="9" name="Shape 7"/>
          <p:cNvSpPr/>
          <p:nvPr/>
        </p:nvSpPr>
        <p:spPr>
          <a:xfrm>
            <a:off x="548640" y="4807458"/>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708779"/>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Caricate un altro bitstream e lo stesso chip è un altro circuito</a:t>
            </a:r>
            <a:endParaRPr lang="en-US" sz="2100" dirty="0"/>
          </a:p>
        </p:txBody>
      </p:sp>
      <p:sp>
        <p:nvSpPr>
          <p:cNvPr id="11" name="Shape 9"/>
          <p:cNvSpPr/>
          <p:nvPr/>
        </p:nvSpPr>
        <p:spPr>
          <a:xfrm>
            <a:off x="548640" y="562013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21452"/>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In vendita dal 1985; oggi da pochi euro fino alle schede per i data center</a:t>
            </a:r>
            <a:endParaRPr lang="en-US" sz="2100" dirty="0"/>
          </a:p>
        </p:txBody>
      </p:sp>
      <p:pic>
        <p:nvPicPr>
          <p:cNvPr id="13" name="Image 0" descr="/Users/raffaelemontella/devel/riscv-prg32/computer-architecture-with-prg32/tools/assets/pcb.jpg">    </p:cNvPr>
          <p:cNvPicPr>
            <a:picLocks noChangeAspect="1"/>
          </p:cNvPicPr>
          <p:nvPr/>
        </p:nvPicPr>
        <p:blipFill>
          <a:blip r:embed="rId1"/>
          <a:stretch>
            <a:fillRect/>
          </a:stretch>
        </p:blipFill>
        <p:spPr>
          <a:xfrm>
            <a:off x="7863840" y="2230837"/>
            <a:ext cx="3779215" cy="2670645"/>
          </a:xfrm>
          <a:prstGeom prst="rect">
            <a:avLst/>
          </a:prstGeom>
        </p:spPr>
      </p:pic>
      <p:sp>
        <p:nvSpPr>
          <p:cNvPr id="14" name="Text 11"/>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La logica programmabile sta sulle schede come ogni altro chip</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Una tabella di look-up è una tabella di verità in memoria</a:t>
            </a:r>
            <a:endParaRPr lang="en-US" sz="32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194783"/>
                <a:gridCol w="1194783"/>
                <a:gridCol w="2901616"/>
                <a:gridCol w="2901616"/>
                <a:gridCol w="2901616"/>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b</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memorizzato per AND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memorizzato per XOR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memorizzato per NOT 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0</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0</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0</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0</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1</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0</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1</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0</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1</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1</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1</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0</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0</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1</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0</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1</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1</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1</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0</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0</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500" i="1" dirty="0">
                <a:solidFill>
                  <a:srgbClr val="5B6B78"/>
                </a:solidFill>
                <a:latin typeface="Calibri" pitchFamily="34" charset="0"/>
                <a:ea typeface="Calibri" pitchFamily="34" charset="-122"/>
                <a:cs typeface="Calibri" pitchFamily="34" charset="-120"/>
              </a:rPr>
              <a:t>Gli ingressi sono l'indirizzo; quattro bit memorizzati scelgono la funzione. Cambiare i bit cambia la porta.</a:t>
            </a:r>
            <a:endParaRPr lang="en-US" sz="15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Quattro modi di calcolare</a:t>
            </a:r>
            <a:endParaRPr lang="en-US" sz="32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901900"/>
                <a:gridCol w="2060391"/>
                <a:gridCol w="2456621"/>
                <a:gridCol w="2218883"/>
                <a:gridCol w="2456621"/>
              </a:tblGrid>
              <a:tr h="0">
                <a:tc>
                  <a:txBody>
                    <a:bodyPr/>
                    <a:lstStyle/>
                    <a:p>
                      <a:pPr algn="l" indent="0" marL="0">
                        <a:buNone/>
                      </a:pP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CPU</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GPU</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FPGA</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ASIC</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Che cos'è</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pochi core complessi</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migliaia di core semplici</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un circuito che si configura</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un circuito fatto per un solo compito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Si programma in</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qualunque linguaggio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kernel: CUDA, OpenCL, SYCL</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Verilog, VHDL, HLS</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lo stesso, poi una fabbrica</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Forte in</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tutto, con moderazione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dati regolari in massa</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flussi, bassa latenza</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una cosa, alla perfezione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Lavoro per joule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basso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alto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alto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il più alto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Fatica d'uso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bassa</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media</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alta</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molto alta</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Per cambiare idea</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si ricompila</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si ricompila</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un nuovo bitstream</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un nuovo chip</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Verifica la comprensione</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Un programma è parallelo all'80%. Qual è il massimo speed-up che un numero qualunque di processori può dare?</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4</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5</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8</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80</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Che cosa elimina la ridenominazione dei registri?</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 salti</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il bisogno di uno stack</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le false dipendenze tra usi dello stesso nome di registro</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 cache miss</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Verifica la comprensione</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Con registri vettoriali a 256 bit, quanti giri servono al ciclo vettoriale per i 960 byte?</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4</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30</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60</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960</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Una tabella di look-up a due ingressi memorizza, per gli ingressi 00, 01, 10, 11, i bit 0, 1, 1, 1. Quale porta è?</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AND</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OR</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XOR</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NAND</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Glossario: inglese e italiano</a:t>
            </a:r>
            <a:endParaRPr lang="en-US" sz="3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694358"/>
                <a:gridCol w="3011341"/>
                <a:gridCol w="2535866"/>
                <a:gridCol w="2852850"/>
              </a:tblGrid>
              <a:tr h="0">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Inglese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Italiano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Inglese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Italiano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superscalar</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superscalare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out-of-order execution</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esecuzione fuori ordine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register renaming</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ridenominazione dei registri</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branch prediction</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predizione dei salti</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speed-up</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accelerazione (speed-up)</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node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nodo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shared memory</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memoria condivisa</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message passing</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scambio di messaggi</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accelerator</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acceleratore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kernel (GPU)</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kernel</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look-up table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tabella di look-up</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bitstream</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bitstream</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hardware description language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linguaggio di descrizione dell'hardware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soft core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soft core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Conclusioni e letture</a:t>
            </a:r>
            <a:endParaRPr lang="en-US" sz="3200" dirty="0"/>
          </a:p>
        </p:txBody>
      </p:sp>
      <p:sp>
        <p:nvSpPr>
          <p:cNvPr id="3" name="Shape 1"/>
          <p:cNvSpPr/>
          <p:nvPr/>
        </p:nvSpPr>
        <p:spPr>
          <a:xfrm>
            <a:off x="548640" y="1485011"/>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526796"/>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Un'equazione, tre fattori: ogni macchina veloce ne attacca uno, oppure moltiplica i processori</a:t>
            </a:r>
            <a:endParaRPr lang="en-US" sz="1700" dirty="0"/>
          </a:p>
        </p:txBody>
      </p:sp>
      <p:sp>
        <p:nvSpPr>
          <p:cNvPr id="5" name="Shape 3"/>
          <p:cNvSpPr/>
          <p:nvPr/>
        </p:nvSpPr>
        <p:spPr>
          <a:xfrm>
            <a:off x="548640" y="223183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164144"/>
            <a:ext cx="6565392" cy="790194"/>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I core superscalari fuori ordine rispettano il contratto dell'insieme di istruzioni ed eseguono molte istruzioni insieme</a:t>
            </a:r>
            <a:endParaRPr lang="en-US" sz="1700" dirty="0"/>
          </a:p>
        </p:txBody>
      </p:sp>
      <p:sp>
        <p:nvSpPr>
          <p:cNvPr id="7" name="Shape 5"/>
          <p:cNvSpPr/>
          <p:nvPr/>
        </p:nvSpPr>
        <p:spPr>
          <a:xfrm>
            <a:off x="548640" y="3242056"/>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174365"/>
            <a:ext cx="6565392" cy="790194"/>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Vettori, GPU e cluster sfruttano i dati che si possono elaborare in modo indipendente; la legge di Amdahl dice fin dove si arriva</a:t>
            </a:r>
            <a:endParaRPr lang="en-US" sz="1700" dirty="0"/>
          </a:p>
        </p:txBody>
      </p:sp>
      <p:sp>
        <p:nvSpPr>
          <p:cNvPr id="9" name="Shape 7"/>
          <p:cNvSpPr/>
          <p:nvPr/>
        </p:nvSpPr>
        <p:spPr>
          <a:xfrm>
            <a:off x="548640" y="4252278"/>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184587"/>
            <a:ext cx="6565392" cy="526796"/>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Le FPGA trasformano una descrizione in un circuito: la logica di questo corso, su grande scala</a:t>
            </a:r>
            <a:endParaRPr lang="en-US" sz="1700" dirty="0"/>
          </a:p>
        </p:txBody>
      </p:sp>
      <p:sp>
        <p:nvSpPr>
          <p:cNvPr id="11" name="Shape 9"/>
          <p:cNvSpPr/>
          <p:nvPr/>
        </p:nvSpPr>
        <p:spPr>
          <a:xfrm>
            <a:off x="548640" y="499910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931410"/>
            <a:ext cx="6565392" cy="1240790"/>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Letture</a:t>
            </a:r>
            <a:endParaRPr lang="en-US" sz="1700" dirty="0"/>
          </a:p>
          <a:p>
            <a:pPr indent="0" marL="0">
              <a:spcAft>
                <a:spcPts val="200"/>
              </a:spcAft>
              <a:buNone/>
            </a:pPr>
            <a:r>
              <a:rPr lang="en-US" sz="1400" dirty="0">
                <a:solidFill>
                  <a:srgbClr val="5B6B78"/>
                </a:solidFill>
                <a:latin typeface="Calibri" pitchFamily="34" charset="0"/>
                <a:ea typeface="Calibri" pitchFamily="34" charset="-122"/>
                <a:cs typeface="Calibri" pitchFamily="34" charset="-120"/>
              </a:rPr>
              <a:t>– Patterson, Hennessy: Struttura e progetto dei calcolatori, edizione RISC-V, capitoli 4 e 6</a:t>
            </a:r>
            <a:endParaRPr lang="en-US" sz="1700" dirty="0"/>
          </a:p>
          <a:p>
            <a:pPr indent="0" marL="0">
              <a:spcAft>
                <a:spcPts val="200"/>
              </a:spcAft>
              <a:buNone/>
            </a:pPr>
            <a:r>
              <a:rPr lang="en-US" sz="1400" dirty="0">
                <a:solidFill>
                  <a:srgbClr val="5B6B78"/>
                </a:solidFill>
                <a:latin typeface="Calibri" pitchFamily="34" charset="0"/>
                <a:ea typeface="Calibri" pitchFamily="34" charset="-122"/>
                <a:cs typeface="Calibri" pitchFamily="34" charset="-120"/>
              </a:rPr>
              <a:t>– Hennessy, Patterson: Computer Architecture, A Quantitative Approach</a:t>
            </a:r>
            <a:endParaRPr lang="en-US" sz="1700" dirty="0"/>
          </a:p>
          <a:p>
            <a:pPr indent="0" marL="0">
              <a:spcAft>
                <a:spcPts val="200"/>
              </a:spcAft>
              <a:buNone/>
            </a:pPr>
            <a:r>
              <a:rPr lang="en-US" sz="1400" dirty="0">
                <a:solidFill>
                  <a:srgbClr val="5B6B78"/>
                </a:solidFill>
                <a:latin typeface="Calibri" pitchFamily="34" charset="0"/>
                <a:ea typeface="Calibri" pitchFamily="34" charset="-122"/>
                <a:cs typeface="Calibri" pitchFamily="34" charset="-120"/>
              </a:rPr>
              <a:t>– top500.org; la specifica vettoriale di RISC-V su riscv.org</a:t>
            </a:r>
            <a:endParaRPr lang="en-US" sz="1700" dirty="0"/>
          </a:p>
        </p:txBody>
      </p:sp>
      <p:pic>
        <p:nvPicPr>
          <p:cNvPr id="13" name="Image 0" descr="/Users/raffaelemontella/devel/riscv-prg32/computer-architecture-with-prg32/tools/assets/book_patterson.jpg">    </p:cNvPr>
          <p:cNvPicPr>
            <a:picLocks noChangeAspect="1"/>
          </p:cNvPicPr>
          <p:nvPr/>
        </p:nvPicPr>
        <p:blipFill>
          <a:blip r:embed="rId1"/>
          <a:stretch>
            <a:fillRect/>
          </a:stretch>
        </p:blipFill>
        <p:spPr>
          <a:xfrm>
            <a:off x="8192838" y="1417320"/>
            <a:ext cx="3121220" cy="4297680"/>
          </a:xfrm>
          <a:prstGeom prst="rect">
            <a:avLst/>
          </a:prstGeom>
        </p:spPr>
      </p:pic>
      <p:sp>
        <p:nvSpPr>
          <p:cNvPr id="14" name="Text 11"/>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Patterson, Hennessy: edizione RISC-V</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Università degli Studi di Napoli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Architettura dei Calcolatori - Oltre un solo core: RISC-V superscalare, HPC, GPU e FPGA</dc:title>
  <dc:subject>Lezione 24</dc:subject>
  <dc:creator>Raffaele Montella</dc:creator>
  <cp:lastModifiedBy>Raffaele Montella</cp:lastModifiedBy>
  <cp:revision>1</cp:revision>
  <dcterms:created xsi:type="dcterms:W3CDTF">2026-10-13T08:56:26Z</dcterms:created>
  <dcterms:modified xsi:type="dcterms:W3CDTF">2026-10-13T08:56:26Z</dcterms:modified>
</cp:coreProperties>
</file>