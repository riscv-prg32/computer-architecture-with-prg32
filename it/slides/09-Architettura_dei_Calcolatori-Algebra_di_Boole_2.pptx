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19f618b-f0e6-7ffb-e186-d4e7944d2da7}">
          <p14:sldIdLst>
            <p14:sldId id="256"/>
            <p14:sldId id="257"/>
          </p14:sldIdLst>
        </p14:section>
        <p14:section name="Funzioni booleane" id="{04c44e0e-dec5-a1ba-5105-91ed8d84e840}">
          <p14:sldIdLst>
            <p14:sldId id="258"/>
            <p14:sldId id="259"/>
            <p14:sldId id="260"/>
            <p14:sldId id="261"/>
            <p14:sldId id="262"/>
            <p14:sldId id="263"/>
          </p14:sldIdLst>
        </p14:section>
        <p14:section name="Forme canoniche" id="{8e212f34-34da-a3d5-ece6-69a24c3dfb5b}">
          <p14:sldIdLst>
            <p14:sldId id="264"/>
            <p14:sldId id="265"/>
            <p14:sldId id="266"/>
          </p14:sldIdLst>
        </p14:section>
        <p14:section name="Mappe di Karnaugh" id="{b0728b0e-65da-e43c-676b-f73758351526}">
          <p14:sldIdLst>
            <p14:sldId id="267"/>
            <p14:sldId id="268"/>
            <p14:sldId id="269"/>
            <p14:sldId id="270"/>
          </p14:sldIdLst>
        </p14:section>
        <p14:section name="Ritorno alla macchina" id="{d1c438b7-2831-16f8-e8a4-e511d1924900}">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fornito operatori e proprietà. Questa affronta la domanda pratica che ne segue: dato ciò che un circuito deve fare, come se ne trovano le porte? La risposta è un metodo in tre passi, tavola di verità, forma canonica e minimizzazione, applicato al circuito più importante del corso, il sommatore. La lezione si apre con due istruzioni che sommano due bit e si chiude con i trentadue sommatori che eseguono ogni add scritto finora. Passa così dall'algebra come calcolo all'algebra come metodo di progetto.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sommatore; le funzioni booleane; le forme canoniche; minimizzazione, Karnaugh. DA UTILIZZARE OGGI: il programma completo, gli strumenti di PRG32 (si usa, non si studia, in questo corso). DA COMPRENDERE PIÙ AVANTI: niente. Una slide senza etichetta è contesto: una storia, un esempio, una domanda, un esercizio.
Percorso. I risultati di oggi: (1) scrivere una funzione in forma canonica dalla sua tabella di verità; (2) minimizzare una funzione di al più quattro variabili con una mappa di Karnaugh; (3) costruire un sommatore completo e concatenarlo in un sommatore a n bit. Si appoggia su: solo ciò che ha preparato la Lezione 01. Prossimo passo: Lezione 10, Introduzione all'elettronica e all'elettronica digitale.
Per il docente: Spirale: la lezione si apre con due istruzioni che sommano due bit, mostra che sono un semisommatore, sviluppa poi il metodo (tabella di verità, forma canonica, minimizzazione) che produce circuiti del genere, e si chiude sull'addizionatore a 32 bit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Padroneggiare il lessico: letterale, clausola, fattore, mintermine, maxtermine. Dire quante funzioni booleane di n variabili esistono. Scrivere una funzione in entrambe le forme canoniche a partire dalla sua tavola di verità. Minimizzare una funzione di al più quattro variabili con una mappa di Karnaugh, l'abilità più esercitata dalla prova intercorso e dal laboratorio. E ricavare il semisommatore e il sommatore completo, spiegando poi come trentadue di essi eseguono un'addizione.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termini. Un letterale è una variabile, o il suo complemento, così come compare in un'espressione: a, b', x. Una clausola, o termine prodotto, è un prodotto logico di letterali: a b' x. Un fattore, o termine somma, è una somma logica di letterali: (a + x'). Il numero dei letterali è una prima misura del costo di un'espressione, perché ogni occorrenza di una variabile è l'ingresso di qualche porta; contare i letterali è il modo in cui si confronteranno due forme della stessa funzione.
DA COMPRENDERE OGGI: le funzioni booleane.
Per il docente: In inglese: literal; clause o product term; factor o sum term. Ogni occorrenza di una variabile conta come un letterale: il numero di letterali misura il costo di un'espressione.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funzione booleana assegna 0 o 1 a ogni combinazione dei suoi n ingressi. Le combinazioni sono 2^n, e per ciascuna ci sono due uscite possibili, quindi il numero di funzioni distinte è 2^(2^n): 4 per una variabile, 16 per due, 256 per tre, 65.536 per quattro. Il numero è finito ma cresce in modo doppiamente esponenziale. L'ultima riga dice perché l'argomento conta: ogni circuito digitale si può scrivere come espressione booleana, e ogni espressione booleana si può costruire come circuito. La corrispondenza tra algebra e hardware è esatta.
DA COMPRENDERE OGGI: le funzioni booleane.
Per il docente: f: B^n -&gt; B con B = {0, 1}. Per n = 5 le funzioni sono già più di quattro miliardi: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Tutte le sedici funzioni di due variabili. Ogni riga è una funzione, le quattro colonne centrali ne danno le uscite per gli ingressi 00, 01, 10 e 11; l'indice della funzione è quella colonna di uscite letta come numero binario. Tra esse compaiono, evidenziate, le porte della Lezione 08: AND è f1, XOR è f6, OR è f7, NOR è f8, XNOR è f9, NAND è f14. Le restanti sono le due costanti, i due ingressi riportati invariati, le loro negazioni e quattro funzioni meno comuni, come l'implicazione.
DA COMPRENDERE OGGI: le funzioni booleane.
Per il docente: f0 e f15: costanti. f3, f5: identità (buffer). f12, f10: NOT. f1 AND, f7 OR, f6 XOR, f9 equivalenza, f14 NAND, f8 NOR. f13 è l'implicazione x -&gt; y, f11 è y -&gt; x; f2 e f4 sono le inibizioni.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insieme di operatori è funzionalmente completo se ogni funzione booleana si può esprimere con esso soltanto. AND, OR e NOT formano un insieme completo. Poiché le leggi di De Morgan permettono di ottenere AND o OR l'uno dall'altro con l'aiuto di NOT, bastano due operatori. Il fatto notevole viene per ultimo: NAND da solo è completo, e così NOR da solo. Un solo tipo di porta basta a costruire qualsiasi circuito digitale, un intero processore compreso, ed è per questo che NAND e NOR si chiamano porte universali. La Lezione 10 mostra perché questo conta dal punto di vista economico.
DA COMPRENDERE OGGI: le funzioni booleane.
Per il docente: NOT x = x NAND x; x AND y = (x NAND y) NAND (x NAND y); x OR y = (x NAND x) NAND (y NAND y). I chip reali sono fatti in gran parte di NAND e NOR perché richiedono meno transistor.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semisommatore somma due bit A e B e produce un bit di somma S e un riporto C. La tavola di verità mostra che S vale 1 quando gli ingressi differiscono, cioè XOR, e che C vale 1 quando entrambi valgono 1, cioè AND. Il circuito a destra corrisponde esattamente alle due istruzioni del riscaldamento. Si chiama "semi" perché non ha un ingresso per il riporto da una posizione meno significativa, quindi da solo può sommare solo i bit meno significativi di due numeri.
DA COMPRENDERE OGGI: il sommatore.
Per il docente: Il circuito è esattamente la coppia di istruzioni del riscaldamento. «Semi» perché non ha un riporto in ingresso: può sommare solo i bit meno significativi.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sommatore completo ha tre ingressi, i due bit degli operandi A e B e un riporto entrante, e due uscite, un bit di somma e un riporto uscente. Dalla tavola, S vale 1 quando un numero dispari di ingressi vale 1, e il riporto uscente vale 1 quando almeno due ingressi valgono 1. Il circuito consiste di due semisommatori e di una porta OR: il primo somma A e B, il secondo somma il riporto entrante alla loro somma parziale, e l'OR fonde i due riporti possibili, che non possono mai valere 1 entrambi. Nel disegno, fili che si incrociano senza un punto non sono collegati.
DA COMPRENDERE OGGI: il sommatore.
Per il docente: Due semisommatori e un OR. S vale 1 quando è a 1 un numero dispari di ingressi; Cout vale 1 quando almeno due ingressi sono a 1. I fili che si incrociano senza un punto non sono collegati.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mintermine è un prodotto che contiene ogni variabile esattamente una volta, complementata o no. La sua proprietà caratteristica è di valere 1 per una sola riga della tavola di verità: a'b'c vale 1 solo quando a = 0, b = 0 e c = 1. Un maxtermine è una somma che contiene ogni variabile esattamente una volta, e vale 0 per una sola riga. Per scrivere il mintermine di una riga si complementano le variabili che in quella riga valgono 0; per il maxtermine, quelle che valgono 1. Mintermini e maxtermini sono i mattoni delle forme canoniche.
DA COMPRENDERE OGGI: le forme canoniche.
Per il docente: In inglese: minterm (termine prodotto P); maxterm (fattore somma S). Il mintermine i corrisponde alla riga i: una variabile compare complementata dove la riga ha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procedimento applicato a F. Per ogni riga in cui F vale 1 si scrive il suo mintermine, e l'OR di questi mintermini è la forma canonica P: F è la somma dei mintermini 3, 4, 5, 6 e 7. Per ogni riga in cui F vale 0 si scrive il suo maxtermine, e l'AND di questi maxtermini è la forma canonica S: il prodotto dei maxtermini 0, 1 e 2. Entrambe le espressioni sono corrette e uniche, il che ne fa il valore teorico; nessuna delle due è economica, perché la prima ha cinque clausole e quindici letterali.
DA COMPRENDERE OGGI: le forme canoniche.
Per il docente: Ogni funzione ha una e una sola forma canonica per tipo (a meno dell'ordine dei termini). È sintesi a ricetta: sempre possibile, raramente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forma canonica di F ridotta passo per passo con le leggi della Lezione 08. Si raccoglie A da quattro clausole; si raccoglie di nuovo dentro la parentesi; si applica due volte la legge del complemento; infine la semplificazione x + x'y = x + y. Quindici letterali diventano tre: F = A + BC. Il metodo funziona, ma la didascalia ne indica il punto debole: a ogni passo bisognava vedere quale legge applicare. Per funzioni più grandi questo è impraticabile, e serve un metodo indipendente dall'intuizione.
DA COMPRENDERE OGGI: le forme canoniche.
Per il docente: Da cinque porte AND a tre ingressi e una OR a cinque ingressi, a una AND e una OR. La presentazione originale la chiamava minimizzazione «empirica»: funziona, ma quale legge applicare al passo successivo è lasciato all'intuito. Le mappe di Karnaugh la rendono meccanica.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mappa di Karnaugh è la tavola di verità ridisegnata come griglia, una cella per riga. La sua caratteristica essenziale è l'ordine delle celle: due celle vicine qualsiasi differiscono nel valore di esattamente una variabile, ed è per questo che le colonne sono etichettate 00, 01, 11, 10 (un codice Gray) e non in ordine di conteggio. Di conseguenza due 1 adiacenti si possono fondere in una sola clausola con un letterale in meno, grazie alla legge xy + xy' = x. La regola è raggruppare gli 1 in rettangoli di 1, 2, 4 o 8 celle, ciascuno il più grande possibile, finché ogni 1 è coperto. Anche i bordi sinistro e destro sono adiacenti.
DA COMPRENDERE OGGI: minimizzazione, Karnaugh.
Per il docente: L'ordine 00, 01, 11, 10 è un codice Gray. Maurice Karnaugh, 1953. La presentazione originale suggeriva uno strumento online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F posta su una mappa a tre variabili. Si scrive 1 nelle celle dei mintermini 3, 4, 5, 6 e 7. Il gruppo rosso copre l'intera riga A = 1, quattro celle in cui variano sia B sia C, quindi la clausola è A. Il gruppo viola copre la colonna BC = 11, in cui varia A, quindi la clausola è BC. Ogni 1 è coperto e nessun gruppo si può allargare: F = A + BC. È il risultato della minimizzazione algebrica, ottenuto a colpo d'occhio in pochi secondi.
DA COMPRENDERE OGGI: minimizzazione, Karnaugh.
Per il docente: Un gruppo di 2^k celle elimina k variabili. Si prendono sempre prima i gruppi più grandi, poi si copre ciò che resta.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quattro variabili la mappa ha sedici celle, ed entrambi gli insiemi di etichette seguono l'ordine 00, 01, 11, 10. Il gruppo rosso centrale di quattro dà BD. Anche i quattro angoli formano un gruppo, perché la mappa si richiude in entrambe le direzioni, come se fosse disegnata sulla superficie di un toro. Negli angoli B e D valgono entrambi 0, quindi la clausola è B'D'. Il risultato ha quattro letterali invece di trentadue. Prima di concludere che un 1 è isolato, vanno sempre esaminati i bordi e gli angoli.
DA COMPRENDERE OGGI: minimizzazione, Karnaugh.
Per il docente: Slide nuova. Si pensi alla mappa come disegnata su un toro: il bordo superiore tocca quello inferiore e il sinistro tocca il destro.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Alcune combinazioni di ingresso non possono mai presentarsi, oppure la loro uscita è irrilevante quando si presentano. Una cifra decimale codificata su quattro bit usa solo dieci delle sedici configurazioni, e le altre sei non compaiono mai. Le loro celle si marcano con x, una condizione di indifferenza, e ogni x si può trattare come 1 o come 0, come conviene: come 1 quando allarga un gruppo, e altrimenti la si ignora. Più libertà significa gruppi più grandi e quindi un circuito più economico. La Lezione 11 incontra questa situazione nel codice BCD e nel display a sette segmenti.
DA COMPRENDERE OGGI: minimizzazione, Karnaugh.
Per il docente: Slide nuova. Tipico esercizio d'esame: il decodificatore per display a sette segmenti, dove ogni segmento è una funzione di quattro variabili con sei indifferenze.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mettono in fila trentadue sommatori completi, uno per posizione di bit. Ciascuno riceve un bit di A, un bit di B e il riporto dalla posizione alla sua destra, e passa il proprio riporto a sinistra: è un sommatore a propagazione del riporto, ed è ciò che esegue add t2, t0, t1. Il primo riporto entrante vale 0. La sottrazione usa lo stesso sommatore: il secondo operando si complementa e il primo riporto entrante si pone a 1, che è esattamente il cambio di segno in complemento a due della Lezione 05. Il riporto uscente dall'ultima posizione si scarta. Il riporto deve attraversare tutti e trentadue gli stadi, un ritardo le cui conseguenze esamina la Lezione 11.
DA COMPRENDERE OGGI: il sommatore.
Per il docente: Il riporto uscente dal bit 31 è l'overflow senza segno della Lezione 05, che RISC-V semplicemente scarta. I processori reali usano schemi di riporto più veloci (carry look-ahead), ma la funzione calcolata è la stessa.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applica la formula del numero di funzioni con n = 3, valutando prima l'esponente: 2^3 = 8 è il numero di righe della tavola di verità, e la risposta è 2^8.
Per la seconda, 5 si scrive in binario su tre bit, 101. In un mintermine una variabile compare non complementata dove la riga ha 1 e complementata dove ha 0. L'opzione che contiene segni più si può scartare subito: è una somma e quindi non può essere un mintermine.
Per il docente: 1. Risposta: D. 2^(2^3) = 2^8 = 256.
2. Risposta: B. La riga 5 è 101: A = 1, B = 0, C = 1, quindi il mintermine è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un gruppo di 2^k celle elimina k variabili, e quattro è 2^2. La mappa a tre variabili lo conferma: la riga di quattro 1 ha perso sia B sia C.
Per la seconda si consulta la tavola del sommatore completo. Il riporto uscente vale 1 nelle righe con due o tre 1 tra gli ingressi: è la funzione di maggioranza. "Un numero dispari di 1" descrive l'altra uscita, il bit di somma.
Per il docente: 1. Risposta: B. Un gruppo di 2^k celle elimina k variabili: quattro celle, due variabili.
2. Risposta: C. Cout è la funzione di maggioranza: AB + Cin(A xor B) = AB + ACin + BCin. Un numero dispari di 1 descrive invece il bit di somma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italiano le forme canoniche si indicano con P, per prodotti, e S, per somme; i testi inglesi usano SOP e POS. L'half adder è il semisommatore, il full adder il sommatore completo. Un don't care è una condizione di indifferenza. Il ripple-carry adder è il sommatore in cui il riporto si propaga da ogni posizione alla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Una funzione booleana è una tavola di verità, e una tavola di verità dà sempre un'espressione canonica. La minimizzazione ottimizza la rete e ne riduce il costo. Le mappe di Karnaugh trasformano l'algebra in un procedimento visivo: si raggruppano gli 1 e si leggono le clausole. Il semisommatore e il sommatore completo sono i primi veri circuiti del corso. E trentadue sommatori completi in fila eseguono l'add scritto nella prima lezione di programmazione. La prossima lezione si chiede di che cosa sono fatte le porte stesse.
Stato di apprendimento, riepilogo. DA COMPRENDERE OGGI: il sommatore; le funzioni booleane; le forme canoniche; minimizzazione, Karnaugh. DA UTILIZZARE OGGI: il programma completo, gli strumenti di PRG32 (si usa, non si studia, in questo corso). DA COMPRENDERE PIÙ AVANTI: niente. Una slide senza etichetta è contesto: una storia, un esempio, una domanda, un esercizio. Il filo della lezione: La add della Lezione 02 è ora un circuito che sapreste disegnare: 32 sommatori completi e un riporto che si propaga. Prossimo passo: l'elettronica che fa una porta. Biglietto d'uscita (da due a quattro minuti, da soli, su carta): 1. Un sommatore completo riceve A = 1, B = 1, Cin = 1. Date S e Cout. Perché un sommatore a 32 bit ne richiede 32, concatenati? 2. In una mappa di Karnaugh di tre variabili A, B, C, perché si possono raggruppare le celle 000 e 010, ma non 000 e 011? Quale termine dà il primo gruppo?
Per il docente: Prossima lezione: l'elettronica, per vedere di che cosa sono fatte queste porte; poi le macchine combinatorie e sequenziali.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09: Algebra di Boole (2)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Elementi di algebra di Boole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Parte 2: funzioni booleane, forme canoniche, minimizzazione e l'addizionatore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“Povero me! Povero me! Arriverò troppo tardi!”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Le avventure di Alice nel Paese delle Meraviglie,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09-Architettura_dei_Calcolatori-Algebra_di_Boole_2-Lab.pptx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letterale, clausola, fattore, mintermine e maxtermine</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quante funzioni booleane di n variabili esistono, e nominare quelle di due variabili</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una funzione in forma canonica somma di prodotti e prodotto di somme dalla tabella di verità</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Minimizzare una funzione fino a quattro variabili con una mappa di Karnaugh</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Ricavare semisommatore e sommatore completo, e spiegare come trentadue di essi eseguono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Espressioni booleane: il vocabolario</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Letterale: una variabile booleana, o il suo complemento, così come compare in un'espressione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Clausola, o termine prodotto: il prodotto logico di due o più letterali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46125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9336"/>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Fattore, o termine somma: la somma logica di due o più letterali</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Clausole e fattori con più di un letterale sono funzioni di livello 1: uno strato di porte</a:t>
            </a:r>
            <a:endParaRPr lang="en-US" sz="2400" dirty="0"/>
          </a:p>
        </p:txBody>
      </p:sp>
      <p:sp>
        <p:nvSpPr>
          <p:cNvPr id="11" name="Shape 9"/>
          <p:cNvSpPr/>
          <p:nvPr/>
        </p:nvSpPr>
        <p:spPr>
          <a:xfrm>
            <a:off x="7920304" y="91440"/>
            <a:ext cx="3722751" cy="274320"/>
          </a:xfrm>
          <a:prstGeom prst="rect">
            <a:avLst/>
          </a:prstGeom>
          <a:solidFill>
            <a:srgbClr val="E0F2FE"/>
          </a:solidFill>
          <a:ln w="12700">
            <a:solidFill>
              <a:srgbClr val="0369A1"/>
            </a:solidFill>
            <a:prstDash val="solid"/>
          </a:ln>
        </p:spPr>
      </p:sp>
      <p:sp>
        <p:nvSpPr>
          <p:cNvPr id="12" name="Shape 10"/>
          <p:cNvSpPr/>
          <p:nvPr/>
        </p:nvSpPr>
        <p:spPr>
          <a:xfrm>
            <a:off x="792030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4" name="Text 1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Quante funzioni di n variabili?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funzione booleana associa a ogni combinazione di n ingressi binari un'uscita binaria</a:t>
            </a:r>
            <a:endParaRPr lang="en-US" sz="2100" dirty="0"/>
          </a:p>
        </p:txBody>
      </p:sp>
      <p:sp>
        <p:nvSpPr>
          <p:cNvPr id="5" name="Shape 3"/>
          <p:cNvSpPr/>
          <p:nvPr/>
        </p:nvSpPr>
        <p:spPr>
          <a:xfrm>
            <a:off x="548640" y="246900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0328"/>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combinazioni di ingresso sono 2^n, e a ciascuna si può associare 0 oppure 1</a:t>
            </a:r>
            <a:endParaRPr lang="en-US" sz="2100" dirty="0"/>
          </a:p>
        </p:txBody>
      </p:sp>
      <p:sp>
        <p:nvSpPr>
          <p:cNvPr id="7" name="Shape 5"/>
          <p:cNvSpPr/>
          <p:nvPr/>
        </p:nvSpPr>
        <p:spPr>
          <a:xfrm>
            <a:off x="548640" y="342201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333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le funzioni distinte di n variabili sono 2^(2^n): un numero finito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variabile: 4 funzioni; 2 variabili: 16; 3 variabili: 256; 4 variabili: 65.536</a:t>
            </a:r>
            <a:endParaRPr lang="en-US" sz="2100" dirty="0"/>
          </a:p>
        </p:txBody>
      </p:sp>
      <p:sp>
        <p:nvSpPr>
          <p:cNvPr id="9" name="Shape 7"/>
          <p:cNvSpPr/>
          <p:nvPr/>
        </p:nvSpPr>
        <p:spPr>
          <a:xfrm>
            <a:off x="548640" y="49693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70704"/>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funzioni booleane sono isomorfe ai circuiti digitali: ogni circuito si può scrivere come espressione, e ogni espressione si può realizzare come circuito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numero di funzioni booleane distinte di n variabili</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sedici funzioni di due variabili</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costante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(identità)</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(identità)</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(equivalenza)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costante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Le colonne 00, 01, 10, 11 danno l'uscita per ogni coppia di ingressi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L'indice di ogni funzione è la sua colonna di uscita letta come numero binario. Evidenziate: le porte della Lezione 08. Con una variabile le quattro funzioni sono: costante 0, x, NOT x, costante 1.</a:t>
            </a:r>
            <a:endParaRPr lang="en-US" sz="1550" dirty="0"/>
          </a:p>
        </p:txBody>
      </p:sp>
      <p:sp>
        <p:nvSpPr>
          <p:cNvPr id="7" name="Shape 3"/>
          <p:cNvSpPr/>
          <p:nvPr/>
        </p:nvSpPr>
        <p:spPr>
          <a:xfrm>
            <a:off x="7920304" y="91440"/>
            <a:ext cx="3722751" cy="274320"/>
          </a:xfrm>
          <a:prstGeom prst="rect">
            <a:avLst/>
          </a:prstGeom>
          <a:solidFill>
            <a:srgbClr val="E0F2FE"/>
          </a:solidFill>
          <a:ln w="12700">
            <a:solidFill>
              <a:srgbClr val="0369A1"/>
            </a:solidFill>
            <a:prstDash val="solid"/>
          </a:ln>
        </p:spPr>
      </p:sp>
      <p:sp>
        <p:nvSpPr>
          <p:cNvPr id="8" name="Shape 4"/>
          <p:cNvSpPr/>
          <p:nvPr/>
        </p:nvSpPr>
        <p:spPr>
          <a:xfrm>
            <a:off x="7920304"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0" name="Text 5"/>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Insiemi funzionalmente completi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Qualunque funzione booleana si può realizzare usando solo AND, OR e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Esempio: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L'insieme {AND, OR, NOT} si dice funzionalmente completo</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De Morgan, AND si costruisce con OR e NOT, e OR con AND e NOT: anche {AND, NOT} e {OR, NOT} sono completi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da solo è completo, e così NOR da solo: sono le porte universali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solo tipo di porta basta a costruire qualunque circuito digitale, compreso un intero processore</a:t>
            </a:r>
            <a:endParaRPr lang="en-US" sz="19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funzioni booleane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semisommatore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Somma due bit A e B e produce un bit di somma S e un riporto C</a:t>
            </a:r>
            <a:endParaRPr lang="en-US" sz="1900" dirty="0"/>
          </a:p>
        </p:txBody>
      </p:sp>
      <p:sp>
        <p:nvSpPr>
          <p:cNvPr id="5" name="Shape 3"/>
          <p:cNvSpPr/>
          <p:nvPr/>
        </p:nvSpPr>
        <p:spPr>
          <a:xfrm>
            <a:off x="548640" y="22576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4494"/>
            <a:ext cx="510235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1 + 1 dà somma 0 e riporto 1</a:t>
            </a:r>
            <a:endParaRPr lang="en-US" sz="1900" dirty="0"/>
          </a:p>
        </p:txBody>
      </p:sp>
      <p:sp>
        <p:nvSpPr>
          <p:cNvPr id="7" name="Shape 5"/>
          <p:cNvSpPr/>
          <p:nvPr/>
        </p:nvSpPr>
        <p:spPr>
          <a:xfrm>
            <a:off x="548640" y="27204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37282"/>
            <a:ext cx="510235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Dalla tabella: S vale 1 quando gli ingressi sono diversi, C vale 1 quando entrambi valgono 1</a:t>
            </a:r>
            <a:endParaRPr lang="en-US" sz="19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445576" y="91440"/>
            <a:ext cx="3197479" cy="274320"/>
          </a:xfrm>
          <a:prstGeom prst="rect">
            <a:avLst/>
          </a:prstGeom>
          <a:solidFill>
            <a:srgbClr val="E0F2FE"/>
          </a:solidFill>
          <a:ln w="12700">
            <a:solidFill>
              <a:srgbClr val="0369A1"/>
            </a:solidFill>
            <a:prstDash val="solid"/>
          </a:ln>
        </p:spPr>
      </p:sp>
      <p:sp>
        <p:nvSpPr>
          <p:cNvPr id="13" name="Shape 10"/>
          <p:cNvSpPr/>
          <p:nvPr/>
        </p:nvSpPr>
        <p:spPr>
          <a:xfrm>
            <a:off x="844557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5" name="Text 11"/>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sommatore</a:t>
            </a:r>
            <a:endParaRPr lang="en-US" sz="1100" dirty="0"/>
          </a:p>
        </p:txBody>
      </p:sp>
      <p:pic>
        <p:nvPicPr>
          <p:cNvPr id="17" name="Image 1" descr="preencoded.png">    </p:cNvPr>
          <p:cNvPicPr>
            <a:picLocks noChangeAspect="1"/>
          </p:cNvPicPr>
          <p:nvPr/>
        </p:nvPicPr>
        <p:blipFill>
          <a:blip r:embed="rId2"/>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sommatore completo</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Somma due bit e un riporto entrante; produce un bit di somma e un riporto uscente.</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sp>
        <p:nvSpPr>
          <p:cNvPr id="8" name="Shape 5"/>
          <p:cNvSpPr/>
          <p:nvPr/>
        </p:nvSpPr>
        <p:spPr>
          <a:xfrm>
            <a:off x="8445576" y="91440"/>
            <a:ext cx="3197479" cy="274320"/>
          </a:xfrm>
          <a:prstGeom prst="rect">
            <a:avLst/>
          </a:prstGeom>
          <a:solidFill>
            <a:srgbClr val="E0F2FE"/>
          </a:solidFill>
          <a:ln w="12700">
            <a:solidFill>
              <a:srgbClr val="0369A1"/>
            </a:solidFill>
            <a:prstDash val="solid"/>
          </a:ln>
        </p:spPr>
      </p:sp>
      <p:sp>
        <p:nvSpPr>
          <p:cNvPr id="9" name="Shape 6"/>
          <p:cNvSpPr/>
          <p:nvPr/>
        </p:nvSpPr>
        <p:spPr>
          <a:xfrm>
            <a:off x="8445576"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11" name="Text 7"/>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sommatore</a:t>
            </a:r>
            <a:endParaRPr lang="en-US" sz="1100" dirty="0"/>
          </a:p>
        </p:txBody>
      </p:sp>
      <p:pic>
        <p:nvPicPr>
          <p:cNvPr id="13" name="Image 1" descr="preencoded.png">    </p:cNvPr>
          <p:cNvPicPr>
            <a:picLocks noChangeAspect="1"/>
          </p:cNvPicPr>
          <p:nvPr/>
        </p:nvPicPr>
        <p:blipFill>
          <a:blip r:embed="rId2"/>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Mintermini e maxtermini</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Mintermine: una clausola di ordine n, cioè un prodotto che contiene un letterale di ogni variabile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mintermine vale 1 per una e una sola riga della tabella di verità</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Maxtermine: una somma di n letterali, uno per ogni variabile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maxtermine vale 0 per una e una sola riga della tabella di verità</a:t>
            </a:r>
            <a:endParaRPr lang="en-US" sz="2400" dirty="0"/>
          </a:p>
        </p:txBody>
      </p:sp>
      <p:sp>
        <p:nvSpPr>
          <p:cNvPr id="11"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2"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4"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forme canoniche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tabella di verità alle forme canoniche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mintermine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maxtermine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Forma canonica P: somma dei mintermini delle righe in cui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somma di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Forma canonica S: prodotto dei maxtermini delle righe in cui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prodotto di M(0, 1, 2)</a:t>
            </a:r>
            <a:endParaRPr lang="en-US" sz="1400" dirty="0"/>
          </a:p>
        </p:txBody>
      </p:sp>
      <p:sp>
        <p:nvSpPr>
          <p:cNvPr id="12"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3"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5"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forme canoniche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Minimizzazione algebrica di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Espressione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Legge applicata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forma canonica P: 5 clausole, 15 letterali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distributiva: si raccoglie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distributiva, due volte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complemento: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complemento: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semplificazione: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Quindici letterali diventano tre. Funziona, ma ogni passo richiede un'idea: vogliamo un metodo.</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forme canoniche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Mappe di Karnaugh: l'idea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Uno strumento grafico per semplificare le funzioni booleane</a:t>
            </a:r>
            <a:endParaRPr lang="en-US" sz="1900" dirty="0"/>
          </a:p>
        </p:txBody>
      </p:sp>
      <p:sp>
        <p:nvSpPr>
          <p:cNvPr id="5" name="Shape 3"/>
          <p:cNvSpPr/>
          <p:nvPr/>
        </p:nvSpPr>
        <p:spPr>
          <a:xfrm>
            <a:off x="548640" y="225012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66938"/>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funzione di n variabili si disegna su una griglia di 2^n celle: una cella per riga della tabella di verità</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celle sono ordinate in modo che le vicine differiscano in una sola variabile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da qui l'ordine delle colonne 00, 01, 11, 10</a:t>
            </a:r>
            <a:endParaRPr lang="en-US" sz="1900" dirty="0"/>
          </a:p>
        </p:txBody>
      </p:sp>
      <p:sp>
        <p:nvSpPr>
          <p:cNvPr id="9" name="Shape 7"/>
          <p:cNvSpPr/>
          <p:nvPr/>
        </p:nvSpPr>
        <p:spPr>
          <a:xfrm>
            <a:off x="548640" y="43282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45039"/>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L'adiacenza grafica è adiacenza logica: due 1 adiacenti si fondono in una clausola con un letterale in meno</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 raggruppano gli 1 in rettangoli di 1, 2, 4 o 8 celle, i più grandi possibile, finché ogni 1 è coperto</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La cella di ogni mintermine per tre variabili. Si noti che m3 viene prima di m2. Anche i bordi sinistro e destro sono adiacenti: la mappa si richiude.</a:t>
            </a:r>
            <a:endParaRPr lang="en-US" sz="1400" dirty="0"/>
          </a:p>
        </p:txBody>
      </p:sp>
      <p:sp>
        <p:nvSpPr>
          <p:cNvPr id="31" name="Shape 29"/>
          <p:cNvSpPr/>
          <p:nvPr/>
        </p:nvSpPr>
        <p:spPr>
          <a:xfrm>
            <a:off x="7657668" y="91440"/>
            <a:ext cx="3985387" cy="274320"/>
          </a:xfrm>
          <a:prstGeom prst="rect">
            <a:avLst/>
          </a:prstGeom>
          <a:solidFill>
            <a:srgbClr val="E0F2FE"/>
          </a:solidFill>
          <a:ln w="12700">
            <a:solidFill>
              <a:srgbClr val="0369A1"/>
            </a:solidFill>
            <a:prstDash val="solid"/>
          </a:ln>
        </p:spPr>
      </p:sp>
      <p:sp>
        <p:nvSpPr>
          <p:cNvPr id="32" name="Shape 30"/>
          <p:cNvSpPr/>
          <p:nvPr/>
        </p:nvSpPr>
        <p:spPr>
          <a:xfrm>
            <a:off x="7657668"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4" name="Text 3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mappa di tre variabili: la nostra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15999"/>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 scrive un 1 nelle celle dei mintermini 3, 4, 5, 6 e 7</a:t>
            </a:r>
            <a:endParaRPr lang="en-US" sz="2100" dirty="0"/>
          </a:p>
        </p:txBody>
      </p:sp>
      <p:sp>
        <p:nvSpPr>
          <p:cNvPr id="25" name="Shape 23"/>
          <p:cNvSpPr/>
          <p:nvPr/>
        </p:nvSpPr>
        <p:spPr>
          <a:xfrm>
            <a:off x="6400800" y="2314575"/>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15896"/>
            <a:ext cx="48582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Gruppo rosso di quattro: l'intera riga A =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e C cambiano entrambe: la clausola è A</a:t>
            </a:r>
            <a:endParaRPr lang="en-US" sz="2100" dirty="0"/>
          </a:p>
        </p:txBody>
      </p:sp>
      <p:sp>
        <p:nvSpPr>
          <p:cNvPr id="27" name="Shape 25"/>
          <p:cNvSpPr/>
          <p:nvPr/>
        </p:nvSpPr>
        <p:spPr>
          <a:xfrm>
            <a:off x="6400800" y="3707511"/>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608832"/>
            <a:ext cx="48582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Gruppo viola di due: la colonna BC = 11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cambia: la clausola è BC</a:t>
            </a:r>
            <a:endParaRPr lang="en-US" sz="2100" dirty="0"/>
          </a:p>
        </p:txBody>
      </p:sp>
      <p:sp>
        <p:nvSpPr>
          <p:cNvPr id="29" name="Shape 27"/>
          <p:cNvSpPr/>
          <p:nvPr/>
        </p:nvSpPr>
        <p:spPr>
          <a:xfrm>
            <a:off x="6400800" y="482155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722876"/>
            <a:ext cx="48582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1 è coperto e nessun gruppo si può allargare</a:t>
            </a:r>
            <a:endParaRPr lang="en-US" sz="2100" dirty="0"/>
          </a:p>
        </p:txBody>
      </p:sp>
      <p:sp>
        <p:nvSpPr>
          <p:cNvPr id="31" name="Shape 29"/>
          <p:cNvSpPr/>
          <p:nvPr/>
        </p:nvSpPr>
        <p:spPr>
          <a:xfrm>
            <a:off x="6400800" y="5620131"/>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521452"/>
            <a:ext cx="48582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 stesso risultato dell'algebra, trovato a occhio in pochi secondi</a:t>
            </a:r>
            <a:endParaRPr lang="en-US" sz="2100" dirty="0"/>
          </a:p>
        </p:txBody>
      </p:sp>
      <p:sp>
        <p:nvSpPr>
          <p:cNvPr id="33" name="Shape 31"/>
          <p:cNvSpPr/>
          <p:nvPr/>
        </p:nvSpPr>
        <p:spPr>
          <a:xfrm>
            <a:off x="7657668" y="91440"/>
            <a:ext cx="3985387" cy="274320"/>
          </a:xfrm>
          <a:prstGeom prst="rect">
            <a:avLst/>
          </a:prstGeom>
          <a:solidFill>
            <a:srgbClr val="E0F2FE"/>
          </a:solidFill>
          <a:ln w="12700">
            <a:solidFill>
              <a:srgbClr val="0369A1"/>
            </a:solidFill>
            <a:prstDash val="solid"/>
          </a:ln>
        </p:spPr>
      </p:sp>
      <p:sp>
        <p:nvSpPr>
          <p:cNvPr id="34" name="Shape 32"/>
          <p:cNvSpPr/>
          <p:nvPr/>
        </p:nvSpPr>
        <p:spPr>
          <a:xfrm>
            <a:off x="7657668" y="91440"/>
            <a:ext cx="73152" cy="274320"/>
          </a:xfrm>
          <a:prstGeom prst="rect">
            <a:avLst/>
          </a:prstGeom>
          <a:solidFill>
            <a:srgbClr val="0369A1"/>
          </a:solidFill>
          <a:ln w="12700">
            <a:solidFill>
              <a:srgbClr val="0369A1"/>
            </a:solidFill>
            <a:prstDash val="solid"/>
          </a:ln>
        </p:spPr>
      </p:sp>
      <p:pic>
        <p:nvPicPr>
          <p:cNvPr id="35"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6" name="Text 3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mappa di quattro variabili</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23746"/>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 = somma di m(0, 2, 5, 7, 8, 10, 13, 15): otto mintermini, trentadue letterali</a:t>
            </a:r>
            <a:endParaRPr lang="en-US" sz="2200" dirty="0"/>
          </a:p>
        </p:txBody>
      </p:sp>
      <p:sp>
        <p:nvSpPr>
          <p:cNvPr id="38" name="Shape 36"/>
          <p:cNvSpPr/>
          <p:nvPr/>
        </p:nvSpPr>
        <p:spPr>
          <a:xfrm>
            <a:off x="6035040" y="270730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600875"/>
            <a:ext cx="5223967"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Gruppo rosso di quattro al centro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 1 e D = 1 in tutto il gruppo: la clausola è BD</a:t>
            </a:r>
            <a:endParaRPr lang="en-US" sz="2200" dirty="0"/>
          </a:p>
        </p:txBody>
      </p:sp>
      <p:sp>
        <p:nvSpPr>
          <p:cNvPr id="40" name="Shape 38"/>
          <p:cNvSpPr/>
          <p:nvPr/>
        </p:nvSpPr>
        <p:spPr>
          <a:xfrm>
            <a:off x="6035040" y="3834469"/>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728043"/>
            <a:ext cx="5223967" cy="160147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Viola: i quattro angoli sono un solo gruppo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mappa si richiude in orizzontale e in verticale: B = 0 e D = 0, la clausola è B'D'</a:t>
            </a:r>
            <a:endParaRPr lang="en-US" sz="2200" dirty="0"/>
          </a:p>
        </p:txBody>
      </p:sp>
      <p:sp>
        <p:nvSpPr>
          <p:cNvPr id="42" name="Shape 40"/>
          <p:cNvSpPr/>
          <p:nvPr/>
        </p:nvSpPr>
        <p:spPr>
          <a:xfrm>
            <a:off x="6035040" y="5596890"/>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490464"/>
            <a:ext cx="52239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Risultato: quattro letterali, e forse la riconoscete: F è lo XNOR di B e D</a:t>
            </a:r>
            <a:endParaRPr lang="en-US" sz="2200" dirty="0"/>
          </a:p>
        </p:txBody>
      </p:sp>
      <p:sp>
        <p:nvSpPr>
          <p:cNvPr id="44" name="Shape 42"/>
          <p:cNvSpPr/>
          <p:nvPr/>
        </p:nvSpPr>
        <p:spPr>
          <a:xfrm>
            <a:off x="7657668" y="91440"/>
            <a:ext cx="3985387" cy="274320"/>
          </a:xfrm>
          <a:prstGeom prst="rect">
            <a:avLst/>
          </a:prstGeom>
          <a:solidFill>
            <a:srgbClr val="E0F2FE"/>
          </a:solidFill>
          <a:ln w="12700">
            <a:solidFill>
              <a:srgbClr val="0369A1"/>
            </a:solidFill>
            <a:prstDash val="solid"/>
          </a:ln>
        </p:spPr>
      </p:sp>
      <p:sp>
        <p:nvSpPr>
          <p:cNvPr id="45" name="Shape 43"/>
          <p:cNvSpPr/>
          <p:nvPr/>
        </p:nvSpPr>
        <p:spPr>
          <a:xfrm>
            <a:off x="7657668" y="91440"/>
            <a:ext cx="73152" cy="274320"/>
          </a:xfrm>
          <a:prstGeom prst="rect">
            <a:avLst/>
          </a:prstGeom>
          <a:solidFill>
            <a:srgbClr val="0369A1"/>
          </a:solidFill>
          <a:ln w="12700">
            <a:solidFill>
              <a:srgbClr val="0369A1"/>
            </a:solidFill>
            <a:prstDash val="solid"/>
          </a:ln>
        </p:spPr>
      </p:sp>
      <p:pic>
        <p:nvPicPr>
          <p:cNvPr id="4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47" name="Text 4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Condizioni di indifferenza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volte una combinazione di ingressi non può mai presentarsi, oppure quando si presenta l'uscita non importa</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una cifra in decimale codificato in binario usa le configurazioni da 0000 a 1001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 sei configurazioni da 1010 a 1111 non compaiono mai</a:t>
            </a:r>
            <a:endParaRPr lang="en-US" sz="2100" dirty="0"/>
          </a:p>
        </p:txBody>
      </p:sp>
      <p:sp>
        <p:nvSpPr>
          <p:cNvPr id="7" name="Shape 5"/>
          <p:cNvSpPr/>
          <p:nvPr/>
        </p:nvSpPr>
        <p:spPr>
          <a:xfrm>
            <a:off x="548640" y="4027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925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Quelle celle si segnano nella mappa con una x: indifferenza (don't care)</a:t>
            </a:r>
            <a:endParaRPr lang="en-US" sz="2100" dirty="0"/>
          </a:p>
        </p:txBody>
      </p:sp>
      <p:sp>
        <p:nvSpPr>
          <p:cNvPr id="9" name="Shape 7"/>
          <p:cNvSpPr/>
          <p:nvPr/>
        </p:nvSpPr>
        <p:spPr>
          <a:xfrm>
            <a:off x="548640" y="48240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53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x si può trattare come 1 quando allarga un gruppo, e come 0 altrimenti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libertà significa gruppi più grandi e un circuito più economico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cella il cui valore siamo liberi di scegliere, 0 o 1, a seconda di ciò che semplifica il circuito</a:t>
            </a:r>
            <a:endParaRPr lang="en-US" sz="1900" dirty="0"/>
          </a:p>
        </p:txBody>
      </p:sp>
      <p:sp>
        <p:nvSpPr>
          <p:cNvPr id="16" name="Shape 14"/>
          <p:cNvSpPr/>
          <p:nvPr/>
        </p:nvSpPr>
        <p:spPr>
          <a:xfrm>
            <a:off x="7657668" y="91440"/>
            <a:ext cx="3985387" cy="274320"/>
          </a:xfrm>
          <a:prstGeom prst="rect">
            <a:avLst/>
          </a:prstGeom>
          <a:solidFill>
            <a:srgbClr val="E0F2FE"/>
          </a:solidFill>
          <a:ln w="12700">
            <a:solidFill>
              <a:srgbClr val="0369A1"/>
            </a:solidFill>
            <a:prstDash val="solid"/>
          </a:ln>
        </p:spPr>
      </p:sp>
      <p:sp>
        <p:nvSpPr>
          <p:cNvPr id="17" name="Shape 15"/>
          <p:cNvSpPr/>
          <p:nvPr/>
        </p:nvSpPr>
        <p:spPr>
          <a:xfrm>
            <a:off x="765766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9" name="Text 1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minimizzazione, Karnaugh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Trentadue sommatori completi fanno una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sommatore completo</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riporto</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uscente</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il riporto si propaga verso sinistra</a:t>
            </a:r>
            <a:endParaRPr lang="en-US" sz="1250" dirty="0"/>
          </a:p>
        </p:txBody>
      </p:sp>
      <p:sp>
        <p:nvSpPr>
          <p:cNvPr id="41" name="Shape 39"/>
          <p:cNvSpPr/>
          <p:nvPr/>
        </p:nvSpPr>
        <p:spPr>
          <a:xfrm>
            <a:off x="548640" y="4639691"/>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 t2, t0, t1 porta i due registri a trentadue sommatori completi, uno per posizione di bit</a:t>
            </a:r>
            <a:endParaRPr lang="en-US" sz="1700" dirty="0"/>
          </a:p>
        </p:txBody>
      </p:sp>
      <p:sp>
        <p:nvSpPr>
          <p:cNvPr id="43" name="Shape 41"/>
          <p:cNvSpPr/>
          <p:nvPr/>
        </p:nvSpPr>
        <p:spPr>
          <a:xfrm>
            <a:off x="548640" y="5044694"/>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497700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riporto uscente di ogni posizione è il riporto entrante della successiva: un sommatore a propagazione del riporto</a:t>
            </a:r>
            <a:endParaRPr lang="en-US" sz="1700" dirty="0"/>
          </a:p>
        </p:txBody>
      </p:sp>
      <p:sp>
        <p:nvSpPr>
          <p:cNvPr id="45" name="Shape 43"/>
          <p:cNvSpPr/>
          <p:nvPr/>
        </p:nvSpPr>
        <p:spPr>
          <a:xfrm>
            <a:off x="548640" y="5713095"/>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sub usa lo stesso addizionatore: il secondo operando è complementato e il primo riporto entrante è 1 (Lezione 05)</a:t>
            </a:r>
            <a:endParaRPr lang="en-US" sz="1700" dirty="0"/>
          </a:p>
        </p:txBody>
      </p:sp>
      <p:sp>
        <p:nvSpPr>
          <p:cNvPr id="47" name="Shape 45"/>
          <p:cNvSpPr/>
          <p:nvPr/>
        </p:nvSpPr>
        <p:spPr>
          <a:xfrm>
            <a:off x="8445576" y="91440"/>
            <a:ext cx="3197479" cy="274320"/>
          </a:xfrm>
          <a:prstGeom prst="rect">
            <a:avLst/>
          </a:prstGeom>
          <a:solidFill>
            <a:srgbClr val="E0F2FE"/>
          </a:solidFill>
          <a:ln w="12700">
            <a:solidFill>
              <a:srgbClr val="0369A1"/>
            </a:solidFill>
            <a:prstDash val="solid"/>
          </a:ln>
        </p:spPr>
      </p:sp>
      <p:sp>
        <p:nvSpPr>
          <p:cNvPr id="48" name="Shape 46"/>
          <p:cNvSpPr/>
          <p:nvPr/>
        </p:nvSpPr>
        <p:spPr>
          <a:xfrm>
            <a:off x="8445576" y="91440"/>
            <a:ext cx="73152" cy="274320"/>
          </a:xfrm>
          <a:prstGeom prst="rect">
            <a:avLst/>
          </a:prstGeom>
          <a:solidFill>
            <a:srgbClr val="0369A1"/>
          </a:solidFill>
          <a:ln w="12700">
            <a:solidFill>
              <a:srgbClr val="0369A1"/>
            </a:solidFill>
            <a:prstDash val="solid"/>
          </a:ln>
        </p:spPr>
      </p:sp>
      <p:pic>
        <p:nvPicPr>
          <p:cNvPr id="49" name="Image 0" descr="preencoded.png">    </p:cNvPr>
          <p:cNvPicPr>
            <a:picLocks noChangeAspect="1"/>
          </p:cNvPicPr>
          <p:nvPr/>
        </p:nvPicPr>
        <p:blipFill>
          <a:blip r:embed="rId1"/>
          <a:stretch>
            <a:fillRect/>
          </a:stretch>
        </p:blipFill>
        <p:spPr>
          <a:xfrm>
            <a:off x="8573592" y="128016"/>
            <a:ext cx="201168" cy="201168"/>
          </a:xfrm>
          <a:prstGeom prst="rect">
            <a:avLst/>
          </a:prstGeom>
        </p:spPr>
      </p:pic>
      <p:sp>
        <p:nvSpPr>
          <p:cNvPr id="50" name="Text 47"/>
          <p:cNvSpPr txBox="1"/>
          <p:nvPr/>
        </p:nvSpPr>
        <p:spPr>
          <a:xfrm>
            <a:off x="8829624" y="91440"/>
            <a:ext cx="277685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sommatore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Quante funzioni booleane distinte di tre variabili esistono?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mintermine di tre variabili A, B, C corrisponde alla riga 5 della tabella di verità?</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mappa di Karnaugh, un gruppo rettangolare di quattro 1 adiacenti elimina: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variabile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due variabili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tre variabili</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quattro variabili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sommatore completo, il riporto uscente vale 1 quando: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esattamente un ingresso vale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dispari di ingressi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almeno due ingressi valgono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quando tutti e tre gli ingressi valgono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 funzione booleana è una tabella di verità; una tabella di verità dà sempre un'espressione canonica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minimizzazione è il processo che ottimizza una rete logica per semplificarne la realizzazione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mappe di Karnaugh trasformano l'algebra in una figura: si raggruppano gli 1, si leggono le clausole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semisommatore e il sommatore completo sono i primi veri circuiti del corso</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Trentadue sommatori completi in fila sono ciò che esegue la add battuta nella prima lezione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i capitoli sulle porte logiche e sulle macchine addizionatrici binarie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Elementi di algebra di Boole</dc:title>
  <dc:subject>Lezione 09</dc:subject>
  <dc:creator>Raffaele Montella</dc:creator>
  <cp:lastModifiedBy>Raffaele Montella</cp:lastModifiedBy>
  <cp:revision>1</cp:revision>
  <dcterms:created xsi:type="dcterms:W3CDTF">2026-10-17T07:16:50Z</dcterms:created>
  <dcterms:modified xsi:type="dcterms:W3CDTF">2026-10-17T07:16:50Z</dcterms:modified>
</cp:coreProperties>
</file>