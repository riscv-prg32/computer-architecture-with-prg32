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78358b13-a4f0-c2c7-d57a-b015eb1ffc94}">
          <p14:sldIdLst>
            <p14:sldId id="256"/>
            <p14:sldId id="257"/>
          </p14:sldIdLst>
        </p14:section>
        <p14:section name="Funzioni booleane" id="{8d10bba1-39ec-1c2b-e777-37ea1a336ed4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Forme canoniche" id="{588ad467-a63a-5940-5753-67f3672daa1e}">
          <p14:sldIdLst>
            <p14:sldId id="264"/>
            <p14:sldId id="265"/>
            <p14:sldId id="266"/>
          </p14:sldIdLst>
        </p14:section>
        <p14:section name="Mappe di Karnaugh" id="{b9fac1b2-6965-1b3e-b1a4-d2f26a268ea3}">
          <p14:sldIdLst>
            <p14:sldId id="267"/>
            <p14:sldId id="268"/>
            <p14:sldId id="269"/>
            <p14:sldId id="270"/>
          </p14:sldIdLst>
        </p14:section>
        <p14:section name="Ritorno alla macchina" id="{2aff54bd-434f-ee7b-e67c-0a4ed1c43a21}">
          <p14:sldIdLst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lezione precedente vi ha dato operatori e proprietà. Questa risponde alla domanda pratica che ne segue: dato ciò che un circuito deve fare, come si trovano le porte? La risposta è un metodo in tre passi, tabella di verità, forma canonica e minimizzazione, e lo applicherete al circuito più importante del corso, l'addizionatore. La lezione si apre con due istruzioni che sommano due bit, e si chiude con i trentadue sommatori che eseguono ogni add che avete scritto.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sommatore; le funzioni booleane; le forme canoniche; minimizzazione, Karnaugh. DA UTILIZZARE OGGI: il programma completo, gli strumenti di PRG32 (si usa, non si studia, in questo corso). DA COMPRENDERE PIÙ AVANTI: niente. Una slide senza etichetta è contesto: una storia, un esempio, una domanda, un esercizio.
Per il docente: Spirale: la lezione si apre con due istruzioni che sommano due bit, mostra che sono un semisommatore, sviluppa poi il metodo (tabella di verità, forma canonica, minimizzazione) che produce circuiti del genere, e si chiude sull'addizionatore a 32 bit che sta dietro l'istruzione add.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obiettivi. Conoscere il vocabolario: letterale, clausola, fattore, mintermine, maxtermine. Dire quante funzioni booleane di n variabili esistono. Scrivere una funzione nelle due forme canoniche a partire dalla tabella di verità. Minimizzare una funzione fino a quattro variabili con una mappa di Karnaugh: è l'abilità più esercitata dalla prova intercorso e dal laboratorio. E ricavare semisommatore e sommatore completo, spiegando come trentadue di essi svolgono un'addizione.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 parole. Un letterale è una variabile o il suo complemento così come compare in un'espressione: a, b', x. Una clausola, o termine prodotto, è un prodotto logico di letterali: a b' x. Un fattore, o termine somma, è una somma logica di letterali: (a + x'). Il numero di letterali misura il costo di un'espressione, perché ogni occorrenza di una variabile è l'ingresso di una porta. Conterete i letterali per confrontare due forme della stessa funzione.
DA COMPRENDERE OGGI: le funzioni booleane.
Per il docente: In inglese: literal; clause o product term; factor o sum term. Ogni occorrenza di una variabile conta come un letterale: il numero di letterali misura il costo di un'espressione.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funzione booleana assegna uno 0 o un 1 a ogni combinazione dei suoi n ingressi. Le combinazioni sono 2 alla n, e per ciascuna ci sono due uscite possibili: le funzioni sono quindi 2 elevato a 2 alla n. Con una variabile sono 4, con due 16, con tre 256, con quattro 65.536. Il numero è finito ma cresce con estrema rapidità. L'ultima riga è la ragione per cui si studia tutto questo: ogni circuito digitale si può scrivere come espressione, e ogni espressione si può realizzare come circuito.
DA COMPRENDERE OGGI: le funzioni booleane.
Per il docente: f: B^n -&gt; B con B = {0, 1}. Per n = 5 le funzioni sono già più di quattro miliardi: 2^32.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Tutte e sedici le funzioni di due variabili. Ogni riga è una funzione, e le quattro colonne centrali sono le sue uscite per gli ingressi 00, 01, 10 e 11; il numero della funzione è quella colonna di uscite letta come numero binario. Tra esse riconoscete, evidenziate, le porte della Lezione 08: AND è f1, XOR è f6, OR è f7, NOR è f8, XNOR è f9, NAND è f14. Le altre sono le due costanti, i due ingressi lasciati passare invariati, le loro negazioni, e quattro funzioni meno comuni.
DA COMPRENDERE OGGI: le funzioni booleane.
Per il docente: f0 e f15: costanti. f3, f5: identità (buffer). f12, f10: NOT. f1 AND, f7 OR, f6 XOR, f9 equivalenza, f14 NAND, f8 NOR. f13 è l'implicazione x -&gt; y, f11 è y -&gt; x; f2 e f4 sono le inibizioni.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insieme di operatori è funzionalmente completo se con esso si può costruire ogni funzione booleana. AND, OR e NOT sono completi. Per le leggi di De Morgan uno tra AND e OR si ottiene dall'altro con NOT, quindi bastano due operatori. Il fatto sorprendente è l'ultimo: NAND da solo è completo, e così NOR da solo. Un solo tipo di porta basta a costruire qualunque circuito digitale, un intero processore compreso; per questo NAND e NOR si chiamano porte universali.
DA COMPRENDERE OGGI: le funzioni booleane.
Per il docente: NOT x = x NAND x; x AND y = (x NAND y) NAND (x NAND y); x OR y = (x NAND x) NAND (y NAND y). I chip reali sono fatti in gran parte di NAND e NOR perché richiedono meno transistor.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semisommatore somma due bit A e B e produce un bit di somma S e un riporto C. Dalla tabella, S vale 1 quando gli ingressi sono diversi, cioè lo XOR, e C vale 1 quando entrambi valgono 1, cioè l'AND. Il circuito a destra è esattamente la coppia di istruzioni del riscaldamento. Si chiama «semi» perché non ha un ingresso per il riporto proveniente da una posizione precedente, quindi da solo può sommare soltanto i bit meno significativi di due numeri.
DA COMPRENDERE OGGI: il sommatore.
Per il docente: Il circuito è esattamente la coppia di istruzioni del riscaldamento. «Semi» perché non ha un riporto in ingresso: può sommare solo i bit meno significativi.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sommatore completo ha tre ingressi: i due bit A e B e un riporto entrante. Produce un bit di somma e un riporto uscente. Leggete la tabella: S vale 1 quando è a 1 un numero dispari di ingressi; il riporto uscente vale 1 quando almeno due ingressi sono a 1. Il circuito è fatto di due semisommatori e un OR: il primo somma A e B, il secondo somma il riporto entrante alla loro somma, e l'OR combina i due possibili riporti. Nel disegno i fili che si incrociano senza un punto non sono collegati.
DA COMPRENDERE OGGI: il sommatore.
Per il docente: Due semisommatori e un OR. S vale 1 quando è a 1 un numero dispari di ingressi; Cout vale 1 quando almeno due ingressi sono a 1. I fili che si incrociano senza un punto non sono collegati.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mintermine è un prodotto che contiene ogni variabile una volta, complementata o no. La sua proprietà speciale è di valere 1 per una e una sola riga della tabella di verità: a'b'c vale 1 solo quando a è 0, b è 0 e c è 1. Un maxtermine è una somma che contiene ogni variabile una volta, e vale 0 per una e una sola riga. Per scrivere il mintermine di una riga si complementano le variabili che in quella riga valgono 0; per il maxtermine, quelle che valgono 1.
DA COMPRENDERE OGGI: le forme canoniche.
Per il docente: In inglese: minterm (termine prodotto P); maxterm (fattore somma S). Il mintermine i corrisponde alla riga i: una variabile compare complementata dove la riga ha uno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ricetta applicata a F. Per ogni riga in cui F vale 1 si scrive il suo mintermine; l'OR di questi mintermini è la forma canonica P: F è la somma dei mintermini 3, 4, 5, 6 e 7. Per ogni riga in cui F vale 0 si scrive il suo maxtermine; l'AND di questi maxtermini è la forma canonica S: il prodotto dei maxtermini 0, 1 e 2. Entrambe le espressioni sono corrette e uniche. Nessuna è economica: la prima ha cinque clausole e quindici letterali.
DA COMPRENDERE OGGI: le forme canoniche.
Per il docente: Ogni funzione ha una e una sola forma canonica per tipo (a meno dell'ordine dei termini). È sintesi a ricetta: sempre possibile, raramente economica.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forma canonica di F ridotta passo per passo con le leggi della Lezione 08. Si raccoglie A da quattro clausole; si raccoglie di nuovo dentro la parentesi; si applica due volte la legge del complemento; infine si applica la semplificazione x + x'y = x + y. Quindici letterali diventano tre: F = A + BC. Funziona, ma notate ciò che dice la didascalia: a ogni passo bisognava vedere quale legge applicare. Per una funzione più grande non è praticabile. Serve un metodo che non dipenda dall'ispirazione.
DA COMPRENDERE OGGI: le forme canoniche.
Per il docente: Da cinque porte AND a tre ingressi e una OR a cinque ingressi, a una AND e una OR. La presentazione originale la chiamava minimizzazione «empirica»: funziona, ma quale legge applicare al passo successivo è lasciato all'intuito. Le mappe di Karnaugh la rendono meccanica.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mappa di Karnaugh è la tabella di verità ridisegnata come griglia, con una cella per ogni riga. Il punto essenziale è l'ordine delle celle: due celle vicine differiscono nel valore di una sola variabile, ed è per questo che le colonne sono etichettate 00, 01, 11, 10 e non nell'ordine del conteggio. Grazie a ciò due 1 adiacenti si possono fondere in un'unica clausola con un letterale in meno. La regola: si raggruppano gli 1 in rettangoli di 1, 2, 4 o 8 celle, i più grandi possibile, finché ogni 1 è coperto. Anche i bordi sinistro e destro sono adiacenti.
DA COMPRENDERE OGGI: minimizzazione, Karnaugh.
Per il docente: L'ordine 00, 01, 11, 10 è un codice Gray. Maurice Karnaugh, 1953. La presentazione originale suggeriva uno strumento online (edutecnica.it/apps/k/k.htm).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funzione F della lezione su una mappa di tre variabili. Si scrive 1 nelle celle dei mintermini 3, 4, 5, 6 e 7. Il gruppo rosso prende l'intera riga A = 1, quattro celle: cambiano due variabili, B e C, e la clausola è A. Il gruppo viola prende la colonna BC = 11: A cambia, e la clausola è BC. Ogni 1 è coperto e nessun gruppo si può allargare: F = A + BC. È il risultato della minimizzazione algebrica, trovato a occhio in pochi secondi.
DA COMPRENDERE OGGI: minimizzazione, Karnaugh.
Per il docente: Un gruppo di 2^k celle elimina k variabili. Si prendono sempre prima i gruppi più grandi, poi si copre ciò che resta.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 quattro variabili la mappa ha sedici celle, ed entrambe le coppie di etichette seguono l'ordine 00, 01, 11, 10. Il gruppo rosso di quattro al centro dà BD. Anche i quattro angoli formano un solo gruppo, perché la mappa si richiude nelle due direzioni: immaginatela disegnata sulla superficie di una ciambella. Negli angoli B e D valgono entrambe 0, quindi la clausola è B'D'. Il risultato ha quattro letterali invece di trentadue. Guardate sempre bordi e angoli prima di concludere che un 1 è isolato.
DA COMPRENDERE OGGI: minimizzazione, Karnaugh.
Per il docente: Slide nuova. Si pensi alla mappa come disegnata su un toro: il bordo superiore tocca quello inferiore e il sinistro tocca il destro.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volte una combinazione di ingressi non può mai presentarsi, oppure quando si presenta l'uscita non importa. Una cifra decimale codificata su quattro bit usa solo dieci delle sedici configurazioni: le altre sei non compaiono mai. Le loro celle si segnano con una x, una condizione di indifferenza, e ogni x si può leggere come 1 o come 0, a seconda di ciò che conviene. Usate una x come 1 quando permette di allargare un gruppo; ignoratela altrimenti. Più libertà significa gruppi più grandi e un circuito più economico.
DA COMPRENDERE OGGI: minimizzazione, Karnaugh.
Per il docente: Slide nuova. Tipico esercizio d'esame: il decodificatore per display a sette segmenti, dove ogni segmento è una funzione di quattro variabili con sei indifferenze.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Mettete in fila trentadue sommatori completi, uno per posizione di bit. Ognuno riceve un bit di A, un bit di B e il riporto dalla posizione alla sua destra, e passa il proprio riporto a sinistra: un sommatore a propagazione del riporto. È ciò che esegue add t2, t0, t1. Il primo riporto entrante è 0. Per una sottrazione si usa lo stesso addizionatore: il secondo operando è complementato e il primo riporto entrante è 1, cioè il complemento a due della Lezione 05. Il riporto uscente dall'ultima posizione viene semplicemente scartato.
DA COMPRENDERE OGGI: il sommatore.
Per il docente: Il riporto uscente dal bit 31 è l'overflow senza segno della Lezione 05, che RISC-V semplicemente scarta. I processori reali usano schemi di riporto più veloci (carry look-ahead), ma la funzione calcolata è la stessa.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Usate la formula del numero di funzioni con n uguale a 3. Prima l'esponente: 2 alla 3 fa 8, il numero di righe della tabella di verità; poi 2 alla 8.
Scrivete 5 in binario su tre bit: 101. In un mintermine una variabile compare diretta dove la riga ha un 1 e complementata dove ha uno 0. Scartate subito l'opzione con i segni più: è una somma, quindi non può essere un mintermine.
Per il docente: 1. Risposta: D. 2^(2^3) = 2^8 = 256.
2. Risposta: B. La riga 5 è 101: A = 1, B = 0, C = 1, quindi il mintermine è A B'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gruppo di 2 alla k celle elimina k variabili. Quattro è 2 al quadrato. Verificatelo sulla mappa di tre variabili: la riga di quattro 1 ha perso sia B sia C.
Guardate la tabella del sommatore completo. Il riporto uscente vale 1 nelle righe con due o tre 1 tra gli ingressi: è la funzione di maggioranza. «Un numero dispari di 1» descrive l'altra uscita, il bit di somma.
Per il docente: 1. Risposta: B. Un gruppo di 2^k celle elimina k variabili: quattro celle, due variabili.
2. Risposta: C. Cout è la funzione di maggioranza: AB + Cin(A xor B) = AB + ACin + BCin. Un numero dispari di 1 descrive invece il bit di somma 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Dodici termini. In italiano le forme canoniche si indicano con le lettere P, per prodotti, e S, per somme; i testi inglesi dicono SOP e POS. Half adder è il semisommatore e full adder il sommatore completo. Don't care è la condizione di indifferenza. Il ripple-carry adder è il sommatore in cui il riporto si propaga da una posizione alla successiva.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Una funzione booleana è una tabella di verità, e una tabella di verità dà sempre un'espressione canonica. La minimizzazione ottimizza la rete per renderla più economica. Le mappe di Karnaugh trasformano l'algebra in una figura: si raggruppano gli 1 e si leggono le clausole. Il semisommatore e il sommatore completo sono i primi veri circuiti del corso. E trentadue sommatori completi in fila eseguono la add che avete scritto nella prima lezione. A seguire: di che cosa sono fatte le porte.
Stato di apprendimento, riepilogo. DA COMPRENDERE OGGI: il sommatore; le funzioni booleane; le forme canoniche; minimizzazione, Karnaugh. DA UTILIZZARE OGGI: il programma completo, gli strumenti di PRG32 (si usa, non si studia, in questo corso). DA COMPRENDERE PIÙ AVANTI: niente. Una slide senza etichetta è contesto: una storia, un esempio, una domanda, un esercizio.
Per il docente: Prossima lezione: l'elettronica, per vedere di che cosa sono fatte queste porte; poi le macchine combinatorie e sequenziali.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09: Algebra di Boole (2)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09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Elementi di algebra di Boole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funzioni booleane, forme canoniche, minimizzazione e l'addizionatore</a:t>
            </a:r>
            <a:endParaRPr 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“Povero me! Povero me! Arriverò troppo tardi!”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Lewis Carroll, Le avventure di Alice nel Paese delle Meraviglie, 1865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09-Architettura_dei_Calcolatori-Algebra_di_Boole_2-Codice.pptx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game_tetr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Definire letterale, clausola, fattore, mintermine e maxtermine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717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25348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 quante funzioni booleane di n variabili esistono, e nominare quelle di due variabili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07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248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Scrivere una funzione in forma canonica somma di prodotti e prodotto di somme dalla tabella di verità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297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1147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Minimizzare una funzione fino a quattro variabili con una mappa di Karnaugh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Ricavare semisommatore e sommatore completo, e spiegare come trentadue di essi eseguono add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Espressioni booleane: il vocabolario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Letterale: una variabile booleana, o il suo complemento, così come compare in un'espressione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a, b', x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00024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78328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Clausola, o termine prodotto: il prodotto logico di due o più letterali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. b' . x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46125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39336"/>
            <a:ext cx="1071036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Fattore, o termine somma: la somma logica di due o più letterali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(a + x'), (b + c)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Clausole e fattori con più di un letterale sono funzioni di livello 1: uno strato di porte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funzioni booleane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Quante funzioni di n variabili?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associa a ogni combinazione di n ingressi binari un'uscita binaria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469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70328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combinazioni di ingresso sono 2^n, e a ciascuna si può associare 0 oppure 1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2201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23336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 le funzioni distinte di n variabili sono 2^(2^n): un numero finito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variabile: 4 funzioni; 2 variabili: 16; 3 variabili: 256; 4 variabili: 65.536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870704"/>
            <a:ext cx="656539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funzioni booleane sono isomorfe ai circuiti digitali: ogni circuito si può scrivere come espressione, e ogni espressione si può realizzare come circuito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2^(2^n)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numero di funzioni booleane distinte di n variabili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funzioni booleane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sedici funzioni di due variabili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57200"/>
                <a:gridCol w="457200"/>
                <a:gridCol w="457200"/>
                <a:gridCol w="457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costante 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AND: x .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. y'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(identità)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.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 (identità)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f6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f7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OR: x +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3815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457200"/>
                <a:gridCol w="457200"/>
                <a:gridCol w="457200"/>
                <a:gridCol w="457200"/>
                <a:gridCol w="28346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f8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f9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XNOR (equivalenza)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+ y'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f12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x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f13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x' + 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f14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f15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costante 1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1371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colonne 00, 01, 10, 11 danno l'uscita per ogni coppia di ingressi x y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44068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L'indice di ogni funzione è la sua colonna di uscita letta come numero binario. Evidenziate: le porte della Lezione 08. Con una variabile le quattro funzioni sono: costante 0, x, NOT x, costante 1.</a:t>
            </a:r>
            <a:endParaRPr lang="en-US" sz="1550" dirty="0"/>
          </a:p>
        </p:txBody>
      </p:sp>
      <p:sp>
        <p:nvSpPr>
          <p:cNvPr id="7" name="Shape 3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funzioni booleane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Insiemi funzionalmente completi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Qualunque funzione booleana si può realizzare usando solo AND, OR e NOT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6565392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x XOR y = (x' AND y) OR (x AND y')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21945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1302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L'insieme {AND, OR, NOT} si dice funzionalmente completo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2377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13131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De Morgan, AND si costruisce con OR e NOT, e OR con AND e NOT: anche {AND, NOT} e {OR, NOT} sono completi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NAND da solo è completo, e così NOR da solo: sono le porte universali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NAND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tipo di porta basta a costruire qualunque circuito digitale, compreso un intero processore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funzioni booleane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semisommatore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10235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due bit A e B e produce un bit di somma S e un riporto C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576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74494"/>
            <a:ext cx="5102352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binario 1 + 1 dà somma 0 e riporto 1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2046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637282"/>
            <a:ext cx="510235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tabella: S vale 1 quando gli ingressi sono diversi, C vale 1 quando entrambi valgono 1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703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xor B        C = A . B</a:t>
            </a:r>
            <a:endParaRPr lang="en-US" sz="2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4343400"/>
          <a:ext cx="3657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822960"/>
                <a:gridCol w="1005840"/>
                <a:gridCol w="10058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92240" y="1417320"/>
            <a:ext cx="515081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456879"/>
            <a:ext cx="4785055" cy="267576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sommatore completo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361188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731520"/>
                <a:gridCol w="731520"/>
                <a:gridCol w="868680"/>
              </a:tblGrid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98348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A xor B xor Cin</a:t>
            </a:r>
            <a:endParaRPr lang="en-US" sz="1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3949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Cout = A . B + Cin . (A xor B)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8064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 due bit e un riporto entrante; produce un bit di somma e un riporto uscente.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4937760" y="1417320"/>
            <a:ext cx="6705295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2338256"/>
            <a:ext cx="6430975" cy="29130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Mintermini e maxtermini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10710367" cy="1105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Mintermine: una clausola di ordine n, cioè un prodotto che contiene un letterale di ogni variabile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= 2: a b;  n = 3: a' b' c;  n = 6: a b c' d e' f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28498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163062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mintermine vale 1 per una e una sola riga della tabella di verità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41140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92118"/>
            <a:ext cx="1071036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Maxtermine: una somma di n letterali, uno per ogni variabile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 = 2: (a' + b');  n = 3: (a + b + c');  n = 6: (a' + b' + c + d' + e' + f')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53050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183124"/>
            <a:ext cx="10710367" cy="371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maxtermine vale 0 per una e una sola riga della tabella di verità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forme canoniche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Dalla tabella di verità alle forme canoniche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548640"/>
                <a:gridCol w="548640"/>
                <a:gridCol w="640080"/>
                <a:gridCol w="237744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mintermine (F = 1)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maxtermine (F = 0)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M0 = A + B +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M1 = A + B +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M2 = A + B' +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E7D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m3 = A' B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m4 = A B'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m5 = A B'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m6 = A B C'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m7 = A B C</a:t>
                      </a: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5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CEE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229600" y="1417320"/>
            <a:ext cx="3413455" cy="2240280"/>
          </a:xfrm>
          <a:prstGeom prst="roundRect">
            <a:avLst>
              <a:gd name="adj" fmla="val 3265"/>
            </a:avLst>
          </a:prstGeom>
          <a:solidFill>
            <a:srgbClr val="D8ECEE"/>
          </a:solidFill>
          <a:ln w="12700">
            <a:solidFill>
              <a:srgbClr val="D8ECEE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412480" y="1508760"/>
            <a:ext cx="3047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 P: somma dei mintermini delle righe in cui F = 1</a:t>
            </a:r>
            <a:endParaRPr lang="en-US" sz="1450" dirty="0"/>
          </a:p>
        </p:txBody>
      </p:sp>
      <p:sp>
        <p:nvSpPr>
          <p:cNvPr id="6" name="Text 3"/>
          <p:cNvSpPr txBox="1"/>
          <p:nvPr/>
        </p:nvSpPr>
        <p:spPr>
          <a:xfrm>
            <a:off x="8412480" y="2240280"/>
            <a:ext cx="3047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A'BC + AB'C' + AB'C + ABC' + ABC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310896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somma di m(3, 4, 5, 6, 7)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229600" y="3840480"/>
            <a:ext cx="3413455" cy="2331720"/>
          </a:xfrm>
          <a:prstGeom prst="roundRect">
            <a:avLst>
              <a:gd name="adj" fmla="val 3137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3931920"/>
            <a:ext cx="3047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canonica S: prodotto dei maxtermini delle righe in cui F = 0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663440"/>
            <a:ext cx="3047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(A+B+C) (A+B+C') (A+B'+C)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5577840"/>
            <a:ext cx="3047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prodotto di M(0, 1, 2)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forme canoniche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Minimizzazione algebrica di F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6001897"/>
                <a:gridCol w="509251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Espressione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Legge applicata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A'BC + AB'C' + AB'C + ABC' + ABC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canonica P: 5 clausole, 15 letterali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(B'C' + B'C + BC' + BC)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distributiva: si raccoglie A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 (C' + C) + B (C' + C))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distributiva, due volte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 (B' + B)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complemento: C' + C =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A'BC + A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complemento: B' + B = 1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= A + BC</a:t>
                      </a:r>
                      <a:endParaRPr lang="en-US" sz="1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9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semplificazione: x + x' y = x + y</a:t>
                      </a:r>
                      <a:endParaRPr lang="en-US" sz="1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Quindici letterali diventano tre. Funziona, ma ogni passo richiede un'idea: vogliamo un metodo.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le forme canoniche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Mappe di Karnaugh: l'idea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92531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strumento grafico per semplificare le funzioni booleane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50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66938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di n variabili si disegna su una griglia di 2^n celle: una cella per riga della tabella di verità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29412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10941"/>
            <a:ext cx="5925312" cy="873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ordinate in modo che le vicine differiscano in una sola variabile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qui l'ordine delle colonne 00, 01, 11, 10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432822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45039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L'adiacenza grafica è adiacenza logica: due 1 adiacenti si fondono in una clausola con un letterale in meno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537222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289042"/>
            <a:ext cx="5925312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raggruppano gli 1 in rettangoli di 1, 2, 4 o 8 celle, i più grandi possibile, finché ogni 1 è coperto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7223760" y="1417320"/>
            <a:ext cx="4419295" cy="4754880"/>
          </a:xfrm>
          <a:prstGeom prst="roundRect">
            <a:avLst>
              <a:gd name="adj" fmla="val 165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1040" y="2221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543800" y="2880360"/>
            <a:ext cx="38404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104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96696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789920" y="2551176"/>
            <a:ext cx="822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909560" y="288036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909560" y="3703320"/>
            <a:ext cx="384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32104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m0</a:t>
            </a:r>
            <a:endParaRPr lang="en-US" sz="23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endParaRPr lang="en-US" sz="2300" dirty="0"/>
          </a:p>
        </p:txBody>
      </p:sp>
      <p:sp>
        <p:nvSpPr>
          <p:cNvPr id="24" name="Text 22"/>
          <p:cNvSpPr txBox="1"/>
          <p:nvPr/>
        </p:nvSpPr>
        <p:spPr>
          <a:xfrm>
            <a:off x="996696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2300" dirty="0"/>
          </a:p>
        </p:txBody>
      </p:sp>
      <p:sp>
        <p:nvSpPr>
          <p:cNvPr id="25" name="Text 23"/>
          <p:cNvSpPr txBox="1"/>
          <p:nvPr/>
        </p:nvSpPr>
        <p:spPr>
          <a:xfrm>
            <a:off x="10789920" y="288036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2300" dirty="0"/>
          </a:p>
        </p:txBody>
      </p:sp>
      <p:sp>
        <p:nvSpPr>
          <p:cNvPr id="26" name="Text 24"/>
          <p:cNvSpPr txBox="1"/>
          <p:nvPr/>
        </p:nvSpPr>
        <p:spPr>
          <a:xfrm>
            <a:off x="832104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</a:t>
            </a:r>
            <a:endParaRPr lang="en-US" sz="2300" dirty="0"/>
          </a:p>
        </p:txBody>
      </p:sp>
      <p:sp>
        <p:nvSpPr>
          <p:cNvPr id="27" name="Text 25"/>
          <p:cNvSpPr txBox="1"/>
          <p:nvPr/>
        </p:nvSpPr>
        <p:spPr>
          <a:xfrm>
            <a:off x="914400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m5</a:t>
            </a:r>
            <a:endParaRPr lang="en-US" sz="2300" dirty="0"/>
          </a:p>
        </p:txBody>
      </p:sp>
      <p:sp>
        <p:nvSpPr>
          <p:cNvPr id="28" name="Text 26"/>
          <p:cNvSpPr txBox="1"/>
          <p:nvPr/>
        </p:nvSpPr>
        <p:spPr>
          <a:xfrm>
            <a:off x="996696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m7</a:t>
            </a:r>
            <a:endParaRPr lang="en-US" sz="2300" dirty="0"/>
          </a:p>
        </p:txBody>
      </p:sp>
      <p:sp>
        <p:nvSpPr>
          <p:cNvPr id="29" name="Text 27"/>
          <p:cNvSpPr txBox="1"/>
          <p:nvPr/>
        </p:nvSpPr>
        <p:spPr>
          <a:xfrm>
            <a:off x="10789920" y="3703320"/>
            <a:ext cx="822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m6</a:t>
            </a:r>
            <a:endParaRPr lang="en-US" sz="2300" dirty="0"/>
          </a:p>
        </p:txBody>
      </p:sp>
      <p:sp>
        <p:nvSpPr>
          <p:cNvPr id="30" name="Text 28"/>
          <p:cNvSpPr txBox="1"/>
          <p:nvPr/>
        </p:nvSpPr>
        <p:spPr>
          <a:xfrm>
            <a:off x="7498080" y="4800600"/>
            <a:ext cx="38706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cella di ogni mintermine per tre variabili. Si noti che m3 viene prima di m2. Anche i bordi sinistro e destro sono adiacenti: la mappa si richiude.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minimizzazione, Karnaugh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tre variabili: la nostra 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2039112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C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697480"/>
            <a:ext cx="38404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74320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754880" y="2368296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97480"/>
            <a:ext cx="384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703320"/>
            <a:ext cx="38404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3" name="Text 11"/>
          <p:cNvSpPr txBox="1"/>
          <p:nvPr/>
        </p:nvSpPr>
        <p:spPr>
          <a:xfrm>
            <a:off x="274320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4" name="Text 12"/>
          <p:cNvSpPr txBox="1"/>
          <p:nvPr/>
        </p:nvSpPr>
        <p:spPr>
          <a:xfrm>
            <a:off x="3749040" y="269748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2697480"/>
            <a:ext cx="1005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9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7" name="Text 15"/>
          <p:cNvSpPr txBox="1"/>
          <p:nvPr/>
        </p:nvSpPr>
        <p:spPr>
          <a:xfrm>
            <a:off x="274320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8" name="Text 16"/>
          <p:cNvSpPr txBox="1"/>
          <p:nvPr/>
        </p:nvSpPr>
        <p:spPr>
          <a:xfrm>
            <a:off x="374904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3703320"/>
            <a:ext cx="1005840" cy="1005840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900" dirty="0"/>
          </a:p>
        </p:txBody>
      </p:sp>
      <p:sp>
        <p:nvSpPr>
          <p:cNvPr id="20" name="Shape 18"/>
          <p:cNvSpPr/>
          <p:nvPr/>
        </p:nvSpPr>
        <p:spPr>
          <a:xfrm>
            <a:off x="1792224" y="3758184"/>
            <a:ext cx="3913632" cy="896112"/>
          </a:xfrm>
          <a:prstGeom prst="roundRect">
            <a:avLst>
              <a:gd name="adj" fmla="val 14286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9624" y="2798064"/>
            <a:ext cx="804672" cy="1810512"/>
          </a:xfrm>
          <a:prstGeom prst="roundRect">
            <a:avLst>
              <a:gd name="adj" fmla="val 15909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5303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A + BC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40080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784848" y="1417320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scrive un 1 nelle celle dei mintermini 3, 4, 5, 6 e 7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6400800" y="23145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784848" y="2215896"/>
            <a:ext cx="4858207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 di quattro: l'intera riga A = 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e C cambiano entrambe: la clausola è A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6400800" y="37075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784848" y="3608832"/>
            <a:ext cx="485820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viola di due: la colonna BC = 11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A cambia: la clausola è BC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6400800" y="48215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784848" y="4722876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1 è coperto e nessun gruppo si può allargare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640080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784848" y="5521452"/>
            <a:ext cx="4858207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risultato dell'algebra, trovato a occhio in pochi secondi</a:t>
            </a:r>
            <a:endParaRPr lang="en-US" sz="2100" dirty="0"/>
          </a:p>
        </p:txBody>
      </p:sp>
      <p:sp>
        <p:nvSpPr>
          <p:cNvPr id="33" name="Shape 31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minimizzazione, Karnaugh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mappa di quattro variabili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120640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737360" y="1536192"/>
            <a:ext cx="3364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D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2194560"/>
            <a:ext cx="384048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737360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78608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419856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61104" y="1865376"/>
            <a:ext cx="841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94560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035808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877056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718304"/>
            <a:ext cx="38404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737360" y="2194560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578608" y="2194560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419856" y="2194560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4261104" y="2194560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737360" y="3035808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2578608" y="3035808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19856" y="3035808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4261104" y="3035808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1737360" y="387705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2578608" y="3877056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3419856" y="3877056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4261104" y="3877056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1737360" y="4718304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2578608" y="4718304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3419856" y="4718304"/>
            <a:ext cx="84124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4261104" y="4718304"/>
            <a:ext cx="841248" cy="841248"/>
          </a:xfrm>
          <a:prstGeom prst="rect">
            <a:avLst/>
          </a:prstGeom>
          <a:solidFill>
            <a:srgbClr val="D8ECEE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2633472" y="3090672"/>
            <a:ext cx="1572768" cy="1572768"/>
          </a:xfrm>
          <a:prstGeom prst="roundRect">
            <a:avLst>
              <a:gd name="adj" fmla="val 8140"/>
            </a:avLst>
          </a:prstGeom>
          <a:solidFill>
            <a:srgbClr val="FFFFFF">
              <a:alpha val="0"/>
            </a:srgbClr>
          </a:solidFill>
          <a:ln w="34925">
            <a:solidFill>
              <a:srgbClr val="B23A4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792224" y="2249424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315968" y="2249424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792224" y="4773168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315968" y="4773168"/>
            <a:ext cx="731520" cy="731520"/>
          </a:xfrm>
          <a:prstGeom prst="roundRect">
            <a:avLst>
              <a:gd name="adj" fmla="val 17500"/>
            </a:avLst>
          </a:prstGeom>
          <a:solidFill>
            <a:srgbClr val="FFFFFF">
              <a:alpha val="0"/>
            </a:srgbClr>
          </a:solidFill>
          <a:ln w="34925">
            <a:solidFill>
              <a:srgbClr val="6B4FA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48640" y="565099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 = BD + B'D'</a:t>
            </a:r>
            <a:endParaRPr lang="en-US" sz="2400" dirty="0"/>
          </a:p>
        </p:txBody>
      </p:sp>
      <p:sp>
        <p:nvSpPr>
          <p:cNvPr id="36" name="Shape 34"/>
          <p:cNvSpPr/>
          <p:nvPr/>
        </p:nvSpPr>
        <p:spPr>
          <a:xfrm>
            <a:off x="60350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419088" y="1417320"/>
            <a:ext cx="5223967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= somma di m(0, 2, 5, 7, 8, 10, 13, 15): otto mintermini, trentadue letterali</a:t>
            </a:r>
            <a:endParaRPr lang="en-US" sz="2200" dirty="0"/>
          </a:p>
        </p:txBody>
      </p:sp>
      <p:sp>
        <p:nvSpPr>
          <p:cNvPr id="38" name="Shape 36"/>
          <p:cNvSpPr/>
          <p:nvPr/>
        </p:nvSpPr>
        <p:spPr>
          <a:xfrm>
            <a:off x="6035040" y="270730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19088" y="2600875"/>
            <a:ext cx="5223967" cy="966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Gruppo rosso di quattro al centro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 = 1 e D = 1 in tutto il gruppo: la clausola è BD</a:t>
            </a:r>
            <a:endParaRPr lang="en-US" sz="2200" dirty="0"/>
          </a:p>
        </p:txBody>
      </p:sp>
      <p:sp>
        <p:nvSpPr>
          <p:cNvPr id="40" name="Shape 38"/>
          <p:cNvSpPr/>
          <p:nvPr/>
        </p:nvSpPr>
        <p:spPr>
          <a:xfrm>
            <a:off x="6035040" y="383446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19088" y="3728043"/>
            <a:ext cx="5223967" cy="16014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Viola: i quattro angoli sono un solo gruppo</a:t>
            </a:r>
            <a:endParaRPr lang="en-US" sz="22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mappa si richiude in orizzontale e in verticale: B = 0 e D = 0, la clausola è B'D'</a:t>
            </a:r>
            <a:endParaRPr lang="en-US" sz="2200" dirty="0"/>
          </a:p>
        </p:txBody>
      </p:sp>
      <p:sp>
        <p:nvSpPr>
          <p:cNvPr id="42" name="Shape 40"/>
          <p:cNvSpPr/>
          <p:nvPr/>
        </p:nvSpPr>
        <p:spPr>
          <a:xfrm>
            <a:off x="60350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419088" y="5490464"/>
            <a:ext cx="52239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Risultato: quattro letterali, e forse la riconoscete: F è lo XNOR di B e D</a:t>
            </a:r>
            <a:endParaRPr lang="en-US" sz="2200" dirty="0"/>
          </a:p>
        </p:txBody>
      </p:sp>
      <p:sp>
        <p:nvSpPr>
          <p:cNvPr id="44" name="Shape 42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47" name="Text 44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minimizzazione, Karnaugh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Condizioni di indifferenza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volte una combinazione di ingressi non può mai presentarsi, oppure quando si presenta l'uscita non importa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374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38794"/>
            <a:ext cx="6565392" cy="1245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Esempio: una cifra in decimale codificato in binario usa le configurazioni da 0000 a 1001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le sei configurazioni da 1010 a 1111 non compaiono mai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402793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929253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Quelle celle si segnano nella mappa con una x: indifferenza (don't care)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82403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253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x si può trattare come 1 quando allarga un gruppo, e come 0 altrimenti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libertà significa gruppi più grandi e un circuito più economico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il cui valore siamo liberi di scegliere, 0 o 1, a seconda di ciò che semplifica il circuito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minimizzazione, Karnaugh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Trentadue sommatori completi fanno una add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96926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0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1041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106070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6" name="Text 4"/>
          <p:cNvSpPr txBox="1"/>
          <p:nvPr/>
        </p:nvSpPr>
        <p:spPr>
          <a:xfrm>
            <a:off x="97840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A0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2870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B0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03555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99898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S0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2753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87782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79552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84582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B1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267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81610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S1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0E7C86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2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465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9494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61264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B2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6979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63322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S2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2331720"/>
            <a:ext cx="1325880" cy="1143000"/>
          </a:xfrm>
          <a:prstGeom prst="roundRect">
            <a:avLst>
              <a:gd name="adj" fmla="val 6400"/>
            </a:avLst>
          </a:prstGeom>
          <a:solidFill>
            <a:srgbClr val="2E4A62"/>
          </a:solidFill>
          <a:ln>
            <a:solidFill>
              <a:srgbClr val="FFFFFF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sommatore completo</a:t>
            </a:r>
            <a:endParaRPr lang="en-US" sz="14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31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78892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291840" y="1737360"/>
            <a:ext cx="0" cy="56692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27" name="Text 25"/>
          <p:cNvSpPr txBox="1"/>
          <p:nvPr/>
        </p:nvSpPr>
        <p:spPr>
          <a:xfrm>
            <a:off x="246888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2971800" y="14356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B31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040380" y="3502152"/>
            <a:ext cx="0" cy="521208"/>
          </a:xfrm>
          <a:prstGeom prst="line">
            <a:avLst/>
          </a:prstGeom>
          <a:noFill/>
          <a:ln w="22225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2674620" y="404164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S31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 flipH="1">
            <a:off x="11045952" y="2903220"/>
            <a:ext cx="5212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11430000" y="24917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 flipH="1">
            <a:off x="9217152" y="2903220"/>
            <a:ext cx="448056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 flipH="1">
            <a:off x="7388352" y="2903220"/>
            <a:ext cx="448056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 flipH="1">
            <a:off x="5257800" y="2903220"/>
            <a:ext cx="7498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4343400" y="2674620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. .</a:t>
            </a:r>
            <a:endParaRPr lang="en-US" sz="2200" dirty="0"/>
          </a:p>
        </p:txBody>
      </p:sp>
      <p:sp>
        <p:nvSpPr>
          <p:cNvPr id="37" name="Shape 35"/>
          <p:cNvSpPr/>
          <p:nvPr/>
        </p:nvSpPr>
        <p:spPr>
          <a:xfrm flipH="1">
            <a:off x="3730752" y="2903220"/>
            <a:ext cx="56692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 flipH="1">
            <a:off x="1600200" y="2903220"/>
            <a:ext cx="749808" cy="0"/>
          </a:xfrm>
          <a:prstGeom prst="line">
            <a:avLst/>
          </a:prstGeom>
          <a:noFill/>
          <a:ln w="28575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685800" y="2583180"/>
            <a:ext cx="868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uscente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3794760" y="31775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si propaga verso sinistra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548640" y="4639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932688" y="457200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t2, t0, t1 porta i due registri a trentadue sommatori completi, uno per posizione di bit</a:t>
            </a:r>
            <a:endParaRPr lang="en-US" sz="1700" dirty="0"/>
          </a:p>
        </p:txBody>
      </p:sp>
      <p:sp>
        <p:nvSpPr>
          <p:cNvPr id="43" name="Shape 41"/>
          <p:cNvSpPr/>
          <p:nvPr/>
        </p:nvSpPr>
        <p:spPr>
          <a:xfrm>
            <a:off x="548640" y="504469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32688" y="497700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riporto uscente di ogni posizione è il riporto entrante della successiva: un sommatore a propagazione del riporto</a:t>
            </a:r>
            <a:endParaRPr lang="en-US" sz="1700" dirty="0"/>
          </a:p>
        </p:txBody>
      </p:sp>
      <p:sp>
        <p:nvSpPr>
          <p:cNvPr id="45" name="Shape 43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 usa lo stesso addizionatore: il secondo operando è complementato e il primo riporto entrante è 1 (Lezione 05)</a:t>
            </a:r>
            <a:endParaRPr lang="en-US" sz="1700" dirty="0"/>
          </a:p>
        </p:txBody>
      </p:sp>
      <p:sp>
        <p:nvSpPr>
          <p:cNvPr id="47" name="Shape 45"/>
          <p:cNvSpPr/>
          <p:nvPr/>
        </p:nvSpPr>
        <p:spPr>
          <a:xfrm>
            <a:off x="8445576" y="91440"/>
            <a:ext cx="319747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44557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3592" y="128016"/>
            <a:ext cx="201168" cy="201168"/>
          </a:xfrm>
          <a:prstGeom prst="rect">
            <a:avLst/>
          </a:prstGeom>
        </p:spPr>
      </p:pic>
      <p:sp>
        <p:nvSpPr>
          <p:cNvPr id="50" name="Text 47"/>
          <p:cNvSpPr txBox="1"/>
          <p:nvPr/>
        </p:nvSpPr>
        <p:spPr>
          <a:xfrm>
            <a:off x="8829624" y="91440"/>
            <a:ext cx="2776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sommatore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Quante funzioni booleane distinte di tre variabili esistono?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mintermine di tre variabili A, B, C corrisponde alla riga 5 della tabella di verità?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A'BC'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AB'C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+ B' + C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ABC'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mappa di Karnaugh, un gruppo rettangolare di quattro 1 adiacenti elimina: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variabile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variabili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variabili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quattro variabili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 sommatore completo, il riporto uscente vale 1 quando: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esattamente un ingresso vale 1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numero dispari di ingressi vale 1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almeno due ingressi valgono 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quando tutti e tre gli ingressi valgono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80097"/>
                <a:gridCol w="2924109"/>
                <a:gridCol w="2494093"/>
                <a:gridCol w="30961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letterale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canonical form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 canonica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clause, product 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clausola, termine prodotto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products (SOP)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 di prodotti (tipo P)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factor, sum 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fattore, termine somma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 of sums (POS)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prodotto di somme (tipo 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 / maxterm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mintermine / maxtermine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Karnaugh map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mappa di Karnaugh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 adder / full adder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semisommatore / sommatore completo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don't care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condizione di indifferenza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carry in / carry out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riporto entrante / uscente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ripple-carry adder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sommatore a propagazione del riporto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funzione booleana è una tabella di verità; una tabella di verità dà sempre un'espressione canonica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27924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8312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minimizzazione è il processo che ottimizza una rete logica per semplificarne la realizzazione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05023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59303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mappe di Karnaugh trasformano l'algebra in una figura: si raggruppano gli 1, si leggono le clausole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382122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30295"/>
            <a:ext cx="10710367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semisommatore e il sommatore completo sono i primi veri circuiti del corso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42823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191406"/>
            <a:ext cx="1071036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Trentadue sommatori completi in fila sono ciò che esegue la add battuta nella prima lezione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50533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4962398"/>
            <a:ext cx="10710367" cy="1209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appendice 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Bucci: Architettura dei calcolatori elettronici, i capitoli sulle reti combinatorie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Charles Petzold: Code, i capitoli sulle porte logiche e sulle macchine addizionatrici binarie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Elementi di algebra di Boole</dc:title>
  <dc:subject>Lezione 09</dc:subject>
  <dc:creator>Raffaele Montella</dc:creator>
  <cp:lastModifiedBy>Raffaele Montella</cp:lastModifiedBy>
  <cp:revision>1</cp:revision>
  <dcterms:created xsi:type="dcterms:W3CDTF">2026-10-16T15:51:39Z</dcterms:created>
  <dcterms:modified xsi:type="dcterms:W3CDTF">2026-10-16T15:51:39Z</dcterms:modified>
</cp:coreProperties>
</file>