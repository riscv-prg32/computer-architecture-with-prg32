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de843288-ae4a-538f-6569-c6647e19573c}">
          <p14:sldIdLst>
            <p14:sldId id="256"/>
            <p14:sldId id="257"/>
          </p14:sldIdLst>
        </p14:section>
        <p14:section name="Che cos'è una memoria?" id="{be8d9299-3f10-b7e8-b1ba-a457abf0b704}">
          <p14:sldIdLst>
            <p14:sldId id="258"/>
            <p14:sldId id="259"/>
          </p14:sldIdLst>
        </p14:section>
        <p14:section name="Un po' di storia" id="{d55b56bc-10ef-46f3-f234-dc1b6a92c97b}">
          <p14:sldIdLst>
            <p14:sldId id="260"/>
            <p14:sldId id="261"/>
          </p14:sldIdLst>
        </p14:section>
        <p14:section name="La memoria oggi" id="{938267c3-47d7-ef4b-b4ed-28b21e900e8c}">
          <p14:sldIdLst>
            <p14:sldId id="262"/>
            <p14:sldId id="263"/>
          </p14:sldIdLst>
        </p14:section>
        <p14:section name="La memoria centrale" id="{be186b5b-8f75-a935-d8ec-15620074f276}">
          <p14:sldIdLst>
            <p14:sldId id="264"/>
            <p14:sldId id="265"/>
            <p14:sldId id="266"/>
            <p14:sldId id="267"/>
          </p14:sldIdLst>
        </p14:section>
        <p14:section name="Processore e memoria" id="{c271a077-047b-e193-c1e1-b0c5ac665ce0}">
          <p14:sldIdLst>
            <p14:sldId id="268"/>
            <p14:sldId id="269"/>
          </p14:sldIdLst>
        </p14:section>
        <p14:section name="Memoria e ingresso/uscita" id="{8f68c793-ad29-f584-c2e2-696e4bbd3a86}">
          <p14:sldIdLst>
            <p14:sldId id="270"/>
            <p14:sldId id="271"/>
            <p14:sldId id="272"/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Usate la memoria dalla seconda lezione: ogni lw e ogni sw la legge o la scrive. Questa lezione spiega che cos'è una memoria, come è organizzata, e che cosa accade davvero tra il processore e la memoria quando si esegue un load. L'immagine in copertina è il debugger di PRG32-QT, la cui vista della memoria vi farà da microscopio. La citazione da Tron è una battuta con un lato serio: una macchina con memoria può conservare uno stato, e con uno stato può fare quasi tutto.
Per il docente: Spirale: lw e lbu sulla stessa parola mostrano indirizzi di byte e ordine dei byte su una vera macchina RISC-V; la lezione spiega poi che cos'è una memoria, come è organizzata e come il processore le parla. La presentazione originale usava come esempio l'MC68000 (big-endian, niente parole disallineate): RISC-V ne prende il posto.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 obiettivi. Classificare le memorie come volatili o persistenti, in linea o fuori linea, e collocarle in una gerarchia. Descrivere come SRAM e DRAM memorizzano un bit e perché hanno usi diversi. Spiegare parole, indirizzi e memoria indirizzabile al byte. Distinguere l'ordine little-endian da quello big-endian. Descrivere passo per passo come il processore legge e scrive una parola. E spiegare che cosa sono l'ingresso/uscita mappato in memoria e il DMA.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memoria è la parte di un calcolatore dedicata a conservare i dati e le istruzioni dei programmi. La classificano due distinzioni. Le memorie volatili conservano l'informazione solo finché la macchina è alimentata; quelle persistenti la conservano a macchina spenta. In linea significa che i dati sono sempre accessibili; fuori linea significa che prima va montato un supporto, come un nastro preso da uno scaffale.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gerarchia di memoria. In cima i registri, dentro il processore; poi la cache, la memoria centrale, i dischi a stato solido e magnetici, e infine nastri e supporti rimovibili. Salendo, le memorie sono più veloci e più costose per bit; scendendo, più grandi e più economiche. I livelli alti sono volatili, quelli bassi persistenti. L'ultima riga spiega perché la gerarchia esiste: nessuna tecnologia è insieme veloce, grande ed economica, quindi un calcolatore ne combina diverse.
Per il docente: Tipologie di memoria. Tempi di accesso tipici: registri e cache da meno di un nanosecondo a pochi nanosecondi; DRAM decine di nanosecondi; SSD decine di microsecondi; dischi magnetici millisecondi; nastro da secondi a minuti.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una memoria a nuclei magnetici ogni bit è un anellino di ferrite, e il suo valore è il verso del campo magnetico nell'anello. È stata la memoria centrale dei calcolatori degli anni Cinquanta e Sessanta, e conservava il contenuto senza alimentazione. Le ricerche cominciarono con An Wang a Harvard nel 1949; Jay Forrester al MIT la rese pratica per il calcolatore Whirlwind. Guardate la fotografia: ogni anello è attraversato da fili, e un anello è un bit.
Per il docente: In inglese: magnetic-core memory. Il pulse transfer controlling device di Wang usava un campo magnetico per controllare un sistema elettromeccanico.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 si legge e si scrive un nucleo. Due fili, X e Y, selezionano un anello. La lettura pone a 0 il bit selezionato: se conteneva un 1 compare un impulso sul filo di lettura, altrimenti nulla. Quindi la lettura distrugge il contenuto, e ogni lettura è seguita da una scrittura che memorizza di nuovo il dato. La scrittura pone a 1 il nucleo selezionato, a meno che un filo di inibizione non lo impedisca. Tenete l'idea della lettura distruttiva seguita da riscrittura: ritorna nella DRAM di oggi.
Per il docente: Lettura e inibizione condividono un filo (S|I). La lettura distruttiva seguita da riscrittura ritorna oggi nella DRAM.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due tipi di RAM. Nella RAM statica ogni bit è tenuto da un circuito bistabile come quelli della Lezione 13: conserva il valore finché c'è alimentazione, è veloce, e richiede diversi transistor per bit, quindi è costosa: si usa per le cache. Nella RAM dinamica ogni bit è una carica in un minuscolo condensatore dietro un transistor: è densa ed economica, ma la carica si disperde, quindi il contenuto va rinfrescato periodicamente: è la memoria centrale di portatili e telefoni. Il chip del kit ha solo SRAM.
Per il docente: DDR4 e DDR5 sono generazioni di SDRAM. L'ESP32-C6 ha 512 KB di SRAM e nessuna DRAM.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Altre tecnologie. La RAM ferroelettrica conserva lo stato senza alimentazione. La memoria flash è persistente e si cancella a blocchi: è la memoria di chiavette USB, telefoni e dischi a stato solido. Una riga riguarda direttamente il vostro kit: in un microcontrollore il programma vive nella flash e le variabili nella SRAM. Per questo le vostre cartucce hanno una sezione di costanti e una di variabili. I moduli di memoria di un PC sono passati, negli anni, da pochi megabyte a decine di gigabyte ciascuno.
Per il docente: Le fotografie dei moduli della presentazione originale (SIMM EDO, SDRAM PC100 32 MB, PC133 64 MB, Rambus PC800 128 MB, DDR PC2100, ECC registered 256 MB) sono riassunte qui. Flash e dischi a stato solido si trattano nella prossima lezione.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memoria centrale è un vettore di parole, ciascuna una stringa di m bit che il processore legge o scrive con una sola operazione. Ogni parola ha un indirizzo, un numero da 0 a N meno 1 scritto su n bit, con N uguale a 2 alla n. L'indirizzo è una parola codice, e la memoria la decodifica. Accesso casuale significa che il tempo di accesso non dipende dalla posizione: ogni parola si raggiunge con la stessa rapidità. Trentadue bit di indirizzo danno quattro gibibyte di indirizzi.
Per il docente: Trentadue bit di indirizzo danno 2^32 indirizzi: 4 GiB. Il decodificatore della Lezione 11 e la piccola memoria della Lezione 14, su scala maggiore.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una memoria indirizzabile al byte la più piccola unità dotata di indirizzo è il byte. Una parola di 32 bit occupa quindi quattro indirizzi consecutivi, e il suo indirizzo è quello del suo primo byte. La striscia mostra la parola del riscaldamento seguita da tre caratteri. Due conseguenze che avete già incontrato: il program counter avanza di 4 da un'istruzione alla successiva, e l'indice di un vettore di parole si moltiplica per 4. RISC-V ha load e store per ogni dimensione: byte, halfword e parole.
Per il docente: Ogni cella è un byte di otto bit, dal più significativo (bit 7) al meno significativo (bit 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due ordini dei byte di una parola. Little-endian: il byte meno significativo all'indirizzo più basso. Big-endian: prima il byte più significativo. La stessa parola, 0x10A3E6FF, è mostrata memorizzata nei due modi. RISC-V è little-endian, come quasi tutti i processori oggi in uso; i protocolli di rete, per ragioni storiche, inviano i dati big-endian. La differenza si nota guardando la memoria byte per byte, o quando due macchine diverse si scambiano dati binari.
Per il docente: La presentazione originale contrapponeva l'MC68000 (big-endian) all'Intel x86 (little-endian); i valori dell'esempio sono gli stessi. Detti anche diretto (little) e inverso (big).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parametri descrivono una memoria: la capacità, cioè il numero di locazioni e i bit di ciascuna, e il tempo di accesso. I numeri del kit vanno ricordati: 512 KB di SRAM, 320 KB di ROM, e una flash esterna di alcuni megabyte. Di questi, il menu di PRG32 vi dice quanto resta ai vostri programmi: circa 98 KB di RAM e 509 KB di flash per le cartucce. È otto volte un Commodore 64, e una minuscola frazione di un portatile.
Per il docente: Valori dal datasheet dell'ESP32-C6 e dalla schermata Setup di PRG32 (RAM 98K, CART FLASH 509K, CART RAM 32K). Un Commodore 64 aveva 64 KB in tutto.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L'interfaccia. Dentro il processore due registri sono rivolti alla memoria: MA, il registro degli indirizzi di memoria, e MB, il registro dei dati di memoria. Li collegano alla memoria tre gruppi di linee: il bus indirizzi, che va in un solo verso, dal processore alla memoria; il bus dati, che va nei due versi; e le linee di controllo, abilitazione alla lettura e alla scrittura, che dicono che cosa si chiede. MA e MB appartengono al modello del processore: non sono tra i registri che usate in assembly.
Per il docente: MA e MB sono registri interni del modello di processore del libro (Lezione 18): non sono tra i trentadue registri che vede un programmatore RISC-V.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 fanno processore e memoria a mettersi d'accordo su quando il dato è pronto? Nella tecnica asincrona la memoria segnala con una linea quando ha finito, e il processore aspetta: più complessa, ma i due si possono progettare in modo indipendente. Nella tecnica sincrona un clock scandisce l'operazione, che si completa entro un ciclo la cui durata è scelta in base alla velocità della memoria: più semplice, ed è la regola dentro un singolo chip.
Per il docente: L'operazione di lettura/scrittura si può codificare in modi diversi, per esempio una sola linea R/W qualificata da un'abilitazione.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modi di collegare ingresso e uscita. Con un bus unico, l'I/O mappato in memoria, memoria e dispositivi condividono lo stesso spazio di indirizzi: un registro di un dispositivo si legge e si scrive come una locazione di memoria, senza istruzioni speciali. Con bus separati, l'I/O isolato, ci sono due spazi di indirizzi e istruzioni dedicate. RISC-V segue la prima via: non ha alcuna istruzione di ingresso o di uscita, solo load e store.
Per il docente: Il sottosistema di I/O permette al processore di interagire con dispositivi di ingresso (tastiera, mouse), di uscita (schermo, stampante) e di ingresso/uscita (memorie di massa, schede di rete, porte seriali).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bus è in realtà tre bus: dati, indirizzi e controllo. Un altro meccanismo completa il quadro. Con l'accesso diretto alla memoria, DMA, un dispositivo scambia interi blocchi di dati direttamente con la memoria: il processore avvia il trasferimento e viene avvisato quando è finito, senza copiare da sé ogni parola. Il display del kit riceve così ogni frame, e così l'amplificatore audio.
Per il docente: Se più unità condividono il bus e possono accedere direttamente alla memoria, arbitra un controllore DMA. Sull'ESP32-C6 le periferiche SPI e I2S usano il DMA per trasmettere il frame buffer e i campioni audio.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Sedici linee di indirizzo selezionano 2 alla 16 locazioni, e ogni locazione è un byte. Ricordate che 2 alla 10 fa 1024, un kibibyte.
Little-endian: quale byte di 0xCAFE0001 è il meno significativo? Quel byte sta all'indirizzo più basso, e lbu con scostamento 0 lo legge.
Per il docente: 1. Risposta: C. 2^16 = 65.536 locazioni di un byte: 64 KiB, lo spazio di indirizzi di un Commodore 64.
2. Risposta: D. Little-endian: il byte meno significativo, 0x01, sta all'indirizzo più basso.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Ricordate come la DRAM memorizza un bit: una carica in un minuscolo condensatore. Che cosa accade a una carica lasciata a se stessa? Il rinfresco non ha nulla a che vedere con la velocità o con l'accesso casuale.
RISC-V non ha un'istruzione out né un trentatreesimo registro. I dispositivi hanno indirizzi, e un programma li raggiunge con le istruzioni che usa per la memoria.
Per il docente: 1. Risposta: A. Ogni bit è una carica in un condensatore che si disperde; un circuito interno alla memoria riscrive periodicamente ogni cella.
2. Risposta: B. RISC-V non ha istruzioni di I/O: i dispositivi sono mappati in memoria e si raggiungono con normali load e store.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Dieci termini. Main memory è la memoria centrale. Access time è il tempo di accesso. Un magnetic core è un nucleo di ferrite. Refresh, rinfresco, è la riscrittura periodica di una DRAM. Memory-mapped I/O è l'ingresso/uscita raggiunto attraverso indirizzi di memoria. Address bus e data bus, bus indirizzi e bus dati, sono i due gruppi principali di linee dell'interfaccia.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conclusioni. La memoria è il componente che conserva lo stato dei dati. Tipi diversi servono a scopi diversi, perché nessuno è insieme veloce, grande ed economico. I dati si memorizzano come parole con indirizzi; RISC-V indirizza i byte e li ordina little-endian. L'accesso avviene per selezione sul bus indirizzi, trasferimento sul bus dati e linee di controllo. E in RISC-V i dispositivi si raggiungono come la memoria. La prossima lezione tratta la memoria che sopravvive quando manca l'alimentazione, e la cache.
Per il docente: Prossima lezione: la memoria permanente e la cache.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15: Memoria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15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memoria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 nuclei magnetici alla RAM: parole, indirizzi, ordine dei byte e il dialogo tra processore e memoria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“...i computer e i programmi cominceranno a pensare e le persone smetteranno.”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Walter Gibbs, Tron, Steven Lisberger, 1982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prg32qt_debug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0277" y="4251960"/>
            <a:ext cx="2648036" cy="1828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saprete fare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Classificare le memorie: volatili o persistenti, in linea o fuori linea, e collocarle nella gerarchia di memoria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931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377643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Descrivere come SRAM e DRAM memorizzano un bit, e perché si usano per compiti diversi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35625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33796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Spiegare che cosa sono parole, indirizzi e memoria indirizzabile al byte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07375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05546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Distinguere l'ordine little-endian da quello big-endian, e dire quale usa RISC-V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034077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015789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Descrivere passo per passo come il processore legge e scrive una parola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75157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73328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Spiegare l'ingresso/uscita mappato in memoria e a che cosa serve il DMA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Memoria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1596136"/>
          </a:xfrm>
          <a:prstGeom prst="roundRect">
            <a:avLst>
              <a:gd name="adj" fmla="val 4583"/>
            </a:avLst>
          </a:prstGeom>
          <a:solidFill>
            <a:srgbClr val="F6E7D2"/>
          </a:solidFill>
          <a:ln w="12700">
            <a:solidFill>
              <a:srgbClr val="F6E7D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60020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Definizione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057400"/>
            <a:ext cx="1036289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i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memoria è l'elemento di un calcolatore, o di un suo sottosistema, dedicato alla persistenza dei dati e delle istruzioni dei programmi.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48640" y="343992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2688" y="3333496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memorie sono i componenti di un calcolatore capaci di conservare informazione: dati, programmi e risultati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48640" y="438615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32688" y="4279731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Volatile: l'informazione si conserva solo finché il calcolatore è alimentato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99152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32688" y="4885097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Persistente: l'informazione si conserva anche a calcolatore spento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32688" y="5490464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linea: i dati sono sempre accessibili. Fuori linea: il supporto va montato prima di poter raggiungere i dati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gerarchia di memoria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2560320" y="1463040"/>
            <a:ext cx="2011680" cy="786384"/>
          </a:xfrm>
          <a:prstGeom prst="roundRect">
            <a:avLst>
              <a:gd name="adj" fmla="val 6977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 il processore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2080260" y="2359152"/>
            <a:ext cx="2971800" cy="786384"/>
          </a:xfrm>
          <a:prstGeom prst="roundRect">
            <a:avLst>
              <a:gd name="adj" fmla="val 6977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SRAM, sul chip del processore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3255264"/>
            <a:ext cx="3931920" cy="786384"/>
          </a:xfrm>
          <a:prstGeom prst="roundRect">
            <a:avLst>
              <a:gd name="adj" fmla="val 6977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 centrale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DRAM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20140" y="4151376"/>
            <a:ext cx="4892040" cy="786384"/>
          </a:xfrm>
          <a:prstGeom prst="roundRect">
            <a:avLst>
              <a:gd name="adj" fmla="val 697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dischi a stato solido e magnetici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persistenti, in linea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047488"/>
            <a:ext cx="5852160" cy="786384"/>
          </a:xfrm>
          <a:prstGeom prst="roundRect">
            <a:avLst>
              <a:gd name="adj" fmla="val 697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nastri e supporti rimovibili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persistenti, fuori linea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 flipV="1">
            <a:off x="6675120" y="1554480"/>
            <a:ext cx="0" cy="420624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6812280" y="150876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veloce,</a:t>
            </a:r>
            <a:endParaRPr lang="en-US" sz="1250" dirty="0"/>
          </a:p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costosa</a:t>
            </a:r>
            <a:endParaRPr lang="en-US" sz="1250" dirty="0"/>
          </a:p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bit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812280" y="502920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grande,</a:t>
            </a:r>
            <a:endParaRPr lang="en-US" sz="1250" dirty="0"/>
          </a:p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 costosa</a:t>
            </a:r>
            <a:endParaRPr lang="en-US" sz="1250" dirty="0"/>
          </a:p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bit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41248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796528" y="1417320"/>
            <a:ext cx="2846527" cy="1177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parità di dimensione, il costo decresce dall'alto verso il basso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8412480" y="288920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796528" y="2806023"/>
            <a:ext cx="284652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prestazioni crescono dal basso verso l'alto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8412480" y="368913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796528" y="3605953"/>
            <a:ext cx="2846527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livelli alti sono volatili; quelli bassi sono persistenti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8412480" y="478345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796528" y="4700270"/>
            <a:ext cx="2846527" cy="1471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Nessuna tecnologia è insieme veloce, grande ed economica: un calcolatore ne combina diverse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memoria a nuclei magnetici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Piccoli anelli magnetici di ceramica conservano l'informazione digitale: un bit è il verso del campo magnetico di un anello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79768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691257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memoria statica: conserva il contenuto senza alimentazione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7307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624326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Usata nei primi calcolatori, prima che si diffondessero le memorie a semiconduttore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66382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557395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 ricerche di An Wang e Way-Dong Woo a Harvard, 1949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Jay Forrester al MIT, primi anni Cinquanta: il calcolatore Whirlwind, un simulatore di volo</a:t>
            </a:r>
            <a:endParaRPr lang="en-US" sz="2200" dirty="0"/>
          </a:p>
        </p:txBody>
      </p:sp>
      <p:pic>
        <p:nvPicPr>
          <p:cNvPr id="13" name="Image 0" descr="/Users/raffaelemontella/devel/riscv-prg32/computer-architecture-with-prg32/tools/assets/core_memor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148954"/>
            <a:ext cx="3779215" cy="2834411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Nuclei di ferrite attraversati dai fili X, Y e di lettura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Leggere e scrivere un nucleo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lettura è distruttiva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linee di indirizzo, X e Y, selezionano un nucleo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bit selezionato viene posto a 0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conteneva 1, sulla linea di lettura compare un impulso; altrimenti nulla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soluzione di Wang: ogni lettura è seguita da una scrittura che memorizza di nuovo il dato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278728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scrittura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Tutti i bit partono da 0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e Y selezionano il nucleo, che viene posto a 1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il bit deve valere 0, la linea di inibizione impedisce il cambiamento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contributo di Forrester: meno collegamenti per gestire un gran numero di nuclei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SRAM e DRAM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SRAM: RAM statica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bit è tenuto da un circuito bistabile, come in un flip-flop D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celle sono disposte in una matrice e raggiunte per riga e colonna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 il contenuto finché è alimentata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Veloce e costosa: usata per le memorie cache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memoria centrale di un microcontrollore come l'ESP32-C6 è SRAM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278728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DRAM: RAM dinamica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bit è una carica in un minuscolo condensatore, dietro un transistor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condensatore si scarica: il contenuto va rinfrescato periodicamente, da un circuito interno alla memoria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Economica e densa: usata per la memoria centrale di portatili, telefoni e server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SDRAM: DRAM sincrona, il cui accesso è governato da un clock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Altre memorie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3924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FeRAM, RAM ferroelettrica: conserva lo stato senza alimentazione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252653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04618"/>
            <a:ext cx="656539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Flash: persistente, cancellata a blocchi; la memoria di chiavette USB, telefoni e dischi a stato solido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388569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763772"/>
            <a:ext cx="656539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di un microcontrollore vive nella flash e le sue variabili nella SRAM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48640" y="487299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751070"/>
            <a:ext cx="6565392" cy="1421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moduli di memoria negli anni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SIMM, SDRAM PC100 e PC133, Rambus, DDR: da decine a centinaia di megabyte ciascuno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oggi: moduli DDR5 da 16 a 64 GB</a:t>
            </a:r>
            <a:endParaRPr lang="en-US" sz="2400" dirty="0"/>
          </a:p>
        </p:txBody>
      </p:sp>
      <p:pic>
        <p:nvPicPr>
          <p:cNvPr id="11" name="Image 0" descr="/Users/raffaelemontella/devel/riscv-prg32/computer-architecture-with-prg32/tools/assets/ram_modul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1184" y="1417320"/>
            <a:ext cx="2744527" cy="429768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Moduli di memoria di generazioni diverse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Parole e indirizzi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memoria centrale è un vettore di parole; una parola è una stringa di m bit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37934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80666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accede agli m bit di una parola con una sola operazione di lettura o di scrittura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24269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44012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parola è identificata da un indirizzo: un intero tra 0 e N - 1, rappresentato su n bit, con N = 2^n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43141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332732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 ad accesso casuale, RAM: il tempo di accesso non dipende dalla posizione del dato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29475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196078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processori a parola accedono alla memoria con un parallelismo pari alla lunghezza della parola: 16, 32 o 64 bit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 = 2^n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bit di indirizzo selezionano una di N locazioni: l'indirizzo è una parola codice, la memoria la decodifica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Memoria indirizzabile al byte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indirizzo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3108960" y="2103120"/>
            <a:ext cx="1051560" cy="73152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78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3108960" y="18562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A+0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4160520" y="2103120"/>
            <a:ext cx="1051560" cy="73152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56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4160520" y="18562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A+1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212080" y="2103120"/>
            <a:ext cx="1051560" cy="73152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212080" y="18562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A+2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2103120"/>
            <a:ext cx="1051560" cy="73152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8562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A+3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315200" y="2103120"/>
            <a:ext cx="1051560" cy="731520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48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0" y="18562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A+4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8366760" y="2103120"/>
            <a:ext cx="1051560" cy="731520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45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366760" y="18562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A+5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9418320" y="2103120"/>
            <a:ext cx="1051560" cy="731520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4C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9418320" y="18562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A+6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0469880" y="2103120"/>
            <a:ext cx="1051560" cy="73152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10469880" y="18562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3108960" y="29260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parola: .word 0x12345678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0" y="292608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byte: "HEL..."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374078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32688" y="3657600"/>
            <a:ext cx="10710367" cy="294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una memoria indirizzabile al byte il byte è la più piccola unità dotata di indirizzo</a:t>
            </a:r>
            <a:endParaRPr lang="en-US" sz="1900" dirty="0"/>
          </a:p>
        </p:txBody>
      </p:sp>
      <p:sp>
        <p:nvSpPr>
          <p:cNvPr id="24" name="Shape 22"/>
          <p:cNvSpPr/>
          <p:nvPr/>
        </p:nvSpPr>
        <p:spPr>
          <a:xfrm>
            <a:off x="548640" y="418647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32688" y="4103285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parola di 32 bit occupa quattro indirizzi consecutivi; il suo indirizzo è quello del suo primo byte</a:t>
            </a:r>
            <a:endParaRPr lang="en-US" sz="1900" dirty="0"/>
          </a:p>
        </p:txBody>
      </p:sp>
      <p:sp>
        <p:nvSpPr>
          <p:cNvPr id="26" name="Shape 24"/>
          <p:cNvSpPr/>
          <p:nvPr/>
        </p:nvSpPr>
        <p:spPr>
          <a:xfrm>
            <a:off x="548640" y="492654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32688" y="4843357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Parole consecutive distano 4 indirizzi: per questo il program counter avanza di 4, e l'indice di un vettore si moltiplica per 4 (Lezione 04)</a:t>
            </a:r>
            <a:endParaRPr lang="en-US" sz="1900" dirty="0"/>
          </a:p>
        </p:txBody>
      </p:sp>
      <p:sp>
        <p:nvSpPr>
          <p:cNvPr id="28" name="Shape 26"/>
          <p:cNvSpPr/>
          <p:nvPr/>
        </p:nvSpPr>
        <p:spPr>
          <a:xfrm>
            <a:off x="548640" y="566661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32688" y="5583428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 ha istruzioni distinte per ogni dimensione: lb e sb per i byte, lh e sh per le halfword, lw e sw per le parole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Big-endian e little-endian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parola 0x10A3E6FF memorizzata all'indirizzo 1000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8600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little-endian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RISC-V, x86, ARM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754880" y="2286000"/>
            <a:ext cx="1280160" cy="731520"/>
          </a:xfrm>
          <a:prstGeom prst="rect">
            <a:avLst/>
          </a:prstGeom>
          <a:solidFill>
            <a:srgbClr val="2F7D4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FF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4754880" y="203911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2286000"/>
            <a:ext cx="1280160" cy="731520"/>
          </a:xfrm>
          <a:prstGeom prst="rect">
            <a:avLst/>
          </a:prstGeom>
          <a:solidFill>
            <a:srgbClr val="6B4FA0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E6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203911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1001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315200" y="2286000"/>
            <a:ext cx="1280160" cy="731520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A3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0" y="203911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1002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595360" y="2286000"/>
            <a:ext cx="1280160" cy="73152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8595360" y="203911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1003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61188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big-endian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Motorola 68000, ordine di rete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754880" y="3611880"/>
            <a:ext cx="1280160" cy="73152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4754880" y="336499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035040" y="3611880"/>
            <a:ext cx="1280160" cy="731520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A3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336499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1001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7315200" y="3611880"/>
            <a:ext cx="1280160" cy="731520"/>
          </a:xfrm>
          <a:prstGeom prst="rect">
            <a:avLst/>
          </a:prstGeom>
          <a:solidFill>
            <a:srgbClr val="6B4FA0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E6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0" y="336499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1002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595360" y="3611880"/>
            <a:ext cx="1280160" cy="731520"/>
          </a:xfrm>
          <a:prstGeom prst="rect">
            <a:avLst/>
          </a:prstGeom>
          <a:solidFill>
            <a:srgbClr val="2F7D4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FF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8595360" y="336499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1003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459397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32688" y="4526280"/>
            <a:ext cx="10710367" cy="263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due nomi indicano come i byte di una parola sono disposti in memoria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548640" y="502183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32688" y="4954143"/>
            <a:ext cx="1071036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Little-endian: il byte meno significativo all'indirizzo più basso. Big-endian: prima il byte più significativo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571309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32688" y="5645404"/>
            <a:ext cx="1071036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 è little-endian, come quasi tutti i processori oggi in uso; i dati che attraversano una rete viaggiano ancora big-endian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Parametri di una memoria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118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Capacità: il numero N di registri e la lunghezza in bit di ciascuno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1 MB = 2^20 registri di 8 bit; 16 kW di 32 bit = 16 x 2^10 registri di 32 bit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97112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880191"/>
            <a:ext cx="6565392" cy="118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di accesso: il tempo per svolgere una lettura o una scrittura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il tempo per selezionare la locazione, più il tempo della lettura o della scrittura vera e propria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443399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4343061"/>
            <a:ext cx="656539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L'ESP32-C6: 512 KB di SRAM per i dati, 320 KB di ROM, e una flash esterna di alcuni megabyte per i programmi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564337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552440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menu di PRG32 mostra ciò che resta a voi: circa 98 KB di RAM e 509 KB di flash per le cartucce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512 KB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memoria centrale dell'ESP32-C6: otto Commodore 64, o un trentamillesimo di un portatile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L'interfaccia tra processore e memoria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3566160" cy="3931920"/>
          </a:xfrm>
          <a:prstGeom prst="roundRect">
            <a:avLst>
              <a:gd name="adj" fmla="val 205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6002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Processore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148840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indirizzi di memoria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291840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dati di memoria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434840"/>
            <a:ext cx="2834640" cy="685800"/>
          </a:xfrm>
          <a:prstGeom prst="roundRect">
            <a:avLst>
              <a:gd name="adj" fmla="val 8000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unità di controllo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589520" y="1965960"/>
            <a:ext cx="2377440" cy="3291840"/>
          </a:xfrm>
          <a:prstGeom prst="roundRect">
            <a:avLst>
              <a:gd name="adj" fmla="val 230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776472" y="2560320"/>
            <a:ext cx="3785616" cy="0"/>
          </a:xfrm>
          <a:prstGeom prst="line">
            <a:avLst/>
          </a:prstGeom>
          <a:noFill/>
          <a:ln w="3810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4572000" y="2194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indirizzi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776472" y="3703320"/>
            <a:ext cx="3785616" cy="0"/>
          </a:xfrm>
          <a:prstGeom prst="line">
            <a:avLst/>
          </a:prstGeom>
          <a:noFill/>
          <a:ln w="38100">
            <a:solidFill>
              <a:srgbClr val="C7791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 flipH="1">
            <a:off x="3776472" y="3703320"/>
            <a:ext cx="3785616" cy="0"/>
          </a:xfrm>
          <a:prstGeom prst="line">
            <a:avLst/>
          </a:prstGeom>
          <a:noFill/>
          <a:ln w="38100">
            <a:solidFill>
              <a:srgbClr val="C7791B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4572000" y="3337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dati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776472" y="4663440"/>
            <a:ext cx="3785616" cy="0"/>
          </a:xfrm>
          <a:prstGeom prst="line">
            <a:avLst/>
          </a:prstGeom>
          <a:noFill/>
          <a:ln w="25400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776472" y="4937760"/>
            <a:ext cx="3785616" cy="0"/>
          </a:xfrm>
          <a:prstGeom prst="line">
            <a:avLst/>
          </a:prstGeom>
          <a:noFill/>
          <a:ln w="25400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4572000" y="40690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abilitazione lettura (RE)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abilitazione scrittura (WE)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48640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L'indirizzo viaggia in un solo verso; i dati viaggiano nei due versi; le linee di controllo dicono quale operazione è richiesta.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Sincronizzare processore e memoria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Tecnica asincrona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aspetta che la memoria segnali, con una linea di acknowledge, che l'operazione è completa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si adatta alla velocità della memoria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complessa, ma rende il progetto della memoria indipendente da quello del processore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278728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Tecnica sincrona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delle linee di controllo porta gli impulsi di un clock a frequenza fissa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lettura o una scrittura si completa entro un ciclo di clock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ciclo di clock va dimensionato sulla velocità della memoria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semplice, ed è la regola dentro un singolo chip come un microcontrollore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Collegare processore, memoria e I/O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unico: I/O mappato in memoria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 e dispositivi di I/O condividono lo stesso bus e lo stesso spazio di indirizzi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registro di dispositivo si legge e si scrive come una locazione di memoria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servono istruzioni speciali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la via di RISC-V: non esistono istruzioni di ingresso/uscita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separati: I/O isolato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bus fisici, o due spazi di indirizzi: uno per la memoria, uno per l'I/O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Istruzioni dedicate raggiungono i dispositivi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famiglia Intel x86 ha entrambi: istruzioni in e out oltre ai dispositivi mappati in memoria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tre bus componenti, e il DMA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3924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2108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bus che collega processore, memoria e I/O è fatto di tre bus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bus dati: trasporta i dati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bus indirizzi: trasporta l'indirizzo, di memoria o di I/O, da cui o verso cui è diretto il dato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linee di controllo: abilitazione alla lettura e alla scrittura, acknowledge, ...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88848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766566"/>
            <a:ext cx="10710367" cy="1421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DMA, accesso diretto alla memoria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dove le interfacce di I/O sono collegate fisicamente alla memoria, blocchi di dati possono andare direttamente tra un dispositivo e la memoria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il processore avvia il trasferimento e viene avvisato quando è finito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555040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5428488"/>
            <a:ext cx="1071036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display del kit riceve così ogni frame: il processore non copia i pixel uno per uno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memoria ha 16 linee di indirizzo ed è indirizzabile al byte. Quanto è grande?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byte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KiB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KiB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MiB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 RISC-V, value: .word 0xCAFE0001 sta all'indirizzo A. Che cosa legge lbu t0, 0(t0) se t0 = A?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0xCA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0xFE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0x00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0x01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la DRAM va rinfrescata?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i suoi condensatori perdono la carica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la lettura è lenta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non è ad accesso casuale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il clock è troppo veloce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 scrive un programma RISC-V su un dispositivo di uscita?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l'istruzione out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sw all'indirizzo di un registro del dispositivo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un registro speciale x32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può: solo il firmware può farlo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Glossario: inglese e italiano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600254"/>
                <a:gridCol w="2860279"/>
                <a:gridCol w="2686929"/>
                <a:gridCol w="294695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memory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memoria centrale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 time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 di accesso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volatile / persistent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volatile / persistente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aligned word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parola allineata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magnetic core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nucleo magnetico (di ferrite)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address / data bus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 indirizzi / bus dati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refresh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rinfresco (refresh)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/ write enable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abilitazione lettura / scrittura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byte order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ordinamento dei byte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memory-mapped I/O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I/O mappato in memoria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Conclusioni e letture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memoria è un componente fondamentale di un calcolatore: un dispositivo capace di conservare lo stato dei dati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28079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97608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Tipi diversi di memoria servono a scopi diversi: nessuna tecnologia è insieme veloce, grande ed economica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306108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977896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dati si memorizzano come parole di bit, ciascuna con un indirizzo; RISC-V indirizza i byte e li ordina little-endian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384136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758184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L'accesso avviene per selezione (bus indirizzi), lettura o scrittura (bus dati) e linee di controllo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462165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538472"/>
            <a:ext cx="10710367" cy="294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RISC-V i dispositivi di ingresso/uscita si raggiungono esattamente come la memoria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510755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5024374"/>
            <a:ext cx="10710367" cy="1147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Letture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Patterson, Hennessy: Struttura e progetto dei calcolatori, edizione RISC-V, paragrafi 2.3 e 5.1-5.2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Stallings: Computer Organization and Architecture, il capitolo sulla memoria interna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ESP32-C6 Technical Reference Manual: sistema e memoria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La memoria</dc:title>
  <dc:subject>Lezione 15</dc:subject>
  <dc:creator>Raffaele Montella</dc:creator>
  <cp:lastModifiedBy>Raffaele Montella</cp:lastModifiedBy>
  <cp:revision>1</cp:revision>
  <dcterms:created xsi:type="dcterms:W3CDTF">2026-10-13T08:56:25Z</dcterms:created>
  <dcterms:modified xsi:type="dcterms:W3CDTF">2026-10-13T08:56:25Z</dcterms:modified>
</cp:coreProperties>
</file>