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42bf1e3-70fd-2810-ff7f-d6869a876439}">
          <p14:sldIdLst>
            <p14:sldId id="256"/>
            <p14:sldId id="257"/>
          </p14:sldIdLst>
        </p14:section>
        <p14:section name="I listati" id="{62240116-6244-01e7-e8e6-57c0a3694511}">
          <p14:sldIdLst>
            <p14:sldId id="258"/>
          </p14:sldIdLst>
        </p14:section>
        <p14:section name="Passo 1: nomi per i bit" id="{9efc4266-a793-4ae5-27c4-92d9b56f6d94}">
          <p14:sldIdLst>
            <p14:sldId id="259"/>
            <p14:sldId id="260"/>
          </p14:sldIdLst>
        </p14:section>
        <p14:section name="Passo 2: la guida" id="{012655d3-ce1c-5dd2-bbad-232c73211650}">
          <p14:sldIdLst>
            <p14:sldId id="261"/>
            <p14:sldId id="262"/>
            <p14:sldId id="263"/>
            <p14:sldId id="264"/>
            <p14:sldId id="265"/>
            <p14:sldId id="266"/>
          </p14:sldIdLst>
        </p14:section>
        <p14:section name="Passo 3: il cibo, un punteggio, un suono" id="{b6c042f3-b7e0-840c-6653-0dc21e9d5d1c}">
          <p14:sldIdLst>
            <p14:sldId id="267"/>
            <p14:sldId id="268"/>
            <p14:sldId id="269"/>
            <p14:sldId id="270"/>
            <p14:sldId id="271"/>
            <p14:sldId id="272"/>
            <p14:sldId id="273"/>
            <p14:sldId id="274"/>
          </p14:sldIdLst>
        </p14:section>
        <p14:section name="Eseguire e provare" id="{03940537-67d4-6b24-88f3-961c02a546f6}">
          <p14:sldIdLst>
            <p14:sldId id="275"/>
            <p14:sldId id="276"/>
            <p14:sldId id="277"/>
            <p14:sldId id="278"/>
            <p14:sldId id="279"/>
          </p14:sldIdLst>
        </p14:section>
        <p14:section name="Esercizi" id="{8112176b-7ce0-553d-f482-d27ddd2d6d0b}">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12.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le maschere di bit; i codici; gli array in memoria; gli ingressi con pull-up; l'algebra di Boole; la virgola fissa; i multiplexer; istruzioni con o senza segno; comparatori e parità; gli argomenti in a0 ... a7. DA UTILIZZARE OGGI: la convenzione di chiamata (Lezione 18) e, usati senza essere studiati nel corso, gli strumenti di PRG32, le chiamate del runtime PRG32, il debugger di PRG32-QT. DA COMPRENDERE PIÙ AVANTI: niente. Una slide senza etichetta è contesto: una storia, un esempio, una domanda, un esercizio.
Percorso. I risultati di oggi: (1) leggere i pulsanti con le maschere e rifiutare un'inversione a U con un solo XOR; (2) confrontare posizioni con XOR e OR per riconoscere il cibo; (3) tenere e mostrare un punteggio. Si appoggia su: le maschere di bit (Lezione 08); i codici (Lezione 11); gli array in memoria (Lezione 04); gli ingressi con pull-up (Lezione 10); l'algebra di Boole (Lezione 08). Prossimo passo: Lezione 13, Macchine sequenziali.
Ponte. Nella Lezione 07 una funzione che ne chiama un'altra salvava ra in un frame di 16 byte. Oggi le funzioni di Verm1 si chiamano più in profondità: ciascuna salva ra una volta, all'ingresso, e lo ripristina prima di ret. La Lezione 18 enuncia le regole: quali registri una chiamata può cambiare e quali deve conservare. Richiamo: Una funzione chiama altre due funzioni. Quante volte deve salvare ra, e dove?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riferimento è ~/arc12/verm1/verm1_part2.S; tools/tests/verm1_check.py lo compila e lo gioca con un giocatore programmato, e verm1_steps.py esegue i punti di controllo intermedi.
Per il docente: Procurarsi il codice una volta: git clone https://github.com/riscv-prg32/computer-architecture-with-prg32 ~/arc12. Il programma di riferimento è ~/arc12/verm1/verm1_part2.S; tools/tests/verm1_check.py lo compila e lo gioca con un giocatore programmato, e verm1_steps.py esegue i punti di controllo intermedi.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stessi due comandi della Parte 1: compilare la cartuccia, poi caricarla su PRG32-QT ed eseguirla. PRG32-QT va tenuto aperto per tutta la sessione, con la modalità debug attiva così che il debugger sia a portata di mano; il passo 4 ne ha bisogno.
DA UTILIZZARE OGGI: gli strumenti di PRG32 (si usa, non si studia, in questo corso).
Per il docente: Gli stessi due comandi della Parte 1. PRG32-QT deve essere in esecuzione, con Run cartridges in RISC-V debug mode attivo in Settings se si vuole il debugger.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righe si aggiungono alle costanti della Parte 1. RED è il colore del cibo. Le quattro costanti BTN_ sono maschere, ciascuna con un solo bit a 1, il bit di quel pulsante nella parola restituita dal runtime. Le quattro costanti DIR_ sono i codici delle direzioni, numeri da 0 a 3, quindi due bit. I commenti dicono il significato di ciascuno dei due bit, e la presentazione della lezione, nella slide "Un codice scelto con cura", giustifica la scelta dei codici.
DA COMPRENDERE OGGI: le maschere di bit.
Per il docente: Aggiungete alle costanti della Parte 1 la riga di RED e quelle da BTN_LEFT a DIR_UP.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righe sostituiscono i dati della Parte 1. La sezione .rodata contiene due tabelle di quattro parole, dx e dy: per ogni codice di direzione, la variazione di colonna e la variazione di riga. Essendo costanti, risiedono con gli altri dati di sola lettura; sono di fatto una piccola ROM, nel senso della Lezione 11. La sezione .data contiene cinque nuove variabili: dir, la direzione dell'ultimo passo; want, la direzione richiesta dal giocatore; e score, food_x e food_y, usate nel passo 3.
DA COMPRENDERE OGGI: gli array in memoria.
Per il docente: Sostituite con questi i dati della Parte 1. I valori iniziali bastano per il passo 2: init si completa nel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sostituisce l'inizio di verm1_update. Dopo la chiamata a prg32_input_read, t1 riceve la direzione corrente e t2 la richiesta corrente. Seguono quattro blocchi identici: andi isola un pulsante; se il risultato è zero l'istruzione successiva viene saltata; altrimenti la richiesta in t2 viene sovrascritta con quella direzione. Infine la regola: lo XOR di richiesta e direzione si confronta con 2, e se sono uguali la richiesta è un'inversione a U e lo sw viene saltato, così la richiesta precedente sopravvive. Poiché ora update fa una chiamata, richiede uno stack frame.
DA COMPRENDERE OGGI: le maschere di bit.
Per il docente: Sostituisce l'inizio di verm1_update. update ora chiama una funzione, quindi le serve un frame di stack. Con due pulsanti premuti vince l'ultimo test: UP batte LEFT che batte DOWN che batte RIGHT. Il desiderio del giocatore è memorizzato in want e diventa la direzione solo al passo successivo: così due pressioni rapide non possono ripiegare il verme su se stesso.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resto di verm1_update è il timer in virgola fissa della Parte 1, invariato: si somma la velocità, e quando si è accumulata una cella intera si sottrae 256. L'unica differenza è ciò che accade dopo: invece di aggiornare direttamente head_x, il codice chiama una nuova funzione, step. Separare il "quando muoversi" dal "come muoversi" è un primo esercizio di scomposizione. Le etichette locali qui sono 6 e 7 perché da 1 a 5 sono già usate nella prima metà della funzione.
DA COMPRENDERE OGGI: la virgola fissa.
Per il docente: È il resto di verm1_update. Le righe che nella Parte 1 muovevano head_x sono sparite: diventano la funzione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metà di step. La richiesta diventa direzione una volta per passo e non una volta per frame, così che due pressioni rapide non possano ripiegare il verme su sé stesso. Poi la consultazione: il codice della direzione si fa scorrere a sinistra di 2, perché ogni voce della tabella è una parola di quattro byte, e si somma all'indirizzo di dx; la parola caricata è la variazione di colonna, -1, 0 o +1. Lo stesso spostamento serve per dy. Non c'è alcun salto: il codice seleziona il valore, esattamente come fa un multiplexer, e cambiare le regole del movimento significa cambiare dati e non codice.
DA COMPRENDERE OGGI: i multiplexer.
Per il docente: Una tabella in memoria di sola lettura indirizzata da un codice è una ROM: Lezione 11. L'alternativa sono quattro salti; la tabella è più corta, e cambiare le regole significa cambiare dati, non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metà muove la testa e gestisce i bordi in entrambe le direzioni. Colonna più dx può ora valere -1: bgez verifica il segno, e una colonna negativa viene sostituita dall'ultima; se invece ha raggiunto COLS, diventa 0. La riga si tratta allo stesso modo con ROWS. Entrambi i test interpretano il valore come numero con segno, come richiede la Lezione 05. L'ultimo richiamo nota che t4 e t6 contengono ancora la nuova colonna e la nuova riga, che il frammento successivo usa.
DA COMPRENDERE OGGI: istruzioni con o senza segno.
Per il docente: Nella Parte 1 esisteva solo il bordo destro. Una colonna negativa è un numero con segno: bgez e blt sono i confronti con segno della Lezione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righe provvisorie ripristinano ra, rilasciano il frame e ritornano, completando step così che il programma si possa eseguire subito. È una pratica ricorrente dei tutorial: una funzione da finire più tardi si chiude provvisoriamente, e si prova ciò che c'è. Nel passo 3 il test del cibo si inserisce prima di queste righe.
Per il docente: Un finale provvisorio, perché il programma possa girare subito. Questo programma intermedio è compilato ed eseguito da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Eseguire: ora lo studente guida. La testa parte verso destra come prima. Tenendo premuto DOWN gira al suo passo successivo. Mentre va a destra, tenere premuto LEFT non ha effetto, perché l'inversione a U è rifiutata; per andare a sinistra servono due svolte, DOWN e poi LEFT. Il riquadro verde dà un test di accettazione preciso: tenendo premuto DOWN dall'inizio per 64 frame la testa arriva alla colonna 5 della riga 22, dieci passi più in basso. Una previsione quantitativa verificata sulla macchina è il criterio di correttezza in tutto il corso.
Per il docente: Verificato sull'esecutore headless di PRG32-QT: DOWN premuto per 64 frame dà (5, 22); LEFT premuto per 64 frame dà (15, 12), come se non fosse stato premuto nulla.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è sostituita da una versione completa in cui ogni variabile riceve il suo valore iniziale, compresi la direzione, la richiesta e il punteggio, e il primo cibo viene piazzato chiamando place_food. Poiché ora fa una chiamata, anche init richiede uno stack frame che salvi ra.
Per il docente: Sostituite verm1_init.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chiede al runtime due numeri casuali. Il contratto di prg32_random_number è: minimo in a0, massimo in a1, entrambi inclusi, risultato in a0. La prima chiamata dà una colonna da 0 a 39, la seconda una riga da 0 a 23, e ciascuna si memorizza nella sua variabile. Un difetto è lasciato di proposito: il cibo può cadere sulla testa. La Parte 3, quando il verme avrà un corpo, lo corregge. Riconoscere esplicitamente un limite noto fa parte di una buona pratica ingegneristica.
DA UTILIZZARE OGGI: le chiamate del runtime PRG32 (si usa, non si studia, in questo corso).
Per il docente: I numeri casuali vengono dal runtime: sulla scheda dal generatore hardware dell'ESP32-C6. Due partite sono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sostituisce il finale provvisorio di step. È un comparatore costruito con istruzioni: lo xor tra la colonna del cibo e quella della testa vale 0 quando sono uguali; lo stesso per le righe; l'or dei due risultati vale 0 solo se entrambe le coppie sono uguali. Se il risultato è diverso da zero, la funzione ritorna. Altrimenti il verme ha mangiato: il punteggio si incrementa, si piazza un nuovo cibo e si suona un suono. È l'AND di XNOR della Lezione 11, scritto come due xor e un or, con la logica invertita da De Morgan.
DA COMPRENDERE OGGI: comparatori e parità.
Per il docente: Un comparatore di uguaglianza è una fila di porte XOR seguita da un OR: Lezione 11. Qui sono due xor e una or. I registri t4 e t6 contengono ancora la nuova colonna e la nuova riga; dopo le chiamate non servono più, ed è per questo che si possono tenere in registri temporanei.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eat_sound suona una singola nota. prg32_audio_note prende cinque argomenti da a0 ad a4: canale, strumento, nota, volume e durata in millisecondi. La nota 72 è il Do della quinta ottava nella numerazione MIDI. L'ultimo richiamo ribadisce un principio dello sviluppo con PRG32: il suono viene per ultimo. Il gioco funzionava senza, e lo si aggiunge solo quando tutto il resto è solido.
DA UTILIZZARE OGGI: le chiamate del runtime PRG32 (si usa, non si studia, in questo corso).
Per il docente: prg32_audio_note(canale, strumento, nota, volume, millisecondi). Su PRG32-QT la nota è suonata dal computer; sulla scheda dall'amplificatore con il suo altoparlante.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L'inizio della nuova verm1_draw: dopo il titolo, un ciclo disegna un piccolo rettangolo per ogni punto del punteggio, a 4 pixel di distanza. Il contatore del ciclo sta in s0 e non in un registro t, perché deve sopravvivere alle chiamate a prg32_gfx_rect: una funzione chiamata può distruggere i temporanei ma deve preservare i registri s. In cambio, la funzione deve a sua volta salvare s0 nel suo frame e ripristinarlo all'uscita. La convenzione si usa qui come regola e si studia formalmente nella Lezione 18.
DA UTILIZZARE OGGI: la convenzione di chiamata (si studia nella Lezione 18).
Per il docente: Sostituite l'inizio di verm1_draw. Un registro t può essere distrutto da qualunque chiamata; un registro s è conservato, purché lo salviamo e lo ripristiniamo noi: la convenzione, incontrata nella Lezione 02, si studia nella Lezione 18. Le cifre arrivano nella Parte 4, quando è disponibile la divisione.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resto di verm1_draw: le stesse tre righe due volte, prima per il cibo e poi per la testa, caricando colonna, riga e colore e chiamando draw_cell. L'ordine è significativo: la testa si disegna per ultima, così che copra il cibo quando occupano la stessa cella. Poi si ripristinano s0 e ra e la funzione ritorna.
DA COMPRENDERE OGGI: gli argomenti in a0 ... a7.
Per il docente: È il resto di verm1_draw: sostituisce il rettangolo della Parte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raccoglie in una funzione l'aritmetica che la Parte 1 metteva dentro draw: colonna per 8, riga per 8 più TOP. Il suo contratto è scritto nel commento sulla prima riga: colonna in a0, riga in a1, colore in a2. Una sottigliezza merita attenzione: prg32_gfx_rect si aspetta il colore in a4, e a2 sta per essere sovrascritto con la larghezza, quindi il colore va spostato per primo. Documentare in un commento il contratto di una funzione è parte integrante dello scriverla.
DA COMPRENDERE OGGI: gli argomenti in a0 ... a7.
Per il docente: Una funzione con un contratto: a0 = colonna, a1 = riga, a2 = colore. Scrivere il contratto in un commento fa parte del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Eseguire. Una cella rossa compare da qualche parte sulla griglia. Quando la testa la raggiunge, suona una nota, compare una tacca accanto al titolo e il cibo si sposta in un'altra cella. La schermata mostra il gioco dopo due bocconi, con due tacche; è stata prodotta dal test automatico, in cui un giocatore programmato guida la testa verso il cibo due volte.
Per il docente: Schermata prodotta da tools/tests/verm1_check.py: un giocatore programmato guida due volte la testa sul cibo.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modifiche ideate dallo studente. Fare del pulsante A un freno che sospende il timer finché è premuto. Dare due punti per il cibo mangiato nella riga più alta. Disegnare la testa di un colore diverso per ogni direzione, usando una terza tabella indicizzata come dx. E cambiare la codifica delle direzioni: con RIGHT 0, LEFT 1, DOWN 2 e UP 3, che cosa diventa la regola dell'inversione a U? L'ultima domanda verifica se il ruolo della codifica è stato compreso. Prima di sperimentare va conservata una copia della Parte 2 funzionante.
Per il docente: Freno: andi con BTN_A (0x10) all'inizio del timer, salto all'uscita. Tabella dei colori: quattro .word in .rodata, indicizzate come dx. Nuova codifica: gli opposti differiscono nel bit 0, quindi il test è XOR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12: Verm1, parte 2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Verm1, parte 2: la guida, il cibo e un punteggio: il codice</a:t>
            </a:r>
            <a:endParaRPr lang="en-US" sz="47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12-Architettura_dei_Calcolatori-Verm1_Parte_2.pptx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2.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15 listati della Lezione 12, uno per slide: leggete il codice, poi le osservazioni numerate a fianco</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è il vostro verm1.S; il riferimento è verm1/verm1_part2.S, 231 righe, mostrato qui regione per regione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8539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8356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750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1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di lavoro, di nuovo</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Costanti: pulsanti e direzioni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50" dirty="0">
                <a:solidFill>
                  <a:srgbClr val="8FB3A0"/>
                </a:solidFill>
                <a:latin typeface="Courier New" pitchFamily="34" charset="0"/>
                <a:ea typeface="Courier New" pitchFamily="34" charset="-122"/>
                <a:cs typeface="Courier New" pitchFamily="34" charset="-120"/>
              </a:rPr>
              <a:t># RGB565 colours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CELL,  8               </a:t>
            </a:r>
            <a:pPr indent="0" marL="0">
              <a:buNone/>
            </a:pPr>
            <a:r>
              <a:rPr lang="en-US" sz="1250" dirty="0">
                <a:solidFill>
                  <a:srgbClr val="8FB3A0"/>
                </a:solidFill>
                <a:latin typeface="Courier New" pitchFamily="34" charset="0"/>
                <a:ea typeface="Courier New" pitchFamily="34" charset="-122"/>
                <a:cs typeface="Courier New" pitchFamily="34" charset="-120"/>
              </a:rPr>
              <a:t># a cell is 8 x 8 pixels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COLS,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ROWS,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TOP,   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SPEED_Q8, 40           </a:t>
            </a:r>
            <a:pPr indent="0" marL="0">
              <a:buNone/>
            </a:pPr>
            <a:r>
              <a:rPr lang="en-US" sz="1250" dirty="0">
                <a:solidFill>
                  <a:srgbClr val="8FB3A0"/>
                </a:solidFill>
                <a:latin typeface="Courier New" pitchFamily="34" charset="0"/>
                <a:ea typeface="Courier New" pitchFamily="34" charset="-122"/>
                <a:cs typeface="Courier New" pitchFamily="34" charset="-120"/>
              </a:rPr>
              <a:t># 40/256 of a cell per frame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BTN_LEFT,  0x01        </a:t>
            </a:r>
            <a:pPr indent="0" marL="0">
              <a:buNone/>
            </a:pPr>
            <a:r>
              <a:rPr lang="en-US" sz="1250" dirty="0">
                <a:solidFill>
                  <a:srgbClr val="8FB3A0"/>
                </a:solidFill>
                <a:latin typeface="Courier New" pitchFamily="34" charset="0"/>
                <a:ea typeface="Courier New" pitchFamily="34" charset="-122"/>
                <a:cs typeface="Courier New" pitchFamily="34" charset="-120"/>
              </a:rPr>
              <a:t># one bit per button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BTN_RIGHT, 0x02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BTN_UP,    0x04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BTN_DOWN,  0x08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50" dirty="0">
                <a:solidFill>
                  <a:srgbClr val="8FB3A0"/>
                </a:solidFill>
                <a:latin typeface="Courier New" pitchFamily="34" charset="0"/>
                <a:ea typeface="Courier New" pitchFamily="34" charset="-122"/>
                <a:cs typeface="Courier New" pitchFamily="34" charset="-120"/>
              </a:rPr>
              <a:t># a direction is a 2-bit code: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DIR_DOWN,  1           </a:t>
            </a:r>
            <a:pPr indent="0" marL="0">
              <a:buNone/>
            </a:pPr>
            <a:r>
              <a:rPr lang="en-US" sz="1250" dirty="0">
                <a:solidFill>
                  <a:srgbClr val="8FB3A0"/>
                </a:solidFill>
                <a:latin typeface="Courier New" pitchFamily="34" charset="0"/>
                <a:ea typeface="Courier New" pitchFamily="34" charset="-122"/>
                <a:cs typeface="Courier New" pitchFamily="34" charset="-120"/>
              </a:rPr>
              <a:t>#   bit 0 = vertical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DIR_LEFT,  2           </a:t>
            </a:r>
            <a:pPr indent="0" marL="0">
              <a:buNone/>
            </a:pPr>
            <a:r>
              <a:rPr lang="en-US" sz="1250" dirty="0">
                <a:solidFill>
                  <a:srgbClr val="8FB3A0"/>
                </a:solidFill>
                <a:latin typeface="Courier New" pitchFamily="34" charset="0"/>
                <a:ea typeface="Courier New" pitchFamily="34" charset="-122"/>
                <a:cs typeface="Courier New" pitchFamily="34" charset="-120"/>
              </a:rPr>
              <a:t>#   bit 1 = backwards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DIR_UP,    3</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verm1_draw</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Nuovo colore: RED, per il cibo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Ogni pulsante è un bit di una parola: una maschera lo seleziona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Una direzione è un numero da 0 a 3: due bit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codici non sono arbitrari: si veda la lezione</a:t>
            </a:r>
            <a:endParaRPr lang="en-US" sz="1200" dirty="0"/>
          </a:p>
        </p:txBody>
      </p:sp>
      <p:sp>
        <p:nvSpPr>
          <p:cNvPr id="17" name="Shape 15"/>
          <p:cNvSpPr/>
          <p:nvPr/>
        </p:nvSpPr>
        <p:spPr>
          <a:xfrm>
            <a:off x="8051622" y="91440"/>
            <a:ext cx="3591433" cy="274320"/>
          </a:xfrm>
          <a:prstGeom prst="rect">
            <a:avLst/>
          </a:prstGeom>
          <a:solidFill>
            <a:srgbClr val="E0F2FE"/>
          </a:solidFill>
          <a:ln w="12700">
            <a:solidFill>
              <a:srgbClr val="0369A1"/>
            </a:solidFill>
            <a:prstDash val="solid"/>
          </a:ln>
        </p:spPr>
      </p:sp>
      <p:sp>
        <p:nvSpPr>
          <p:cNvPr id="18" name="Shape 16"/>
          <p:cNvSpPr/>
          <p:nvPr/>
        </p:nvSpPr>
        <p:spPr>
          <a:xfrm>
            <a:off x="805162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20" name="Text 17"/>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maschere di bit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Dati: due tabelle e cinque variabili nuove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.section .rodata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title:   .asciz "VERM1"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dx:      .word  1, 0, -1,  0    </a:t>
            </a:r>
            <a:pPr indent="0" marL="0">
              <a:buNone/>
            </a:pPr>
            <a:r>
              <a:rPr lang="en-US" sz="1550" dirty="0">
                <a:solidFill>
                  <a:srgbClr val="8FB3A0"/>
                </a:solidFill>
                <a:latin typeface="Courier New" pitchFamily="34" charset="0"/>
                <a:ea typeface="Courier New" pitchFamily="34" charset="-122"/>
                <a:cs typeface="Courier New" pitchFamily="34" charset="-120"/>
              </a:rPr>
              <a:t># right, down, left, up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dy:      .word  0, 1,  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head_y:  .word 12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dir: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of the last step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want: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asked by the player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step_q8: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score: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food_x:  .word 20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food_y:  .word 12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dx e dy: quattro parole ciascuna, una per direzione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Sono costanti, quindi vivono in .rodata</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dir è la direzione dell'ultimo passo, want quella richiesta</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score, food_x, food_y: si usano nel passo 3</a:t>
            </a:r>
            <a:endParaRPr lang="en-US" sz="1300" dirty="0"/>
          </a:p>
        </p:txBody>
      </p:sp>
      <p:sp>
        <p:nvSpPr>
          <p:cNvPr id="17" name="Shape 15"/>
          <p:cNvSpPr/>
          <p:nvPr/>
        </p:nvSpPr>
        <p:spPr>
          <a:xfrm>
            <a:off x="7920304" y="91440"/>
            <a:ext cx="3722751" cy="274320"/>
          </a:xfrm>
          <a:prstGeom prst="rect">
            <a:avLst/>
          </a:prstGeom>
          <a:solidFill>
            <a:srgbClr val="E0F2FE"/>
          </a:solidFill>
          <a:ln w="12700">
            <a:solidFill>
              <a:srgbClr val="0369A1"/>
            </a:solidFill>
            <a:prstDash val="solid"/>
          </a:ln>
        </p:spPr>
      </p:sp>
      <p:sp>
        <p:nvSpPr>
          <p:cNvPr id="18" name="Shape 16"/>
          <p:cNvSpPr/>
          <p:nvPr/>
        </p:nvSpPr>
        <p:spPr>
          <a:xfrm>
            <a:off x="792030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20" name="Text 17"/>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array in memoria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update: dai pulsanti a un desiderio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150" dirty="0">
                <a:solidFill>
                  <a:srgbClr val="8FB3A0"/>
                </a:solidFill>
                <a:latin typeface="Courier New" pitchFamily="34" charset="0"/>
                <a:ea typeface="Courier New" pitchFamily="34" charset="-122"/>
                <a:cs typeface="Courier New" pitchFamily="34" charset="-120"/>
              </a:rPr>
              <a:t># a0 = one bit per button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direction of the last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want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t2, 0(t0)              </a:t>
            </a:r>
            <a:pPr indent="0" marL="0">
              <a:buNone/>
            </a:pPr>
            <a:r>
              <a:rPr lang="en-US" sz="1150" dirty="0">
                <a:solidFill>
                  <a:srgbClr val="8FB3A0"/>
                </a:solidFill>
                <a:latin typeface="Courier New" pitchFamily="34" charset="0"/>
                <a:ea typeface="Courier New" pitchFamily="34" charset="-122"/>
                <a:cs typeface="Courier New" pitchFamily="34" charset="-120"/>
              </a:rPr>
              <a:t># t2 = wanted direction, so far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a0, BTN_RIGHT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andi t3, a0, BTN_DOWN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andi t3, a0, BTN_LEFT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andi t3, a0, BTN_UP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  xor  t3, t2, t1             </a:t>
            </a:r>
            <a:pPr indent="0" marL="0">
              <a:buNone/>
            </a:pPr>
            <a:r>
              <a:rPr lang="en-US" sz="1150" dirty="0">
                <a:solidFill>
                  <a:srgbClr val="8FB3A0"/>
                </a:solidFill>
                <a:latin typeface="Courier New" pitchFamily="34" charset="0"/>
                <a:ea typeface="Courier New" pitchFamily="34" charset="-122"/>
                <a:cs typeface="Courier New" pitchFamily="34" charset="-120"/>
              </a:rPr>
              <a:t># opposite directions differ in bit 1 only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t4,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t3, t4, 5f             </a:t>
            </a:r>
            <a:pPr indent="0" marL="0">
              <a:buNone/>
            </a:pPr>
            <a:r>
              <a:rPr lang="en-US" sz="1150" dirty="0">
                <a:solidFill>
                  <a:srgbClr val="8FB3A0"/>
                </a:solidFill>
                <a:latin typeface="Courier New" pitchFamily="34" charset="0"/>
                <a:ea typeface="Courier New" pitchFamily="34" charset="-122"/>
                <a:cs typeface="Courier New" pitchFamily="34" charset="-120"/>
              </a:rPr>
              <a:t># a U-turn: ignore the request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it for the next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5:</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andi tiene un bit: zero significa non premuto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Ogni pulsante premuto sovrascrive il desiderio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xor di desiderio e direzione: 2 significa opposta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Un'inversione a U non viene memorizzata: resta il desiderio precedente</a:t>
            </a:r>
            <a:endParaRPr lang="en-US" sz="1200" dirty="0"/>
          </a:p>
        </p:txBody>
      </p:sp>
      <p:sp>
        <p:nvSpPr>
          <p:cNvPr id="17" name="Shape 15"/>
          <p:cNvSpPr/>
          <p:nvPr/>
        </p:nvSpPr>
        <p:spPr>
          <a:xfrm>
            <a:off x="8051622" y="91440"/>
            <a:ext cx="3591433" cy="274320"/>
          </a:xfrm>
          <a:prstGeom prst="rect">
            <a:avLst/>
          </a:prstGeom>
          <a:solidFill>
            <a:srgbClr val="E0F2FE"/>
          </a:solidFill>
          <a:ln w="12700">
            <a:solidFill>
              <a:srgbClr val="0369A1"/>
            </a:solidFill>
            <a:prstDash val="solid"/>
          </a:ln>
        </p:spPr>
      </p:sp>
      <p:sp>
        <p:nvSpPr>
          <p:cNvPr id="18" name="Shape 16"/>
          <p:cNvSpPr/>
          <p:nvPr/>
        </p:nvSpPr>
        <p:spPr>
          <a:xfrm>
            <a:off x="805162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20" name="Text 17"/>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maschere di bit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update: il timer chiama step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500" dirty="0">
                <a:solidFill>
                  <a:srgbClr val="8FB3A0"/>
                </a:solidFill>
                <a:latin typeface="Courier New" pitchFamily="34" charset="0"/>
                <a:ea typeface="Courier New" pitchFamily="34" charset="-122"/>
                <a:cs typeface="Courier New" pitchFamily="34" charset="-120"/>
              </a:rPr>
              <a:t># add a fraction of a cell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blt  t1, t2, 6f             </a:t>
            </a:r>
            <a:pPr indent="0" marL="0">
              <a:buNone/>
            </a:pPr>
            <a:r>
              <a:rPr lang="en-US" sz="1500" dirty="0">
                <a:solidFill>
                  <a:srgbClr val="8FB3A0"/>
                </a:solidFill>
                <a:latin typeface="Courier New" pitchFamily="34" charset="0"/>
                <a:ea typeface="Courier New" pitchFamily="34" charset="-122"/>
                <a:cs typeface="Courier New" pitchFamily="34" charset="-120"/>
              </a:rPr>
              <a:t># less than one whole cell: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step                   </a:t>
            </a:r>
            <a:pPr indent="0" marL="0">
              <a:buNone/>
            </a:pPr>
            <a:r>
              <a:rPr lang="en-US" sz="1500" dirty="0">
                <a:solidFill>
                  <a:srgbClr val="8FB3A0"/>
                </a:solidFill>
                <a:latin typeface="Courier New" pitchFamily="34" charset="0"/>
                <a:ea typeface="Courier New" pitchFamily="34" charset="-122"/>
                <a:cs typeface="Courier New" pitchFamily="34" charset="-120"/>
              </a:rPr>
              <a:t># one whole cell: move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7f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6: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7: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timer in virgola fissa della Parte 1, invariato</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Muoversi è ora una funzione a sé: step</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Etichette 6 e 7: i numeri da 1 a 5 sono usati sopra</a:t>
            </a:r>
            <a:endParaRPr lang="en-US" sz="1700" dirty="0"/>
          </a:p>
        </p:txBody>
      </p:sp>
      <p:sp>
        <p:nvSpPr>
          <p:cNvPr id="14" name="Shape 12"/>
          <p:cNvSpPr/>
          <p:nvPr/>
        </p:nvSpPr>
        <p:spPr>
          <a:xfrm>
            <a:off x="8182940" y="91440"/>
            <a:ext cx="3460115" cy="274320"/>
          </a:xfrm>
          <a:prstGeom prst="rect">
            <a:avLst/>
          </a:prstGeom>
          <a:solidFill>
            <a:srgbClr val="E0F2FE"/>
          </a:solidFill>
          <a:ln w="12700">
            <a:solidFill>
              <a:srgbClr val="0369A1"/>
            </a:solidFill>
            <a:prstDash val="solid"/>
          </a:ln>
        </p:spPr>
      </p:sp>
      <p:sp>
        <p:nvSpPr>
          <p:cNvPr id="15" name="Shape 13"/>
          <p:cNvSpPr/>
          <p:nvPr/>
        </p:nvSpPr>
        <p:spPr>
          <a:xfrm>
            <a:off x="818294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17" name="Text 14"/>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step: cercare il movimento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 -1, 0 or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desiderio diventa la direzione, una volta per passo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Una parola sono 4 byte: scostamento = codice scorso a sinistra di 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indirizzo della tabella + scostamento: la parola da caricare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Nessun salto: il codice seleziona, come un multiplexer</a:t>
            </a:r>
            <a:endParaRPr lang="en-US" sz="1200" dirty="0"/>
          </a:p>
        </p:txBody>
      </p:sp>
      <p:sp>
        <p:nvSpPr>
          <p:cNvPr id="17" name="Shape 15"/>
          <p:cNvSpPr/>
          <p:nvPr/>
        </p:nvSpPr>
        <p:spPr>
          <a:xfrm>
            <a:off x="8379917" y="91440"/>
            <a:ext cx="3263138" cy="274320"/>
          </a:xfrm>
          <a:prstGeom prst="rect">
            <a:avLst/>
          </a:prstGeom>
          <a:solidFill>
            <a:srgbClr val="E0F2FE"/>
          </a:solidFill>
          <a:ln w="12700">
            <a:solidFill>
              <a:srgbClr val="0369A1"/>
            </a:solidFill>
            <a:prstDash val="solid"/>
          </a:ln>
        </p:spPr>
      </p:sp>
      <p:sp>
        <p:nvSpPr>
          <p:cNvPr id="18" name="Shape 16"/>
          <p:cNvSpPr/>
          <p:nvPr/>
        </p:nvSpPr>
        <p:spPr>
          <a:xfrm>
            <a:off x="8379917"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20" name="Text 17"/>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multiplexer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step: muoversi e rientrare, nei due versi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    la   t0, head_x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t4,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t4, t4, t2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t4, 1f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COLS-1             </a:t>
            </a:r>
            <a:pPr indent="0" marL="0">
              <a:buNone/>
            </a:pPr>
            <a:r>
              <a:rPr lang="en-US" sz="1600" dirty="0">
                <a:solidFill>
                  <a:srgbClr val="8FB3A0"/>
                </a:solidFill>
                <a:latin typeface="Courier New" pitchFamily="34" charset="0"/>
                <a:ea typeface="Courier New" pitchFamily="34" charset="-122"/>
                <a:cs typeface="Courier New" pitchFamily="34" charset="-120"/>
              </a:rPr>
              <a:t># off the left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1:  li   t5, COLS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t4, t5, 2f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0                  </a:t>
            </a:r>
            <a:pPr indent="0" marL="0">
              <a:buNone/>
            </a:pPr>
            <a:r>
              <a:rPr lang="en-US" sz="1600" dirty="0">
                <a:solidFill>
                  <a:srgbClr val="8FB3A0"/>
                </a:solidFill>
                <a:latin typeface="Courier New" pitchFamily="34" charset="0"/>
                <a:ea typeface="Courier New" pitchFamily="34" charset="-122"/>
                <a:cs typeface="Courier New" pitchFamily="34" charset="-120"/>
              </a:rPr>
              <a:t># off the right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2:  sw   t4, 0(t0)              </a:t>
            </a:r>
            <a:pPr indent="0" marL="0">
              <a:buNone/>
            </a:pPr>
            <a:r>
              <a:rPr lang="en-US" sz="1600" dirty="0">
                <a:solidFill>
                  <a:srgbClr val="8FB3A0"/>
                </a:solidFill>
                <a:latin typeface="Courier New" pitchFamily="34" charset="0"/>
                <a:ea typeface="Courier New" pitchFamily="34" charset="-122"/>
                <a:cs typeface="Courier New" pitchFamily="34" charset="-120"/>
              </a:rPr>
              <a:t># t4 = new column</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la   t0, head_y</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t6,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t6, t6, t3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t6, 3f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ROWS-1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3:  li   t5, ROWS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t6, t5, 4f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4:  sw   t6, 0(t0)              </a:t>
            </a:r>
            <a:pPr indent="0" marL="0">
              <a:buNone/>
            </a:pPr>
            <a:r>
              <a:rPr lang="en-US" sz="1600" dirty="0">
                <a:solidFill>
                  <a:srgbClr val="8FB3A0"/>
                </a:solidFill>
                <a:latin typeface="Courier New" pitchFamily="34" charset="0"/>
                <a:ea typeface="Courier New" pitchFamily="34" charset="-122"/>
                <a:cs typeface="Courier New" pitchFamily="34" charset="-120"/>
              </a:rPr>
              <a:t># t6 = new row</a:t>
            </a:r>
            <a:endParaRPr lang="en-US" sz="16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somma dx: la colonna ora può scendere sotto 0</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esamina il segno: negativo significa fuori a sinistra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Lo stesso per la riga, con ROWS</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t4 e t6 conservano la nuova cella per la slide successiva</a:t>
            </a:r>
            <a:endParaRPr lang="en-US" sz="1200" dirty="0"/>
          </a:p>
        </p:txBody>
      </p:sp>
      <p:sp>
        <p:nvSpPr>
          <p:cNvPr id="17" name="Shape 15"/>
          <p:cNvSpPr/>
          <p:nvPr/>
        </p:nvSpPr>
        <p:spPr>
          <a:xfrm>
            <a:off x="7395032" y="91440"/>
            <a:ext cx="4248023" cy="274320"/>
          </a:xfrm>
          <a:prstGeom prst="rect">
            <a:avLst/>
          </a:prstGeom>
          <a:solidFill>
            <a:srgbClr val="E0F2FE"/>
          </a:solidFill>
          <a:ln w="12700">
            <a:solidFill>
              <a:srgbClr val="0369A1"/>
            </a:solidFill>
            <a:prstDash val="solid"/>
          </a:ln>
        </p:spPr>
      </p:sp>
      <p:sp>
        <p:nvSpPr>
          <p:cNvPr id="18" name="Shape 16"/>
          <p:cNvSpPr/>
          <p:nvPr/>
        </p:nvSpPr>
        <p:spPr>
          <a:xfrm>
            <a:off x="739503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20" name="Text 17"/>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istruzioni con o senza segno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Per ora: chiudere la funzione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temporary end of step: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Step 3 will replace these three lines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Scrivete queste tre righe dopo il rientro</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Ripristinano ra e ritornano: step è completa</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passo 3 mette prima di esse il test del cibo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state guidando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la testa parte ancora verso destra, dalla colonna 5 della riga 12</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Tenete premuto DOWN: la testa gira al passo successivo e scende, rientrando dalla riga 23 alla riga 0</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Mentre va a destra, tenete premuto LEFT: non accade nulla. L'inversione a U è rifiutata</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Tenete premuto DOWN e poi LEFT: due svolte, e ora la testa va a sinistra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Tenendo premuto DOWN dall'inizio per 64 frame la testa arriva alla colonna 5, riga 22: dieci passi, tutti verso il basso.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init: una partenza completa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12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            </a:t>
            </a:r>
            <a:pPr indent="0" marL="0">
              <a:buNone/>
            </a:pPr>
            <a:r>
              <a:rPr lang="en-US" sz="1350" dirty="0">
                <a:solidFill>
                  <a:srgbClr val="8FB3A0"/>
                </a:solidFill>
                <a:latin typeface="Courier New" pitchFamily="34" charset="0"/>
                <a:ea typeface="Courier New" pitchFamily="34" charset="-122"/>
                <a:cs typeface="Courier New" pitchFamily="34" charset="-120"/>
              </a:rPr>
              <a:t># moving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want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place_food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Ogni variabile riceve il suo valore iniziale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init ora chiama una funzione: le serve un frame di stack</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primo cibo viene piazzato qui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place_food: una cella a caso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place_food:</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COLS-1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column, 0 .. 39</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food_x</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ROWS-1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row, 0 .. 23</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food_y</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prg32_random_number(min, max): estremi compresi</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Argomenti in a0 e a1, risultato in a0</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Una colonna da 0 a 39, una riga da 0 a 23</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Il cibo può cadere sulla testa: lo corregge la Parte 3</a:t>
            </a:r>
            <a:endParaRPr lang="en-US" sz="1500" dirty="0"/>
          </a:p>
        </p:txBody>
      </p:sp>
      <p:sp>
        <p:nvSpPr>
          <p:cNvPr id="17" name="Shape 15"/>
          <p:cNvSpPr/>
          <p:nvPr/>
        </p:nvSpPr>
        <p:spPr>
          <a:xfrm>
            <a:off x="7415987" y="91440"/>
            <a:ext cx="4227068" cy="274320"/>
          </a:xfrm>
          <a:prstGeom prst="rect">
            <a:avLst/>
          </a:prstGeom>
          <a:solidFill>
            <a:srgbClr val="FEF3C7"/>
          </a:solidFill>
          <a:ln w="12700">
            <a:solidFill>
              <a:srgbClr val="B45309"/>
            </a:solidFill>
            <a:prstDash val="solid"/>
          </a:ln>
        </p:spPr>
      </p:sp>
      <p:sp>
        <p:nvSpPr>
          <p:cNvPr id="18" name="Shape 16"/>
          <p:cNvSpPr/>
          <p:nvPr/>
        </p:nvSpPr>
        <p:spPr>
          <a:xfrm>
            <a:off x="7415987" y="91440"/>
            <a:ext cx="27432" cy="274320"/>
          </a:xfrm>
          <a:prstGeom prst="rect">
            <a:avLst/>
          </a:prstGeom>
          <a:solidFill>
            <a:srgbClr val="B45309"/>
          </a:solidFill>
          <a:ln w="12700">
            <a:solidFill>
              <a:srgbClr val="B45309"/>
            </a:solidFill>
            <a:prstDash val="solid"/>
          </a:ln>
        </p:spPr>
      </p:sp>
      <p:sp>
        <p:nvSpPr>
          <p:cNvPr id="19" name="Shape 17"/>
          <p:cNvSpPr/>
          <p:nvPr/>
        </p:nvSpPr>
        <p:spPr>
          <a:xfrm>
            <a:off x="747085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544003" y="128016"/>
            <a:ext cx="201168" cy="201168"/>
          </a:xfrm>
          <a:prstGeom prst="rect">
            <a:avLst/>
          </a:prstGeom>
        </p:spPr>
      </p:pic>
      <p:sp>
        <p:nvSpPr>
          <p:cNvPr id="21" name="Text 18"/>
          <p:cNvSpPr txBox="1"/>
          <p:nvPr/>
        </p:nvSpPr>
        <p:spPr>
          <a:xfrm>
            <a:off x="7800035" y="91440"/>
            <a:ext cx="380644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chiamate del runtime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step: la testa è sul cibo?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    la   t0, food_x</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t1, t1, t4             </a:t>
            </a:r>
            <a:pPr indent="0" marL="0">
              <a:buNone/>
            </a:pPr>
            <a:r>
              <a:rPr lang="en-US" sz="1650" dirty="0">
                <a:solidFill>
                  <a:srgbClr val="8FB3A0"/>
                </a:solidFill>
                <a:latin typeface="Courier New" pitchFamily="34" charset="0"/>
                <a:ea typeface="Courier New" pitchFamily="34" charset="-122"/>
                <a:cs typeface="Courier New" pitchFamily="34" charset="-120"/>
              </a:rPr>
              <a:t># 0 if same column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food_y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t2, t2, t6             </a:t>
            </a:r>
            <a:pPr indent="0" marL="0">
              <a:buNone/>
            </a:pPr>
            <a:r>
              <a:rPr lang="en-US" sz="1650" dirty="0">
                <a:solidFill>
                  <a:srgbClr val="8FB3A0"/>
                </a:solidFill>
                <a:latin typeface="Courier New" pitchFamily="34" charset="0"/>
                <a:ea typeface="Courier New" pitchFamily="34" charset="-122"/>
                <a:cs typeface="Courier New" pitchFamily="34" charset="-120"/>
              </a:rPr>
              <a:t># 0 if same row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or   t1, t1, t2             </a:t>
            </a:r>
            <a:pPr indent="0" marL="0">
              <a:buNone/>
            </a:pPr>
            <a:r>
              <a:rPr lang="en-US" sz="1650" dirty="0">
                <a:solidFill>
                  <a:srgbClr val="8FB3A0"/>
                </a:solidFill>
                <a:latin typeface="Courier New" pitchFamily="34" charset="0"/>
                <a:ea typeface="Courier New" pitchFamily="34" charset="-122"/>
                <a:cs typeface="Courier New" pitchFamily="34" charset="-120"/>
              </a:rPr>
              <a:t># 0 only if both are equal</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5f                 </a:t>
            </a:r>
            <a:pPr indent="0" marL="0">
              <a:buNone/>
            </a:pPr>
            <a:r>
              <a:rPr lang="en-US" sz="1650" dirty="0">
                <a:solidFill>
                  <a:srgbClr val="8FB3A0"/>
                </a:solidFill>
                <a:latin typeface="Courier New" pitchFamily="34" charset="0"/>
                <a:ea typeface="Courier New" pitchFamily="34" charset="-122"/>
                <a:cs typeface="Courier New" pitchFamily="34" charset="-120"/>
              </a:rPr>
              <a:t># not on the 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score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place_food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eat_sound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5:  lw   ra, 12(sp)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sp, sp, 16</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Sostituite con questo il finale provvisorio</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xor vale 0 quando due numeri sono uguali</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or dei due risultati: 0 solo se entrambi sono uguali</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Mangiare: un punto in più, nuovo cibo, un suono</a:t>
            </a:r>
            <a:endParaRPr lang="en-US" sz="1400" dirty="0"/>
          </a:p>
        </p:txBody>
      </p:sp>
      <p:sp>
        <p:nvSpPr>
          <p:cNvPr id="17" name="Shape 15"/>
          <p:cNvSpPr/>
          <p:nvPr/>
        </p:nvSpPr>
        <p:spPr>
          <a:xfrm>
            <a:off x="7920304" y="91440"/>
            <a:ext cx="3722751" cy="274320"/>
          </a:xfrm>
          <a:prstGeom prst="rect">
            <a:avLst/>
          </a:prstGeom>
          <a:solidFill>
            <a:srgbClr val="E0F2FE"/>
          </a:solidFill>
          <a:ln w="12700">
            <a:solidFill>
              <a:srgbClr val="0369A1"/>
            </a:solidFill>
            <a:prstDash val="solid"/>
          </a:ln>
        </p:spPr>
      </p:sp>
      <p:sp>
        <p:nvSpPr>
          <p:cNvPr id="18" name="Shape 16"/>
          <p:cNvSpPr/>
          <p:nvPr/>
        </p:nvSpPr>
        <p:spPr>
          <a:xfrm>
            <a:off x="792030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20" name="Text 17"/>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comparatori e parità</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eat_sound: una nota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eat_sound: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                  </a:t>
            </a:r>
            <a:pPr indent="0" marL="0">
              <a:buNone/>
            </a:pPr>
            <a:r>
              <a:rPr lang="en-US" sz="1800" dirty="0">
                <a:solidFill>
                  <a:srgbClr val="8FB3A0"/>
                </a:solidFill>
                <a:latin typeface="Courier New" pitchFamily="34" charset="0"/>
                <a:ea typeface="Courier New" pitchFamily="34" charset="-122"/>
                <a:cs typeface="Courier New" pitchFamily="34" charset="-120"/>
              </a:rPr>
              <a:t># channel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0                  </a:t>
            </a:r>
            <a:pPr indent="0" marL="0">
              <a:buNone/>
            </a:pPr>
            <a:r>
              <a:rPr lang="en-US" sz="1800" dirty="0">
                <a:solidFill>
                  <a:srgbClr val="8FB3A0"/>
                </a:solidFill>
                <a:latin typeface="Courier New" pitchFamily="34" charset="0"/>
                <a:ea typeface="Courier New" pitchFamily="34" charset="-122"/>
                <a:cs typeface="Courier New" pitchFamily="34" charset="-120"/>
              </a:rPr>
              <a:t># instrument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72                 </a:t>
            </a:r>
            <a:pPr indent="0" marL="0">
              <a:buNone/>
            </a:pPr>
            <a:r>
              <a:rPr lang="en-US" sz="1800" dirty="0">
                <a:solidFill>
                  <a:srgbClr val="8FB3A0"/>
                </a:solidFill>
                <a:latin typeface="Courier New" pitchFamily="34" charset="0"/>
                <a:ea typeface="Courier New" pitchFamily="34" charset="-122"/>
                <a:cs typeface="Courier New" pitchFamily="34" charset="-120"/>
              </a:rPr>
              <a:t># note: C5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255                </a:t>
            </a:r>
            <a:pPr indent="0" marL="0">
              <a:buNone/>
            </a:pPr>
            <a:r>
              <a:rPr lang="en-US" sz="1800" dirty="0">
                <a:solidFill>
                  <a:srgbClr val="8FB3A0"/>
                </a:solidFill>
                <a:latin typeface="Courier New" pitchFamily="34" charset="0"/>
                <a:ea typeface="Courier New" pitchFamily="34" charset="-122"/>
                <a:cs typeface="Courier New" pitchFamily="34" charset="-120"/>
              </a:rPr>
              <a:t># volume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60                 </a:t>
            </a:r>
            <a:pPr indent="0" marL="0">
              <a:buNone/>
            </a:pPr>
            <a:r>
              <a:rPr lang="en-US" sz="1800" dirty="0">
                <a:solidFill>
                  <a:srgbClr val="8FB3A0"/>
                </a:solidFill>
                <a:latin typeface="Courier New" pitchFamily="34" charset="0"/>
                <a:ea typeface="Courier New" pitchFamily="34" charset="-122"/>
                <a:cs typeface="Courier New" pitchFamily="34" charset="-120"/>
              </a:rPr>
              <a:t># milliseconds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prg32_audio_note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Cinque argomenti, da a0 ad a4, poi la chiamata</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nota 72 è il Do5 nella numerazione MIDI</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suono viene per ultimo: il gioco funzionava anche senza</a:t>
            </a:r>
            <a:endParaRPr lang="en-US" sz="1700" dirty="0"/>
          </a:p>
        </p:txBody>
      </p:sp>
      <p:sp>
        <p:nvSpPr>
          <p:cNvPr id="14" name="Shape 12"/>
          <p:cNvSpPr/>
          <p:nvPr/>
        </p:nvSpPr>
        <p:spPr>
          <a:xfrm>
            <a:off x="7415987" y="91440"/>
            <a:ext cx="4227068" cy="274320"/>
          </a:xfrm>
          <a:prstGeom prst="rect">
            <a:avLst/>
          </a:prstGeom>
          <a:solidFill>
            <a:srgbClr val="FEF3C7"/>
          </a:solidFill>
          <a:ln w="12700">
            <a:solidFill>
              <a:srgbClr val="B45309"/>
            </a:solidFill>
            <a:prstDash val="solid"/>
          </a:ln>
        </p:spPr>
      </p:sp>
      <p:sp>
        <p:nvSpPr>
          <p:cNvPr id="15" name="Shape 13"/>
          <p:cNvSpPr/>
          <p:nvPr/>
        </p:nvSpPr>
        <p:spPr>
          <a:xfrm>
            <a:off x="7415987" y="91440"/>
            <a:ext cx="27432" cy="274320"/>
          </a:xfrm>
          <a:prstGeom prst="rect">
            <a:avLst/>
          </a:prstGeom>
          <a:solidFill>
            <a:srgbClr val="B45309"/>
          </a:solidFill>
          <a:ln w="12700">
            <a:solidFill>
              <a:srgbClr val="B45309"/>
            </a:solidFill>
            <a:prstDash val="solid"/>
          </a:ln>
        </p:spPr>
      </p:sp>
      <p:sp>
        <p:nvSpPr>
          <p:cNvPr id="16" name="Shape 14"/>
          <p:cNvSpPr/>
          <p:nvPr/>
        </p:nvSpPr>
        <p:spPr>
          <a:xfrm>
            <a:off x="7470851"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7544003" y="128016"/>
            <a:ext cx="201168" cy="201168"/>
          </a:xfrm>
          <a:prstGeom prst="rect">
            <a:avLst/>
          </a:prstGeom>
        </p:spPr>
      </p:pic>
      <p:sp>
        <p:nvSpPr>
          <p:cNvPr id="18" name="Text 15"/>
          <p:cNvSpPr txBox="1"/>
          <p:nvPr/>
        </p:nvSpPr>
        <p:spPr>
          <a:xfrm>
            <a:off x="7800035" y="91440"/>
            <a:ext cx="380644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chiamate del runtime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draw: il punteggio a tacche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verm1_draw: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prg32_gfx_clear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prg32_gfx_text8</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s0, 0                  </a:t>
            </a:r>
            <a:pPr indent="0" marL="0">
              <a:buNone/>
            </a:pPr>
            <a:r>
              <a:rPr lang="en-US" sz="1100" dirty="0">
                <a:solidFill>
                  <a:srgbClr val="8FB3A0"/>
                </a:solidFill>
                <a:latin typeface="Courier New" pitchFamily="34" charset="0"/>
                <a:ea typeface="Courier New" pitchFamily="34" charset="-122"/>
                <a:cs typeface="Courier New" pitchFamily="34" charset="-120"/>
              </a:rPr>
              <a:t># s0 = i: one mark per point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la   t0, score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bge  s0, t1, 2f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slli a0, s0, 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a0, a0, 56             </a:t>
            </a:r>
            <a:pPr indent="0" marL="0">
              <a:buNone/>
            </a:pPr>
            <a:r>
              <a:rPr lang="en-US" sz="1100" dirty="0">
                <a:solidFill>
                  <a:srgbClr val="8FB3A0"/>
                </a:solidFill>
                <a:latin typeface="Courier New" pitchFamily="34" charset="0"/>
                <a:ea typeface="Courier New" pitchFamily="34" charset="-122"/>
                <a:cs typeface="Courier New" pitchFamily="34" charset="-120"/>
              </a:rPr>
              <a:t># x = 56 + 4 * 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a2, 3</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prg32_gfx_rect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s0, s0,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1b</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2:</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conta le tacche: deve sopravvivere alle chiamate</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Perciò s0 è salvato nel frame, insieme a ra</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 rettangolino per punto, a 4 pixel di distanza</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Il ciclo finisce quando s0 raggiunge il punteggio</a:t>
            </a:r>
            <a:endParaRPr lang="en-US" sz="1500" dirty="0"/>
          </a:p>
        </p:txBody>
      </p:sp>
      <p:sp>
        <p:nvSpPr>
          <p:cNvPr id="17" name="Shape 15"/>
          <p:cNvSpPr/>
          <p:nvPr/>
        </p:nvSpPr>
        <p:spPr>
          <a:xfrm>
            <a:off x="6650431" y="91440"/>
            <a:ext cx="4992624" cy="274320"/>
          </a:xfrm>
          <a:prstGeom prst="rect">
            <a:avLst/>
          </a:prstGeom>
          <a:solidFill>
            <a:srgbClr val="FEF3C7"/>
          </a:solidFill>
          <a:ln w="12700">
            <a:solidFill>
              <a:srgbClr val="B45309"/>
            </a:solidFill>
            <a:prstDash val="solid"/>
          </a:ln>
        </p:spPr>
      </p:sp>
      <p:sp>
        <p:nvSpPr>
          <p:cNvPr id="18" name="Shape 16"/>
          <p:cNvSpPr/>
          <p:nvPr/>
        </p:nvSpPr>
        <p:spPr>
          <a:xfrm>
            <a:off x="6650431" y="91440"/>
            <a:ext cx="27432" cy="274320"/>
          </a:xfrm>
          <a:prstGeom prst="rect">
            <a:avLst/>
          </a:prstGeom>
          <a:solidFill>
            <a:srgbClr val="B45309"/>
          </a:solidFill>
          <a:ln w="12700">
            <a:solidFill>
              <a:srgbClr val="B45309"/>
            </a:solidFill>
            <a:prstDash val="solid"/>
          </a:ln>
        </p:spPr>
      </p:sp>
      <p:sp>
        <p:nvSpPr>
          <p:cNvPr id="19" name="Shape 17"/>
          <p:cNvSpPr/>
          <p:nvPr/>
        </p:nvSpPr>
        <p:spPr>
          <a:xfrm>
            <a:off x="670529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6778447" y="128016"/>
            <a:ext cx="201168" cy="201168"/>
          </a:xfrm>
          <a:prstGeom prst="rect">
            <a:avLst/>
          </a:prstGeom>
        </p:spPr>
      </p:pic>
      <p:sp>
        <p:nvSpPr>
          <p:cNvPr id="21" name="Text 18"/>
          <p:cNvSpPr txBox="1"/>
          <p:nvPr/>
        </p:nvSpPr>
        <p:spPr>
          <a:xfrm>
            <a:off x="7034479" y="91440"/>
            <a:ext cx="457200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la convenzione di chiamata</a:t>
            </a:r>
            <a:pPr indent="0" marL="0">
              <a:buNone/>
            </a:pPr>
            <a:r>
              <a:rPr lang="en-US" sz="1100" b="1" dirty="0">
                <a:solidFill>
                  <a:srgbClr val="92400E"/>
                </a:solidFill>
                <a:latin typeface="Calibri" pitchFamily="34" charset="0"/>
                <a:ea typeface="Calibri" pitchFamily="34" charset="-122"/>
                <a:cs typeface="Calibri" pitchFamily="34" charset="-120"/>
              </a:rPr>
              <a:t> → Lezione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MODIFICATO  draw: cibo e testa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 stesse tre righe due volte: colonna, riga, colore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draw_cell fa la conversione in pixel</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testa si disegna per ultima: copre il cibo</a:t>
            </a:r>
            <a:endParaRPr lang="en-US" sz="1700" dirty="0"/>
          </a:p>
        </p:txBody>
      </p:sp>
      <p:sp>
        <p:nvSpPr>
          <p:cNvPr id="14" name="Shape 12"/>
          <p:cNvSpPr/>
          <p:nvPr/>
        </p:nvSpPr>
        <p:spPr>
          <a:xfrm>
            <a:off x="7526350" y="91440"/>
            <a:ext cx="4116705" cy="274320"/>
          </a:xfrm>
          <a:prstGeom prst="rect">
            <a:avLst/>
          </a:prstGeom>
          <a:solidFill>
            <a:srgbClr val="E0F2FE"/>
          </a:solidFill>
          <a:ln w="12700">
            <a:solidFill>
              <a:srgbClr val="0369A1"/>
            </a:solidFill>
            <a:prstDash val="solid"/>
          </a:ln>
        </p:spPr>
      </p:sp>
      <p:sp>
        <p:nvSpPr>
          <p:cNvPr id="15" name="Shape 13"/>
          <p:cNvSpPr/>
          <p:nvPr/>
        </p:nvSpPr>
        <p:spPr>
          <a:xfrm>
            <a:off x="752635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7" name="Text 14"/>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argomenti in a0 ...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NUOVO  draw_cell: dalle celle ai pixel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L'aritmetica della Parte 1, scritta una volta sola</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colore arriva in a2 e deve uscire in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Va spostato per primo: a2 sta per essere sovrascritto</a:t>
            </a:r>
            <a:endParaRPr lang="en-US" sz="1700" dirty="0"/>
          </a:p>
        </p:txBody>
      </p:sp>
      <p:sp>
        <p:nvSpPr>
          <p:cNvPr id="14" name="Shape 12"/>
          <p:cNvSpPr/>
          <p:nvPr/>
        </p:nvSpPr>
        <p:spPr>
          <a:xfrm>
            <a:off x="7526350" y="91440"/>
            <a:ext cx="4116705" cy="274320"/>
          </a:xfrm>
          <a:prstGeom prst="rect">
            <a:avLst/>
          </a:prstGeom>
          <a:solidFill>
            <a:srgbClr val="E0F2FE"/>
          </a:solidFill>
          <a:ln w="12700">
            <a:solidFill>
              <a:srgbClr val="0369A1"/>
            </a:solidFill>
            <a:prstDash val="solid"/>
          </a:ln>
        </p:spPr>
      </p:sp>
      <p:sp>
        <p:nvSpPr>
          <p:cNvPr id="15" name="Shape 13"/>
          <p:cNvSpPr/>
          <p:nvPr/>
        </p:nvSpPr>
        <p:spPr>
          <a:xfrm>
            <a:off x="752635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7" name="Text 14"/>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argomenti in a0 ...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Verm1, Parte 2</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2.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La testa, il cibo, e due tacche dopo il titolo: due punti</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Atteso: una cella rossa da qualche parte; guidate la testa su di essa; suona una nota, compare una tacca accanto a VERM1, il cibo si sposta.</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una testa che guidate, una cella rossa di cibo che si sposta quando viene mangiata, una nota, e una tacca per punto accanto a VERM1.</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guidate con il joystick; l'inversione a U è rifiutata</a:t>
            </a:r>
            <a:endParaRPr lang="en-US" sz="2400" dirty="0"/>
          </a:p>
        </p:txBody>
      </p:sp>
      <p:pic>
        <p:nvPicPr>
          <p:cNvPr id="7" name="Image 0" descr="/Users/raffaelemontella/devel/riscv-prg32/computer-architecture-with-prg32/tools/assets/verm1_p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Fatelo vostro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Fate del pulsante A un freno: mentre è premuto, il timer non avanza</a:t>
            </a:r>
            <a:endParaRPr lang="en-US" sz="2400" dirty="0"/>
          </a:p>
        </p:txBody>
      </p:sp>
      <p:sp>
        <p:nvSpPr>
          <p:cNvPr id="6" name="Text 4"/>
          <p:cNvSpPr txBox="1"/>
          <p:nvPr/>
        </p:nvSpPr>
        <p:spPr>
          <a:xfrm>
            <a:off x="548640" y="22443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60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Date due punti per un pezzo di cibo mangiato nella riga più in alto</a:t>
            </a:r>
            <a:endParaRPr lang="en-US" sz="2400" dirty="0"/>
          </a:p>
        </p:txBody>
      </p:sp>
      <p:sp>
        <p:nvSpPr>
          <p:cNvPr id="8" name="Text 6"/>
          <p:cNvSpPr txBox="1"/>
          <p:nvPr/>
        </p:nvSpPr>
        <p:spPr>
          <a:xfrm>
            <a:off x="548640" y="3053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0347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Disegnate la testa di un colore diverso per ogni direzione, usando una terza tabella di quattro colori</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Cambiate la codifica in RIGHT = 0, LEFT = 1, DOWN = 2, UP = 3: che cosa diventa la regola dell'inversione a U?</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Ogni modifica sono poche righe. Tenete una copia della Parte 2 funzionante prima di sperimentare: la Parte 3 parte da lì.</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2: la guida, il cibo e un punteggio: il codice</dc:title>
  <dc:subject>Lezione 12</dc:subject>
  <dc:creator>Raffaele Montella</dc:creator>
  <cp:lastModifiedBy>Raffaele Montella</cp:lastModifiedBy>
  <cp:revision>1</cp:revision>
  <dcterms:created xsi:type="dcterms:W3CDTF">2026-10-17T07:16:50Z</dcterms:created>
  <dcterms:modified xsi:type="dcterms:W3CDTF">2026-10-17T07:16:50Z</dcterms:modified>
</cp:coreProperties>
</file>