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5c72963-93bd-4b69-3d1e-3928f0be1ef0}">
          <p14:sldIdLst>
            <p14:sldId id="256"/>
            <p14:sldId id="257"/>
          </p14:sldIdLst>
        </p14:section>
        <p14:section name="I componenti di un calcolatore" id="{0ea5a381-9118-4601-3177-91ff64b96fc0}">
          <p14:sldIdLst>
            <p14:sldId id="258"/>
            <p14:sldId id="259"/>
          </p14:sldIdLst>
        </p14:section>
        <p14:section name="Memorie non volatili" id="{d3a4c1dd-02f9-c4a8-9354-fcdfc399e90d}">
          <p14:sldIdLst>
            <p14:sldId id="260"/>
            <p14:sldId id="261"/>
          </p14:sldIdLst>
        </p14:section>
        <p14:section name="La cache" id="{f056629f-2edb-63cb-1a71-d63aec4dbf80}">
          <p14:sldIdLst>
            <p14:sldId id="262"/>
            <p14:sldId id="263"/>
            <p14:sldId id="264"/>
          </p14:sldIdLst>
        </p14:section>
        <p14:section name="La memoria secondaria" id="{fe922b48-552c-b4f5-e2ee-7dd0f7525a96}">
          <p14:sldIdLst>
            <p14:sldId id="265"/>
            <p14:sldId id="266"/>
            <p14:sldId id="267"/>
            <p14:sldId id="268"/>
          </p14:sldIdLst>
        </p14:section>
        <p14:section name="Dischi ottici" id="{85b998b5-6784-28be-ddba-130983962140}">
          <p14:sldIdLst>
            <p14:sldId id="269"/>
            <p14:sldId id="270"/>
          </p14:sldIdLst>
        </p14:section>
        <p14:section name="La memoria di massa a più livelli" id="{9a95524f-68cb-571f-9f40-a39ce931a323}">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la memoria che dimentica quando manca la corrente. Questa tratta le memorie che non dimenticano: i chip che contengono il firmware, i dischi, i supporti ottici, i nastri. Tra le due colloca la cache, una memoria piccola e veloce che nasconde la lentezza di una grande. La citazione è di un professore di calcolo numerico di questo Ateneo, e ogni studente prima o poi ne impara la verità: un dato non esiste se non è stato salvato.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Nominare le unità funzionali di un calcolatore e trovarle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come si legge un compact disc. E collocare flash, dischi a stato solido, dischi rigidi e nastri in un sistema di memoria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riquadri: il processore, la memoria centrale, la memoria secondaria, i dispositivi di ingresso e uscita, le linee di comunicazione, e un'osservazione sul contenitore. Ogni riquadro nomina l'unità e poi dice dove sta sul kit: il core RISC-V, i 512 KB di SRAM, il chip flash, il display con joystick e amplificatore. L'ultimo riquadro è la differenza tra un PC e un microcontrollore: il primo distribuisce le unità su una scheda madre, il secondo le mette quasi tutte in un solo contenitore.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conservato in una memoria non volatile. In un PC si chiamava BIOS e faceva quattro lavori: provare i dispositivi all'accensione, configurarli, avviare il sistema operativo, e offrire funzioni di base per tastiera e dischi; oggi il suo erede si chiama UEFI. Il kit ha una catena simile: un piccolo programma in ROM lancia un bootloader in flash, che lancia il firmware PRG32, che carica la cartuccia scelta. Ogni stadio trova, controlla e avvia il successivo.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dall'alto in basso come una storia della comodità. Una ROM è scritta dal costruttore una volta per tutte. Una PROM può essere scritta dall'utente, una volta. Una EPROM si può cancellare, tutta insieme, esponendola alla luce ultravioletta attraverso una finestrella, e riscrivere. Una EEPROM si cancella elettricamente, un byte alla volta, senza rimuoverla. La flash si cancella elettricamente a blocchi: meno flessibile della EEPROM, ma molto più economica, e oggi è ovunque.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spiegano come la si usa. Si cancella a blocchi, non a byte singoli: cancellare porta a 1 tutti i bit di un blocco, e scrivere può solo trasformare degli 1 in 0. Ogni blocco sopporta un numero limitato di cancellazioni, quindi un controllore distribuisce le scritture in modo uniforme. E la lettura è veloce, mentre la scrittura e soprattutto la cancellazione sono lente. Ecco perché il punteggio migliore del riscaldamento non viene semplicemente scritto nella cartuccia a ogni frame: la flash non è un posto per le variabili.
Per il docente: Ecco perché il punteggio migliore del riscaldamento non viene semplicemente riscritto nella cartuccia a ogni frame: la flash non è un posto per le variabili.
Immagini: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aspetta, e più la memoria è lenta più cicli di clock si perdono. Perché non fare tutta la memoria veloce quanto i registri? Perché dovrebbe stare sullo stesso chip del processore, e allora non potrebbe essere grande. Il compromesso: una memoria piccola e veloce sul chip del processore, e una più grande e più lenta raggiunta attraverso il bus.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sta tra il processore e la memoria centrale. A ogni accesso il processore guarda prima nella cache. Se il contenuto dell'indirizzo richiesto c'è, è un hit e il dato arriva subito. Se non c'è, è un miss: il dato viene copiato dalla memoria centrale nella cache, insieme a un certo numero di locazioni vicine. La scommessa che sta dietro è il principio di località: un programma che ha appena usato un indirizzo probabilmente userà di nuovo presto quello, o i suoi vicini. La ragione sono i cicli e i vettori.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 tipici. Un PC ha più livelli di cache: un primo livello di decine di kilobyte dentro ogni core, un secondo di centinaia di kilobyte, e un terzo di megabyte condiviso dai core. L'ultima colonna è il kit: nessuna cache davanti alla sua SRAM, perché quella memoria è già veloce quanto serve al core; solo la flash esterna si legge attraverso una piccola cache. Il confronto fra le tre colonne mostra anche quanto sono cresciute memoria centrale e memoria di massa in vent'anni.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definiscono le memorie secondarie rispetto alla memoria centrale. Sono non volatili. La loro capacità è di diversi ordini di grandezza maggiore. Il loro costo per bit è di diversi ordini di grandezza minore. E il loro accesso è di alcuni ordini di grandezza più lento. Altri due fatti riguardano l'organizzazione: l'informazione è memorizzata a blocchi, non a byte singoli, e alcuni supporti permettono l'accesso diretto a qualunque blocco mentre altri, come i nastri, solo l'accesso sequenziale.
Per il docente: La memoria secondaria memorizza e conserva tutti i programmi e i dati del calcolatore; la memoria centrale contiene i programmi in esecuzione e i dati che servono loro.
Immagini: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materiale magnetizzabile ruotano a velocità costante, e delle testine leggono e scrivono. La superficie è divisa in tracce concentriche e in settori, spicchi come quelli di una torta. Un settore taglia ogni traccia in blocchi, e il blocco, identificato da traccia e settore, è la più piccola unità indirizzabile. La formattazione è l'operazione che traccia questa divisione. L'accesso è diretto: la testina va su qualunque blocco senza passare su tutti i precedenti.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tempi. Tempo di posizionamento: quello per spostare la testina in senso radiale sulla traccia giusta. Latenza: l'attesa che il settore desiderato passi sotto la testina, che dipende dalla velocità di rotazione. Tempo di trasferimento: quello perché il blocco passi sotto la testina. Il totale è questione di millisecondi: un milione di volte più lento della RAM. Nel tempo di un accesso al disco il processore del kit potrebbe eseguire più di centomila istruzioni.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per lo stesso lavoro. Un disco rigido ha piatti magnetici e testine mobili: il suo tempo di accesso è dominato dalla meccanica, ma il costo per terabyte è il più basso, e resta la scelta per grandi archivi e backup. Un disco a stato solido è memoria flash con un controllore e nessuna parte mobile: il suo tempo di accesso è di decine di microsecondi, ed è la memoria di massa standard di portatili e telefoni. È la stessa tecnologia del chip flash del kit.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è letto da un raggio laser la cui riflessione cambia tra le cavità, i pit, e la superficie piana, il land. Il punto che all'esame viene sempre chiesto: 0 e 1 non sono pit e land. Un 1 è un cambiamento, da pit a land o da land a pit; uno 0 è nessun cambiamento. Questi dischi di solito si scrivono una volta sola, perché la modifica fisica è irreversibile, e questo li rende adatti a distribuire programmi e ad archivi che non devono essere alterati.
Per il docente: Codificare un 1 come transizione è un'idea autosincronizzante, usata anche in molti collegamenti seriali.
Immagini: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compact disc l'informazione sta su un'unica traccia a spirale, con una distanza di 1,6 micrometri tra una spira e la successiva. La densità di registrazione è costante lungo la spirale, quindi per leggere a ritmo costante il disco deve girare più in fretta vicino al centro e più lentamente vicino al bordo: è la velocità lineare costante. L'alternativa, la velocità angolare costante, tiene costante la rotazione e spreca la parte esterna del disco. La velocità fu fissata in origine dalle esigenze della musica.
Per il docente: 1x = 1,2 m/s. CD registrabile: due strati di policarbonato racchiudono un sottile foglio riflettente coperto da un colorante traslucido.
Immagini: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che è un pezzo di memoria centrale usato come disco; i dischi a stato solido; i dischi rigidi; le librerie di dischi, in cui alcuni dischi sono accesi solo quando servono; e le librerie a nastri, in cui dei robot montano i nastri. Il sistema sposta i dati in automatico: ciò che si usa spesso migra verso i livelli veloci, il resto scende verso quelli economici. È l'idea della cache, applicata alla memoria di massa.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Scorrete la tabella delle memorie non volatili facendovi due domande per ciascuna: come si cancella, e quanto alla volta? Solo una si cancella elettricamente e a blocchi.
Un miss non è un errore. Il programma non si accorge di nulla, se non che questo accesso dura di più: il dato viene prelevato dalla memoria centrale e tenuto nella cache insieme ai suoi vicini.
Per il docente: 1. Risposta: D. La flash è l'evoluzione a blocchi della EEPROM. Alla EPROM serve la luce ultravioletta; ROM e PROM non si possono cancellare.
2.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Quale dei tre tempi è un'attesa che il disco giri? Il movimento del braccio non dipende dalla rotazione; formattazione e avvio non sono componenti del tempo di accesso.
Ricordate la regola dei dischi ottici: non conta il pit o il land, ma il passaggio dall'uno all'altro.
Per il docente: 1. Risposta: B. La latenza è l'attesa che il settore arrivi sotto la testina; il tempo di posizionamento dipende dal movimento del braccio.
2.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Motherboard è la scheda madre. Hit e miss di cache sono il successo e il fallimento nel trovare il dato. Seek time e latency, tempo di posizionamento e latenza, sono due componenti del tempo di accesso di un disco. Mass storage è la memoria di massa, cioè la memoria secondaria nel suo insieme. Una tape library è un sistema di memoria a nastri gestiti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di solito il firmware, il software di base di una macchina. La cache migliora le prestazioni tenendo vicino al processore una copia di parte della memoria centrale. La stessa idea, un livello piccolo e veloce davanti a uno grande e lento, si riusa nella memoria di massa. Le memorie permanenti possono essere a semiconduttore, magnetiche o ottiche. E un sistema moderno ha più livelli, gestiti in automatico. Ora viene la Parte 3 di Verm1, che usa la memoria come finora nel progetto non era mai stata usata.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16-Architettura_dei_Calcolatori-Memoria_Permanente-Codice.pptx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come si legge un compact disc</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aperto: piatto, braccio e testina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72610"/>
            <a:ext cx="4754880" cy="3844301"/>
          </a:xfrm>
          <a:prstGeom prst="rect">
            <a:avLst/>
          </a:prstGeom>
        </p:spPr>
      </p:pic>
      <p:sp>
        <p:nvSpPr>
          <p:cNvPr id="6" name="Shape 2"/>
          <p:cNvSpPr/>
          <p:nvPr/>
        </p:nvSpPr>
        <p:spPr>
          <a:xfrm>
            <a:off x="603504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8" name="Shape 4"/>
          <p:cNvSpPr/>
          <p:nvPr/>
        </p:nvSpPr>
        <p:spPr>
          <a:xfrm>
            <a:off x="6035040" y="2542032"/>
            <a:ext cx="146304" cy="146304"/>
          </a:xfrm>
          <a:prstGeom prst="rect">
            <a:avLst/>
          </a:prstGeom>
          <a:solidFill>
            <a:srgbClr val="C7791B"/>
          </a:solidFill>
          <a:ln w="12700">
            <a:solidFill>
              <a:srgbClr val="C7791B"/>
            </a:solidFill>
            <a:prstDash val="solid"/>
          </a:ln>
        </p:spPr>
      </p:sp>
      <p:sp>
        <p:nvSpPr>
          <p:cNvPr id="9" name="Text 5"/>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0" name="Shape 6"/>
          <p:cNvSpPr/>
          <p:nvPr/>
        </p:nvSpPr>
        <p:spPr>
          <a:xfrm>
            <a:off x="6035040" y="3312414"/>
            <a:ext cx="146304" cy="146304"/>
          </a:xfrm>
          <a:prstGeom prst="rect">
            <a:avLst/>
          </a:prstGeom>
          <a:solidFill>
            <a:srgbClr val="0E7C86"/>
          </a:solidFill>
          <a:ln w="12700">
            <a:solidFill>
              <a:srgbClr val="0E7C86"/>
            </a:solidFill>
            <a:prstDash val="solid"/>
          </a:ln>
        </p:spPr>
      </p:sp>
      <p:sp>
        <p:nvSpPr>
          <p:cNvPr id="11" name="Text 7"/>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2" name="Shape 8"/>
          <p:cNvSpPr/>
          <p:nvPr/>
        </p:nvSpPr>
        <p:spPr>
          <a:xfrm>
            <a:off x="6035040" y="4640580"/>
            <a:ext cx="146304" cy="146304"/>
          </a:xfrm>
          <a:prstGeom prst="rect">
            <a:avLst/>
          </a:prstGeom>
          <a:solidFill>
            <a:srgbClr val="C7791B"/>
          </a:solidFill>
          <a:ln w="12700">
            <a:solidFill>
              <a:srgbClr val="C7791B"/>
            </a:solidFill>
            <a:prstDash val="solid"/>
          </a:ln>
        </p:spPr>
      </p:sp>
      <p:sp>
        <p:nvSpPr>
          <p:cNvPr id="13" name="Text 9"/>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4" name="Shape 10"/>
          <p:cNvSpPr/>
          <p:nvPr/>
        </p:nvSpPr>
        <p:spPr>
          <a:xfrm>
            <a:off x="6035040" y="5410962"/>
            <a:ext cx="146304" cy="146304"/>
          </a:xfrm>
          <a:prstGeom prst="rect">
            <a:avLst/>
          </a:prstGeom>
          <a:solidFill>
            <a:srgbClr val="0E7C86"/>
          </a:solidFill>
          <a:ln w="12700">
            <a:solidFill>
              <a:srgbClr val="0E7C86"/>
            </a:solidFill>
            <a:prstDash val="solid"/>
          </a:ln>
        </p:spPr>
      </p:sp>
      <p:sp>
        <p:nvSpPr>
          <p:cNvPr id="15" name="Text 11"/>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di un CD-ROM stampato, al microscopio elettronico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accade su un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programma si ferma con un errore</a:t>
            </a:r>
            <a:endParaRPr lang="en-US" sz="15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15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cache viene cancellata</a:t>
            </a:r>
            <a:endParaRPr lang="en-US" sz="15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processore salta l'istruzione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posizionamento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latenza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formattazione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avvio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un disco ottico, un 1 è codificato come: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transizione tra pit e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doppio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2026-10-13T10:41:33Z</dcterms:created>
  <dcterms:modified xsi:type="dcterms:W3CDTF">2026-10-13T10:41:33Z</dcterms:modified>
</cp:coreProperties>
</file>