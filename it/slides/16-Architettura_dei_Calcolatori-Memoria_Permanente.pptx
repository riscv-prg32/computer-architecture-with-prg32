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84537771-1ff4-bc1d-b123-912c33535cad}">
          <p14:sldIdLst>
            <p14:sldId id="256"/>
            <p14:sldId id="257"/>
          </p14:sldIdLst>
        </p14:section>
        <p14:section name="I componenti di un calcolatore" id="{769c6f48-9f4f-8bdb-e666-bb7d529be47d}">
          <p14:sldIdLst>
            <p14:sldId id="258"/>
            <p14:sldId id="259"/>
          </p14:sldIdLst>
        </p14:section>
        <p14:section name="Memorie non volatili" id="{27835e83-7da1-0fa7-d729-4efb3104f2c8}">
          <p14:sldIdLst>
            <p14:sldId id="260"/>
            <p14:sldId id="261"/>
          </p14:sldIdLst>
        </p14:section>
        <p14:section name="La cache" id="{f5db51bb-2f08-fbf3-f284-20332a5c1dbc}">
          <p14:sldIdLst>
            <p14:sldId id="262"/>
            <p14:sldId id="263"/>
            <p14:sldId id="264"/>
          </p14:sldIdLst>
        </p14:section>
        <p14:section name="La memoria secondaria" id="{4b079192-dcb5-3e1d-12b6-fb041e85c3bc}">
          <p14:sldIdLst>
            <p14:sldId id="265"/>
            <p14:sldId id="266"/>
            <p14:sldId id="267"/>
            <p14:sldId id="268"/>
          </p14:sldIdLst>
        </p14:section>
        <p14:section name="Dischi ottici" id="{6e269f4a-d4c5-4746-6cbc-ce80adca4bf9}">
          <p14:sldIdLst>
            <p14:sldId id="269"/>
            <p14:sldId id="270"/>
          </p14:sldIdLst>
        </p14:section>
        <p14:section name="La memoria di massa a più livelli" id="{c8118a14-08d4-cdf2-7eb4-597bdf843951}">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lezione precedente ha trattato la memoria che dimentica quando si toglie l'alimentazione. Questa tratta le memorie che non dimenticano: i chip che contengono il firmware, i dischi magnetici, i supporti ottici e i nastri. Tra le due colloca la cache, una piccola memoria veloce che nasconde la lentezza di una grande, e l'idea che unifica la lezione è che questa stessa strategia ricorre a ogni scala. La citazione è di un professore di calcolo numerico di questo Ateneo, e ogni studente prima o poi ne impara la verità: un dato non esiste finché non è stato salvato.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ROM, flash, firmware; l'architettura di von Neumann; la cache; la memoria secondaria. DA UTILIZZARE OGGI: il programma completo, gli strumenti di PRG32 (si usa, non si studia, in questo corso). DA COMPRENDERE PIÙ AVANTI: niente. Una slide senza etichetta è contesto: una storia, un esempio, una domanda, un esercizio.
Per il docente: Spirale: una cartuccia conserva la stringa del titolo dopo uno spegnimento ma perde il punteggio migliore; la lezione spiega dove vive ciascuno, poi tratta ROM e flash, la cache, e la memoria di massa.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 risultati di apprendimento. Nominare le unità funzionali di un calcolatore e individuarle su una scheda madre e sul kit. Distinguere ROM, PROM, EPROM, EEPROM e flash, e dire che cos'è il firmware. Spiegare perché una cache rende più veloce un calcolatore, e che cos'è un miss. Descrivere tracce, settori e blocchi di un disco magnetico e le componenti del suo tempo di accesso. Spiegare come un disco ottico memorizza i bit e come si legge un compact disc. E collocare flash, dischi a stato solido, dischi rigidi e nastri in un sistema di memorizzazione a più livelli.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 schede: il processore, la memoria centrale, la memoria secondaria, i dispositivi di ingresso e uscita, le linee di comunicazione, e un'osservazione sull'integrazione fisica. Ogni scheda nomina l'unità e la individua sul kit: il core RISC-V, i 512 KB di SRAM, il chip di flash, il display con il suo joystick e l'amplificatore. L'ultima scheda dice la differenza tra un PC e un microcontrollore: il primo distribuisce le unità su una scheda madre, il secondo le integra quasi tutte in un solo contenitore.
DA COMPRENDERE OGGI: l'architettura di von Neumann.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firmware è il software di base contenuto in una memoria non volatile. In un PC si chiamava BIOS e svolgeva quattro compiti: verificare i dispositivi all'accensione, configurarli, avviare il sistema operativo, e offrire servizi elementari per tastiera e dischi; il suo successore contemporaneo è UEFI. Il kit ha una catena analoga: un piccolo programma in ROM avvia un bootloader in flash, che avvia il firmware di PRG32, che carica la cartuccia scelta. Ogni stadio individua, verifica e avvia il successivo, una struttura nota come catena di avvio.
DA COMPRENDERE OGGI: ROM, flash, firmware.
Per il docente: Ogni stadio trova, controlla e avvia il successivo: una catena che termina con la prima istruzione di first_init.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tabella, letta dall'alto in basso, è una storia di comodità crescente. Una ROM è scritta dal fabbricante una volta per tutte. Una PROM può essere scritta dall'utente, una volta. Una EPROM si può cancellare per intero esponendola alla luce ultravioletta attraverso una finestrella, e poi riscrivere. Una EEPROM si cancella elettricamente, un byte alla volta, senza toglierla dal circuito. La flash si cancella elettricamente a blocchi: meno flessibile della EEPROM, ma molto più economica per bit, e oggi onnipresente.
DA COMPRENDERE OGGI: ROM, flash, firmware.
Per il docente: Read-only memory, memoria di sola lettura; programmable ROM; erasable PROM; electrically erasable PROM. Tempo di accesso dell'ordine dei nanosecondi in lettura. EEPROM e flash sono più lente e, per bit, erano un tempo più care della RAM; la flash è oggi la memoria a semiconduttore più economica.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proprietà della flash ne determinano l'uso. Si cancella a blocchi, non per singoli byte: la cancellazione porta a 1 ogni bit di un blocco, e la scrittura può solo trasformare gli 1 in 0. Ogni blocco sopporta un numero limitato di cancellazioni, quindi un controllore distribuisce uniformemente le scritture, una tecnica chiamata wear levelling. E la lettura è veloce, mentre la scrittura, e soprattutto la cancellazione, sono lente. È per questo che il punteggio migliore del riscaldamento non viene semplicemente scritto nella cartuccia a ogni frame: la flash non è un supporto per variabili.
DA COMPRENDERE OGGI: ROM, flash, firmware.
Per il docente: Ecco perché il punteggio migliore del riscaldamento non viene semplicemente riscritto nella cartuccia a ogni frame: la flash non è un posto per le variabili.
Immagini: Pair of BIOS chips.jpg, Jud McCranie, CC BY-SA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Mentre la memoria viene letta o scritta il processore attende, e più la memoria è lenta, più cicli di clock si perdono. Perché non rendere tutta la memoria veloce quanto i registri? Perché dovrebbe allora risiedere sullo stesso chip del processore, il che impedisce di renderla grande. Il compromesso è una memoria piccola e veloce sul chip del processore e una più grande e lenta raggiunta attraverso il bus, che è la gerarchia di memoria della Lezione 15 ridotta ai suoi due livelli superiori.
DA COMPRENDERE OGGI: la cache.
Per il docente: La domanda della slide originale: perché non costruire memorie veloci quanto i registri della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cache si colloca tra il processore e la memoria centrale. A ogni accesso il processore guarda prima nella cache. Se il contenuto dell'indirizzo richiesto è presente, l'accesso è un hit e il dato arriva subito. Se non lo è, l'accesso è un miss: il dato viene copiato dalla memoria centrale nella cache, insieme a un certo numero di locazioni vicine, che formano una linea di cache. La scommessa alla base del progetto è il principio di località: un programma che ha appena usato un indirizzo è probabile che lo usi di nuovo presto, o che usi i suoi vicini. I cicli sono la fonte della località temporale, gli array di quella spaziale.
DA COMPRENDERE OGGI: la cache.
Per il docente: Il principio di località: un programma che ha appena usato un indirizzo probabilmente lo userà di nuovo presto (località temporale) e probabilmente userà i suoi vicini (località spaziale). La ragione sono i cicli e i vettori.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Cifre rappresentative. Un PC ha più livelli di cache: un primo livello di decine di kilobyte dentro ogni core, un secondo di centinaia di kilobyte, e un terzo di megabyte condiviso tra i core. L'ultima colonna è il kit: nessuna cache davanti alla sua SRAM, che è già veloce quanto il core richiede, e solo la flash esterna è letta attraverso una piccola cache. Il confronto tra le colonne mostra anche quanto sono cresciute memoria centrale e memorizzazione in vent'anni.
DA COMPRENDERE OGGI: la cache.
Per il docente: Primo livello (interno): mantiene un flusso continuo dentro il processore. Secondo livello: limita il rallentamento dovuto alla memoria centrale. Terzo livello (da 8 a 32 MB e oltre): condiviso dai core dello stesso processore. Le cache sono fatte di SRAM. Sull'ESP32-C6 la SRAM è già veloce quanto serve al core; solo la flash esterna sta dietro una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proprietà caratterizzano le memorie secondarie rispetto alla memoria centrale. Non sono volatili. La loro capacità è di diversi ordini di grandezza maggiore, e il loro costo per bit di diversi ordini di grandezza minore. Il loro accesso è di alcuni ordini di grandezza più lento. Due ulteriori fatti ne riguardano l'organizzazione: l'informazione si memorizza a blocchi, non per singoli byte, e alcuni supporti permettono l'accesso diretto a qualsiasi blocco mentre altri, come il nastro, solo l'accesso sequenziale.
DA COMPRENDERE OGGI: la memoria secondaria.
Per il docente: La memoria secondaria memorizza e conserva tutti i programmi e i dati del calcolatore; la memoria centrale contiene i programmi in esecuzione e i dati che servono loro.
Immagini: Open hard-drive.jpg, Zzubnik, Public domain,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geometria di un disco magnetico. Piatti rivestiti di un materiale magnetizzabile ruotano a velocità costante, mentre delle testine leggono e scrivono. La superficie è divisa in tracce concentriche e in settori, regioni a spicchio. Un settore divide ogni traccia in blocchi, e il blocco, identificato dalla sua traccia e dal suo settore, è la più piccola unità indirizzabile. La formattazione è l'operazione che stabilisce questa divisione. L'accesso è diretto: la testina può raggiungere qualsiasi blocco senza attraversare tutti quelli che lo precedono.
DA COMPRENDERE OGGI: la memoria secondaria.
Per il docente: Più settori formano un cluster; le tracce allo stesso raggio su tutti i piatti formano un cilindro. La figura originale è stata ridisegnata.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tempo di accesso di un disco è la somma di tre componenti. Il tempo di ricerca: il tempo per spostare radialmente la testina sulla traccia giusta. La latenza rotazionale: l'attesa che il settore desiderato arrivi sotto la testina, che dipende dalla velocità di rotazione. Il tempo di trasferimento: il tempo perché il blocco passi sotto la testina. Il totale è dell'ordine dei millisecondi, circa un milione di volte più lento della RAM: durante un accesso al disco il processore del kit potrebbe eseguire più di centomila istruzioni. Il divario spiega perché i sistemi operativi si impegnano tanto a evitare gli accessi al disco.
DA COMPRENDERE OGGI: la memoria secondaria.
Per il docente: Un millisecondo è un milione di nanosecondi: durante un accesso al disco un processore a 160 MHz potrebbe eseguire più di centomila istruzioni.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tecnologie che servono lo stesso scopo. Un disco rigido ha piatti magnetici e testine in movimento; il suo tempo di accesso è dominato dalla meccanica, ma il suo costo per terabyte è il più basso disponibile, e resta la scelta per grandi archivi e copie di sicurezza. Un disco a stato solido è memoria flash con un controllore e senza parti in movimento; il suo tempo di accesso è dell'ordine delle decine di microsecondi, ed è la memorizzazione standard di portatili e telefoni. Usa la stessa tecnologia del chip di flash del kit.
DA COMPRENDERE OGGI: la memoria secondaria.
Per il docente: Novità rispetto alla presentazione originale, che citava gli SSD solo tra i livelli di memoria di massa. Il bus ATA parallelo dei vecchi PC ha ceduto il posto al Serial ATA e poi a NVMe.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disco ottico si legge con un fascio laser il cui riflesso cambia tra le buche e la superficie piana, la land. Un punto viene immancabilmente chiesto all'esame: 0 e 1 non corrispondono a buca e land. Un 1 è una transizione, da buca a land o da land a buca; uno 0 è l'assenza di transizione. Questi dischi si scrivono di solito una volta sola, perché la modifica fisica è irreversibile, il che li rende adatti a distribuire software e ad archivi che non devono essere alterati.
DA COMPRENDERE OGGI: la memoria secondaria.
Per il docente: Codificare un 1 come transizione è un'idea autosincronizzante, usata anche in molti collegamenti seriali.
Immagini: CD-ROM pressed pits.jpg, Tycho, CC0,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 un compact disc l'informazione si trova su un'unica traccia a spirale, con 1,6 micrometri tra una spira e la successiva. La densità di registrazione è costante lungo la spirale, quindi per leggere a velocità costante il disco deve girare più in fretta vicino al centro e più lentamente vicino al bordo: è la velocità lineare costante. L'alternativa, la velocità angolare costante, mantiene fissa la rotazione e spreca capacità nella regione esterna. La velocità originaria fu dettata dalle esigenze della riproduzione audio.
DA COMPRENDERE OGGI: la memoria secondaria.
Per il docente: 1x = 1,2 m/s. CD registrabile: due strati di policarbonato racchiudono un sottile foglio riflettente coperto da un colorante traslucido.
Immagini: CD Player focusing lens assembly.jpg, Zim 256, CC BY-SA 3.0,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livelli di memoria permanente, dal più veloce al più economico: un RAM disk, una porzione di memoria centrale usata come disco; i dischi a stato solido; i dischi rigidi; le librerie di dischi, in cui alcuni dischi si alimentano solo quando servono; e le librerie di nastri, in cui dei robot montano i nastri. Il sistema sposta i dati automaticamente: i dati usati spesso migrano verso i livelli veloci, il resto scende verso quelli economici. È il principio della cache, applicato alla memorizzazione, e la lezione si chiude così sull'idea con cui era cominciata.
DA COMPRENDERE OGGI: la memoria secondaria.
Per il docente: La stessa idea della cache, applicata alla memoria di massa. Lo storage HPC del Dipartimento funziona così (visita alla fine del corso).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la prima domanda ogni voce della tabella delle memorie non volatili si esamina con due domande: come si cancella, e in quale quantità alla volta? Una sola si cancella elettricamente e a blocchi.
Per la seconda: un miss non è un errore. Il programma non osserva nulla oltre a un accesso più lungo: il dato viene prelevato dalla memoria centrale e conservato nella cache insieme ai suoi vicini.
Per il docente: 1. Risposta: D. La flash è l'evoluzione a blocchi della EEPROM. Alla EPROM serve la luce ultravioletta; ROM e PROM non si possono cancellare.
2. Risposta: B. L'accesso è semplicemente più lento: il blocco che contiene l'indirizzo viene caricato nella cache, scommettendo che presto serviranno indirizzi vicini.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la prima domanda ci si chiede quale delle tre componenti sia un'attesa che il disco ruoti. Il movimento del braccio non dipende dalla rotazione, e formattazione e avvio non sono componenti del tempo di accesso.
Per la seconda vale la regola dei dischi ottici: ciò che conta non è la buca o la land ma la transizione tra di esse.
Per il docente: 1. Risposta: B. La latenza è l'attesa che il settore arrivi sotto la testina; il tempo di posizionamento dipende dal movimento del braccio.
2. Risposta: C. Un cambio di riflettività, in un verso o nell'altro, è un 1; nessun cambio è uno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Dieci termini. La motherboard è la scheda madre. Un hit e un miss della cache indicano il successo e l'insuccesso nel trovare il dato. Seek time e latency sono due componenti del tempo di accesso di un disco. La mass storage indica la memoria secondaria nel suo insieme. Una tape library è un sistema di memorizzazione con nastri movimentati da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conclusioni. Le memorie non volatili contengono tipicamente il firmware, il software di base di una macchina. La cache migliora le prestazioni tenendo una copia di parte della memoria centrale vicino al processore. La stessa idea, un livello piccolo e veloce davanti a uno grande e lento, ricorre nei sistemi di memorizzazione. Le memorie permanenti possono essere a semiconduttore, magnetiche od ottiche. E un sistema moderno comprende più livelli, gestiti automaticamente. Segue la Parte 3 di Verm1, che usa la memoria come il progetto non l'ha ancora usata.
Stato di apprendimento, riepilogo. DA COMPRENDERE OGGI: ROM, flash, firmware; l'architettura di von Neumann; la cache; la memoria secondaria. DA UTILIZZARE OGGI: il programma completo, gli strumenti di PRG32 (si usa, non si studia, in questo corso). DA COMPRENDERE PIÙ AVANTI: niente. Una slide senza etichetta è contesto: una storia, un esempio, una domanda, un esercizio.
Per il docente: A seguire: Verm1, parte 3: un corpo, regole e stati. Poi il processore.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16: Memoria permanente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16</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La memoria permanente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Memorie non volatili, la cache, e la memoria di massa: magnetica, ottica e a stato solido</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“...un dato non esiste se non è stato salvato...”</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Prof. Almerico Murli, anni Novanta</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della lezione. I listati, il programma completo e come provarlo sono nella presentazione del codice: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16-Architettura_dei_Calcolatori-Memoria_Permanente-Lab.pptx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platformer.png">    </p:cNvPr>
          <p:cNvPicPr>
            <a:picLocks noChangeAspect="1"/>
          </p:cNvPicPr>
          <p:nvPr/>
        </p:nvPicPr>
        <p:blipFill>
          <a:blip r:embed="rId1"/>
          <a:stretch>
            <a:fillRect/>
          </a:stretch>
        </p:blipFill>
        <p:spPr>
          <a:xfrm>
            <a:off x="8915095" y="4251960"/>
            <a:ext cx="2438400" cy="1828800"/>
          </a:xfrm>
          <a:prstGeom prst="rect">
            <a:avLst/>
          </a:prstGeom>
        </p:spPr>
      </p:pic>
      <p:sp>
        <p:nvSpPr>
          <p:cNvPr id="15" name="Shape 12"/>
          <p:cNvSpPr/>
          <p:nvPr/>
        </p:nvSpPr>
        <p:spPr>
          <a:xfrm>
            <a:off x="8910777" y="91440"/>
            <a:ext cx="2732278" cy="274320"/>
          </a:xfrm>
          <a:prstGeom prst="rect">
            <a:avLst/>
          </a:prstGeom>
          <a:solidFill>
            <a:srgbClr val="F3E8FF"/>
          </a:solidFill>
          <a:ln w="12700">
            <a:solidFill>
              <a:srgbClr val="7E22CE"/>
            </a:solidFill>
            <a:prstDash val="dash"/>
          </a:ln>
        </p:spPr>
      </p:sp>
      <p:sp>
        <p:nvSpPr>
          <p:cNvPr id="16" name="Shape 13"/>
          <p:cNvSpPr/>
          <p:nvPr/>
        </p:nvSpPr>
        <p:spPr>
          <a:xfrm>
            <a:off x="8938209" y="128016"/>
            <a:ext cx="45720" cy="45720"/>
          </a:xfrm>
          <a:prstGeom prst="rect">
            <a:avLst/>
          </a:prstGeom>
          <a:solidFill>
            <a:srgbClr val="7E22CE"/>
          </a:solidFill>
          <a:ln w="12700">
            <a:solidFill>
              <a:srgbClr val="7E22CE"/>
            </a:solidFill>
            <a:prstDash val="solid"/>
          </a:ln>
        </p:spPr>
      </p:sp>
      <p:sp>
        <p:nvSpPr>
          <p:cNvPr id="17" name="Shape 14"/>
          <p:cNvSpPr/>
          <p:nvPr/>
        </p:nvSpPr>
        <p:spPr>
          <a:xfrm>
            <a:off x="8938209" y="205740"/>
            <a:ext cx="45720" cy="45720"/>
          </a:xfrm>
          <a:prstGeom prst="rect">
            <a:avLst/>
          </a:prstGeom>
          <a:solidFill>
            <a:srgbClr val="7E22CE"/>
          </a:solidFill>
          <a:ln w="12700">
            <a:solidFill>
              <a:srgbClr val="7E22CE"/>
            </a:solidFill>
            <a:prstDash val="solid"/>
          </a:ln>
        </p:spPr>
      </p:sp>
      <p:sp>
        <p:nvSpPr>
          <p:cNvPr id="18" name="Shape 15"/>
          <p:cNvSpPr/>
          <p:nvPr/>
        </p:nvSpPr>
        <p:spPr>
          <a:xfrm>
            <a:off x="8938209"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20" name="Text 16"/>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1" name="Shape 17"/>
          <p:cNvSpPr/>
          <p:nvPr/>
        </p:nvSpPr>
        <p:spPr>
          <a:xfrm>
            <a:off x="6675069" y="91440"/>
            <a:ext cx="2125980" cy="274320"/>
          </a:xfrm>
          <a:prstGeom prst="rect">
            <a:avLst/>
          </a:prstGeom>
          <a:solidFill>
            <a:srgbClr val="FEF3C7"/>
          </a:solidFill>
          <a:ln w="12700">
            <a:solidFill>
              <a:srgbClr val="B45309"/>
            </a:solidFill>
            <a:prstDash val="solid"/>
          </a:ln>
        </p:spPr>
      </p:sp>
      <p:sp>
        <p:nvSpPr>
          <p:cNvPr id="22" name="Shape 18"/>
          <p:cNvSpPr/>
          <p:nvPr/>
        </p:nvSpPr>
        <p:spPr>
          <a:xfrm>
            <a:off x="6675069" y="91440"/>
            <a:ext cx="27432" cy="274320"/>
          </a:xfrm>
          <a:prstGeom prst="rect">
            <a:avLst/>
          </a:prstGeom>
          <a:solidFill>
            <a:srgbClr val="B45309"/>
          </a:solidFill>
          <a:ln w="12700">
            <a:solidFill>
              <a:srgbClr val="B45309"/>
            </a:solidFill>
            <a:prstDash val="solid"/>
          </a:ln>
        </p:spPr>
      </p:sp>
      <p:sp>
        <p:nvSpPr>
          <p:cNvPr id="23" name="Shape 19"/>
          <p:cNvSpPr/>
          <p:nvPr/>
        </p:nvSpPr>
        <p:spPr>
          <a:xfrm>
            <a:off x="672993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5" name="Text 20"/>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6" name="Shape 21"/>
          <p:cNvSpPr/>
          <p:nvPr/>
        </p:nvSpPr>
        <p:spPr>
          <a:xfrm>
            <a:off x="4352747" y="91440"/>
            <a:ext cx="2212594" cy="274320"/>
          </a:xfrm>
          <a:prstGeom prst="rect">
            <a:avLst/>
          </a:prstGeom>
          <a:solidFill>
            <a:srgbClr val="E0F2FE"/>
          </a:solidFill>
          <a:ln w="12700">
            <a:solidFill>
              <a:srgbClr val="0369A1"/>
            </a:solidFill>
            <a:prstDash val="solid"/>
          </a:ln>
        </p:spPr>
      </p:sp>
      <p:sp>
        <p:nvSpPr>
          <p:cNvPr id="27" name="Shape 22"/>
          <p:cNvSpPr/>
          <p:nvPr/>
        </p:nvSpPr>
        <p:spPr>
          <a:xfrm>
            <a:off x="435274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9" name="Text 23"/>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saprete fare alla fine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Nominare le unità funzionali di un calcolatore e riconoscerle su una scheda madre e sul kit PRG32</a:t>
            </a:r>
            <a:endParaRPr lang="en-US" sz="2200" dirty="0"/>
          </a:p>
        </p:txBody>
      </p:sp>
      <p:sp>
        <p:nvSpPr>
          <p:cNvPr id="5" name="Text 3"/>
          <p:cNvSpPr txBox="1"/>
          <p:nvPr/>
        </p:nvSpPr>
        <p:spPr>
          <a:xfrm>
            <a:off x="548640" y="229880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28051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Distinguere ROM, PROM, EPROM, EEPROM e flash, e dire che cos'è il firmware</a:t>
            </a:r>
            <a:endParaRPr lang="en-US" sz="2200" dirty="0"/>
          </a:p>
        </p:txBody>
      </p:sp>
      <p:sp>
        <p:nvSpPr>
          <p:cNvPr id="7" name="Text 5"/>
          <p:cNvSpPr txBox="1"/>
          <p:nvPr/>
        </p:nvSpPr>
        <p:spPr>
          <a:xfrm>
            <a:off x="548640" y="2919171"/>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900883"/>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perché una cache rende più veloce un calcolatore, e che cos'è un cache miss</a:t>
            </a:r>
            <a:endParaRPr lang="en-US" sz="2200" dirty="0"/>
          </a:p>
        </p:txBody>
      </p:sp>
      <p:sp>
        <p:nvSpPr>
          <p:cNvPr id="9" name="Text 7"/>
          <p:cNvSpPr txBox="1"/>
          <p:nvPr/>
        </p:nvSpPr>
        <p:spPr>
          <a:xfrm>
            <a:off x="548640" y="378236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764077"/>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Descrivere tracce, settori e blocchi di un disco magnetico e le componenti del suo tempo di accesso</a:t>
            </a:r>
            <a:endParaRPr lang="en-US" sz="2200" dirty="0"/>
          </a:p>
        </p:txBody>
      </p:sp>
      <p:sp>
        <p:nvSpPr>
          <p:cNvPr id="11" name="Text 9"/>
          <p:cNvSpPr txBox="1"/>
          <p:nvPr/>
        </p:nvSpPr>
        <p:spPr>
          <a:xfrm>
            <a:off x="548640" y="464555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62727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come un disco ottico memorizza i bit, e come si legge un compact disc</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Collocare flash, dischi a stato solido, dischi rigidi e nastri in un sistema di memoria a più livelli</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Unità funzionali di un calcolatore</a:t>
            </a:r>
            <a:endParaRPr lang="en-US" sz="3200" dirty="0"/>
          </a:p>
        </p:txBody>
      </p:sp>
      <p:sp>
        <p:nvSpPr>
          <p:cNvPr id="3" name="Shape 1"/>
          <p:cNvSpPr/>
          <p:nvPr/>
        </p:nvSpPr>
        <p:spPr>
          <a:xfrm>
            <a:off x="548640" y="1417320"/>
            <a:ext cx="351525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Processore</a:t>
            </a:r>
            <a:endParaRPr lang="en-US" sz="2000" dirty="0"/>
          </a:p>
        </p:txBody>
      </p:sp>
      <p:sp>
        <p:nvSpPr>
          <p:cNvPr id="6" name="Text 4"/>
          <p:cNvSpPr txBox="1"/>
          <p:nvPr/>
        </p:nvSpPr>
        <p:spPr>
          <a:xfrm>
            <a:off x="822960" y="23317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Esegue le istruzioni. Sul kit: il core RISC-V dell'ESP32-C6.</a:t>
            </a:r>
            <a:endParaRPr lang="en-US" sz="1500" dirty="0"/>
          </a:p>
        </p:txBody>
      </p:sp>
      <p:sp>
        <p:nvSpPr>
          <p:cNvPr id="7" name="Shape 5"/>
          <p:cNvSpPr/>
          <p:nvPr/>
        </p:nvSpPr>
        <p:spPr>
          <a:xfrm>
            <a:off x="4338218" y="1417320"/>
            <a:ext cx="351525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456681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5115458"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Memoria centrale</a:t>
            </a:r>
            <a:endParaRPr lang="en-US" sz="2000" dirty="0"/>
          </a:p>
        </p:txBody>
      </p:sp>
      <p:sp>
        <p:nvSpPr>
          <p:cNvPr id="10" name="Text 8"/>
          <p:cNvSpPr txBox="1"/>
          <p:nvPr/>
        </p:nvSpPr>
        <p:spPr>
          <a:xfrm>
            <a:off x="4612538" y="23317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Contiene i programmi in esecuzione e i loro dati. Sul kit: 512 KB di SRAM dentro il chip.</a:t>
            </a:r>
            <a:endParaRPr lang="en-US" sz="1500" dirty="0"/>
          </a:p>
        </p:txBody>
      </p:sp>
      <p:sp>
        <p:nvSpPr>
          <p:cNvPr id="11" name="Shape 9"/>
          <p:cNvSpPr/>
          <p:nvPr/>
        </p:nvSpPr>
        <p:spPr>
          <a:xfrm>
            <a:off x="8127797" y="1417320"/>
            <a:ext cx="351525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8356397" y="16459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05037"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Memoria secondaria</a:t>
            </a:r>
            <a:endParaRPr lang="en-US" sz="2000" dirty="0"/>
          </a:p>
        </p:txBody>
      </p:sp>
      <p:sp>
        <p:nvSpPr>
          <p:cNvPr id="14" name="Text 12"/>
          <p:cNvSpPr txBox="1"/>
          <p:nvPr/>
        </p:nvSpPr>
        <p:spPr>
          <a:xfrm>
            <a:off x="8402117" y="23317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Conserva programmi e dati a macchina spenta. Sul kit: il chip flash che contiene firmware e cartucce.</a:t>
            </a:r>
            <a:endParaRPr lang="en-US" sz="1500" dirty="0"/>
          </a:p>
        </p:txBody>
      </p:sp>
      <p:sp>
        <p:nvSpPr>
          <p:cNvPr id="15" name="Shape 13"/>
          <p:cNvSpPr/>
          <p:nvPr/>
        </p:nvSpPr>
        <p:spPr>
          <a:xfrm>
            <a:off x="548640" y="3931920"/>
            <a:ext cx="351525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777240"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325880"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Dispositivi di ingresso/uscita</a:t>
            </a:r>
            <a:endParaRPr lang="en-US" sz="2000" dirty="0"/>
          </a:p>
        </p:txBody>
      </p:sp>
      <p:sp>
        <p:nvSpPr>
          <p:cNvPr id="18" name="Text 16"/>
          <p:cNvSpPr txBox="1"/>
          <p:nvPr/>
        </p:nvSpPr>
        <p:spPr>
          <a:xfrm>
            <a:off x="822960" y="48463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Scheda video e monitor, tastiera, mouse, stampante, memoria di massa. Sul kit: display, joystick, amplificatore.</a:t>
            </a:r>
            <a:endParaRPr lang="en-US" sz="1500" dirty="0"/>
          </a:p>
        </p:txBody>
      </p:sp>
      <p:sp>
        <p:nvSpPr>
          <p:cNvPr id="19" name="Shape 17"/>
          <p:cNvSpPr/>
          <p:nvPr/>
        </p:nvSpPr>
        <p:spPr>
          <a:xfrm>
            <a:off x="4338218" y="3931920"/>
            <a:ext cx="3515258" cy="2240280"/>
          </a:xfrm>
          <a:prstGeom prst="roundRect">
            <a:avLst>
              <a:gd name="adj" fmla="val 3265"/>
            </a:avLst>
          </a:prstGeom>
          <a:solidFill>
            <a:srgbClr val="EEF2F4"/>
          </a:solidFill>
          <a:ln w="12700">
            <a:solidFill>
              <a:srgbClr val="EEF2F4"/>
            </a:solidFill>
            <a:prstDash val="solid"/>
          </a:ln>
        </p:spPr>
      </p:sp>
      <p:sp>
        <p:nvSpPr>
          <p:cNvPr id="20" name="Text 18"/>
          <p:cNvSpPr txBox="1"/>
          <p:nvPr/>
        </p:nvSpPr>
        <p:spPr>
          <a:xfrm>
            <a:off x="4566818" y="4160520"/>
            <a:ext cx="384048" cy="384048"/>
          </a:xfrm>
          <a:prstGeom prst="roundRect">
            <a:avLst>
              <a:gd name="adj" fmla="val 19048"/>
            </a:avLst>
          </a:prstGeom>
          <a:solidFill>
            <a:srgbClr val="B23A48"/>
          </a:solidFill>
          <a:ln>
            <a:solidFill>
              <a:srgbClr val="B23A4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5115458"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Linee di comunicazione</a:t>
            </a:r>
            <a:endParaRPr lang="en-US" sz="2000" dirty="0"/>
          </a:p>
        </p:txBody>
      </p:sp>
      <p:sp>
        <p:nvSpPr>
          <p:cNvPr id="22" name="Text 20"/>
          <p:cNvSpPr txBox="1"/>
          <p:nvPr/>
        </p:nvSpPr>
        <p:spPr>
          <a:xfrm>
            <a:off x="4612538" y="48463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I bus: linee di dati e di indirizzo condivise da tutte le unità.</a:t>
            </a:r>
            <a:endParaRPr lang="en-US" sz="1500" dirty="0"/>
          </a:p>
        </p:txBody>
      </p:sp>
      <p:sp>
        <p:nvSpPr>
          <p:cNvPr id="23" name="Shape 21"/>
          <p:cNvSpPr/>
          <p:nvPr/>
        </p:nvSpPr>
        <p:spPr>
          <a:xfrm>
            <a:off x="8127797" y="3931920"/>
            <a:ext cx="3515258" cy="2240280"/>
          </a:xfrm>
          <a:prstGeom prst="roundRect">
            <a:avLst>
              <a:gd name="adj" fmla="val 3265"/>
            </a:avLst>
          </a:prstGeom>
          <a:solidFill>
            <a:srgbClr val="EEF2F4"/>
          </a:solidFill>
          <a:ln w="12700">
            <a:solidFill>
              <a:srgbClr val="EEF2F4"/>
            </a:solidFill>
            <a:prstDash val="solid"/>
          </a:ln>
        </p:spPr>
      </p:sp>
      <p:sp>
        <p:nvSpPr>
          <p:cNvPr id="24" name="Text 22"/>
          <p:cNvSpPr txBox="1"/>
          <p:nvPr/>
        </p:nvSpPr>
        <p:spPr>
          <a:xfrm>
            <a:off x="8356397" y="4160520"/>
            <a:ext cx="384048" cy="384048"/>
          </a:xfrm>
          <a:prstGeom prst="roundRect">
            <a:avLst>
              <a:gd name="adj" fmla="val 19048"/>
            </a:avLst>
          </a:prstGeom>
          <a:solidFill>
            <a:srgbClr val="2E4A62"/>
          </a:solidFill>
          <a:ln>
            <a:solidFill>
              <a:srgbClr val="2E4A62"/>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8905037"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Un chip o molti</a:t>
            </a:r>
            <a:endParaRPr lang="en-US" sz="2000" dirty="0"/>
          </a:p>
        </p:txBody>
      </p:sp>
      <p:sp>
        <p:nvSpPr>
          <p:cNvPr id="26" name="Text 24"/>
          <p:cNvSpPr txBox="1"/>
          <p:nvPr/>
        </p:nvSpPr>
        <p:spPr>
          <a:xfrm>
            <a:off x="8402117" y="48463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Un PC distribuisce queste unità su una scheda madre; un microcontrollore le mette quasi tutte in un solo contenitore.</a:t>
            </a:r>
            <a:endParaRPr lang="en-US" sz="1500" dirty="0"/>
          </a:p>
        </p:txBody>
      </p:sp>
      <p:sp>
        <p:nvSpPr>
          <p:cNvPr id="27" name="Shape 25"/>
          <p:cNvSpPr/>
          <p:nvPr/>
        </p:nvSpPr>
        <p:spPr>
          <a:xfrm>
            <a:off x="7329373" y="91440"/>
            <a:ext cx="4313682" cy="274320"/>
          </a:xfrm>
          <a:prstGeom prst="rect">
            <a:avLst/>
          </a:prstGeom>
          <a:solidFill>
            <a:srgbClr val="E0F2FE"/>
          </a:solidFill>
          <a:ln w="12700">
            <a:solidFill>
              <a:srgbClr val="0369A1"/>
            </a:solidFill>
            <a:prstDash val="solid"/>
          </a:ln>
        </p:spPr>
      </p:sp>
      <p:sp>
        <p:nvSpPr>
          <p:cNvPr id="28" name="Shape 26"/>
          <p:cNvSpPr/>
          <p:nvPr/>
        </p:nvSpPr>
        <p:spPr>
          <a:xfrm>
            <a:off x="7329373" y="91440"/>
            <a:ext cx="73152" cy="274320"/>
          </a:xfrm>
          <a:prstGeom prst="rect">
            <a:avLst/>
          </a:prstGeom>
          <a:solidFill>
            <a:srgbClr val="0369A1"/>
          </a:solidFill>
          <a:ln w="12700">
            <a:solidFill>
              <a:srgbClr val="0369A1"/>
            </a:solidFill>
            <a:prstDash val="solid"/>
          </a:ln>
        </p:spPr>
      </p:sp>
      <p:pic>
        <p:nvPicPr>
          <p:cNvPr id="29" name="Image 0" descr="preencoded.png">    </p:cNvPr>
          <p:cNvPicPr>
            <a:picLocks noChangeAspect="1"/>
          </p:cNvPicPr>
          <p:nvPr/>
        </p:nvPicPr>
        <p:blipFill>
          <a:blip r:embed="rId1"/>
          <a:stretch>
            <a:fillRect/>
          </a:stretch>
        </p:blipFill>
        <p:spPr>
          <a:xfrm>
            <a:off x="7457389" y="128016"/>
            <a:ext cx="201168" cy="201168"/>
          </a:xfrm>
          <a:prstGeom prst="rect">
            <a:avLst/>
          </a:prstGeom>
        </p:spPr>
      </p:pic>
      <p:sp>
        <p:nvSpPr>
          <p:cNvPr id="30" name="Text 27"/>
          <p:cNvSpPr txBox="1"/>
          <p:nvPr/>
        </p:nvSpPr>
        <p:spPr>
          <a:xfrm>
            <a:off x="7713421" y="91440"/>
            <a:ext cx="389305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l'architettura di von Neumann</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firmware: il BIOS e i suoi eredi</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Il BIOS è un programma in un chip non volatile specifico di una data scheda madre, usato dal processore all'accensione</a:t>
            </a:r>
            <a:endParaRPr lang="en-US" sz="1900" dirty="0"/>
          </a:p>
        </p:txBody>
      </p:sp>
      <p:sp>
        <p:nvSpPr>
          <p:cNvPr id="5" name="Shape 3"/>
          <p:cNvSpPr/>
          <p:nvPr/>
        </p:nvSpPr>
        <p:spPr>
          <a:xfrm>
            <a:off x="548640" y="254088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57704"/>
            <a:ext cx="6565392" cy="1928114"/>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Le sue istruzioni e i suoi dati si dividono in</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POST, power-on self test: controlla che i dispositivi funzionino</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SETUP: configurazione dei dispositivi</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BOOT: avvia il sistema operativo</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DRIVERS: funzioni di base di basso livello per tastiera, dischi e altri dispositivi</a:t>
            </a:r>
            <a:endParaRPr lang="en-US" sz="1900" dirty="0"/>
          </a:p>
        </p:txBody>
      </p:sp>
      <p:sp>
        <p:nvSpPr>
          <p:cNvPr id="7" name="Shape 5"/>
          <p:cNvSpPr/>
          <p:nvPr/>
        </p:nvSpPr>
        <p:spPr>
          <a:xfrm>
            <a:off x="548640" y="462622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543044"/>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 PC di oggi usano il firmware UEFI, che svolge gli stessi compiti</a:t>
            </a:r>
            <a:endParaRPr lang="en-US" sz="1900" dirty="0"/>
          </a:p>
        </p:txBody>
      </p:sp>
      <p:sp>
        <p:nvSpPr>
          <p:cNvPr id="9" name="Shape 7"/>
          <p:cNvSpPr/>
          <p:nvPr/>
        </p:nvSpPr>
        <p:spPr>
          <a:xfrm>
            <a:off x="548640" y="537222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289042"/>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Sull'ESP32-C6: un programma di avvio in ROM lancia un bootloader in flash, che lancia il firmware PRG32, che carica la cartuccia scelta</a:t>
            </a:r>
            <a:endParaRPr lang="en-US" sz="19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boot</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dalla prima istruzione dopo il reset al vostro programma, attraverso strati di memoria permanente</a:t>
            </a:r>
            <a:endParaRPr lang="en-US" sz="1900" dirty="0"/>
          </a:p>
        </p:txBody>
      </p:sp>
      <p:sp>
        <p:nvSpPr>
          <p:cNvPr id="14" name="Shape 12"/>
          <p:cNvSpPr/>
          <p:nvPr/>
        </p:nvSpPr>
        <p:spPr>
          <a:xfrm>
            <a:off x="7920304" y="91440"/>
            <a:ext cx="3722751" cy="274320"/>
          </a:xfrm>
          <a:prstGeom prst="rect">
            <a:avLst/>
          </a:prstGeom>
          <a:solidFill>
            <a:srgbClr val="E0F2FE"/>
          </a:solidFill>
          <a:ln w="12700">
            <a:solidFill>
              <a:srgbClr val="0369A1"/>
            </a:solidFill>
            <a:prstDash val="solid"/>
          </a:ln>
        </p:spPr>
      </p:sp>
      <p:sp>
        <p:nvSpPr>
          <p:cNvPr id="15" name="Shape 13"/>
          <p:cNvSpPr/>
          <p:nvPr/>
        </p:nvSpPr>
        <p:spPr>
          <a:xfrm>
            <a:off x="7920304"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7" name="Text 14"/>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ROM, flash, firmware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Dalla ROM alla flash</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55005"/>
                <a:gridCol w="2819073"/>
                <a:gridCol w="3819389"/>
                <a:gridCol w="3000948"/>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Memoria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Scritta da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Cancellata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Uso tipico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ROM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il costruttore, una volta per tutte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mai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codice di avvio, vecchie cartucce di gioco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PROM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l'utente, una volta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mai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piccole serie di produzione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EPROM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l'utente, molte volte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tutta insieme, con luce ultravioletta attraverso una finestrella di quarzo (circa 15 minuti)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sviluppo, BIOS dei primi PC</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EEPROM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l'utente, sul posto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elettricamente, un byte alla volta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dati di configurazione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Flash</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l'utente, sul posto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elettricamente, a blocchi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firmware, chiavette USB, schede di memoria, dischi a stato solido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920304" y="91440"/>
            <a:ext cx="3722751" cy="274320"/>
          </a:xfrm>
          <a:prstGeom prst="rect">
            <a:avLst/>
          </a:prstGeom>
          <a:solidFill>
            <a:srgbClr val="E0F2FE"/>
          </a:solidFill>
          <a:ln w="12700">
            <a:solidFill>
              <a:srgbClr val="0369A1"/>
            </a:solidFill>
            <a:prstDash val="solid"/>
          </a:ln>
        </p:spPr>
      </p:sp>
      <p:sp>
        <p:nvSpPr>
          <p:cNvPr id="5" name="Shape 2"/>
          <p:cNvSpPr/>
          <p:nvPr/>
        </p:nvSpPr>
        <p:spPr>
          <a:xfrm>
            <a:off x="7920304"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7" name="Text 3"/>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ROM, flash, firmware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memoria flash</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Il tipo più recente di EEPROM: si riprogramma sul posto, senza rimuoverla</a:t>
            </a:r>
            <a:endParaRPr lang="en-US" sz="2000" dirty="0"/>
          </a:p>
        </p:txBody>
      </p:sp>
      <p:sp>
        <p:nvSpPr>
          <p:cNvPr id="5" name="Shape 3"/>
          <p:cNvSpPr/>
          <p:nvPr/>
        </p:nvSpPr>
        <p:spPr>
          <a:xfrm>
            <a:off x="548640" y="2309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1869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Si cancella a blocchi di byte, non un byte alla volta: cancellare porta a 1 tutti i bit di un blocco, scrivere può solo trasformare degli 1 in 0</a:t>
            </a:r>
            <a:endParaRPr lang="en-US" sz="2000" dirty="0"/>
          </a:p>
        </p:txBody>
      </p:sp>
      <p:sp>
        <p:nvSpPr>
          <p:cNvPr id="7" name="Shape 5"/>
          <p:cNvSpPr/>
          <p:nvPr/>
        </p:nvSpPr>
        <p:spPr>
          <a:xfrm>
            <a:off x="548640" y="342087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2994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Ogni blocco sopporta un numero limitato di cicli di cancellazione: il controllore distribuisce le scritture in modo uniforme</a:t>
            </a:r>
            <a:endParaRPr lang="en-US" sz="2000" dirty="0"/>
          </a:p>
        </p:txBody>
      </p:sp>
      <p:sp>
        <p:nvSpPr>
          <p:cNvPr id="9" name="Shape 7"/>
          <p:cNvSpPr/>
          <p:nvPr/>
        </p:nvSpPr>
        <p:spPr>
          <a:xfrm>
            <a:off x="548640" y="453212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4119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La lettura è veloce; la scrittura e soprattutto la cancellazione sono lente</a:t>
            </a:r>
            <a:endParaRPr lang="en-US" sz="2000" dirty="0"/>
          </a:p>
        </p:txBody>
      </p:sp>
      <p:sp>
        <p:nvSpPr>
          <p:cNvPr id="11" name="Shape 9"/>
          <p:cNvSpPr/>
          <p:nvPr/>
        </p:nvSpPr>
        <p:spPr>
          <a:xfrm>
            <a:off x="548640" y="533349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24256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La flash del kit contiene il firmware e le vostre cartucce: caricare una cartuccia cancella e riscrive alcuni dei suoi blocchi</a:t>
            </a:r>
            <a:endParaRPr lang="en-US" sz="2000" dirty="0"/>
          </a:p>
        </p:txBody>
      </p:sp>
      <p:pic>
        <p:nvPicPr>
          <p:cNvPr id="13" name="Image 0" descr="/Users/raffaelemontella/devel/riscv-prg32/computer-architecture-with-prg32/tools/assets/eprom.jpg">    </p:cNvPr>
          <p:cNvPicPr>
            <a:picLocks noChangeAspect="1"/>
          </p:cNvPicPr>
          <p:nvPr/>
        </p:nvPicPr>
        <p:blipFill>
          <a:blip r:embed="rId1"/>
          <a:stretch>
            <a:fillRect/>
          </a:stretch>
        </p:blipFill>
        <p:spPr>
          <a:xfrm>
            <a:off x="7863840" y="1890610"/>
            <a:ext cx="3779215" cy="335110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Una EPROM: la finestrella di quarzo permette alla luce ultravioletta di cancellare il chip</a:t>
            </a:r>
            <a:endParaRPr lang="en-US" sz="1200" dirty="0"/>
          </a:p>
        </p:txBody>
      </p:sp>
      <p:sp>
        <p:nvSpPr>
          <p:cNvPr id="15" name="Shape 12"/>
          <p:cNvSpPr/>
          <p:nvPr/>
        </p:nvSpPr>
        <p:spPr>
          <a:xfrm>
            <a:off x="7920304" y="91440"/>
            <a:ext cx="3722751" cy="274320"/>
          </a:xfrm>
          <a:prstGeom prst="rect">
            <a:avLst/>
          </a:prstGeom>
          <a:solidFill>
            <a:srgbClr val="E0F2FE"/>
          </a:solidFill>
          <a:ln w="12700">
            <a:solidFill>
              <a:srgbClr val="0369A1"/>
            </a:solidFill>
            <a:prstDash val="solid"/>
          </a:ln>
        </p:spPr>
      </p:sp>
      <p:sp>
        <p:nvSpPr>
          <p:cNvPr id="16" name="Shape 13"/>
          <p:cNvSpPr/>
          <p:nvPr/>
        </p:nvSpPr>
        <p:spPr>
          <a:xfrm>
            <a:off x="7920304"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048320" y="128016"/>
            <a:ext cx="201168" cy="201168"/>
          </a:xfrm>
          <a:prstGeom prst="rect">
            <a:avLst/>
          </a:prstGeom>
        </p:spPr>
      </p:pic>
      <p:sp>
        <p:nvSpPr>
          <p:cNvPr id="18" name="Text 14"/>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ROM, flash, firmware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Perché una cache?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Durante i cicli di clock necessari a leggere o scrivere la memoria il processore aspetta</a:t>
            </a:r>
            <a:endParaRPr lang="en-US" sz="2200" dirty="0"/>
          </a:p>
        </p:txBody>
      </p:sp>
      <p:sp>
        <p:nvSpPr>
          <p:cNvPr id="5" name="Shape 3"/>
          <p:cNvSpPr/>
          <p:nvPr/>
        </p:nvSpPr>
        <p:spPr>
          <a:xfrm>
            <a:off x="548640" y="235093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44513"/>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Più la memoria è lenta, più cicli si perdono</a:t>
            </a:r>
            <a:endParaRPr lang="en-US" sz="2200" dirty="0"/>
          </a:p>
        </p:txBody>
      </p:sp>
      <p:sp>
        <p:nvSpPr>
          <p:cNvPr id="7" name="Shape 5"/>
          <p:cNvSpPr/>
          <p:nvPr/>
        </p:nvSpPr>
        <p:spPr>
          <a:xfrm>
            <a:off x="548640" y="283726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730839"/>
            <a:ext cx="6565392" cy="193243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Perché non costruire memorie veloci quanto i registri del processore?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dovrebbero stare sullo stesso chip: un collegamento attraverso un bus è più lento</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non potrebbero essere molto grandi, e il chip crescerebbe in dimensioni e costo</a:t>
            </a:r>
            <a:endParaRPr lang="en-US" sz="2200" dirty="0"/>
          </a:p>
        </p:txBody>
      </p:sp>
      <p:sp>
        <p:nvSpPr>
          <p:cNvPr id="9" name="Shape 7"/>
          <p:cNvSpPr/>
          <p:nvPr/>
        </p:nvSpPr>
        <p:spPr>
          <a:xfrm>
            <a:off x="548640" y="491515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808728"/>
            <a:ext cx="6565392" cy="136347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compromesso: una memoria piccola e veloce sul chip del processore, e una o più memorie più grandi e più lente raggiunte attraverso il bus</a:t>
            </a:r>
            <a:endParaRPr lang="en-US" sz="22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attesa</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ciò che fa un processore, per la maggior parte del tempo, quando la sua memoria è più lenta di lui</a:t>
            </a:r>
            <a:endParaRPr lang="en-US" sz="1900" dirty="0"/>
          </a:p>
        </p:txBody>
      </p:sp>
      <p:sp>
        <p:nvSpPr>
          <p:cNvPr id="14" name="Shape 12"/>
          <p:cNvSpPr/>
          <p:nvPr/>
        </p:nvSpPr>
        <p:spPr>
          <a:xfrm>
            <a:off x="8708212" y="91440"/>
            <a:ext cx="2934843" cy="274320"/>
          </a:xfrm>
          <a:prstGeom prst="rect">
            <a:avLst/>
          </a:prstGeom>
          <a:solidFill>
            <a:srgbClr val="E0F2FE"/>
          </a:solidFill>
          <a:ln w="12700">
            <a:solidFill>
              <a:srgbClr val="0369A1"/>
            </a:solidFill>
            <a:prstDash val="solid"/>
          </a:ln>
        </p:spPr>
      </p:sp>
      <p:sp>
        <p:nvSpPr>
          <p:cNvPr id="15" name="Shape 13"/>
          <p:cNvSpPr/>
          <p:nvPr/>
        </p:nvSpPr>
        <p:spPr>
          <a:xfrm>
            <a:off x="8708212"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836228" y="128016"/>
            <a:ext cx="201168" cy="201168"/>
          </a:xfrm>
          <a:prstGeom prst="rect">
            <a:avLst/>
          </a:prstGeom>
        </p:spPr>
      </p:pic>
      <p:sp>
        <p:nvSpPr>
          <p:cNvPr id="17" name="Text 14"/>
          <p:cNvSpPr txBox="1"/>
          <p:nvPr/>
        </p:nvSpPr>
        <p:spPr>
          <a:xfrm>
            <a:off x="9092260" y="91440"/>
            <a:ext cx="251421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cache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Come funziona una cache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01675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Cache, dal francese cacher, nascondere: una memoria di piccola capacità ma veloce, posta tra il processore e la RAM</a:t>
            </a:r>
            <a:endParaRPr lang="en-US" sz="2100" dirty="0"/>
          </a:p>
        </p:txBody>
      </p:sp>
      <p:sp>
        <p:nvSpPr>
          <p:cNvPr id="5" name="Shape 3"/>
          <p:cNvSpPr/>
          <p:nvPr/>
        </p:nvSpPr>
        <p:spPr>
          <a:xfrm>
            <a:off x="548640" y="264909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50414"/>
            <a:ext cx="6016752"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Il processore guarda prima nella cache</a:t>
            </a:r>
            <a:endParaRPr lang="en-US" sz="2100" dirty="0"/>
          </a:p>
        </p:txBody>
      </p:sp>
      <p:sp>
        <p:nvSpPr>
          <p:cNvPr id="7" name="Shape 5"/>
          <p:cNvSpPr/>
          <p:nvPr/>
        </p:nvSpPr>
        <p:spPr>
          <a:xfrm>
            <a:off x="548640" y="313143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32760"/>
            <a:ext cx="601675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Hit: il contenuto dell'indirizzo richiesto c'è, e arriva subito</a:t>
            </a:r>
            <a:endParaRPr lang="en-US" sz="2100" dirty="0"/>
          </a:p>
        </p:txBody>
      </p:sp>
      <p:sp>
        <p:nvSpPr>
          <p:cNvPr id="9" name="Shape 7"/>
          <p:cNvSpPr/>
          <p:nvPr/>
        </p:nvSpPr>
        <p:spPr>
          <a:xfrm>
            <a:off x="548640" y="393915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840480"/>
            <a:ext cx="6016752" cy="1524000"/>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Miss: non c'è, e va copiato dalla RAM nella cache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con esso si copia un numero fisso di locazioni vicine, perché i programmi tendono a usare subito dopo indirizzi vicini</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01675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Più hit ci sono, più breve è il tempo medio di accesso</a:t>
            </a:r>
            <a:endParaRPr lang="en-US" sz="2100" dirty="0"/>
          </a:p>
        </p:txBody>
      </p:sp>
      <p:sp>
        <p:nvSpPr>
          <p:cNvPr id="13" name="Text 11"/>
          <p:cNvSpPr txBox="1"/>
          <p:nvPr/>
        </p:nvSpPr>
        <p:spPr>
          <a:xfrm>
            <a:off x="7863840" y="1691640"/>
            <a:ext cx="2926080" cy="731520"/>
          </a:xfrm>
          <a:prstGeom prst="roundRect">
            <a:avLst>
              <a:gd name="adj" fmla="val 7500"/>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processore</a:t>
            </a:r>
            <a:endParaRPr lang="en-US" sz="1600" dirty="0"/>
          </a:p>
        </p:txBody>
      </p:sp>
      <p:sp>
        <p:nvSpPr>
          <p:cNvPr id="14" name="Text 12"/>
          <p:cNvSpPr txBox="1"/>
          <p:nvPr/>
        </p:nvSpPr>
        <p:spPr>
          <a:xfrm>
            <a:off x="7863840" y="3154680"/>
            <a:ext cx="2926080" cy="914400"/>
          </a:xfrm>
          <a:prstGeom prst="roundRect">
            <a:avLst>
              <a:gd name="adj" fmla="val 6000"/>
            </a:avLst>
          </a:prstGeom>
          <a:solidFill>
            <a:srgbClr val="C7791B"/>
          </a:solidFill>
          <a:ln>
            <a:solidFill>
              <a:srgbClr val="C7791B"/>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cache</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piccola, veloce</a:t>
            </a:r>
            <a:endParaRPr lang="en-US" sz="1600" dirty="0"/>
          </a:p>
        </p:txBody>
      </p:sp>
      <p:sp>
        <p:nvSpPr>
          <p:cNvPr id="15" name="Text 13"/>
          <p:cNvSpPr txBox="1"/>
          <p:nvPr/>
        </p:nvSpPr>
        <p:spPr>
          <a:xfrm>
            <a:off x="7863840" y="4800600"/>
            <a:ext cx="2926080" cy="1097280"/>
          </a:xfrm>
          <a:prstGeom prst="roundRect">
            <a:avLst>
              <a:gd name="adj" fmla="val 5000"/>
            </a:avLst>
          </a:prstGeom>
          <a:solidFill>
            <a:srgbClr val="6B4FA0"/>
          </a:solidFill>
          <a:ln>
            <a:solidFill>
              <a:srgbClr val="6B4FA0"/>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memoria centrale</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grande, lenta</a:t>
            </a:r>
            <a:endParaRPr lang="en-US" sz="1600" dirty="0"/>
          </a:p>
        </p:txBody>
      </p:sp>
      <p:sp>
        <p:nvSpPr>
          <p:cNvPr id="16" name="Shape 14"/>
          <p:cNvSpPr/>
          <p:nvPr/>
        </p:nvSpPr>
        <p:spPr>
          <a:xfrm>
            <a:off x="9326880" y="2450592"/>
            <a:ext cx="0" cy="676656"/>
          </a:xfrm>
          <a:prstGeom prst="line">
            <a:avLst/>
          </a:prstGeom>
          <a:noFill/>
          <a:ln w="31750">
            <a:solidFill>
              <a:srgbClr val="5B6B78"/>
            </a:solidFill>
            <a:prstDash val="solid"/>
            <a:tailEnd type="triangle"/>
          </a:ln>
        </p:spPr>
      </p:sp>
      <p:sp>
        <p:nvSpPr>
          <p:cNvPr id="17" name="Shape 15"/>
          <p:cNvSpPr/>
          <p:nvPr/>
        </p:nvSpPr>
        <p:spPr>
          <a:xfrm>
            <a:off x="9326880" y="4096512"/>
            <a:ext cx="0" cy="676656"/>
          </a:xfrm>
          <a:prstGeom prst="line">
            <a:avLst/>
          </a:prstGeom>
          <a:noFill/>
          <a:ln w="31750">
            <a:solidFill>
              <a:srgbClr val="5B6B78"/>
            </a:solidFill>
            <a:prstDash val="solid"/>
            <a:tailEnd type="triangle"/>
          </a:ln>
        </p:spPr>
      </p:sp>
      <p:sp>
        <p:nvSpPr>
          <p:cNvPr id="18" name="Text 16"/>
          <p:cNvSpPr txBox="1"/>
          <p:nvPr/>
        </p:nvSpPr>
        <p:spPr>
          <a:xfrm>
            <a:off x="9464040" y="2606040"/>
            <a:ext cx="1828800" cy="274320"/>
          </a:xfrm>
          <a:prstGeom prst="rect">
            <a:avLst/>
          </a:prstGeom>
          <a:noFill/>
          <a:ln/>
        </p:spPr>
        <p:txBody>
          <a:bodyPr wrap="square" lIns="0" tIns="0" rIns="0" bIns="0" rtlCol="0" anchor="t"/>
          <a:lstStyle/>
          <a:p>
            <a:pPr indent="0" marL="0">
              <a:buNone/>
            </a:pPr>
            <a:r>
              <a:rPr lang="en-US" sz="1250" i="1" dirty="0">
                <a:solidFill>
                  <a:srgbClr val="5B6B78"/>
                </a:solidFill>
                <a:latin typeface="Calibri" pitchFamily="34" charset="0"/>
                <a:ea typeface="Calibri" pitchFamily="34" charset="-122"/>
                <a:cs typeface="Calibri" pitchFamily="34" charset="-120"/>
              </a:rPr>
              <a:t>a ogni accesso</a:t>
            </a:r>
            <a:endParaRPr lang="en-US" sz="1250" dirty="0"/>
          </a:p>
        </p:txBody>
      </p:sp>
      <p:sp>
        <p:nvSpPr>
          <p:cNvPr id="19" name="Text 17"/>
          <p:cNvSpPr txBox="1"/>
          <p:nvPr/>
        </p:nvSpPr>
        <p:spPr>
          <a:xfrm>
            <a:off x="9464040" y="4251960"/>
            <a:ext cx="1828800" cy="274320"/>
          </a:xfrm>
          <a:prstGeom prst="rect">
            <a:avLst/>
          </a:prstGeom>
          <a:noFill/>
          <a:ln/>
        </p:spPr>
        <p:txBody>
          <a:bodyPr wrap="square" lIns="0" tIns="0" rIns="0" bIns="0" rtlCol="0" anchor="t"/>
          <a:lstStyle/>
          <a:p>
            <a:pPr indent="0" marL="0">
              <a:buNone/>
            </a:pPr>
            <a:r>
              <a:rPr lang="en-US" sz="1250" i="1" dirty="0">
                <a:solidFill>
                  <a:srgbClr val="5B6B78"/>
                </a:solidFill>
                <a:latin typeface="Calibri" pitchFamily="34" charset="0"/>
                <a:ea typeface="Calibri" pitchFamily="34" charset="-122"/>
                <a:cs typeface="Calibri" pitchFamily="34" charset="-120"/>
              </a:rPr>
              <a:t>solo su un miss</a:t>
            </a:r>
            <a:endParaRPr lang="en-US" sz="1250" dirty="0"/>
          </a:p>
        </p:txBody>
      </p:sp>
      <p:sp>
        <p:nvSpPr>
          <p:cNvPr id="20" name="Shape 18"/>
          <p:cNvSpPr/>
          <p:nvPr/>
        </p:nvSpPr>
        <p:spPr>
          <a:xfrm>
            <a:off x="8708212" y="91440"/>
            <a:ext cx="2934843" cy="274320"/>
          </a:xfrm>
          <a:prstGeom prst="rect">
            <a:avLst/>
          </a:prstGeom>
          <a:solidFill>
            <a:srgbClr val="E0F2FE"/>
          </a:solidFill>
          <a:ln w="12700">
            <a:solidFill>
              <a:srgbClr val="0369A1"/>
            </a:solidFill>
            <a:prstDash val="solid"/>
          </a:ln>
        </p:spPr>
      </p:sp>
      <p:sp>
        <p:nvSpPr>
          <p:cNvPr id="21" name="Shape 19"/>
          <p:cNvSpPr/>
          <p:nvPr/>
        </p:nvSpPr>
        <p:spPr>
          <a:xfrm>
            <a:off x="8708212" y="91440"/>
            <a:ext cx="73152" cy="274320"/>
          </a:xfrm>
          <a:prstGeom prst="rect">
            <a:avLst/>
          </a:prstGeom>
          <a:solidFill>
            <a:srgbClr val="0369A1"/>
          </a:solidFill>
          <a:ln w="12700">
            <a:solidFill>
              <a:srgbClr val="0369A1"/>
            </a:solidFill>
            <a:prstDash val="solid"/>
          </a:ln>
        </p:spPr>
      </p:sp>
      <p:pic>
        <p:nvPicPr>
          <p:cNvPr id="22" name="Image 0" descr="preencoded.png">    </p:cNvPr>
          <p:cNvPicPr>
            <a:picLocks noChangeAspect="1"/>
          </p:cNvPicPr>
          <p:nvPr/>
        </p:nvPicPr>
        <p:blipFill>
          <a:blip r:embed="rId1"/>
          <a:stretch>
            <a:fillRect/>
          </a:stretch>
        </p:blipFill>
        <p:spPr>
          <a:xfrm>
            <a:off x="8836228" y="128016"/>
            <a:ext cx="201168" cy="201168"/>
          </a:xfrm>
          <a:prstGeom prst="rect">
            <a:avLst/>
          </a:prstGeom>
        </p:spPr>
      </p:pic>
      <p:sp>
        <p:nvSpPr>
          <p:cNvPr id="23" name="Text 20"/>
          <p:cNvSpPr txBox="1"/>
          <p:nvPr/>
        </p:nvSpPr>
        <p:spPr>
          <a:xfrm>
            <a:off x="9092260" y="91440"/>
            <a:ext cx="251421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cache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Livelli di cache e macchine tipiche</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00632"/>
                <a:gridCol w="2728135"/>
                <a:gridCol w="3091886"/>
                <a:gridCol w="3273762"/>
              </a:tblGrid>
              <a:tr h="0">
                <a:tc>
                  <a:txBody>
                    <a:bodyPr/>
                    <a:lstStyle/>
                    <a:p>
                      <a:pPr algn="l" indent="0" marL="0">
                        <a:buNone/>
                      </a:pP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PC del 2002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PC del 2020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ESP32-C6 (il kit)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Processore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 core RISC-V, 160 MHz</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Cache L1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64 KB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64 KB per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nessuna per la SRAM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Cache L2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512 KB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512 KB per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Cache L3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 MB, condivisa dai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Memoria centrale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256 MB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 GB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512 KB di SRAM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Memoria di massa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disco rigido da 40 GB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 TB + 1 TB, in mirror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pochi MB di flash, letti attraverso una piccola cache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8708212" y="91440"/>
            <a:ext cx="2934843" cy="274320"/>
          </a:xfrm>
          <a:prstGeom prst="rect">
            <a:avLst/>
          </a:prstGeom>
          <a:solidFill>
            <a:srgbClr val="E0F2FE"/>
          </a:solidFill>
          <a:ln w="12700">
            <a:solidFill>
              <a:srgbClr val="0369A1"/>
            </a:solidFill>
            <a:prstDash val="solid"/>
          </a:ln>
        </p:spPr>
      </p:sp>
      <p:sp>
        <p:nvSpPr>
          <p:cNvPr id="5" name="Shape 2"/>
          <p:cNvSpPr/>
          <p:nvPr/>
        </p:nvSpPr>
        <p:spPr>
          <a:xfrm>
            <a:off x="8708212"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836228" y="128016"/>
            <a:ext cx="201168" cy="201168"/>
          </a:xfrm>
          <a:prstGeom prst="rect">
            <a:avLst/>
          </a:prstGeom>
        </p:spPr>
      </p:pic>
      <p:sp>
        <p:nvSpPr>
          <p:cNvPr id="7" name="Text 3"/>
          <p:cNvSpPr txBox="1"/>
          <p:nvPr/>
        </p:nvSpPr>
        <p:spPr>
          <a:xfrm>
            <a:off x="9092260" y="91440"/>
            <a:ext cx="251421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cache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Caratteristiche delle memorie secondarie</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Non volatili: i dati non si perdono quando il calcolatore viene spento</a:t>
            </a:r>
            <a:endParaRPr lang="en-US" sz="2000" dirty="0"/>
          </a:p>
        </p:txBody>
      </p:sp>
      <p:sp>
        <p:nvSpPr>
          <p:cNvPr id="5" name="Shape 3"/>
          <p:cNvSpPr/>
          <p:nvPr/>
        </p:nvSpPr>
        <p:spPr>
          <a:xfrm>
            <a:off x="548640" y="233527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44344"/>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Grande capacità: diversi ordini di grandezza più della memoria centrale</a:t>
            </a:r>
            <a:endParaRPr lang="en-US" sz="2000" dirty="0"/>
          </a:p>
        </p:txBody>
      </p:sp>
      <p:sp>
        <p:nvSpPr>
          <p:cNvPr id="7" name="Shape 5"/>
          <p:cNvSpPr/>
          <p:nvPr/>
        </p:nvSpPr>
        <p:spPr>
          <a:xfrm>
            <a:off x="548640" y="316230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71368"/>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Basso costo per bit: diversi ordini di grandezza meno della memoria centrale</a:t>
            </a:r>
            <a:endParaRPr lang="en-US" sz="2000" dirty="0"/>
          </a:p>
        </p:txBody>
      </p:sp>
      <p:sp>
        <p:nvSpPr>
          <p:cNvPr id="9" name="Shape 7"/>
          <p:cNvSpPr/>
          <p:nvPr/>
        </p:nvSpPr>
        <p:spPr>
          <a:xfrm>
            <a:off x="548640" y="398932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898392"/>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Accesso più lento: alcuni ordini di grandezza più lento della memoria centrale</a:t>
            </a:r>
            <a:endParaRPr lang="en-US" sz="2000" dirty="0"/>
          </a:p>
        </p:txBody>
      </p:sp>
      <p:sp>
        <p:nvSpPr>
          <p:cNvPr id="11" name="Shape 9"/>
          <p:cNvSpPr/>
          <p:nvPr/>
        </p:nvSpPr>
        <p:spPr>
          <a:xfrm>
            <a:off x="548640" y="481634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725416"/>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L'informazione è organizzata in blocchi, di solito di un kilobyte o più, non in byte singoli</a:t>
            </a:r>
            <a:endParaRPr lang="en-US" sz="2000" dirty="0"/>
          </a:p>
        </p:txBody>
      </p:sp>
      <p:sp>
        <p:nvSpPr>
          <p:cNvPr id="13" name="Shape 11"/>
          <p:cNvSpPr/>
          <p:nvPr/>
        </p:nvSpPr>
        <p:spPr>
          <a:xfrm>
            <a:off x="548640" y="5643372"/>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555244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Alcuni supporti permettono l'accesso diretto a qualunque blocco; altri solo l'accesso sequenziale</a:t>
            </a:r>
            <a:endParaRPr lang="en-US" sz="2000" dirty="0"/>
          </a:p>
        </p:txBody>
      </p:sp>
      <p:pic>
        <p:nvPicPr>
          <p:cNvPr id="15" name="Image 0" descr="/Users/raffaelemontella/devel/riscv-prg32/computer-architecture-with-prg32/tools/assets/hard_disk.jpg">    </p:cNvPr>
          <p:cNvPicPr>
            <a:picLocks noChangeAspect="1"/>
          </p:cNvPicPr>
          <p:nvPr/>
        </p:nvPicPr>
        <p:blipFill>
          <a:blip r:embed="rId1"/>
          <a:stretch>
            <a:fillRect/>
          </a:stretch>
        </p:blipFill>
        <p:spPr>
          <a:xfrm>
            <a:off x="7863840" y="1918658"/>
            <a:ext cx="3779215" cy="3295003"/>
          </a:xfrm>
          <a:prstGeom prst="rect">
            <a:avLst/>
          </a:prstGeom>
        </p:spPr>
      </p:pic>
      <p:sp>
        <p:nvSpPr>
          <p:cNvPr id="16" name="Text 13"/>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Un disco rigido aperto: piatto, braccio e testina</a:t>
            </a:r>
            <a:endParaRPr lang="en-US" sz="1200" dirty="0"/>
          </a:p>
        </p:txBody>
      </p:sp>
      <p:sp>
        <p:nvSpPr>
          <p:cNvPr id="17" name="Shape 14"/>
          <p:cNvSpPr/>
          <p:nvPr/>
        </p:nvSpPr>
        <p:spPr>
          <a:xfrm>
            <a:off x="7854645" y="91440"/>
            <a:ext cx="3788410" cy="274320"/>
          </a:xfrm>
          <a:prstGeom prst="rect">
            <a:avLst/>
          </a:prstGeom>
          <a:solidFill>
            <a:srgbClr val="E0F2FE"/>
          </a:solidFill>
          <a:ln w="12700">
            <a:solidFill>
              <a:srgbClr val="0369A1"/>
            </a:solidFill>
            <a:prstDash val="solid"/>
          </a:ln>
        </p:spPr>
      </p:sp>
      <p:sp>
        <p:nvSpPr>
          <p:cNvPr id="18" name="Shape 15"/>
          <p:cNvSpPr/>
          <p:nvPr/>
        </p:nvSpPr>
        <p:spPr>
          <a:xfrm>
            <a:off x="7854645" y="91440"/>
            <a:ext cx="73152" cy="274320"/>
          </a:xfrm>
          <a:prstGeom prst="rect">
            <a:avLst/>
          </a:prstGeom>
          <a:solidFill>
            <a:srgbClr val="0369A1"/>
          </a:solidFill>
          <a:ln w="12700">
            <a:solidFill>
              <a:srgbClr val="0369A1"/>
            </a:solidFill>
            <a:prstDash val="solid"/>
          </a:ln>
        </p:spPr>
      </p:sp>
      <p:pic>
        <p:nvPicPr>
          <p:cNvPr id="19" name="Image 1" descr="preencoded.png">    </p:cNvPr>
          <p:cNvPicPr>
            <a:picLocks noChangeAspect="1"/>
          </p:cNvPicPr>
          <p:nvPr/>
        </p:nvPicPr>
        <p:blipFill>
          <a:blip r:embed="rId2"/>
          <a:stretch>
            <a:fillRect/>
          </a:stretch>
        </p:blipFill>
        <p:spPr>
          <a:xfrm>
            <a:off x="7982661" y="128016"/>
            <a:ext cx="201168" cy="201168"/>
          </a:xfrm>
          <a:prstGeom prst="rect">
            <a:avLst/>
          </a:prstGeom>
        </p:spPr>
      </p:pic>
      <p:sp>
        <p:nvSpPr>
          <p:cNvPr id="20" name="Text 16"/>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memoria secondaria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Dischi magnetici: tracce, settori, blocchi</a:t>
            </a:r>
            <a:endParaRPr lang="en-US" sz="3200" dirty="0"/>
          </a:p>
        </p:txBody>
      </p:sp>
      <p:sp>
        <p:nvSpPr>
          <p:cNvPr id="3" name="Shape 1"/>
          <p:cNvSpPr/>
          <p:nvPr/>
        </p:nvSpPr>
        <p:spPr>
          <a:xfrm>
            <a:off x="548640" y="1417320"/>
            <a:ext cx="5029200" cy="4754880"/>
          </a:xfrm>
          <a:prstGeom prst="roundRect">
            <a:avLst>
              <a:gd name="adj" fmla="val 1538"/>
            </a:avLst>
          </a:prstGeom>
          <a:solidFill>
            <a:srgbClr val="EEF2F4"/>
          </a:solidFill>
          <a:ln w="12700">
            <a:solidFill>
              <a:srgbClr val="EEF2F4"/>
            </a:solidFill>
            <a:prstDash val="solid"/>
          </a:ln>
        </p:spPr>
      </p:sp>
      <p:sp>
        <p:nvSpPr>
          <p:cNvPr id="4" name="Shape 2"/>
          <p:cNvSpPr/>
          <p:nvPr/>
        </p:nvSpPr>
        <p:spPr>
          <a:xfrm>
            <a:off x="7854645" y="91440"/>
            <a:ext cx="3788410" cy="274320"/>
          </a:xfrm>
          <a:prstGeom prst="rect">
            <a:avLst/>
          </a:prstGeom>
          <a:solidFill>
            <a:srgbClr val="E0F2FE"/>
          </a:solidFill>
          <a:ln w="12700">
            <a:solidFill>
              <a:srgbClr val="0369A1"/>
            </a:solidFill>
            <a:prstDash val="solid"/>
          </a:ln>
        </p:spPr>
      </p:sp>
      <p:sp>
        <p:nvSpPr>
          <p:cNvPr id="5" name="Shape 3"/>
          <p:cNvSpPr/>
          <p:nvPr/>
        </p:nvSpPr>
        <p:spPr>
          <a:xfrm>
            <a:off x="7854645"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7982661" y="128016"/>
            <a:ext cx="201168" cy="201168"/>
          </a:xfrm>
          <a:prstGeom prst="rect">
            <a:avLst/>
          </a:prstGeom>
        </p:spPr>
      </p:pic>
      <p:sp>
        <p:nvSpPr>
          <p:cNvPr id="7" name="Text 4"/>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memoria secondaria</a:t>
            </a:r>
            <a:endParaRPr lang="en-US" sz="1100" dirty="0"/>
          </a:p>
        </p:txBody>
      </p:sp>
      <p:pic>
        <p:nvPicPr>
          <p:cNvPr id="9" name="Image 1" descr="preencoded.png">    </p:cNvPr>
          <p:cNvPicPr>
            <a:picLocks noChangeAspect="1"/>
          </p:cNvPicPr>
          <p:nvPr/>
        </p:nvPicPr>
        <p:blipFill>
          <a:blip r:embed="rId2"/>
          <a:stretch>
            <a:fillRect/>
          </a:stretch>
        </p:blipFill>
        <p:spPr>
          <a:xfrm>
            <a:off x="685800" y="1872610"/>
            <a:ext cx="4754880" cy="3844301"/>
          </a:xfrm>
          <a:prstGeom prst="rect">
            <a:avLst/>
          </a:prstGeom>
        </p:spPr>
      </p:pic>
      <p:sp>
        <p:nvSpPr>
          <p:cNvPr id="10" name="Shape 5"/>
          <p:cNvSpPr/>
          <p:nvPr/>
        </p:nvSpPr>
        <p:spPr>
          <a:xfrm>
            <a:off x="6035040" y="1492758"/>
            <a:ext cx="146304" cy="146304"/>
          </a:xfrm>
          <a:prstGeom prst="rect">
            <a:avLst/>
          </a:prstGeom>
          <a:solidFill>
            <a:srgbClr val="0E7C86"/>
          </a:solidFill>
          <a:ln w="12700">
            <a:solidFill>
              <a:srgbClr val="0E7C86"/>
            </a:solidFill>
            <a:prstDash val="solid"/>
          </a:ln>
        </p:spPr>
      </p:sp>
      <p:sp>
        <p:nvSpPr>
          <p:cNvPr id="11" name="Text 6"/>
          <p:cNvSpPr txBox="1"/>
          <p:nvPr/>
        </p:nvSpPr>
        <p:spPr>
          <a:xfrm>
            <a:off x="6419088" y="1417320"/>
            <a:ext cx="522396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Piatti rivestiti di materiale magnetizzabile, tenuti in rotazione a velocità costante; le testine leggono e scrivono l'informazione</a:t>
            </a:r>
            <a:endParaRPr lang="en-US" sz="1800" dirty="0"/>
          </a:p>
        </p:txBody>
      </p:sp>
      <p:sp>
        <p:nvSpPr>
          <p:cNvPr id="12" name="Shape 7"/>
          <p:cNvSpPr/>
          <p:nvPr/>
        </p:nvSpPr>
        <p:spPr>
          <a:xfrm>
            <a:off x="6035040" y="2542032"/>
            <a:ext cx="146304" cy="146304"/>
          </a:xfrm>
          <a:prstGeom prst="rect">
            <a:avLst/>
          </a:prstGeom>
          <a:solidFill>
            <a:srgbClr val="C7791B"/>
          </a:solidFill>
          <a:ln w="12700">
            <a:solidFill>
              <a:srgbClr val="C7791B"/>
            </a:solidFill>
            <a:prstDash val="solid"/>
          </a:ln>
        </p:spPr>
      </p:sp>
      <p:sp>
        <p:nvSpPr>
          <p:cNvPr id="13" name="Text 8"/>
          <p:cNvSpPr txBox="1"/>
          <p:nvPr/>
        </p:nvSpPr>
        <p:spPr>
          <a:xfrm>
            <a:off x="6419088" y="2466594"/>
            <a:ext cx="522396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La superficie è divisa in tracce concentriche e in settori, spicchi del disco</a:t>
            </a:r>
            <a:endParaRPr lang="en-US" sz="1800" dirty="0"/>
          </a:p>
        </p:txBody>
      </p:sp>
      <p:sp>
        <p:nvSpPr>
          <p:cNvPr id="14" name="Shape 9"/>
          <p:cNvSpPr/>
          <p:nvPr/>
        </p:nvSpPr>
        <p:spPr>
          <a:xfrm>
            <a:off x="6035040" y="3312414"/>
            <a:ext cx="146304" cy="146304"/>
          </a:xfrm>
          <a:prstGeom prst="rect">
            <a:avLst/>
          </a:prstGeom>
          <a:solidFill>
            <a:srgbClr val="0E7C86"/>
          </a:solidFill>
          <a:ln w="12700">
            <a:solidFill>
              <a:srgbClr val="0E7C86"/>
            </a:solidFill>
            <a:prstDash val="solid"/>
          </a:ln>
        </p:spPr>
      </p:sp>
      <p:sp>
        <p:nvSpPr>
          <p:cNvPr id="15" name="Text 10"/>
          <p:cNvSpPr txBox="1"/>
          <p:nvPr/>
        </p:nvSpPr>
        <p:spPr>
          <a:xfrm>
            <a:off x="6419088" y="3236976"/>
            <a:ext cx="5223967"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 settore taglia ogni traccia in blocchi: il blocco è la più piccola unità indirizzabile, identificata da numero di traccia e numero di settore</a:t>
            </a:r>
            <a:endParaRPr lang="en-US" sz="1800" dirty="0"/>
          </a:p>
        </p:txBody>
      </p:sp>
      <p:sp>
        <p:nvSpPr>
          <p:cNvPr id="16" name="Shape 11"/>
          <p:cNvSpPr/>
          <p:nvPr/>
        </p:nvSpPr>
        <p:spPr>
          <a:xfrm>
            <a:off x="6035040" y="4640580"/>
            <a:ext cx="146304" cy="146304"/>
          </a:xfrm>
          <a:prstGeom prst="rect">
            <a:avLst/>
          </a:prstGeom>
          <a:solidFill>
            <a:srgbClr val="C7791B"/>
          </a:solidFill>
          <a:ln w="12700">
            <a:solidFill>
              <a:srgbClr val="C7791B"/>
            </a:solidFill>
            <a:prstDash val="solid"/>
          </a:ln>
        </p:spPr>
      </p:sp>
      <p:sp>
        <p:nvSpPr>
          <p:cNvPr id="17" name="Text 12"/>
          <p:cNvSpPr txBox="1"/>
          <p:nvPr/>
        </p:nvSpPr>
        <p:spPr>
          <a:xfrm>
            <a:off x="6419088" y="4565142"/>
            <a:ext cx="522396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Formattazione: la divisione della superficie in tracce e settori</a:t>
            </a:r>
            <a:endParaRPr lang="en-US" sz="1800" dirty="0"/>
          </a:p>
        </p:txBody>
      </p:sp>
      <p:sp>
        <p:nvSpPr>
          <p:cNvPr id="18" name="Shape 13"/>
          <p:cNvSpPr/>
          <p:nvPr/>
        </p:nvSpPr>
        <p:spPr>
          <a:xfrm>
            <a:off x="6035040" y="5410962"/>
            <a:ext cx="146304" cy="146304"/>
          </a:xfrm>
          <a:prstGeom prst="rect">
            <a:avLst/>
          </a:prstGeom>
          <a:solidFill>
            <a:srgbClr val="0E7C86"/>
          </a:solidFill>
          <a:ln w="12700">
            <a:solidFill>
              <a:srgbClr val="0E7C86"/>
            </a:solidFill>
            <a:prstDash val="solid"/>
          </a:ln>
        </p:spPr>
      </p:sp>
      <p:sp>
        <p:nvSpPr>
          <p:cNvPr id="19" name="Text 14"/>
          <p:cNvSpPr txBox="1"/>
          <p:nvPr/>
        </p:nvSpPr>
        <p:spPr>
          <a:xfrm>
            <a:off x="6419088" y="5335524"/>
            <a:ext cx="522396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Accesso diretto: la testina si può posizionare su qualunque blocco senza passare su tutti i precedenti</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Tempo di accesso di un disco magnetico</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Per leggere o scrivere un blocco la testina va portata all'indirizzo giusto; durante il trasferimento la testina è ferma e il disco si muove</a:t>
            </a:r>
            <a:endParaRPr lang="en-US" sz="1900" dirty="0"/>
          </a:p>
        </p:txBody>
      </p:sp>
      <p:sp>
        <p:nvSpPr>
          <p:cNvPr id="5" name="Shape 3"/>
          <p:cNvSpPr/>
          <p:nvPr/>
        </p:nvSpPr>
        <p:spPr>
          <a:xfrm>
            <a:off x="548640" y="264629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63114"/>
            <a:ext cx="6565392" cy="82677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Tempo di posizionamento (seek)</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il tempo per spostare la testina in senso radiale sul cilindro giusto, e quindi sulla traccia giusta</a:t>
            </a:r>
            <a:endParaRPr lang="en-US" sz="1900" dirty="0"/>
          </a:p>
        </p:txBody>
      </p:sp>
      <p:sp>
        <p:nvSpPr>
          <p:cNvPr id="7" name="Shape 5"/>
          <p:cNvSpPr/>
          <p:nvPr/>
        </p:nvSpPr>
        <p:spPr>
          <a:xfrm>
            <a:off x="548640" y="373570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52520"/>
            <a:ext cx="6565392" cy="82677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Latenza</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il tempo di attesa perché il settore desiderato passi sotto la testina</a:t>
            </a:r>
            <a:endParaRPr lang="en-US" sz="1900" dirty="0"/>
          </a:p>
        </p:txBody>
      </p:sp>
      <p:sp>
        <p:nvSpPr>
          <p:cNvPr id="9" name="Shape 7"/>
          <p:cNvSpPr/>
          <p:nvPr/>
        </p:nvSpPr>
        <p:spPr>
          <a:xfrm>
            <a:off x="548640" y="482511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41926"/>
            <a:ext cx="6565392" cy="57886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Tempo di trasferimento</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il tempo perché il blocco passi sotto la testina</a:t>
            </a:r>
            <a:endParaRPr lang="en-US" sz="1900" dirty="0"/>
          </a:p>
        </p:txBody>
      </p:sp>
      <p:sp>
        <p:nvSpPr>
          <p:cNvPr id="11" name="Shape 9"/>
          <p:cNvSpPr/>
          <p:nvPr/>
        </p:nvSpPr>
        <p:spPr>
          <a:xfrm>
            <a:off x="548640" y="5666613"/>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83428"/>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Dischi rigidi: sigillati contro la polvere, capacità di terabyte, tempi di accesso di millisecondi</a:t>
            </a:r>
            <a:endParaRPr lang="en-US" sz="19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ms</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millisecondi: il tempo di accesso di un disco rigido, un milione di volte più lento della RAM</a:t>
            </a:r>
            <a:endParaRPr lang="en-US" sz="1900" dirty="0"/>
          </a:p>
        </p:txBody>
      </p:sp>
      <p:sp>
        <p:nvSpPr>
          <p:cNvPr id="16" name="Shape 14"/>
          <p:cNvSpPr/>
          <p:nvPr/>
        </p:nvSpPr>
        <p:spPr>
          <a:xfrm>
            <a:off x="7854645" y="91440"/>
            <a:ext cx="3788410" cy="274320"/>
          </a:xfrm>
          <a:prstGeom prst="rect">
            <a:avLst/>
          </a:prstGeom>
          <a:solidFill>
            <a:srgbClr val="E0F2FE"/>
          </a:solidFill>
          <a:ln w="12700">
            <a:solidFill>
              <a:srgbClr val="0369A1"/>
            </a:solidFill>
            <a:prstDash val="solid"/>
          </a:ln>
        </p:spPr>
      </p:sp>
      <p:sp>
        <p:nvSpPr>
          <p:cNvPr id="17" name="Shape 15"/>
          <p:cNvSpPr/>
          <p:nvPr/>
        </p:nvSpPr>
        <p:spPr>
          <a:xfrm>
            <a:off x="7854645"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7982661" y="128016"/>
            <a:ext cx="201168" cy="201168"/>
          </a:xfrm>
          <a:prstGeom prst="rect">
            <a:avLst/>
          </a:prstGeom>
        </p:spPr>
      </p:pic>
      <p:sp>
        <p:nvSpPr>
          <p:cNvPr id="19" name="Text 16"/>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memoria secondaria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Dischi rigidi e dischi a stato solido</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Disco rigido (HDD)</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Piatti magnetici e testine mobili</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Tempo di accesso di millisecondi, dominato dalla meccanica</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Il costo più basso per terabyte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Ancora la scelta per grandi archivi e backup</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Disco a stato solido (SSD)</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Memoria flash e un controllore: nessuna parte mobile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Tempo di accesso di decine di microsecondi</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Collegato con SATA o, più veloce, con NVMe su PCI Express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La memoria di massa standard di portatili e telefoni; la stessa tecnologia del chip flash del kit</a:t>
            </a:r>
            <a:endParaRPr lang="en-US" sz="2100" dirty="0"/>
          </a:p>
        </p:txBody>
      </p:sp>
      <p:sp>
        <p:nvSpPr>
          <p:cNvPr id="9" name="Shape 7"/>
          <p:cNvSpPr/>
          <p:nvPr/>
        </p:nvSpPr>
        <p:spPr>
          <a:xfrm>
            <a:off x="7854645" y="91440"/>
            <a:ext cx="3788410" cy="274320"/>
          </a:xfrm>
          <a:prstGeom prst="rect">
            <a:avLst/>
          </a:prstGeom>
          <a:solidFill>
            <a:srgbClr val="E0F2FE"/>
          </a:solidFill>
          <a:ln w="12700">
            <a:solidFill>
              <a:srgbClr val="0369A1"/>
            </a:solidFill>
            <a:prstDash val="solid"/>
          </a:ln>
        </p:spPr>
      </p:sp>
      <p:sp>
        <p:nvSpPr>
          <p:cNvPr id="10" name="Shape 8"/>
          <p:cNvSpPr/>
          <p:nvPr/>
        </p:nvSpPr>
        <p:spPr>
          <a:xfrm>
            <a:off x="7854645" y="91440"/>
            <a:ext cx="73152" cy="274320"/>
          </a:xfrm>
          <a:prstGeom prst="rect">
            <a:avLst/>
          </a:prstGeom>
          <a:solidFill>
            <a:srgbClr val="0369A1"/>
          </a:solidFill>
          <a:ln w="12700">
            <a:solidFill>
              <a:srgbClr val="0369A1"/>
            </a:solidFill>
            <a:prstDash val="solid"/>
          </a:ln>
        </p:spPr>
      </p:sp>
      <p:pic>
        <p:nvPicPr>
          <p:cNvPr id="11" name="Image 0" descr="preencoded.png">    </p:cNvPr>
          <p:cNvPicPr>
            <a:picLocks noChangeAspect="1"/>
          </p:cNvPicPr>
          <p:nvPr/>
        </p:nvPicPr>
        <p:blipFill>
          <a:blip r:embed="rId1"/>
          <a:stretch>
            <a:fillRect/>
          </a:stretch>
        </p:blipFill>
        <p:spPr>
          <a:xfrm>
            <a:off x="7982661" y="128016"/>
            <a:ext cx="201168" cy="201168"/>
          </a:xfrm>
          <a:prstGeom prst="rect">
            <a:avLst/>
          </a:prstGeom>
        </p:spPr>
      </p:pic>
      <p:sp>
        <p:nvSpPr>
          <p:cNvPr id="12" name="Text 9"/>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memoria secondaria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Dischi ottici</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 disco rigido su cui si proietta un raggio laser di pochi milliwatt; la riflessione cambia tra le cavità, i pit, e la superficie, il land</a:t>
            </a:r>
            <a:endParaRPr lang="en-US" sz="2000" dirty="0"/>
          </a:p>
        </p:txBody>
      </p:sp>
      <p:sp>
        <p:nvSpPr>
          <p:cNvPr id="5" name="Shape 3"/>
          <p:cNvSpPr/>
          <p:nvPr/>
        </p:nvSpPr>
        <p:spPr>
          <a:xfrm>
            <a:off x="548640" y="268664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95711"/>
            <a:ext cx="6565392" cy="909828"/>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0 e 1 non sono pit e land</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1 è un cambiamento, da pit a land o da land a pit</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0 è nessun cambiamento</a:t>
            </a:r>
            <a:endParaRPr lang="en-US" sz="2000" dirty="0"/>
          </a:p>
        </p:txBody>
      </p:sp>
      <p:sp>
        <p:nvSpPr>
          <p:cNvPr id="7" name="Shape 5"/>
          <p:cNvSpPr/>
          <p:nvPr/>
        </p:nvSpPr>
        <p:spPr>
          <a:xfrm>
            <a:off x="548640" y="384522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54289"/>
            <a:ext cx="6565392" cy="123952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 solito scritti una volta sola, perché le modifiche fisiche sono irreversibili: usati per distribuire programmi e come archivi da non modificare</a:t>
            </a:r>
            <a:endParaRPr lang="en-US" sz="2000" dirty="0"/>
          </a:p>
        </p:txBody>
      </p:sp>
      <p:sp>
        <p:nvSpPr>
          <p:cNvPr id="9" name="Shape 7"/>
          <p:cNvSpPr/>
          <p:nvPr/>
        </p:nvSpPr>
        <p:spPr>
          <a:xfrm>
            <a:off x="548640" y="533349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24256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CD registrabile: la registrazione brucia dei punti in uno strato di colorante; i dischi riscrivibili usano un materiale che può tornare indietro</a:t>
            </a:r>
            <a:endParaRPr lang="en-US" sz="2000" dirty="0"/>
          </a:p>
        </p:txBody>
      </p:sp>
      <p:pic>
        <p:nvPicPr>
          <p:cNvPr id="11" name="Image 0" descr="/Users/raffaelemontella/devel/riscv-prg32/computer-architecture-with-prg32/tools/assets/pit_land.jpg">    </p:cNvPr>
          <p:cNvPicPr>
            <a:picLocks noChangeAspect="1"/>
          </p:cNvPicPr>
          <p:nvPr/>
        </p:nvPicPr>
        <p:blipFill>
          <a:blip r:embed="rId1"/>
          <a:stretch>
            <a:fillRect/>
          </a:stretch>
        </p:blipFill>
        <p:spPr>
          <a:xfrm>
            <a:off x="7863840" y="2148954"/>
            <a:ext cx="3779215" cy="2834411"/>
          </a:xfrm>
          <a:prstGeom prst="rect">
            <a:avLst/>
          </a:prstGeom>
        </p:spPr>
      </p:pic>
      <p:sp>
        <p:nvSpPr>
          <p:cNvPr id="12" name="Text 9"/>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Pit e land di un CD-ROM stampato, al microscopio elettronico</a:t>
            </a:r>
            <a:endParaRPr lang="en-US" sz="1200" dirty="0"/>
          </a:p>
        </p:txBody>
      </p:sp>
      <p:sp>
        <p:nvSpPr>
          <p:cNvPr id="13" name="Shape 10"/>
          <p:cNvSpPr/>
          <p:nvPr/>
        </p:nvSpPr>
        <p:spPr>
          <a:xfrm>
            <a:off x="7854645" y="91440"/>
            <a:ext cx="3788410" cy="274320"/>
          </a:xfrm>
          <a:prstGeom prst="rect">
            <a:avLst/>
          </a:prstGeom>
          <a:solidFill>
            <a:srgbClr val="E0F2FE"/>
          </a:solidFill>
          <a:ln w="12700">
            <a:solidFill>
              <a:srgbClr val="0369A1"/>
            </a:solidFill>
            <a:prstDash val="solid"/>
          </a:ln>
        </p:spPr>
      </p:sp>
      <p:sp>
        <p:nvSpPr>
          <p:cNvPr id="14" name="Shape 11"/>
          <p:cNvSpPr/>
          <p:nvPr/>
        </p:nvSpPr>
        <p:spPr>
          <a:xfrm>
            <a:off x="7854645" y="91440"/>
            <a:ext cx="73152" cy="274320"/>
          </a:xfrm>
          <a:prstGeom prst="rect">
            <a:avLst/>
          </a:prstGeom>
          <a:solidFill>
            <a:srgbClr val="0369A1"/>
          </a:solidFill>
          <a:ln w="12700">
            <a:solidFill>
              <a:srgbClr val="0369A1"/>
            </a:solidFill>
            <a:prstDash val="solid"/>
          </a:ln>
        </p:spPr>
      </p:sp>
      <p:pic>
        <p:nvPicPr>
          <p:cNvPr id="15" name="Image 1" descr="preencoded.png">    </p:cNvPr>
          <p:cNvPicPr>
            <a:picLocks noChangeAspect="1"/>
          </p:cNvPicPr>
          <p:nvPr/>
        </p:nvPicPr>
        <p:blipFill>
          <a:blip r:embed="rId2"/>
          <a:stretch>
            <a:fillRect/>
          </a:stretch>
        </p:blipFill>
        <p:spPr>
          <a:xfrm>
            <a:off x="7982661" y="128016"/>
            <a:ext cx="201168" cy="201168"/>
          </a:xfrm>
          <a:prstGeom prst="rect">
            <a:avLst/>
          </a:prstGeom>
        </p:spPr>
      </p:pic>
      <p:sp>
        <p:nvSpPr>
          <p:cNvPr id="16" name="Text 12"/>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memoria secondaria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compact disc</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L'informazione è memorizzata su un'unica traccia a spirale, con densità di registrazione costante</a:t>
            </a:r>
            <a:endParaRPr lang="en-US" sz="2100" dirty="0"/>
          </a:p>
        </p:txBody>
      </p:sp>
      <p:sp>
        <p:nvSpPr>
          <p:cNvPr id="5" name="Shape 3"/>
          <p:cNvSpPr/>
          <p:nvPr/>
        </p:nvSpPr>
        <p:spPr>
          <a:xfrm>
            <a:off x="548640" y="240753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0886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La distanza tra due spire successive, il passo della traccia, è di 1,6 micrometri</a:t>
            </a:r>
            <a:endParaRPr lang="en-US" sz="2100" dirty="0"/>
          </a:p>
        </p:txBody>
      </p:sp>
      <p:sp>
        <p:nvSpPr>
          <p:cNvPr id="7" name="Shape 5"/>
          <p:cNvSpPr/>
          <p:nvPr/>
        </p:nvSpPr>
        <p:spPr>
          <a:xfrm>
            <a:off x="548640" y="329907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00400"/>
            <a:ext cx="656539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CLV, velocità lineare costante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il disco gira più in fretta leggendo vicino al centro: da 200 a 500 giri al minuto</a:t>
            </a:r>
            <a:endParaRPr lang="en-US" sz="2100" dirty="0"/>
          </a:p>
        </p:txBody>
      </p:sp>
      <p:sp>
        <p:nvSpPr>
          <p:cNvPr id="9" name="Shape 7"/>
          <p:cNvSpPr/>
          <p:nvPr/>
        </p:nvSpPr>
        <p:spPr>
          <a:xfrm>
            <a:off x="548640" y="445960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60926"/>
            <a:ext cx="656539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CAV, velocità angolare costante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giri costanti; il numero di bit per settore è costante, quindi la parte esterna è sottoutilizzata</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La velocità fu fissata dal flusso di bit necessario a riprodurre la musica</a:t>
            </a:r>
            <a:endParaRPr lang="en-US" sz="2100" dirty="0"/>
          </a:p>
        </p:txBody>
      </p:sp>
      <p:pic>
        <p:nvPicPr>
          <p:cNvPr id="13" name="Image 0" descr="/Users/raffaelemontella/devel/riscv-prg32/computer-architecture-with-prg32/tools/assets/cdrom_drive.jpg">    </p:cNvPr>
          <p:cNvPicPr>
            <a:picLocks noChangeAspect="1"/>
          </p:cNvPicPr>
          <p:nvPr/>
        </p:nvPicPr>
        <p:blipFill>
          <a:blip r:embed="rId1"/>
          <a:stretch>
            <a:fillRect/>
          </a:stretch>
        </p:blipFill>
        <p:spPr>
          <a:xfrm>
            <a:off x="7863840" y="2148954"/>
            <a:ext cx="3779215" cy="283441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L'interno di un lettore CD-ROM</a:t>
            </a:r>
            <a:endParaRPr lang="en-US" sz="1200" dirty="0"/>
          </a:p>
        </p:txBody>
      </p:sp>
      <p:sp>
        <p:nvSpPr>
          <p:cNvPr id="15" name="Shape 12"/>
          <p:cNvSpPr/>
          <p:nvPr/>
        </p:nvSpPr>
        <p:spPr>
          <a:xfrm>
            <a:off x="7854645" y="91440"/>
            <a:ext cx="3788410" cy="274320"/>
          </a:xfrm>
          <a:prstGeom prst="rect">
            <a:avLst/>
          </a:prstGeom>
          <a:solidFill>
            <a:srgbClr val="E0F2FE"/>
          </a:solidFill>
          <a:ln w="12700">
            <a:solidFill>
              <a:srgbClr val="0369A1"/>
            </a:solidFill>
            <a:prstDash val="solid"/>
          </a:ln>
        </p:spPr>
      </p:sp>
      <p:sp>
        <p:nvSpPr>
          <p:cNvPr id="16" name="Shape 13"/>
          <p:cNvSpPr/>
          <p:nvPr/>
        </p:nvSpPr>
        <p:spPr>
          <a:xfrm>
            <a:off x="7854645"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7982661" y="128016"/>
            <a:ext cx="201168" cy="201168"/>
          </a:xfrm>
          <a:prstGeom prst="rect">
            <a:avLst/>
          </a:prstGeom>
        </p:spPr>
      </p:pic>
      <p:sp>
        <p:nvSpPr>
          <p:cNvPr id="18" name="Text 14"/>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memoria secondaria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Una memoria permanente a più livelli</a:t>
            </a:r>
            <a:endParaRPr lang="en-US" sz="3200" dirty="0"/>
          </a:p>
        </p:txBody>
      </p:sp>
      <p:sp>
        <p:nvSpPr>
          <p:cNvPr id="3" name="Shape 1"/>
          <p:cNvSpPr/>
          <p:nvPr/>
        </p:nvSpPr>
        <p:spPr>
          <a:xfrm>
            <a:off x="548640" y="1874520"/>
            <a:ext cx="1926275" cy="2468880"/>
          </a:xfrm>
          <a:prstGeom prst="roundRect">
            <a:avLst>
              <a:gd name="adj" fmla="val 3798"/>
            </a:avLst>
          </a:prstGeom>
          <a:solidFill>
            <a:srgbClr val="EEF2F4"/>
          </a:solidFill>
          <a:ln w="12700">
            <a:solidFill>
              <a:srgbClr val="EEF2F4"/>
            </a:solidFill>
            <a:prstDash val="solid"/>
          </a:ln>
        </p:spPr>
      </p:sp>
      <p:sp>
        <p:nvSpPr>
          <p:cNvPr id="4" name="Text 2"/>
          <p:cNvSpPr txBox="1"/>
          <p:nvPr/>
        </p:nvSpPr>
        <p:spPr>
          <a:xfrm>
            <a:off x="685800" y="2057400"/>
            <a:ext cx="1651955"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RAM disk</a:t>
            </a:r>
            <a:endParaRPr lang="en-US" sz="1900" dirty="0"/>
          </a:p>
        </p:txBody>
      </p:sp>
      <p:sp>
        <p:nvSpPr>
          <p:cNvPr id="5" name="Text 3"/>
          <p:cNvSpPr txBox="1"/>
          <p:nvPr/>
        </p:nvSpPr>
        <p:spPr>
          <a:xfrm>
            <a:off x="685800" y="2880360"/>
            <a:ext cx="1651955" cy="1325880"/>
          </a:xfrm>
          <a:prstGeom prst="rect">
            <a:avLst/>
          </a:prstGeom>
          <a:noFill/>
          <a:ln/>
        </p:spPr>
        <p:txBody>
          <a:bodyPr wrap="square" lIns="0" tIns="0" rIns="0" bIns="0" rtlCol="0" anchor="ctr"/>
          <a:lstStyle/>
          <a:p>
            <a:pPr algn="ctr" indent="0" marL="0">
              <a:buNone/>
            </a:pPr>
            <a:r>
              <a:rPr lang="en-US" sz="1600" dirty="0">
                <a:solidFill>
                  <a:srgbClr val="1B2530"/>
                </a:solidFill>
                <a:latin typeface="Calibri" pitchFamily="34" charset="0"/>
                <a:ea typeface="Calibri" pitchFamily="34" charset="-122"/>
                <a:cs typeface="Calibri" pitchFamily="34" charset="-120"/>
              </a:rPr>
              <a:t>un pezzo di memoria centrale usato come disco: il più veloce, volatile</a:t>
            </a:r>
            <a:endParaRPr lang="en-US" sz="1600" dirty="0"/>
          </a:p>
        </p:txBody>
      </p:sp>
      <p:sp>
        <p:nvSpPr>
          <p:cNvPr id="6" name="Shape 4"/>
          <p:cNvSpPr/>
          <p:nvPr/>
        </p:nvSpPr>
        <p:spPr>
          <a:xfrm>
            <a:off x="2520635"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2840675" y="1874520"/>
            <a:ext cx="1926275" cy="2468880"/>
          </a:xfrm>
          <a:prstGeom prst="roundRect">
            <a:avLst>
              <a:gd name="adj" fmla="val 3798"/>
            </a:avLst>
          </a:prstGeom>
          <a:solidFill>
            <a:srgbClr val="EEF2F4"/>
          </a:solidFill>
          <a:ln w="12700">
            <a:solidFill>
              <a:srgbClr val="EEF2F4"/>
            </a:solidFill>
            <a:prstDash val="solid"/>
          </a:ln>
        </p:spPr>
      </p:sp>
      <p:sp>
        <p:nvSpPr>
          <p:cNvPr id="8" name="Text 6"/>
          <p:cNvSpPr txBox="1"/>
          <p:nvPr/>
        </p:nvSpPr>
        <p:spPr>
          <a:xfrm>
            <a:off x="2977835" y="2057400"/>
            <a:ext cx="1651955"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Disco a stato solido</a:t>
            </a:r>
            <a:endParaRPr lang="en-US" sz="1700" dirty="0"/>
          </a:p>
        </p:txBody>
      </p:sp>
      <p:sp>
        <p:nvSpPr>
          <p:cNvPr id="9" name="Text 7"/>
          <p:cNvSpPr txBox="1"/>
          <p:nvPr/>
        </p:nvSpPr>
        <p:spPr>
          <a:xfrm>
            <a:off x="2977835" y="2880360"/>
            <a:ext cx="1651955" cy="1325880"/>
          </a:xfrm>
          <a:prstGeom prst="rect">
            <a:avLst/>
          </a:prstGeom>
          <a:noFill/>
          <a:ln/>
        </p:spPr>
        <p:txBody>
          <a:bodyPr wrap="square" lIns="0" tIns="0" rIns="0" bIns="0" rtlCol="0" anchor="ctr"/>
          <a:lstStyle/>
          <a:p>
            <a:pPr algn="ctr" indent="0" marL="0">
              <a:buNone/>
            </a:pPr>
            <a:r>
              <a:rPr lang="en-US" sz="1600" dirty="0">
                <a:solidFill>
                  <a:srgbClr val="1B2530"/>
                </a:solidFill>
                <a:latin typeface="Calibri" pitchFamily="34" charset="0"/>
                <a:ea typeface="Calibri" pitchFamily="34" charset="-122"/>
                <a:cs typeface="Calibri" pitchFamily="34" charset="-120"/>
              </a:rPr>
              <a:t>flash: veloce, la memoria di lavoro</a:t>
            </a:r>
            <a:endParaRPr lang="en-US" sz="1600" dirty="0"/>
          </a:p>
        </p:txBody>
      </p:sp>
      <p:sp>
        <p:nvSpPr>
          <p:cNvPr id="10" name="Shape 8"/>
          <p:cNvSpPr/>
          <p:nvPr/>
        </p:nvSpPr>
        <p:spPr>
          <a:xfrm>
            <a:off x="4812670"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5132710" y="1874520"/>
            <a:ext cx="1926275" cy="2468880"/>
          </a:xfrm>
          <a:prstGeom prst="roundRect">
            <a:avLst>
              <a:gd name="adj" fmla="val 3798"/>
            </a:avLst>
          </a:prstGeom>
          <a:solidFill>
            <a:srgbClr val="EEF2F4"/>
          </a:solidFill>
          <a:ln w="12700">
            <a:solidFill>
              <a:srgbClr val="EEF2F4"/>
            </a:solidFill>
            <a:prstDash val="solid"/>
          </a:ln>
        </p:spPr>
      </p:sp>
      <p:sp>
        <p:nvSpPr>
          <p:cNvPr id="12" name="Text 10"/>
          <p:cNvSpPr txBox="1"/>
          <p:nvPr/>
        </p:nvSpPr>
        <p:spPr>
          <a:xfrm>
            <a:off x="5269870" y="2057400"/>
            <a:ext cx="1651955"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Disco rigido</a:t>
            </a:r>
            <a:endParaRPr lang="en-US" sz="1900" dirty="0"/>
          </a:p>
        </p:txBody>
      </p:sp>
      <p:sp>
        <p:nvSpPr>
          <p:cNvPr id="13" name="Text 11"/>
          <p:cNvSpPr txBox="1"/>
          <p:nvPr/>
        </p:nvSpPr>
        <p:spPr>
          <a:xfrm>
            <a:off x="5269870" y="2880360"/>
            <a:ext cx="1651955" cy="1325880"/>
          </a:xfrm>
          <a:prstGeom prst="rect">
            <a:avLst/>
          </a:prstGeom>
          <a:noFill/>
          <a:ln/>
        </p:spPr>
        <p:txBody>
          <a:bodyPr wrap="square" lIns="0" tIns="0" rIns="0" bIns="0" rtlCol="0" anchor="ctr"/>
          <a:lstStyle/>
          <a:p>
            <a:pPr algn="ctr" indent="0" marL="0">
              <a:buNone/>
            </a:pPr>
            <a:r>
              <a:rPr lang="en-US" sz="1600" dirty="0">
                <a:solidFill>
                  <a:srgbClr val="1B2530"/>
                </a:solidFill>
                <a:latin typeface="Calibri" pitchFamily="34" charset="0"/>
                <a:ea typeface="Calibri" pitchFamily="34" charset="-122"/>
                <a:cs typeface="Calibri" pitchFamily="34" charset="-120"/>
              </a:rPr>
              <a:t>magnetico: grande ed economico</a:t>
            </a:r>
            <a:endParaRPr lang="en-US" sz="1600" dirty="0"/>
          </a:p>
        </p:txBody>
      </p:sp>
      <p:sp>
        <p:nvSpPr>
          <p:cNvPr id="14" name="Shape 12"/>
          <p:cNvSpPr/>
          <p:nvPr/>
        </p:nvSpPr>
        <p:spPr>
          <a:xfrm>
            <a:off x="7104705"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7424745" y="1874520"/>
            <a:ext cx="1926275" cy="2468880"/>
          </a:xfrm>
          <a:prstGeom prst="roundRect">
            <a:avLst>
              <a:gd name="adj" fmla="val 3798"/>
            </a:avLst>
          </a:prstGeom>
          <a:solidFill>
            <a:srgbClr val="EEF2F4"/>
          </a:solidFill>
          <a:ln w="12700">
            <a:solidFill>
              <a:srgbClr val="EEF2F4"/>
            </a:solidFill>
            <a:prstDash val="solid"/>
          </a:ln>
        </p:spPr>
      </p:sp>
      <p:sp>
        <p:nvSpPr>
          <p:cNvPr id="16" name="Text 14"/>
          <p:cNvSpPr txBox="1"/>
          <p:nvPr/>
        </p:nvSpPr>
        <p:spPr>
          <a:xfrm>
            <a:off x="7561905" y="2057400"/>
            <a:ext cx="1651955"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Libreria di dischi</a:t>
            </a:r>
            <a:endParaRPr lang="en-US" sz="1900" dirty="0"/>
          </a:p>
        </p:txBody>
      </p:sp>
      <p:sp>
        <p:nvSpPr>
          <p:cNvPr id="17" name="Text 15"/>
          <p:cNvSpPr txBox="1"/>
          <p:nvPr/>
        </p:nvSpPr>
        <p:spPr>
          <a:xfrm>
            <a:off x="7561905" y="2880360"/>
            <a:ext cx="1651955" cy="1325880"/>
          </a:xfrm>
          <a:prstGeom prst="rect">
            <a:avLst/>
          </a:prstGeom>
          <a:noFill/>
          <a:ln/>
        </p:spPr>
        <p:txBody>
          <a:bodyPr wrap="square" lIns="0" tIns="0" rIns="0" bIns="0" rtlCol="0" anchor="ctr"/>
          <a:lstStyle/>
          <a:p>
            <a:pPr algn="ctr" indent="0" marL="0">
              <a:buNone/>
            </a:pPr>
            <a:r>
              <a:rPr lang="en-US" sz="1600" dirty="0">
                <a:solidFill>
                  <a:srgbClr val="1B2530"/>
                </a:solidFill>
                <a:latin typeface="Calibri" pitchFamily="34" charset="0"/>
                <a:ea typeface="Calibri" pitchFamily="34" charset="-122"/>
                <a:cs typeface="Calibri" pitchFamily="34" charset="-120"/>
              </a:rPr>
              <a:t>molti dischi, alcuni accesi solo quando servono</a:t>
            </a:r>
            <a:endParaRPr lang="en-US" sz="1600" dirty="0"/>
          </a:p>
        </p:txBody>
      </p:sp>
      <p:sp>
        <p:nvSpPr>
          <p:cNvPr id="18" name="Shape 16"/>
          <p:cNvSpPr/>
          <p:nvPr/>
        </p:nvSpPr>
        <p:spPr>
          <a:xfrm>
            <a:off x="9396740" y="2962656"/>
            <a:ext cx="274320" cy="292608"/>
          </a:xfrm>
          <a:prstGeom prst="rightArrow">
            <a:avLst/>
          </a:prstGeom>
          <a:solidFill>
            <a:srgbClr val="5B6B78"/>
          </a:solidFill>
          <a:ln w="12700">
            <a:solidFill>
              <a:srgbClr val="5B6B78"/>
            </a:solidFill>
            <a:prstDash val="solid"/>
          </a:ln>
        </p:spPr>
      </p:sp>
      <p:sp>
        <p:nvSpPr>
          <p:cNvPr id="19" name="Shape 17"/>
          <p:cNvSpPr/>
          <p:nvPr/>
        </p:nvSpPr>
        <p:spPr>
          <a:xfrm>
            <a:off x="9716780" y="1874520"/>
            <a:ext cx="1926275" cy="2468880"/>
          </a:xfrm>
          <a:prstGeom prst="roundRect">
            <a:avLst>
              <a:gd name="adj" fmla="val 3798"/>
            </a:avLst>
          </a:prstGeom>
          <a:solidFill>
            <a:srgbClr val="EEF2F4"/>
          </a:solidFill>
          <a:ln w="12700">
            <a:solidFill>
              <a:srgbClr val="EEF2F4"/>
            </a:solidFill>
            <a:prstDash val="solid"/>
          </a:ln>
        </p:spPr>
      </p:sp>
      <p:sp>
        <p:nvSpPr>
          <p:cNvPr id="20" name="Text 18"/>
          <p:cNvSpPr txBox="1"/>
          <p:nvPr/>
        </p:nvSpPr>
        <p:spPr>
          <a:xfrm>
            <a:off x="9853940" y="2057400"/>
            <a:ext cx="1651955" cy="685800"/>
          </a:xfrm>
          <a:prstGeom prst="roundRect">
            <a:avLst>
              <a:gd name="adj" fmla="val 10667"/>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Libreria a nastri</a:t>
            </a:r>
            <a:endParaRPr lang="en-US" sz="1900" dirty="0"/>
          </a:p>
        </p:txBody>
      </p:sp>
      <p:sp>
        <p:nvSpPr>
          <p:cNvPr id="21" name="Text 19"/>
          <p:cNvSpPr txBox="1"/>
          <p:nvPr/>
        </p:nvSpPr>
        <p:spPr>
          <a:xfrm>
            <a:off x="9853940" y="2880360"/>
            <a:ext cx="1651955" cy="1325880"/>
          </a:xfrm>
          <a:prstGeom prst="rect">
            <a:avLst/>
          </a:prstGeom>
          <a:noFill/>
          <a:ln/>
        </p:spPr>
        <p:txBody>
          <a:bodyPr wrap="square" lIns="0" tIns="0" rIns="0" bIns="0" rtlCol="0" anchor="ctr"/>
          <a:lstStyle/>
          <a:p>
            <a:pPr algn="ctr" indent="0" marL="0">
              <a:buNone/>
            </a:pPr>
            <a:r>
              <a:rPr lang="en-US" sz="1600" dirty="0">
                <a:solidFill>
                  <a:srgbClr val="1B2530"/>
                </a:solidFill>
                <a:latin typeface="Calibri" pitchFamily="34" charset="0"/>
                <a:ea typeface="Calibri" pitchFamily="34" charset="-122"/>
                <a:cs typeface="Calibri" pitchFamily="34" charset="-120"/>
              </a:rPr>
              <a:t>robot che montano nastri: il costo più basso per byte, per gli archivi</a:t>
            </a:r>
            <a:endParaRPr lang="en-US" sz="1600" dirty="0"/>
          </a:p>
        </p:txBody>
      </p:sp>
      <p:sp>
        <p:nvSpPr>
          <p:cNvPr id="22" name="Shape 20"/>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23" name="Text 21"/>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Un sistema di calcolo moderno ha più livelli di memoria permanente, spesso gestiti in automatico: i dati usati spesso migrano verso i livelli veloci, il resto scende verso quelli economici.</a:t>
            </a:r>
            <a:endParaRPr lang="en-US" sz="2000" dirty="0"/>
          </a:p>
        </p:txBody>
      </p:sp>
      <p:sp>
        <p:nvSpPr>
          <p:cNvPr id="24" name="Shape 22"/>
          <p:cNvSpPr/>
          <p:nvPr/>
        </p:nvSpPr>
        <p:spPr>
          <a:xfrm>
            <a:off x="7854645" y="91440"/>
            <a:ext cx="3788410" cy="274320"/>
          </a:xfrm>
          <a:prstGeom prst="rect">
            <a:avLst/>
          </a:prstGeom>
          <a:solidFill>
            <a:srgbClr val="E0F2FE"/>
          </a:solidFill>
          <a:ln w="12700">
            <a:solidFill>
              <a:srgbClr val="0369A1"/>
            </a:solidFill>
            <a:prstDash val="solid"/>
          </a:ln>
        </p:spPr>
      </p:sp>
      <p:sp>
        <p:nvSpPr>
          <p:cNvPr id="25" name="Shape 23"/>
          <p:cNvSpPr/>
          <p:nvPr/>
        </p:nvSpPr>
        <p:spPr>
          <a:xfrm>
            <a:off x="7854645" y="91440"/>
            <a:ext cx="73152" cy="274320"/>
          </a:xfrm>
          <a:prstGeom prst="rect">
            <a:avLst/>
          </a:prstGeom>
          <a:solidFill>
            <a:srgbClr val="0369A1"/>
          </a:solidFill>
          <a:ln w="12700">
            <a:solidFill>
              <a:srgbClr val="0369A1"/>
            </a:solidFill>
            <a:prstDash val="solid"/>
          </a:ln>
        </p:spPr>
      </p:sp>
      <p:pic>
        <p:nvPicPr>
          <p:cNvPr id="26" name="Image 0" descr="preencoded.png">    </p:cNvPr>
          <p:cNvPicPr>
            <a:picLocks noChangeAspect="1"/>
          </p:cNvPicPr>
          <p:nvPr/>
        </p:nvPicPr>
        <p:blipFill>
          <a:blip r:embed="rId1"/>
          <a:stretch>
            <a:fillRect/>
          </a:stretch>
        </p:blipFill>
        <p:spPr>
          <a:xfrm>
            <a:off x="7982661" y="128016"/>
            <a:ext cx="201168" cy="201168"/>
          </a:xfrm>
          <a:prstGeom prst="rect">
            <a:avLst/>
          </a:prstGeom>
        </p:spPr>
      </p:pic>
      <p:sp>
        <p:nvSpPr>
          <p:cNvPr id="27" name="Text 24"/>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memoria secondaria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Quale memoria si può cancellare elettricamente, a blocchi, senza rimuoverla dalla scheda?</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ROM</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PROM</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EPROM</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Flash</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Che cosa accade su un cache miss?</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Il programma si ferma con un errore</a:t>
            </a:r>
            <a:endParaRPr lang="en-US" sz="15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Il dato viene prelevato dalla memoria centrale e copiato nella cache, con i suoi vicini</a:t>
            </a:r>
            <a:endParaRPr lang="en-US" sz="15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La cache viene cancellata</a:t>
            </a:r>
            <a:endParaRPr lang="en-US" sz="15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Il processore salta l'istruzione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Quale componente del tempo di accesso di un disco rigido dipende dalla velocità di rotazione?</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tempo di posizionamento</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latenza</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tempo di formattazione</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tempo di avvio</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Su un disco ottico, un 1 è codificato come:</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 pit</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 land</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una transizione tra pit e land</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un doppio pit</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00254"/>
                <a:gridCol w="2946954"/>
                <a:gridCol w="2773604"/>
                <a:gridCol w="277360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motherboard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scheda madre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track / sector / block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traccia / settore / blocco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firmware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firmware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seek time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tempo di posizionamento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non-volatile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non volatile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latency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tempo di latenza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cache hit / miss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successo / fallimento di cache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solid-state disk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disco a stato solido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mass storage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memoria di massa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tape library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libreria a nastri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Conclusioni e letture</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 memorie non volatili contengono di solito il software di base di una macchina: il firmware</a:t>
            </a:r>
            <a:endParaRPr lang="en-US" sz="2000" dirty="0"/>
          </a:p>
        </p:txBody>
      </p:sp>
      <p:sp>
        <p:nvSpPr>
          <p:cNvPr id="5" name="Shape 3"/>
          <p:cNvSpPr/>
          <p:nvPr/>
        </p:nvSpPr>
        <p:spPr>
          <a:xfrm>
            <a:off x="548640" y="227924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88312"/>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La cache migliora le prestazioni tenendo vicino al processore una copia di parte della memoria centrale</a:t>
            </a:r>
            <a:endParaRPr lang="en-US" sz="2000" dirty="0"/>
          </a:p>
        </p:txBody>
      </p:sp>
      <p:sp>
        <p:nvSpPr>
          <p:cNvPr id="7" name="Shape 5"/>
          <p:cNvSpPr/>
          <p:nvPr/>
        </p:nvSpPr>
        <p:spPr>
          <a:xfrm>
            <a:off x="548640" y="305023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959303"/>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La stessa idea, un livello piccolo e veloce davanti a uno grande e lento, si riusa nei sistemi di memoria di massa</a:t>
            </a:r>
            <a:endParaRPr lang="en-US" sz="2000" dirty="0"/>
          </a:p>
        </p:txBody>
      </p:sp>
      <p:sp>
        <p:nvSpPr>
          <p:cNvPr id="9" name="Shape 7"/>
          <p:cNvSpPr/>
          <p:nvPr/>
        </p:nvSpPr>
        <p:spPr>
          <a:xfrm>
            <a:off x="548640" y="382122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730295"/>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 memorie permanenti possono essere a semiconduttore (flash), magnetiche o ottiche</a:t>
            </a:r>
            <a:endParaRPr lang="en-US" sz="2000" dirty="0"/>
          </a:p>
        </p:txBody>
      </p:sp>
      <p:sp>
        <p:nvSpPr>
          <p:cNvPr id="11" name="Shape 9"/>
          <p:cNvSpPr/>
          <p:nvPr/>
        </p:nvSpPr>
        <p:spPr>
          <a:xfrm>
            <a:off x="548640" y="428233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191406"/>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 sistema moderno ha più livelli di memoria permanente, spesso gestiti in automatico</a:t>
            </a:r>
            <a:endParaRPr lang="en-US" sz="2000" dirty="0"/>
          </a:p>
        </p:txBody>
      </p:sp>
      <p:sp>
        <p:nvSpPr>
          <p:cNvPr id="13" name="Shape 11"/>
          <p:cNvSpPr/>
          <p:nvPr/>
        </p:nvSpPr>
        <p:spPr>
          <a:xfrm>
            <a:off x="548640" y="5053330"/>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962398"/>
            <a:ext cx="10710367" cy="120980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Letture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Patterson, Hennessy: Struttura e progetto dei calcolatori, edizione RISC-V, paragrafi 5.1-5.4</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Stallings: Computer Organization and Architecture, i capitoli su cache e memoria esterna</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Tanenbaum, Austin: Architettura dei calcolatori. Un approccio strutturale, capitolo 2</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La memoria permanente</dc:title>
  <dc:subject>Lezione 16</dc:subject>
  <dc:creator>Raffaele Montella</dc:creator>
  <cp:lastModifiedBy>Raffaele Montella</cp:lastModifiedBy>
  <cp:revision>1</cp:revision>
  <dcterms:created xsi:type="dcterms:W3CDTF">2026-10-16T20:22:26Z</dcterms:created>
  <dcterms:modified xsi:type="dcterms:W3CDTF">2026-10-16T20:22:26Z</dcterms:modified>
</cp:coreProperties>
</file>