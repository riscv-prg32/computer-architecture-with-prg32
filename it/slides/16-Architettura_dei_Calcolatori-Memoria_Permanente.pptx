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a7e0a3ff-ed81-5402-ea27-ee5c4f452198}">
          <p14:sldIdLst>
            <p14:sldId id="256"/>
            <p14:sldId id="257"/>
          </p14:sldIdLst>
        </p14:section>
        <p14:section name="Riscaldamento sulla macchina" id="{a6a606ab-43d8-b93f-a7c1-a7aed8a3daa8}">
          <p14:sldIdLst>
            <p14:sldId id="258"/>
            <p14:sldId id="259"/>
          </p14:sldIdLst>
        </p14:section>
        <p14:section name="I componenti di un calcolatore" id="{e8c5c3c1-0d66-ac84-a578-2d549cc0ba25}">
          <p14:sldIdLst>
            <p14:sldId id="260"/>
            <p14:sldId id="261"/>
            <p14:sldId id="262"/>
            <p14:sldId id="263"/>
          </p14:sldIdLst>
        </p14:section>
        <p14:section name="Memorie non volatili" id="{9493633e-1611-802d-96c0-944b9ca75357}">
          <p14:sldIdLst>
            <p14:sldId id="264"/>
            <p14:sldId id="265"/>
            <p14:sldId id="266"/>
          </p14:sldIdLst>
        </p14:section>
        <p14:section name="La cache" id="{380356bc-e770-09dd-c906-843097b633b2}">
          <p14:sldIdLst>
            <p14:sldId id="267"/>
            <p14:sldId id="268"/>
            <p14:sldId id="269"/>
            <p14:sldId id="270"/>
          </p14:sldIdLst>
        </p14:section>
        <p14:section name="La memoria secondaria" id="{4c455308-cbe1-749d-69df-faf2509ca50f}">
          <p14:sldIdLst>
            <p14:sldId id="271"/>
            <p14:sldId id="272"/>
            <p14:sldId id="273"/>
            <p14:sldId id="274"/>
            <p14:sldId id="275"/>
          </p14:sldIdLst>
        </p14:section>
        <p14:section name="Dischi ottici" id="{3e223ba2-9a7b-9b35-3a59-bc2db109048e}">
          <p14:sldIdLst>
            <p14:sldId id="276"/>
            <p14:sldId id="277"/>
            <p14:sldId id="278"/>
            <p14:sldId id="279"/>
          </p14:sldIdLst>
        </p14:section>
        <p14:section name="La memoria di massa a più livelli" id="{e2e7b77a-ee9f-140e-6983-943c03694d99}">
          <p14:sldIdLst>
            <p14:sldId id="280"/>
            <p14:sldId id="281"/>
            <p14:sldId id="282"/>
            <p14:sldId id="283"/>
            <p14:sldId id="284"/>
            <p14:sldId id="285"/>
            <p14:sldId id="286"/>
            <p14:sldId id="287"/>
            <p14:sldId id="288"/>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lezione precedente trattava la memoria che dimentica quando manca la corrente. Questa tratta le memorie che non dimenticano: i chip che contengono il firmware, i dischi, i supporti ottici, i nastri. Tra le due colloca la cache, una memoria piccola e veloce che nasconde la lentezza di una grande. La citazione è di un professore di calcolo numerico di questo Ateneo, e ogni studente prima o poi ne impara la verità: un dato non esiste se non è stato salvato.
Per il docente: Spirale: una cartuccia conserva la stringa del titolo dopo uno spegnimento ma perde il punteggio migliore; la lezione spiega dove vive ciascuno, poi tratta ROM e flash, la cache, e la memoria di massa.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obiettivi. Nominare le unità funzionali di un calcolatore e trovarle su una scheda madre e sul kit. Distinguere ROM, PROM, EPROM, EEPROM e flash, e dire che cos'è il firmware. Spiegare perché una cache rende più veloce un calcolatore, e che cos'è un miss. Descrivere tracce, settori e blocchi di un disco magnetico e le componenti del suo tempo di accesso. Spiegare come un disco ottico memorizza i bit. E collocare flash, dischi a stato solido, dischi rigidi e nastri in un sistema di memoria a più livelli.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riscaldamento è un esperimento con l'interruttore. Una cartuccia ha un titolo e un punteggio migliore. Prevedete quale dei due c'è ancora dopo aver spento e riacceso il kit.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titolo sta nella sezione .rodata, che fa parte del file della cartuccia: il file è memorizzato nella flash e sopravvive. Il punteggio migliore è una variabile della sezione .data, che viene copiata in RAM all'avvio della cartuccia: vive nella SRAM e si perde. Quindi dopo uno spegnimento il titolo c'è e il punteggio vale di nuovo 0. Per conservare per sempre un punteggio bisogna scriverlo in una memoria permanente, e la lezione presenta quelle che esistono. Notate dove vive ogni sezione di un programma.
Per il docente: Scritto per questa lezione. Su PRG32 i punteggi persistenti sono gestiti dal servizio del Cartridge Store; qui conta dove vive ciascuna sezione di un programma.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 delle memorie, uno sguardo alle macchine intere: quali unità compongono un calcolatore, e dove stanno su una scheda vera.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riquadri: il processore, la memoria centrale, la memoria secondaria, i dispositivi di ingresso e uscita, le linee di comunicazione, e un'osservazione sul contenitore. Ogni riquadro nomina l'unità e poi dice dove sta sul kit: il core RISC-V, i 512 KB di SRAM, il chip flash, il display con joystick e amplificatore. L'ultimo riquadro è la differenza tra un PC e un microcontrollore: il primo distribuisce le unità su una scheda madre, il secondo le mette quasi tutte in un solo contenitore.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scheda madre, vista come architettura. Zoccoli per i processori e per i moduli di memoria, vicini perché il bus tra loro deve essere corto. Un chipset che collega processore, memoria e periferiche. Bus di espansione per le schede video. Connessioni per la memoria di massa e per il mondo esterno. E un chip flash con il firmware che avvia la macchina. Da questo punto di vista una scheda di vent'anni fa e una di oggi hanno molto in comune: le unità sono le stesse.
Per il docente: Esempio nella presentazione originale: la scheda per workstation a doppio zoccolo ASUS WS C621E SAGE. Le fotografie annotate di una scheda del 2002 non sono riutilizzate.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firmware è il software di base conservato in una memoria non volatile. In un PC si chiamava BIOS e faceva quattro lavori: provare i dispositivi all'accensione, configurarli, avviare il sistema operativo, e offrire funzioni di base per tastiera e dischi; oggi il suo erede si chiama UEFI. Il kit ha una catena simile: un piccolo programma in ROM lancia un bootloader in flash, che lancia il firmware PRG32, che carica la cartuccia scelta. Ogni stadio trova, controlla e avvia il successivo.
Per il docente: Ogni stadio trova, controlla e avvia il successivo: una catena che termina con la prima istruzione di first_init.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memorie che conservano il contenuto senza alimentazione. Formano una famiglia in cui ogni generazione è più facile da riscrivere della precedente.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Leggete la tabella dall'alto in basso come una storia della comodità. Una ROM è scritta dal costruttore una volta per tutte. Una PROM può essere scritta dall'utente, una volta. Una EPROM si può cancellare, tutta insieme, esponendola alla luce ultravioletta attraverso una finestrella, e riscrivere. Una EEPROM si cancella elettricamente, un byte alla volta, senza rimuoverla. La flash si cancella elettricamente a blocchi: meno flessibile della EEPROM, ma molto più economica, e oggi è ovunque.
Per il docente: Read-only memory, memoria di sola lettura; programmable ROM; erasable PROM; electrically erasable PROM. Tempo di accesso dell'ordine dei nanosecondi in lettura. EEPROM e flash sono più lente e, per bit, erano un tempo più care della RAM; la flash è oggi la memoria a semiconduttore più economica.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proprietà della flash spiegano come la si usa. Si cancella a blocchi, non a byte singoli: cancellare porta a 1 tutti i bit di un blocco, e scrivere può solo trasformare degli 1 in 0. Ogni blocco sopporta un numero limitato di cancellazioni, quindi un controllore distribuisce le scritture in modo uniforme. E la lettura è veloce, mentre la scrittura e soprattutto la cancellazione sono lente. Ecco perché il punteggio migliore del riscaldamento non viene semplicemente scritto nella cartuccia a ogni frame: la flash non è un posto per le variabili.
Per il docente: Ecco perché il punteggio migliore del riscaldamento non viene semplicemente riscritto nella cartuccia a ogni frame: la flash non è un posto per le variabili.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cache non è una memoria permanente, ma sta qui perché poggia sull'idea che organizza tutti i livelli di memoria: un livello piccolo e veloce davanti a uno grande e lento.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Mentre la memoria viene letta o scritta il processore aspetta, e più la memoria è lenta più cicli di clock si perdono. Perché non fare tutta la memoria veloce quanto i registri? Perché dovrebbe stare sullo stesso chip del processore, e allora non potrebbe essere grande. Il compromesso: una memoria piccola e veloce sul chip del processore, e una più grande e più lenta raggiunta attraverso il bus.
Per il docente: La domanda della slide originale: perché non costruire memorie veloci quanto i registri della 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cache sta tra il processore e la memoria centrale. A ogni accesso il processore guarda prima nella cache. Se il contenuto dell'indirizzo richiesto c'è, è un hit e il dato arriva subito. Se non c'è, è un miss: il dato viene copiato dalla memoria centrale nella cache, insieme a un certo numero di locazioni vicine. La scommessa che sta dietro è il principio di località: un programma che ha appena usato un indirizzo probabilmente userà di nuovo presto quello, o i suoi vicini. La ragione sono i cicli e i vettori.
Per il docente: Il principio di località: un programma che ha appena usato un indirizzo probabilmente lo userà di nuovo presto (località temporale) e probabilmente userà i suoi vicini (località spaziale). La ragione sono i cicli e i vettori.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Numeri tipici. Un PC ha più livelli di cache: un primo livello di decine di kilobyte dentro ogni core, un secondo di centinaia di kilobyte, e un terzo di megabyte condiviso dai core. L'ultima colonna è il kit: nessuna cache davanti alla sua SRAM, perché quella memoria è già veloce quanto serve al core; solo la flash esterna si legge attraverso una piccola cache. Il confronto fra le tre colonne mostra anche quanto sono cresciute memoria centrale e memoria di massa in vent'anni.
Per il docente: Primo livello (interno): mantiene un flusso continuo dentro il processore. Secondo livello: limita il rallentamento dovuto alla memoria centrale. Terzo livello (da 8 a 32 MB e oltre): condiviso dai core dello stesso processore. Le cache sono fatte di SRAM. Sull'ESP32-C6 la SRAM è già veloce quanto serve al core; solo la flash esterna sta dietro una cache.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Ora le memorie che conservano ciò che deve sopravvivere: la memoria secondaria, detta anche memoria di massa.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proprietà definiscono le memorie secondarie rispetto alla memoria centrale. Sono non volatili. La loro capacità è di diversi ordini di grandezza maggiore. Il loro costo per bit è di diversi ordini di grandezza minore. E il loro accesso è di alcuni ordini di grandezza più lento. Altri due fatti riguardano l'organizzazione: l'informazione è memorizzata a blocchi, non a byte singoli, e alcuni supporti permettono l'accesso diretto a qualunque blocco mentre altri, come i nastri, solo l'accesso sequenziale.
Per il docente: La memoria secondaria memorizza e conserva tutti i programmi e i dati del calcolatore; la memoria centrale contiene i programmi in esecuzione e i dati che servono loro.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geometria di un disco magnetico. Piatti rivestiti di materiale magnetizzabile ruotano a velocità costante, e delle testine leggono e scrivono. La superficie è divisa in tracce concentriche e in settori, spicchi come quelli di una torta. Un settore taglia ogni traccia in blocchi, e il blocco, identificato da traccia e settore, è la più piccola unità indirizzabile. La formattazione è l'operazione che traccia questa divisione. L'accesso è diretto: la testina va su qualunque blocco senza passare su tutti i precedenti.
Per il docente: Più settori formano un cluster; le tracce allo stesso raggio su tutti i piatti formano un cilindro. La figura originale è stata ridisegnata.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tempo di accesso di un disco è la somma di tre tempi. Tempo di posizionamento: quello per spostare la testina in senso radiale sulla traccia giusta. Latenza: l'attesa che il settore desiderato passi sotto la testina, che dipende dalla velocità di rotazione. Tempo di trasferimento: quello perché il blocco passi sotto la testina. Il totale è questione di millisecondi: un milione di volte più lento della RAM. Nel tempo di un accesso al disco il processore del kit potrebbe eseguire più di centomila istruzioni.
Per il docente: Un millisecondo è un milione di nanosecondi: durante un accesso al disco un processore a 160 MHz potrebbe eseguire più di centomila istruzioni.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tecnologie per lo stesso lavoro. Un disco rigido ha piatti magnetici e testine mobili: il suo tempo di accesso è dominato dalla meccanica, ma il costo per terabyte è il più basso, e resta la scelta per grandi archivi e backup. Un disco a stato solido è memoria flash con un controllore e nessuna parte mobile: il suo tempo di accesso è di decine di microsecondi, ed è la memoria di massa standard di portatili e telefoni. È la stessa tecnologia del chip flash del kit.
Per il docente: Novità rispetto alla presentazione originale, che citava gli SSD solo tra i livelli di memoria di massa. Il bus ATA parallelo dei vecchi PC ha ceduto il posto al Serial ATA e poi a NVMe.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terza famiglia di memorie permanenti legge i bit con la luce. La sua importanza commerciale è diminuita, ma le sue idee, la traccia a spirale e la codifica per transizioni, meritano di essere conosciute.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disco ottico è letto da un raggio laser la cui riflessione cambia tra le cavità, i pit, e la superficie piana, il land. Il punto che all'esame viene sempre chiesto: 0 e 1 non sono pit e land. Un 1 è un cambiamento, da pit a land o da land a pit; uno 0 è nessun cambiamento. Questi dischi di solito si scrivono una volta sola, perché la modifica fisica è irreversibile, e questo li rende adatti a distribuire programmi e ad archivi che non devono essere alterati.
Per il docente: Codificare un 1 come transizione è un'idea autosincronizzante, usata anche in molti collegamenti seriali.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un compact disc l'informazione sta su un'unica traccia a spirale, con una distanza di 1,6 micrometri tra una spira e la successiva. La densità di registrazione è costante lungo la spirale, quindi per leggere a ritmo costante il disco deve girare più in fretta vicino al centro e più lentamente vicino al bordo: è la velocità lineare costante. L'alternativa, la velocità angolare costante, tiene costante la rotazione e spreca la parte esterna del disco. La velocità fu fissata in origine dalle esigenze della musica.
Per il docente: 1x = 1,2 m/s. CD registrabile: due strati di policarbonato racchiudono un sottile foglio riflettente coperto da un colorante traslucido.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DVD è un compact disc in cui tutto è più piccolo: pit di 0,4 invece di 0,83 micrometri e un passo della traccia di 0,74 invece di 1,6. Può inoltre avere due strati e due lati. Il risultato sono circa 5 GB per strato contro 0,68 GB, e una velocità di trasferimento molto maggiore. Le dimensioni fisiche del disco, 120 millimetri di diametro e 1,2 di spessore, sono le stesse.
Per il docente: DVD: digital versatile disk. Pit più piccoli e una spirale più fitta, fino a due strati e due lati. Il DVD-R si scrive una volta sola; i lettori possono lavorare in CAV o in CLV. La tabella originale dava 3,058 micrometri come «larghezza di traccia» del CD; qui si usa il passo standard di 1,6, coerente con la slide precedente.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L'ultima idea della lezione: un sistema reale non sceglie una memoria permanente, ne usa diverse, disposte a livelli.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livelli di memoria permanente, dal più veloce al più economico: un RAM disk, che è un pezzo di memoria centrale usato come disco; i dischi a stato solido; i dischi rigidi; le librerie di dischi, in cui alcuni dischi sono accesi solo quando servono; e le librerie a nastri, in cui dei robot montano i nastri. Il sistema sposta i dati in automatico: ciò che si usa spesso migra verso i livelli veloci, il resto scende verso quelli economici. È l'idea della cache, applicata alla memoria di massa.
Per il docente: La stessa idea della cache, applicata alla memoria di massa. Lo storage HPC del Dipartimento funziona così (visita alla fine del corso).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immagini di memoria di massa a scale diverse: le librerie di dischi e di nastri di un centro di calcolo, un disco a stato solido, l'interno di un lettore DVD. La frase sotto riassume la lezione: da un chip di pochi megabyte sul kit a stanze di petabyte, la gerarchia è la stessa.
Per il docente: Immagini dalla presentazione originale.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Scorrete la tabella delle memorie non volatili facendovi due domande per ciascuna: come si cancella, e quanto alla volta? Solo una si cancella elettricamente e a blocchi.
Per il docente: Risposta: D. La flash è l'evoluzione a blocchi della EEPROM. Alla EPROM serve la luce ultravioletta; ROM e PROM non si possono cancellare.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miss non è un errore. Il programma non si accorge di nulla, se non che questo accesso dura di più: il dato viene prelevato dalla memoria centrale e tenuto nella cache insieme ai suoi vicini.
Per il docente: Risposta: B. L'accesso è semplicemente più lento: il blocco che contiene l'indirizzo viene caricato nella cache, scommettendo che presto serviranno indirizzi vicini.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Quale dei tre tempi è un'attesa che il disco giri? Il movimento del braccio non dipende dalla rotazione; formattazione e avvio non sono componenti del tempo di accesso.
Per il docente: Risposta: B. La latenza è l'attesa che il settore arrivi sotto la testina; il tempo di posizionamento dipende dal movimento del braccio.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Ricordate la regola dei dischi ottici: non conta il pit o il land, ma il passaggio dall'uno all'altro.
Per il docente: Risposta: C. Un cambio di riflettività, in un verso o nell'altro, è un 1; nessun cambio è uno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esercizi. Calcolate la latenza media di un disco a 7200 giri al minuto: mezzo giro. Calcolate il tempo medio di accesso di una cache con il 95% di hit. Dite dove vivono sul kit cinque cose: il codice di avvio, il firmware, una cartuccia, una variabile, un registro. Trovate le specifiche della memoria di massa del vostro portatile o telefono. E misurate su PRG32 due cicli su un grande vettore, uno in ordine e uno a salti: c'è differenza, e perché su questo chip potrebbe non esserci?
Per il docente: 60 / 7200 = 8,33 ms per giro. Esercizio 3: ROM, flash, flash (o RAM una volta caricata), SRAM, un registro di flip-flop nel processore. Esercizio 5: la SRAM dell'ESP32-C6 non ha una cache davanti, quindi l'ordine degli accessi conta poco; su un portatile la differenza è grande.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Dieci termini. Motherboard è la scheda madre. Hit e miss di cache sono il successo e il fallimento nel trovare il dato. Seek time e latency, tempo di posizionamento e latenza, sono due componenti del tempo di accesso di un disco. Mass storage è la memoria di massa, cioè la memoria secondaria nel suo insieme. Una tape library è un sistema di memoria a nastri gestiti da robot.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Le memorie non volatili contengono di solito il firmware, il software di base di una macchina. La cache migliora le prestazioni tenendo vicino al processore una copia di parte della memoria centrale. La stessa idea, un livello piccolo e veloce davanti a uno grande e lento, si riusa nella memoria di massa. Le memorie permanenti possono essere a semiconduttore, magnetiche o ottiche. E un sistema moderno ha più livelli, gestiti in automatico. Ora viene la Parte 3 di Verm1, che usa la memoria come finora nel progetto non era mai stata usata.
Per il docente: A seguire: Verm1, parte 3: un corpo, regole e stati. Poi il processore.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16: Memoria permanente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image" Target="../media/image-27-2.jpg"/><Relationship Id="rId3" Type="http://schemas.openxmlformats.org/officeDocument/2006/relationships/image" Target="../media/image-27-3.jpg"/><Relationship Id="rId4" Type="http://schemas.openxmlformats.org/officeDocument/2006/relationships/slideLayout" Target="../slideLayouts/slideLayout2.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16</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La memoria permanente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Memorie non volatili, la cache, e la memoria di massa: magnetica, ottica e a stato solido</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“...un dato non esiste se non è stato salvato...”</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Prof. Almerico Murli, anni Novanta</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platformer.pn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Nominare le unità funzionali di un calcolatore e riconoscerle su una scheda madre e sul kit PRG32</a:t>
            </a:r>
            <a:endParaRPr lang="en-US" sz="2200" dirty="0"/>
          </a:p>
        </p:txBody>
      </p:sp>
      <p:sp>
        <p:nvSpPr>
          <p:cNvPr id="5" name="Text 3"/>
          <p:cNvSpPr txBox="1"/>
          <p:nvPr/>
        </p:nvSpPr>
        <p:spPr>
          <a:xfrm>
            <a:off x="548640" y="23473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2907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Distinguere ROM, PROM, EPROM, EEPROM e flash, e dire che cos'è il firmware</a:t>
            </a:r>
            <a:endParaRPr lang="en-US" sz="2200" dirty="0"/>
          </a:p>
        </p:txBody>
      </p:sp>
      <p:sp>
        <p:nvSpPr>
          <p:cNvPr id="7" name="Text 5"/>
          <p:cNvSpPr txBox="1"/>
          <p:nvPr/>
        </p:nvSpPr>
        <p:spPr>
          <a:xfrm>
            <a:off x="548640" y="301630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9801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perché una cache rende più veloce un calcolatore, e che cos'è un cache miss</a:t>
            </a:r>
            <a:endParaRPr lang="en-US" sz="2200" dirty="0"/>
          </a:p>
        </p:txBody>
      </p:sp>
      <p:sp>
        <p:nvSpPr>
          <p:cNvPr id="9" name="Text 7"/>
          <p:cNvSpPr txBox="1"/>
          <p:nvPr/>
        </p:nvSpPr>
        <p:spPr>
          <a:xfrm>
            <a:off x="548640" y="392805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09771"/>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tracce, settori e blocchi di un disco magnetico e le componenti del suo tempo di accesso</a:t>
            </a:r>
            <a:endParaRPr lang="en-US" sz="2200" dirty="0"/>
          </a:p>
        </p:txBody>
      </p:sp>
      <p:sp>
        <p:nvSpPr>
          <p:cNvPr id="11" name="Text 9"/>
          <p:cNvSpPr txBox="1"/>
          <p:nvPr/>
        </p:nvSpPr>
        <p:spPr>
          <a:xfrm>
            <a:off x="548640" y="483981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82153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come un disco ottico memorizza i bit, e confrontare CD e DVD</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Collocare flash, dischi a stato solido, dischi rigidi e nastri in un sistema di memoria a più livelli</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01</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Riscaldamento sulla macchina</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Che cosa sopravvive quando manca la corrente.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Spegnete e riaccendete il kit</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.section .rodata            </a:t>
            </a:r>
            <a:pPr indent="0" marL="0">
              <a:buNone/>
            </a:pPr>
            <a:r>
              <a:rPr lang="en-US" sz="1350" dirty="0">
                <a:solidFill>
                  <a:srgbClr val="8FB3A0"/>
                </a:solidFill>
                <a:latin typeface="Courier New" pitchFamily="34" charset="0"/>
                <a:ea typeface="Courier New" pitchFamily="34" charset="-122"/>
                <a:cs typeface="Courier New" pitchFamily="34" charset="-120"/>
              </a:rPr>
              <a:t># part of the cartridge file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title: .asciz "HIGH SCORE"  </a:t>
            </a:r>
            <a:pPr indent="0" marL="0">
              <a:buNone/>
            </a:pPr>
            <a:r>
              <a:rPr lang="en-US" sz="1350" dirty="0">
                <a:solidFill>
                  <a:srgbClr val="8FB3A0"/>
                </a:solidFill>
                <a:latin typeface="Courier New" pitchFamily="34" charset="0"/>
                <a:ea typeface="Courier New" pitchFamily="34" charset="-122"/>
                <a:cs typeface="Courier New" pitchFamily="34" charset="-120"/>
              </a:rPr>
              <a:t># stored in flash: it survives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.data              </a:t>
            </a:r>
            <a:pPr indent="0" marL="0">
              <a:buNone/>
            </a:pPr>
            <a:r>
              <a:rPr lang="en-US" sz="1350" dirty="0">
                <a:solidFill>
                  <a:srgbClr val="8FB3A0"/>
                </a:solidFill>
                <a:latin typeface="Courier New" pitchFamily="34" charset="0"/>
                <a:ea typeface="Courier New" pitchFamily="34" charset="-122"/>
                <a:cs typeface="Courier New" pitchFamily="34" charset="-120"/>
              </a:rPr>
              <a:t># copied into RAM at start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best:  .word 0              </a:t>
            </a:r>
            <a:pPr indent="0" marL="0">
              <a:buNone/>
            </a:pPr>
            <a:r>
              <a:rPr lang="en-US" sz="1350" dirty="0">
                <a:solidFill>
                  <a:srgbClr val="8FB3A0"/>
                </a:solidFill>
                <a:latin typeface="Courier New" pitchFamily="34" charset="0"/>
                <a:ea typeface="Courier New" pitchFamily="34" charset="-122"/>
                <a:cs typeface="Courier New" pitchFamily="34" charset="-120"/>
              </a:rPr>
              <a:t># lives in RAM: it is lost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game_update: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best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ble  a0, t1, 1f         </a:t>
            </a:r>
            <a:pPr indent="0" marL="0">
              <a:buNone/>
            </a:pPr>
            <a:r>
              <a:rPr lang="en-US" sz="1350" dirty="0">
                <a:solidFill>
                  <a:srgbClr val="8FB3A0"/>
                </a:solidFill>
                <a:latin typeface="Courier New" pitchFamily="34" charset="0"/>
                <a:ea typeface="Courier New" pitchFamily="34" charset="-122"/>
                <a:cs typeface="Courier New" pitchFamily="34" charset="-120"/>
              </a:rPr>
              <a:t># new score not better: skip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a0, 0(t0)          </a:t>
            </a:r>
            <a:pPr indent="0" marL="0">
              <a:buNone/>
            </a:pPr>
            <a:r>
              <a:rPr lang="en-US" sz="1350" dirty="0">
                <a:solidFill>
                  <a:srgbClr val="8FB3A0"/>
                </a:solidFill>
                <a:latin typeface="Courier New" pitchFamily="34" charset="0"/>
                <a:ea typeface="Courier New" pitchFamily="34" charset="-122"/>
                <a:cs typeface="Courier New" pitchFamily="34" charset="-120"/>
              </a:rPr>
              <a:t># remember the best score ... in RAM</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a:t>
            </a:r>
            <a:endParaRPr lang="en-US" sz="13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Dopo uno spegnimento il titolo c'è ancora, ma il punteggio migliore è di nuovo 0</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La cartuccia è un file nella memoria flash: non volatile</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La variabile vive nella SRAM: volatile</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Per conservare un punteggio per sempre va scritto in una memoria permanente: quali esistono?</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02</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I componenti di un calcolatore</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Trovare le unità sulle schede vere.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Unità funzionali di un calcolatore</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Processore</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Esegue le istruzioni. Sul kit: il core RISC-V dell'ESP32-C6.</a:t>
            </a:r>
            <a:endParaRPr lang="en-US" sz="15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Memoria centrale</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Contiene i programmi in esecuzione e i loro dati. Sul kit: 512 KB di SRAM dentro il chip.</a:t>
            </a:r>
            <a:endParaRPr lang="en-US" sz="15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Memoria secondaria</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Conserva programmi e dati a macchina spenta. Sul kit: il chip flash che contiene firmware e cartucce.</a:t>
            </a:r>
            <a:endParaRPr lang="en-US" sz="15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Dispositivi di ingresso/uscita</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Scheda video e monitor, tastiera, mouse, stampante, memoria di massa. Sul kit: display, joystick, amplificatore.</a:t>
            </a:r>
            <a:endParaRPr lang="en-US" sz="15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Linee di comunicazione</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I bus: linee di dati e di indirizzo condivise da tutte le unità.</a:t>
            </a:r>
            <a:endParaRPr lang="en-US" sz="15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Un chip o molti</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Un PC distribuisce queste unità su una scheda madre; un microcontrollore le mette quasi tutte in un solo contenitore.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scheda madre</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Zoccoli per uno o più processori e per i moduli di memoria, vicini tra loro</a:t>
            </a:r>
            <a:endParaRPr lang="en-US" sz="1900" dirty="0"/>
          </a:p>
        </p:txBody>
      </p:sp>
      <p:sp>
        <p:nvSpPr>
          <p:cNvPr id="5" name="Shape 3"/>
          <p:cNvSpPr/>
          <p:nvPr/>
        </p:nvSpPr>
        <p:spPr>
          <a:xfrm>
            <a:off x="548640" y="227484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91664"/>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chipset che collega processore, memoria e periferiche</a:t>
            </a:r>
            <a:endParaRPr lang="en-US" sz="1900" dirty="0"/>
          </a:p>
        </p:txBody>
      </p:sp>
      <p:sp>
        <p:nvSpPr>
          <p:cNvPr id="7" name="Shape 5"/>
          <p:cNvSpPr/>
          <p:nvPr/>
        </p:nvSpPr>
        <p:spPr>
          <a:xfrm>
            <a:off x="548640" y="304919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66009"/>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Bus di espansione: slot PCI Express per schede video e altre schede</a:t>
            </a:r>
            <a:endParaRPr lang="en-US" sz="1900" dirty="0"/>
          </a:p>
        </p:txBody>
      </p:sp>
      <p:sp>
        <p:nvSpPr>
          <p:cNvPr id="9" name="Shape 7"/>
          <p:cNvSpPr/>
          <p:nvPr/>
        </p:nvSpPr>
        <p:spPr>
          <a:xfrm>
            <a:off x="548640" y="382353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740353"/>
            <a:ext cx="54681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Connessioni per la memoria di massa (Serial ATA, M.2) e per il mondo esterno (USB, Ethernet, audio)</a:t>
            </a:r>
            <a:endParaRPr lang="en-US" sz="1900" dirty="0"/>
          </a:p>
        </p:txBody>
      </p:sp>
      <p:sp>
        <p:nvSpPr>
          <p:cNvPr id="11" name="Shape 9"/>
          <p:cNvSpPr/>
          <p:nvPr/>
        </p:nvSpPr>
        <p:spPr>
          <a:xfrm>
            <a:off x="548640" y="4892269"/>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09084"/>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chip flash con il firmware che avvia la macchina</a:t>
            </a:r>
            <a:endParaRPr lang="en-US" sz="1900" dirty="0"/>
          </a:p>
        </p:txBody>
      </p:sp>
      <p:sp>
        <p:nvSpPr>
          <p:cNvPr id="13" name="Shape 11"/>
          <p:cNvSpPr/>
          <p:nvPr/>
        </p:nvSpPr>
        <p:spPr>
          <a:xfrm>
            <a:off x="548640" y="5666613"/>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583428"/>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Dal punto di vista architetturale una scheda del 2002 e una di oggi hanno molto in comune</a:t>
            </a:r>
            <a:endParaRPr lang="en-US" sz="1900" dirty="0"/>
          </a:p>
        </p:txBody>
      </p:sp>
      <p:pic>
        <p:nvPicPr>
          <p:cNvPr id="15" name="Image 0" descr="/Users/raffaelemontella/devel/riscv-prg32/computer-architecture-with-prg32/tools/assets/workstation_board.jpg">    </p:cNvPr>
          <p:cNvPicPr>
            <a:picLocks noChangeAspect="1"/>
          </p:cNvPicPr>
          <p:nvPr/>
        </p:nvPicPr>
        <p:blipFill>
          <a:blip r:embed="rId1"/>
          <a:stretch>
            <a:fillRect/>
          </a:stretch>
        </p:blipFill>
        <p:spPr>
          <a:xfrm>
            <a:off x="7263920" y="1417320"/>
            <a:ext cx="3881775" cy="4297680"/>
          </a:xfrm>
          <a:prstGeom prst="rect">
            <a:avLst/>
          </a:prstGeom>
        </p:spPr>
      </p:pic>
      <p:sp>
        <p:nvSpPr>
          <p:cNvPr id="16" name="Text 13"/>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Una scheda madre per workstation a due processori</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firmware: il BIOS e i suoi eredi</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Il BIOS è un programma in un chip non volatile specifico di una data scheda madre, usato dal processore all'accensione</a:t>
            </a:r>
            <a:endParaRPr lang="en-US" sz="1900" dirty="0"/>
          </a:p>
        </p:txBody>
      </p:sp>
      <p:sp>
        <p:nvSpPr>
          <p:cNvPr id="5" name="Shape 3"/>
          <p:cNvSpPr/>
          <p:nvPr/>
        </p:nvSpPr>
        <p:spPr>
          <a:xfrm>
            <a:off x="548640" y="254088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57704"/>
            <a:ext cx="6565392" cy="1928114"/>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Le sue istruzioni e i suoi dati si dividono in</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POST, power-on self test: controlla che i dispositivi funzionino</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SETUP: configurazione dei dispositivi</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BOOT: avvia il sistema operativo</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DRIVERS: funzioni di base di basso livello per tastiera, dischi e altri dispositivi</a:t>
            </a:r>
            <a:endParaRPr lang="en-US" sz="1900" dirty="0"/>
          </a:p>
        </p:txBody>
      </p:sp>
      <p:sp>
        <p:nvSpPr>
          <p:cNvPr id="7" name="Shape 5"/>
          <p:cNvSpPr/>
          <p:nvPr/>
        </p:nvSpPr>
        <p:spPr>
          <a:xfrm>
            <a:off x="548640" y="462622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543044"/>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PC di oggi usano il firmware UEFI, che svolge gli stessi compiti</a:t>
            </a:r>
            <a:endParaRPr lang="en-US" sz="1900" dirty="0"/>
          </a:p>
        </p:txBody>
      </p:sp>
      <p:sp>
        <p:nvSpPr>
          <p:cNvPr id="9" name="Shape 7"/>
          <p:cNvSpPr/>
          <p:nvPr/>
        </p:nvSpPr>
        <p:spPr>
          <a:xfrm>
            <a:off x="548640" y="537222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289042"/>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Sull'ESP32-C6: un programma di avvio in ROM lancia un bootloader in flash, che lancia il firmware PRG32, che carica la cartuccia scelta</a:t>
            </a:r>
            <a:endParaRPr lang="en-US" sz="19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boot</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dalla prima istruzione dopo il reset al vostro programma, attraverso strati di memoria permanente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03</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Memorie non volatili</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Dalla ROM alla flash.</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Dalla ROM alla flash</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55005"/>
                <a:gridCol w="2819073"/>
                <a:gridCol w="3819389"/>
                <a:gridCol w="3000948"/>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Memoria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Scritta da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Cancellata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Uso tipico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ROM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il costruttore, una volta per tutte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mai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codice di avvio, vecchie cartucce di gioco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PROM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l'utente, una volta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mai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piccole serie di produzione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EPROM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l'utente, molte volte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tutta insieme, con luce ultravioletta attraverso una finestrella di quarzo (circa 15 minuti)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sviluppo, BIOS dei primi PC</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EEPROM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l'utente, sul posto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elettricamente, un byte alla volta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dati di configurazione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Flash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l'utente, sul posto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elettricamente, a blocchi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firmware, chiavette USB, schede di memoria, dischi a stato solido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memoria flash</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Il tipo più recente di EEPROM: si riprogramma sul posto, senza rimuoverla</a:t>
            </a:r>
            <a:endParaRPr lang="en-US" sz="2000" dirty="0"/>
          </a:p>
        </p:txBody>
      </p:sp>
      <p:sp>
        <p:nvSpPr>
          <p:cNvPr id="5" name="Shape 3"/>
          <p:cNvSpPr/>
          <p:nvPr/>
        </p:nvSpPr>
        <p:spPr>
          <a:xfrm>
            <a:off x="548640" y="23096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1869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Si cancella a blocchi di byte, non un byte alla volta: cancellare porta a 1 tutti i bit di un blocco, scrivere può solo trasformare degli 1 in 0</a:t>
            </a:r>
            <a:endParaRPr lang="en-US" sz="2000" dirty="0"/>
          </a:p>
        </p:txBody>
      </p:sp>
      <p:sp>
        <p:nvSpPr>
          <p:cNvPr id="7" name="Shape 5"/>
          <p:cNvSpPr/>
          <p:nvPr/>
        </p:nvSpPr>
        <p:spPr>
          <a:xfrm>
            <a:off x="548640" y="342087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2994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Ogni blocco sopporta un numero limitato di cicli di cancellazione: il controllore distribuisce le scritture in modo uniforme</a:t>
            </a:r>
            <a:endParaRPr lang="en-US" sz="2000" dirty="0"/>
          </a:p>
        </p:txBody>
      </p:sp>
      <p:sp>
        <p:nvSpPr>
          <p:cNvPr id="9" name="Shape 7"/>
          <p:cNvSpPr/>
          <p:nvPr/>
        </p:nvSpPr>
        <p:spPr>
          <a:xfrm>
            <a:off x="548640" y="453212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4119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lettura è veloce; la scrittura e soprattutto la cancellazione sono lente</a:t>
            </a:r>
            <a:endParaRPr lang="en-US" sz="2000" dirty="0"/>
          </a:p>
        </p:txBody>
      </p:sp>
      <p:sp>
        <p:nvSpPr>
          <p:cNvPr id="11" name="Shape 9"/>
          <p:cNvSpPr/>
          <p:nvPr/>
        </p:nvSpPr>
        <p:spPr>
          <a:xfrm>
            <a:off x="548640" y="533349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24256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flash del kit contiene il firmware e le vostre cartucce: caricare una cartuccia cancella e riscrive alcuni dei suoi blocchi</a:t>
            </a:r>
            <a:endParaRPr lang="en-US" sz="2000" dirty="0"/>
          </a:p>
        </p:txBody>
      </p:sp>
      <p:pic>
        <p:nvPicPr>
          <p:cNvPr id="13" name="Image 0" descr="/Users/raffaelemontella/devel/riscv-prg32/computer-architecture-with-prg32/tools/assets/eprom.jpg">    </p:cNvPr>
          <p:cNvPicPr>
            <a:picLocks noChangeAspect="1"/>
          </p:cNvPicPr>
          <p:nvPr/>
        </p:nvPicPr>
        <p:blipFill>
          <a:blip r:embed="rId1"/>
          <a:stretch>
            <a:fillRect/>
          </a:stretch>
        </p:blipFill>
        <p:spPr>
          <a:xfrm>
            <a:off x="7863840" y="1676552"/>
            <a:ext cx="3779215" cy="3779215"/>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Una EPROM: la finestrella di quarzo permette alla luce ultravioletta di cancellare il chip</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04</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La cache</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Una memoria piccola e veloce davanti a una grande e lenta.</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Perché una cache?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Durante i cicli di clock necessari a leggere o scrivere la memoria il processore aspetta</a:t>
            </a:r>
            <a:endParaRPr lang="en-US" sz="2200" dirty="0"/>
          </a:p>
        </p:txBody>
      </p:sp>
      <p:sp>
        <p:nvSpPr>
          <p:cNvPr id="5" name="Shape 3"/>
          <p:cNvSpPr/>
          <p:nvPr/>
        </p:nvSpPr>
        <p:spPr>
          <a:xfrm>
            <a:off x="548640" y="235093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44513"/>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Più la memoria è lenta, più cicli si perdono</a:t>
            </a:r>
            <a:endParaRPr lang="en-US" sz="2200" dirty="0"/>
          </a:p>
        </p:txBody>
      </p:sp>
      <p:sp>
        <p:nvSpPr>
          <p:cNvPr id="7" name="Shape 5"/>
          <p:cNvSpPr/>
          <p:nvPr/>
        </p:nvSpPr>
        <p:spPr>
          <a:xfrm>
            <a:off x="548640" y="283726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30839"/>
            <a:ext cx="6565392" cy="193243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Perché non costruire memorie veloci quanto i registri del processore?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dovrebbero stare sullo stesso chip: un collegamento attraverso un bus è più lento</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non potrebbero essere molto grandi, e il chip crescerebbe in dimensioni e costo</a:t>
            </a:r>
            <a:endParaRPr lang="en-US" sz="2200" dirty="0"/>
          </a:p>
        </p:txBody>
      </p:sp>
      <p:sp>
        <p:nvSpPr>
          <p:cNvPr id="9" name="Shape 7"/>
          <p:cNvSpPr/>
          <p:nvPr/>
        </p:nvSpPr>
        <p:spPr>
          <a:xfrm>
            <a:off x="548640" y="49151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808728"/>
            <a:ext cx="6565392" cy="136347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compromesso: una memoria piccola e veloce sul chip del processore, e una o più memorie più grandi e più lente raggiunte attraverso il bus</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attesa</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ciò che fa un processore, per la maggior parte del tempo, quando la sua memoria è più lenta di lui</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Come funziona una cache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01675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Cache, dal francese cacher, nascondere: una memoria di piccola capacità ma veloce, posta tra il processore e la RAM</a:t>
            </a:r>
            <a:endParaRPr lang="en-US" sz="2100" dirty="0"/>
          </a:p>
        </p:txBody>
      </p:sp>
      <p:sp>
        <p:nvSpPr>
          <p:cNvPr id="5" name="Shape 3"/>
          <p:cNvSpPr/>
          <p:nvPr/>
        </p:nvSpPr>
        <p:spPr>
          <a:xfrm>
            <a:off x="548640" y="264909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50414"/>
            <a:ext cx="6016752"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Il processore guarda prima nella cache</a:t>
            </a:r>
            <a:endParaRPr lang="en-US" sz="2100" dirty="0"/>
          </a:p>
        </p:txBody>
      </p:sp>
      <p:sp>
        <p:nvSpPr>
          <p:cNvPr id="7" name="Shape 5"/>
          <p:cNvSpPr/>
          <p:nvPr/>
        </p:nvSpPr>
        <p:spPr>
          <a:xfrm>
            <a:off x="548640" y="313143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32760"/>
            <a:ext cx="601675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Hit: il contenuto dell'indirizzo richiesto c'è, e arriva subito</a:t>
            </a:r>
            <a:endParaRPr lang="en-US" sz="2100" dirty="0"/>
          </a:p>
        </p:txBody>
      </p:sp>
      <p:sp>
        <p:nvSpPr>
          <p:cNvPr id="9" name="Shape 7"/>
          <p:cNvSpPr/>
          <p:nvPr/>
        </p:nvSpPr>
        <p:spPr>
          <a:xfrm>
            <a:off x="548640" y="393915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40480"/>
            <a:ext cx="6016752" cy="152400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Miss: non c'è, e va copiato dalla RAM nella cache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con esso si copia un numero fisso di locazioni vicine, perché i programmi tendono a usare subito dopo indirizzi vicini</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01675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Più hit ci sono, più breve è il tempo medio di accesso</a:t>
            </a:r>
            <a:endParaRPr lang="en-US" sz="2100" dirty="0"/>
          </a:p>
        </p:txBody>
      </p:sp>
      <p:sp>
        <p:nvSpPr>
          <p:cNvPr id="13" name="Text 11"/>
          <p:cNvSpPr txBox="1"/>
          <p:nvPr/>
        </p:nvSpPr>
        <p:spPr>
          <a:xfrm>
            <a:off x="7863840" y="1691640"/>
            <a:ext cx="292608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processore</a:t>
            </a:r>
            <a:endParaRPr lang="en-US" sz="1600" dirty="0"/>
          </a:p>
        </p:txBody>
      </p:sp>
      <p:sp>
        <p:nvSpPr>
          <p:cNvPr id="14" name="Text 12"/>
          <p:cNvSpPr txBox="1"/>
          <p:nvPr/>
        </p:nvSpPr>
        <p:spPr>
          <a:xfrm>
            <a:off x="7863840" y="3154680"/>
            <a:ext cx="2926080" cy="914400"/>
          </a:xfrm>
          <a:prstGeom prst="roundRect">
            <a:avLst>
              <a:gd name="adj" fmla="val 6000"/>
            </a:avLst>
          </a:prstGeom>
          <a:solidFill>
            <a:srgbClr val="C7791B"/>
          </a:solidFill>
          <a:ln>
            <a:solidFill>
              <a:srgbClr val="C7791B"/>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cache</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piccola, veloce</a:t>
            </a:r>
            <a:endParaRPr lang="en-US" sz="1600" dirty="0"/>
          </a:p>
        </p:txBody>
      </p:sp>
      <p:sp>
        <p:nvSpPr>
          <p:cNvPr id="15" name="Text 13"/>
          <p:cNvSpPr txBox="1"/>
          <p:nvPr/>
        </p:nvSpPr>
        <p:spPr>
          <a:xfrm>
            <a:off x="7863840" y="4800600"/>
            <a:ext cx="2926080" cy="1097280"/>
          </a:xfrm>
          <a:prstGeom prst="roundRect">
            <a:avLst>
              <a:gd name="adj" fmla="val 5000"/>
            </a:avLst>
          </a:prstGeom>
          <a:solidFill>
            <a:srgbClr val="6B4FA0"/>
          </a:solidFill>
          <a:ln>
            <a:solidFill>
              <a:srgbClr val="6B4FA0"/>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memoria centrale</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grande, lenta</a:t>
            </a:r>
            <a:endParaRPr lang="en-US" sz="1600" dirty="0"/>
          </a:p>
        </p:txBody>
      </p:sp>
      <p:sp>
        <p:nvSpPr>
          <p:cNvPr id="16" name="Shape 14"/>
          <p:cNvSpPr/>
          <p:nvPr/>
        </p:nvSpPr>
        <p:spPr>
          <a:xfrm>
            <a:off x="9326880" y="2450592"/>
            <a:ext cx="0" cy="676656"/>
          </a:xfrm>
          <a:prstGeom prst="line">
            <a:avLst/>
          </a:prstGeom>
          <a:noFill/>
          <a:ln w="31750">
            <a:solidFill>
              <a:srgbClr val="5B6B78"/>
            </a:solidFill>
            <a:prstDash val="solid"/>
            <a:tailEnd type="triangle"/>
          </a:ln>
        </p:spPr>
      </p:sp>
      <p:sp>
        <p:nvSpPr>
          <p:cNvPr id="17" name="Shape 15"/>
          <p:cNvSpPr/>
          <p:nvPr/>
        </p:nvSpPr>
        <p:spPr>
          <a:xfrm>
            <a:off x="9326880" y="4096512"/>
            <a:ext cx="0" cy="676656"/>
          </a:xfrm>
          <a:prstGeom prst="line">
            <a:avLst/>
          </a:prstGeom>
          <a:noFill/>
          <a:ln w="31750">
            <a:solidFill>
              <a:srgbClr val="5B6B78"/>
            </a:solidFill>
            <a:prstDash val="solid"/>
            <a:tailEnd type="triangle"/>
          </a:ln>
        </p:spPr>
      </p:sp>
      <p:sp>
        <p:nvSpPr>
          <p:cNvPr id="18" name="Text 16"/>
          <p:cNvSpPr txBox="1"/>
          <p:nvPr/>
        </p:nvSpPr>
        <p:spPr>
          <a:xfrm>
            <a:off x="9464040" y="2606040"/>
            <a:ext cx="1828800" cy="27432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a ogni accesso</a:t>
            </a:r>
            <a:endParaRPr lang="en-US" sz="1250" dirty="0"/>
          </a:p>
        </p:txBody>
      </p:sp>
      <p:sp>
        <p:nvSpPr>
          <p:cNvPr id="19" name="Text 17"/>
          <p:cNvSpPr txBox="1"/>
          <p:nvPr/>
        </p:nvSpPr>
        <p:spPr>
          <a:xfrm>
            <a:off x="9464040" y="4251960"/>
            <a:ext cx="1828800" cy="27432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solo su un miss</a:t>
            </a:r>
            <a:endParaRPr lang="en-US" sz="12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Livelli di cache e macchine tipiche</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2728135"/>
                <a:gridCol w="3091886"/>
                <a:gridCol w="3273762"/>
              </a:tblGrid>
              <a:tr h="0">
                <a:tc>
                  <a:txBody>
                    <a:bodyPr/>
                    <a:lstStyle/>
                    <a:p>
                      <a:pPr algn="l" indent="0" marL="0">
                        <a:buNone/>
                      </a:pP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PC del 2002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PC del 2020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ESP32-C6 (il kit)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Processore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core RISC-V, 160 MHz</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L1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 KB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 KB per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nessuna per la SRAM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L2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512 KB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512 KB per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L3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 MB, condivisa dai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Memoria centrale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 MB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 GB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512 KB di SRAM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Memoria di massa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disco rigido da 40 GB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TB + 1 TB, in mirror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pochi MB di flash, letti attraverso una piccola cache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05</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La memoria secondaria</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La memoria di massa.</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Caratteristiche delle memorie secondarie</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Non volatili: i dati non si perdono quando il calcolatore viene spento</a:t>
            </a:r>
            <a:endParaRPr lang="en-US" sz="2000" dirty="0"/>
          </a:p>
        </p:txBody>
      </p:sp>
      <p:sp>
        <p:nvSpPr>
          <p:cNvPr id="5" name="Shape 3"/>
          <p:cNvSpPr/>
          <p:nvPr/>
        </p:nvSpPr>
        <p:spPr>
          <a:xfrm>
            <a:off x="548640" y="233527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44344"/>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Grande capacità: diversi ordini di grandezza più della memoria centrale</a:t>
            </a:r>
            <a:endParaRPr lang="en-US" sz="2000" dirty="0"/>
          </a:p>
        </p:txBody>
      </p:sp>
      <p:sp>
        <p:nvSpPr>
          <p:cNvPr id="7" name="Shape 5"/>
          <p:cNvSpPr/>
          <p:nvPr/>
        </p:nvSpPr>
        <p:spPr>
          <a:xfrm>
            <a:off x="548640" y="316230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71368"/>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Basso costo per bit: diversi ordini di grandezza meno della memoria centrale</a:t>
            </a:r>
            <a:endParaRPr lang="en-US" sz="2000" dirty="0"/>
          </a:p>
        </p:txBody>
      </p:sp>
      <p:sp>
        <p:nvSpPr>
          <p:cNvPr id="9" name="Shape 7"/>
          <p:cNvSpPr/>
          <p:nvPr/>
        </p:nvSpPr>
        <p:spPr>
          <a:xfrm>
            <a:off x="548640" y="398932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98392"/>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Accesso più lento: alcuni ordini di grandezza più lento della memoria centrale</a:t>
            </a:r>
            <a:endParaRPr lang="en-US" sz="2000" dirty="0"/>
          </a:p>
        </p:txBody>
      </p:sp>
      <p:sp>
        <p:nvSpPr>
          <p:cNvPr id="11" name="Shape 9"/>
          <p:cNvSpPr/>
          <p:nvPr/>
        </p:nvSpPr>
        <p:spPr>
          <a:xfrm>
            <a:off x="548640" y="481634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725416"/>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L'informazione è organizzata in blocchi, di solito di un kilobyte o più, non in byte singoli</a:t>
            </a:r>
            <a:endParaRPr lang="en-US" sz="2000" dirty="0"/>
          </a:p>
        </p:txBody>
      </p:sp>
      <p:sp>
        <p:nvSpPr>
          <p:cNvPr id="13" name="Shape 11"/>
          <p:cNvSpPr/>
          <p:nvPr/>
        </p:nvSpPr>
        <p:spPr>
          <a:xfrm>
            <a:off x="548640" y="5643372"/>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Alcuni supporti permettono l'accesso diretto a qualunque blocco; altri solo l'accesso sequenziale</a:t>
            </a:r>
            <a:endParaRPr lang="en-US" sz="2000" dirty="0"/>
          </a:p>
        </p:txBody>
      </p:sp>
      <p:pic>
        <p:nvPicPr>
          <p:cNvPr id="15" name="Image 0" descr="/Users/raffaelemontella/devel/riscv-prg32/computer-architecture-with-prg32/tools/assets/hard_disk.jpg">    </p:cNvPr>
          <p:cNvPicPr>
            <a:picLocks noChangeAspect="1"/>
          </p:cNvPicPr>
          <p:nvPr/>
        </p:nvPicPr>
        <p:blipFill>
          <a:blip r:embed="rId1"/>
          <a:stretch>
            <a:fillRect/>
          </a:stretch>
        </p:blipFill>
        <p:spPr>
          <a:xfrm>
            <a:off x="7863840" y="1676552"/>
            <a:ext cx="3779215" cy="3779215"/>
          </a:xfrm>
          <a:prstGeom prst="rect">
            <a:avLst/>
          </a:prstGeom>
        </p:spPr>
      </p:pic>
      <p:sp>
        <p:nvSpPr>
          <p:cNvPr id="16" name="Text 13"/>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 disco rigido da 6 TB</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Dischi magnetici: tracce, settori, blocchi</a:t>
            </a:r>
            <a:endParaRPr lang="en-US" sz="3200" dirty="0"/>
          </a:p>
        </p:txBody>
      </p:sp>
      <p:sp>
        <p:nvSpPr>
          <p:cNvPr id="3" name="Shape 1"/>
          <p:cNvSpPr/>
          <p:nvPr/>
        </p:nvSpPr>
        <p:spPr>
          <a:xfrm>
            <a:off x="548640" y="1417320"/>
            <a:ext cx="5029200" cy="4754880"/>
          </a:xfrm>
          <a:prstGeom prst="roundRect">
            <a:avLst>
              <a:gd name="adj" fmla="val 1538"/>
            </a:avLst>
          </a:prstGeom>
          <a:solidFill>
            <a:srgbClr val="EEF2F4"/>
          </a:solidFill>
          <a:ln w="12700">
            <a:solidFill>
              <a:srgbClr val="EEF2F4"/>
            </a:solidFill>
            <a:prstDash val="solid"/>
          </a:ln>
        </p:spPr>
      </p:sp>
      <p:pic>
        <p:nvPicPr>
          <p:cNvPr id="5" name="Image 0" descr="preencoded.png">    </p:cNvPr>
          <p:cNvPicPr>
            <a:picLocks noChangeAspect="1"/>
          </p:cNvPicPr>
          <p:nvPr/>
        </p:nvPicPr>
        <p:blipFill>
          <a:blip r:embed="rId1"/>
          <a:stretch>
            <a:fillRect/>
          </a:stretch>
        </p:blipFill>
        <p:spPr>
          <a:xfrm>
            <a:off x="685800" y="1872610"/>
            <a:ext cx="4754880" cy="3844301"/>
          </a:xfrm>
          <a:prstGeom prst="rect">
            <a:avLst/>
          </a:prstGeom>
        </p:spPr>
      </p:pic>
      <p:sp>
        <p:nvSpPr>
          <p:cNvPr id="6" name="Shape 2"/>
          <p:cNvSpPr/>
          <p:nvPr/>
        </p:nvSpPr>
        <p:spPr>
          <a:xfrm>
            <a:off x="6035040" y="1492758"/>
            <a:ext cx="146304" cy="146304"/>
          </a:xfrm>
          <a:prstGeom prst="rect">
            <a:avLst/>
          </a:prstGeom>
          <a:solidFill>
            <a:srgbClr val="0E7C86"/>
          </a:solidFill>
          <a:ln w="12700">
            <a:solidFill>
              <a:srgbClr val="0E7C86"/>
            </a:solidFill>
            <a:prstDash val="solid"/>
          </a:ln>
        </p:spPr>
      </p:sp>
      <p:sp>
        <p:nvSpPr>
          <p:cNvPr id="7" name="Text 3"/>
          <p:cNvSpPr txBox="1"/>
          <p:nvPr/>
        </p:nvSpPr>
        <p:spPr>
          <a:xfrm>
            <a:off x="6419088" y="1417320"/>
            <a:ext cx="522396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Piatti rivestiti di materiale magnetizzabile, tenuti in rotazione a velocità costante; le testine leggono e scrivono l'informazione</a:t>
            </a:r>
            <a:endParaRPr lang="en-US" sz="1800" dirty="0"/>
          </a:p>
        </p:txBody>
      </p:sp>
      <p:sp>
        <p:nvSpPr>
          <p:cNvPr id="8" name="Shape 4"/>
          <p:cNvSpPr/>
          <p:nvPr/>
        </p:nvSpPr>
        <p:spPr>
          <a:xfrm>
            <a:off x="6035040" y="2542032"/>
            <a:ext cx="146304" cy="146304"/>
          </a:xfrm>
          <a:prstGeom prst="rect">
            <a:avLst/>
          </a:prstGeom>
          <a:solidFill>
            <a:srgbClr val="C7791B"/>
          </a:solidFill>
          <a:ln w="12700">
            <a:solidFill>
              <a:srgbClr val="C7791B"/>
            </a:solidFill>
            <a:prstDash val="solid"/>
          </a:ln>
        </p:spPr>
      </p:sp>
      <p:sp>
        <p:nvSpPr>
          <p:cNvPr id="9" name="Text 5"/>
          <p:cNvSpPr txBox="1"/>
          <p:nvPr/>
        </p:nvSpPr>
        <p:spPr>
          <a:xfrm>
            <a:off x="6419088" y="2466594"/>
            <a:ext cx="52239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La superficie è divisa in tracce concentriche e in settori, spicchi del disco</a:t>
            </a:r>
            <a:endParaRPr lang="en-US" sz="1800" dirty="0"/>
          </a:p>
        </p:txBody>
      </p:sp>
      <p:sp>
        <p:nvSpPr>
          <p:cNvPr id="10" name="Shape 6"/>
          <p:cNvSpPr/>
          <p:nvPr/>
        </p:nvSpPr>
        <p:spPr>
          <a:xfrm>
            <a:off x="6035040" y="3312414"/>
            <a:ext cx="146304" cy="146304"/>
          </a:xfrm>
          <a:prstGeom prst="rect">
            <a:avLst/>
          </a:prstGeom>
          <a:solidFill>
            <a:srgbClr val="0E7C86"/>
          </a:solidFill>
          <a:ln w="12700">
            <a:solidFill>
              <a:srgbClr val="0E7C86"/>
            </a:solidFill>
            <a:prstDash val="solid"/>
          </a:ln>
        </p:spPr>
      </p:sp>
      <p:sp>
        <p:nvSpPr>
          <p:cNvPr id="11" name="Text 7"/>
          <p:cNvSpPr txBox="1"/>
          <p:nvPr/>
        </p:nvSpPr>
        <p:spPr>
          <a:xfrm>
            <a:off x="6419088" y="3236976"/>
            <a:ext cx="522396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settore taglia ogni traccia in blocchi: il blocco è la più piccola unità indirizzabile, identificata da numero di traccia e numero di settore</a:t>
            </a:r>
            <a:endParaRPr lang="en-US" sz="1800" dirty="0"/>
          </a:p>
        </p:txBody>
      </p:sp>
      <p:sp>
        <p:nvSpPr>
          <p:cNvPr id="12" name="Shape 8"/>
          <p:cNvSpPr/>
          <p:nvPr/>
        </p:nvSpPr>
        <p:spPr>
          <a:xfrm>
            <a:off x="6035040" y="4640580"/>
            <a:ext cx="146304" cy="146304"/>
          </a:xfrm>
          <a:prstGeom prst="rect">
            <a:avLst/>
          </a:prstGeom>
          <a:solidFill>
            <a:srgbClr val="C7791B"/>
          </a:solidFill>
          <a:ln w="12700">
            <a:solidFill>
              <a:srgbClr val="C7791B"/>
            </a:solidFill>
            <a:prstDash val="solid"/>
          </a:ln>
        </p:spPr>
      </p:sp>
      <p:sp>
        <p:nvSpPr>
          <p:cNvPr id="13" name="Text 9"/>
          <p:cNvSpPr txBox="1"/>
          <p:nvPr/>
        </p:nvSpPr>
        <p:spPr>
          <a:xfrm>
            <a:off x="6419088" y="4565142"/>
            <a:ext cx="52239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Formattazione: la divisione della superficie in tracce e settori</a:t>
            </a:r>
            <a:endParaRPr lang="en-US" sz="1800" dirty="0"/>
          </a:p>
        </p:txBody>
      </p:sp>
      <p:sp>
        <p:nvSpPr>
          <p:cNvPr id="14" name="Shape 10"/>
          <p:cNvSpPr/>
          <p:nvPr/>
        </p:nvSpPr>
        <p:spPr>
          <a:xfrm>
            <a:off x="6035040" y="5410962"/>
            <a:ext cx="146304" cy="146304"/>
          </a:xfrm>
          <a:prstGeom prst="rect">
            <a:avLst/>
          </a:prstGeom>
          <a:solidFill>
            <a:srgbClr val="0E7C86"/>
          </a:solidFill>
          <a:ln w="12700">
            <a:solidFill>
              <a:srgbClr val="0E7C86"/>
            </a:solidFill>
            <a:prstDash val="solid"/>
          </a:ln>
        </p:spPr>
      </p:sp>
      <p:sp>
        <p:nvSpPr>
          <p:cNvPr id="15" name="Text 11"/>
          <p:cNvSpPr txBox="1"/>
          <p:nvPr/>
        </p:nvSpPr>
        <p:spPr>
          <a:xfrm>
            <a:off x="6419088" y="5335524"/>
            <a:ext cx="522396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Accesso diretto: la testina si può posizionare su qualunque blocco senza passare su tutti i precedenti</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Tempo di accesso di un disco magnetico</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Per leggere o scrivere un blocco la testina va portata all'indirizzo giusto; durante il trasferimento la testina è ferma e il disco si muove</a:t>
            </a:r>
            <a:endParaRPr lang="en-US" sz="1900" dirty="0"/>
          </a:p>
        </p:txBody>
      </p:sp>
      <p:sp>
        <p:nvSpPr>
          <p:cNvPr id="5" name="Shape 3"/>
          <p:cNvSpPr/>
          <p:nvPr/>
        </p:nvSpPr>
        <p:spPr>
          <a:xfrm>
            <a:off x="548640" y="264629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63114"/>
            <a:ext cx="6565392"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Tempo di posizionamento (seek)</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il tempo per spostare la testina in senso radiale sul cilindro giusto, e quindi sulla traccia giusta</a:t>
            </a:r>
            <a:endParaRPr lang="en-US" sz="1900" dirty="0"/>
          </a:p>
        </p:txBody>
      </p:sp>
      <p:sp>
        <p:nvSpPr>
          <p:cNvPr id="7" name="Shape 5"/>
          <p:cNvSpPr/>
          <p:nvPr/>
        </p:nvSpPr>
        <p:spPr>
          <a:xfrm>
            <a:off x="548640" y="373570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52520"/>
            <a:ext cx="6565392"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Latenza</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il tempo di attesa perché il settore desiderato passi sotto la testina</a:t>
            </a:r>
            <a:endParaRPr lang="en-US" sz="1900" dirty="0"/>
          </a:p>
        </p:txBody>
      </p:sp>
      <p:sp>
        <p:nvSpPr>
          <p:cNvPr id="9" name="Shape 7"/>
          <p:cNvSpPr/>
          <p:nvPr/>
        </p:nvSpPr>
        <p:spPr>
          <a:xfrm>
            <a:off x="548640" y="482511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41926"/>
            <a:ext cx="6565392" cy="57886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Tempo di trasferimento</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il tempo perché il blocco passi sotto la testina</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Dischi rigidi: sigillati contro la polvere, capacità di terabyte, tempi di accesso di millisecondi</a:t>
            </a:r>
            <a:endParaRPr lang="en-US" sz="19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ms</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millisecondi: il tempo di accesso di un disco rigido, un milione di volte più lento della RAM</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Dischi rigidi e dischi a stato solido</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Disco rigido (HDD)</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Piatti magnetici e testine mobili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Tempo di accesso di millisecondi, dominato dalla meccanica</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Il costo più basso per terabyte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Ancora la scelta per grandi archivi e backup</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Disco a stato solido (SSD)</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Memoria flash e un controllore: nessuna parte mobile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Tempo di accesso di decine di microsecondi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Collegato con SATA o, più veloce, con NVMe su PCI Express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La memoria di massa standard di portatili e telefoni; la stessa tecnologia del chip flash del kit</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06</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Dischi ottici</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Bit letti con la luce.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Dischi ottici</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disco rigido su cui si proietta un raggio laser di pochi milliwatt; la riflessione cambia tra le cavità, i pit, e la superficie, il land</a:t>
            </a:r>
            <a:endParaRPr lang="en-US" sz="2000" dirty="0"/>
          </a:p>
        </p:txBody>
      </p:sp>
      <p:sp>
        <p:nvSpPr>
          <p:cNvPr id="5" name="Shape 3"/>
          <p:cNvSpPr/>
          <p:nvPr/>
        </p:nvSpPr>
        <p:spPr>
          <a:xfrm>
            <a:off x="548640" y="268664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95711"/>
            <a:ext cx="6565392" cy="909828"/>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0 e 1 non sono pit e land</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1 è un cambiamento, da pit a land o da land a pit</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0 è nessun cambiamento</a:t>
            </a:r>
            <a:endParaRPr lang="en-US" sz="2000" dirty="0"/>
          </a:p>
        </p:txBody>
      </p:sp>
      <p:sp>
        <p:nvSpPr>
          <p:cNvPr id="7" name="Shape 5"/>
          <p:cNvSpPr/>
          <p:nvPr/>
        </p:nvSpPr>
        <p:spPr>
          <a:xfrm>
            <a:off x="548640" y="384522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54289"/>
            <a:ext cx="6565392" cy="123952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 solito scritti una volta sola, perché le modifiche fisiche sono irreversibili: usati per distribuire programmi e come archivi da non modificare</a:t>
            </a:r>
            <a:endParaRPr lang="en-US" sz="2000" dirty="0"/>
          </a:p>
        </p:txBody>
      </p:sp>
      <p:sp>
        <p:nvSpPr>
          <p:cNvPr id="9" name="Shape 7"/>
          <p:cNvSpPr/>
          <p:nvPr/>
        </p:nvSpPr>
        <p:spPr>
          <a:xfrm>
            <a:off x="548640" y="533349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24256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CD registrabile: la registrazione brucia dei punti in uno strato di colorante; i dischi riscrivibili usano un materiale che può tornare indietro</a:t>
            </a:r>
            <a:endParaRPr lang="en-US" sz="2000" dirty="0"/>
          </a:p>
        </p:txBody>
      </p:sp>
      <p:pic>
        <p:nvPicPr>
          <p:cNvPr id="11" name="Image 0" descr="/Users/raffaelemontella/devel/riscv-prg32/computer-architecture-with-prg32/tools/assets/pit_land.jpg">    </p:cNvPr>
          <p:cNvPicPr>
            <a:picLocks noChangeAspect="1"/>
          </p:cNvPicPr>
          <p:nvPr/>
        </p:nvPicPr>
        <p:blipFill>
          <a:blip r:embed="rId1"/>
          <a:stretch>
            <a:fillRect/>
          </a:stretch>
        </p:blipFill>
        <p:spPr>
          <a:xfrm>
            <a:off x="7863840" y="2111162"/>
            <a:ext cx="3779215" cy="2909996"/>
          </a:xfrm>
          <a:prstGeom prst="rect">
            <a:avLst/>
          </a:prstGeom>
        </p:spPr>
      </p:pic>
      <p:sp>
        <p:nvSpPr>
          <p:cNvPr id="12" name="Text 9"/>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Pit e land, e la luce che vede il sensore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compact disc</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L'informazione è memorizzata su un'unica traccia a spirale, con densità di registrazione costante</a:t>
            </a:r>
            <a:endParaRPr lang="en-US" sz="2100" dirty="0"/>
          </a:p>
        </p:txBody>
      </p:sp>
      <p:sp>
        <p:nvSpPr>
          <p:cNvPr id="5" name="Shape 3"/>
          <p:cNvSpPr/>
          <p:nvPr/>
        </p:nvSpPr>
        <p:spPr>
          <a:xfrm>
            <a:off x="548640" y="240753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0886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 distanza tra due spire successive, il passo della traccia, è di 1,6 micrometri</a:t>
            </a:r>
            <a:endParaRPr lang="en-US" sz="2100" dirty="0"/>
          </a:p>
        </p:txBody>
      </p:sp>
      <p:sp>
        <p:nvSpPr>
          <p:cNvPr id="7" name="Shape 5"/>
          <p:cNvSpPr/>
          <p:nvPr/>
        </p:nvSpPr>
        <p:spPr>
          <a:xfrm>
            <a:off x="548640" y="329907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00400"/>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CLV, velocità lineare costante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il disco gira più in fretta leggendo vicino al centro: da 200 a 500 giri al minuto</a:t>
            </a:r>
            <a:endParaRPr lang="en-US" sz="2100" dirty="0"/>
          </a:p>
        </p:txBody>
      </p:sp>
      <p:sp>
        <p:nvSpPr>
          <p:cNvPr id="9" name="Shape 7"/>
          <p:cNvSpPr/>
          <p:nvPr/>
        </p:nvSpPr>
        <p:spPr>
          <a:xfrm>
            <a:off x="548640" y="445960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60926"/>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CAV, velocità angolare costante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giri costanti; il numero di bit per settore è costante, quindi la parte esterna è sottoutilizzata</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 velocità fu fissata dal flusso di bit necessario a riprodurre la musica</a:t>
            </a:r>
            <a:endParaRPr lang="en-US" sz="2100" dirty="0"/>
          </a:p>
        </p:txBody>
      </p:sp>
      <p:pic>
        <p:nvPicPr>
          <p:cNvPr id="13" name="Image 0" descr="/Users/raffaelemontella/devel/riscv-prg32/computer-architecture-with-prg32/tools/assets/cdrom_drive.jpg">    </p:cNvPr>
          <p:cNvPicPr>
            <a:picLocks noChangeAspect="1"/>
          </p:cNvPicPr>
          <p:nvPr/>
        </p:nvPicPr>
        <p:blipFill>
          <a:blip r:embed="rId1"/>
          <a:stretch>
            <a:fillRect/>
          </a:stretch>
        </p:blipFill>
        <p:spPr>
          <a:xfrm>
            <a:off x="7863840" y="2167671"/>
            <a:ext cx="3779215" cy="2796979"/>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L'interno di un lettore CD-ROM</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DVD e CD a confronto</a:t>
            </a:r>
            <a:endParaRPr lang="en-US" sz="3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91886"/>
                <a:gridCol w="4001264"/>
                <a:gridCol w="4001264"/>
              </a:tblGrid>
              <a:tr h="0">
                <a:tc>
                  <a:txBody>
                    <a:bodyPr/>
                    <a:lstStyle/>
                    <a:p>
                      <a:pPr algn="l" indent="0" marL="0">
                        <a:buNone/>
                      </a:pP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DVD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CD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Diametro del disco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120 mm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120 mm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Spessore del disco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1,2 mm (0,6 mm x 2)</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1,2 mm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Superfici / strati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1 o 2 / 1 o 2</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1 /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Dimensione minima del pit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0,4 micrometri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0,83 micrometri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Passo della traccia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0,74 micrometri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1,6 micrometri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Velocità media di trasferimento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4,7 MB/s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0,15 MB/s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Capacità, 1 strato, 1 lato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circa 5 GB</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circa 0,68 GB</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Capacità, 2 strati, 2 lati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17 GB</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07</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La memoria di massa a più livelli</a:t>
            </a:r>
            <a:endParaRPr lang="en-US" sz="4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Una memoria permanente a più livelli</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RAM disk</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600" dirty="0">
                <a:solidFill>
                  <a:srgbClr val="1B2530"/>
                </a:solidFill>
                <a:latin typeface="Calibri" pitchFamily="34" charset="0"/>
                <a:ea typeface="Calibri" pitchFamily="34" charset="-122"/>
                <a:cs typeface="Calibri" pitchFamily="34" charset="-120"/>
              </a:rPr>
              <a:t>un pezzo di memoria centrale usato come disco: il più veloce, volatile</a:t>
            </a:r>
            <a:endParaRPr lang="en-US" sz="16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Disco a stato solido</a:t>
            </a:r>
            <a:endParaRPr lang="en-US" sz="17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600" dirty="0">
                <a:solidFill>
                  <a:srgbClr val="1B2530"/>
                </a:solidFill>
                <a:latin typeface="Calibri" pitchFamily="34" charset="0"/>
                <a:ea typeface="Calibri" pitchFamily="34" charset="-122"/>
                <a:cs typeface="Calibri" pitchFamily="34" charset="-120"/>
              </a:rPr>
              <a:t>flash: veloce, la memoria di lavoro</a:t>
            </a:r>
            <a:endParaRPr lang="en-US" sz="16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Disco rigido</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600" dirty="0">
                <a:solidFill>
                  <a:srgbClr val="1B2530"/>
                </a:solidFill>
                <a:latin typeface="Calibri" pitchFamily="34" charset="0"/>
                <a:ea typeface="Calibri" pitchFamily="34" charset="-122"/>
                <a:cs typeface="Calibri" pitchFamily="34" charset="-120"/>
              </a:rPr>
              <a:t>magnetico: grande ed economico</a:t>
            </a:r>
            <a:endParaRPr lang="en-US" sz="16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Libreria di dischi</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600" dirty="0">
                <a:solidFill>
                  <a:srgbClr val="1B2530"/>
                </a:solidFill>
                <a:latin typeface="Calibri" pitchFamily="34" charset="0"/>
                <a:ea typeface="Calibri" pitchFamily="34" charset="-122"/>
                <a:cs typeface="Calibri" pitchFamily="34" charset="-120"/>
              </a:rPr>
              <a:t>molti dischi, alcuni accesi solo quando servono</a:t>
            </a:r>
            <a:endParaRPr lang="en-US" sz="16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Libreria a nastri</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600" dirty="0">
                <a:solidFill>
                  <a:srgbClr val="1B2530"/>
                </a:solidFill>
                <a:latin typeface="Calibri" pitchFamily="34" charset="0"/>
                <a:ea typeface="Calibri" pitchFamily="34" charset="-122"/>
                <a:cs typeface="Calibri" pitchFamily="34" charset="-120"/>
              </a:rPr>
              <a:t>robot che montano nastri: il costo più basso per byte, per gli archivi</a:t>
            </a:r>
            <a:endParaRPr lang="en-US" sz="16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Un sistema di calcolo moderno ha più livelli di memoria permanente, spesso gestiti in automatico: i dati usati spesso migrano verso i livelli veloci, il resto scende verso quelli economici.</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memoria di massa su grande scala</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storage_racks.jpg">    </p:cNvPr>
          <p:cNvPicPr>
            <a:picLocks noChangeAspect="1"/>
          </p:cNvPicPr>
          <p:nvPr/>
        </p:nvPicPr>
        <p:blipFill>
          <a:blip r:embed="rId1"/>
          <a:stretch>
            <a:fillRect/>
          </a:stretch>
        </p:blipFill>
        <p:spPr>
          <a:xfrm>
            <a:off x="685800" y="2431160"/>
            <a:ext cx="3240938" cy="1309879"/>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Librerie di dischi e di nastri in un centro di calcolo</a:t>
            </a:r>
            <a:endParaRPr lang="en-US" sz="15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ssd.jpg">    </p:cNvPr>
          <p:cNvPicPr>
            <a:picLocks noChangeAspect="1"/>
          </p:cNvPicPr>
          <p:nvPr/>
        </p:nvPicPr>
        <p:blipFill>
          <a:blip r:embed="rId2"/>
          <a:stretch>
            <a:fillRect/>
          </a:stretch>
        </p:blipFill>
        <p:spPr>
          <a:xfrm>
            <a:off x="4564228" y="1554480"/>
            <a:ext cx="3063240" cy="3063240"/>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Un disco a stato solido: memoria flash in forma di disco</a:t>
            </a:r>
            <a:endParaRPr lang="en-US" sz="15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dvd_drive.jpg">    </p:cNvPr>
          <p:cNvPicPr>
            <a:picLocks noChangeAspect="1"/>
          </p:cNvPicPr>
          <p:nvPr/>
        </p:nvPicPr>
        <p:blipFill>
          <a:blip r:embed="rId3"/>
          <a:stretch>
            <a:fillRect/>
          </a:stretch>
        </p:blipFill>
        <p:spPr>
          <a:xfrm>
            <a:off x="8264957" y="1871378"/>
            <a:ext cx="3240938" cy="2429444"/>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L'interno di un lettore DVD</a:t>
            </a:r>
            <a:endParaRPr lang="en-US" sz="15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Da un chip di pochi megabyte sul kit a stanze di petabyte: la stessa gerarchia, a ogni scala.</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Quale memoria si può cancellare elettricamente, a blocchi, senza rimuoverla dalla scheda?</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ROM</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PROM</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EPROM</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Flash</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Che cosa accade su un cache miss?</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Il programma si ferma con un errore</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Il dato viene prelevato dalla memoria centrale e copiato nella cache, con i suoi vicini</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La cache viene cancellata</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Il processore salta l'istruzione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Quale componente del tempo di accesso di un disco rigido dipende dalla velocità di rotazione?</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Il tempo di posizionamento</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La latenza</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Il tempo di formattazione</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Il tempo di avvio</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Su un disco ottico, un 1 è codificato come:</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un pit</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un land</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una transizione tra pit e land</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un doppio pit</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Esercizi</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disco gira a 7200 giri al minuto: qual è la sua latenza media?</a:t>
            </a:r>
            <a:endParaRPr lang="en-US" sz="1900" dirty="0"/>
          </a:p>
        </p:txBody>
      </p:sp>
      <p:sp>
        <p:nvSpPr>
          <p:cNvPr id="6" name="Text 4"/>
          <p:cNvSpPr txBox="1"/>
          <p:nvPr/>
        </p:nvSpPr>
        <p:spPr>
          <a:xfrm>
            <a:off x="548640" y="20447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026412"/>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Una cache risponde in 1 ns e la memoria in 50 ns: qual è il tempo medio di accesso con il 95% di hit?</a:t>
            </a:r>
            <a:endParaRPr lang="en-US" sz="1900" dirty="0"/>
          </a:p>
        </p:txBody>
      </p:sp>
      <p:sp>
        <p:nvSpPr>
          <p:cNvPr id="8" name="Text 6"/>
          <p:cNvSpPr txBox="1"/>
          <p:nvPr/>
        </p:nvSpPr>
        <p:spPr>
          <a:xfrm>
            <a:off x="548640" y="28036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785364"/>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Dite dove vive sul kit PRG32 ciascuno di questi: il codice di avvio, il firmware, una cartuccia, la variabile counter, il registro t0</a:t>
            </a:r>
            <a:endParaRPr lang="en-US" sz="1900" dirty="0"/>
          </a:p>
        </p:txBody>
      </p:sp>
      <p:sp>
        <p:nvSpPr>
          <p:cNvPr id="10" name="Text 8"/>
          <p:cNvSpPr txBox="1"/>
          <p:nvPr/>
        </p:nvSpPr>
        <p:spPr>
          <a:xfrm>
            <a:off x="548640" y="35626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44316"/>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Trovate le specifiche della memoria di massa del vostro portatile o telefono: tecnologia, capacità, interfaccia</a:t>
            </a:r>
            <a:endParaRPr lang="en-US" sz="1900" dirty="0"/>
          </a:p>
        </p:txBody>
      </p:sp>
      <p:sp>
        <p:nvSpPr>
          <p:cNvPr id="12" name="Text 10"/>
          <p:cNvSpPr txBox="1"/>
          <p:nvPr/>
        </p:nvSpPr>
        <p:spPr>
          <a:xfrm>
            <a:off x="548640" y="432155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303268"/>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Su PRG32 cronometrate due cicli che sommano un grande vettore: uno in ordine, uno a salti di passo ampio. C'è differenza, e perché su questo chip potrebbe non esserci?</a:t>
            </a:r>
            <a:endParaRPr lang="en-US" sz="19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Latenza: mezzo giro, circa 4,2 ms. Tempo medio di accesso: 0,95 x 1 + 0,05 x 51 = 3,5 ns.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946954"/>
                <a:gridCol w="2773604"/>
                <a:gridCol w="277360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motherboard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scheda madre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track / sector / block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traccia / settore / blocco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firmware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firmware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seek time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tempo di posizionamento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non-volatile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 volatile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latency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tempo di latenza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hit / miss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successo / fallimento di cache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solid-state disk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disco a stato solido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mass storage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memoria di massa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tape library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libreria a nastri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 memorie non volatili contengono di solito il software di base di una macchina: il firmware</a:t>
            </a:r>
            <a:endParaRPr lang="en-US" sz="2000" dirty="0"/>
          </a:p>
        </p:txBody>
      </p:sp>
      <p:sp>
        <p:nvSpPr>
          <p:cNvPr id="5" name="Shape 3"/>
          <p:cNvSpPr/>
          <p:nvPr/>
        </p:nvSpPr>
        <p:spPr>
          <a:xfrm>
            <a:off x="548640" y="227924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88312"/>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cache migliora le prestazioni tenendo vicino al processore una copia di parte della memoria centrale</a:t>
            </a:r>
            <a:endParaRPr lang="en-US" sz="2000" dirty="0"/>
          </a:p>
        </p:txBody>
      </p:sp>
      <p:sp>
        <p:nvSpPr>
          <p:cNvPr id="7" name="Shape 5"/>
          <p:cNvSpPr/>
          <p:nvPr/>
        </p:nvSpPr>
        <p:spPr>
          <a:xfrm>
            <a:off x="548640" y="305023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5930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stessa idea, un livello piccolo e veloce davanti a uno grande e lento, si riusa nei sistemi di memoria di massa</a:t>
            </a:r>
            <a:endParaRPr lang="en-US" sz="2000" dirty="0"/>
          </a:p>
        </p:txBody>
      </p:sp>
      <p:sp>
        <p:nvSpPr>
          <p:cNvPr id="9" name="Shape 7"/>
          <p:cNvSpPr/>
          <p:nvPr/>
        </p:nvSpPr>
        <p:spPr>
          <a:xfrm>
            <a:off x="548640" y="382122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730295"/>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 memorie permanenti possono essere a semiconduttore (flash), magnetiche o ottiche</a:t>
            </a:r>
            <a:endParaRPr lang="en-US" sz="2000" dirty="0"/>
          </a:p>
        </p:txBody>
      </p:sp>
      <p:sp>
        <p:nvSpPr>
          <p:cNvPr id="11" name="Shape 9"/>
          <p:cNvSpPr/>
          <p:nvPr/>
        </p:nvSpPr>
        <p:spPr>
          <a:xfrm>
            <a:off x="548640" y="428233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191406"/>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sistema moderno ha più livelli di memoria permanente, spesso gestiti in automatico</a:t>
            </a:r>
            <a:endParaRPr lang="en-US" sz="2000" dirty="0"/>
          </a:p>
        </p:txBody>
      </p:sp>
      <p:sp>
        <p:nvSpPr>
          <p:cNvPr id="13" name="Shape 11"/>
          <p:cNvSpPr/>
          <p:nvPr/>
        </p:nvSpPr>
        <p:spPr>
          <a:xfrm>
            <a:off x="548640" y="505333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62398"/>
            <a:ext cx="10710367" cy="120980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Letture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Patterson, Hennessy: Struttura e progetto dei calcolatori, edizione RISC-V, paragrafi 5.1-5.4</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Stallings: Computer Organization and Architecture, i capitoli su cache e memoria esterna</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Tanenbaum, Austin: Architettura dei calcolatori. Un approccio strutturale, capitolo 2</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La memoria permanente</dc:title>
  <dc:subject>Lezione 16</dc:subject>
  <dc:creator>Raffaele Montella</dc:creator>
  <cp:lastModifiedBy>Raffaele Montella</cp:lastModifiedBy>
  <cp:revision>1</cp:revision>
  <dcterms:created xsi:type="dcterms:W3CDTF">2026-10-12T11:28:40Z</dcterms:created>
  <dcterms:modified xsi:type="dcterms:W3CDTF">2026-10-12T11:28:40Z</dcterms:modified>
</cp:coreProperties>
</file>