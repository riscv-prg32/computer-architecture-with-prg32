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47a90eb-543d-b221-80ef-95e54b0807ce}">
          <p14:sldIdLst>
            <p14:sldId id="256"/>
            <p14:sldId id="257"/>
          </p14:sldIdLst>
        </p14:section>
        <p14:section name="La macchina" id="{99d164ff-ac22-9d4f-9de1-113c288f4bdb}">
          <p14:sldIdLst>
            <p14:sldId id="258"/>
            <p14:sldId id="259"/>
            <p14:sldId id="260"/>
          </p14:sldIdLst>
        </p14:section>
        <p14:section name="La prima cartuccia" id="{1f5ec33c-7d03-583d-69d7-fe0aa51c0821}">
          <p14:sldIdLst>
            <p14:sldId id="261"/>
            <p14:sldId id="262"/>
          </p14:sldIdLst>
        </p14:section>
        <p14:section name="Leggere ciò che avete scritto" id="{d542f7e5-f6fd-3aed-e431-065278e174b0}">
          <p14:sldIdLst>
            <p14:sldId id="263"/>
            <p14:sldId id="264"/>
            <p14:sldId id="265"/>
            <p14:sldId id="266"/>
            <p14:sldId id="267"/>
          </p14:sldIdLst>
        </p14:section>
        <p14:section name="Che cosa viene dopo" id="{5b191d9e-62ec-35cb-156e-72ba8409b2ac}">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la prima lezione in cui si scrive un programma, e precede di proposito ogni teoria. Nell'arco di due ore lo studente costruisce quattro piccole cartucce, ciascuna un programma completo che gira. La piena comprensione di ogni dettaglio oggi non è né attesa né richiesta. Lo scopo è osservare al lavoro registri, memoria e una chiamata di procedura, così che le lezioni successive abbiano fenomeni concreti da spiegare. La citazione fissa il tono della sessione: meno parole, più codice.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registri, calcolo, trasferimento, salto; i registri; contratto init/update/draw; gli argomenti in a0 ... a7; perché si salva ra; indirizzo, valore, load, store; le istruzioni di base; le pseudo-istruzioni; un'istruzione è un numero; seguire a mano l'esecuzione. DA UTILIZZARE OGGI: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l'esadecimale (Lezione 04);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
Per il docente: Lezione nuova del 2026/27. È il turno «gioca» della spirale per tutta la prima metà del corso: ogni lezione successiva rimanda a qualcosa scritto qui. I quattro passi sono quelli verificati del laboratorio 05-asm-first-contact del libro di PRG32; eseguirli dal vivo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I primi quattro sono operativi: compilare ed eseguire una cartuccia, nominare i registri, chiamare una funzione con i suoi argomenti, conservare un valore in memoria tra un frame e l'altro. Il quinto è un cambio di prospettiva con conseguenze durature: un'istruzione è un numero a 32 bit. Il sesto è il più importante per il corso nel suo insieme: lo studente esce con un elenco di domande, ciascuna oggetto di una lezione successiva. La lezione di oggi è quindi un inventario di problemi quanto un insieme di risposte.
Per il docente: Dire esplicitamente agli studenti che oggi non ci si aspetta che capiscano tutto. Oggi si guarda; le prossime lezioni servono a spiegare.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L'intera macchina è descritta da quattro schede. Ci sono 32 registri, ciascuno contenente un valore a 32 bit, e il processore può operare solo su valori contenuti nei registri. Le istruzioni si dividono in tre classi. Calcolo: operazioni aritmetiche e logiche tra registri, come add o addi. Trasferimento: spostamenti tra un registro e la memoria, lw per caricare una parola e sw per memorizzarla; nessun'altra istruzione accede alla memoria. Salto: istruzioni che cambiano quale istruzione verrà eseguita dopo. È la disciplina load-store di RISC-V, e ogni calcolo che un computer esegue è una lunga sequenza di questi tre tipi.
DA COMPRENDERE OGGI: registri, calcolo, trasferimento, salto.
Per il docente: Questa è quasi tutta la macchina. La ricchezza del calcolo non viene da un insieme di istruzioni ampio, ma dal combinarne uno piccolo in lunghe sequenze.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hanno nomi che ne riflettono l'uso. Da a0 ad a7 passano gli argomenti di una chiamata, e a0 restituisce anche il risultato. Da t0 a t6 sono temporanei, liberamente utilizzabili e non conservati attraverso le chiamate. Da s0 a s11 sono conservati attraverso le chiamate. ra contiene l'indirizzo di ritorno, sp la cima dello stack, e zero vale sempre 0. La didascalia contiene il punto essenziale: questi ruoli non sono imposti dall'hardware, che tratta in modo identico i registri da x1 a x31. Sono un accordo, la convenzione di chiamata, ed è questo accordo che permette all'assembly scritto dallo studente e al codice C del framework di chiamarsi a vicenda. Oggi la si usa; la si studia formalmente nella Lezione 18.
DA COMPRENDERE OGGI: i registri. DA UTILIZZARE OGGI: la convenzione di chiamata (si studia nella Lezione 18).
Per il docente: I ruoli non sono fissati dall'hardware ma da un accordo: la convenzione di chiamata, o ABI. Rispettarla è ciò che permette al vostro assembly e al codice C del framework di chiamarsi a vicenda.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L'interfaccia tra un gioco e PRG32 è un contratto di tre funzioni fornite dal programmatore. init è chiamata una volta, all'avvio della cartuccia, per stabilire lo stato iniziale. update è chiamata una volta per frame, per leggere l'ingresso e modificare lo stato. draw è chiamata una volta per frame, per rendere lo stato come immagine. Il firmware le trova per nome: un prefisso scelto dal programmatore seguito da _init, _update e _draw. La separazione delle responsabilità va adottata dal primo giorno: update decide, draw mostra, e nessuna delle due fa il lavoro dell'altra.
DA COMPRENDERE OGGI: contratto init/update/draw.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si deve salvare ra? L'istruzione call scrive in ra l'indirizzo a cui il controllo deve tornare. La funzione chiamata, però, può a sua volta fare chiamate, ciascuna delle quali sovrascrive ra. Una funzione che ne chiama un'altra deve quindi prima preservare in memoria il proprio indirizzo di ritorno: decrementa sp di 16 per riservare spazio, lo stack frame, e memorizza ra in 12(sp); dopo la chiamata esegue le operazioni inverse. Lo schema mostra il frame, con lo stack che cresce verso gli indirizzi bassi; la dimensione di 16 byte discende dall'allineamento che la convenzione richiede a sp. Omettere questa coppia di operazioni è il classico primo errore: la funzione ritorna nel posto sbagliato. Perché si salva ra va compreso oggi; lo stack come struttura dati si tratta formalmente nella Lezione 18.
DA COMPRENDERE OGGI: perché si salva ra. DA COMPRENDERE PIÙ AVANTI: la pila (si studia nella Lezione 18).
Per il docente: La convenzione richiede che sp resti allineato a 16 byte tra una chiamata e l'altra: per questo il frame è di 16 byte anche se ne servono solo 4. Lo stack, con push e pop, è trattato formalmente nella Lezione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separa due nozioni che i principianti confondono di continuo: un indirizzo e un valore. Dopo la, t0 contiene dove è memorizzato il contatore; dopo lw, t1 contiene che cosa vi è memorizzato, 41 nel disegno. addi modifica la copia nel registro portandola a 42, mentre la memoria continua a contenere 41 finché sw non riscrive il nuovo valore. Le due frecce vanno seguite con attenzione. Il riquadro a destra raccomanda un'abitudine da prendere subito: annotare nei commenti ogni registro come contenente un INDIRIZZO o un VALORE. Questa semplice disciplina previene l'errore più frequente del primo mese. I modi in cui un'istruzione può designare i propri operandi, i modi di indirizzamento, si studiano nella Lezione 19.
DA COMPRENDERE OGGI: indirizzo, valore, load, store. DA COMPRENDERE PIÙ AVANTI: i modi di indirizzamento (si studia nella Lezione 19).
Per il docente: Un'etichetta dà un nome a una locazione. la dà la locazione, lw dà il contenuto. È così che funziona, in ultima analisi, ogni variabile di ogni programma; ci si torna formalmente con i modi di indirizzamento.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famiglie comprendono ogni istruzione scritta oggi: aritmetiche (add, sub), logiche (and, or, xor), forme immediate che prendono una piccola costante (addi, andi), di memoria (lw, sw) e di controllo (call, ret). In ogni istruzione il risultato va nel primo registro nominato: add t0, t1, t2 mette t1 + t2 in t0. L'insieme di istruzioni intere di base, RV32I, conta circa quaranta istruzioni; un quarto di esse è già stato usato.
DA COMPRENDERE OGGI: le istruzioni di base.
Per il docente: Il risultato va nel primo registro. L'insieme di base delle istruzioni intere di RISC-V (RV32I) ha circa quaranta istruzioni; ne avete già incontrato un quarto.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Diverse istruzioni scritte oggi non esistono nell'hardware: sono pseudo-istruzioni, comodità di notazione che l'assemblatore espande in istruzioni reali. li t0, 42 diventa addi t0, zero, 42; mv è un addi con costante 0; ret è un salto indiretto all'indirizzo in ra; beqz è un confronto con il registro zero. La frequenza con cui zero compare nella colonna centrale è istruttiva: un registro cablato a 0 permette a un piccolo insieme di istruzioni di fare il lavoro di uno molto più grande, un'economia caratteristica del progetto RISC.
DA COMPRENDERE OGGI: le pseudo-istruzioni.
Per il docente: Una pseudo-istruzione non è un'operazione hardware a sé. È il registro zero a renderne possibili molte: un insieme di istruzioni piccolo, riusato con 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Un'istruzione è un numero. addi t1, t1, 1 è la parola a 32 bit 0x00130313, e la striscia colorata ne mostra i campi: dodici bit per la costante 1, cinque per il registro sorgente (t1 è il registro numero 6), tre che selezionano l'addizione, cinque per il registro destinazione e sette per l'opcode, che identifica la classe dell'istruzione. Il formato non va memorizzato ora; è l'argomento della Lezione 19. Ciò che conta oggi è il principio: l'assembly è una notazione leggibile per il codice macchina, e un'istruzione memorizzata è un dato come un altro. È l'idea del programma memorizzato, che la prossima lezione colloca nel suo contesto storico.
DA COMPRENDERE OGGI: un'istruzione è un numero. DA COMPRENDERE PIÙ AVANTI: formati delle istruzioni (si studia nella Lezione 19).
Per il docente: Verifica: 0000 0000 0001 | 00110 | 000 | 00110 | 0010011 = 0000 0000 0001 0011 0000 0011 0001 0011 = 0x00130313. Non spiegare ora i formati; il punto è solo che un'istruzione è un dato. La Lezione 04 (informazione digitale) e le lezioni sul processore tornano su questa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esegue la stessa cartuccia sul portatile e può fermarsi tra due istruzioni qualsiasi, mostrando ogni registro. Va usato ora sul terzo passo: si va a update, si mette in pausa e si eseguono una alla volta le quattro istruzioni di first_update, osservando t0 e t1. Prima di ogni passo il cambiamento atteso va dichiarato ad alta voce; una previsione resa esplicita è una previsione che può essere sbagliata, e quindi informativa. L'ultima riga è un principio da conservare: la scheda è l'autorità sul tempo, PRG32-QT l'autorità sul contenuto di un registro.
DA UTILIZZARE OGGI: il debugger di PRG32-QT (si usa, non si studia, in questo corso).
Per il docente: Dimostrare dal vivo: caricare il passo 3, fermarsi su first_update, eseguire quattro passi. Chiedere agli studenti di prevedere ogni registro prima di premere il tasto.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tracciamento a mano registra, frame per frame, che cosa ogni istruzione lascia in t1 e in memoria. I primi frame non riservano sorprese. La riga evidenziata sì: al frame 256 il contatore raggiunge 256 eppure la larghezza della barra è 0, perché andi con 255 conserva solo gli otto bit meno significativi, e 256 in binario è un uno seguito da otto zeri. L'operazione di maschera calcola quindi il resto modulo 256, un fatto usato oggi e spiegato nella Lezione 08. Il tracciamento a mano è lento e poco brillante, ed è l'abilità di debug più preziosa che questo corso insegni.
DA COMPRENDERE OGGI: seguire a mano l'esecuzione.
Per il docente: La traccia a mano è l'abilità di debug più preziosa del corso. 256 = 1 0000 0000 in binario: gli otto bit bassi sono tutti zero, quindi la barra ricomincia.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riga della tabella registra qualcosa osservato oggi, la domanda che solleva e la lezione che risponde. Perché l'esadecimale? Lezioni 04 e 05. Come fa un registro a contenere un numero negativo? Lezione 05. Che cosa fa AND a trentadue bit in una volta? Lezioni 08 e 09. Come fa un circuito a ricordare un bit? Lezioni 13 e 15. Come viene decodificato ed eseguito 0x00130313? Lezioni 18 e 19. L'ultima riga è il progetto: da tre funzioni e un rettangolo a un gioco completo. La tabella è la mappa del corso disegnata a partire dal programma dello studente, e conviene tenerla a portata di mano.
DA COMPRENDERE PIÙ AVANTI: l'esadecimale (si studia nella Lezione 04); il complemento a due (si studia nella Lezione 05); la virgola fissa (si studia nella Lezione 06); l'algebra di Boole (si studia nella Lezione 08); il sommatore (si studia nella Lezione 09); dai volt ai bit (si studia nella Lezione 10); latch e flip-flop (si studia nella Lezione 13); il ciclo del processore (si studia nella Lezione 19); il progetto Verm1 (si studia nella Lezione 07).
Per il docente: È la mappa in avanti del corso. Conservarne una copia: ogni presentazione successiva si apre indicando una di queste righe. L'ultima riga è il progetto: Verm1 parte nella Lezione 07 esattamente dallo scheletro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mette alla prova la distinzione tra indirizzo e valore. la carica in t0 l'indirizzo dell'etichetta; lw usa poi t0 per trovare la parola e ne copia il contenuto in t1, lasciando t0 invariato. t0 contiene quindi ancora l'indirizzo. Chi ha scelto "il valore" torni alla slide con le due frecce.
La seconda domanda ruota attorno all'effetto di call, che scrive l'indirizzo di ritorno in ra. Una funzione che dovrà poi tornare al proprio chiamante ha bisogno del suo ra originale, che la chiamata ha appena sovrascritto. a0 è fatto per essere sovrascritto, sp è ripristinato dalla funzione chiamata, e t0 è un temporaneo che nessuno si è impegnato a conservare.
Per il docente: 1. Risposta: B. la carica l'indirizzo dell'etichetta; lw legge poi in t1 il valore memorizzato a quell'indirizzo.
2. Risposta: C. call scrive in ra l'indirizzo di ritorno. Le chiamate della funzione chiamata lo sovrascriverebbero: una funzione non foglia salva ra sullo stack e lo ripristina prima di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calcolo si fa meglio in binario. 300 è uguale a 256 + 44: un uno nella posizione 8 seguito dagli otto bit di 44. La maschera 255 è fatta di otto uni, quindi l'AND conserva gli otto bit meno significativi e azzera tutti gli altri. Il risultato è 44. Sottrarre 255 da 300 dà 45, una risposta plausibile ma sbagliata: un AND bit a bit non è una sottrazione, e la distinzione tra operazioni aritmetiche e logiche sugli stessi bit ricorre in tutto il corso.
Per il docente: Risposta: D. 300 = 256 + 44 = 1 0010 1100 in binario. AND con 1111 1111 conserva gli otto bit bassi: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della lezione, con l'italiano usato in aula. Load e store si nominano sempre dal punto di vista del processore: un load porta un valore dalla memoria a un registro, uno store lo rimanda indietro. Un immediato è una costante codificata dentro l'istruzione stessa. Un branch è un salto che avviene solo se vale una condizione. La convenzione di chiamata è l'accordo che regola i ruoli dei registri attraverso le chiamate di procedura.
Per il docente: Il corso si tiene in italiano; slide, note e libro esistono in inglese e in italiano, e la documentazione tecnica di PRG32 è in inglese. Questa tabella si ripete, argomento per argomento, in ogni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proposizioni riassumono la lezione. Un processore RISC-V consiste di trentadue registri e di un piccolo insieme di istruzioni che calcolano, trasferiscono dati e cambiano il flusso di controllo. Un gioco PRG32 consiste di tre funzioni; gli argomenti viaggiano da a0 ad a7, e una funzione che ne chiama un'altra deve salvare ra. Le variabili risiedono in memoria: la dà l'indirizzo, lw e sw il valore. Un'istruzione è un numero a 32 bit, e l'assembly è la sua notazione leggibile. La prossima lezione fa un passo indietro per ripercorrere la storia che ha prodotto questa macchina.
Stato di apprendimento, riepilogo. DA COMPRENDERE OGGI: registri, calcolo, trasferimento, salto; i registri; contratto init/update/draw; gli argomenti in a0 ... a7; perché si salva ra; indirizzo, valore, load, store; le istruzioni di base; le pseudo-istruzioni; un'istruzione è un numero; seguire a mano l'esecuzione. DA UTILIZZARE OGGI: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l'esadecimale (Lezione 04);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
Per il docente: Prossima lezione: la storia che ha portato a questa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Registri, memoria e chiamata: un programma che gira prima di ogni teoria</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“Le chiacchiere stanno a zero. Fammi vedere il codice.”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mailing list del kernel Linux,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Compilare una cartuccia da un file assembly ed eseguirla su PRG32</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che cos'è un registro, e nominare quelli che userete ogni giorno</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Chiamare una funzione del framework, passando gli argomenti nei registri</a:t>
            </a:r>
            <a:endParaRPr lang="en-US" sz="2200" dirty="0"/>
          </a:p>
        </p:txBody>
      </p:sp>
      <p:sp>
        <p:nvSpPr>
          <p:cNvPr id="9" name="Text 7"/>
          <p:cNvSpPr txBox="1"/>
          <p:nvPr/>
        </p:nvSpPr>
        <p:spPr>
          <a:xfrm>
            <a:off x="548640" y="37338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155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Conservare un valore in memoria da un frame al successivo: load, modify, store</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un'istruzione come il numero a 32 bit che è davvero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Elencare le domande che questo programma solleva: il resto del corso risponde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macchina che state programmando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registri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registro contiene un valore a 32 bit. Il processore sa calcolare solo su valori che stanno nei registri.</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Calcolare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Un'operazione aritmetica o logica tra registri: add, sub, and, or, xor, e le forme con immediato come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Spostare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trasferimento tra un registro e la memoria: lw carica una parola, sw la memorizza. Nient'altro tocca la memoria.</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Saltare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cambio dell'istruzione che verrà eseguita dopo: salti condizionati come beqz, chiamate e ritorni.</a:t>
            </a:r>
            <a:endParaRPr lang="en-US" sz="1900" dirty="0"/>
          </a:p>
        </p:txBody>
      </p:sp>
      <p:sp>
        <p:nvSpPr>
          <p:cNvPr id="19" name="Shape 17"/>
          <p:cNvSpPr/>
          <p:nvPr/>
        </p:nvSpPr>
        <p:spPr>
          <a:xfrm>
            <a:off x="6672783" y="91440"/>
            <a:ext cx="4970272" cy="274320"/>
          </a:xfrm>
          <a:prstGeom prst="rect">
            <a:avLst/>
          </a:prstGeom>
          <a:solidFill>
            <a:srgbClr val="E0F2FE"/>
          </a:solidFill>
          <a:ln w="12700">
            <a:solidFill>
              <a:srgbClr val="0369A1"/>
            </a:solidFill>
            <a:prstDash val="solid"/>
          </a:ln>
        </p:spPr>
      </p:sp>
      <p:sp>
        <p:nvSpPr>
          <p:cNvPr id="20" name="Shape 18"/>
          <p:cNvSpPr/>
          <p:nvPr/>
        </p:nvSpPr>
        <p:spPr>
          <a:xfrm>
            <a:off x="667278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6800799" y="128016"/>
            <a:ext cx="201168" cy="201168"/>
          </a:xfrm>
          <a:prstGeom prst="rect">
            <a:avLst/>
          </a:prstGeom>
        </p:spPr>
      </p:pic>
      <p:sp>
        <p:nvSpPr>
          <p:cNvPr id="22" name="Text 19"/>
          <p:cNvSpPr txBox="1"/>
          <p:nvPr/>
        </p:nvSpPr>
        <p:spPr>
          <a:xfrm>
            <a:off x="7056831" y="91440"/>
            <a:ext cx="454964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registri, calcolo, trasferimento, salto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che userete davvero</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Conservato da una chiamata?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passati a una chiamata; a0 porta anche il valore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di appoggio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valori che una chiamata promette di conservare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dove salta ret al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 salvatelo voi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cima dello stack, sempre allineata a 16 byte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zero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si legge sempre 0; le scritture sono ignorate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 ruoli vengono da un accordo, la convenzione di chiamata (ABI), non dall'hardware.</a:t>
            </a:r>
            <a:endParaRPr lang="en-US" sz="1500" dirty="0"/>
          </a:p>
        </p:txBody>
      </p:sp>
      <p:sp>
        <p:nvSpPr>
          <p:cNvPr id="5" name="Shape 2"/>
          <p:cNvSpPr/>
          <p:nvPr/>
        </p:nvSpPr>
        <p:spPr>
          <a:xfrm>
            <a:off x="6650431" y="91440"/>
            <a:ext cx="4992624" cy="274320"/>
          </a:xfrm>
          <a:prstGeom prst="rect">
            <a:avLst/>
          </a:prstGeom>
          <a:solidFill>
            <a:srgbClr val="FEF3C7"/>
          </a:solidFill>
          <a:ln w="12700">
            <a:solidFill>
              <a:srgbClr val="B45309"/>
            </a:solidFill>
            <a:prstDash val="solid"/>
          </a:ln>
        </p:spPr>
      </p:sp>
      <p:sp>
        <p:nvSpPr>
          <p:cNvPr id="6" name="Shape 3"/>
          <p:cNvSpPr/>
          <p:nvPr/>
        </p:nvSpPr>
        <p:spPr>
          <a:xfrm>
            <a:off x="6650431" y="91440"/>
            <a:ext cx="27432" cy="274320"/>
          </a:xfrm>
          <a:prstGeom prst="rect">
            <a:avLst/>
          </a:prstGeom>
          <a:solidFill>
            <a:srgbClr val="B45309"/>
          </a:solidFill>
          <a:ln w="12700">
            <a:solidFill>
              <a:srgbClr val="B45309"/>
            </a:solidFill>
            <a:prstDash val="solid"/>
          </a:ln>
        </p:spPr>
      </p:sp>
      <p:sp>
        <p:nvSpPr>
          <p:cNvPr id="7" name="Shape 4"/>
          <p:cNvSpPr/>
          <p:nvPr/>
        </p:nvSpPr>
        <p:spPr>
          <a:xfrm>
            <a:off x="670529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6778447" y="128016"/>
            <a:ext cx="201168" cy="201168"/>
          </a:xfrm>
          <a:prstGeom prst="rect">
            <a:avLst/>
          </a:prstGeom>
        </p:spPr>
      </p:pic>
      <p:sp>
        <p:nvSpPr>
          <p:cNvPr id="9" name="Text 5"/>
          <p:cNvSpPr txBox="1"/>
          <p:nvPr/>
        </p:nvSpPr>
        <p:spPr>
          <a:xfrm>
            <a:off x="7034479" y="91440"/>
            <a:ext cx="457200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la convenzione di chiamata</a:t>
            </a:r>
            <a:pPr indent="0" marL="0">
              <a:buNone/>
            </a:pPr>
            <a:r>
              <a:rPr lang="en-US" sz="1100" b="1" dirty="0">
                <a:solidFill>
                  <a:srgbClr val="92400E"/>
                </a:solidFill>
                <a:latin typeface="Calibri" pitchFamily="34" charset="0"/>
                <a:ea typeface="Calibri" pitchFamily="34" charset="-122"/>
                <a:cs typeface="Calibri" pitchFamily="34" charset="-120"/>
              </a:rPr>
              <a:t> → Lezione 18</a:t>
            </a:r>
            <a:endParaRPr lang="en-US" sz="1100" dirty="0"/>
          </a:p>
        </p:txBody>
      </p:sp>
      <p:sp>
        <p:nvSpPr>
          <p:cNvPr id="10" name="Shape 6"/>
          <p:cNvSpPr/>
          <p:nvPr/>
        </p:nvSpPr>
        <p:spPr>
          <a:xfrm>
            <a:off x="3474542" y="91440"/>
            <a:ext cx="3066161" cy="274320"/>
          </a:xfrm>
          <a:prstGeom prst="rect">
            <a:avLst/>
          </a:prstGeom>
          <a:solidFill>
            <a:srgbClr val="E0F2FE"/>
          </a:solidFill>
          <a:ln w="12700">
            <a:solidFill>
              <a:srgbClr val="0369A1"/>
            </a:solidFill>
            <a:prstDash val="solid"/>
          </a:ln>
        </p:spPr>
      </p:sp>
      <p:sp>
        <p:nvSpPr>
          <p:cNvPr id="11" name="Shape 7"/>
          <p:cNvSpPr/>
          <p:nvPr/>
        </p:nvSpPr>
        <p:spPr>
          <a:xfrm>
            <a:off x="3474542"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602558" y="128016"/>
            <a:ext cx="201168" cy="201168"/>
          </a:xfrm>
          <a:prstGeom prst="rect">
            <a:avLst/>
          </a:prstGeom>
        </p:spPr>
      </p:pic>
      <p:sp>
        <p:nvSpPr>
          <p:cNvPr id="13" name="Text 8"/>
          <p:cNvSpPr txBox="1"/>
          <p:nvPr/>
        </p:nvSpPr>
        <p:spPr>
          <a:xfrm>
            <a:off x="3858590" y="91440"/>
            <a:ext cx="264553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contratto: tre funzioni che scrivete voi</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all'avvio della cartuccia: prepara lo stato</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legge l'ingresso, cambia lo stato</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chiamata una volta per frame: trasforma lo stato in un'immagine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Il firmware trova le tre funzioni per nome: un prefisso scelto da voi, seguito da _init, _update e _draw. È l'intero contratto tra il vostro gioco e la macchina.</a:t>
            </a:r>
            <a:endParaRPr lang="en-US" sz="2000" dirty="0"/>
          </a:p>
        </p:txBody>
      </p:sp>
      <p:sp>
        <p:nvSpPr>
          <p:cNvPr id="16" name="Shape 14"/>
          <p:cNvSpPr/>
          <p:nvPr/>
        </p:nvSpPr>
        <p:spPr>
          <a:xfrm>
            <a:off x="7526350" y="91440"/>
            <a:ext cx="4116705" cy="274320"/>
          </a:xfrm>
          <a:prstGeom prst="rect">
            <a:avLst/>
          </a:prstGeom>
          <a:solidFill>
            <a:srgbClr val="E0F2FE"/>
          </a:solidFill>
          <a:ln w="12700">
            <a:solidFill>
              <a:srgbClr val="0369A1"/>
            </a:solidFill>
            <a:prstDash val="solid"/>
          </a:ln>
        </p:spPr>
      </p:sp>
      <p:sp>
        <p:nvSpPr>
          <p:cNvPr id="17" name="Shape 15"/>
          <p:cNvSpPr/>
          <p:nvPr/>
        </p:nvSpPr>
        <p:spPr>
          <a:xfrm>
            <a:off x="752635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9" name="Text 16"/>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contratto init/update/draw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salvare ra? Il frame di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memorizza in ra l'indirizzo a cui tornare</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funzione chiamata userà ra per le proprie chiamate, sovrascrivendo il vostro</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Perciò una funzione che ne chiama un'altra salva prima 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abbassa sp di 16 per fare spazio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memorizza ra in 12(sp)</a:t>
            </a:r>
            <a:endParaRPr lang="en-US" sz="2100" dirty="0"/>
          </a:p>
        </p:txBody>
      </p:sp>
      <p:sp>
        <p:nvSpPr>
          <p:cNvPr id="9" name="Shape 7"/>
          <p:cNvSpPr/>
          <p:nvPr/>
        </p:nvSpPr>
        <p:spPr>
          <a:xfrm>
            <a:off x="548640" y="4515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6552"/>
            <a:ext cx="61081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Dopo la chiamata, si disfa tutto in ordine inverso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ricarica ra, alza sp di 16, poi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Dimenticare la coppia è il classico primo bug: la funzione ritorna nel posto sbagliato</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Lo stack dopo il prologo</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dati del chiamante</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libero</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indirizzi più alti</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Lo stack cresce verso il basso: si sottrae da sp per allocare, si somma per rilasciare.</a:t>
            </a:r>
            <a:endParaRPr lang="en-US" sz="1400" dirty="0"/>
          </a:p>
        </p:txBody>
      </p:sp>
      <p:sp>
        <p:nvSpPr>
          <p:cNvPr id="28" name="Shape 26"/>
          <p:cNvSpPr/>
          <p:nvPr/>
        </p:nvSpPr>
        <p:spPr>
          <a:xfrm>
            <a:off x="7291654" y="91440"/>
            <a:ext cx="4351401" cy="274320"/>
          </a:xfrm>
          <a:prstGeom prst="rect">
            <a:avLst/>
          </a:prstGeom>
          <a:solidFill>
            <a:srgbClr val="F3E8FF"/>
          </a:solidFill>
          <a:ln w="12700">
            <a:solidFill>
              <a:srgbClr val="7E22CE"/>
            </a:solidFill>
            <a:prstDash val="dash"/>
          </a:ln>
        </p:spPr>
      </p:sp>
      <p:sp>
        <p:nvSpPr>
          <p:cNvPr id="29" name="Shape 27"/>
          <p:cNvSpPr/>
          <p:nvPr/>
        </p:nvSpPr>
        <p:spPr>
          <a:xfrm>
            <a:off x="7319086" y="128016"/>
            <a:ext cx="45720" cy="45720"/>
          </a:xfrm>
          <a:prstGeom prst="rect">
            <a:avLst/>
          </a:prstGeom>
          <a:solidFill>
            <a:srgbClr val="7E22CE"/>
          </a:solidFill>
          <a:ln w="12700">
            <a:solidFill>
              <a:srgbClr val="7E22CE"/>
            </a:solidFill>
            <a:prstDash val="solid"/>
          </a:ln>
        </p:spPr>
      </p:sp>
      <p:sp>
        <p:nvSpPr>
          <p:cNvPr id="30" name="Shape 28"/>
          <p:cNvSpPr/>
          <p:nvPr/>
        </p:nvSpPr>
        <p:spPr>
          <a:xfrm>
            <a:off x="7319086" y="205740"/>
            <a:ext cx="45720" cy="45720"/>
          </a:xfrm>
          <a:prstGeom prst="rect">
            <a:avLst/>
          </a:prstGeom>
          <a:solidFill>
            <a:srgbClr val="7E22CE"/>
          </a:solidFill>
          <a:ln w="12700">
            <a:solidFill>
              <a:srgbClr val="7E22CE"/>
            </a:solidFill>
            <a:prstDash val="solid"/>
          </a:ln>
        </p:spPr>
      </p:sp>
      <p:sp>
        <p:nvSpPr>
          <p:cNvPr id="31" name="Shape 29"/>
          <p:cNvSpPr/>
          <p:nvPr/>
        </p:nvSpPr>
        <p:spPr>
          <a:xfrm>
            <a:off x="7319086"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7419670" y="128016"/>
            <a:ext cx="201168" cy="201168"/>
          </a:xfrm>
          <a:prstGeom prst="rect">
            <a:avLst/>
          </a:prstGeom>
        </p:spPr>
      </p:pic>
      <p:sp>
        <p:nvSpPr>
          <p:cNvPr id="33" name="Text 30"/>
          <p:cNvSpPr txBox="1"/>
          <p:nvPr/>
        </p:nvSpPr>
        <p:spPr>
          <a:xfrm>
            <a:off x="7675702" y="91440"/>
            <a:ext cx="39307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 pila</a:t>
            </a:r>
            <a:pPr indent="0" marL="0">
              <a:buNone/>
            </a:pPr>
            <a:r>
              <a:rPr lang="en-US" sz="1100" b="1" dirty="0">
                <a:solidFill>
                  <a:srgbClr val="6B21A8"/>
                </a:solidFill>
                <a:latin typeface="Calibri" pitchFamily="34" charset="0"/>
                <a:ea typeface="Calibri" pitchFamily="34" charset="-122"/>
                <a:cs typeface="Calibri" pitchFamily="34" charset="-120"/>
              </a:rPr>
              <a:t> → Lezione 18</a:t>
            </a:r>
            <a:endParaRPr lang="en-US" sz="1100" dirty="0"/>
          </a:p>
        </p:txBody>
      </p:sp>
      <p:sp>
        <p:nvSpPr>
          <p:cNvPr id="34" name="Shape 31"/>
          <p:cNvSpPr/>
          <p:nvPr/>
        </p:nvSpPr>
        <p:spPr>
          <a:xfrm>
            <a:off x="3590493" y="91440"/>
            <a:ext cx="3591433" cy="274320"/>
          </a:xfrm>
          <a:prstGeom prst="rect">
            <a:avLst/>
          </a:prstGeom>
          <a:solidFill>
            <a:srgbClr val="E0F2FE"/>
          </a:solidFill>
          <a:ln w="12700">
            <a:solidFill>
              <a:srgbClr val="0369A1"/>
            </a:solidFill>
            <a:prstDash val="solid"/>
          </a:ln>
        </p:spPr>
      </p:sp>
      <p:sp>
        <p:nvSpPr>
          <p:cNvPr id="35" name="Shape 32"/>
          <p:cNvSpPr/>
          <p:nvPr/>
        </p:nvSpPr>
        <p:spPr>
          <a:xfrm>
            <a:off x="3590493"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3718509" y="128016"/>
            <a:ext cx="201168" cy="201168"/>
          </a:xfrm>
          <a:prstGeom prst="rect">
            <a:avLst/>
          </a:prstGeom>
        </p:spPr>
      </p:pic>
      <p:sp>
        <p:nvSpPr>
          <p:cNvPr id="37" name="Text 33"/>
          <p:cNvSpPr txBox="1"/>
          <p:nvPr/>
        </p:nvSpPr>
        <p:spPr>
          <a:xfrm>
            <a:off x="3974541"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Indirizzo o valore? Il nodo della memoria</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Registri (dentro il processore)</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indirizzo di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poi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Memoria (sezione .data)</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punta qui</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copia il contenuto</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Usare un indirizzo dove serve un valore, o il contrario, è uno degli errori più comuni dei principianti. Commentate ogni registro: INDIRIZZO o VALORE.</a:t>
            </a:r>
            <a:endParaRPr lang="en-US" sz="1550" dirty="0"/>
          </a:p>
        </p:txBody>
      </p:sp>
      <p:sp>
        <p:nvSpPr>
          <p:cNvPr id="20" name="Shape 18"/>
          <p:cNvSpPr/>
          <p:nvPr/>
        </p:nvSpPr>
        <p:spPr>
          <a:xfrm>
            <a:off x="6175451" y="91440"/>
            <a:ext cx="5467604" cy="274320"/>
          </a:xfrm>
          <a:prstGeom prst="rect">
            <a:avLst/>
          </a:prstGeom>
          <a:solidFill>
            <a:srgbClr val="F3E8FF"/>
          </a:solidFill>
          <a:ln w="12700">
            <a:solidFill>
              <a:srgbClr val="7E22CE"/>
            </a:solidFill>
            <a:prstDash val="dash"/>
          </a:ln>
        </p:spPr>
      </p:sp>
      <p:sp>
        <p:nvSpPr>
          <p:cNvPr id="21" name="Shape 19"/>
          <p:cNvSpPr/>
          <p:nvPr/>
        </p:nvSpPr>
        <p:spPr>
          <a:xfrm>
            <a:off x="6202883" y="128016"/>
            <a:ext cx="45720" cy="45720"/>
          </a:xfrm>
          <a:prstGeom prst="rect">
            <a:avLst/>
          </a:prstGeom>
          <a:solidFill>
            <a:srgbClr val="7E22CE"/>
          </a:solidFill>
          <a:ln w="12700">
            <a:solidFill>
              <a:srgbClr val="7E22CE"/>
            </a:solidFill>
            <a:prstDash val="solid"/>
          </a:ln>
        </p:spPr>
      </p:sp>
      <p:sp>
        <p:nvSpPr>
          <p:cNvPr id="22" name="Shape 20"/>
          <p:cNvSpPr/>
          <p:nvPr/>
        </p:nvSpPr>
        <p:spPr>
          <a:xfrm>
            <a:off x="6202883" y="205740"/>
            <a:ext cx="45720" cy="45720"/>
          </a:xfrm>
          <a:prstGeom prst="rect">
            <a:avLst/>
          </a:prstGeom>
          <a:solidFill>
            <a:srgbClr val="7E22CE"/>
          </a:solidFill>
          <a:ln w="12700">
            <a:solidFill>
              <a:srgbClr val="7E22CE"/>
            </a:solidFill>
            <a:prstDash val="solid"/>
          </a:ln>
        </p:spPr>
      </p:sp>
      <p:sp>
        <p:nvSpPr>
          <p:cNvPr id="23" name="Shape 21"/>
          <p:cNvSpPr/>
          <p:nvPr/>
        </p:nvSpPr>
        <p:spPr>
          <a:xfrm>
            <a:off x="6202883"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5" name="Text 22"/>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modi di indirizzamento</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26" name="Shape 23"/>
          <p:cNvSpPr/>
          <p:nvPr/>
        </p:nvSpPr>
        <p:spPr>
          <a:xfrm>
            <a:off x="1686382" y="91440"/>
            <a:ext cx="4379341" cy="274320"/>
          </a:xfrm>
          <a:prstGeom prst="rect">
            <a:avLst/>
          </a:prstGeom>
          <a:solidFill>
            <a:srgbClr val="E0F2FE"/>
          </a:solidFill>
          <a:ln w="12700">
            <a:solidFill>
              <a:srgbClr val="0369A1"/>
            </a:solidFill>
            <a:prstDash val="solid"/>
          </a:ln>
        </p:spPr>
      </p:sp>
      <p:sp>
        <p:nvSpPr>
          <p:cNvPr id="27" name="Shape 24"/>
          <p:cNvSpPr/>
          <p:nvPr/>
        </p:nvSpPr>
        <p:spPr>
          <a:xfrm>
            <a:off x="1686382"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1814398" y="128016"/>
            <a:ext cx="201168" cy="201168"/>
          </a:xfrm>
          <a:prstGeom prst="rect">
            <a:avLst/>
          </a:prstGeom>
        </p:spPr>
      </p:pic>
      <p:sp>
        <p:nvSpPr>
          <p:cNvPr id="29" name="Text 25"/>
          <p:cNvSpPr txBox="1"/>
          <p:nvPr/>
        </p:nvSpPr>
        <p:spPr>
          <a:xfrm>
            <a:off x="2070430"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istruzioni che avete appena usato</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Aritmetica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combina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operazione bit a bit su due registri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registro e una piccola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o memorizza una parola di 32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va a una funzione e ritorna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2"/>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istruzioni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Pseudo-istruzioni: scorciatoie che l'assemblatore espande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Scrivete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L'assemblatore emette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Significato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una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copia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bit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 l'indirizzo di un'etichetta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all'indirizzo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salta se t0 vale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pseudo-istruzioni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Un'istruzione è un numero a 32 bit</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la costante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è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registro-immediato</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L'assembly è una scrittura leggibile del codice macchina. L'assemblatore traduce ogni riga in una parola di 32 bit; il processore legge i campi con circuiti logici che più avanti nel corso progetteremo noi stessi.</a:t>
            </a:r>
            <a:endParaRPr lang="en-US" sz="1700" dirty="0"/>
          </a:p>
        </p:txBody>
      </p:sp>
      <p:sp>
        <p:nvSpPr>
          <p:cNvPr id="27" name="Shape 25"/>
          <p:cNvSpPr/>
          <p:nvPr/>
        </p:nvSpPr>
        <p:spPr>
          <a:xfrm>
            <a:off x="6175451" y="91440"/>
            <a:ext cx="5467604" cy="274320"/>
          </a:xfrm>
          <a:prstGeom prst="rect">
            <a:avLst/>
          </a:prstGeom>
          <a:solidFill>
            <a:srgbClr val="F3E8FF"/>
          </a:solidFill>
          <a:ln w="12700">
            <a:solidFill>
              <a:srgbClr val="7E22CE"/>
            </a:solidFill>
            <a:prstDash val="dash"/>
          </a:ln>
        </p:spPr>
      </p:sp>
      <p:sp>
        <p:nvSpPr>
          <p:cNvPr id="28" name="Shape 26"/>
          <p:cNvSpPr/>
          <p:nvPr/>
        </p:nvSpPr>
        <p:spPr>
          <a:xfrm>
            <a:off x="6202883" y="128016"/>
            <a:ext cx="45720" cy="45720"/>
          </a:xfrm>
          <a:prstGeom prst="rect">
            <a:avLst/>
          </a:prstGeom>
          <a:solidFill>
            <a:srgbClr val="7E22CE"/>
          </a:solidFill>
          <a:ln w="12700">
            <a:solidFill>
              <a:srgbClr val="7E22CE"/>
            </a:solidFill>
            <a:prstDash val="solid"/>
          </a:ln>
        </p:spPr>
      </p:sp>
      <p:sp>
        <p:nvSpPr>
          <p:cNvPr id="29" name="Shape 27"/>
          <p:cNvSpPr/>
          <p:nvPr/>
        </p:nvSpPr>
        <p:spPr>
          <a:xfrm>
            <a:off x="6202883" y="205740"/>
            <a:ext cx="45720" cy="45720"/>
          </a:xfrm>
          <a:prstGeom prst="rect">
            <a:avLst/>
          </a:prstGeom>
          <a:solidFill>
            <a:srgbClr val="7E22CE"/>
          </a:solidFill>
          <a:ln w="12700">
            <a:solidFill>
              <a:srgbClr val="7E22CE"/>
            </a:solidFill>
            <a:prstDash val="solid"/>
          </a:ln>
        </p:spPr>
      </p:sp>
      <p:sp>
        <p:nvSpPr>
          <p:cNvPr id="30" name="Shape 28"/>
          <p:cNvSpPr/>
          <p:nvPr/>
        </p:nvSpPr>
        <p:spPr>
          <a:xfrm>
            <a:off x="6202883"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32" name="Text 2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formati delle istruzioni</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33" name="Shape 30"/>
          <p:cNvSpPr/>
          <p:nvPr/>
        </p:nvSpPr>
        <p:spPr>
          <a:xfrm>
            <a:off x="2014677" y="91440"/>
            <a:ext cx="4051046" cy="274320"/>
          </a:xfrm>
          <a:prstGeom prst="rect">
            <a:avLst/>
          </a:prstGeom>
          <a:solidFill>
            <a:srgbClr val="E0F2FE"/>
          </a:solidFill>
          <a:ln w="12700">
            <a:solidFill>
              <a:srgbClr val="0369A1"/>
            </a:solidFill>
            <a:prstDash val="solid"/>
          </a:ln>
        </p:spPr>
      </p:sp>
      <p:sp>
        <p:nvSpPr>
          <p:cNvPr id="34" name="Shape 31"/>
          <p:cNvSpPr/>
          <p:nvPr/>
        </p:nvSpPr>
        <p:spPr>
          <a:xfrm>
            <a:off x="2014677"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2142693" y="128016"/>
            <a:ext cx="201168" cy="201168"/>
          </a:xfrm>
          <a:prstGeom prst="rect">
            <a:avLst/>
          </a:prstGeom>
        </p:spPr>
      </p:pic>
      <p:sp>
        <p:nvSpPr>
          <p:cNvPr id="36" name="Text 32"/>
          <p:cNvSpPr txBox="1"/>
          <p:nvPr/>
        </p:nvSpPr>
        <p:spPr>
          <a:xfrm>
            <a:off x="2398725"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un'istruzione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un microscopio per i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Esegue la stessa cartuccia sul vostro computer, un'istruzione alla volta</a:t>
            </a:r>
            <a:endParaRPr lang="en-US" sz="2400" dirty="0"/>
          </a:p>
        </p:txBody>
      </p:sp>
      <p:sp>
        <p:nvSpPr>
          <p:cNvPr id="5" name="Shape 3"/>
          <p:cNvSpPr/>
          <p:nvPr/>
        </p:nvSpPr>
        <p:spPr>
          <a:xfrm>
            <a:off x="548640" y="3000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7832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ferma tra due istruzioni qualsiasi e mostra tutti i registri</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Eseguite first_update passo-passo e guardate cambiare t0 e t1</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Usate la scheda quando volete la verità sul tempo, PRG32-QT quando volete la verità su un registro</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debugger di PRG32-QT: codice, registri, memoria</a:t>
            </a:r>
            <a:endParaRPr lang="en-US" sz="1200" dirty="0"/>
          </a:p>
        </p:txBody>
      </p:sp>
      <p:sp>
        <p:nvSpPr>
          <p:cNvPr id="13" name="Shape 10"/>
          <p:cNvSpPr/>
          <p:nvPr/>
        </p:nvSpPr>
        <p:spPr>
          <a:xfrm>
            <a:off x="7809941" y="91440"/>
            <a:ext cx="3833114" cy="274320"/>
          </a:xfrm>
          <a:prstGeom prst="rect">
            <a:avLst/>
          </a:prstGeom>
          <a:solidFill>
            <a:srgbClr val="FEF3C7"/>
          </a:solidFill>
          <a:ln w="12700">
            <a:solidFill>
              <a:srgbClr val="B45309"/>
            </a:solidFill>
            <a:prstDash val="solid"/>
          </a:ln>
        </p:spPr>
      </p:sp>
      <p:sp>
        <p:nvSpPr>
          <p:cNvPr id="14" name="Shape 11"/>
          <p:cNvSpPr/>
          <p:nvPr/>
        </p:nvSpPr>
        <p:spPr>
          <a:xfrm>
            <a:off x="7809941" y="91440"/>
            <a:ext cx="27432" cy="274320"/>
          </a:xfrm>
          <a:prstGeom prst="rect">
            <a:avLst/>
          </a:prstGeom>
          <a:solidFill>
            <a:srgbClr val="B45309"/>
          </a:solidFill>
          <a:ln w="12700">
            <a:solidFill>
              <a:srgbClr val="B45309"/>
            </a:solidFill>
            <a:prstDash val="solid"/>
          </a:ln>
        </p:spPr>
      </p:sp>
      <p:sp>
        <p:nvSpPr>
          <p:cNvPr id="15" name="Shape 12"/>
          <p:cNvSpPr/>
          <p:nvPr/>
        </p:nvSpPr>
        <p:spPr>
          <a:xfrm>
            <a:off x="7864805"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7" name="Text 13"/>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Tracciare a mano: tre frame di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diventa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Larghezza barra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 frame 256 il contatore continua a crescere, ma i suoi otto bit bassi tornano a zero: la barra ricomincia.</a:t>
            </a:r>
            <a:endParaRPr lang="en-US" sz="1500" dirty="0"/>
          </a:p>
        </p:txBody>
      </p:sp>
      <p:sp>
        <p:nvSpPr>
          <p:cNvPr id="5" name="Shape 2"/>
          <p:cNvSpPr/>
          <p:nvPr/>
        </p:nvSpPr>
        <p:spPr>
          <a:xfrm>
            <a:off x="7460691" y="91440"/>
            <a:ext cx="4182364" cy="274320"/>
          </a:xfrm>
          <a:prstGeom prst="rect">
            <a:avLst/>
          </a:prstGeom>
          <a:solidFill>
            <a:srgbClr val="E0F2FE"/>
          </a:solidFill>
          <a:ln w="12700">
            <a:solidFill>
              <a:srgbClr val="0369A1"/>
            </a:solidFill>
            <a:prstDash val="solid"/>
          </a:ln>
        </p:spPr>
      </p:sp>
      <p:sp>
        <p:nvSpPr>
          <p:cNvPr id="6" name="Shape 3"/>
          <p:cNvSpPr/>
          <p:nvPr/>
        </p:nvSpPr>
        <p:spPr>
          <a:xfrm>
            <a:off x="746069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588707" y="128016"/>
            <a:ext cx="201168" cy="201168"/>
          </a:xfrm>
          <a:prstGeom prst="rect">
            <a:avLst/>
          </a:prstGeom>
        </p:spPr>
      </p:pic>
      <p:sp>
        <p:nvSpPr>
          <p:cNvPr id="8" name="Text 4"/>
          <p:cNvSpPr txBox="1"/>
          <p:nvPr/>
        </p:nvSpPr>
        <p:spPr>
          <a:xfrm>
            <a:off x="7844739" y="91440"/>
            <a:ext cx="376174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seguire a mano l'esecuzione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Domande che il vostro programma ha già sollevato</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Avete visto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 domanda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Risposta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Perché i programmatori scrivono i numeri in esadecimale?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04 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posizione sotto zero mostrata come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registro a contenere un numero negativo?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una palla che si muove meno di un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si rappresentano le frazioni senza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Che cosa fa AND a trentadue bit in un colpo solo?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08 e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Quale circuito somma davvero due numeri?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09: gli addizionatori</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un pulsante premuto è un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Di che cosa è fatto, fisicamente,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sopravvive tra i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un circuito a ricordare un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13 e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Come fa il processore a decodificarla ed eseguirla?</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Lezioni 18 e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tre funzioni e un rettangolo</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Posso farci un gioco intero?</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726121" y="91440"/>
            <a:ext cx="3916934" cy="274320"/>
          </a:xfrm>
          <a:prstGeom prst="rect">
            <a:avLst/>
          </a:prstGeom>
          <a:solidFill>
            <a:srgbClr val="F3E8FF"/>
          </a:solidFill>
          <a:ln w="12700">
            <a:solidFill>
              <a:srgbClr val="7E22CE"/>
            </a:solidFill>
            <a:prstDash val="dash"/>
          </a:ln>
        </p:spPr>
      </p:sp>
      <p:sp>
        <p:nvSpPr>
          <p:cNvPr id="5" name="Shape 2"/>
          <p:cNvSpPr/>
          <p:nvPr/>
        </p:nvSpPr>
        <p:spPr>
          <a:xfrm>
            <a:off x="7753553" y="128016"/>
            <a:ext cx="45720" cy="45720"/>
          </a:xfrm>
          <a:prstGeom prst="rect">
            <a:avLst/>
          </a:prstGeom>
          <a:solidFill>
            <a:srgbClr val="7E22CE"/>
          </a:solidFill>
          <a:ln w="12700">
            <a:solidFill>
              <a:srgbClr val="7E22CE"/>
            </a:solidFill>
            <a:prstDash val="solid"/>
          </a:ln>
        </p:spPr>
      </p:sp>
      <p:sp>
        <p:nvSpPr>
          <p:cNvPr id="6" name="Shape 3"/>
          <p:cNvSpPr/>
          <p:nvPr/>
        </p:nvSpPr>
        <p:spPr>
          <a:xfrm>
            <a:off x="7753553" y="205740"/>
            <a:ext cx="45720" cy="45720"/>
          </a:xfrm>
          <a:prstGeom prst="rect">
            <a:avLst/>
          </a:prstGeom>
          <a:solidFill>
            <a:srgbClr val="7E22CE"/>
          </a:solidFill>
          <a:ln w="12700">
            <a:solidFill>
              <a:srgbClr val="7E22CE"/>
            </a:solidFill>
            <a:prstDash val="solid"/>
          </a:ln>
        </p:spPr>
      </p:sp>
      <p:sp>
        <p:nvSpPr>
          <p:cNvPr id="7" name="Shape 4"/>
          <p:cNvSpPr/>
          <p:nvPr/>
        </p:nvSpPr>
        <p:spPr>
          <a:xfrm>
            <a:off x="7753553"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854137" y="128016"/>
            <a:ext cx="201168" cy="201168"/>
          </a:xfrm>
          <a:prstGeom prst="rect">
            <a:avLst/>
          </a:prstGeom>
        </p:spPr>
      </p:pic>
      <p:sp>
        <p:nvSpPr>
          <p:cNvPr id="9" name="Text 5"/>
          <p:cNvSpPr txBox="1"/>
          <p:nvPr/>
        </p:nvSpPr>
        <p:spPr>
          <a:xfrm>
            <a:off x="8110169" y="91440"/>
            <a:ext cx="349631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b="1" dirty="0">
                <a:solidFill>
                  <a:srgbClr val="6B21A8"/>
                </a:solidFill>
                <a:latin typeface="Calibri" pitchFamily="34" charset="0"/>
                <a:ea typeface="Calibri" pitchFamily="34" charset="-122"/>
                <a:cs typeface="Calibri" pitchFamily="34" charset="-120"/>
              </a:rPr>
              <a:t> → Lezioni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Dopo la t0, counter e lw t1, 0(t0), che cosa contiene t0?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valore del contatore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L'indirizzo del contatore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perché la azzera il registro</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L'indirizzo di ritorno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funzione che chiama prg32_gfx_clear deve salvare un registro prima della chiamata. Quale?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perché porta l'argomento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perché lo stack si sposta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perché call lo sovrascrive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perché è temporaneo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contiene 300. Che cosa lascia in a2 l'istruzione andi a2, t1, 255?</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Riepilogo e letture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RISC-V è fatto di trentadue registri e di un piccolo insieme di istruzioni che calcolano, spostano e saltano</a:t>
            </a:r>
            <a:endParaRPr lang="en-US" sz="2200" dirty="0"/>
          </a:p>
        </p:txBody>
      </p:sp>
      <p:sp>
        <p:nvSpPr>
          <p:cNvPr id="5" name="Shape 3"/>
          <p:cNvSpPr/>
          <p:nvPr/>
        </p:nvSpPr>
        <p:spPr>
          <a:xfrm>
            <a:off x="548640" y="247586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943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gioco PRG32 sono tre funzioni; gli argomenti viaggiano in a0-a7; una funzione che ne chiama un'altra salva ra</a:t>
            </a:r>
            <a:endParaRPr lang="en-US" sz="2200" dirty="0"/>
          </a:p>
        </p:txBody>
      </p:sp>
      <p:sp>
        <p:nvSpPr>
          <p:cNvPr id="7" name="Shape 5"/>
          <p:cNvSpPr/>
          <p:nvPr/>
        </p:nvSpPr>
        <p:spPr>
          <a:xfrm>
            <a:off x="548640" y="34279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vivono in memoria: la per l'indirizzo, lw e sw per il valore</a:t>
            </a:r>
            <a:endParaRPr lang="en-US" sz="2200" dirty="0"/>
          </a:p>
        </p:txBody>
      </p:sp>
      <p:sp>
        <p:nvSpPr>
          <p:cNvPr id="9" name="Shape 7"/>
          <p:cNvSpPr/>
          <p:nvPr/>
        </p:nvSpPr>
        <p:spPr>
          <a:xfrm>
            <a:off x="548640" y="40392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3280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Un'istruzione è un numero a 32 bit; l'assembly è la sua scrittura leggibile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Letture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capitolo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Struttura e progetto dei calcolatori, edizione RISC-V, capitolo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Repository di PRG32: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dc:title>
  <dc:subject>Lezione 02</dc:subject>
  <dc:creator>Raffaele Montella</dc:creator>
  <cp:lastModifiedBy>Raffaele Montella</cp:lastModifiedBy>
  <cp:revision>1</cp:revision>
  <dcterms:created xsi:type="dcterms:W3CDTF">2026-10-16T20:22:25Z</dcterms:created>
  <dcterms:modified xsi:type="dcterms:W3CDTF">2026-10-16T20:22:25Z</dcterms:modified>
</cp:coreProperties>
</file>