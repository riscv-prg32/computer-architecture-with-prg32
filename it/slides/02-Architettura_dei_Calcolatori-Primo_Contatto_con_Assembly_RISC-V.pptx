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f68af634-2d02-361d-3049-b95f91402a6f}">
          <p14:sldIdLst>
            <p14:sldId id="256"/>
            <p14:sldId id="257"/>
          </p14:sldIdLst>
        </p14:section>
        <p14:section name="La macchina" id="{ce0fd65e-bb2c-f2ea-02ca-9b9f56a3fff1}">
          <p14:sldIdLst>
            <p14:sldId id="258"/>
            <p14:sldId id="259"/>
            <p14:sldId id="260"/>
          </p14:sldIdLst>
        </p14:section>
        <p14:section name="La prima cartuccia" id="{fcbe9e1d-60f3-f207-5878-ac9f3ab5c8d0}">
          <p14:sldIdLst>
            <p14:sldId id="261"/>
            <p14:sldId id="262"/>
          </p14:sldIdLst>
        </p14:section>
        <p14:section name="Leggere ciò che avete scritto" id="{ac621018-3dd0-280d-cb6e-b8e54d21724b}">
          <p14:sldIdLst>
            <p14:sldId id="263"/>
            <p14:sldId id="264"/>
            <p14:sldId id="265"/>
            <p14:sldId id="266"/>
            <p14:sldId id="267"/>
          </p14:sldIdLst>
        </p14:section>
        <p14:section name="Che cosa viene dopo" id="{a5f28a3b-657b-6c72-86d8-74bb3ee572b4}">
          <p14:sldIdLst>
            <p14:sldId id="268"/>
            <p14:sldId id="269"/>
            <p14:sldId id="270"/>
            <p14:sldId id="271"/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È la prima lezione in cui scrivete un programma, e viene di proposito prima di ogni teoria. In due ore costruite quattro piccole cartucce, ognuna un programma completo che gira. Oggi non capirete ogni dettaglio, e nessuno se lo aspetta: lo scopo è vedere al lavoro i registri, la memoria e una chiamata di funzione, così che le lezioni successive abbiano qualcosa di concreto da spiegare. La citazione dà il tono: meno parole, più codice.
Per il docente: Lezione nuova del 2026/27. È il turno «gioca» della spirale per tutta la prima metà del corso: ogni lezione successiva rimanda a qualcosa scritto qui. I quattro passi sono quelli verificati del laboratorio 05-asm-first-contact del libro di PRG32; eseguirli dal vivo (labs/run.sh 05-asm-first-contact/stepN_....S first).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Sei cose che saprete fare alla fine. Le prime quattro sono pratiche: compilare ed eseguire una cartuccia, nominare i registri, chiamare una funzione con i suoi argomenti, conservare un valore in memoria tra un frame e l'altro. La quinta è un cambio di punto di vista: un'istruzione è un numero a 32 bit. La sesta è la più importante per il corso: uscirete con un elenco di domande, e ognuna è l'argomento di una lezione successiva.
Per il docente: Dire esplicitamente agli studenti che oggi non ci si aspetta che capiscano tutto. Oggi si guarda; le prossime lezioni servono a spiegare.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L'intera macchina in quattro riquadri. Ci sono 32 registri, ciascuno con un valore a 32 bit, e il processore sa calcolare solo su ciò che contengono. Ci sono tre tipi di istruzione. Calcolare: aritmetica e logica tra registri, come add o addi. Spostare: trasferimenti tra un registro e la memoria, lw per caricare una parola e sw per memorizzarla; nient'altro tocca la memoria. Saltare: cambi dell'istruzione che verrà eseguita dopo. Tutto ciò che fa un calcolatore è una lunga sequenza di questi tre tipi.
Per il docente: Questa è quasi tutta la macchina. La ricchezza del calcolo non viene da un insieme di istruzioni ampio, ma dal combinarne uno piccolo in lunghe sequenze.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registri hanno nomi che dicono come si usano. Da a0 ad a7 portano gli argomenti di una chiamata, e a0 riporta indietro il risultato. Da t0 a t6 sono temporanei, liberi da usare e non conservati da una chiamata. Da s0 a s11 sono conservati. ra contiene l'indirizzo di ritorno, sp la cima dello stack, e zero si legge sempre 0. Leggete con cura la didascalia: questi ruoli non sono incisi nell'hardware. Sono un accordo, la convenzione di chiamata, ed è ciò che permette al vostro assembly e al codice C del framework di chiamarsi a vicenda.
Per il docente: I ruoli non sono fissati dall'hardware ma da un accordo: la convenzione di chiamata, o ABI. Rispettarla è ciò che permette al vostro assembly e al codice C del framework di chiamarsi a vicenda.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contratto con PRG32 è fatto di tre funzioni che scrivete voi. init viene chiamata una volta, all'avvio della cartuccia, per preparare lo stato. update viene chiamata una volta per frame, per leggere l'ingresso e cambiare lo stato. draw viene chiamata una volta per frame, per trasformare lo stato in un'immagine. Il firmware le trova per nome: un prefisso scelto da voi, seguito da _init, _update e _draw. Tenete presente dal primo giorno la divisione dei compiti: update decide, draw mostra.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Perché salvare ra? L'istruzione call scrive in ra l'indirizzo a cui tornare. Ma la funzione che chiamate può fare a sua volta delle chiamate, e ognuna sovrascrive ra. Perciò una funzione che ne chiama un'altra deve prima salvare in memoria il proprio ra: abbassa sp di 16 per fare spazio, il frame di stack, e memorizza ra in 12(sp). Dopo la chiamata fa il contrario. Il disegno mostra il frame: lo stack cresce verso gli indirizzi bassi. Dimenticare questa coppia di operazioni è il classico primo bug: la funzione ritorna nel posto sbagliato.
Per il docente: La convenzione richiede che sp resti allineato a 16 byte tra una chiamata e l'altra: per questo il frame è di 16 byte anche se ne servono solo 4. Lo stack è trattato formalmente nelle lezioni sulla memoria e sui sottoprogrammi.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Questa slide separa due idee che i principianti confondono: l'indirizzo e il valore. Dopo la, t0 contiene dove vive il contatore. Dopo lw, t1 contiene che cosa vi è memorizzato, 41 nel disegno. addi porta a 42 la copia nel registro, e la memoria dice ancora 41 finché sw non la riscrive. Seguite le due frecce. Un'abitudine pratica dal riquadro a destra: nei commenti scrivete per ogni registro se contiene un INDIRIZZO o un VALORE. Previene l'errore più comune del primo mese.
Per il docente: Un'etichetta dà un nome a una locazione. la dà la locazione, lw dà il contenuto. È così che funziona, in ultima analisi, ogni variabile di ogni programma; ci si torna formalmente con i modi di indirizzamento.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famiglie coprono tutto ciò che avete battuto: aritmetica (add, sub), logica (and, or, xor), le forme con immediato che prendono una piccola costante (addi, andi), memoria (lw, sw) e controllo (call, ret). In ogni istruzione il risultato va nel primo registro nominato: add t0, t1, t2 mette t1 + t2 in t0. L'insieme di base ha circa quaranta istruzioni, e ne avete già incontrato un quarto.
Per il docente: Il risultato va nel primo registro. L'insieme di base delle istruzioni intere di RISC-V (RV32I) ha circa quaranta istruzioni; ne avete già incontrato un quarto.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Alcune delle istruzioni che avete scritto nel processore non esistono: sono pseudo-istruzioni, scorciatoie che l'assemblatore espande. li t0, 42 diventa addi t0, zero, 42; mv è una addi con 0; ret è un salto all'indirizzo in ra; beqz è un confronto con il registro zero. Notate quante volte zero compare nella colonna centrale: un registro che vale sempre 0 permette a un insieme di istruzioni piccolo di fare il lavoro di uno più grande.
Per il docente: Una pseudo-istruzione non è un'operazione hardware a sé. È il registro zero a renderne possibili molte: un insieme di istruzioni piccolo, riusato con cura.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Un'istruzione è un numero. addi t1, t1, 1 è la parola di 32 bit 0x00130313, e la striscia colorata ne mostra i campi: dodici bit per la costante 1, cinque per il registro sorgente (t1 è il registro numero 6), tre che dicono «somma», cinque per la destinazione, sette per il tipo di istruzione. Il formato non va imparato adesso. Tenete l'idea: l'assembly è una scrittura leggibile del codice macchina, e il processore legge questi campi con circuiti che imparerete a progettare.
Per il docente: Verifica: 0000 0000 0001 | 00110 | 000 | 00110 | 0010011 = 0000 0000 0001 0011 0000 0011 0001 0011 = 0x00130313. Non spiegare ora i formati; il punto è solo che un'istruzione è un dato. La Lezione 04 (informazione digitale) e le lezioni sul processore tornano su questa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PRG32-QT esegue la stessa cartuccia sul portatile e può fermarsi tra due istruzioni qualsiasi, mostrando tutti i registri. Usatelo ora sul terzo passo: andate su update, mettete in pausa, ed eseguite una alla volta le quattro istruzioni di first_update, osservando t0 e t1. Prima di ogni pressione dite ad alta voce che cosa cambierà. L'ultima riga è una regola da ricordare: la scheda dice la verità sul tempo, PRG32-QT dice la verità su un registro.
Per il docente: Dimostrare dal vivo: caricare il passo 3, fermarsi su first_update, eseguire quattro passi. Chiedere agli studenti di prevedere ogni registro prima di premere il tasto.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traccia a mano: per ogni frame si scrive che cosa ogni istruzione lascia in t1 e in memoria. Nei primi frame non accade nulla di sorprendente. Guardate la riga evidenziata: al frame 256 il contatore diventa 256, eppure la larghezza della barra è 0, perché andi con 255 conserva solo gli otto bit bassi, e 256 in binario è un uno seguito da otto zeri. Tracciare a mano è lento e poco appariscente, ed è l'abilità di debug più utile che imparerete in questo corso.
Per il docente: La traccia a mano è l'abilità di debug più preziosa del corso. 256 = 1 0000 0000 in binario: gli otto bit bassi sono tutti zero, quindi la barra ricomincia.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Ogni riga è una cosa vista oggi, la domanda che solleva e dove si trova la risposta. Perché l'esadecimale? Lezioni 04 e 05. Come fa un registro a contenere un numero negativo? Lezione 05. Che cosa fa AND a trentadue bit in un colpo solo? Lezioni 08 e 09. Come fa un circuito a ricordare un bit? Lezioni 13 e 15. Come viene decodificato ed eseguito 0x00130313? Lezioni 18 e 19. L'ultima riga è il progetto: da tre funzioni e un rettangolo, un gioco intero. Conservate questa tabella: è la mappa del corso vista dal vostro programma.
Per il docente: È la mappa in avanti del corso. Conservarne una copia: ogni presentazione successiva si apre indicando una di queste righe. L'ultima riga è il progetto: Verm1 parte nella Lezione 07 esattamente dallo scheletro di oggi.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Applicate la distinzione tra indirizzo e valore. la carica in t0 l'indirizzo dell'etichetta; lw usa poi t0 per trovare la locazione e ne copia il contenuto in t1, senza modificare t0. Quindi t0 contiene ancora l'indirizzo. Se avete scelto «il valore», tornate alla slide con le due frecce.
La chiave è ciò che fa call: scrive in ra l'indirizzo di ritorno. Se poi la vostra funzione deve tornare al proprio chiamante, le serve il vecchio ra, che la chiamata ha appena sovrascritto. a0 è fatto per essere sovrascritto, sp viene ripristinato dalla funzione chiamata, e t0 è un temporaneo che nessuno ha promesso di conservare.
Per il docente: 1. Risposta: B. la carica l'indirizzo dell'etichetta; lw legge poi in t1 il valore memorizzato a quell'indirizzo.
2. Risposta: C. call scrive in ra l'indirizzo di ritorno. Le chiamate della funzione chiamata lo sovrascriverebbero: una funzione non foglia salva ra sullo stack e lo ripristina prima di ret.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Fate il calcolo in binario. 300 è 256 + 44, cioè un uno in posizione 8 seguito dagli otto bit di 44. La maschera 255 è fatta di otto uni: AND conserva gli otto bit bassi e azzera il resto. Rimane 44. Sottraendo 255 da 300 si ottiene 45, una risposta sbagliata che tenta: AND non è una sottrazione.
Per il docente: Risposta: D. 300 = 256 + 44 = 1 0010 1100 in binario. AND con 1111 1111 conserva gli otto bit bassi: 0010 1100 = 44.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Dodici termini di questa lezione, con l'italiano usato in aula. Load e store si intendono sempre dal punto di vista del processore: load porta un valore dalla memoria a un registro, store lo rimanda indietro. Un immediato è una costante scritta dentro l'istruzione stessa. Un branch è un salto che avviene solo se vale una condizione. La convenzione di chiamata è l'accordo sui ruoli dei registri.
Per il docente: Il corso si tiene in italiano; slide, note e libro esistono in inglese e in italiano, e la documentazione tecnica di PRG32 è in inglese. Questa tabella si ripete, argomento per argomento, in ogni presentazione.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Quattro frasi contengono la lezione. Un processore RISC-V è fatto di trentadue registri e di un piccolo insieme di istruzioni che calcolano, spostano e saltano. Un gioco PRG32 sono tre funzioni, con gli argomenti da a0 ad a7, e una funzione che ne chiama un'altra salva ra. Le variabili vivono in memoria: la per l'indirizzo, lw e sw per il valore. Un'istruzione è un numero a 32 bit, e l'assembly è la sua scrittura leggibile. La prossima lezione fa un passo indietro e racconta la storia che ha portato a questa macchina.
Per il docente: Prossima lezione: la storia che ha portato a questa macchina.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02: Primo contatto con l'assembly RISC-V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02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Primo contatto: l'assembly RISC‑V su PRG32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Registri, memoria e chiamata: un programma che gira prima di ogni teoria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3434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“Le chiacchiere stanno a zero. Fammi vedere il codice.”</a:t>
            </a:r>
            <a:endParaRPr lang="en-US" sz="1900" dirty="0"/>
          </a:p>
          <a:p>
            <a:pPr indent="0" marL="0">
              <a:buNone/>
            </a:pPr>
            <a:r>
              <a:rPr lang="en-US" sz="1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Linus Torvalds, mailing list del kernel Linux, 2000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4693615" y="566928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della lezione. I listati, il programma completo e come provarlo sono nella presentazione del codice:</a:t>
            </a:r>
            <a:endParaRPr lang="en-US" sz="13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02-Architettura_dei_Calcolatori-Primo_Contatto_con_Assembly_RISC-V-Codice.pptx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4" name="Image 0" descr="/Users/raffaelemontella/devel/riscv-prg32/computer-architecture-with-prg32/tools/assets/lab1_step4_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16975" y="4280535"/>
            <a:ext cx="2834640" cy="177165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cosa saprete fare alla fine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41732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Compilare una cartuccia da un file assembly ed eseguirla su PRG32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20167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183384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 che cos'è un registro, e nominare quelli che userete ogni giorno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96773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2949448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Chiamare una funzione del framework, passando gli argomenti nei registri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73380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3715512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Conservare un valore in memoria da un frame al successivo: load, modify, store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74268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472440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Leggere un'istruzione come il numero a 32 bit che è davvero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50875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207008" y="549046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Elencare le domande che questo programma solleva: il resto del corso risponde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macchina che state programmando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60020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registri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331720"/>
            <a:ext cx="48614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registro contiene un valore a 32 bit. Il processore sa calcolare solo su valori che stanno nei registri.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233008" y="141732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1608" y="16459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010248" y="160020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Calcolare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507328" y="2331720"/>
            <a:ext cx="48614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Un'operazione aritmetica o logica tra registri: add, sub, and, or, xor, e le forme con immediato come addi.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548640" y="393192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41605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411480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Spostare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846320"/>
            <a:ext cx="48614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trasferimento tra un registro e la memoria: lw carica una parola, sw la memorizza. Nient'altro tocca la memoria.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6233008" y="393192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61608" y="41605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010248" y="411480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Saltare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6507328" y="4846320"/>
            <a:ext cx="48614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cambio dell'istruzione che verrà eseguita dopo: salti condizionati come beqz, chiamate e ritorni.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registri che userete davvero</a:t>
            </a:r>
            <a:endParaRPr lang="en-US" sz="3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1431537"/>
                <a:gridCol w="1968364"/>
                <a:gridCol w="5010381"/>
                <a:gridCol w="2684133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Nome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Ruolo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Conservato da una chiamata?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a0 - a7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argomenti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valori passati a una chiamata; a0 porta anche il valore di ritorno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t0 - t6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temporanei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valori di appoggio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s0 - s11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salvati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valori che una chiamata promette di conservare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sì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ra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indirizzo di ritorno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dove salta ret al ritorno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no: salvatelo voi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sp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puntatore allo stack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cima dello stack, sempre allineata a 16 byte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sì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zero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zero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 legge sempre 0; le scritture sono ignorate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760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ruoli vengono da un accordo, la convenzione di chiamata (ABI), non dall'hardware.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contratto: tre funzioni che scrivete voi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874520"/>
            <a:ext cx="3454298" cy="2468880"/>
          </a:xfrm>
          <a:prstGeom prst="roundRect">
            <a:avLst>
              <a:gd name="adj" fmla="val 296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2057400"/>
            <a:ext cx="3179978" cy="685800"/>
          </a:xfrm>
          <a:prstGeom prst="roundRect">
            <a:avLst>
              <a:gd name="adj" fmla="val 10667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880360"/>
            <a:ext cx="317997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chiamata una volta, all'avvio della cartuccia: prepara lo stato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048658" y="2962656"/>
            <a:ext cx="274320" cy="292608"/>
          </a:xfrm>
          <a:prstGeom prst="rightArrow">
            <a:avLst/>
          </a:prstGeom>
          <a:solidFill>
            <a:srgbClr val="5B6B78"/>
          </a:solidFill>
          <a:ln w="12700">
            <a:solidFill>
              <a:srgbClr val="5B6B7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368698" y="1874520"/>
            <a:ext cx="3454298" cy="2468880"/>
          </a:xfrm>
          <a:prstGeom prst="roundRect">
            <a:avLst>
              <a:gd name="adj" fmla="val 296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05858" y="2057400"/>
            <a:ext cx="3179978" cy="685800"/>
          </a:xfrm>
          <a:prstGeom prst="roundRect">
            <a:avLst>
              <a:gd name="adj" fmla="val 10667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4505858" y="2880360"/>
            <a:ext cx="317997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chiamata una volta per frame: legge l'ingresso, cambia lo stato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7868717" y="2962656"/>
            <a:ext cx="274320" cy="292608"/>
          </a:xfrm>
          <a:prstGeom prst="rightArrow">
            <a:avLst/>
          </a:prstGeom>
          <a:solidFill>
            <a:srgbClr val="5B6B78"/>
          </a:solidFill>
          <a:ln w="12700">
            <a:solidFill>
              <a:srgbClr val="5B6B7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188757" y="1874520"/>
            <a:ext cx="3454298" cy="2468880"/>
          </a:xfrm>
          <a:prstGeom prst="roundRect">
            <a:avLst>
              <a:gd name="adj" fmla="val 296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5917" y="2057400"/>
            <a:ext cx="3179978" cy="685800"/>
          </a:xfrm>
          <a:prstGeom prst="roundRect">
            <a:avLst>
              <a:gd name="adj" fmla="val 10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8325917" y="2880360"/>
            <a:ext cx="317997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chiamata una volta per frame: trasforma lo stato in un'immagine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548640" y="4709160"/>
            <a:ext cx="11094415" cy="1463040"/>
          </a:xfrm>
          <a:prstGeom prst="roundRect">
            <a:avLst>
              <a:gd name="adj" fmla="val 5000"/>
            </a:avLst>
          </a:prstGeom>
          <a:solidFill>
            <a:srgbClr val="D8ECEE"/>
          </a:solidFill>
          <a:ln w="12700">
            <a:solidFill>
              <a:srgbClr val="D8ECE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800600"/>
            <a:ext cx="1054577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firmware trova le tre funzioni per nome: un prefisso scelto da voi, seguito da _init, _update e _draw. È l'intero contratto tra il vostro gioco e la macchina.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Perché salvare ra? Il frame di stack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15999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10819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memorizza in ra l'indirizzo a cui tornare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48640" y="2305431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206752"/>
            <a:ext cx="610819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funzione chiamata userà ra per le proprie chiamate, sovrascrivendo il vostro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548640" y="3094863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2996184"/>
            <a:ext cx="6108192" cy="1281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Perciò una funzione che ne chiama un'altra salva prima ra</a:t>
            </a:r>
            <a:endParaRPr lang="en-US" sz="2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abbassa sp di 16 per fare spazio</a:t>
            </a:r>
            <a:endParaRPr lang="en-US" sz="2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memorizza ra in 12(sp)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548640" y="4515231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416552"/>
            <a:ext cx="6108192" cy="966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Dopo la chiamata, si disfa tutto in ordine inverso</a:t>
            </a:r>
            <a:endParaRPr lang="en-US" sz="2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ricarica ra, alza sp di 16, poi ret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548640" y="562013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521452"/>
            <a:ext cx="610819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Dimenticare la coppia è il classico primo bug: la funzione ritorna nel posto sbagliato</a:t>
            </a:r>
            <a:endParaRPr lang="en-US" sz="2100" dirty="0"/>
          </a:p>
        </p:txBody>
      </p:sp>
      <p:sp>
        <p:nvSpPr>
          <p:cNvPr id="13" name="Text 11"/>
          <p:cNvSpPr txBox="1"/>
          <p:nvPr/>
        </p:nvSpPr>
        <p:spPr>
          <a:xfrm>
            <a:off x="7589520" y="141732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stack dopo il prologo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7589520" y="2103120"/>
            <a:ext cx="2926080" cy="566928"/>
          </a:xfrm>
          <a:prstGeom prst="rect">
            <a:avLst/>
          </a:prstGeom>
          <a:solidFill>
            <a:srgbClr val="C9D2D8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dati del chiamante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0652760" y="2103120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16(sp)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7589520" y="2670048"/>
            <a:ext cx="2926080" cy="566928"/>
          </a:xfrm>
          <a:prstGeom prst="rect">
            <a:avLst/>
          </a:prstGeom>
          <a:solidFill>
            <a:srgbClr val="C7791B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0652760" y="2670048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12(sp)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589520" y="3236976"/>
            <a:ext cx="2926080" cy="566928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libero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0652760" y="3236976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8(sp)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589520" y="3803904"/>
            <a:ext cx="2926080" cy="566928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libero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0652760" y="3803904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4(sp)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7589520" y="4370832"/>
            <a:ext cx="2926080" cy="566928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libero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10652760" y="4370832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0(sp)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766560" y="4654296"/>
            <a:ext cx="777240" cy="0"/>
          </a:xfrm>
          <a:prstGeom prst="line">
            <a:avLst/>
          </a:prstGeom>
          <a:noFill/>
          <a:ln w="28575">
            <a:solidFill>
              <a:srgbClr val="B23A48"/>
            </a:solidFill>
            <a:prstDash val="solid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6217920" y="4370832"/>
            <a:ext cx="50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B23A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7589520" y="1810512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indirizzi più alti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7040880" y="51206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stack cresce verso il basso: si sottrae da sp per allocare, si somma per rilasciare.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Indirizzo o valore? Il nodo della memoria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Registri (dentro il processore)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7452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t0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874520"/>
            <a:ext cx="3291840" cy="685800"/>
          </a:xfrm>
          <a:prstGeom prst="rect">
            <a:avLst/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indirizzo di counter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01752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t1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3017520"/>
            <a:ext cx="3291840" cy="685800"/>
          </a:xfrm>
          <a:prstGeom prst="rect">
            <a:avLst/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41  poi  42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498080" y="14173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Memoria (sezione .data)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498080" y="1874520"/>
            <a:ext cx="3566160" cy="6858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7498080" y="2560320"/>
            <a:ext cx="3566160" cy="685800"/>
          </a:xfrm>
          <a:prstGeom prst="rect">
            <a:avLst/>
          </a:prstGeom>
          <a:solidFill>
            <a:srgbClr val="F6E7D2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counter:  41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7498080" y="3246120"/>
            <a:ext cx="3566160" cy="6858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4617720" y="2217420"/>
            <a:ext cx="2834640" cy="617220"/>
          </a:xfrm>
          <a:prstGeom prst="line">
            <a:avLst/>
          </a:prstGeom>
          <a:noFill/>
          <a:ln w="28575">
            <a:solidFill>
              <a:srgbClr val="0E7C86"/>
            </a:solidFill>
            <a:prstDash val="solid"/>
            <a:tailEnd type="triangle"/>
          </a:ln>
        </p:spPr>
      </p:sp>
      <p:sp>
        <p:nvSpPr>
          <p:cNvPr id="13" name="Text 11"/>
          <p:cNvSpPr txBox="1"/>
          <p:nvPr/>
        </p:nvSpPr>
        <p:spPr>
          <a:xfrm>
            <a:off x="4846320" y="20116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 punta qui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 flipH="1">
            <a:off x="4617720" y="3017520"/>
            <a:ext cx="2834640" cy="228600"/>
          </a:xfrm>
          <a:prstGeom prst="line">
            <a:avLst/>
          </a:prstGeom>
          <a:noFill/>
          <a:ln w="28575">
            <a:solidFill>
              <a:srgbClr val="C7791B"/>
            </a:solidFill>
            <a:prstDash val="solid"/>
            <a:tailEnd type="triangle"/>
          </a:ln>
        </p:spPr>
      </p:sp>
      <p:sp>
        <p:nvSpPr>
          <p:cNvPr id="15" name="Text 13"/>
          <p:cNvSpPr txBox="1"/>
          <p:nvPr/>
        </p:nvSpPr>
        <p:spPr>
          <a:xfrm>
            <a:off x="4754880" y="32918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lw copia il contenuto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977640"/>
            <a:ext cx="7315200" cy="2194560"/>
          </a:xfrm>
          <a:prstGeom prst="roundRect">
            <a:avLst>
              <a:gd name="adj" fmla="val 3333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4160520"/>
            <a:ext cx="6858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   t0, counter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t0 = WHERE the value lives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lw   t1, 0(t0)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t1 = WHAT is stored there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addi t1, t1, 1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change the copy in the register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sw   t1, 0(t0)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memory still says 41 until this line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8229600" y="3977640"/>
            <a:ext cx="3413455" cy="2194560"/>
          </a:xfrm>
          <a:prstGeom prst="roundRect">
            <a:avLst>
              <a:gd name="adj" fmla="val 3333"/>
            </a:avLst>
          </a:prstGeom>
          <a:solidFill>
            <a:srgbClr val="F3DDE0"/>
          </a:solidFill>
          <a:ln w="12700">
            <a:solidFill>
              <a:srgbClr val="F3DDE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412480" y="4069080"/>
            <a:ext cx="304769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Usare un indirizzo dove serve un valore, o il contrario, è uno degli errori più comuni dei principianti. Commentate ogni registro: INDIRIZZO o VALORE.</a:t>
            </a:r>
            <a:endParaRPr lang="en-US" sz="15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istruzioni che avete appena usato</a:t>
            </a:r>
            <a:endParaRPr lang="en-US" sz="3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1672967"/>
                <a:gridCol w="2817629"/>
                <a:gridCol w="3698138"/>
                <a:gridCol w="29056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Famiglia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Istruzione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 cosa fa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Esempio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Aritmetica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add, sub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combina due registri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add t0, t1, t2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Logica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and, or, xor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operazione bit a bit su due registri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and t0, t1, t2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Immediato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addi, andi, ori, xori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registro e una piccola costante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addi t1, t1, 1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Memoria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lw, sw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carica o memorizza una parola di 32 bit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lw t1, 0(t0)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Controllo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call, ret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 a una funzione e ritorna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call prg32_gfx_rect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Pseudo-istruzioni: scorciatoie che l'assemblatore espande</a:t>
            </a:r>
            <a:endParaRPr lang="en-US" sz="3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773604"/>
                <a:gridCol w="4622673"/>
                <a:gridCol w="369813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Scrivete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L'assemblatore emette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Significato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li t0, 42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addi t0, zero, 42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carica una costante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mv t0, t1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addi t0, t1, 0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copia un registro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not t0, t1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xori t0, t1, -1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complemento bit a bit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la t0, counter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auipc t0, ... + addi t0, t0, ...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carica l'indirizzo di un'etichetta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ret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jalr zero, 0(ra)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salta all'indirizzo in ra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beqz t0, skip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beq t0, zero, skip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salta se t0 vale zero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Un'istruzione è un numero a 32 bit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4A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addi t1, t1, 1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2560320"/>
            <a:ext cx="3806308" cy="731520"/>
          </a:xfrm>
          <a:prstGeom prst="rect">
            <a:avLst/>
          </a:prstGeom>
          <a:solidFill>
            <a:srgbClr val="C7791B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000000000001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3346704"/>
            <a:ext cx="38063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immediato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costante 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950976" y="2322576"/>
            <a:ext cx="19031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31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2817554" y="2322576"/>
            <a:ext cx="186657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4720708" y="2560320"/>
            <a:ext cx="1585962" cy="731520"/>
          </a:xfrm>
          <a:prstGeom prst="rect">
            <a:avLst/>
          </a:prstGeom>
          <a:solidFill>
            <a:srgbClr val="0E7C86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00110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720708" y="3346704"/>
            <a:ext cx="158596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rs1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 è x6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757284" y="2322576"/>
            <a:ext cx="79298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5513689" y="2322576"/>
            <a:ext cx="75640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6306670" y="2560320"/>
            <a:ext cx="1164317" cy="731520"/>
          </a:xfrm>
          <a:prstGeom prst="rect">
            <a:avLst/>
          </a:prstGeom>
          <a:solidFill>
            <a:srgbClr val="6B4FA0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000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6306670" y="3346704"/>
            <a:ext cx="116431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funct3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343246" y="2322576"/>
            <a:ext cx="58215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6888828" y="2322576"/>
            <a:ext cx="5455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7470987" y="2560320"/>
            <a:ext cx="1585962" cy="731520"/>
          </a:xfrm>
          <a:prstGeom prst="rect">
            <a:avLst/>
          </a:prstGeom>
          <a:solidFill>
            <a:srgbClr val="2F7D4F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00110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7470987" y="3346704"/>
            <a:ext cx="158596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 è x6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7507563" y="2322576"/>
            <a:ext cx="79298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8263968" y="2322576"/>
            <a:ext cx="75640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9056949" y="2560320"/>
            <a:ext cx="2220347" cy="731520"/>
          </a:xfrm>
          <a:prstGeom prst="rect">
            <a:avLst/>
          </a:prstGeom>
          <a:solidFill>
            <a:srgbClr val="2E4A62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0010011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9056949" y="3346704"/>
            <a:ext cx="222034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opcode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registro-immediato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9093525" y="2322576"/>
            <a:ext cx="111017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10167122" y="2322576"/>
            <a:ext cx="107359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42062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0x00130313</a:t>
            </a:r>
            <a:endParaRPr lang="en-US" sz="3400" dirty="0"/>
          </a:p>
        </p:txBody>
      </p:sp>
      <p:sp>
        <p:nvSpPr>
          <p:cNvPr id="25" name="Shape 23"/>
          <p:cNvSpPr/>
          <p:nvPr/>
        </p:nvSpPr>
        <p:spPr>
          <a:xfrm>
            <a:off x="548640" y="5074920"/>
            <a:ext cx="11094415" cy="1097280"/>
          </a:xfrm>
          <a:prstGeom prst="roundRect">
            <a:avLst>
              <a:gd name="adj" fmla="val 6667"/>
            </a:avLst>
          </a:prstGeom>
          <a:solidFill>
            <a:srgbClr val="D8ECEE"/>
          </a:solidFill>
          <a:ln w="12700">
            <a:solidFill>
              <a:srgbClr val="D8ECEE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22960" y="5120640"/>
            <a:ext cx="105457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L'assembly è una scrittura leggibile del codice macchina. L'assemblatore traduce ogni riga in una parola di 32 bit; il processore legge i campi con circuiti logici che più avanti nel corso progetteremo noi stessi.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PRG32-QT: un microscopio per i registri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3924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5468112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Esegue la stessa cartuccia sul vostro computer, un'istruzione alla volta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300024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878328"/>
            <a:ext cx="5468112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ferma tra due istruzioni qualsiasi e mostra tutti i registri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548640" y="408940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967480"/>
            <a:ext cx="5468112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Eseguite first_update passo-passo e guardate cambiare t0 e t1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548640" y="517855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5056632"/>
            <a:ext cx="5468112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Usate la scheda quando volete la verità sul tempo, PRG32-QT quando volete la verità su un registro</a:t>
            </a:r>
            <a:endParaRPr lang="en-US" sz="2400" dirty="0"/>
          </a:p>
        </p:txBody>
      </p:sp>
      <p:pic>
        <p:nvPicPr>
          <p:cNvPr id="11" name="Image 0" descr="/Users/raffaelemontella/devel/riscv-prg32/computer-architecture-with-prg32/tools/assets/prg32qt_debug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1882245"/>
            <a:ext cx="4876495" cy="3367829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debugger di PRG32-QT: codice, registri, memoria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Tracciare a mano: tre frame di first_update</a:t>
            </a:r>
            <a:endParaRPr lang="en-US" sz="3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1213452"/>
                <a:gridCol w="2253553"/>
                <a:gridCol w="2426903"/>
                <a:gridCol w="2600254"/>
                <a:gridCol w="260025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Frame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lw: t1 diventa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addi: t1 diventa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sw: counter diventa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Larghezza barra (andi 255)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256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255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256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256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257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256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257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257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760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frame 256 il contatore continua a crescere, ma i suoi otto bit bassi tornano a zero: la barra ricomincia.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Domande che il vostro programma ha già sollevato</a:t>
            </a:r>
            <a:endParaRPr lang="en-US" sz="3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757786"/>
                <a:gridCol w="4652497"/>
                <a:gridCol w="2684133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Avete visto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domanda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Risposta in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0x07e0, 0xffff, 255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Perché i programmatori scrivono i numeri in esadecimale?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Lezioni 04 e 05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una posizione sotto zero mostrata come 0xFFFFFFFF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 fa un registro a contenere un numero negativo?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Lezione 05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una palla che si muove meno di un pixel per frame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 si rappresentano le frazioni senza FPU?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Lezione 06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andi a2, t1, 255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 cosa fa AND a trentadue bit in un colpo solo?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Lezioni 08 e 09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addi t1, t1, 1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Quale circuito somma davvero due numeri?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Lezione 09: gli addizionatori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un pulsante premuto è un 1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 che cosa è fatto, fisicamente, un bit?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Lezione 10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counter sopravvive tra i frame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 fa un circuito a ricordare un bit?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Lezioni 13 e 15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0x00130313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 fa il processore a decodificarla ed eseguirla?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Lezioni 18 e 19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tre funzioni e un rettangolo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Posso farci un gioco intero?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Verm1: 07, 12, 17, 22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636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141732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Dopo la t0, counter e lw t1, 0(t0), che cosa contiene t0?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70432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valore del contatore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33008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70168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854800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L'indirizzo del contatore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70432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Zero, perché la azzera il registro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233008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70168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854800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L'indirizzo di ritorno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009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386334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funzione che chiama prg32_gfx_clear deve salvare un registro prima della chiamata. Quale?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8640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70432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a0, perché porta l'argomento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6233008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70168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sp, perché lo stack si sposta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170432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ra, perché call lo sovrascrive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6233008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70168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854800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t0, perché è temporaneo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944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t1 contiene 300. Che cosa lascia in a2 l'istruzione andi a2, t1, 255?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3464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35356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297180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233008" y="283464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1608" y="335356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193128" y="297180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255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464058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515950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477774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233008" y="464058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61608" y="515950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193128" y="477774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Glossario: inglese e italiano</a:t>
            </a:r>
            <a:endParaRPr lang="en-US" sz="3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684133"/>
                <a:gridCol w="2863075"/>
                <a:gridCol w="2684133"/>
                <a:gridCol w="2863075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Inglese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Italiano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Inglese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Italiano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register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stack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pila (stack)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load / store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caricare / memorizzare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stack pointer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puntatore alla pila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address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indirizzo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return address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indirizzo di ritorno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immediate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immediato (costante)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calling convention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convenzione di chiamata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branch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salto condizionato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machine code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codice macchina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label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etichetta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cartridge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cartuccia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Riepilogo e letture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2374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processore RISC-V è fatto di trentadue registri e di un piccolo insieme di istruzioni che calcolano, spostano e saltano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247586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369439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gioco PRG32 sono tre funzioni; gli argomenti viaggiano in a0-a7; una funzione che ne chiama un'altra salva ra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3427984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321558"/>
            <a:ext cx="10710367" cy="340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variabili vivono in memoria: la per l'indirizzo, lw e sw per il valore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403923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3932809"/>
            <a:ext cx="10710367" cy="340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Un'istruzione è un numero a 32 bit; l'assembly è la sua scrittura leggibile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48640" y="465048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4544060"/>
            <a:ext cx="10710367" cy="1628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Letture</a:t>
            </a:r>
            <a:endParaRPr lang="en-US" sz="2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Playing with RISC-V, capitolo 5: First Contact</a:t>
            </a:r>
            <a:endParaRPr lang="en-US" sz="2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Patterson, Hennessy: Struttura e progetto dei calcolatori, edizione RISC-V, capitolo 2</a:t>
            </a:r>
            <a:endParaRPr lang="en-US" sz="2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Repository di PRG32: docs/learn/tutorial_ascii_game.md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Primo contatto: l'assembly RISC-V su PRG32</dc:title>
  <dc:subject>Lezione 02</dc:subject>
  <dc:creator>Raffaele Montella</dc:creator>
  <cp:lastModifiedBy>Raffaele Montella</cp:lastModifiedBy>
  <cp:revision>1</cp:revision>
  <dcterms:created xsi:type="dcterms:W3CDTF">2026-10-13T10:41:32Z</dcterms:created>
  <dcterms:modified xsi:type="dcterms:W3CDTF">2026-10-13T10:41:32Z</dcterms:modified>
</cp:coreProperties>
</file>