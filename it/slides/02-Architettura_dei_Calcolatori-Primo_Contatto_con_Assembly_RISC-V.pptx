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7ef36d32-c08a-35ca-2842-46f8f72d3097}">
          <p14:sldIdLst>
            <p14:sldId id="256"/>
            <p14:sldId id="257"/>
          </p14:sldIdLst>
        </p14:section>
        <p14:section name="La macchina" id="{86773b7b-6065-a92d-b1cb-532ce97e6a69}">
          <p14:sldIdLst>
            <p14:sldId id="258"/>
            <p14:sldId id="259"/>
            <p14:sldId id="260"/>
            <p14:sldId id="261"/>
          </p14:sldIdLst>
        </p14:section>
        <p14:section name="La prima cartuccia" id="{24d1b9a8-3d38-1425-1bc7-824e46db0420}">
          <p14:sldIdLst>
            <p14:sldId id="262"/>
            <p14:sldId id="263"/>
            <p14:sldId id="264"/>
            <p14:sldId id="265"/>
            <p14:sldId id="266"/>
            <p14:sldId id="267"/>
            <p14:sldId id="268"/>
            <p14:sldId id="269"/>
          </p14:sldIdLst>
        </p14:section>
        <p14:section name="Leggere ciò che avete scritto" id="{56f2657b-8869-b428-e7a7-c6a1e3e1a533}">
          <p14:sldIdLst>
            <p14:sldId id="270"/>
            <p14:sldId id="271"/>
            <p14:sldId id="272"/>
            <p14:sldId id="273"/>
            <p14:sldId id="274"/>
            <p14:sldId id="275"/>
          </p14:sldIdLst>
        </p14:section>
        <p14:section name="Che cosa viene dopo" id="{eca3966d-736a-0289-5480-aabb8c8d1c8a}">
          <p14:sldIdLst>
            <p14:sldId id="276"/>
            <p14:sldId id="277"/>
            <p14:sldId id="278"/>
            <p14:sldId id="279"/>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È la prima lezione in cui scrivete un programma, e viene di proposito prima di ogni teoria. In due ore costruite quattro piccole cartucce, ognuna un programma completo che gira. Oggi non capirete ogni dettaglio, e nessuno se lo aspetta: lo scopo è vedere al lavoro i registri, la memoria e una chiamata di funzione, così che le lezioni successive abbiano qualcosa di concreto da spiegare. La citazione dà il tono: meno parole, più codice.
Per il docente: Lezione nuova del 2026/27. È il turno «gioca» della spirale per tutta la prima metà del corso: ogni lezione successiva rimanda a qualcosa scritto qui. I quattro passi sono quelli verificati del laboratorio 05-asm-first-contact del libro di PRG32; eseguirli dal vivo (labs/run.sh 05-asm-first-contact/stepN_....S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cose che saprete fare alla fine. Le prime quattro sono pratiche: compilare ed eseguire una cartuccia, nominare i registri, chiamare una funzione con i suoi argomenti, conservare un valore in memoria tra un frame e l'altro. La quinta è un cambio di punto di vista: un'istruzione è un numero a 32 bit. La sesta è la più importante per il corso: uscirete con un elenco di domande, e ognuna è l'argomento di una lezione successiva.
Per il docente: Dire esplicitamente agli studenti che oggi non ci si aspetta che capiscano tutto. Oggi si guarda; le prossime lezioni servono a spiegare.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di scrivere, uno sguardo alla macchina. Un processore RISC-V è descritto da due sole cose: un insieme di registri e un repertorio di istruzioni. Le prossime tre slide presentano entrambi, e il contratto tra il vostro programma e PRG32.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L'intera macchina in quattro riquadri. Ci sono 32 registri, ciascuno con un valore a 32 bit, e il processore sa calcolare solo su ciò che contengono. Ci sono tre tipi di istruzione. Calcolare: aritmetica e logica tra registri, come add o addi. Spostare: trasferimenti tra un registro e la memoria, lw per caricare una parola e sw per memorizzarla; nient'altro tocca la memoria. Saltare: cambi dell'istruzione che verrà eseguita dopo. Tutto ciò che fa un calcolatore è una lunga sequenza di questi tre tipi.
Per il docente: Questa è quasi tutta la macchina. La ricchezza del calcolo non viene da un insieme di istruzioni ampio, ma dal combinarne uno piccolo in lunghe sequenze.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registri hanno nomi che dicono come si usano. Da a0 ad a7 portano gli argomenti di una chiamata, e a0 riporta indietro il risultato. Da t0 a t6 sono temporanei, liberi da usare e non conservati da una chiamata. Da s0 a s11 sono conservati. ra contiene l'indirizzo di ritorno, sp la cima dello stack, e zero si legge sempre 0. Leggete con cura la didascalia: questi ruoli non sono incisi nell'hardware. Sono un accordo, la convenzione di chiamata, ed è ciò che permette al vostro assembly e al codice C del framework di chiamarsi a vicenda.
Per il docente: I ruoli non sono fissati dall'hardware ma da un accordo: la convenzione di chiamata, o ABI. Rispettarla è ciò che permette al vostro assembly e al codice C del framework di chiamarsi a vicenda.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contratto con PRG32 è fatto di tre funzioni che scrivete voi. init viene chiamata una volta, all'avvio della cartuccia, per preparare lo stato. update viene chiamata una volta per frame, per leggere l'ingresso e cambiare lo stato. draw viene chiamata una volta per frame, per trasformare lo stato in un'immagine. Il firmware le trova per nome: un prefisso scelto da voi, seguito da _init, _update e _draw. Tenete presente dal primo giorno la divisione dei compiti: update decide, draw mostra.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Ora la pratica: quattro passi, ognuno un programma completo. Scriveteli voi; non fate copia e incolla. Battere il codice costringe a leggere ogni carattere, e gli errori che si fanno battendo sono le lezioni meno costose del corso.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più piccolo programma che gira. .option norelax è una riga con cui comincia ogni esempio PRG32: rende prevedibile la disposizione della cartuccia. .section .text dice che segue del codice. Ogni .global rende un'etichetta visibile fuori dal file, così il firmware può trovare la funzione per nome. Poi tre funzioni, ciascuna fatta della sola istruzione ret, che ritorna al chiamante. Il risultato è uno schermo nero, ed è un successo: il framework ha trovato le vostre tre funzioni, le ha chiamate, e ha riavuto il controllo.
Per il docente: Sorgente: labs/05-asm-first-contact/step1_skeleton.S. Risultato atteso: uno schermo nero. Il risultato è che il framework ha trovato le tre funzioni, le ha chiamate, ed è sopravvissuto.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comandi che batterete centinaia di volte. cartridge build trasforma il file assembly in una cartuccia: --entry-prefix first è il prefisso delle vostre tre funzioni, --out il nome del risultato. Poi la si esegue: in QEMU con qemu upload e qemu run, oppure su una scheda o su PRG32-QT con upload-and-run e l'indirizzo dell'host. Per PRG32-QT sul vostro portatile l'indirizzo è http://localhost:8080. Il file della cartuccia è lo stesso per tutti e tre.
Per il docente: Sorgente: labs/run.sh. Con PRG32_HOME impostata, l'intera sequenza è: labs/run.sh 05-asm-first-contact/step1_skeleton.S first . Il file della cartuccia è identico byte per byte per QEMU, per la scheda e per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secondo passo scrive sullo schermo. Leggete first_draw in tre parti. Le prime due righe fanno spazio sullo stack e salvano ra. Poi due chiamate: prg32_gfx_clear con il colore in a0, e prg32_gfx_text8 con cinque argomenti da a0 ad a4: x, y, l'indirizzo della stringa, colore del testo, colore dello sfondo. Notate i due modi di caricare: li carica un numero, la carica l'indirizzo di un'etichetta. Le ultime tre righe ripristinano ra, rilasciano lo stack e ritornano. La stringa è un dato, nella sezione .rodata.
Per il docente: Sorgente: labs/05-asm-first-contact/step2_hello.S. Le righe .equ (BLACK 0x0000, WHITE 0xffff) sono omesse sulla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Perché salvare ra? L'istruzione call scrive in ra l'indirizzo a cui tornare. Ma la funzione che chiamate può fare a sua volta delle chiamate, e ognuna sovrascrive ra. Perciò una funzione che ne chiama un'altra deve prima salvare in memoria il proprio ra: abbassa sp di 16 per fare spazio, il frame di stack, e memorizza ra in 12(sp). Dopo la chiamata fa il contrario. Il disegno mostra il frame: lo stack cresce verso gli indirizzi bassi. Dimenticare questa coppia di operazioni è il classico primo bug: la funzione ritorna nel posto sbagliato.
Per il docente: La convenzione richiede che sp resti allineato a 16 byte tra una chiamata e l'altra: per questo il frame è di 16 byte anche se ne servono solo 4. Lo stack è trattato formalmente nelle lezioni sulla memoria e sui sottoprogrammi.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terzo passo conserva un valore da un frame al successivo. I registri non sopravvivono tra una chiamata di update e l'altra, quindi il valore deve vivere in memoria. counter è un'etichetta: dà un nome a una locazione della sezione .data che contiene una parola. Le quattro istruzioni sono lo schema di ogni variabile: la mette in t0 l'indirizzo della locazione; lw carica in t1 il valore; addi lo modifica; sw lo riscrive. Load, modify, store. Sullo schermo non cambia ancora nulla: il contatore avanza, ma nessuno lo disegna.
Per il docente: Sorgente: labs/05-asm-first-contact/step3_counter.S. Non cambia ancora nulla di visibile: il contatore avanza ma nessuno lo disegna. Chiedere all'aula come si potrebbe dimostrare che avanza (risposta: il debugger di PRG32-QT, oppure il passo successivo).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separa due idee che i principianti confondono: l'indirizzo e il valore. Dopo la, t0 contiene dove vive il contatore. Dopo lw, t1 contiene che cosa vi è memorizzato, 41 nel disegno. addi porta a 42 la copia nel registro, e la memoria dice ancora 41 finché sw non la riscrive. Seguite le due frecce. Un'abitudine pratica dal riquadro a destra: nei commenti scrivete per ogni registro se contiene un INDIRIZZO o un VALORE. Previene l'errore più comune del primo mese.
Per il docente: Un'etichetta dà un nome a una locazione. la dà la locazione, lw dà il contenuto. È così che funziona, in ultima analisi, ogni variabile di ogni programma; ci si torna formalmente con i modi di indirizzamento.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quarto passo rende visibile il contatore come una barra verde. Il valore viene caricato, e andi a2, t1, 255 ne conserva solo gli otto bit bassi, così la larghezza va da 0 a 255 e poi ricomincia. Gli altri registri sono gli argomenti di prg32_gfx_rect: x, y, larghezza, altezza e colore. Otto righe, e vi si nascondono tre lezioni future: 255 scritto come 0xFF, andi usato come maschera, e 0x07e0 che significa verde. Ricordate dove li avete visti per la prima volta.
Per il docente: Sorgente: labs/05-asm-first-contact/step4_bar.S (le righe aggiunte a first_draw). In queste otto righe si nascondono tre lezioni future: 255 = 0xFF (notazione posizionale), andi come maschera di bit (algebra di Boole), 0x07e0 come colore (codifica dell'informazione).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Avete scritto un programma; ora leggetelo come fa il processore. Le prossime slide classificano le istruzioni usate, mostrano quali sono scorciatoie, aprono un'istruzione per guardarne i bit, e tracciano il programma a 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famiglie coprono tutto ciò che avete battuto: aritmetica (add, sub), logica (and, or, xor), le forme con immediato che prendono una piccola costante (addi, andi), memoria (lw, sw) e controllo (call, ret). In ogni istruzione il risultato va nel primo registro nominato: add t0, t1, t2 mette t1 + t2 in t0. L'insieme di base ha circa quaranta istruzioni, e ne avete già incontrato un quarto.
Per il docente: Il risultato va nel primo registro. L'insieme di base delle istruzioni intere di RISC-V (RV32I) ha circa quaranta istruzioni; ne avete già incontrato un quarto.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Alcune delle istruzioni che avete scritto nel processore non esistono: sono pseudo-istruzioni, scorciatoie che l'assemblatore espande. li t0, 42 diventa addi t0, zero, 42; mv è una addi con 0; ret è un salto all'indirizzo in ra; beqz è un confronto con il registro zero. Notate quante volte zero compare nella colonna centrale: un registro che vale sempre 0 permette a un insieme di istruzioni piccolo di fare il lavoro di uno più grande.
Per il docente: Una pseudo-istruzione non è un'operazione hardware a sé. È il registro zero a renderne possibili molte: un insieme di istruzioni piccolo, riusato con cura.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Un'istruzione è un numero. addi t1, t1, 1 è la parola di 32 bit 0x00130313, e la striscia colorata ne mostra i campi: dodici bit per la costante 1, cinque per il registro sorgente (t1 è il registro numero 6), tre che dicono «somma», cinque per la destinazione, sette per il tipo di istruzione. Il formato non va imparato adesso. Tenete l'idea: l'assembly è una scrittura leggibile del codice macchina, e il processore legge questi campi con circuiti che imparerete a progettare.
Per il docente: Verifica: 0000 0000 0001 | 00110 | 000 | 00110 | 0010011 = 0000 0000 0001 0011 0000 0011 0001 0011 = 0x00130313. Non spiegare ora i formati; il punto è solo che un'istruzione è un dato. La Lezione 04 (informazione digitale) e le lezioni sul processore tornano su questa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esegue la stessa cartuccia sul portatile e può fermarsi tra due istruzioni qualsiasi, mostrando tutti i registri. Usatelo ora sul terzo passo: andate su update, mettete in pausa, ed eseguite una alla volta le quattro istruzioni di first_update, osservando t0 e t1. Prima di ogni pressione dite ad alta voce che cosa cambierà. L'ultima riga è una regola da ricordare: la scheda dice la verità sul tempo, PRG32-QT dice la verità su un registro.
Per il docente: Dimostrare dal vivo: caricare il passo 3, fermarsi su first_update, eseguire quattro passi. Chiedere agli studenti di prevedere ogni registro prima di premere il tasto.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traccia a mano: per ogni frame si scrive che cosa ogni istruzione lascia in t1 e in memoria. Nei primi frame non accade nulla di sorprendente. Guardate la riga evidenziata: al frame 256 il contatore diventa 256, eppure la larghezza della barra è 0, perché andi con 255 conserva solo gli otto bit bassi, e 256 in binario è un uno seguito da otto zeri. Tracciare a mano è lento e poco appariscente, ed è l'abilità di debug più utile che imparerete in questo corso.
Per il docente: La traccia a mano è l'abilità di debug più preziosa del corso. 256 = 1 0000 0000 in binario: gli otto bit bassi sono tutti zero, quindi la barra ricomincia.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finisce guardando avanti. Ciò che avete battuto ha sollevato delle domande, e la prossima slide le elenca insieme alla lezione che risponde a ciascuna.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riga è una cosa vista oggi, la domanda che solleva e dove si trova la risposta. Perché l'esadecimale? Lezioni 04 e 05. Come fa un registro a contenere un numero negativo? Lezione 05. Che cosa fa AND a trentadue bit in un colpo solo? Lezioni 08 e 09. Come fa un circuito a ricordare un bit? Lezioni 13 e 15. Come viene decodificato ed eseguito 0x00130313? Lezioni 18 e 19. L'ultima riga è il progetto: da tre funzioni e un rettangolo, un gioco intero. Conservate questa tabella: è la mappa del corso vista dal vostro programma.
Per il docente: È la mappa in avanti del corso. Conservarne una copia: ogni presentazione successiva si apre indicando una di queste righe. L'ultima riga è il progetto: Verm1 parte nella Lezione 07 esattamente dallo scheletro di oggi.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Applicate la distinzione tra indirizzo e valore. la carica in t0 l'indirizzo dell'etichetta; lw usa poi t0 per trovare la locazione e ne copia il contenuto in t1, senza modificare t0. Quindi t0 contiene ancora l'indirizzo. Se avete scelto «il valore», tornate alla slide con le due frecce.
Per il docente: Risposta: B. la carica l'indirizzo dell'etichetta; lw legge poi in t1 il valore memorizzato a quell'indirizzo.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chiave è ciò che fa call: scrive in ra l'indirizzo di ritorno. Se poi la vostra funzione deve tornare al proprio chiamante, le serve il vecchio ra, che la chiamata ha appena sovrascritto. a0 è fatto per essere sovrascritto, sp viene ripristinato dalla funzione chiamata, e t0 è un temporaneo che nessuno ha promesso di conservare.
Per il docente: Risposta: C. call scrive in ra l'indirizzo di ritorno. Le chiamate della funzione chiamata lo sovrascriverebbero: una funzione non foglia salva ra sullo stack e lo ripristina prima di 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Fate il calcolo in binario. 300 è 256 + 44, cioè un uno in posizione 8 seguito dagli otto bit di 44. La maschera 255 è fatta di otto uni: AND conserva gli otto bit bassi e azzera il resto. Rimane 44. Sottraendo 255 da 300 si ottiene 45, una risposta sbagliata che tenta: AND non è una sottrazione.
Per il docente: Risposta: D. 300 = 256 + 44 = 1 0010 1100 in binario. AND con 1111 1111 conserva gli otto bit bassi: 0010 1100 =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esercizi sulla vostra cartuccia; ognuno è il seme di una lezione successiva. Cambiate il testo e il suo colore. Fate crescere la barra a velocità doppia o quadrupla cambiando una sola istruzione. Fatela accorciare, e osservate che cosa accade quando il contatore supera lo zero: la barra salta alla larghezza massima, e la Lezione 05 spiegherà perché. Eseguite first_update passo-passo e annotate i registri. Disegnate una seconda barra larga quanto il contatore modulo 64. Prima prevedete, poi eseguite.
Per il docente: Suggerimenti: addi t1, t1, 2 oppure slli prima di andi per l'esercizio 2; addi t1, t1, -1 per l'esercizio 3; andi a2, t1, 63 per l'esercizio 5. Ogni esercizio è il seme di una lezione successiva.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di questa lezione, con l'italiano usato in aula. Load e store si intendono sempre dal punto di vista del processore: load porta un valore dalla memoria a un registro, store lo rimanda indietro. Un immediato è una costante scritta dentro l'istruzione stessa. Un branch è un salto che avviene solo se vale una condizione. La convenzione di chiamata è l'accordo sui ruoli dei registri.
Per il docente: Il corso si tiene in italiano; slide, note e libro esistono in inglese e in italiano, e la documentazione tecnica di PRG32 è in inglese. Questa tabella si ripete, argomento per argomento, in ogni presentazione.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frasi contengono la lezione. Un processore RISC-V è fatto di trentadue registri e di un piccolo insieme di istruzioni che calcolano, spostano e saltano. Un gioco PRG32 sono tre funzioni, con gli argomenti da a0 ad a7, e una funzione che ne chiama un'altra salva ra. Le variabili vivono in memoria: la per l'indirizzo, lw e sw per il valore. Un'istruzione è un numero a 32 bit, e l'assembly è la sua scrittura leggibile. La prossima lezione fa un passo indietro e racconta la storia che ha portato a questa macchina.
Per il docente: Prossima lezione: la storia che ha portato a questa macchina.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02: Primo contatto con l'assembly RISC-V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Primo contatto: l'assembly RISC-V su PRG32</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100" dirty="0">
                <a:solidFill>
                  <a:srgbClr val="CFE3EA"/>
                </a:solidFill>
                <a:latin typeface="Calibri" pitchFamily="34" charset="0"/>
                <a:ea typeface="Calibri" pitchFamily="34" charset="-122"/>
                <a:cs typeface="Calibri" pitchFamily="34" charset="-120"/>
              </a:rPr>
              <a:t>Registri, memoria e chiamata: un programma che gira prima di ogni teoria</a:t>
            </a:r>
            <a:endParaRPr lang="en-US" sz="21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“Le chiacchiere stanno a zero. Fammi vedere il codice.”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Linus Torvalds, mailing list del kernel Linux, 2000</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1_step4_bar.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Compilare una cartuccia da un file assembly ed eseguirla su PRG32</a:t>
            </a:r>
            <a:endParaRPr lang="en-US" sz="2200" dirty="0"/>
          </a:p>
        </p:txBody>
      </p:sp>
      <p:sp>
        <p:nvSpPr>
          <p:cNvPr id="5" name="Text 3"/>
          <p:cNvSpPr txBox="1"/>
          <p:nvPr/>
        </p:nvSpPr>
        <p:spPr>
          <a:xfrm>
            <a:off x="548640" y="220167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8338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che cos'è un registro, e nominare quelli che userete ogni giorno</a:t>
            </a:r>
            <a:endParaRPr lang="en-US" sz="2200" dirty="0"/>
          </a:p>
        </p:txBody>
      </p:sp>
      <p:sp>
        <p:nvSpPr>
          <p:cNvPr id="7" name="Text 5"/>
          <p:cNvSpPr txBox="1"/>
          <p:nvPr/>
        </p:nvSpPr>
        <p:spPr>
          <a:xfrm>
            <a:off x="548640" y="29677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494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Chiamare una funzione del framework, passando gli argomenti nei registri</a:t>
            </a:r>
            <a:endParaRPr lang="en-US" sz="2200" dirty="0"/>
          </a:p>
        </p:txBody>
      </p:sp>
      <p:sp>
        <p:nvSpPr>
          <p:cNvPr id="9" name="Text 7"/>
          <p:cNvSpPr txBox="1"/>
          <p:nvPr/>
        </p:nvSpPr>
        <p:spPr>
          <a:xfrm>
            <a:off x="548640" y="37338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155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Conservare un valore in memoria da un frame al successivo: load, modify, store</a:t>
            </a:r>
            <a:endParaRPr lang="en-US" sz="2200" dirty="0"/>
          </a:p>
        </p:txBody>
      </p:sp>
      <p:sp>
        <p:nvSpPr>
          <p:cNvPr id="11" name="Text 9"/>
          <p:cNvSpPr txBox="1"/>
          <p:nvPr/>
        </p:nvSpPr>
        <p:spPr>
          <a:xfrm>
            <a:off x="548640" y="47426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2440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Leggere un'istruzione come il numero a 32 bit che è davvero</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Elencare le domande che questo programma solleva: il resto del corso risponde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01</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La macchina</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Trentadue registri e un piccolo repertorio di istruzioni.</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macchina che state programmando</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32 registri</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Ogni registro contiene un valore a 32 bit. Il processore sa calcolare solo su valori che stanno nei registri.</a:t>
            </a:r>
            <a:endParaRPr lang="en-US" sz="19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Calcolare</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Un'operazione aritmetica o logica tra registri: add, sub, and, or, xor, e le forme con immediato come addi.</a:t>
            </a:r>
            <a:endParaRPr lang="en-US" sz="19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Spostare</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Un trasferimento tra un registro e la memoria: lw carica una parola, sw la memorizza. Nient'altro tocca la memoria.</a:t>
            </a:r>
            <a:endParaRPr lang="en-US" sz="19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Saltare</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Un cambio dell'istruzione che verrà eseguita dopo: salti condizionati come beqz, chiamate e ritorni.</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registri che userete davvero</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31537"/>
                <a:gridCol w="1968364"/>
                <a:gridCol w="5010381"/>
                <a:gridCol w="2684133"/>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Registro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Nome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Ruolo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Conservato da una chiamata?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a0 - a7</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argomenti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valori passati a una chiamata; a0 porta anche il valore di ritorno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t0 - t6</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temporanei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valori di appoggio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s0 - s11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salvati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valori che una chiamata promette di conservare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sì</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ra</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indirizzo di ritorno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dove salta ret al ritorno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 salvatelo voi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sp</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puntatore allo stack</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cima dello stack, sempre allineata a 16 byte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sì</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zero</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zero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si legge sempre 0; le scritture sono ignorate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I ruoli vengono da un accordo, la convenzione di chiamata (ABI), non dall'hardware.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contratto: tre funzioni che scrivete voi</a:t>
            </a:r>
            <a:endParaRPr lang="en-US" sz="3200" dirty="0"/>
          </a:p>
        </p:txBody>
      </p:sp>
      <p:sp>
        <p:nvSpPr>
          <p:cNvPr id="3" name="Shape 1"/>
          <p:cNvSpPr/>
          <p:nvPr/>
        </p:nvSpPr>
        <p:spPr>
          <a:xfrm>
            <a:off x="548640" y="1874520"/>
            <a:ext cx="3454298" cy="2468880"/>
          </a:xfrm>
          <a:prstGeom prst="roundRect">
            <a:avLst>
              <a:gd name="adj" fmla="val 2963"/>
            </a:avLst>
          </a:prstGeom>
          <a:solidFill>
            <a:srgbClr val="EEF2F4"/>
          </a:solidFill>
          <a:ln w="12700">
            <a:solidFill>
              <a:srgbClr val="EEF2F4"/>
            </a:solidFill>
            <a:prstDash val="solid"/>
          </a:ln>
        </p:spPr>
      </p:sp>
      <p:sp>
        <p:nvSpPr>
          <p:cNvPr id="4" name="Text 2"/>
          <p:cNvSpPr txBox="1"/>
          <p:nvPr/>
        </p:nvSpPr>
        <p:spPr>
          <a:xfrm>
            <a:off x="685800" y="2057400"/>
            <a:ext cx="3179978"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init</a:t>
            </a:r>
            <a:endParaRPr lang="en-US" sz="1900" dirty="0"/>
          </a:p>
        </p:txBody>
      </p:sp>
      <p:sp>
        <p:nvSpPr>
          <p:cNvPr id="5" name="Text 3"/>
          <p:cNvSpPr txBox="1"/>
          <p:nvPr/>
        </p:nvSpPr>
        <p:spPr>
          <a:xfrm>
            <a:off x="685800" y="2880360"/>
            <a:ext cx="3179978"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chiamata una volta, all'avvio della cartuccia: prepara lo stato</a:t>
            </a:r>
            <a:endParaRPr lang="en-US" sz="1700" dirty="0"/>
          </a:p>
        </p:txBody>
      </p:sp>
      <p:sp>
        <p:nvSpPr>
          <p:cNvPr id="6" name="Shape 4"/>
          <p:cNvSpPr/>
          <p:nvPr/>
        </p:nvSpPr>
        <p:spPr>
          <a:xfrm>
            <a:off x="4048658"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4368698" y="1874520"/>
            <a:ext cx="3454298" cy="2468880"/>
          </a:xfrm>
          <a:prstGeom prst="roundRect">
            <a:avLst>
              <a:gd name="adj" fmla="val 2963"/>
            </a:avLst>
          </a:prstGeom>
          <a:solidFill>
            <a:srgbClr val="EEF2F4"/>
          </a:solidFill>
          <a:ln w="12700">
            <a:solidFill>
              <a:srgbClr val="EEF2F4"/>
            </a:solidFill>
            <a:prstDash val="solid"/>
          </a:ln>
        </p:spPr>
      </p:sp>
      <p:sp>
        <p:nvSpPr>
          <p:cNvPr id="8" name="Text 6"/>
          <p:cNvSpPr txBox="1"/>
          <p:nvPr/>
        </p:nvSpPr>
        <p:spPr>
          <a:xfrm>
            <a:off x="4505858" y="2057400"/>
            <a:ext cx="3179978"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update</a:t>
            </a:r>
            <a:endParaRPr lang="en-US" sz="1900" dirty="0"/>
          </a:p>
        </p:txBody>
      </p:sp>
      <p:sp>
        <p:nvSpPr>
          <p:cNvPr id="9" name="Text 7"/>
          <p:cNvSpPr txBox="1"/>
          <p:nvPr/>
        </p:nvSpPr>
        <p:spPr>
          <a:xfrm>
            <a:off x="4505858" y="2880360"/>
            <a:ext cx="3179978"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chiamata una volta per frame: legge l'ingresso, cambia lo stato</a:t>
            </a:r>
            <a:endParaRPr lang="en-US" sz="1700" dirty="0"/>
          </a:p>
        </p:txBody>
      </p:sp>
      <p:sp>
        <p:nvSpPr>
          <p:cNvPr id="10" name="Shape 8"/>
          <p:cNvSpPr/>
          <p:nvPr/>
        </p:nvSpPr>
        <p:spPr>
          <a:xfrm>
            <a:off x="7868717"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8188757" y="1874520"/>
            <a:ext cx="3454298" cy="2468880"/>
          </a:xfrm>
          <a:prstGeom prst="roundRect">
            <a:avLst>
              <a:gd name="adj" fmla="val 2963"/>
            </a:avLst>
          </a:prstGeom>
          <a:solidFill>
            <a:srgbClr val="EEF2F4"/>
          </a:solidFill>
          <a:ln w="12700">
            <a:solidFill>
              <a:srgbClr val="EEF2F4"/>
            </a:solidFill>
            <a:prstDash val="solid"/>
          </a:ln>
        </p:spPr>
      </p:sp>
      <p:sp>
        <p:nvSpPr>
          <p:cNvPr id="12" name="Text 10"/>
          <p:cNvSpPr txBox="1"/>
          <p:nvPr/>
        </p:nvSpPr>
        <p:spPr>
          <a:xfrm>
            <a:off x="8325917" y="2057400"/>
            <a:ext cx="3179978"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draw</a:t>
            </a:r>
            <a:endParaRPr lang="en-US" sz="1900" dirty="0"/>
          </a:p>
        </p:txBody>
      </p:sp>
      <p:sp>
        <p:nvSpPr>
          <p:cNvPr id="13" name="Text 11"/>
          <p:cNvSpPr txBox="1"/>
          <p:nvPr/>
        </p:nvSpPr>
        <p:spPr>
          <a:xfrm>
            <a:off x="8325917" y="2880360"/>
            <a:ext cx="3179978"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chiamata una volta per frame: trasforma lo stato in un'immagine</a:t>
            </a:r>
            <a:endParaRPr lang="en-US" sz="1700" dirty="0"/>
          </a:p>
        </p:txBody>
      </p:sp>
      <p:sp>
        <p:nvSpPr>
          <p:cNvPr id="14" name="Shape 12"/>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15" name="Text 13"/>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Il firmware trova le tre funzioni per nome: un prefisso scelto da voi, seguito da _init, _update e _draw. È l'intero contratto tra il vostro gioco e la macchina.</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02</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La prima cartuccia</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Quattro piccoli passi, ognuno un programma completo che gira.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Passo 1: il più piccolo programma che gira</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Assembly Lab 1: the smallest program that runs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norelax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.text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first_init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first_update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first_draw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first_init: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first_update: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first_draw: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.option norelax rende prevedibile la disposizione della cartuccia: ogni esempio PRG32 comincia così</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.section .text dice che ciò che segue è codice eseguibile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.global rende un'etichetta visibile al firmware, che trova le funzioni per nome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ret ritorna al chiamante: tre funzioni che non fanno nulla, correttamente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Compilare, eseguire</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a portable cartridge from one assembly file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step1_skeleton.S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first --name step1 --out build/step1.prg32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2a. run it in QEMU on your laptop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qemu upload build/step1.prg32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qemu run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2b. or send it to a board, or to PRG32-QT, over the network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build/step1.prg32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http://192.168.4.1 --slot cart0</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Passo 2: dire ciao</a:t>
            </a:r>
            <a:endParaRPr lang="en-US" sz="3200" dirty="0"/>
          </a:p>
        </p:txBody>
      </p:sp>
      <p:sp>
        <p:nvSpPr>
          <p:cNvPr id="3" name="Shape 1"/>
          <p:cNvSpPr/>
          <p:nvPr/>
        </p:nvSpPr>
        <p:spPr>
          <a:xfrm>
            <a:off x="548640" y="1417320"/>
            <a:ext cx="667512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21792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first_draw:</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      </a:t>
            </a:r>
            <a:pPr indent="0" marL="0">
              <a:buNone/>
            </a:pPr>
            <a:r>
              <a:rPr lang="en-US" sz="1350" dirty="0">
                <a:solidFill>
                  <a:srgbClr val="8FB3A0"/>
                </a:solidFill>
                <a:latin typeface="Courier New" pitchFamily="34" charset="0"/>
                <a:ea typeface="Courier New" pitchFamily="34" charset="-122"/>
                <a:cs typeface="Courier New" pitchFamily="34" charset="-120"/>
              </a:rPr>
              <a:t># prologue: a 16-byte frame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       </a:t>
            </a:r>
            <a:pPr indent="0" marL="0">
              <a:buNone/>
            </a:pPr>
            <a:r>
              <a:rPr lang="en-US" sz="1350" dirty="0">
                <a:solidFill>
                  <a:srgbClr val="8FB3A0"/>
                </a:solidFill>
                <a:latin typeface="Courier New" pitchFamily="34" charset="0"/>
                <a:ea typeface="Courier New" pitchFamily="34" charset="-122"/>
                <a:cs typeface="Courier New" pitchFamily="34" charset="-120"/>
              </a:rPr>
              <a:t># save the return address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BLACK</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prg32_gfx_clear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32           </a:t>
            </a:r>
            <a:pPr indent="0" marL="0">
              <a:buNone/>
            </a:pPr>
            <a:r>
              <a:rPr lang="en-US" sz="1350" dirty="0">
                <a:solidFill>
                  <a:srgbClr val="8FB3A0"/>
                </a:solidFill>
                <a:latin typeface="Courier New" pitchFamily="34" charset="0"/>
                <a:ea typeface="Courier New" pitchFamily="34" charset="-122"/>
                <a:cs typeface="Courier New" pitchFamily="34" charset="-120"/>
              </a:rPr>
              <a:t># 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40           </a:t>
            </a:r>
            <a:pPr indent="0" marL="0">
              <a:buNone/>
            </a:pPr>
            <a:r>
              <a:rPr lang="en-US" sz="1350" dirty="0">
                <a:solidFill>
                  <a:srgbClr val="8FB3A0"/>
                </a:solidFill>
                <a:latin typeface="Courier New" pitchFamily="34" charset="0"/>
                <a:ea typeface="Courier New" pitchFamily="34" charset="-122"/>
                <a:cs typeface="Courier New" pitchFamily="34" charset="-120"/>
              </a:rPr>
              <a:t># 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a2, title        </a:t>
            </a:r>
            <a:pPr indent="0" marL="0">
              <a:buNone/>
            </a:pPr>
            <a:r>
              <a:rPr lang="en-US" sz="1350" dirty="0">
                <a:solidFill>
                  <a:srgbClr val="8FB3A0"/>
                </a:solidFill>
                <a:latin typeface="Courier New" pitchFamily="34" charset="0"/>
                <a:ea typeface="Courier New" pitchFamily="34" charset="-122"/>
                <a:cs typeface="Courier New" pitchFamily="34" charset="-120"/>
              </a:rPr>
              <a:t># address of the string</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a3, WHITE        </a:t>
            </a:r>
            <a:pPr indent="0" marL="0">
              <a:buNone/>
            </a:pPr>
            <a:r>
              <a:rPr lang="en-US" sz="1350" dirty="0">
                <a:solidFill>
                  <a:srgbClr val="8FB3A0"/>
                </a:solidFill>
                <a:latin typeface="Courier New" pitchFamily="34" charset="0"/>
                <a:ea typeface="Courier New" pitchFamily="34" charset="-122"/>
                <a:cs typeface="Courier New" pitchFamily="34" charset="-120"/>
              </a:rPr>
              <a:t># foreground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BLACK        </a:t>
            </a:r>
            <a:pPr indent="0" marL="0">
              <a:buNone/>
            </a:pPr>
            <a:r>
              <a:rPr lang="en-US" sz="1350" dirty="0">
                <a:solidFill>
                  <a:srgbClr val="8FB3A0"/>
                </a:solidFill>
                <a:latin typeface="Courier New" pitchFamily="34" charset="0"/>
                <a:ea typeface="Courier New" pitchFamily="34" charset="-122"/>
                <a:cs typeface="Courier New" pitchFamily="34" charset="-120"/>
              </a:rPr>
              <a:t># background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prg32_gfx_text8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       </a:t>
            </a:r>
            <a:pPr indent="0" marL="0">
              <a:buNone/>
            </a:pPr>
            <a:r>
              <a:rPr lang="en-US" sz="1350" dirty="0">
                <a:solidFill>
                  <a:srgbClr val="8FB3A0"/>
                </a:solidFill>
                <a:latin typeface="Courier New" pitchFamily="34" charset="0"/>
                <a:ea typeface="Courier New" pitchFamily="34" charset="-122"/>
                <a:cs typeface="Courier New" pitchFamily="34" charset="-120"/>
              </a:rPr>
              <a:t># epilogue: restore ra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       </a:t>
            </a:r>
            <a:pPr indent="0" marL="0">
              <a:buNone/>
            </a:pPr>
            <a:r>
              <a:rPr lang="en-US" sz="1350" dirty="0">
                <a:solidFill>
                  <a:srgbClr val="8FB3A0"/>
                </a:solidFill>
                <a:latin typeface="Courier New" pitchFamily="34" charset="0"/>
                <a:ea typeface="Courier New" pitchFamily="34" charset="-122"/>
                <a:cs typeface="Courier New" pitchFamily="34" charset="-120"/>
              </a:rPr>
              <a:t># release the frame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.rodata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title: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.asciz "HELLO PRG32"</a:t>
            </a:r>
            <a:endParaRPr lang="en-US" sz="1350" dirty="0"/>
          </a:p>
        </p:txBody>
      </p:sp>
      <p:sp>
        <p:nvSpPr>
          <p:cNvPr id="5" name="Shape 3"/>
          <p:cNvSpPr/>
          <p:nvPr/>
        </p:nvSpPr>
        <p:spPr>
          <a:xfrm>
            <a:off x="7470648" y="1399032"/>
            <a:ext cx="4245559" cy="2708339"/>
          </a:xfrm>
          <a:prstGeom prst="roundRect">
            <a:avLst>
              <a:gd name="adj" fmla="val 2701"/>
            </a:avLst>
          </a:prstGeom>
          <a:solidFill>
            <a:srgbClr val="1B2530"/>
          </a:solidFill>
          <a:ln w="12700">
            <a:solidFill>
              <a:srgbClr val="1B2530"/>
            </a:solidFill>
            <a:prstDash val="solid"/>
          </a:ln>
        </p:spPr>
      </p:sp>
      <p:pic>
        <p:nvPicPr>
          <p:cNvPr id="6" name="Image 0" descr="/Users/raffaelemontella/devel/riscv-prg32/computer-architecture-with-prg32/tools/assets/lab1_step2_hello.png">    </p:cNvPr>
          <p:cNvPicPr>
            <a:picLocks noChangeAspect="1"/>
          </p:cNvPicPr>
          <p:nvPr/>
        </p:nvPicPr>
        <p:blipFill>
          <a:blip r:embed="rId1"/>
          <a:stretch>
            <a:fillRect/>
          </a:stretch>
        </p:blipFill>
        <p:spPr>
          <a:xfrm>
            <a:off x="7543800" y="1472184"/>
            <a:ext cx="4099255" cy="2562035"/>
          </a:xfrm>
          <a:prstGeom prst="rect">
            <a:avLst/>
          </a:prstGeom>
        </p:spPr>
      </p:pic>
      <p:sp>
        <p:nvSpPr>
          <p:cNvPr id="7" name="Text 4"/>
          <p:cNvSpPr txBox="1"/>
          <p:nvPr/>
        </p:nvSpPr>
        <p:spPr>
          <a:xfrm>
            <a:off x="7543800" y="4180523"/>
            <a:ext cx="4099255" cy="256032"/>
          </a:xfrm>
          <a:prstGeom prst="rect">
            <a:avLst/>
          </a:prstGeom>
          <a:noFill/>
          <a:ln/>
        </p:spPr>
        <p:txBody>
          <a:bodyPr wrap="square" lIns="0" tIns="0" rIns="0" bIns="0" rtlCol="0" anchor="t"/>
          <a:lstStyle/>
          <a:p>
            <a:pPr indent="0" marL="0">
              <a:buNone/>
            </a:pPr>
            <a:r>
              <a:rPr lang="en-US" sz="1150" i="1" dirty="0">
                <a:solidFill>
                  <a:srgbClr val="5B6B78"/>
                </a:solidFill>
                <a:latin typeface="Calibri" pitchFamily="34" charset="0"/>
                <a:ea typeface="Calibri" pitchFamily="34" charset="-122"/>
                <a:cs typeface="Calibri" pitchFamily="34" charset="-120"/>
              </a:rPr>
              <a:t>Schermata: questo passo, compilato ed eseguito su PRG32</a:t>
            </a:r>
            <a:endParaRPr lang="en-US" sz="1150" dirty="0"/>
          </a:p>
        </p:txBody>
      </p:sp>
      <p:sp>
        <p:nvSpPr>
          <p:cNvPr id="8" name="Shape 5"/>
          <p:cNvSpPr/>
          <p:nvPr/>
        </p:nvSpPr>
        <p:spPr>
          <a:xfrm>
            <a:off x="7470648" y="4527995"/>
            <a:ext cx="4245559" cy="1644205"/>
          </a:xfrm>
          <a:prstGeom prst="roundRect">
            <a:avLst>
              <a:gd name="adj" fmla="val 4449"/>
            </a:avLst>
          </a:prstGeom>
          <a:solidFill>
            <a:srgbClr val="EEF2F4"/>
          </a:solidFill>
          <a:ln w="12700">
            <a:solidFill>
              <a:srgbClr val="EEF2F4"/>
            </a:solidFill>
            <a:prstDash val="solid"/>
          </a:ln>
        </p:spPr>
      </p:sp>
      <p:sp>
        <p:nvSpPr>
          <p:cNvPr id="9" name="Text 6"/>
          <p:cNvSpPr txBox="1"/>
          <p:nvPr/>
        </p:nvSpPr>
        <p:spPr>
          <a:xfrm>
            <a:off x="7680960" y="4637723"/>
            <a:ext cx="3824935" cy="1424749"/>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primo argomento va in a0, il secondo in a1, e così via. li carica un numero; la carica l'indirizzo di un'etichetta.</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Perché salvare ra? Il frame di stack</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1081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call memorizza in ra l'indirizzo a cui tornare</a:t>
            </a:r>
            <a:endParaRPr lang="en-US" sz="2100" dirty="0"/>
          </a:p>
        </p:txBody>
      </p:sp>
      <p:sp>
        <p:nvSpPr>
          <p:cNvPr id="5" name="Shape 3"/>
          <p:cNvSpPr/>
          <p:nvPr/>
        </p:nvSpPr>
        <p:spPr>
          <a:xfrm>
            <a:off x="548640" y="230543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6752"/>
            <a:ext cx="61081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funzione chiamata userà ra per le proprie chiamate, sovrascrivendo il vostro</a:t>
            </a:r>
            <a:endParaRPr lang="en-US" sz="2100" dirty="0"/>
          </a:p>
        </p:txBody>
      </p:sp>
      <p:sp>
        <p:nvSpPr>
          <p:cNvPr id="7" name="Shape 5"/>
          <p:cNvSpPr/>
          <p:nvPr/>
        </p:nvSpPr>
        <p:spPr>
          <a:xfrm>
            <a:off x="548640" y="309486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96184"/>
            <a:ext cx="6108192" cy="128168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Perciò una funzione che ne chiama un'altra salva prima ra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abbassa sp di 16 per fare spazio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memorizza ra in 12(sp)</a:t>
            </a:r>
            <a:endParaRPr lang="en-US" sz="2100" dirty="0"/>
          </a:p>
        </p:txBody>
      </p:sp>
      <p:sp>
        <p:nvSpPr>
          <p:cNvPr id="9" name="Shape 7"/>
          <p:cNvSpPr/>
          <p:nvPr/>
        </p:nvSpPr>
        <p:spPr>
          <a:xfrm>
            <a:off x="548640" y="451523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6552"/>
            <a:ext cx="6108192" cy="96621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Dopo la chiamata, si disfa tutto in ordine inverso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ricarica ra, alza sp di 16, poi ret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1081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Dimenticare la coppia è il classico primo bug: la funzione ritorna nel posto sbagliato</a:t>
            </a:r>
            <a:endParaRPr lang="en-US" sz="2100" dirty="0"/>
          </a:p>
        </p:txBody>
      </p:sp>
      <p:sp>
        <p:nvSpPr>
          <p:cNvPr id="13" name="Text 11"/>
          <p:cNvSpPr txBox="1"/>
          <p:nvPr/>
        </p:nvSpPr>
        <p:spPr>
          <a:xfrm>
            <a:off x="7589520" y="1417320"/>
            <a:ext cx="4206240" cy="36576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Lo stack dopo il prologo</a:t>
            </a:r>
            <a:endParaRPr lang="en-US" sz="1500" dirty="0"/>
          </a:p>
        </p:txBody>
      </p:sp>
      <p:sp>
        <p:nvSpPr>
          <p:cNvPr id="14" name="Text 12"/>
          <p:cNvSpPr txBox="1"/>
          <p:nvPr/>
        </p:nvSpPr>
        <p:spPr>
          <a:xfrm>
            <a:off x="7589520" y="2103120"/>
            <a:ext cx="2926080" cy="566928"/>
          </a:xfrm>
          <a:prstGeom prst="rect">
            <a:avLst/>
          </a:prstGeom>
          <a:solidFill>
            <a:srgbClr val="C9D2D8"/>
          </a:solidFill>
          <a:ln w="12700">
            <a:solidFill>
              <a:srgbClr val="2E4A62"/>
            </a:solidFill>
          </a:ln>
        </p:spPr>
        <p:txBody>
          <a:bodyPr wrap="square" lIns="0" tIns="0" rIns="0" bIns="0" rtlCol="0" anchor="ctr"/>
          <a:lstStyle/>
          <a:p>
            <a:pPr algn="ctr" indent="0" marL="0">
              <a:buNone/>
            </a:pPr>
            <a:r>
              <a:rPr lang="en-US" sz="1600" b="1" dirty="0">
                <a:solidFill>
                  <a:srgbClr val="1B2530"/>
                </a:solidFill>
                <a:latin typeface="Courier New" pitchFamily="34" charset="0"/>
                <a:ea typeface="Courier New" pitchFamily="34" charset="-122"/>
                <a:cs typeface="Courier New" pitchFamily="34" charset="-120"/>
              </a:rPr>
              <a:t>dati del chiamante</a:t>
            </a:r>
            <a:endParaRPr lang="en-US" sz="1600" dirty="0"/>
          </a:p>
        </p:txBody>
      </p:sp>
      <p:sp>
        <p:nvSpPr>
          <p:cNvPr id="15" name="Text 13"/>
          <p:cNvSpPr txBox="1"/>
          <p:nvPr/>
        </p:nvSpPr>
        <p:spPr>
          <a:xfrm>
            <a:off x="10652760" y="2103120"/>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16(sp)</a:t>
            </a:r>
            <a:endParaRPr lang="en-US" sz="1400" dirty="0"/>
          </a:p>
        </p:txBody>
      </p:sp>
      <p:sp>
        <p:nvSpPr>
          <p:cNvPr id="16" name="Text 14"/>
          <p:cNvSpPr txBox="1"/>
          <p:nvPr/>
        </p:nvSpPr>
        <p:spPr>
          <a:xfrm>
            <a:off x="7589520" y="2670048"/>
            <a:ext cx="2926080"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ra</a:t>
            </a:r>
            <a:endParaRPr lang="en-US" sz="1600" dirty="0"/>
          </a:p>
        </p:txBody>
      </p:sp>
      <p:sp>
        <p:nvSpPr>
          <p:cNvPr id="17" name="Text 15"/>
          <p:cNvSpPr txBox="1"/>
          <p:nvPr/>
        </p:nvSpPr>
        <p:spPr>
          <a:xfrm>
            <a:off x="10652760" y="2670048"/>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12(sp)</a:t>
            </a:r>
            <a:endParaRPr lang="en-US" sz="1400" dirty="0"/>
          </a:p>
        </p:txBody>
      </p:sp>
      <p:sp>
        <p:nvSpPr>
          <p:cNvPr id="18" name="Text 16"/>
          <p:cNvSpPr txBox="1"/>
          <p:nvPr/>
        </p:nvSpPr>
        <p:spPr>
          <a:xfrm>
            <a:off x="7589520" y="3236976"/>
            <a:ext cx="2926080"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600" b="1" dirty="0">
                <a:solidFill>
                  <a:srgbClr val="5B6B78"/>
                </a:solidFill>
                <a:latin typeface="Courier New" pitchFamily="34" charset="0"/>
                <a:ea typeface="Courier New" pitchFamily="34" charset="-122"/>
                <a:cs typeface="Courier New" pitchFamily="34" charset="-120"/>
              </a:rPr>
              <a:t>libero</a:t>
            </a:r>
            <a:endParaRPr lang="en-US" sz="1600" dirty="0"/>
          </a:p>
        </p:txBody>
      </p:sp>
      <p:sp>
        <p:nvSpPr>
          <p:cNvPr id="19" name="Text 17"/>
          <p:cNvSpPr txBox="1"/>
          <p:nvPr/>
        </p:nvSpPr>
        <p:spPr>
          <a:xfrm>
            <a:off x="10652760" y="3236976"/>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 8(sp)</a:t>
            </a:r>
            <a:endParaRPr lang="en-US" sz="1400" dirty="0"/>
          </a:p>
        </p:txBody>
      </p:sp>
      <p:sp>
        <p:nvSpPr>
          <p:cNvPr id="20" name="Text 18"/>
          <p:cNvSpPr txBox="1"/>
          <p:nvPr/>
        </p:nvSpPr>
        <p:spPr>
          <a:xfrm>
            <a:off x="7589520" y="3803904"/>
            <a:ext cx="2926080"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600" b="1" dirty="0">
                <a:solidFill>
                  <a:srgbClr val="5B6B78"/>
                </a:solidFill>
                <a:latin typeface="Courier New" pitchFamily="34" charset="0"/>
                <a:ea typeface="Courier New" pitchFamily="34" charset="-122"/>
                <a:cs typeface="Courier New" pitchFamily="34" charset="-120"/>
              </a:rPr>
              <a:t>libero</a:t>
            </a:r>
            <a:endParaRPr lang="en-US" sz="1600" dirty="0"/>
          </a:p>
        </p:txBody>
      </p:sp>
      <p:sp>
        <p:nvSpPr>
          <p:cNvPr id="21" name="Text 19"/>
          <p:cNvSpPr txBox="1"/>
          <p:nvPr/>
        </p:nvSpPr>
        <p:spPr>
          <a:xfrm>
            <a:off x="10652760" y="3803904"/>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 4(sp)</a:t>
            </a:r>
            <a:endParaRPr lang="en-US" sz="1400" dirty="0"/>
          </a:p>
        </p:txBody>
      </p:sp>
      <p:sp>
        <p:nvSpPr>
          <p:cNvPr id="22" name="Text 20"/>
          <p:cNvSpPr txBox="1"/>
          <p:nvPr/>
        </p:nvSpPr>
        <p:spPr>
          <a:xfrm>
            <a:off x="7589520" y="4370832"/>
            <a:ext cx="2926080"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600" b="1" dirty="0">
                <a:solidFill>
                  <a:srgbClr val="5B6B78"/>
                </a:solidFill>
                <a:latin typeface="Courier New" pitchFamily="34" charset="0"/>
                <a:ea typeface="Courier New" pitchFamily="34" charset="-122"/>
                <a:cs typeface="Courier New" pitchFamily="34" charset="-120"/>
              </a:rPr>
              <a:t>libero</a:t>
            </a:r>
            <a:endParaRPr lang="en-US" sz="1600" dirty="0"/>
          </a:p>
        </p:txBody>
      </p:sp>
      <p:sp>
        <p:nvSpPr>
          <p:cNvPr id="23" name="Text 21"/>
          <p:cNvSpPr txBox="1"/>
          <p:nvPr/>
        </p:nvSpPr>
        <p:spPr>
          <a:xfrm>
            <a:off x="10652760" y="4370832"/>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 0(sp)</a:t>
            </a:r>
            <a:endParaRPr lang="en-US" sz="1400" dirty="0"/>
          </a:p>
        </p:txBody>
      </p:sp>
      <p:sp>
        <p:nvSpPr>
          <p:cNvPr id="24" name="Shape 22"/>
          <p:cNvSpPr/>
          <p:nvPr/>
        </p:nvSpPr>
        <p:spPr>
          <a:xfrm>
            <a:off x="6766560" y="4654296"/>
            <a:ext cx="777240" cy="0"/>
          </a:xfrm>
          <a:prstGeom prst="line">
            <a:avLst/>
          </a:prstGeom>
          <a:noFill/>
          <a:ln w="28575">
            <a:solidFill>
              <a:srgbClr val="B23A48"/>
            </a:solidFill>
            <a:prstDash val="solid"/>
            <a:tailEnd type="triangle"/>
          </a:ln>
        </p:spPr>
      </p:sp>
      <p:sp>
        <p:nvSpPr>
          <p:cNvPr id="25" name="Text 23"/>
          <p:cNvSpPr txBox="1"/>
          <p:nvPr/>
        </p:nvSpPr>
        <p:spPr>
          <a:xfrm>
            <a:off x="6217920" y="4370832"/>
            <a:ext cx="502920" cy="566928"/>
          </a:xfrm>
          <a:prstGeom prst="rect">
            <a:avLst/>
          </a:prstGeom>
          <a:noFill/>
          <a:ln/>
        </p:spPr>
        <p:txBody>
          <a:bodyPr wrap="square" lIns="0" tIns="0" rIns="0" bIns="0" rtlCol="0" anchor="ctr"/>
          <a:lstStyle/>
          <a:p>
            <a:pPr algn="r" indent="0" marL="0">
              <a:buNone/>
            </a:pPr>
            <a:r>
              <a:rPr lang="en-US" sz="1800" b="1" dirty="0">
                <a:solidFill>
                  <a:srgbClr val="B23A48"/>
                </a:solidFill>
                <a:latin typeface="Courier New" pitchFamily="34" charset="0"/>
                <a:ea typeface="Courier New" pitchFamily="34" charset="-122"/>
                <a:cs typeface="Courier New" pitchFamily="34" charset="-120"/>
              </a:rPr>
              <a:t>sp</a:t>
            </a:r>
            <a:endParaRPr lang="en-US" sz="1800" dirty="0"/>
          </a:p>
        </p:txBody>
      </p:sp>
      <p:sp>
        <p:nvSpPr>
          <p:cNvPr id="26" name="Text 24"/>
          <p:cNvSpPr txBox="1"/>
          <p:nvPr/>
        </p:nvSpPr>
        <p:spPr>
          <a:xfrm>
            <a:off x="7589520" y="1810512"/>
            <a:ext cx="2926080" cy="256032"/>
          </a:xfrm>
          <a:prstGeom prst="rect">
            <a:avLst/>
          </a:prstGeom>
          <a:noFill/>
          <a:ln/>
        </p:spPr>
        <p:txBody>
          <a:bodyPr wrap="square" lIns="0" tIns="0" rIns="0" bIns="0" rtlCol="0" anchor="t"/>
          <a:lstStyle/>
          <a:p>
            <a:pPr algn="ctr" indent="0" marL="0">
              <a:buNone/>
            </a:pPr>
            <a:r>
              <a:rPr lang="en-US" sz="1150" i="1" dirty="0">
                <a:solidFill>
                  <a:srgbClr val="5B6B78"/>
                </a:solidFill>
                <a:latin typeface="Calibri" pitchFamily="34" charset="0"/>
                <a:ea typeface="Calibri" pitchFamily="34" charset="-122"/>
                <a:cs typeface="Calibri" pitchFamily="34" charset="-120"/>
              </a:rPr>
              <a:t>indirizzi più alti</a:t>
            </a:r>
            <a:endParaRPr lang="en-US" sz="1150" dirty="0"/>
          </a:p>
        </p:txBody>
      </p:sp>
      <p:sp>
        <p:nvSpPr>
          <p:cNvPr id="27" name="Text 25"/>
          <p:cNvSpPr txBox="1"/>
          <p:nvPr/>
        </p:nvSpPr>
        <p:spPr>
          <a:xfrm>
            <a:off x="7040880" y="5120640"/>
            <a:ext cx="4754880" cy="64008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Lo stack cresce verso il basso: si sottrae da sp per allocare, si somma per rilasciare.</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Passo 3: un valore che sopravvive tra i frame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first_update: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pPr indent="0" marL="0">
              <a:buNone/>
            </a:pPr>
            <a:r>
              <a:rPr lang="en-US" sz="1400" dirty="0">
                <a:solidFill>
                  <a:srgbClr val="8FB3A0"/>
                </a:solidFill>
                <a:latin typeface="Courier New" pitchFamily="34" charset="0"/>
                <a:ea typeface="Courier New" pitchFamily="34" charset="-122"/>
                <a:cs typeface="Courier New" pitchFamily="34" charset="-120"/>
              </a:rPr>
              <a:t># A leaf function: it calls nothing,</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pPr indent="0" marL="0">
              <a:buNone/>
            </a:pPr>
            <a:r>
              <a:rPr lang="en-US" sz="1400" dirty="0">
                <a:solidFill>
                  <a:srgbClr val="8FB3A0"/>
                </a:solidFill>
                <a:latin typeface="Courier New" pitchFamily="34" charset="0"/>
                <a:ea typeface="Courier New" pitchFamily="34" charset="-122"/>
                <a:cs typeface="Courier New" pitchFamily="34" charset="-120"/>
              </a:rPr>
              <a:t># so it needs no stack frame.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counter      </a:t>
            </a:r>
            <a:pPr indent="0" marL="0">
              <a:buNone/>
            </a:pPr>
            <a:r>
              <a:rPr lang="en-US" sz="1400" dirty="0">
                <a:solidFill>
                  <a:srgbClr val="8FB3A0"/>
                </a:solidFill>
                <a:latin typeface="Courier New" pitchFamily="34" charset="0"/>
                <a:ea typeface="Courier New" pitchFamily="34" charset="-122"/>
                <a:cs typeface="Courier New" pitchFamily="34" charset="-120"/>
              </a:rPr>
              <a:t># t0 = ADDRESS of counter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        </a:t>
            </a:r>
            <a:pPr indent="0" marL="0">
              <a:buNone/>
            </a:pPr>
            <a:r>
              <a:rPr lang="en-US" sz="1400" dirty="0">
                <a:solidFill>
                  <a:srgbClr val="8FB3A0"/>
                </a:solidFill>
                <a:latin typeface="Courier New" pitchFamily="34" charset="0"/>
                <a:ea typeface="Courier New" pitchFamily="34" charset="-122"/>
                <a:cs typeface="Courier New" pitchFamily="34" charset="-120"/>
              </a:rPr>
              <a:t># t1 = VALUE stored there   (load)</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t1, t1, 1        </a:t>
            </a:r>
            <a:pPr indent="0" marL="0">
              <a:buNone/>
            </a:pPr>
            <a:r>
              <a:rPr lang="en-US" sz="1400" dirty="0">
                <a:solidFill>
                  <a:srgbClr val="8FB3A0"/>
                </a:solidFill>
                <a:latin typeface="Courier New" pitchFamily="34" charset="0"/>
                <a:ea typeface="Courier New" pitchFamily="34" charset="-122"/>
                <a:cs typeface="Courier New" pitchFamily="34" charset="-120"/>
              </a:rPr>
              <a:t># one tick per frame        (modify)</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        </a:t>
            </a:r>
            <a:pPr indent="0" marL="0">
              <a:buNone/>
            </a:pPr>
            <a:r>
              <a:rPr lang="en-US" sz="1400" dirty="0">
                <a:solidFill>
                  <a:srgbClr val="8FB3A0"/>
                </a:solidFill>
                <a:latin typeface="Courier New" pitchFamily="34" charset="0"/>
                <a:ea typeface="Courier New" pitchFamily="34" charset="-122"/>
                <a:cs typeface="Courier New" pitchFamily="34" charset="-120"/>
              </a:rPr>
              <a:t># write it back             (store)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.data</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counter: .word 0</a:t>
            </a:r>
            <a:endParaRPr lang="en-US" sz="14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counter è un'etichetta: dà un nome a una locazione di memoria, nella sezione .data, che contiene una parola di 32 bit</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la mette in t0 l'INDIRIZZO di quella locazione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lw legge in t1 il VALORE a quell'indirizzo; sw lo riscrive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processore calcola solo nei registri: load, modify, store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Indirizzo o valore? Il nodo della memoria</a:t>
            </a:r>
            <a:endParaRPr lang="en-US" sz="3200" dirty="0"/>
          </a:p>
        </p:txBody>
      </p:sp>
      <p:sp>
        <p:nvSpPr>
          <p:cNvPr id="3" name="Text 1"/>
          <p:cNvSpPr txBox="1"/>
          <p:nvPr/>
        </p:nvSpPr>
        <p:spPr>
          <a:xfrm>
            <a:off x="548640" y="1417320"/>
            <a:ext cx="4572000"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Registri (dentro il processore)</a:t>
            </a:r>
            <a:endParaRPr lang="en-US" sz="1500" dirty="0"/>
          </a:p>
        </p:txBody>
      </p:sp>
      <p:sp>
        <p:nvSpPr>
          <p:cNvPr id="4" name="Text 2"/>
          <p:cNvSpPr txBox="1"/>
          <p:nvPr/>
        </p:nvSpPr>
        <p:spPr>
          <a:xfrm>
            <a:off x="548640" y="1874520"/>
            <a:ext cx="640080" cy="685800"/>
          </a:xfrm>
          <a:prstGeom prst="rect">
            <a:avLst/>
          </a:prstGeom>
          <a:noFill/>
          <a:ln/>
        </p:spPr>
        <p:txBody>
          <a:bodyPr wrap="square" lIns="0" tIns="0" rIns="0" bIns="0" rtlCol="0" anchor="ctr"/>
          <a:lstStyle/>
          <a:p>
            <a:pPr indent="0" marL="0">
              <a:buNone/>
            </a:pPr>
            <a:r>
              <a:rPr lang="en-US" sz="2200" b="1" dirty="0">
                <a:solidFill>
                  <a:srgbClr val="1B2530"/>
                </a:solidFill>
                <a:latin typeface="Courier New" pitchFamily="34" charset="0"/>
                <a:ea typeface="Courier New" pitchFamily="34" charset="-122"/>
                <a:cs typeface="Courier New" pitchFamily="34" charset="-120"/>
              </a:rPr>
              <a:t>t0</a:t>
            </a:r>
            <a:endParaRPr lang="en-US" sz="2200" dirty="0"/>
          </a:p>
        </p:txBody>
      </p:sp>
      <p:sp>
        <p:nvSpPr>
          <p:cNvPr id="5" name="Text 3"/>
          <p:cNvSpPr txBox="1"/>
          <p:nvPr/>
        </p:nvSpPr>
        <p:spPr>
          <a:xfrm>
            <a:off x="1280160" y="1874520"/>
            <a:ext cx="3291840" cy="685800"/>
          </a:xfrm>
          <a:prstGeom prst="rect">
            <a:avLst/>
          </a:prstGeom>
          <a:solidFill>
            <a:srgbClr val="0E7C86"/>
          </a:solidFill>
          <a:ln>
            <a:solidFill>
              <a:srgbClr val="0E7C86"/>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indirizzo di counter</a:t>
            </a:r>
            <a:endParaRPr lang="en-US" sz="1700" dirty="0"/>
          </a:p>
        </p:txBody>
      </p:sp>
      <p:sp>
        <p:nvSpPr>
          <p:cNvPr id="6" name="Text 4"/>
          <p:cNvSpPr txBox="1"/>
          <p:nvPr/>
        </p:nvSpPr>
        <p:spPr>
          <a:xfrm>
            <a:off x="548640" y="3017520"/>
            <a:ext cx="640080" cy="685800"/>
          </a:xfrm>
          <a:prstGeom prst="rect">
            <a:avLst/>
          </a:prstGeom>
          <a:noFill/>
          <a:ln/>
        </p:spPr>
        <p:txBody>
          <a:bodyPr wrap="square" lIns="0" tIns="0" rIns="0" bIns="0" rtlCol="0" anchor="ctr"/>
          <a:lstStyle/>
          <a:p>
            <a:pPr indent="0" marL="0">
              <a:buNone/>
            </a:pPr>
            <a:r>
              <a:rPr lang="en-US" sz="2200" b="1" dirty="0">
                <a:solidFill>
                  <a:srgbClr val="1B2530"/>
                </a:solidFill>
                <a:latin typeface="Courier New" pitchFamily="34" charset="0"/>
                <a:ea typeface="Courier New" pitchFamily="34" charset="-122"/>
                <a:cs typeface="Courier New" pitchFamily="34" charset="-120"/>
              </a:rPr>
              <a:t>t1</a:t>
            </a:r>
            <a:endParaRPr lang="en-US" sz="2200" dirty="0"/>
          </a:p>
        </p:txBody>
      </p:sp>
      <p:sp>
        <p:nvSpPr>
          <p:cNvPr id="7" name="Text 5"/>
          <p:cNvSpPr txBox="1"/>
          <p:nvPr/>
        </p:nvSpPr>
        <p:spPr>
          <a:xfrm>
            <a:off x="1280160" y="3017520"/>
            <a:ext cx="3291840" cy="685800"/>
          </a:xfrm>
          <a:prstGeom prst="rect">
            <a:avLst/>
          </a:prstGeom>
          <a:solidFill>
            <a:srgbClr val="C7791B"/>
          </a:solidFill>
          <a:ln>
            <a:solidFill>
              <a:srgbClr val="C7791B"/>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41  poi  42</a:t>
            </a:r>
            <a:endParaRPr lang="en-US" sz="1700" dirty="0"/>
          </a:p>
        </p:txBody>
      </p:sp>
      <p:sp>
        <p:nvSpPr>
          <p:cNvPr id="8" name="Text 6"/>
          <p:cNvSpPr txBox="1"/>
          <p:nvPr/>
        </p:nvSpPr>
        <p:spPr>
          <a:xfrm>
            <a:off x="7498080" y="1417320"/>
            <a:ext cx="4114800"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Memoria (sezione .data)</a:t>
            </a:r>
            <a:endParaRPr lang="en-US" sz="1500" dirty="0"/>
          </a:p>
        </p:txBody>
      </p:sp>
      <p:sp>
        <p:nvSpPr>
          <p:cNvPr id="9" name="Text 7"/>
          <p:cNvSpPr txBox="1"/>
          <p:nvPr/>
        </p:nvSpPr>
        <p:spPr>
          <a:xfrm>
            <a:off x="7498080" y="1874520"/>
            <a:ext cx="3566160" cy="6858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a:t>
            </a:r>
            <a:endParaRPr lang="en-US" sz="1700" dirty="0"/>
          </a:p>
        </p:txBody>
      </p:sp>
      <p:sp>
        <p:nvSpPr>
          <p:cNvPr id="10" name="Text 8"/>
          <p:cNvSpPr txBox="1"/>
          <p:nvPr/>
        </p:nvSpPr>
        <p:spPr>
          <a:xfrm>
            <a:off x="7498080" y="2560320"/>
            <a:ext cx="3566160" cy="685800"/>
          </a:xfrm>
          <a:prstGeom prst="rect">
            <a:avLst/>
          </a:prstGeom>
          <a:solidFill>
            <a:srgbClr val="F6E7D2"/>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counter:  41</a:t>
            </a:r>
            <a:endParaRPr lang="en-US" sz="1700" dirty="0"/>
          </a:p>
        </p:txBody>
      </p:sp>
      <p:sp>
        <p:nvSpPr>
          <p:cNvPr id="11" name="Text 9"/>
          <p:cNvSpPr txBox="1"/>
          <p:nvPr/>
        </p:nvSpPr>
        <p:spPr>
          <a:xfrm>
            <a:off x="7498080" y="3246120"/>
            <a:ext cx="3566160" cy="6858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a:t>
            </a:r>
            <a:endParaRPr lang="en-US" sz="1700" dirty="0"/>
          </a:p>
        </p:txBody>
      </p:sp>
      <p:sp>
        <p:nvSpPr>
          <p:cNvPr id="12" name="Shape 10"/>
          <p:cNvSpPr/>
          <p:nvPr/>
        </p:nvSpPr>
        <p:spPr>
          <a:xfrm>
            <a:off x="4617720" y="2217420"/>
            <a:ext cx="2834640" cy="617220"/>
          </a:xfrm>
          <a:prstGeom prst="line">
            <a:avLst/>
          </a:prstGeom>
          <a:noFill/>
          <a:ln w="28575">
            <a:solidFill>
              <a:srgbClr val="0E7C86"/>
            </a:solidFill>
            <a:prstDash val="solid"/>
            <a:tailEnd type="triangle"/>
          </a:ln>
        </p:spPr>
      </p:sp>
      <p:sp>
        <p:nvSpPr>
          <p:cNvPr id="13" name="Text 11"/>
          <p:cNvSpPr txBox="1"/>
          <p:nvPr/>
        </p:nvSpPr>
        <p:spPr>
          <a:xfrm>
            <a:off x="4846320" y="2011680"/>
            <a:ext cx="2377440" cy="274320"/>
          </a:xfrm>
          <a:prstGeom prst="rect">
            <a:avLst/>
          </a:prstGeom>
          <a:noFill/>
          <a:ln/>
        </p:spPr>
        <p:txBody>
          <a:bodyPr wrap="square" lIns="0" tIns="0" rIns="0" bIns="0" rtlCol="0" anchor="t"/>
          <a:lstStyle/>
          <a:p>
            <a:pPr algn="ctr" indent="0" marL="0">
              <a:buNone/>
            </a:pPr>
            <a:r>
              <a:rPr lang="en-US" sz="1300" i="1" dirty="0">
                <a:solidFill>
                  <a:srgbClr val="0E7C86"/>
                </a:solidFill>
                <a:latin typeface="Calibri" pitchFamily="34" charset="0"/>
                <a:ea typeface="Calibri" pitchFamily="34" charset="-122"/>
                <a:cs typeface="Calibri" pitchFamily="34" charset="-120"/>
              </a:rPr>
              <a:t>t0 punta qui</a:t>
            </a:r>
            <a:endParaRPr lang="en-US" sz="1300" dirty="0"/>
          </a:p>
        </p:txBody>
      </p:sp>
      <p:sp>
        <p:nvSpPr>
          <p:cNvPr id="14" name="Shape 12"/>
          <p:cNvSpPr/>
          <p:nvPr/>
        </p:nvSpPr>
        <p:spPr>
          <a:xfrm flipH="1">
            <a:off x="4617720" y="3017520"/>
            <a:ext cx="2834640" cy="228600"/>
          </a:xfrm>
          <a:prstGeom prst="line">
            <a:avLst/>
          </a:prstGeom>
          <a:noFill/>
          <a:ln w="28575">
            <a:solidFill>
              <a:srgbClr val="C7791B"/>
            </a:solidFill>
            <a:prstDash val="solid"/>
            <a:tailEnd type="triangle"/>
          </a:ln>
        </p:spPr>
      </p:sp>
      <p:sp>
        <p:nvSpPr>
          <p:cNvPr id="15" name="Text 13"/>
          <p:cNvSpPr txBox="1"/>
          <p:nvPr/>
        </p:nvSpPr>
        <p:spPr>
          <a:xfrm>
            <a:off x="4754880" y="3291840"/>
            <a:ext cx="2651760" cy="274320"/>
          </a:xfrm>
          <a:prstGeom prst="rect">
            <a:avLst/>
          </a:prstGeom>
          <a:noFill/>
          <a:ln/>
        </p:spPr>
        <p:txBody>
          <a:bodyPr wrap="square" lIns="0" tIns="0" rIns="0" bIns="0" rtlCol="0" anchor="t"/>
          <a:lstStyle/>
          <a:p>
            <a:pPr algn="ctr" indent="0" marL="0">
              <a:buNone/>
            </a:pPr>
            <a:r>
              <a:rPr lang="en-US" sz="1300" i="1" dirty="0">
                <a:solidFill>
                  <a:srgbClr val="C7791B"/>
                </a:solidFill>
                <a:latin typeface="Calibri" pitchFamily="34" charset="0"/>
                <a:ea typeface="Calibri" pitchFamily="34" charset="-122"/>
                <a:cs typeface="Calibri" pitchFamily="34" charset="-120"/>
              </a:rPr>
              <a:t>lw copia il contenuto</a:t>
            </a:r>
            <a:endParaRPr lang="en-US" sz="1300" dirty="0"/>
          </a:p>
        </p:txBody>
      </p:sp>
      <p:sp>
        <p:nvSpPr>
          <p:cNvPr id="16" name="Shape 14"/>
          <p:cNvSpPr/>
          <p:nvPr/>
        </p:nvSpPr>
        <p:spPr>
          <a:xfrm>
            <a:off x="548640" y="3977640"/>
            <a:ext cx="7315200" cy="2194560"/>
          </a:xfrm>
          <a:prstGeom prst="roundRect">
            <a:avLst>
              <a:gd name="adj" fmla="val 3333"/>
            </a:avLst>
          </a:prstGeom>
          <a:solidFill>
            <a:srgbClr val="12202B"/>
          </a:solidFill>
          <a:ln w="12700">
            <a:solidFill>
              <a:srgbClr val="12202B"/>
            </a:solidFill>
            <a:prstDash val="solid"/>
          </a:ln>
        </p:spPr>
      </p:sp>
      <p:sp>
        <p:nvSpPr>
          <p:cNvPr id="17" name="Text 15"/>
          <p:cNvSpPr txBox="1"/>
          <p:nvPr/>
        </p:nvSpPr>
        <p:spPr>
          <a:xfrm>
            <a:off x="777240" y="4160520"/>
            <a:ext cx="6858000" cy="182880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la   t0, counter    </a:t>
            </a:r>
            <a:pPr indent="0" marL="0">
              <a:buNone/>
            </a:pPr>
            <a:r>
              <a:rPr lang="en-US" sz="1500" dirty="0">
                <a:solidFill>
                  <a:srgbClr val="8FB3A0"/>
                </a:solidFill>
                <a:latin typeface="Courier New" pitchFamily="34" charset="0"/>
                <a:ea typeface="Courier New" pitchFamily="34" charset="-122"/>
                <a:cs typeface="Courier New" pitchFamily="34" charset="-120"/>
              </a:rPr>
              <a:t># t0 = WHERE the value lives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lw   t1, 0(t0)      </a:t>
            </a:r>
            <a:pPr indent="0" marL="0">
              <a:buNone/>
            </a:pPr>
            <a:r>
              <a:rPr lang="en-US" sz="1500" dirty="0">
                <a:solidFill>
                  <a:srgbClr val="8FB3A0"/>
                </a:solidFill>
                <a:latin typeface="Courier New" pitchFamily="34" charset="0"/>
                <a:ea typeface="Courier New" pitchFamily="34" charset="-122"/>
                <a:cs typeface="Courier New" pitchFamily="34" charset="-120"/>
              </a:rPr>
              <a:t># t1 = WHAT is stored there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addi t1, t1, 1      </a:t>
            </a:r>
            <a:pPr indent="0" marL="0">
              <a:buNone/>
            </a:pPr>
            <a:r>
              <a:rPr lang="en-US" sz="1500" dirty="0">
                <a:solidFill>
                  <a:srgbClr val="8FB3A0"/>
                </a:solidFill>
                <a:latin typeface="Courier New" pitchFamily="34" charset="0"/>
                <a:ea typeface="Courier New" pitchFamily="34" charset="-122"/>
                <a:cs typeface="Courier New" pitchFamily="34" charset="-120"/>
              </a:rPr>
              <a:t># change the copy in the register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sw   t1, 0(t0)      </a:t>
            </a:r>
            <a:pPr indent="0" marL="0">
              <a:buNone/>
            </a:pPr>
            <a:r>
              <a:rPr lang="en-US" sz="1500" dirty="0">
                <a:solidFill>
                  <a:srgbClr val="8FB3A0"/>
                </a:solidFill>
                <a:latin typeface="Courier New" pitchFamily="34" charset="0"/>
                <a:ea typeface="Courier New" pitchFamily="34" charset="-122"/>
                <a:cs typeface="Courier New" pitchFamily="34" charset="-120"/>
              </a:rPr>
              <a:t># memory still says 41 until this line</a:t>
            </a:r>
            <a:endParaRPr lang="en-US" sz="1500" dirty="0"/>
          </a:p>
        </p:txBody>
      </p:sp>
      <p:sp>
        <p:nvSpPr>
          <p:cNvPr id="18" name="Shape 16"/>
          <p:cNvSpPr/>
          <p:nvPr/>
        </p:nvSpPr>
        <p:spPr>
          <a:xfrm>
            <a:off x="8229600" y="3977640"/>
            <a:ext cx="3413455" cy="2194560"/>
          </a:xfrm>
          <a:prstGeom prst="roundRect">
            <a:avLst>
              <a:gd name="adj" fmla="val 3333"/>
            </a:avLst>
          </a:prstGeom>
          <a:solidFill>
            <a:srgbClr val="F3DDE0"/>
          </a:solidFill>
          <a:ln w="12700">
            <a:solidFill>
              <a:srgbClr val="F3DDE0"/>
            </a:solidFill>
            <a:prstDash val="solid"/>
          </a:ln>
        </p:spPr>
      </p:sp>
      <p:sp>
        <p:nvSpPr>
          <p:cNvPr id="19" name="Text 17"/>
          <p:cNvSpPr txBox="1"/>
          <p:nvPr/>
        </p:nvSpPr>
        <p:spPr>
          <a:xfrm>
            <a:off x="8412480" y="4069080"/>
            <a:ext cx="3047695" cy="2011680"/>
          </a:xfrm>
          <a:prstGeom prst="rect">
            <a:avLst/>
          </a:prstGeom>
          <a:noFill/>
          <a:ln/>
        </p:spPr>
        <p:txBody>
          <a:bodyPr wrap="square" lIns="0" tIns="0" rIns="0" bIns="0" rtlCol="0" anchor="ctr"/>
          <a:lstStyle/>
          <a:p>
            <a:pPr indent="0" marL="0">
              <a:buNone/>
            </a:pPr>
            <a:r>
              <a:rPr lang="en-US" sz="1550" dirty="0">
                <a:solidFill>
                  <a:srgbClr val="1B2530"/>
                </a:solidFill>
                <a:latin typeface="Calibri" pitchFamily="34" charset="0"/>
                <a:ea typeface="Calibri" pitchFamily="34" charset="-122"/>
                <a:cs typeface="Calibri" pitchFamily="34" charset="-120"/>
              </a:rPr>
              <a:t>Usare un indirizzo dove serve un valore, o il contrario, è uno degli errori più comuni dei principianti. Commentate ogni registro: INDIRIZZO o VALORE.</a:t>
            </a:r>
            <a:endParaRPr lang="en-US" sz="15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Passo 4: rendere visibile il contatore</a:t>
            </a:r>
            <a:endParaRPr lang="en-US" sz="3200" dirty="0"/>
          </a:p>
        </p:txBody>
      </p:sp>
      <p:sp>
        <p:nvSpPr>
          <p:cNvPr id="3" name="Shape 1"/>
          <p:cNvSpPr/>
          <p:nvPr/>
        </p:nvSpPr>
        <p:spPr>
          <a:xfrm>
            <a:off x="548640" y="1417320"/>
            <a:ext cx="667512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21792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    la   t0, counter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andi a2, t1, 255      </a:t>
            </a:r>
            <a:pPr indent="0" marL="0">
              <a:buNone/>
            </a:pPr>
            <a:r>
              <a:rPr lang="en-US" sz="1450" dirty="0">
                <a:solidFill>
                  <a:srgbClr val="8FB3A0"/>
                </a:solidFill>
                <a:latin typeface="Courier New" pitchFamily="34" charset="0"/>
                <a:ea typeface="Courier New" pitchFamily="34" charset="-122"/>
                <a:cs typeface="Courier New" pitchFamily="34" charset="-120"/>
              </a:rPr>
              <a:t># width = counter modulo 256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a0, 32           </a:t>
            </a:r>
            <a:pPr indent="0" marL="0">
              <a:buNone/>
            </a:pPr>
            <a:r>
              <a:rPr lang="en-US" sz="1450" dirty="0">
                <a:solidFill>
                  <a:srgbClr val="8FB3A0"/>
                </a:solidFill>
                <a:latin typeface="Courier New" pitchFamily="34" charset="0"/>
                <a:ea typeface="Courier New" pitchFamily="34" charset="-122"/>
                <a:cs typeface="Courier New" pitchFamily="34" charset="-120"/>
              </a:rPr>
              <a:t># x</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a1, 60           </a:t>
            </a:r>
            <a:pPr indent="0" marL="0">
              <a:buNone/>
            </a:pPr>
            <a:r>
              <a:rPr lang="en-US" sz="1450" dirty="0">
                <a:solidFill>
                  <a:srgbClr val="8FB3A0"/>
                </a:solidFill>
                <a:latin typeface="Courier New" pitchFamily="34" charset="0"/>
                <a:ea typeface="Courier New" pitchFamily="34" charset="-122"/>
                <a:cs typeface="Courier New" pitchFamily="34" charset="-120"/>
              </a:rPr>
              <a:t># 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8            </a:t>
            </a:r>
            <a:pPr indent="0" marL="0">
              <a:buNone/>
            </a:pPr>
            <a:r>
              <a:rPr lang="en-US" sz="1450" dirty="0">
                <a:solidFill>
                  <a:srgbClr val="8FB3A0"/>
                </a:solidFill>
                <a:latin typeface="Courier New" pitchFamily="34" charset="0"/>
                <a:ea typeface="Courier New" pitchFamily="34" charset="-122"/>
                <a:cs typeface="Courier New" pitchFamily="34" charset="-120"/>
              </a:rPr>
              <a:t># height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a4, GREEN        </a:t>
            </a:r>
            <a:pPr indent="0" marL="0">
              <a:buNone/>
            </a:pPr>
            <a:r>
              <a:rPr lang="en-US" sz="1450" dirty="0">
                <a:solidFill>
                  <a:srgbClr val="8FB3A0"/>
                </a:solidFill>
                <a:latin typeface="Courier New" pitchFamily="34" charset="0"/>
                <a:ea typeface="Courier New" pitchFamily="34" charset="-122"/>
                <a:cs typeface="Courier New" pitchFamily="34" charset="-120"/>
              </a:rPr>
              <a:t># .equ GREEN, 0x07e0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prg32_gfx_rect</a:t>
            </a:r>
            <a:endParaRPr lang="en-US" sz="1450" dirty="0"/>
          </a:p>
        </p:txBody>
      </p:sp>
      <p:sp>
        <p:nvSpPr>
          <p:cNvPr id="5" name="Shape 3"/>
          <p:cNvSpPr/>
          <p:nvPr/>
        </p:nvSpPr>
        <p:spPr>
          <a:xfrm>
            <a:off x="7470648" y="1399032"/>
            <a:ext cx="4245559" cy="2708339"/>
          </a:xfrm>
          <a:prstGeom prst="roundRect">
            <a:avLst>
              <a:gd name="adj" fmla="val 2701"/>
            </a:avLst>
          </a:prstGeom>
          <a:solidFill>
            <a:srgbClr val="1B2530"/>
          </a:solidFill>
          <a:ln w="12700">
            <a:solidFill>
              <a:srgbClr val="1B2530"/>
            </a:solidFill>
            <a:prstDash val="solid"/>
          </a:ln>
        </p:spPr>
      </p:sp>
      <p:pic>
        <p:nvPicPr>
          <p:cNvPr id="6" name="Image 0" descr="/Users/raffaelemontella/devel/riscv-prg32/computer-architecture-with-prg32/tools/assets/lab1_step4_bar.png">    </p:cNvPr>
          <p:cNvPicPr>
            <a:picLocks noChangeAspect="1"/>
          </p:cNvPicPr>
          <p:nvPr/>
        </p:nvPicPr>
        <p:blipFill>
          <a:blip r:embed="rId1"/>
          <a:stretch>
            <a:fillRect/>
          </a:stretch>
        </p:blipFill>
        <p:spPr>
          <a:xfrm>
            <a:off x="7543800" y="1472184"/>
            <a:ext cx="4099255" cy="2562035"/>
          </a:xfrm>
          <a:prstGeom prst="rect">
            <a:avLst/>
          </a:prstGeom>
        </p:spPr>
      </p:pic>
      <p:sp>
        <p:nvSpPr>
          <p:cNvPr id="7" name="Text 4"/>
          <p:cNvSpPr txBox="1"/>
          <p:nvPr/>
        </p:nvSpPr>
        <p:spPr>
          <a:xfrm>
            <a:off x="7543800" y="4180523"/>
            <a:ext cx="4099255" cy="256032"/>
          </a:xfrm>
          <a:prstGeom prst="rect">
            <a:avLst/>
          </a:prstGeom>
          <a:noFill/>
          <a:ln/>
        </p:spPr>
        <p:txBody>
          <a:bodyPr wrap="square" lIns="0" tIns="0" rIns="0" bIns="0" rtlCol="0" anchor="t"/>
          <a:lstStyle/>
          <a:p>
            <a:pPr indent="0" marL="0">
              <a:buNone/>
            </a:pPr>
            <a:r>
              <a:rPr lang="en-US" sz="1150" i="1" dirty="0">
                <a:solidFill>
                  <a:srgbClr val="5B6B78"/>
                </a:solidFill>
                <a:latin typeface="Calibri" pitchFamily="34" charset="0"/>
                <a:ea typeface="Calibri" pitchFamily="34" charset="-122"/>
                <a:cs typeface="Calibri" pitchFamily="34" charset="-120"/>
              </a:rPr>
              <a:t>Schermata: questo passo, compilato ed eseguito su PRG32</a:t>
            </a:r>
            <a:endParaRPr lang="en-US" sz="1150" dirty="0"/>
          </a:p>
        </p:txBody>
      </p:sp>
      <p:sp>
        <p:nvSpPr>
          <p:cNvPr id="8" name="Shape 5"/>
          <p:cNvSpPr/>
          <p:nvPr/>
        </p:nvSpPr>
        <p:spPr>
          <a:xfrm>
            <a:off x="7470648" y="4527995"/>
            <a:ext cx="4245559" cy="1644205"/>
          </a:xfrm>
          <a:prstGeom prst="roundRect">
            <a:avLst>
              <a:gd name="adj" fmla="val 4449"/>
            </a:avLst>
          </a:prstGeom>
          <a:solidFill>
            <a:srgbClr val="EEF2F4"/>
          </a:solidFill>
          <a:ln w="12700">
            <a:solidFill>
              <a:srgbClr val="EEF2F4"/>
            </a:solidFill>
            <a:prstDash val="solid"/>
          </a:ln>
        </p:spPr>
      </p:sp>
      <p:sp>
        <p:nvSpPr>
          <p:cNvPr id="9" name="Text 6"/>
          <p:cNvSpPr txBox="1"/>
          <p:nvPr/>
        </p:nvSpPr>
        <p:spPr>
          <a:xfrm>
            <a:off x="7680960" y="4637723"/>
            <a:ext cx="3824935" cy="1424749"/>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barra cresce da 0 a 255 pixel, poi ricomincia. andi con 255 conserva solo gli otto bit bassi del contatore.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03</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Leggere ciò che avete scritto</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Lo stesso programma, visto come lo vede il processore.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istruzioni che avete appena usato</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72967"/>
                <a:gridCol w="2817629"/>
                <a:gridCol w="3698138"/>
                <a:gridCol w="2905680"/>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Famiglia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Istruzione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Che cosa fa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Esempio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Aritmetica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 sub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combina due registri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 t0, t1, t2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Logica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 or, xor</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operazione bit a bit su due registri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 t0, t1, t2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Immediato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andi, ori, xori</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registro e una piccola costante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t1, t1, 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lw, sw</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carica o memorizza una parola di 32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lw t1, 0(t0)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Controllo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call, ret</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va a una funzione e ritorna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call prg32_gfx_rect</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Pseudo-istruzioni: scorciatoie che l'assemblatore espande</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4622673"/>
                <a:gridCol w="369813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Scrivete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L'assemblatore emette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Significato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li t0, 42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t0, zero, 42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carica una costante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mv t0, 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t0, t1, 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copia un 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not t0, 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xori t0, t1, -1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complemento bit a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la t0, counter</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auipc t0, ... + addi t0, t0, ...</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carica l'indirizzo di un'etichetta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ret</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jalr zero, 0(ra)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salta all'indirizzo in ra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beqz t0, skip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beq t0, zero, skip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salta se t0 vale zero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Un'istruzione è un numero a 32 bit</a:t>
            </a:r>
            <a:endParaRPr lang="en-US" sz="3200" dirty="0"/>
          </a:p>
        </p:txBody>
      </p:sp>
      <p:sp>
        <p:nvSpPr>
          <p:cNvPr id="3" name="Text 1"/>
          <p:cNvSpPr txBox="1"/>
          <p:nvPr/>
        </p:nvSpPr>
        <p:spPr>
          <a:xfrm>
            <a:off x="548640" y="1417320"/>
            <a:ext cx="11094415" cy="548640"/>
          </a:xfrm>
          <a:prstGeom prst="rect">
            <a:avLst/>
          </a:prstGeom>
          <a:noFill/>
          <a:ln/>
        </p:spPr>
        <p:txBody>
          <a:bodyPr wrap="square" lIns="0" tIns="0" rIns="0" bIns="0" rtlCol="0" anchor="t"/>
          <a:lstStyle/>
          <a:p>
            <a:pPr algn="ctr" indent="0" marL="0">
              <a:buNone/>
            </a:pPr>
            <a:r>
              <a:rPr lang="en-US" sz="2800" b="1" dirty="0">
                <a:solidFill>
                  <a:srgbClr val="2E4A62"/>
                </a:solidFill>
                <a:latin typeface="Courier New" pitchFamily="34" charset="0"/>
                <a:ea typeface="Courier New" pitchFamily="34" charset="-122"/>
                <a:cs typeface="Courier New" pitchFamily="34" charset="-120"/>
              </a:rPr>
              <a:t>addi t1, t1, 1</a:t>
            </a:r>
            <a:endParaRPr lang="en-US" sz="2800" dirty="0"/>
          </a:p>
        </p:txBody>
      </p:sp>
      <p:sp>
        <p:nvSpPr>
          <p:cNvPr id="4" name="Text 2"/>
          <p:cNvSpPr txBox="1"/>
          <p:nvPr/>
        </p:nvSpPr>
        <p:spPr>
          <a:xfrm>
            <a:off x="914400" y="2560320"/>
            <a:ext cx="3806308" cy="73152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000000000001</a:t>
            </a:r>
            <a:endParaRPr lang="en-US" sz="1700" dirty="0"/>
          </a:p>
        </p:txBody>
      </p:sp>
      <p:sp>
        <p:nvSpPr>
          <p:cNvPr id="5" name="Text 3"/>
          <p:cNvSpPr txBox="1"/>
          <p:nvPr/>
        </p:nvSpPr>
        <p:spPr>
          <a:xfrm>
            <a:off x="914400" y="3346704"/>
            <a:ext cx="380630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immediato</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la costante 1</a:t>
            </a:r>
            <a:endParaRPr lang="en-US" sz="1300" dirty="0"/>
          </a:p>
        </p:txBody>
      </p:sp>
      <p:sp>
        <p:nvSpPr>
          <p:cNvPr id="6" name="Text 4"/>
          <p:cNvSpPr txBox="1"/>
          <p:nvPr/>
        </p:nvSpPr>
        <p:spPr>
          <a:xfrm>
            <a:off x="950976" y="2322576"/>
            <a:ext cx="190315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7" name="Text 5"/>
          <p:cNvSpPr txBox="1"/>
          <p:nvPr/>
        </p:nvSpPr>
        <p:spPr>
          <a:xfrm>
            <a:off x="2817554" y="2322576"/>
            <a:ext cx="186657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8" name="Text 6"/>
          <p:cNvSpPr txBox="1"/>
          <p:nvPr/>
        </p:nvSpPr>
        <p:spPr>
          <a:xfrm>
            <a:off x="4720708" y="2560320"/>
            <a:ext cx="1585962" cy="73152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00110</a:t>
            </a:r>
            <a:endParaRPr lang="en-US" sz="1700" dirty="0"/>
          </a:p>
        </p:txBody>
      </p:sp>
      <p:sp>
        <p:nvSpPr>
          <p:cNvPr id="9" name="Text 7"/>
          <p:cNvSpPr txBox="1"/>
          <p:nvPr/>
        </p:nvSpPr>
        <p:spPr>
          <a:xfrm>
            <a:off x="4720708" y="3346704"/>
            <a:ext cx="1585962"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rs1</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t1 è x6</a:t>
            </a:r>
            <a:endParaRPr lang="en-US" sz="1300" dirty="0"/>
          </a:p>
        </p:txBody>
      </p:sp>
      <p:sp>
        <p:nvSpPr>
          <p:cNvPr id="10" name="Text 8"/>
          <p:cNvSpPr txBox="1"/>
          <p:nvPr/>
        </p:nvSpPr>
        <p:spPr>
          <a:xfrm>
            <a:off x="4757284" y="2322576"/>
            <a:ext cx="79298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11" name="Text 9"/>
          <p:cNvSpPr txBox="1"/>
          <p:nvPr/>
        </p:nvSpPr>
        <p:spPr>
          <a:xfrm>
            <a:off x="5513689" y="2322576"/>
            <a:ext cx="75640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2" name="Text 10"/>
          <p:cNvSpPr txBox="1"/>
          <p:nvPr/>
        </p:nvSpPr>
        <p:spPr>
          <a:xfrm>
            <a:off x="6306670" y="2560320"/>
            <a:ext cx="1164317" cy="73152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000</a:t>
            </a:r>
            <a:endParaRPr lang="en-US" sz="1700" dirty="0"/>
          </a:p>
        </p:txBody>
      </p:sp>
      <p:sp>
        <p:nvSpPr>
          <p:cNvPr id="13" name="Text 11"/>
          <p:cNvSpPr txBox="1"/>
          <p:nvPr/>
        </p:nvSpPr>
        <p:spPr>
          <a:xfrm>
            <a:off x="6306670" y="3346704"/>
            <a:ext cx="116431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funct3</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add</a:t>
            </a:r>
            <a:endParaRPr lang="en-US" sz="1300" dirty="0"/>
          </a:p>
        </p:txBody>
      </p:sp>
      <p:sp>
        <p:nvSpPr>
          <p:cNvPr id="14" name="Text 12"/>
          <p:cNvSpPr txBox="1"/>
          <p:nvPr/>
        </p:nvSpPr>
        <p:spPr>
          <a:xfrm>
            <a:off x="6343246" y="2322576"/>
            <a:ext cx="58215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15" name="Text 13"/>
          <p:cNvSpPr txBox="1"/>
          <p:nvPr/>
        </p:nvSpPr>
        <p:spPr>
          <a:xfrm>
            <a:off x="6888828" y="2322576"/>
            <a:ext cx="54558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16" name="Text 14"/>
          <p:cNvSpPr txBox="1"/>
          <p:nvPr/>
        </p:nvSpPr>
        <p:spPr>
          <a:xfrm>
            <a:off x="7470987" y="2560320"/>
            <a:ext cx="1585962" cy="73152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00110</a:t>
            </a:r>
            <a:endParaRPr lang="en-US" sz="1700" dirty="0"/>
          </a:p>
        </p:txBody>
      </p:sp>
      <p:sp>
        <p:nvSpPr>
          <p:cNvPr id="17" name="Text 15"/>
          <p:cNvSpPr txBox="1"/>
          <p:nvPr/>
        </p:nvSpPr>
        <p:spPr>
          <a:xfrm>
            <a:off x="7470987" y="3346704"/>
            <a:ext cx="1585962"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t1 è x6</a:t>
            </a:r>
            <a:endParaRPr lang="en-US" sz="1300" dirty="0"/>
          </a:p>
        </p:txBody>
      </p:sp>
      <p:sp>
        <p:nvSpPr>
          <p:cNvPr id="18" name="Text 16"/>
          <p:cNvSpPr txBox="1"/>
          <p:nvPr/>
        </p:nvSpPr>
        <p:spPr>
          <a:xfrm>
            <a:off x="7507563" y="2322576"/>
            <a:ext cx="79298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19" name="Text 17"/>
          <p:cNvSpPr txBox="1"/>
          <p:nvPr/>
        </p:nvSpPr>
        <p:spPr>
          <a:xfrm>
            <a:off x="8263968" y="2322576"/>
            <a:ext cx="75640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20" name="Text 18"/>
          <p:cNvSpPr txBox="1"/>
          <p:nvPr/>
        </p:nvSpPr>
        <p:spPr>
          <a:xfrm>
            <a:off x="9056949" y="2560320"/>
            <a:ext cx="2220347" cy="731520"/>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0010011</a:t>
            </a:r>
            <a:endParaRPr lang="en-US" sz="1700" dirty="0"/>
          </a:p>
        </p:txBody>
      </p:sp>
      <p:sp>
        <p:nvSpPr>
          <p:cNvPr id="21" name="Text 19"/>
          <p:cNvSpPr txBox="1"/>
          <p:nvPr/>
        </p:nvSpPr>
        <p:spPr>
          <a:xfrm>
            <a:off x="9056949" y="3346704"/>
            <a:ext cx="222034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opcode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registro-immediato</a:t>
            </a:r>
            <a:endParaRPr lang="en-US" sz="1300" dirty="0"/>
          </a:p>
        </p:txBody>
      </p:sp>
      <p:sp>
        <p:nvSpPr>
          <p:cNvPr id="22" name="Text 20"/>
          <p:cNvSpPr txBox="1"/>
          <p:nvPr/>
        </p:nvSpPr>
        <p:spPr>
          <a:xfrm>
            <a:off x="9093525" y="2322576"/>
            <a:ext cx="111017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23" name="Text 21"/>
          <p:cNvSpPr txBox="1"/>
          <p:nvPr/>
        </p:nvSpPr>
        <p:spPr>
          <a:xfrm>
            <a:off x="10167122" y="2322576"/>
            <a:ext cx="107359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4" name="Text 22"/>
          <p:cNvSpPr txBox="1"/>
          <p:nvPr/>
        </p:nvSpPr>
        <p:spPr>
          <a:xfrm>
            <a:off x="548640" y="4206240"/>
            <a:ext cx="11094415" cy="640080"/>
          </a:xfrm>
          <a:prstGeom prst="rect">
            <a:avLst/>
          </a:prstGeom>
          <a:noFill/>
          <a:ln/>
        </p:spPr>
        <p:txBody>
          <a:bodyPr wrap="square" lIns="0" tIns="0" rIns="0" bIns="0" rtlCol="0" anchor="ctr"/>
          <a:lstStyle/>
          <a:p>
            <a:pPr algn="ctr" indent="0" marL="0">
              <a:buNone/>
            </a:pPr>
            <a:r>
              <a:rPr lang="en-US" sz="3400" b="1" dirty="0">
                <a:solidFill>
                  <a:srgbClr val="1B2530"/>
                </a:solidFill>
                <a:latin typeface="Courier New" pitchFamily="34" charset="0"/>
                <a:ea typeface="Courier New" pitchFamily="34" charset="-122"/>
                <a:cs typeface="Courier New" pitchFamily="34" charset="-120"/>
              </a:rPr>
              <a:t>0x00130313</a:t>
            </a:r>
            <a:endParaRPr lang="en-US" sz="3400" dirty="0"/>
          </a:p>
        </p:txBody>
      </p:sp>
      <p:sp>
        <p:nvSpPr>
          <p:cNvPr id="25" name="Shape 23"/>
          <p:cNvSpPr/>
          <p:nvPr/>
        </p:nvSpPr>
        <p:spPr>
          <a:xfrm>
            <a:off x="548640" y="5074920"/>
            <a:ext cx="11094415" cy="1097280"/>
          </a:xfrm>
          <a:prstGeom prst="roundRect">
            <a:avLst>
              <a:gd name="adj" fmla="val 6667"/>
            </a:avLst>
          </a:prstGeom>
          <a:solidFill>
            <a:srgbClr val="D8ECEE"/>
          </a:solidFill>
          <a:ln w="12700">
            <a:solidFill>
              <a:srgbClr val="D8ECEE"/>
            </a:solidFill>
            <a:prstDash val="solid"/>
          </a:ln>
        </p:spPr>
      </p:sp>
      <p:sp>
        <p:nvSpPr>
          <p:cNvPr id="26" name="Text 24"/>
          <p:cNvSpPr txBox="1"/>
          <p:nvPr/>
        </p:nvSpPr>
        <p:spPr>
          <a:xfrm>
            <a:off x="822960" y="5120640"/>
            <a:ext cx="10545775" cy="100584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L'assembly è una scrittura leggibile del codice macchina. L'assemblatore traduce ogni riga in una parola di 32 bit; il processore legge i campi con circuiti logici che più avanti nel corso progetteremo noi stessi.</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un microscopio per i registri</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Esegue la stessa cartuccia sul vostro computer, un'istruzione alla volta</a:t>
            </a:r>
            <a:endParaRPr lang="en-US" sz="2400" dirty="0"/>
          </a:p>
        </p:txBody>
      </p:sp>
      <p:sp>
        <p:nvSpPr>
          <p:cNvPr id="5" name="Shape 3"/>
          <p:cNvSpPr/>
          <p:nvPr/>
        </p:nvSpPr>
        <p:spPr>
          <a:xfrm>
            <a:off x="548640" y="3000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878328"/>
            <a:ext cx="546811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Si ferma tra due istruzioni qualsiasi e mostra tutti i registri</a:t>
            </a:r>
            <a:endParaRPr lang="en-US" sz="2400" dirty="0"/>
          </a:p>
        </p:txBody>
      </p:sp>
      <p:sp>
        <p:nvSpPr>
          <p:cNvPr id="7" name="Shape 5"/>
          <p:cNvSpPr/>
          <p:nvPr/>
        </p:nvSpPr>
        <p:spPr>
          <a:xfrm>
            <a:off x="548640" y="408940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67480"/>
            <a:ext cx="546811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Eseguite first_update passo-passo e guardate cambiare t0 e t1</a:t>
            </a:r>
            <a:endParaRPr lang="en-US" sz="2400" dirty="0"/>
          </a:p>
        </p:txBody>
      </p:sp>
      <p:sp>
        <p:nvSpPr>
          <p:cNvPr id="9" name="Shape 7"/>
          <p:cNvSpPr/>
          <p:nvPr/>
        </p:nvSpPr>
        <p:spPr>
          <a:xfrm>
            <a:off x="548640" y="51785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56632"/>
            <a:ext cx="546811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Usate la scheda quando volete la verità sul tempo, PRG32-QT quando volete la verità su un registro</a:t>
            </a:r>
            <a:endParaRPr lang="en-US" sz="2400" dirty="0"/>
          </a:p>
        </p:txBody>
      </p:sp>
      <p:pic>
        <p:nvPicPr>
          <p:cNvPr id="11" name="Image 0" descr="/Users/raffaelemontella/devel/riscv-prg32/computer-architecture-with-prg32/tools/assets/prg32qt_debugger.png">    </p:cNvPr>
          <p:cNvPicPr>
            <a:picLocks noChangeAspect="1"/>
          </p:cNvPicPr>
          <p:nvPr/>
        </p:nvPicPr>
        <p:blipFill>
          <a:blip r:embed="rId1"/>
          <a:stretch>
            <a:fillRect/>
          </a:stretch>
        </p:blipFill>
        <p:spPr>
          <a:xfrm>
            <a:off x="6766560" y="1882245"/>
            <a:ext cx="4876495" cy="3367829"/>
          </a:xfrm>
          <a:prstGeom prst="rect">
            <a:avLst/>
          </a:prstGeom>
        </p:spPr>
      </p:pic>
      <p:sp>
        <p:nvSpPr>
          <p:cNvPr id="12" name="Text 9"/>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debugger di PRG32-QT: codice, registri, memoria</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Tracciare a mano: tre frame di first_update</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13452"/>
                <a:gridCol w="2253553"/>
                <a:gridCol w="2426903"/>
                <a:gridCol w="2600254"/>
                <a:gridCol w="26002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lw: t1 diventa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addi: t1 diventa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sw: counter diventa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Larghezza barra (andi 255)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257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Al frame 256 il contatore continua a crescere, ma i suoi otto bit bassi tornano a zero: la barra ricomincia.</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04</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Che cosa viene dopo</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Ogni domanda sollevata qui ha una lezione che le risponde.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Domande che il vostro programma ha già sollevato</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757786"/>
                <a:gridCol w="4652497"/>
                <a:gridCol w="2684133"/>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Avete visto</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La domanda</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Risposta in</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0x07e0, 0xffff, 255</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Perché i programmatori scrivono i numeri in esadecimale?</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Lezioni 04 e 05</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una posizione sotto zero mostrata come 0xFFFFFFFF</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Come fa un registro a contenere un numero negativo?</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Lezione 05</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una palla che si muove meno di un pixel per frame</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Come si rappresentano le frazioni senza FPU?</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Lezione 06</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andi a2, t1, 255</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Che cosa fa AND a trentadue bit in un colpo solo?</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Lezioni 08 e 09</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addi t1, t1, 1</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Quale circuito somma davvero due numeri?</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Lezione 09: gli addizionatori</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un pulsante premuto è un 1</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Di che cosa è fatto, fisicamente, un bit?</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Lezione 10</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counter sopravvive tra i frame</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Come fa un circuito a ricordare un bit?</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Lezioni 13 e 15</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0x00130313</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Come fa il processore a decodificarla ed eseguirla?</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Lezioni 18 e 19</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tre funzioni e un rettangolo</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Posso farci un gioco intero?</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Verm1: 07, 12, 17, 22</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Dopo la t0, counter e lw t1, 0(t0), che cosa contiene t0?</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Il valore del contatore</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L'indirizzo del contatore</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Zero, perché la azzera il registro</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L'indirizzo di ritorno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Una funzione che chiama prg32_gfx_clear deve salvare un registro prima della chiamata. Quale?</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a0, perché porta l'argomento</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sp, perché lo stack si sposta</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ra, perché call lo sovrascrive</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t0, perché è temporaneo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t1 contiene 300. Che cosa lascia in a2 l'istruzione andi a2, t1, 255?</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300</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255</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45</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44</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Esercizi su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Cambiate la stringa del titolo e il suo colore in giallo (0xffe0); eseguite di nuovo</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Fate crescere la barra a velocità doppia, poi quadrupla, cambiando una sola istruzione</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Fate accorciare la barra invece di farla crescere. Che cosa accade quando il contatore supera lo zero?</a:t>
            </a:r>
            <a:endParaRPr lang="en-US" sz="2000" dirty="0"/>
          </a:p>
        </p:txBody>
      </p:sp>
      <p:sp>
        <p:nvSpPr>
          <p:cNvPr id="10" name="Text 8"/>
          <p:cNvSpPr txBox="1"/>
          <p:nvPr/>
        </p:nvSpPr>
        <p:spPr>
          <a:xfrm>
            <a:off x="548640" y="37124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69417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PRG32-QT eseguite first_update passo-passo e annotate t0 e t1 dopo ogni istruzione</a:t>
            </a:r>
            <a:endParaRPr lang="en-US" sz="2000" dirty="0"/>
          </a:p>
        </p:txBody>
      </p:sp>
      <p:sp>
        <p:nvSpPr>
          <p:cNvPr id="12" name="Text 10"/>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Disegnate una seconda barra, rossa, larga quanto il contatore modulo 64</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Nell'esercizio 3 il contatore va a 0, poi a 0xFFFFFFFF: con andi 255 la barra salta a 255 e si accorcia. Conservate l'osservazione: la spiega la Lezione 05.</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84133"/>
                <a:gridCol w="2863075"/>
                <a:gridCol w="2684133"/>
                <a:gridCol w="286307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pila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load / store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caricare / memorizzare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 pointer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puntatore alla pila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address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indirizzo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return address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indirizzo di ritorno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immediate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immediato (costante)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calling convention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convenzione di chiamata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branch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salto condizionato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codice macchina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label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etichetta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cartridge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cartuccia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Riepilogo e letture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processore RISC-V è fatto di trentadue registri e di un piccolo insieme di istruzioni che calcolano, spostano e saltano</a:t>
            </a:r>
            <a:endParaRPr lang="en-US" sz="2200" dirty="0"/>
          </a:p>
        </p:txBody>
      </p:sp>
      <p:sp>
        <p:nvSpPr>
          <p:cNvPr id="5" name="Shape 3"/>
          <p:cNvSpPr/>
          <p:nvPr/>
        </p:nvSpPr>
        <p:spPr>
          <a:xfrm>
            <a:off x="548640" y="247586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69439"/>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gioco PRG32 sono tre funzioni; gli argomenti viaggiano in a0-a7; una funzione che ne chiama un'altra salva ra</a:t>
            </a:r>
            <a:endParaRPr lang="en-US" sz="2200" dirty="0"/>
          </a:p>
        </p:txBody>
      </p:sp>
      <p:sp>
        <p:nvSpPr>
          <p:cNvPr id="7" name="Shape 5"/>
          <p:cNvSpPr/>
          <p:nvPr/>
        </p:nvSpPr>
        <p:spPr>
          <a:xfrm>
            <a:off x="548640" y="34279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2155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 variabili vivono in memoria: la per l'indirizzo, lw e sw per il valore</a:t>
            </a:r>
            <a:endParaRPr lang="en-US" sz="2200" dirty="0"/>
          </a:p>
        </p:txBody>
      </p:sp>
      <p:sp>
        <p:nvSpPr>
          <p:cNvPr id="9" name="Shape 7"/>
          <p:cNvSpPr/>
          <p:nvPr/>
        </p:nvSpPr>
        <p:spPr>
          <a:xfrm>
            <a:off x="548640" y="40392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32809"/>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Un'istruzione è un numero a 32 bit; l'assembly è la sua scrittura leggibile</a:t>
            </a:r>
            <a:endParaRPr lang="en-US" sz="2200" dirty="0"/>
          </a:p>
        </p:txBody>
      </p:sp>
      <p:sp>
        <p:nvSpPr>
          <p:cNvPr id="11" name="Shape 9"/>
          <p:cNvSpPr/>
          <p:nvPr/>
        </p:nvSpPr>
        <p:spPr>
          <a:xfrm>
            <a:off x="548640" y="4650486"/>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44060"/>
            <a:ext cx="10710367" cy="162814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Letture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capitolo 5: First Contact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Struttura e progetto dei calcolatori, edizione RISC-V, capitolo 2</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Repository di PRG32: docs/learn/tutorial_ascii_game.md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Primo contatto: l'assembly RISC-V su PRG32</dc:title>
  <dc:subject>Lezione 02</dc:subject>
  <dc:creator>Raffaele Montella</dc:creator>
  <cp:lastModifiedBy>Raffaele Montella</cp:lastModifiedBy>
  <cp:revision>1</cp:revision>
  <dcterms:created xsi:type="dcterms:W3CDTF">2026-10-12T11:28:40Z</dcterms:created>
  <dcterms:modified xsi:type="dcterms:W3CDTF">2026-10-12T11:28:40Z</dcterms:modified>
</cp:coreProperties>
</file>