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b312edbc-f053-1f72-01cc-951aa7dfa9ae}">
          <p14:sldIdLst>
            <p14:sldId id="256"/>
            <p14:sldId id="257"/>
          </p14:sldIdLst>
        </p14:section>
        <p14:section name="La macchina" id="{04b2b4ec-69ae-7662-150f-74fdc335f027}">
          <p14:sldIdLst>
            <p14:sldId id="258"/>
            <p14:sldId id="259"/>
            <p14:sldId id="260"/>
            <p14:sldId id="261"/>
            <p14:sldId id="262"/>
            <p14:sldId id="263"/>
          </p14:sldIdLst>
        </p14:section>
        <p14:section name="La prima cartuccia" id="{fc75ac91-7685-fabe-8423-ef3fec6b94bf}">
          <p14:sldIdLst>
            <p14:sldId id="264"/>
            <p14:sldId id="265"/>
          </p14:sldIdLst>
        </p14:section>
        <p14:section name="Leggere ciò che avete scritto" id="{62f4c20e-efbc-5494-4f67-b5626eea14e3}">
          <p14:sldIdLst>
            <p14:sldId id="266"/>
            <p14:sldId id="267"/>
            <p14:sldId id="268"/>
            <p14:sldId id="269"/>
          </p14:sldIdLst>
        </p14:section>
        <p14:section name="Che cosa viene dopo" id="{caf86d52-9f01-f25e-42c9-f04683d1bbc5}">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È la prima lezione in cui si scrive un programma, e precede di proposito ogni teoria. Nell'arco di due ore lo studente costruisce quattro piccole cartucce, ciascuna un programma completo che gira. La piena comprensione di ogni dettaglio oggi non è né attesa né richiesta. Lo scopo è osservare al lavoro registri, memoria e una chiamata di procedura, così che le lezioni successive abbiano fenomeni concreti da spiegare. La citazione fissa il tono della sessione: meno parole, più codice.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registri, calcolo, trasferimento, salto; i registri; funzioni, chiamata e ritorno; contratto init/update/draw; leggere una riga di assembly; gli argomenti in a0 ... a7; perché si salva ra; indirizzo, valore, load, store; le istruzioni di base; le pseudo-istruzioni; un'istruzione è un numero; seguire a mano l'esecuzione. DA UTILIZZARE OGGI: l'esadecimale (Lezione 04); bit, byte, parola (Lezione 04); la convenzione di chiamata (Lezione 18); le maschere di bit (Lezione 08) e, usati senza essere studiati nel corso, le direttive dell'assemblatore, gli strumenti di PRG32, le chiamate del runtime PRG32, il debugger di PRG32-QT, il programma completo. DA COMPRENDERE PIÙ AVANTI: la pila (Lezione 18); i modi di indirizzamento (Lezione 19); formati delle istruzioni (Lezione 19); il complemento a due (Lezione 05); la virgola fissa (Lezione 06); l'algebra di Boole (Lezione 08); il sommatore (Lezione 09); dai volt ai bit (Lezione 10); latch e flip-flop (Lezione 13); il ciclo del processore (Lezione 19); il progetto Verm1 (Lezione 07). Una slide senza etichetta è contesto: una storia, un esempio, una domanda, un esercizio.
Percorso. I risultati di oggi: (1) compilare ed eseguire una cartuccia, e dire quando il runtime chiama init, update e draw; (2) leggere una riga di assembly: etichetta, istruzione, operandi, commento; (3) distinguere un indirizzo da un valore, e tracciare che cosa lasciano la, lw, addi e sw nei registri e in memoria. Si appoggia su: solo ciò che ha preparato la Lezione 01. Prossimo passo: Lezione 03, Storia della computazione.
Per il docente: Lezione nuova del 2026/27. È il turno «gioca» della spirale per tutta la prima metà del corso: ogni lezione successiva rimanda a qualcosa scritto qui. I quattro passi sono quelli verificati del laboratorio 05-asm-first-contact del libro di PRG32; eseguirli dal vivo (labs/run.sh 05-asm-first-contact/stepN_....S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contratto della lezione, ed è volutamente breve. Tre risultati, ciascuno con una verifica che lo studente può vedere (un'etichetta, nel secondo, è un nome che segna un punto del programma; la slide 9 ne mostra una): il punto di controllo 1 verifica il primo, il biglietto d'uscita il secondo, e il punto di controllo 2, la traccia, il terzo. Gli unici prerequisiti sono quelli della Lezione 01: sapere che cos'è un programma, usare il terminale e avere PRG32-QT funzionante. Il programma di oggi contiene anche cose che si usano senza capirle: lo stack frame che salva ra, la convenzione di chiamata, la codifica di un'istruzione come numero. Servono a far girare il programma, e le ultime slide della lezione dicono quale lezione spiega ciascuna di esse. Uno studente che alla fine sa fare le tre cose di questa slide ha raggiunto l'obiettivo del giorno, anche se molto altro resta poco chiaro.
Per il docente: Leggere ad alta voce il contratto e tornarci alla fine. Tre risultati, tre verifiche: il punto di controllo 1 (dopo il contratto), il punto di controllo 2 (la traccia) e il biglietto d'uscita. Tutto il resto che compare oggi nelle slide va visto e usato, non padroneggiato.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del primo programma, una parola su come sono scritti i suoi numeri, perché il codice assembly ne è pieno. Il computer conserva tutto come bit, cifre che possono valere solo 0 o 1. Un numero scritto con i bit è in binario, o base 2: ogni posizione vale il doppio di quella alla sua destra, quindi 1010 vale 8 + 2 = 10. Il binario è esatto ma lungo, e le lunghe file di zeri e uni si leggono male.
I programmatori raggruppano perciò i bit quattro alla volta e scrivono ogni gruppo con una sola cifra esadecimale, base 16. Le cifre sono da 0 a 9 e poi A, B, C, D, E e F per i valori da dieci a quindici. Il prefisso 0x indica che un numero è esadecimale, quindi 0x10 vale sedici e non dieci. Poiché una cifra esadecimale corrisponde esattamente a quattro bit, passare dall'una all'altra notazione significa leggere quattro bit alla volta, come mostra la didascalia per il colore verde, 0x07E0. Oggi basta riconoscere queste notazioni. La Lezione 04 le spiega per bene, con le conversioni nei due sensi.
DA UTILIZZARE OGGI: l'esadecimale (si studia nella Lezione 04); bit, byte, parola (si studia nella Lezione 04).
Per il docente: Il computer conserva tutto come bit, cifre che valgono 0 o 1: un numero scritto con i bit è in binario, base 2. Le lunghe file di bit sono difficili da leggere, così i programmatori le raggruppano quattro alla volta e scrivono ogni gruppo con una cifra esadecimale, base 16: da 0 a 9, poi da A a F per i valori da dieci a quindici. Il prefisso 0x dice che un numero è esadecimale. Oggi basta riconoscere questi numeri; la Lezione 04 spiega come convertirli.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L'intera macchina è descritta da quattro schede. Ci sono 32 registri, ciascuno contenente un valore a 32 bit, e il processore può operare solo su valori contenuti nei registri. Le istruzioni si dividono in tre classi. Calcolo: operazioni aritmetiche e logiche tra registri, come add o addi. Trasferimento: spostamenti tra un registro e la memoria, lw per caricare una parola, un gruppo di 32 bit, cioè quattro byte, e sw per memorizzarla; nessun'altra istruzione accede alla memoria. Salto: istruzioni che cambiano quale istruzione verrà eseguita dopo. È la disciplina load-store di RISC-V, e ogni calcolo che un computer esegue è una lunga sequenza di questi tre tipi.
DA COMPRENDERE OGGI: registri, calcolo, trasferimento, salto.
Per il docente: Questa è quasi tutta la macchina. La ricchezza del calcolo non viene da un insieme di istruzioni ampio, ma dal combinarne uno piccolo in lunghe sequenze.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registri hanno nomi che ne riflettono l'uso. Da a0 ad a7 passano gli argomenti di una chiamata, e a0 restituisce anche il risultato. Da t0 a t6 sono temporanei, liberamente utilizzabili e non conservati attraverso le chiamate. Da s0 a s11 sono conservati attraverso le chiamate. ra contiene l'indirizzo di ritorno, sp la cima dello stack, una zona di memoria in cui le funzioni tengono valori per un po' (il passo 2, nella presentazione del codice, mostra come), e zero vale sempre 0. La didascalia contiene il punto essenziale: questi ruoli non sono imposti dall'hardware, che tratta in modo identico i registri da x1 a x31. Sono un accordo, la convenzione di chiamata, ed è questo accordo che permette all'assembly scritto dallo studente e al codice C del framework di chiamarsi a vicenda. Oggi la si usa; la si studia formalmente nella Lezione 18.
DA COMPRENDERE OGGI: i registri. DA UTILIZZARE OGGI: la convenzione di chiamata (si studia nella Lezione 18).
Per il docente: I ruoli non sono fissati dall'hardware ma da un accordo: la convenzione di chiamata, o ABI. Rispettarla è ciò che permette al vostro assembly e al codice C del framework di chiamarsi a vicenda.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parola funzione comparirà in quasi ogni slide da qui in avanti, e va quindi definita. Una funzione è una sequenza di istruzioni che svolge un compito, come cancellare lo schermo o disegnare una lettera. Comincia a un'etichetta, un nome che segna un punto del programma, e l'etichetta è il nome della funzione. Chiamare una funzione significa saltare alla sua prima istruzione dopo aver annotato dove tornare; l'istruzione RISC-V call fa entrambe le cose insieme. Finito il compito, la funzione ritorna: l'istruzione ret salta all'istruzione che segue la chiamata.
Di solito una funzione ha bisogno di alcuni valori per svolgere il suo compito, come la posizione e il colore di una lettera. Sono i suoi argomenti, e in RISC-V vanno messi nei registri da a0 ad a7 prima della chiamata. Il codice che chiama è il chiamante, la funzione chiamata è il chiamato. Il punto a cui tornare è conservato nel registro ra, l'indirizzo di ritorno. Questo dettaglio va ricordato: spiega perché il programma del passo 2 salva ra prima delle proprie chiamate.
DA COMPRENDERE OGGI: funzioni, chiamata e ritorno.
Per il docente: Il chiamante è il codice che chiama; il chiamato è la funzione chiamata. Il punto a cui tornare è conservato nel registro ra, l'indirizzo di ritorno: per questo il passo 2 salva ra prima delle proprie chiamate e lo ripristina prima di 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L'interfaccia tra un gioco e PRG32 è un contratto di tre funzioni fornite dal programmatore. init è chiamata una volta, all'avvio della cartuccia, per stabilire lo stato iniziale. update è chiamata una volta per frame, per leggere l'ingresso e modificare lo stato. draw è chiamata una volta per frame, per rendere lo stato come immagine. Il firmware le trova per nome: un prefisso scelto dal programmatore seguito da _init, _update e _draw. La separazione delle responsabilità va adottata dal primo giorno: update decide, draw mostra, e nessuna delle due fa il lavoro dell'altra.
DA COMPRENDERE OGGI: contratto init/update/draw.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punto di controllo, dopo il contratto delle tre funzioni. Gli studenti rispondono da soli per un minuto, poi si accordano con il vicino, poi la classe verifica insieme. Le risposte: init è chiamata una volta, all'avvio della cartuccia; update e draw sono chiamate una volta per frame, quindi 2 secondi a 30 frame al secondo danno 60 chiamate ciascuna. Solo le istruzioni di trasferimento, lw e sw, leggono o scrivono la memoria; quelle di calcolo lavorano solo sui registri, e i salti cambiano quale istruzione viene eseguita dopo. La risposta sbagliata più comune è che init giri a ogni frame: conviene chiedere chi ha scelto 60 per init, e perché. Chi non sa rispondere alla seconda domanda riguardi la scheda Trasferimento della slide 4.
Per il docente: Fermarsi qui due o tre minuti. Raccogliere un'alzata di mano per init: la risposta sbagliata più comune è 60. Le risposte sono nelle note della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del primo listato, una guida per leggerlo. Una riga di assembly ha al più quattro parti, e la tabella le nomina. Un'etichetta è un nome seguito dai due punti; segna un punto del programma, spesso l'inizio di una funzione. L'istruzione è l'operazione da eseguire. Gli operandi sono ciò su cui l'istruzione lavora, e in RISC-V la destinazione viene sempre per prima. Un commento comincia con # e arriva a fine riga; è scritto per le persone, e l'assemblatore lo ignora.
Una riga che comincia con un punto è una direttiva. È un'istruzione per l'assemblatore, non per il processore: .section .text, per esempio, dice che il codice che segue va messo tra le istruzioni eseguibili. La didascalia mostra una riga completa. Si legge "metti in t1 il valore di t1 più 1", che un matematico scriverebbe t1 = t1 + 1. Righe vuote e rientri non cambiano il programma; lo rendono solo più facile da leggere, e anche questo conta.
DA COMPRENDERE OGGI: leggere una riga di assembly.
Per il docente: La riga addi t1, t1, 1 si legge ad alta voce così: metti in t1 il valore di t1 più 1. La destinazione viene per prima, come nell'assegnamento t1 = t1 + 1. Una riga può contenere un'etichetta, un'istruzione, un commento, o più d'uno di questi; righe vuote e rientri contano per chi legge, non per l'assemblatore.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separa due nozioni che i principianti confondono di continuo: un indirizzo e un valore. Il contatore è una variabile, un posto in memoria con un nome, il cui valore il programma cambia. Dopo la, t0 contiene dove è memorizzato il contatore; dopo lw, t1 contiene che cosa vi è memorizzato, 41 nel disegno. addi modifica la copia nel registro portandola a 42, mentre la memoria continua a contenere 41 finché sw non riscrive il nuovo valore. Le due frecce vanno seguite con attenzione. Il riquadro a destra raccomanda un'abitudine da prendere subito: annotare nei commenti ogni registro come contenente un INDIRIZZO o un VALORE. Questa semplice disciplina previene l'errore più frequente del primo mese. I modi in cui un'istruzione può designare i propri operandi, i modi di indirizzamento, si studiano nella Lezione 19.
DA COMPRENDERE OGGI: indirizzo, valore, load, store. DA COMPRENDERE PIÙ AVANTI: i modi di indirizzamento (si studia nella Lezione 19).
Per il docente: Un'etichetta dà un nome a una locazione. la dà la locazione, lw dà il contenuto. È così che funziona, in ultima analisi, ogni variabile di ogni programma; ci si torna formalmente con i modi di indirizzamento.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famiglie comprendono ogni istruzione scritta oggi: aritmetiche (add, sub), logiche (and, or, xor), forme immediate che prendono una piccola costante (addi, andi), di memoria (lw, sw) e di controllo (call, ret). In ogni istruzione il risultato va nel primo registro nominato: add t0, t1, t2 mette t1 + t2 in t0. L'insieme di istruzioni intere di base, RV32I, conta circa quaranta istruzioni; un quarto di esse è già stato usato.
DA COMPRENDERE OGGI: le istruzioni di base.
Per il docente: Il risultato va nel primo registro. L'insieme di base delle istruzioni intere di RISC-V (RV32I) ha circa quaranta istruzioni; ne avete già incontrato un quarto.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Diverse istruzioni scritte oggi non esistono nell'hardware: sono pseudo-istruzioni, comodità di notazione che l'assemblatore espande in istruzioni reali. li t0, 42 diventa addi t0, zero, 42; mv è un addi con costante 0; ret è un salto indiretto all'indirizzo in ra; beqz è un confronto con il registro zero. La frequenza con cui zero compare nella colonna centrale è istruttiva: un registro cablato a 0 permette a un piccolo insieme di istruzioni di fare il lavoro di uno molto più grande, un'economia caratteristica del progetto RISC.
DA COMPRENDERE OGGI: le pseudo-istruzioni.
Per il docente: Una pseudo-istruzione non è un'operazione hardware a sé. È il registro zero a renderne possibili molte: un insieme di istruzioni piccolo, riusato con cura.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Un'istruzione è un numero. addi t1, t1, 1 è la parola a 32 bit 0x00130313, e la striscia colorata ne mostra i campi: dodici bit per la costante 1, cinque per il registro sorgente (t1 è il registro numero 6), tre che selezionano l'addizione, cinque per il registro destinazione e sette per l'opcode, che identifica la classe dell'istruzione. Il formato non va memorizzato ora; è l'argomento della Lezione 19. Ciò che conta oggi è il principio: l'assembly è una notazione leggibile per il codice macchina, e un'istruzione memorizzata è un dato come un altro. È l'idea del programma memorizzato, che la prossima lezione colloca nel suo contesto storico.
DA COMPRENDERE OGGI: un'istruzione è un numero. DA COMPRENDERE PIÙ AVANTI: formati delle istruzioni (si studia nella Lezione 19).
Per il docente: Verifica: 0000 0000 0001 | 00110 | 000 | 00110 | 0010011 = 0000 0000 0001 0011 0000 0011 0001 0011 = 0x00130313. Non spiegare ora i formati; il punto è solo che un'istruzione è un dato. La Lezione 04 (informazione digitale) e le lezioni sul processore tornano su questa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punto di controllo è una traccia a mano: la registrazione, frame per frame, di ciò che ogni istruzione lascia in t1 e in memoria. Le prime due righe sono svolte; gli studenti completano per tre minuti le righe segnate con ?, e le risposte si rivelano poi eseguendo passo passo in PRG32-QT. Frame 256: lw dà 255, addi 256, sw memorizza 256, e la larghezza è 0. Frame 257: 256, 257, 257 e una larghezza di 1. La sorpresa è la larghezza: andi con 255 conserva solo gli otto bit meno significativi, e 256 in binario è un uno seguito da otto zeri, quindi la maschera calcola il resto modulo 256, un fatto usato oggi e spiegato nella Lezione 08. Chi ha scritto 256 come larghezza ha tracciato bene il contatore e ha dimenticato la maschera: l'errore più istruttivo della giornata. Tracciare a mano è lento e poco brillante, ed è l'abilità di debug più preziosa che questo corso insegni.
DA COMPRENDERE OGGI: seguire a mano l'esecuzione.
Per il docente: La traccia a mano è l'abilità di debug più preziosa del corso. Dare tre minuti per completare le due righe, poi rivelarle in PRG32-QT: 255, 256, 256, 0 e 256, 257, 257, 1. 256 = 1 0000 0000 in binario: gli otto bit bassi sono tutti zero, quindi la barra ricomincia.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tabella dice che cosa lo studente non deve ancora capire. Ogni riga registra qualcosa osservato o usato oggi, la domanda che solleva e la lezione che risponde. Perché l'esadecimale? Lezioni 04 e 05. Come fa un registro a contenere un numero negativo? Lezione 05. Che cosa fa AND a trentadue bit in una volta? Lezioni 08 e 09. Come fa un circuito a ricordare un bit? Lezioni 13 e 15. Come viene decodificato ed eseguito 0x00130313? Lezioni 18 e 19, che spiegano anche lo stack frame usato nel passo 2. L'ultima riga è il progetto: da tre funzioni e un rettangolo a un gioco completo. Usare oggi queste cose senza capirle non è un fallimento; è il metodo del corso, e la tabella è la mappa che dice quando ogni domanda avrà risposta.
DA COMPRENDERE PIÙ AVANTI: l'esadecimale (si studia nella Lezione 04); il complemento a due (si studia nella Lezione 05); la virgola fissa (si studia nella Lezione 06); l'algebra di Boole (si studia nella Lezione 08); il sommatore (si studia nella Lezione 09); dai volt ai bit (si studia nella Lezione 10); latch e flip-flop (si studia nella Lezione 13); il ciclo del processore (si studia nella Lezione 19); il progetto Verm1 (si studia nella Lezione 07).
Per il docente: È la mappa in avanti del corso. Conservarne una copia: ogni presentazione successiva si apre indicando una di queste righe. L'ultima riga è il progetto: Verm1 parte nella Lezione 07 esattamente dallo scheletro di oggi.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mappa di chiusura ricostruisce in cinque riquadri il filo della lezione. Una cartuccia è fatta di tre funzioni che il runtime chiama: init una volta, update e draw a ogni frame. Mentre il programma calcola, i valori stanno nei registri. Tra un frame e l'altro abitano in memoria, a degli indirizzi, come variabili. Lo schema la, lw, addi, sw porta un valore dalla memoria a un registro, lo modifica e lo rimemorizza. E una traccia permette di prevedere lo schermo prima di eseguire il programma. La didascalia dice dove va ciascuna idea. Una buona domanda di chiusura per la classe: quale riquadro servirebbe per spiegare a un amico perché la barra verde ricomincia al frame 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domanda mette alla prova la distinzione tra indirizzo e valore. la carica in t0 l'indirizzo dell'etichetta; lw usa poi t0 per trovare la parola e ne copia il contenuto in t1, lasciando t0 invariato. t0 contiene quindi ancora l'indirizzo. Chi ha scelto "il valore" torni alla slide 10, quella con le due frecce.
La seconda domanda ruota attorno all'effetto di call, che scrive l'indirizzo di ritorno in ra. Una funzione che dovrà poi tornare al proprio chiamante ha bisogno del suo ra originale, che la chiamata ha appena sovrascritto. a0 è fatto per essere sovrascritto, sp è ripristinato dalla funzione chiamata, e t0 è un temporaneo che nessuno si è impegnato a conservare.
Per il docente: 1. Risposta: B. la carica l'indirizzo dell'etichetta; lw legge poi in t1 il valore memorizzato a quell'indirizzo.
2. Risposta: C. call scrive in ra l'indirizzo di ritorno. Le chiamate della funzione chiamata lo sovrascriverebbero: una funzione non foglia salva ra sullo stack e lo ripristina prima di 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calcolo si fa meglio in binario. 300 è uguale a 256 + 44: un uno nella posizione 8 seguito dagli otto bit di 44. La maschera 255 è fatta di otto uni. L'AND confronta i due numeri bit per bit e dà 1 solo dove entrambi i bit valgono 1, quindi conserva gli otto bit meno significativi e azzera tutti gli altri. Il risultato è 44. Sottrarre 255 da 300 dà 45, una risposta plausibile ma sbagliata: un AND bit a bit non è una sottrazione, e la distinzione tra operazioni aritmetiche e logiche sugli stessi bit ricorre in tutto il corso.
La seconda domanda verifica la lettura dell'esadecimale. 0x dice che ciò che segue è in base 16. La cifra 1 sta nella posizione dei sedici e F vale quindici unità, quindi il valore è 16 + 15 = 31. In binario ogni cifra esadecimale diventa quattro bit: 0001 1111, cioè 1 1111. I registri si chiamano da t0 a t6, quindi non esiste un registro t1F, e i commenti cominciano con #.
Per il docente: 1. Risposta: D. 300 = 256 + 44 = 1 0010 1100 in binario. AND con 1111 1111 conserva gli otto bit bassi: 0010 1100 = 44.
2. Risposta: B. 0x indica un numero esadecimale. 1 vale un sedici e F vale quindici unità: 16 + 15 = 31, cioè 1 1111 in binario.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Dodici termini della lezione, con l'italiano usato in aula. Load e store si nominano sempre dal punto di vista del processore: un load porta un valore dalla memoria a un registro, uno store lo rimanda indietro. Un immediato è una costante codificata dentro l'istruzione stessa. Un branch è un salto che avviene solo se vale una condizione. La convenzione di chiamata è l'accordo che regola i ruoli dei registri attraverso le chiamate di procedura.
Per il docente: Il corso si tiene in italiano; slide, note e libro esistono in inglese e in italiano, e la documentazione tecnica di PRG32 è in inglese. Questa tabella si ripete, argomento per argomento, in ogni presentazione.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proposizioni riassumono la lezione. Un processore RISC-V consiste di trentadue registri e di un piccolo insieme di istruzioni che calcolano, trasferiscono dati e cambiano il flusso di controllo. Un gioco PRG32 consiste di tre funzioni; gli argomenti viaggiano da a0 ad a7, e una funzione che ne chiama un'altra deve salvare ra. Le variabili risiedono in memoria: la dà l'indirizzo, lw e sw il valore. Un'istruzione è un numero a 32 bit, e l'assembly è la sua notazione leggibile. La prossima lezione fa un passo indietro per ripercorrere la storia che ha prodotto questa macchina.
Stato di apprendimento, riepilogo. DA COMPRENDERE OGGI: registri, calcolo, trasferimento, salto; i registri; funzioni, chiamata e ritorno; contratto init/update/draw; leggere una riga di assembly; gli argomenti in a0 ... a7; perché si salva ra; indirizzo, valore, load, store; le istruzioni di base; le pseudo-istruzioni; un'istruzione è un numero; seguire a mano l'esecuzione. DA UTILIZZARE OGGI: l'esadecimale (Lezione 04); bit, byte, parola (Lezione 04); la convenzione di chiamata (Lezione 18); le maschere di bit (Lezione 08) e, usati senza essere studiati nel corso, le direttive dell'assemblatore, gli strumenti di PRG32, le chiamate del runtime PRG32, il debugger di PRG32-QT, il programma completo. DA COMPRENDERE PIÙ AVANTI: la pila (Lezione 18); i modi di indirizzamento (Lezione 19); formati delle istruzioni (Lezione 19); il complemento a due (Lezione 05); la virgola fissa (Lezione 06); l'algebra di Boole (Lezione 08); il sommatore (Lezione 09); dai volt ai bit (Lezione 10); latch e flip-flop (Lezione 13); il ciclo del processore (Lezione 19); il progetto Verm1 (Lezione 07). Una slide senza etichetta è contesto: una storia, un esempio, una domanda, un esercizio. Il filo della lezione: Un programma è fatto di poche funzioni che il runtime chiama; ogni riga è un'istruzione; i valori stanno nei registri mentre si calcola e in memoria tra un frame e l'altro. Tutto il resto che avete usato oggi ha una sua lezione. Prossimo passo: da dove vengono queste idee. Biglietto d'uscita (da due a quattro minuti, da soli, su carta): 1. Leggete ad alta voce la riga  loop:  li a0, 32   # x . Nominatene etichetta, istruzione, operandi e commento. li è un'istruzione del processore? Che cosa ne fa l'assemblatore? 2. Il debugger mostra l'istruzione addi t1, t1, 1 conservata in memoria come la parola 0x00130313. Che cos'è quella parola, e che cosa vi dice su dove abita un programma?
Per il docente: Prossima lezione: la storia che ha portato a questa macchina.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02: Primo contatto con l'assembly RISC-V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Primo contatto: l'assembly RISC‑V su PRG32</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100" dirty="0">
                <a:solidFill>
                  <a:srgbClr val="CFE3EA"/>
                </a:solidFill>
                <a:latin typeface="Calibri" pitchFamily="34" charset="0"/>
                <a:ea typeface="Calibri" pitchFamily="34" charset="-122"/>
                <a:cs typeface="Calibri" pitchFamily="34" charset="-120"/>
              </a:rPr>
              <a:t>Registri, memoria e chiamata: un programma che gira prima di ogni teoria</a:t>
            </a:r>
            <a:endParaRPr lang="en-US" sz="21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“Le chiacchiere stanno a zero. Fammi vedere il codice.”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Linus Torvalds, mailing list del kernel Linux, 2000</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02-Architettura_dei_Calcolatori-Primo_Contatto_con_Assembly_RISC-V-Lab.pptx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lab1_step4_bar.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vostro contratto di apprendimento per oggi</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2325370"/>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Alla fine saprete</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compilare ed eseguire una cartuccia, e dire quando il runtime chiama init, update e draw</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leggere una riga di assembly: etichetta, istruzione, operandi, commento</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distinguere un indirizzo da un valore, e tracciare che cosa lasciano la, lw, addi e sw</a:t>
            </a:r>
            <a:endParaRPr lang="en-US" sz="2300" dirty="0"/>
          </a:p>
        </p:txBody>
      </p:sp>
      <p:sp>
        <p:nvSpPr>
          <p:cNvPr id="5" name="Shape 3"/>
          <p:cNvSpPr/>
          <p:nvPr/>
        </p:nvSpPr>
        <p:spPr>
          <a:xfrm>
            <a:off x="548640" y="40025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888359"/>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Vi serve solo la Lezione 01: che cos'è un programma, il terminale, PRG32-QT funzionante</a:t>
            </a:r>
            <a:endParaRPr lang="en-US" sz="2300" dirty="0"/>
          </a:p>
        </p:txBody>
      </p:sp>
      <p:sp>
        <p:nvSpPr>
          <p:cNvPr id="7" name="Shape 5"/>
          <p:cNvSpPr/>
          <p:nvPr/>
        </p:nvSpPr>
        <p:spPr>
          <a:xfrm>
            <a:off x="548640" y="521728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103114"/>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Userete anche cose che non dovete ancora capire: le ultime slide dicono quali, e quando vengono spiegate</a:t>
            </a:r>
            <a:endParaRPr lang="en-US" sz="2300" dirty="0"/>
          </a:p>
        </p:txBody>
      </p:sp>
      <p:sp>
        <p:nvSpPr>
          <p:cNvPr id="9" name="Shape 7"/>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0" name="Text 8"/>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Come lo saprete</a:t>
            </a:r>
            <a:endParaRPr lang="en-US" sz="1800" dirty="0"/>
          </a:p>
        </p:txBody>
      </p:sp>
      <p:sp>
        <p:nvSpPr>
          <p:cNvPr id="11" name="Text 9"/>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Risultato 1: punto di controllo 1</a:t>
            </a: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Risultato 2: il biglietto d'uscita</a:t>
            </a: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Risultato 3: punto di controllo 2, la traccia</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Binario ed esadecimale: come leggere i numeri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120304"/>
                <a:gridCol w="3987055"/>
                <a:gridCol w="3987055"/>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Decimale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Binario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Esadecimale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1001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0x9</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1010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1111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1 0000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255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1111 1111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0xFF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Una cifra esadecimale vale esattamente quattro bit: 0x07E0 è 0000 0111 1110 0000.</a:t>
            </a:r>
            <a:endParaRPr lang="en-US" sz="1500" dirty="0"/>
          </a:p>
        </p:txBody>
      </p:sp>
      <p:sp>
        <p:nvSpPr>
          <p:cNvPr id="5" name="Shape 2"/>
          <p:cNvSpPr/>
          <p:nvPr/>
        </p:nvSpPr>
        <p:spPr>
          <a:xfrm>
            <a:off x="7503998" y="91440"/>
            <a:ext cx="4139057" cy="274320"/>
          </a:xfrm>
          <a:prstGeom prst="rect">
            <a:avLst/>
          </a:prstGeom>
          <a:solidFill>
            <a:srgbClr val="FEF3C7"/>
          </a:solidFill>
          <a:ln w="12700">
            <a:solidFill>
              <a:srgbClr val="B45309"/>
            </a:solidFill>
            <a:prstDash val="solid"/>
          </a:ln>
        </p:spPr>
      </p:sp>
      <p:sp>
        <p:nvSpPr>
          <p:cNvPr id="6" name="Shape 3"/>
          <p:cNvSpPr/>
          <p:nvPr/>
        </p:nvSpPr>
        <p:spPr>
          <a:xfrm>
            <a:off x="7503998" y="91440"/>
            <a:ext cx="27432" cy="274320"/>
          </a:xfrm>
          <a:prstGeom prst="rect">
            <a:avLst/>
          </a:prstGeom>
          <a:solidFill>
            <a:srgbClr val="B45309"/>
          </a:solidFill>
          <a:ln w="12700">
            <a:solidFill>
              <a:srgbClr val="B45309"/>
            </a:solidFill>
            <a:prstDash val="solid"/>
          </a:ln>
        </p:spPr>
      </p:sp>
      <p:sp>
        <p:nvSpPr>
          <p:cNvPr id="7" name="Shape 4"/>
          <p:cNvSpPr/>
          <p:nvPr/>
        </p:nvSpPr>
        <p:spPr>
          <a:xfrm>
            <a:off x="7558862"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7632014" y="128016"/>
            <a:ext cx="201168" cy="201168"/>
          </a:xfrm>
          <a:prstGeom prst="rect">
            <a:avLst/>
          </a:prstGeom>
        </p:spPr>
      </p:pic>
      <p:sp>
        <p:nvSpPr>
          <p:cNvPr id="9" name="Text 5"/>
          <p:cNvSpPr txBox="1"/>
          <p:nvPr/>
        </p:nvSpPr>
        <p:spPr>
          <a:xfrm>
            <a:off x="7888046" y="91440"/>
            <a:ext cx="3718433"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l'esadecimale</a:t>
            </a:r>
            <a:pPr indent="0" marL="0">
              <a:buNone/>
            </a:pPr>
            <a:r>
              <a:rPr lang="en-US" sz="1100" b="1" dirty="0">
                <a:solidFill>
                  <a:srgbClr val="92400E"/>
                </a:solidFill>
                <a:latin typeface="Calibri" pitchFamily="34" charset="0"/>
                <a:ea typeface="Calibri" pitchFamily="34" charset="-122"/>
                <a:cs typeface="Calibri" pitchFamily="34" charset="-120"/>
              </a:rPr>
              <a:t> → Lezione 04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macchina che state programmando</a:t>
            </a:r>
            <a:endParaRPr lang="en-US" sz="3200" dirty="0"/>
          </a:p>
        </p:txBody>
      </p:sp>
      <p:sp>
        <p:nvSpPr>
          <p:cNvPr id="3" name="Shape 1"/>
          <p:cNvSpPr/>
          <p:nvPr/>
        </p:nvSpPr>
        <p:spPr>
          <a:xfrm>
            <a:off x="548640" y="1417320"/>
            <a:ext cx="541004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32 registri</a:t>
            </a:r>
            <a:endParaRPr lang="en-US" sz="2000" dirty="0"/>
          </a:p>
        </p:txBody>
      </p:sp>
      <p:sp>
        <p:nvSpPr>
          <p:cNvPr id="6" name="Text 4"/>
          <p:cNvSpPr txBox="1"/>
          <p:nvPr/>
        </p:nvSpPr>
        <p:spPr>
          <a:xfrm>
            <a:off x="822960"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Ogni registro contiene un valore a 32 bit. Il processore sa calcolare solo su valori che stanno nei registri.</a:t>
            </a:r>
            <a:endParaRPr lang="en-US" sz="1900" dirty="0"/>
          </a:p>
        </p:txBody>
      </p:sp>
      <p:sp>
        <p:nvSpPr>
          <p:cNvPr id="7" name="Shape 5"/>
          <p:cNvSpPr/>
          <p:nvPr/>
        </p:nvSpPr>
        <p:spPr>
          <a:xfrm>
            <a:off x="6233008" y="1417320"/>
            <a:ext cx="541004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646160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7010248"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Calcolare</a:t>
            </a:r>
            <a:endParaRPr lang="en-US" sz="2000" dirty="0"/>
          </a:p>
        </p:txBody>
      </p:sp>
      <p:sp>
        <p:nvSpPr>
          <p:cNvPr id="10" name="Text 8"/>
          <p:cNvSpPr txBox="1"/>
          <p:nvPr/>
        </p:nvSpPr>
        <p:spPr>
          <a:xfrm>
            <a:off x="6507328"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Un'operazione aritmetica o logica tra registri: add, sub, and, or, xor, e le forme con immediato come addi.</a:t>
            </a:r>
            <a:endParaRPr lang="en-US" sz="1900" dirty="0"/>
          </a:p>
        </p:txBody>
      </p:sp>
      <p:sp>
        <p:nvSpPr>
          <p:cNvPr id="11" name="Shape 9"/>
          <p:cNvSpPr/>
          <p:nvPr/>
        </p:nvSpPr>
        <p:spPr>
          <a:xfrm>
            <a:off x="548640" y="3931920"/>
            <a:ext cx="541004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777240" y="41605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325880"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Spostare</a:t>
            </a:r>
            <a:endParaRPr lang="en-US" sz="2000" dirty="0"/>
          </a:p>
        </p:txBody>
      </p:sp>
      <p:sp>
        <p:nvSpPr>
          <p:cNvPr id="14" name="Text 12"/>
          <p:cNvSpPr txBox="1"/>
          <p:nvPr/>
        </p:nvSpPr>
        <p:spPr>
          <a:xfrm>
            <a:off x="822960"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Un trasferimento tra un registro e la memoria: lw carica una parola, sw la memorizza. Nient'altro tocca la memoria.</a:t>
            </a:r>
            <a:endParaRPr lang="en-US" sz="1900" dirty="0"/>
          </a:p>
        </p:txBody>
      </p:sp>
      <p:sp>
        <p:nvSpPr>
          <p:cNvPr id="15" name="Shape 13"/>
          <p:cNvSpPr/>
          <p:nvPr/>
        </p:nvSpPr>
        <p:spPr>
          <a:xfrm>
            <a:off x="6233008" y="3931920"/>
            <a:ext cx="541004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6461608"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7010248"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Saltare</a:t>
            </a:r>
            <a:endParaRPr lang="en-US" sz="2000" dirty="0"/>
          </a:p>
        </p:txBody>
      </p:sp>
      <p:sp>
        <p:nvSpPr>
          <p:cNvPr id="18" name="Text 16"/>
          <p:cNvSpPr txBox="1"/>
          <p:nvPr/>
        </p:nvSpPr>
        <p:spPr>
          <a:xfrm>
            <a:off x="6507328"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Un cambio dell'istruzione che verrà eseguita dopo: salti condizionati come beqz, chiamate e ritorni.</a:t>
            </a:r>
            <a:endParaRPr lang="en-US" sz="1900" dirty="0"/>
          </a:p>
        </p:txBody>
      </p:sp>
      <p:sp>
        <p:nvSpPr>
          <p:cNvPr id="19" name="Shape 17"/>
          <p:cNvSpPr/>
          <p:nvPr/>
        </p:nvSpPr>
        <p:spPr>
          <a:xfrm>
            <a:off x="6672783" y="91440"/>
            <a:ext cx="4970272" cy="274320"/>
          </a:xfrm>
          <a:prstGeom prst="rect">
            <a:avLst/>
          </a:prstGeom>
          <a:solidFill>
            <a:srgbClr val="E0F2FE"/>
          </a:solidFill>
          <a:ln w="12700">
            <a:solidFill>
              <a:srgbClr val="0369A1"/>
            </a:solidFill>
            <a:prstDash val="solid"/>
          </a:ln>
        </p:spPr>
      </p:sp>
      <p:sp>
        <p:nvSpPr>
          <p:cNvPr id="20" name="Shape 18"/>
          <p:cNvSpPr/>
          <p:nvPr/>
        </p:nvSpPr>
        <p:spPr>
          <a:xfrm>
            <a:off x="6672783" y="91440"/>
            <a:ext cx="73152" cy="274320"/>
          </a:xfrm>
          <a:prstGeom prst="rect">
            <a:avLst/>
          </a:prstGeom>
          <a:solidFill>
            <a:srgbClr val="0369A1"/>
          </a:solidFill>
          <a:ln w="12700">
            <a:solidFill>
              <a:srgbClr val="0369A1"/>
            </a:solidFill>
            <a:prstDash val="solid"/>
          </a:ln>
        </p:spPr>
      </p:sp>
      <p:pic>
        <p:nvPicPr>
          <p:cNvPr id="21" name="Image 0" descr="preencoded.png">    </p:cNvPr>
          <p:cNvPicPr>
            <a:picLocks noChangeAspect="1"/>
          </p:cNvPicPr>
          <p:nvPr/>
        </p:nvPicPr>
        <p:blipFill>
          <a:blip r:embed="rId1"/>
          <a:stretch>
            <a:fillRect/>
          </a:stretch>
        </p:blipFill>
        <p:spPr>
          <a:xfrm>
            <a:off x="6800799" y="128016"/>
            <a:ext cx="201168" cy="201168"/>
          </a:xfrm>
          <a:prstGeom prst="rect">
            <a:avLst/>
          </a:prstGeom>
        </p:spPr>
      </p:pic>
      <p:sp>
        <p:nvSpPr>
          <p:cNvPr id="22" name="Text 19"/>
          <p:cNvSpPr txBox="1"/>
          <p:nvPr/>
        </p:nvSpPr>
        <p:spPr>
          <a:xfrm>
            <a:off x="7056831" y="91440"/>
            <a:ext cx="454964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registri, calcolo, trasferimento, salto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registri che userete davvero</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31537"/>
                <a:gridCol w="1968364"/>
                <a:gridCol w="5010381"/>
                <a:gridCol w="2684133"/>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Registro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Nome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Ruolo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Conservato da una chiamata?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600" dirty="0">
                          <a:solidFill>
                            <a:srgbClr val="1B2530"/>
                          </a:solidFill>
                          <a:latin typeface="Courier New" pitchFamily="34" charset="0"/>
                          <a:ea typeface="Courier New" pitchFamily="34" charset="-122"/>
                          <a:cs typeface="Courier New" pitchFamily="34" charset="-120"/>
                        </a:rPr>
                        <a:t>a0 - a7</a:t>
                      </a:r>
                      <a:endParaRPr lang="en-US" sz="16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argomenti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valori passati a una chiamata; a0 porta anche il valore di ritorno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dirty="0">
                          <a:solidFill>
                            <a:srgbClr val="1B2530"/>
                          </a:solidFill>
                          <a:latin typeface="Courier New" pitchFamily="34" charset="0"/>
                          <a:ea typeface="Courier New" pitchFamily="34" charset="-122"/>
                          <a:cs typeface="Courier New" pitchFamily="34" charset="-120"/>
                        </a:rPr>
                        <a:t>t0 - t6</a:t>
                      </a:r>
                      <a:endParaRPr lang="en-US" sz="16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temporanei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valori di appoggio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2530"/>
                          </a:solidFill>
                          <a:latin typeface="Courier New" pitchFamily="34" charset="0"/>
                          <a:ea typeface="Courier New" pitchFamily="34" charset="-122"/>
                          <a:cs typeface="Courier New" pitchFamily="34" charset="-120"/>
                        </a:rPr>
                        <a:t>s0 - s11</a:t>
                      </a:r>
                      <a:endParaRPr lang="en-US" sz="16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salvati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valori che una chiamata promette di conservare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dirty="0">
                          <a:solidFill>
                            <a:srgbClr val="1B2530"/>
                          </a:solidFill>
                          <a:latin typeface="Courier New" pitchFamily="34" charset="0"/>
                          <a:ea typeface="Courier New" pitchFamily="34" charset="-122"/>
                          <a:cs typeface="Courier New" pitchFamily="34" charset="-120"/>
                        </a:rPr>
                        <a:t>ra</a:t>
                      </a:r>
                      <a:endParaRPr lang="en-US" sz="16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indirizzo di ritorno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dove salta ret al ritorno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no: salvatelo voi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2530"/>
                          </a:solidFill>
                          <a:latin typeface="Courier New" pitchFamily="34" charset="0"/>
                          <a:ea typeface="Courier New" pitchFamily="34" charset="-122"/>
                          <a:cs typeface="Courier New" pitchFamily="34" charset="-120"/>
                        </a:rPr>
                        <a:t>sp</a:t>
                      </a:r>
                      <a:endParaRPr lang="en-US" sz="16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puntatore allo stack</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cima dello stack, sempre allineata a 16 byte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dirty="0">
                          <a:solidFill>
                            <a:srgbClr val="1B2530"/>
                          </a:solidFill>
                          <a:latin typeface="Courier New" pitchFamily="34" charset="0"/>
                          <a:ea typeface="Courier New" pitchFamily="34" charset="-122"/>
                          <a:cs typeface="Courier New" pitchFamily="34" charset="-120"/>
                        </a:rPr>
                        <a:t>zero</a:t>
                      </a:r>
                      <a:endParaRPr lang="en-US" sz="16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zero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si legge sempre 0; le scritture sono ignorate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I ruoli vengono da un accordo, la convenzione di chiamata (ABI), non dall'hardware.</a:t>
            </a:r>
            <a:endParaRPr lang="en-US" sz="1500" dirty="0"/>
          </a:p>
        </p:txBody>
      </p:sp>
      <p:sp>
        <p:nvSpPr>
          <p:cNvPr id="5" name="Shape 2"/>
          <p:cNvSpPr/>
          <p:nvPr/>
        </p:nvSpPr>
        <p:spPr>
          <a:xfrm>
            <a:off x="6650431" y="91440"/>
            <a:ext cx="4992624" cy="274320"/>
          </a:xfrm>
          <a:prstGeom prst="rect">
            <a:avLst/>
          </a:prstGeom>
          <a:solidFill>
            <a:srgbClr val="FEF3C7"/>
          </a:solidFill>
          <a:ln w="12700">
            <a:solidFill>
              <a:srgbClr val="B45309"/>
            </a:solidFill>
            <a:prstDash val="solid"/>
          </a:ln>
        </p:spPr>
      </p:sp>
      <p:sp>
        <p:nvSpPr>
          <p:cNvPr id="6" name="Shape 3"/>
          <p:cNvSpPr/>
          <p:nvPr/>
        </p:nvSpPr>
        <p:spPr>
          <a:xfrm>
            <a:off x="6650431" y="91440"/>
            <a:ext cx="27432" cy="274320"/>
          </a:xfrm>
          <a:prstGeom prst="rect">
            <a:avLst/>
          </a:prstGeom>
          <a:solidFill>
            <a:srgbClr val="B45309"/>
          </a:solidFill>
          <a:ln w="12700">
            <a:solidFill>
              <a:srgbClr val="B45309"/>
            </a:solidFill>
            <a:prstDash val="solid"/>
          </a:ln>
        </p:spPr>
      </p:sp>
      <p:sp>
        <p:nvSpPr>
          <p:cNvPr id="7" name="Shape 4"/>
          <p:cNvSpPr/>
          <p:nvPr/>
        </p:nvSpPr>
        <p:spPr>
          <a:xfrm>
            <a:off x="6705295"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6778447" y="128016"/>
            <a:ext cx="201168" cy="201168"/>
          </a:xfrm>
          <a:prstGeom prst="rect">
            <a:avLst/>
          </a:prstGeom>
        </p:spPr>
      </p:pic>
      <p:sp>
        <p:nvSpPr>
          <p:cNvPr id="9" name="Text 5"/>
          <p:cNvSpPr txBox="1"/>
          <p:nvPr/>
        </p:nvSpPr>
        <p:spPr>
          <a:xfrm>
            <a:off x="7034479" y="91440"/>
            <a:ext cx="457200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la convenzione di chiamata</a:t>
            </a:r>
            <a:pPr indent="0" marL="0">
              <a:buNone/>
            </a:pPr>
            <a:r>
              <a:rPr lang="en-US" sz="1100" b="1" dirty="0">
                <a:solidFill>
                  <a:srgbClr val="92400E"/>
                </a:solidFill>
                <a:latin typeface="Calibri" pitchFamily="34" charset="0"/>
                <a:ea typeface="Calibri" pitchFamily="34" charset="-122"/>
                <a:cs typeface="Calibri" pitchFamily="34" charset="-120"/>
              </a:rPr>
              <a:t> → Lezione 18</a:t>
            </a:r>
            <a:endParaRPr lang="en-US" sz="1100" dirty="0"/>
          </a:p>
        </p:txBody>
      </p:sp>
      <p:sp>
        <p:nvSpPr>
          <p:cNvPr id="10" name="Shape 6"/>
          <p:cNvSpPr/>
          <p:nvPr/>
        </p:nvSpPr>
        <p:spPr>
          <a:xfrm>
            <a:off x="3474542" y="91440"/>
            <a:ext cx="3066161" cy="274320"/>
          </a:xfrm>
          <a:prstGeom prst="rect">
            <a:avLst/>
          </a:prstGeom>
          <a:solidFill>
            <a:srgbClr val="E0F2FE"/>
          </a:solidFill>
          <a:ln w="12700">
            <a:solidFill>
              <a:srgbClr val="0369A1"/>
            </a:solidFill>
            <a:prstDash val="solid"/>
          </a:ln>
        </p:spPr>
      </p:sp>
      <p:sp>
        <p:nvSpPr>
          <p:cNvPr id="11" name="Shape 7"/>
          <p:cNvSpPr/>
          <p:nvPr/>
        </p:nvSpPr>
        <p:spPr>
          <a:xfrm>
            <a:off x="3474542" y="91440"/>
            <a:ext cx="73152" cy="274320"/>
          </a:xfrm>
          <a:prstGeom prst="rect">
            <a:avLst/>
          </a:prstGeom>
          <a:solidFill>
            <a:srgbClr val="0369A1"/>
          </a:solidFill>
          <a:ln w="12700">
            <a:solidFill>
              <a:srgbClr val="0369A1"/>
            </a:solidFill>
            <a:prstDash val="solid"/>
          </a:ln>
        </p:spPr>
      </p:sp>
      <p:pic>
        <p:nvPicPr>
          <p:cNvPr id="12" name="Image 1" descr="preencoded.png">    </p:cNvPr>
          <p:cNvPicPr>
            <a:picLocks noChangeAspect="1"/>
          </p:cNvPicPr>
          <p:nvPr/>
        </p:nvPicPr>
        <p:blipFill>
          <a:blip r:embed="rId2"/>
          <a:stretch>
            <a:fillRect/>
          </a:stretch>
        </p:blipFill>
        <p:spPr>
          <a:xfrm>
            <a:off x="3602558" y="128016"/>
            <a:ext cx="201168" cy="201168"/>
          </a:xfrm>
          <a:prstGeom prst="rect">
            <a:avLst/>
          </a:prstGeom>
        </p:spPr>
      </p:pic>
      <p:sp>
        <p:nvSpPr>
          <p:cNvPr id="13" name="Text 8"/>
          <p:cNvSpPr txBox="1"/>
          <p:nvPr/>
        </p:nvSpPr>
        <p:spPr>
          <a:xfrm>
            <a:off x="3858590" y="91440"/>
            <a:ext cx="264553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registri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funzioni: un pezzo di programma con un nome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funzione è una sequenza di istruzioni che svolge un compito, come cancellare lo schermo, e comincia a un'etichetta: il suo nome</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Chiamare una funzione significa saltare alla sua prima istruzione dopo aver annotato dove tornare: l'istruzione call fa entrambe le cose</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Finito il compito, la funzione ritorna: ret salta all'istruzione che segue la chiamata</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argomenti sono i valori di cui la funzione ha bisogno: in RISC-V viaggiano nei registri da a0 ad a7</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PRG32 offre funzioni già pronte come prg32_gfx_clear; voi ne scrivete tre, che il runtime chiama</a:t>
            </a:r>
            <a:endParaRPr lang="en-US" sz="2200" dirty="0"/>
          </a:p>
        </p:txBody>
      </p:sp>
      <p:sp>
        <p:nvSpPr>
          <p:cNvPr id="13" name="Shape 11"/>
          <p:cNvSpPr/>
          <p:nvPr/>
        </p:nvSpPr>
        <p:spPr>
          <a:xfrm>
            <a:off x="7395032" y="91440"/>
            <a:ext cx="4248023" cy="274320"/>
          </a:xfrm>
          <a:prstGeom prst="rect">
            <a:avLst/>
          </a:prstGeom>
          <a:solidFill>
            <a:srgbClr val="E0F2FE"/>
          </a:solidFill>
          <a:ln w="12700">
            <a:solidFill>
              <a:srgbClr val="0369A1"/>
            </a:solidFill>
            <a:prstDash val="solid"/>
          </a:ln>
        </p:spPr>
      </p:sp>
      <p:sp>
        <p:nvSpPr>
          <p:cNvPr id="14" name="Shape 12"/>
          <p:cNvSpPr/>
          <p:nvPr/>
        </p:nvSpPr>
        <p:spPr>
          <a:xfrm>
            <a:off x="7395032"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7523048" y="128016"/>
            <a:ext cx="201168" cy="201168"/>
          </a:xfrm>
          <a:prstGeom prst="rect">
            <a:avLst/>
          </a:prstGeom>
        </p:spPr>
      </p:pic>
      <p:sp>
        <p:nvSpPr>
          <p:cNvPr id="16" name="Text 13"/>
          <p:cNvSpPr txBox="1"/>
          <p:nvPr/>
        </p:nvSpPr>
        <p:spPr>
          <a:xfrm>
            <a:off x="7779080" y="91440"/>
            <a:ext cx="382739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funzioni, chiamata e ritorno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contratto: tre funzioni che scrivete voi</a:t>
            </a:r>
            <a:endParaRPr lang="en-US" sz="3200" dirty="0"/>
          </a:p>
        </p:txBody>
      </p:sp>
      <p:sp>
        <p:nvSpPr>
          <p:cNvPr id="3" name="Shape 1"/>
          <p:cNvSpPr/>
          <p:nvPr/>
        </p:nvSpPr>
        <p:spPr>
          <a:xfrm>
            <a:off x="548640" y="1874520"/>
            <a:ext cx="3454298" cy="2468880"/>
          </a:xfrm>
          <a:prstGeom prst="roundRect">
            <a:avLst>
              <a:gd name="adj" fmla="val 2963"/>
            </a:avLst>
          </a:prstGeom>
          <a:solidFill>
            <a:srgbClr val="EEF2F4"/>
          </a:solidFill>
          <a:ln w="12700">
            <a:solidFill>
              <a:srgbClr val="EEF2F4"/>
            </a:solidFill>
            <a:prstDash val="solid"/>
          </a:ln>
        </p:spPr>
      </p:sp>
      <p:sp>
        <p:nvSpPr>
          <p:cNvPr id="4" name="Text 2"/>
          <p:cNvSpPr txBox="1"/>
          <p:nvPr/>
        </p:nvSpPr>
        <p:spPr>
          <a:xfrm>
            <a:off x="685800" y="2057400"/>
            <a:ext cx="3179978"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init</a:t>
            </a:r>
            <a:endParaRPr lang="en-US" sz="1900" dirty="0"/>
          </a:p>
        </p:txBody>
      </p:sp>
      <p:sp>
        <p:nvSpPr>
          <p:cNvPr id="5" name="Text 3"/>
          <p:cNvSpPr txBox="1"/>
          <p:nvPr/>
        </p:nvSpPr>
        <p:spPr>
          <a:xfrm>
            <a:off x="685800" y="2880360"/>
            <a:ext cx="3179978"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chiamata una volta, all'avvio della cartuccia: prepara lo stato</a:t>
            </a:r>
            <a:endParaRPr lang="en-US" sz="1700" dirty="0"/>
          </a:p>
        </p:txBody>
      </p:sp>
      <p:sp>
        <p:nvSpPr>
          <p:cNvPr id="6" name="Shape 4"/>
          <p:cNvSpPr/>
          <p:nvPr/>
        </p:nvSpPr>
        <p:spPr>
          <a:xfrm>
            <a:off x="4048658"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4368698" y="1874520"/>
            <a:ext cx="3454298" cy="2468880"/>
          </a:xfrm>
          <a:prstGeom prst="roundRect">
            <a:avLst>
              <a:gd name="adj" fmla="val 2963"/>
            </a:avLst>
          </a:prstGeom>
          <a:solidFill>
            <a:srgbClr val="EEF2F4"/>
          </a:solidFill>
          <a:ln w="12700">
            <a:solidFill>
              <a:srgbClr val="EEF2F4"/>
            </a:solidFill>
            <a:prstDash val="solid"/>
          </a:ln>
        </p:spPr>
      </p:sp>
      <p:sp>
        <p:nvSpPr>
          <p:cNvPr id="8" name="Text 6"/>
          <p:cNvSpPr txBox="1"/>
          <p:nvPr/>
        </p:nvSpPr>
        <p:spPr>
          <a:xfrm>
            <a:off x="4505858" y="2057400"/>
            <a:ext cx="3179978"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update</a:t>
            </a:r>
            <a:endParaRPr lang="en-US" sz="1900" dirty="0"/>
          </a:p>
        </p:txBody>
      </p:sp>
      <p:sp>
        <p:nvSpPr>
          <p:cNvPr id="9" name="Text 7"/>
          <p:cNvSpPr txBox="1"/>
          <p:nvPr/>
        </p:nvSpPr>
        <p:spPr>
          <a:xfrm>
            <a:off x="4505858" y="2880360"/>
            <a:ext cx="3179978"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chiamata una volta per frame: legge l'ingresso, cambia lo stato</a:t>
            </a:r>
            <a:endParaRPr lang="en-US" sz="1700" dirty="0"/>
          </a:p>
        </p:txBody>
      </p:sp>
      <p:sp>
        <p:nvSpPr>
          <p:cNvPr id="10" name="Shape 8"/>
          <p:cNvSpPr/>
          <p:nvPr/>
        </p:nvSpPr>
        <p:spPr>
          <a:xfrm>
            <a:off x="7868717"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8188757" y="1874520"/>
            <a:ext cx="3454298" cy="2468880"/>
          </a:xfrm>
          <a:prstGeom prst="roundRect">
            <a:avLst>
              <a:gd name="adj" fmla="val 2963"/>
            </a:avLst>
          </a:prstGeom>
          <a:solidFill>
            <a:srgbClr val="EEF2F4"/>
          </a:solidFill>
          <a:ln w="12700">
            <a:solidFill>
              <a:srgbClr val="EEF2F4"/>
            </a:solidFill>
            <a:prstDash val="solid"/>
          </a:ln>
        </p:spPr>
      </p:sp>
      <p:sp>
        <p:nvSpPr>
          <p:cNvPr id="12" name="Text 10"/>
          <p:cNvSpPr txBox="1"/>
          <p:nvPr/>
        </p:nvSpPr>
        <p:spPr>
          <a:xfrm>
            <a:off x="8325917" y="2057400"/>
            <a:ext cx="3179978"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draw</a:t>
            </a:r>
            <a:endParaRPr lang="en-US" sz="1900" dirty="0"/>
          </a:p>
        </p:txBody>
      </p:sp>
      <p:sp>
        <p:nvSpPr>
          <p:cNvPr id="13" name="Text 11"/>
          <p:cNvSpPr txBox="1"/>
          <p:nvPr/>
        </p:nvSpPr>
        <p:spPr>
          <a:xfrm>
            <a:off x="8325917" y="2880360"/>
            <a:ext cx="3179978"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chiamata una volta per frame: trasforma lo stato in un'immagine</a:t>
            </a:r>
            <a:endParaRPr lang="en-US" sz="1700" dirty="0"/>
          </a:p>
        </p:txBody>
      </p:sp>
      <p:sp>
        <p:nvSpPr>
          <p:cNvPr id="14" name="Shape 12"/>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15" name="Text 13"/>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Il firmware trova le tre funzioni per nome: un prefisso scelto da voi, seguito da _init, _update e _draw. È l'intero contratto tra il vostro gioco e la macchina.</a:t>
            </a:r>
            <a:endParaRPr lang="en-US" sz="2000" dirty="0"/>
          </a:p>
        </p:txBody>
      </p:sp>
      <p:sp>
        <p:nvSpPr>
          <p:cNvPr id="16" name="Shape 14"/>
          <p:cNvSpPr/>
          <p:nvPr/>
        </p:nvSpPr>
        <p:spPr>
          <a:xfrm>
            <a:off x="7526350" y="91440"/>
            <a:ext cx="4116705" cy="274320"/>
          </a:xfrm>
          <a:prstGeom prst="rect">
            <a:avLst/>
          </a:prstGeom>
          <a:solidFill>
            <a:srgbClr val="E0F2FE"/>
          </a:solidFill>
          <a:ln w="12700">
            <a:solidFill>
              <a:srgbClr val="0369A1"/>
            </a:solidFill>
            <a:prstDash val="solid"/>
          </a:ln>
        </p:spPr>
      </p:sp>
      <p:sp>
        <p:nvSpPr>
          <p:cNvPr id="17" name="Shape 15"/>
          <p:cNvSpPr/>
          <p:nvPr/>
        </p:nvSpPr>
        <p:spPr>
          <a:xfrm>
            <a:off x="752635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9" name="Text 16"/>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contratto init/update/draw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Punto di controllo 1: prevedete prima di eseguire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 gioco gira a 30 frame al secondo per 2 secondi</a:t>
            </a:r>
            <a:endParaRPr lang="en-US" sz="2400" dirty="0"/>
          </a:p>
        </p:txBody>
      </p:sp>
      <p:sp>
        <p:nvSpPr>
          <p:cNvPr id="5" name="Shape 3"/>
          <p:cNvSpPr/>
          <p:nvPr/>
        </p:nvSpPr>
        <p:spPr>
          <a:xfrm>
            <a:off x="548640" y="2923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801112"/>
            <a:ext cx="6565392" cy="14577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Quante volte il runtime ha chiamato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init?</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update?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draw?</a:t>
            </a:r>
            <a:endParaRPr lang="en-US" sz="2400" dirty="0"/>
          </a:p>
        </p:txBody>
      </p:sp>
      <p:sp>
        <p:nvSpPr>
          <p:cNvPr id="7" name="Shape 5"/>
          <p:cNvSpPr/>
          <p:nvPr/>
        </p:nvSpPr>
        <p:spPr>
          <a:xfrm>
            <a:off x="548640" y="483793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716018"/>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Quale tipo di istruzione, calcolo, trasferimento o salto, può leggere un valore dalla memoria?</a:t>
            </a:r>
            <a:endParaRPr lang="en-US" sz="2400" dirty="0"/>
          </a:p>
        </p:txBody>
      </p:sp>
      <p:sp>
        <p:nvSpPr>
          <p:cNvPr id="9" name="Shape 7"/>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0" name="Text 8"/>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Come</a:t>
            </a:r>
            <a:endParaRPr lang="en-US" sz="1800" dirty="0"/>
          </a:p>
        </p:txBody>
      </p:sp>
      <p:sp>
        <p:nvSpPr>
          <p:cNvPr id="11" name="Text 9"/>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Un minuto da soli: scrivete le risposte</a:t>
            </a:r>
            <a:endParaRPr lang="en-US" sz="1900" dirty="0"/>
          </a:p>
          <a:p>
            <a:pPr indent="0" marL="0">
              <a:buNone/>
            </a:pP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Un minuto con il vicino: mettetevi d'accordo</a:t>
            </a:r>
            <a:endParaRPr lang="en-US" sz="1900" dirty="0"/>
          </a:p>
          <a:p>
            <a:pPr indent="0" marL="0">
              <a:buNone/>
            </a:pP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Poi verifichiamo insieme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Come leggere una riga di assembly</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80203"/>
                <a:gridCol w="3293655"/>
                <a:gridCol w="5720558"/>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Parte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Esempio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Che cos'è</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etichetta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first_update:</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un nome per questo punto del programma; termina con i due punti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istruzione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addi</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l'operazione da eseguire: qui, sommare una costante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operandi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t1, t1, 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ciò su cui lavora: prima la destinazione, poi le sorgenti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commento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 one more tick</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una nota per le persone: da # a fine riga, ignorata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direttiva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.section .text</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un ordine all'assemblatore, non al processore; comincia con un punto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first_update:   addi t1, t1, 1   # one more tick</a:t>
            </a:r>
            <a:endParaRPr lang="en-US" sz="1500" dirty="0"/>
          </a:p>
        </p:txBody>
      </p:sp>
      <p:sp>
        <p:nvSpPr>
          <p:cNvPr id="5" name="Shape 2"/>
          <p:cNvSpPr/>
          <p:nvPr/>
        </p:nvSpPr>
        <p:spPr>
          <a:xfrm>
            <a:off x="7395032" y="91440"/>
            <a:ext cx="4248023" cy="274320"/>
          </a:xfrm>
          <a:prstGeom prst="rect">
            <a:avLst/>
          </a:prstGeom>
          <a:solidFill>
            <a:srgbClr val="E0F2FE"/>
          </a:solidFill>
          <a:ln w="12700">
            <a:solidFill>
              <a:srgbClr val="0369A1"/>
            </a:solidFill>
            <a:prstDash val="solid"/>
          </a:ln>
        </p:spPr>
      </p:sp>
      <p:sp>
        <p:nvSpPr>
          <p:cNvPr id="6" name="Shape 3"/>
          <p:cNvSpPr/>
          <p:nvPr/>
        </p:nvSpPr>
        <p:spPr>
          <a:xfrm>
            <a:off x="7395032"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7523048" y="128016"/>
            <a:ext cx="201168" cy="201168"/>
          </a:xfrm>
          <a:prstGeom prst="rect">
            <a:avLst/>
          </a:prstGeom>
        </p:spPr>
      </p:pic>
      <p:sp>
        <p:nvSpPr>
          <p:cNvPr id="8" name="Text 4"/>
          <p:cNvSpPr txBox="1"/>
          <p:nvPr/>
        </p:nvSpPr>
        <p:spPr>
          <a:xfrm>
            <a:off x="7779080" y="91440"/>
            <a:ext cx="382739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leggere una riga di assembly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Indirizzo o valore? Il nodo della memoria</a:t>
            </a:r>
            <a:endParaRPr lang="en-US" sz="3200" dirty="0"/>
          </a:p>
        </p:txBody>
      </p:sp>
      <p:sp>
        <p:nvSpPr>
          <p:cNvPr id="3" name="Text 1"/>
          <p:cNvSpPr txBox="1"/>
          <p:nvPr/>
        </p:nvSpPr>
        <p:spPr>
          <a:xfrm>
            <a:off x="548640" y="1417320"/>
            <a:ext cx="4572000" cy="32004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Registri (dentro il processore)</a:t>
            </a:r>
            <a:endParaRPr lang="en-US" sz="1500" dirty="0"/>
          </a:p>
        </p:txBody>
      </p:sp>
      <p:sp>
        <p:nvSpPr>
          <p:cNvPr id="4" name="Text 2"/>
          <p:cNvSpPr txBox="1"/>
          <p:nvPr/>
        </p:nvSpPr>
        <p:spPr>
          <a:xfrm>
            <a:off x="548640" y="1874520"/>
            <a:ext cx="640080" cy="685800"/>
          </a:xfrm>
          <a:prstGeom prst="rect">
            <a:avLst/>
          </a:prstGeom>
          <a:noFill/>
          <a:ln/>
        </p:spPr>
        <p:txBody>
          <a:bodyPr wrap="square" lIns="0" tIns="0" rIns="0" bIns="0" rtlCol="0" anchor="ctr"/>
          <a:lstStyle/>
          <a:p>
            <a:pPr indent="0" marL="0">
              <a:buNone/>
            </a:pPr>
            <a:r>
              <a:rPr lang="en-US" sz="2200" b="1" dirty="0">
                <a:solidFill>
                  <a:srgbClr val="1B2530"/>
                </a:solidFill>
                <a:latin typeface="Courier New" pitchFamily="34" charset="0"/>
                <a:ea typeface="Courier New" pitchFamily="34" charset="-122"/>
                <a:cs typeface="Courier New" pitchFamily="34" charset="-120"/>
              </a:rPr>
              <a:t>t0</a:t>
            </a:r>
            <a:endParaRPr lang="en-US" sz="2200" dirty="0"/>
          </a:p>
        </p:txBody>
      </p:sp>
      <p:sp>
        <p:nvSpPr>
          <p:cNvPr id="5" name="Text 3"/>
          <p:cNvSpPr txBox="1"/>
          <p:nvPr/>
        </p:nvSpPr>
        <p:spPr>
          <a:xfrm>
            <a:off x="1280160" y="1874520"/>
            <a:ext cx="3291840" cy="685800"/>
          </a:xfrm>
          <a:prstGeom prst="rect">
            <a:avLst/>
          </a:prstGeom>
          <a:solidFill>
            <a:srgbClr val="0E7C86"/>
          </a:solidFill>
          <a:ln>
            <a:solidFill>
              <a:srgbClr val="0E7C86"/>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indirizzo di counter</a:t>
            </a:r>
            <a:endParaRPr lang="en-US" sz="1700" dirty="0"/>
          </a:p>
        </p:txBody>
      </p:sp>
      <p:sp>
        <p:nvSpPr>
          <p:cNvPr id="6" name="Text 4"/>
          <p:cNvSpPr txBox="1"/>
          <p:nvPr/>
        </p:nvSpPr>
        <p:spPr>
          <a:xfrm>
            <a:off x="548640" y="3017520"/>
            <a:ext cx="640080" cy="685800"/>
          </a:xfrm>
          <a:prstGeom prst="rect">
            <a:avLst/>
          </a:prstGeom>
          <a:noFill/>
          <a:ln/>
        </p:spPr>
        <p:txBody>
          <a:bodyPr wrap="square" lIns="0" tIns="0" rIns="0" bIns="0" rtlCol="0" anchor="ctr"/>
          <a:lstStyle/>
          <a:p>
            <a:pPr indent="0" marL="0">
              <a:buNone/>
            </a:pPr>
            <a:r>
              <a:rPr lang="en-US" sz="2200" b="1" dirty="0">
                <a:solidFill>
                  <a:srgbClr val="1B2530"/>
                </a:solidFill>
                <a:latin typeface="Courier New" pitchFamily="34" charset="0"/>
                <a:ea typeface="Courier New" pitchFamily="34" charset="-122"/>
                <a:cs typeface="Courier New" pitchFamily="34" charset="-120"/>
              </a:rPr>
              <a:t>t1</a:t>
            </a:r>
            <a:endParaRPr lang="en-US" sz="2200" dirty="0"/>
          </a:p>
        </p:txBody>
      </p:sp>
      <p:sp>
        <p:nvSpPr>
          <p:cNvPr id="7" name="Text 5"/>
          <p:cNvSpPr txBox="1"/>
          <p:nvPr/>
        </p:nvSpPr>
        <p:spPr>
          <a:xfrm>
            <a:off x="1280160" y="3017520"/>
            <a:ext cx="3291840" cy="685800"/>
          </a:xfrm>
          <a:prstGeom prst="rect">
            <a:avLst/>
          </a:prstGeom>
          <a:solidFill>
            <a:srgbClr val="C7791B"/>
          </a:solidFill>
          <a:ln>
            <a:solidFill>
              <a:srgbClr val="C7791B"/>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41  poi  42</a:t>
            </a:r>
            <a:endParaRPr lang="en-US" sz="1700" dirty="0"/>
          </a:p>
        </p:txBody>
      </p:sp>
      <p:sp>
        <p:nvSpPr>
          <p:cNvPr id="8" name="Text 6"/>
          <p:cNvSpPr txBox="1"/>
          <p:nvPr/>
        </p:nvSpPr>
        <p:spPr>
          <a:xfrm>
            <a:off x="7498080" y="1417320"/>
            <a:ext cx="4114800" cy="32004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Memoria (sezione .data)</a:t>
            </a:r>
            <a:endParaRPr lang="en-US" sz="1500" dirty="0"/>
          </a:p>
        </p:txBody>
      </p:sp>
      <p:sp>
        <p:nvSpPr>
          <p:cNvPr id="9" name="Text 7"/>
          <p:cNvSpPr txBox="1"/>
          <p:nvPr/>
        </p:nvSpPr>
        <p:spPr>
          <a:xfrm>
            <a:off x="7498080" y="1874520"/>
            <a:ext cx="3566160" cy="6858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a:t>
            </a:r>
            <a:endParaRPr lang="en-US" sz="1700" dirty="0"/>
          </a:p>
        </p:txBody>
      </p:sp>
      <p:sp>
        <p:nvSpPr>
          <p:cNvPr id="10" name="Text 8"/>
          <p:cNvSpPr txBox="1"/>
          <p:nvPr/>
        </p:nvSpPr>
        <p:spPr>
          <a:xfrm>
            <a:off x="7498080" y="2560320"/>
            <a:ext cx="3566160" cy="685800"/>
          </a:xfrm>
          <a:prstGeom prst="rect">
            <a:avLst/>
          </a:prstGeom>
          <a:solidFill>
            <a:srgbClr val="F6E7D2"/>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counter:  41</a:t>
            </a:r>
            <a:endParaRPr lang="en-US" sz="1700" dirty="0"/>
          </a:p>
        </p:txBody>
      </p:sp>
      <p:sp>
        <p:nvSpPr>
          <p:cNvPr id="11" name="Text 9"/>
          <p:cNvSpPr txBox="1"/>
          <p:nvPr/>
        </p:nvSpPr>
        <p:spPr>
          <a:xfrm>
            <a:off x="7498080" y="3246120"/>
            <a:ext cx="3566160" cy="6858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a:t>
            </a:r>
            <a:endParaRPr lang="en-US" sz="1700" dirty="0"/>
          </a:p>
        </p:txBody>
      </p:sp>
      <p:sp>
        <p:nvSpPr>
          <p:cNvPr id="12" name="Shape 10"/>
          <p:cNvSpPr/>
          <p:nvPr/>
        </p:nvSpPr>
        <p:spPr>
          <a:xfrm>
            <a:off x="4617720" y="2217420"/>
            <a:ext cx="2834640" cy="617220"/>
          </a:xfrm>
          <a:prstGeom prst="line">
            <a:avLst/>
          </a:prstGeom>
          <a:noFill/>
          <a:ln w="28575">
            <a:solidFill>
              <a:srgbClr val="0E7C86"/>
            </a:solidFill>
            <a:prstDash val="solid"/>
            <a:tailEnd type="triangle"/>
          </a:ln>
        </p:spPr>
      </p:sp>
      <p:sp>
        <p:nvSpPr>
          <p:cNvPr id="13" name="Text 11"/>
          <p:cNvSpPr txBox="1"/>
          <p:nvPr/>
        </p:nvSpPr>
        <p:spPr>
          <a:xfrm>
            <a:off x="4846320" y="2011680"/>
            <a:ext cx="2377440" cy="274320"/>
          </a:xfrm>
          <a:prstGeom prst="rect">
            <a:avLst/>
          </a:prstGeom>
          <a:noFill/>
          <a:ln/>
        </p:spPr>
        <p:txBody>
          <a:bodyPr wrap="square" lIns="0" tIns="0" rIns="0" bIns="0" rtlCol="0" anchor="t"/>
          <a:lstStyle/>
          <a:p>
            <a:pPr algn="ctr" indent="0" marL="0">
              <a:buNone/>
            </a:pPr>
            <a:r>
              <a:rPr lang="en-US" sz="1300" i="1" dirty="0">
                <a:solidFill>
                  <a:srgbClr val="0E7C86"/>
                </a:solidFill>
                <a:latin typeface="Calibri" pitchFamily="34" charset="0"/>
                <a:ea typeface="Calibri" pitchFamily="34" charset="-122"/>
                <a:cs typeface="Calibri" pitchFamily="34" charset="-120"/>
              </a:rPr>
              <a:t>t0 punta qui</a:t>
            </a:r>
            <a:endParaRPr lang="en-US" sz="1300" dirty="0"/>
          </a:p>
        </p:txBody>
      </p:sp>
      <p:sp>
        <p:nvSpPr>
          <p:cNvPr id="14" name="Shape 12"/>
          <p:cNvSpPr/>
          <p:nvPr/>
        </p:nvSpPr>
        <p:spPr>
          <a:xfrm flipH="1">
            <a:off x="4617720" y="3017520"/>
            <a:ext cx="2834640" cy="228600"/>
          </a:xfrm>
          <a:prstGeom prst="line">
            <a:avLst/>
          </a:prstGeom>
          <a:noFill/>
          <a:ln w="28575">
            <a:solidFill>
              <a:srgbClr val="C7791B"/>
            </a:solidFill>
            <a:prstDash val="solid"/>
            <a:tailEnd type="triangle"/>
          </a:ln>
        </p:spPr>
      </p:sp>
      <p:sp>
        <p:nvSpPr>
          <p:cNvPr id="15" name="Text 13"/>
          <p:cNvSpPr txBox="1"/>
          <p:nvPr/>
        </p:nvSpPr>
        <p:spPr>
          <a:xfrm>
            <a:off x="4754880" y="3291840"/>
            <a:ext cx="2651760" cy="274320"/>
          </a:xfrm>
          <a:prstGeom prst="rect">
            <a:avLst/>
          </a:prstGeom>
          <a:noFill/>
          <a:ln/>
        </p:spPr>
        <p:txBody>
          <a:bodyPr wrap="square" lIns="0" tIns="0" rIns="0" bIns="0" rtlCol="0" anchor="t"/>
          <a:lstStyle/>
          <a:p>
            <a:pPr algn="ctr" indent="0" marL="0">
              <a:buNone/>
            </a:pPr>
            <a:r>
              <a:rPr lang="en-US" sz="1300" i="1" dirty="0">
                <a:solidFill>
                  <a:srgbClr val="C7791B"/>
                </a:solidFill>
                <a:latin typeface="Calibri" pitchFamily="34" charset="0"/>
                <a:ea typeface="Calibri" pitchFamily="34" charset="-122"/>
                <a:cs typeface="Calibri" pitchFamily="34" charset="-120"/>
              </a:rPr>
              <a:t>lw copia il contenuto</a:t>
            </a:r>
            <a:endParaRPr lang="en-US" sz="1300" dirty="0"/>
          </a:p>
        </p:txBody>
      </p:sp>
      <p:sp>
        <p:nvSpPr>
          <p:cNvPr id="16" name="Shape 14"/>
          <p:cNvSpPr/>
          <p:nvPr/>
        </p:nvSpPr>
        <p:spPr>
          <a:xfrm>
            <a:off x="548640" y="3977640"/>
            <a:ext cx="7315200" cy="2194560"/>
          </a:xfrm>
          <a:prstGeom prst="roundRect">
            <a:avLst>
              <a:gd name="adj" fmla="val 3333"/>
            </a:avLst>
          </a:prstGeom>
          <a:solidFill>
            <a:srgbClr val="12202B"/>
          </a:solidFill>
          <a:ln w="12700">
            <a:solidFill>
              <a:srgbClr val="12202B"/>
            </a:solidFill>
            <a:prstDash val="solid"/>
          </a:ln>
        </p:spPr>
      </p:sp>
      <p:sp>
        <p:nvSpPr>
          <p:cNvPr id="17" name="Text 15"/>
          <p:cNvSpPr txBox="1"/>
          <p:nvPr/>
        </p:nvSpPr>
        <p:spPr>
          <a:xfrm>
            <a:off x="777240" y="4160520"/>
            <a:ext cx="6858000" cy="182880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t0 = WHERE the value lives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WHAT is stored there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addi t1, t1, 1      </a:t>
            </a:r>
            <a:pPr indent="0" marL="0">
              <a:buNone/>
            </a:pPr>
            <a:r>
              <a:rPr lang="en-US" sz="1500" dirty="0">
                <a:solidFill>
                  <a:srgbClr val="8FB3A0"/>
                </a:solidFill>
                <a:latin typeface="Courier New" pitchFamily="34" charset="0"/>
                <a:ea typeface="Courier New" pitchFamily="34" charset="-122"/>
                <a:cs typeface="Courier New" pitchFamily="34" charset="-120"/>
              </a:rPr>
              <a:t># change the copy in the register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sw   t1, 0(t0)      </a:t>
            </a:r>
            <a:pPr indent="0" marL="0">
              <a:buNone/>
            </a:pPr>
            <a:r>
              <a:rPr lang="en-US" sz="1500" dirty="0">
                <a:solidFill>
                  <a:srgbClr val="8FB3A0"/>
                </a:solidFill>
                <a:latin typeface="Courier New" pitchFamily="34" charset="0"/>
                <a:ea typeface="Courier New" pitchFamily="34" charset="-122"/>
                <a:cs typeface="Courier New" pitchFamily="34" charset="-120"/>
              </a:rPr>
              <a:t># memory still says 41 until this line</a:t>
            </a:r>
            <a:endParaRPr lang="en-US" sz="1500" dirty="0"/>
          </a:p>
        </p:txBody>
      </p:sp>
      <p:sp>
        <p:nvSpPr>
          <p:cNvPr id="18" name="Shape 16"/>
          <p:cNvSpPr/>
          <p:nvPr/>
        </p:nvSpPr>
        <p:spPr>
          <a:xfrm>
            <a:off x="8229600" y="3977640"/>
            <a:ext cx="3413455" cy="2194560"/>
          </a:xfrm>
          <a:prstGeom prst="roundRect">
            <a:avLst>
              <a:gd name="adj" fmla="val 3333"/>
            </a:avLst>
          </a:prstGeom>
          <a:solidFill>
            <a:srgbClr val="F3DDE0"/>
          </a:solidFill>
          <a:ln w="12700">
            <a:solidFill>
              <a:srgbClr val="F3DDE0"/>
            </a:solidFill>
            <a:prstDash val="solid"/>
          </a:ln>
        </p:spPr>
      </p:sp>
      <p:sp>
        <p:nvSpPr>
          <p:cNvPr id="19" name="Text 17"/>
          <p:cNvSpPr txBox="1"/>
          <p:nvPr/>
        </p:nvSpPr>
        <p:spPr>
          <a:xfrm>
            <a:off x="8412480" y="4069080"/>
            <a:ext cx="3047695" cy="2011680"/>
          </a:xfrm>
          <a:prstGeom prst="rect">
            <a:avLst/>
          </a:prstGeom>
          <a:noFill/>
          <a:ln/>
        </p:spPr>
        <p:txBody>
          <a:bodyPr wrap="square" lIns="0" tIns="0" rIns="0" bIns="0" rtlCol="0" anchor="ctr"/>
          <a:lstStyle/>
          <a:p>
            <a:pPr indent="0" marL="0">
              <a:buNone/>
            </a:pPr>
            <a:r>
              <a:rPr lang="en-US" sz="1550" dirty="0">
                <a:solidFill>
                  <a:srgbClr val="1B2530"/>
                </a:solidFill>
                <a:latin typeface="Calibri" pitchFamily="34" charset="0"/>
                <a:ea typeface="Calibri" pitchFamily="34" charset="-122"/>
                <a:cs typeface="Calibri" pitchFamily="34" charset="-120"/>
              </a:rPr>
              <a:t>Usare un indirizzo dove serve un valore, o il contrario, è uno degli errori più comuni dei principianti. Commentate ogni registro: INDIRIZZO o VALORE.</a:t>
            </a:r>
            <a:endParaRPr lang="en-US" sz="1550" dirty="0"/>
          </a:p>
        </p:txBody>
      </p:sp>
      <p:sp>
        <p:nvSpPr>
          <p:cNvPr id="20" name="Shape 18"/>
          <p:cNvSpPr/>
          <p:nvPr/>
        </p:nvSpPr>
        <p:spPr>
          <a:xfrm>
            <a:off x="6175451" y="91440"/>
            <a:ext cx="5467604" cy="274320"/>
          </a:xfrm>
          <a:prstGeom prst="rect">
            <a:avLst/>
          </a:prstGeom>
          <a:solidFill>
            <a:srgbClr val="F3E8FF"/>
          </a:solidFill>
          <a:ln w="12700">
            <a:solidFill>
              <a:srgbClr val="7E22CE"/>
            </a:solidFill>
            <a:prstDash val="dash"/>
          </a:ln>
        </p:spPr>
      </p:sp>
      <p:sp>
        <p:nvSpPr>
          <p:cNvPr id="21" name="Shape 19"/>
          <p:cNvSpPr/>
          <p:nvPr/>
        </p:nvSpPr>
        <p:spPr>
          <a:xfrm>
            <a:off x="6202883" y="128016"/>
            <a:ext cx="45720" cy="45720"/>
          </a:xfrm>
          <a:prstGeom prst="rect">
            <a:avLst/>
          </a:prstGeom>
          <a:solidFill>
            <a:srgbClr val="7E22CE"/>
          </a:solidFill>
          <a:ln w="12700">
            <a:solidFill>
              <a:srgbClr val="7E22CE"/>
            </a:solidFill>
            <a:prstDash val="solid"/>
          </a:ln>
        </p:spPr>
      </p:sp>
      <p:sp>
        <p:nvSpPr>
          <p:cNvPr id="22" name="Shape 20"/>
          <p:cNvSpPr/>
          <p:nvPr/>
        </p:nvSpPr>
        <p:spPr>
          <a:xfrm>
            <a:off x="6202883" y="205740"/>
            <a:ext cx="45720" cy="45720"/>
          </a:xfrm>
          <a:prstGeom prst="rect">
            <a:avLst/>
          </a:prstGeom>
          <a:solidFill>
            <a:srgbClr val="7E22CE"/>
          </a:solidFill>
          <a:ln w="12700">
            <a:solidFill>
              <a:srgbClr val="7E22CE"/>
            </a:solidFill>
            <a:prstDash val="solid"/>
          </a:ln>
        </p:spPr>
      </p:sp>
      <p:sp>
        <p:nvSpPr>
          <p:cNvPr id="23" name="Shape 21"/>
          <p:cNvSpPr/>
          <p:nvPr/>
        </p:nvSpPr>
        <p:spPr>
          <a:xfrm>
            <a:off x="6202883" y="283464"/>
            <a:ext cx="45720" cy="45720"/>
          </a:xfrm>
          <a:prstGeom prst="rect">
            <a:avLst/>
          </a:prstGeom>
          <a:solidFill>
            <a:srgbClr val="7E22CE"/>
          </a:solidFill>
          <a:ln w="12700">
            <a:solidFill>
              <a:srgbClr val="7E22CE"/>
            </a:solidFill>
            <a:prstDash val="solid"/>
          </a:ln>
        </p:spPr>
      </p:sp>
      <p:pic>
        <p:nvPicPr>
          <p:cNvPr id="24" name="Image 0" descr="preencoded.png">    </p:cNvPr>
          <p:cNvPicPr>
            <a:picLocks noChangeAspect="1"/>
          </p:cNvPicPr>
          <p:nvPr/>
        </p:nvPicPr>
        <p:blipFill>
          <a:blip r:embed="rId1"/>
          <a:stretch>
            <a:fillRect/>
          </a:stretch>
        </p:blipFill>
        <p:spPr>
          <a:xfrm>
            <a:off x="6303467" y="128016"/>
            <a:ext cx="201168" cy="201168"/>
          </a:xfrm>
          <a:prstGeom prst="rect">
            <a:avLst/>
          </a:prstGeom>
        </p:spPr>
      </p:pic>
      <p:sp>
        <p:nvSpPr>
          <p:cNvPr id="25" name="Text 22"/>
          <p:cNvSpPr txBox="1"/>
          <p:nvPr/>
        </p:nvSpPr>
        <p:spPr>
          <a:xfrm>
            <a:off x="6559499" y="91440"/>
            <a:ext cx="5046980"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i modi di indirizzamento</a:t>
            </a:r>
            <a:pPr indent="0" marL="0">
              <a:buNone/>
            </a:pPr>
            <a:r>
              <a:rPr lang="en-US" sz="1100" b="1" dirty="0">
                <a:solidFill>
                  <a:srgbClr val="6B21A8"/>
                </a:solidFill>
                <a:latin typeface="Calibri" pitchFamily="34" charset="0"/>
                <a:ea typeface="Calibri" pitchFamily="34" charset="-122"/>
                <a:cs typeface="Calibri" pitchFamily="34" charset="-120"/>
              </a:rPr>
              <a:t> → Lezione 19</a:t>
            </a:r>
            <a:endParaRPr lang="en-US" sz="1100" dirty="0"/>
          </a:p>
        </p:txBody>
      </p:sp>
      <p:sp>
        <p:nvSpPr>
          <p:cNvPr id="26" name="Shape 23"/>
          <p:cNvSpPr/>
          <p:nvPr/>
        </p:nvSpPr>
        <p:spPr>
          <a:xfrm>
            <a:off x="1686382" y="91440"/>
            <a:ext cx="4379341" cy="274320"/>
          </a:xfrm>
          <a:prstGeom prst="rect">
            <a:avLst/>
          </a:prstGeom>
          <a:solidFill>
            <a:srgbClr val="E0F2FE"/>
          </a:solidFill>
          <a:ln w="12700">
            <a:solidFill>
              <a:srgbClr val="0369A1"/>
            </a:solidFill>
            <a:prstDash val="solid"/>
          </a:ln>
        </p:spPr>
      </p:sp>
      <p:sp>
        <p:nvSpPr>
          <p:cNvPr id="27" name="Shape 24"/>
          <p:cNvSpPr/>
          <p:nvPr/>
        </p:nvSpPr>
        <p:spPr>
          <a:xfrm>
            <a:off x="1686382" y="91440"/>
            <a:ext cx="73152" cy="274320"/>
          </a:xfrm>
          <a:prstGeom prst="rect">
            <a:avLst/>
          </a:prstGeom>
          <a:solidFill>
            <a:srgbClr val="0369A1"/>
          </a:solidFill>
          <a:ln w="12700">
            <a:solidFill>
              <a:srgbClr val="0369A1"/>
            </a:solidFill>
            <a:prstDash val="solid"/>
          </a:ln>
        </p:spPr>
      </p:sp>
      <p:pic>
        <p:nvPicPr>
          <p:cNvPr id="28" name="Image 1" descr="preencoded.png">    </p:cNvPr>
          <p:cNvPicPr>
            <a:picLocks noChangeAspect="1"/>
          </p:cNvPicPr>
          <p:nvPr/>
        </p:nvPicPr>
        <p:blipFill>
          <a:blip r:embed="rId2"/>
          <a:stretch>
            <a:fillRect/>
          </a:stretch>
        </p:blipFill>
        <p:spPr>
          <a:xfrm>
            <a:off x="1814398" y="128016"/>
            <a:ext cx="201168" cy="201168"/>
          </a:xfrm>
          <a:prstGeom prst="rect">
            <a:avLst/>
          </a:prstGeom>
        </p:spPr>
      </p:pic>
      <p:sp>
        <p:nvSpPr>
          <p:cNvPr id="29" name="Text 25"/>
          <p:cNvSpPr txBox="1"/>
          <p:nvPr/>
        </p:nvSpPr>
        <p:spPr>
          <a:xfrm>
            <a:off x="2070430"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indirizzo, valore, load, store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istruzioni che avete appena usato</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72967"/>
                <a:gridCol w="2817629"/>
                <a:gridCol w="3698138"/>
                <a:gridCol w="290568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Famiglia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Istruzione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Che cosa fa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Esempio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Aritmetica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 sub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combina due registri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 t0, t1, t2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Logica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 or, xor</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operazione bit a bit su due registri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 t0, t1, t2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Immediato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andi, ori, xori</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registro e una piccola costante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t1, t1, 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Memoria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lw, sw</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carica o memorizza una parola di 32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lw t1, 0(t0)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Controllo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call, ret</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va a una funzione e ritorna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call prg32_gfx_rect</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54645" y="91440"/>
            <a:ext cx="3788410" cy="274320"/>
          </a:xfrm>
          <a:prstGeom prst="rect">
            <a:avLst/>
          </a:prstGeom>
          <a:solidFill>
            <a:srgbClr val="E0F2FE"/>
          </a:solidFill>
          <a:ln w="12700">
            <a:solidFill>
              <a:srgbClr val="0369A1"/>
            </a:solidFill>
            <a:prstDash val="solid"/>
          </a:ln>
        </p:spPr>
      </p:sp>
      <p:sp>
        <p:nvSpPr>
          <p:cNvPr id="5" name="Shape 2"/>
          <p:cNvSpPr/>
          <p:nvPr/>
        </p:nvSpPr>
        <p:spPr>
          <a:xfrm>
            <a:off x="7854645"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7" name="Text 3"/>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istruzioni di base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Pseudo-istruzioni: scorciatoie che l'assemblatore espande</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73604"/>
                <a:gridCol w="4622673"/>
                <a:gridCol w="3698138"/>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Scrivete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L'assemblatore emette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Significato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li t0, 42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t0, zero, 42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carica una costante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mv t0, 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t0, t1, 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copia un registro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not t0, 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xori t0, t1, -1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complemento bit a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la t0, counter</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auipc t0, ... + addi t0, t0, ...</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carica l'indirizzo di un'etichetta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ret</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jalr zero, 0(ra)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salta all'indirizzo in ra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beqz t0, skip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beq t0, zero, skip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salta se t0 vale zero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7920304" y="91440"/>
            <a:ext cx="3722751" cy="274320"/>
          </a:xfrm>
          <a:prstGeom prst="rect">
            <a:avLst/>
          </a:prstGeom>
          <a:solidFill>
            <a:srgbClr val="E0F2FE"/>
          </a:solidFill>
          <a:ln w="12700">
            <a:solidFill>
              <a:srgbClr val="0369A1"/>
            </a:solidFill>
            <a:prstDash val="solid"/>
          </a:ln>
        </p:spPr>
      </p:sp>
      <p:sp>
        <p:nvSpPr>
          <p:cNvPr id="5" name="Shape 2"/>
          <p:cNvSpPr/>
          <p:nvPr/>
        </p:nvSpPr>
        <p:spPr>
          <a:xfrm>
            <a:off x="792030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7" name="Text 3"/>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pseudo-istruzioni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Un'istruzione è un numero a 32 bit</a:t>
            </a:r>
            <a:endParaRPr lang="en-US" sz="3200" dirty="0"/>
          </a:p>
        </p:txBody>
      </p:sp>
      <p:sp>
        <p:nvSpPr>
          <p:cNvPr id="3" name="Text 1"/>
          <p:cNvSpPr txBox="1"/>
          <p:nvPr/>
        </p:nvSpPr>
        <p:spPr>
          <a:xfrm>
            <a:off x="548640" y="1417320"/>
            <a:ext cx="11094415" cy="548640"/>
          </a:xfrm>
          <a:prstGeom prst="rect">
            <a:avLst/>
          </a:prstGeom>
          <a:noFill/>
          <a:ln/>
        </p:spPr>
        <p:txBody>
          <a:bodyPr wrap="square" lIns="0" tIns="0" rIns="0" bIns="0" rtlCol="0" anchor="t"/>
          <a:lstStyle/>
          <a:p>
            <a:pPr algn="ctr" indent="0" marL="0">
              <a:buNone/>
            </a:pPr>
            <a:r>
              <a:rPr lang="en-US" sz="2800" b="1" dirty="0">
                <a:solidFill>
                  <a:srgbClr val="2E4A62"/>
                </a:solidFill>
                <a:latin typeface="Courier New" pitchFamily="34" charset="0"/>
                <a:ea typeface="Courier New" pitchFamily="34" charset="-122"/>
                <a:cs typeface="Courier New" pitchFamily="34" charset="-120"/>
              </a:rPr>
              <a:t>addi t1, t1, 1</a:t>
            </a:r>
            <a:endParaRPr lang="en-US" sz="2800" dirty="0"/>
          </a:p>
        </p:txBody>
      </p:sp>
      <p:sp>
        <p:nvSpPr>
          <p:cNvPr id="4" name="Text 2"/>
          <p:cNvSpPr txBox="1"/>
          <p:nvPr/>
        </p:nvSpPr>
        <p:spPr>
          <a:xfrm>
            <a:off x="914400" y="2560320"/>
            <a:ext cx="3806308" cy="73152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000000000001</a:t>
            </a:r>
            <a:endParaRPr lang="en-US" sz="1700" dirty="0"/>
          </a:p>
        </p:txBody>
      </p:sp>
      <p:sp>
        <p:nvSpPr>
          <p:cNvPr id="5" name="Text 3"/>
          <p:cNvSpPr txBox="1"/>
          <p:nvPr/>
        </p:nvSpPr>
        <p:spPr>
          <a:xfrm>
            <a:off x="914400" y="3346704"/>
            <a:ext cx="380630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immediato</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la costante 1</a:t>
            </a:r>
            <a:endParaRPr lang="en-US" sz="1300" dirty="0"/>
          </a:p>
        </p:txBody>
      </p:sp>
      <p:sp>
        <p:nvSpPr>
          <p:cNvPr id="6" name="Text 4"/>
          <p:cNvSpPr txBox="1"/>
          <p:nvPr/>
        </p:nvSpPr>
        <p:spPr>
          <a:xfrm>
            <a:off x="950976" y="2322576"/>
            <a:ext cx="190315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7" name="Text 5"/>
          <p:cNvSpPr txBox="1"/>
          <p:nvPr/>
        </p:nvSpPr>
        <p:spPr>
          <a:xfrm>
            <a:off x="2817554" y="2322576"/>
            <a:ext cx="186657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8" name="Text 6"/>
          <p:cNvSpPr txBox="1"/>
          <p:nvPr/>
        </p:nvSpPr>
        <p:spPr>
          <a:xfrm>
            <a:off x="4720708" y="2560320"/>
            <a:ext cx="1585962" cy="73152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00110</a:t>
            </a:r>
            <a:endParaRPr lang="en-US" sz="1700" dirty="0"/>
          </a:p>
        </p:txBody>
      </p:sp>
      <p:sp>
        <p:nvSpPr>
          <p:cNvPr id="9" name="Text 7"/>
          <p:cNvSpPr txBox="1"/>
          <p:nvPr/>
        </p:nvSpPr>
        <p:spPr>
          <a:xfrm>
            <a:off x="4720708" y="3346704"/>
            <a:ext cx="1585962"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t1 è x6</a:t>
            </a:r>
            <a:endParaRPr lang="en-US" sz="1300" dirty="0"/>
          </a:p>
        </p:txBody>
      </p:sp>
      <p:sp>
        <p:nvSpPr>
          <p:cNvPr id="10" name="Text 8"/>
          <p:cNvSpPr txBox="1"/>
          <p:nvPr/>
        </p:nvSpPr>
        <p:spPr>
          <a:xfrm>
            <a:off x="4757284" y="232257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1" name="Text 9"/>
          <p:cNvSpPr txBox="1"/>
          <p:nvPr/>
        </p:nvSpPr>
        <p:spPr>
          <a:xfrm>
            <a:off x="5513689" y="232257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2" name="Text 10"/>
          <p:cNvSpPr txBox="1"/>
          <p:nvPr/>
        </p:nvSpPr>
        <p:spPr>
          <a:xfrm>
            <a:off x="6306670" y="2560320"/>
            <a:ext cx="1164317" cy="73152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000</a:t>
            </a:r>
            <a:endParaRPr lang="en-US" sz="1700" dirty="0"/>
          </a:p>
        </p:txBody>
      </p:sp>
      <p:sp>
        <p:nvSpPr>
          <p:cNvPr id="13" name="Text 11"/>
          <p:cNvSpPr txBox="1"/>
          <p:nvPr/>
        </p:nvSpPr>
        <p:spPr>
          <a:xfrm>
            <a:off x="6306670" y="3346704"/>
            <a:ext cx="116431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a:t>
            </a:r>
            <a:endParaRPr lang="en-US" sz="1300" dirty="0"/>
          </a:p>
        </p:txBody>
      </p:sp>
      <p:sp>
        <p:nvSpPr>
          <p:cNvPr id="14" name="Text 12"/>
          <p:cNvSpPr txBox="1"/>
          <p:nvPr/>
        </p:nvSpPr>
        <p:spPr>
          <a:xfrm>
            <a:off x="6343246" y="2322576"/>
            <a:ext cx="58215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15" name="Text 13"/>
          <p:cNvSpPr txBox="1"/>
          <p:nvPr/>
        </p:nvSpPr>
        <p:spPr>
          <a:xfrm>
            <a:off x="6888828" y="2322576"/>
            <a:ext cx="54558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16" name="Text 14"/>
          <p:cNvSpPr txBox="1"/>
          <p:nvPr/>
        </p:nvSpPr>
        <p:spPr>
          <a:xfrm>
            <a:off x="7470987" y="2560320"/>
            <a:ext cx="1585962" cy="73152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00110</a:t>
            </a:r>
            <a:endParaRPr lang="en-US" sz="1700" dirty="0"/>
          </a:p>
        </p:txBody>
      </p:sp>
      <p:sp>
        <p:nvSpPr>
          <p:cNvPr id="17" name="Text 15"/>
          <p:cNvSpPr txBox="1"/>
          <p:nvPr/>
        </p:nvSpPr>
        <p:spPr>
          <a:xfrm>
            <a:off x="7470987" y="3346704"/>
            <a:ext cx="1585962"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t1 è x6</a:t>
            </a:r>
            <a:endParaRPr lang="en-US" sz="1300" dirty="0"/>
          </a:p>
        </p:txBody>
      </p:sp>
      <p:sp>
        <p:nvSpPr>
          <p:cNvPr id="18" name="Text 16"/>
          <p:cNvSpPr txBox="1"/>
          <p:nvPr/>
        </p:nvSpPr>
        <p:spPr>
          <a:xfrm>
            <a:off x="7507563" y="232257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19" name="Text 17"/>
          <p:cNvSpPr txBox="1"/>
          <p:nvPr/>
        </p:nvSpPr>
        <p:spPr>
          <a:xfrm>
            <a:off x="8263968" y="232257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20" name="Text 18"/>
          <p:cNvSpPr txBox="1"/>
          <p:nvPr/>
        </p:nvSpPr>
        <p:spPr>
          <a:xfrm>
            <a:off x="9056949" y="2560320"/>
            <a:ext cx="2220347" cy="73152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0010011</a:t>
            </a:r>
            <a:endParaRPr lang="en-US" sz="1700" dirty="0"/>
          </a:p>
        </p:txBody>
      </p:sp>
      <p:sp>
        <p:nvSpPr>
          <p:cNvPr id="21" name="Text 19"/>
          <p:cNvSpPr txBox="1"/>
          <p:nvPr/>
        </p:nvSpPr>
        <p:spPr>
          <a:xfrm>
            <a:off x="9056949" y="3346704"/>
            <a:ext cx="222034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registro-immediato</a:t>
            </a:r>
            <a:endParaRPr lang="en-US" sz="1300" dirty="0"/>
          </a:p>
        </p:txBody>
      </p:sp>
      <p:sp>
        <p:nvSpPr>
          <p:cNvPr id="22" name="Text 20"/>
          <p:cNvSpPr txBox="1"/>
          <p:nvPr/>
        </p:nvSpPr>
        <p:spPr>
          <a:xfrm>
            <a:off x="9093525" y="2322576"/>
            <a:ext cx="111017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3" name="Text 21"/>
          <p:cNvSpPr txBox="1"/>
          <p:nvPr/>
        </p:nvSpPr>
        <p:spPr>
          <a:xfrm>
            <a:off x="10167122" y="2322576"/>
            <a:ext cx="107359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4" name="Text 22"/>
          <p:cNvSpPr txBox="1"/>
          <p:nvPr/>
        </p:nvSpPr>
        <p:spPr>
          <a:xfrm>
            <a:off x="548640" y="4206240"/>
            <a:ext cx="11094415" cy="640080"/>
          </a:xfrm>
          <a:prstGeom prst="rect">
            <a:avLst/>
          </a:prstGeom>
          <a:noFill/>
          <a:ln/>
        </p:spPr>
        <p:txBody>
          <a:bodyPr wrap="square" lIns="0" tIns="0" rIns="0" bIns="0" rtlCol="0" anchor="ctr"/>
          <a:lstStyle/>
          <a:p>
            <a:pPr algn="ctr" indent="0" marL="0">
              <a:buNone/>
            </a:pPr>
            <a:r>
              <a:rPr lang="en-US" sz="3400" b="1" dirty="0">
                <a:solidFill>
                  <a:srgbClr val="1B2530"/>
                </a:solidFill>
                <a:latin typeface="Courier New" pitchFamily="34" charset="0"/>
                <a:ea typeface="Courier New" pitchFamily="34" charset="-122"/>
                <a:cs typeface="Courier New" pitchFamily="34" charset="-120"/>
              </a:rPr>
              <a:t>0x00130313</a:t>
            </a:r>
            <a:endParaRPr lang="en-US" sz="3400" dirty="0"/>
          </a:p>
        </p:txBody>
      </p:sp>
      <p:sp>
        <p:nvSpPr>
          <p:cNvPr id="25" name="Shape 23"/>
          <p:cNvSpPr/>
          <p:nvPr/>
        </p:nvSpPr>
        <p:spPr>
          <a:xfrm>
            <a:off x="548640" y="5074920"/>
            <a:ext cx="11094415" cy="1097280"/>
          </a:xfrm>
          <a:prstGeom prst="roundRect">
            <a:avLst>
              <a:gd name="adj" fmla="val 6667"/>
            </a:avLst>
          </a:prstGeom>
          <a:solidFill>
            <a:srgbClr val="D8ECEE"/>
          </a:solidFill>
          <a:ln w="12700">
            <a:solidFill>
              <a:srgbClr val="D8ECEE"/>
            </a:solidFill>
            <a:prstDash val="solid"/>
          </a:ln>
        </p:spPr>
      </p:sp>
      <p:sp>
        <p:nvSpPr>
          <p:cNvPr id="26" name="Text 24"/>
          <p:cNvSpPr txBox="1"/>
          <p:nvPr/>
        </p:nvSpPr>
        <p:spPr>
          <a:xfrm>
            <a:off x="822960" y="5120640"/>
            <a:ext cx="10545775" cy="100584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L'assembly è una scrittura leggibile del codice macchina. L'assemblatore traduce ogni riga in una parola di 32 bit; il processore legge i campi con circuiti logici che più avanti nel corso progetteremo noi stessi.</a:t>
            </a:r>
            <a:endParaRPr lang="en-US" sz="1700" dirty="0"/>
          </a:p>
        </p:txBody>
      </p:sp>
      <p:sp>
        <p:nvSpPr>
          <p:cNvPr id="27" name="Shape 25"/>
          <p:cNvSpPr/>
          <p:nvPr/>
        </p:nvSpPr>
        <p:spPr>
          <a:xfrm>
            <a:off x="6175451" y="91440"/>
            <a:ext cx="5467604" cy="274320"/>
          </a:xfrm>
          <a:prstGeom prst="rect">
            <a:avLst/>
          </a:prstGeom>
          <a:solidFill>
            <a:srgbClr val="F3E8FF"/>
          </a:solidFill>
          <a:ln w="12700">
            <a:solidFill>
              <a:srgbClr val="7E22CE"/>
            </a:solidFill>
            <a:prstDash val="dash"/>
          </a:ln>
        </p:spPr>
      </p:sp>
      <p:sp>
        <p:nvSpPr>
          <p:cNvPr id="28" name="Shape 26"/>
          <p:cNvSpPr/>
          <p:nvPr/>
        </p:nvSpPr>
        <p:spPr>
          <a:xfrm>
            <a:off x="6202883" y="128016"/>
            <a:ext cx="45720" cy="45720"/>
          </a:xfrm>
          <a:prstGeom prst="rect">
            <a:avLst/>
          </a:prstGeom>
          <a:solidFill>
            <a:srgbClr val="7E22CE"/>
          </a:solidFill>
          <a:ln w="12700">
            <a:solidFill>
              <a:srgbClr val="7E22CE"/>
            </a:solidFill>
            <a:prstDash val="solid"/>
          </a:ln>
        </p:spPr>
      </p:sp>
      <p:sp>
        <p:nvSpPr>
          <p:cNvPr id="29" name="Shape 27"/>
          <p:cNvSpPr/>
          <p:nvPr/>
        </p:nvSpPr>
        <p:spPr>
          <a:xfrm>
            <a:off x="6202883" y="205740"/>
            <a:ext cx="45720" cy="45720"/>
          </a:xfrm>
          <a:prstGeom prst="rect">
            <a:avLst/>
          </a:prstGeom>
          <a:solidFill>
            <a:srgbClr val="7E22CE"/>
          </a:solidFill>
          <a:ln w="12700">
            <a:solidFill>
              <a:srgbClr val="7E22CE"/>
            </a:solidFill>
            <a:prstDash val="solid"/>
          </a:ln>
        </p:spPr>
      </p:sp>
      <p:sp>
        <p:nvSpPr>
          <p:cNvPr id="30" name="Shape 28"/>
          <p:cNvSpPr/>
          <p:nvPr/>
        </p:nvSpPr>
        <p:spPr>
          <a:xfrm>
            <a:off x="6202883" y="283464"/>
            <a:ext cx="45720" cy="45720"/>
          </a:xfrm>
          <a:prstGeom prst="rect">
            <a:avLst/>
          </a:prstGeom>
          <a:solidFill>
            <a:srgbClr val="7E22CE"/>
          </a:solidFill>
          <a:ln w="12700">
            <a:solidFill>
              <a:srgbClr val="7E22CE"/>
            </a:solidFill>
            <a:prstDash val="solid"/>
          </a:ln>
        </p:spPr>
      </p:sp>
      <p:pic>
        <p:nvPicPr>
          <p:cNvPr id="31" name="Image 0" descr="preencoded.png">    </p:cNvPr>
          <p:cNvPicPr>
            <a:picLocks noChangeAspect="1"/>
          </p:cNvPicPr>
          <p:nvPr/>
        </p:nvPicPr>
        <p:blipFill>
          <a:blip r:embed="rId1"/>
          <a:stretch>
            <a:fillRect/>
          </a:stretch>
        </p:blipFill>
        <p:spPr>
          <a:xfrm>
            <a:off x="6303467" y="128016"/>
            <a:ext cx="201168" cy="201168"/>
          </a:xfrm>
          <a:prstGeom prst="rect">
            <a:avLst/>
          </a:prstGeom>
        </p:spPr>
      </p:pic>
      <p:sp>
        <p:nvSpPr>
          <p:cNvPr id="32" name="Text 29"/>
          <p:cNvSpPr txBox="1"/>
          <p:nvPr/>
        </p:nvSpPr>
        <p:spPr>
          <a:xfrm>
            <a:off x="6559499" y="91440"/>
            <a:ext cx="5046980"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formati delle istruzioni</a:t>
            </a:r>
            <a:pPr indent="0" marL="0">
              <a:buNone/>
            </a:pPr>
            <a:r>
              <a:rPr lang="en-US" sz="1100" b="1" dirty="0">
                <a:solidFill>
                  <a:srgbClr val="6B21A8"/>
                </a:solidFill>
                <a:latin typeface="Calibri" pitchFamily="34" charset="0"/>
                <a:ea typeface="Calibri" pitchFamily="34" charset="-122"/>
                <a:cs typeface="Calibri" pitchFamily="34" charset="-120"/>
              </a:rPr>
              <a:t> → Lezione 19</a:t>
            </a:r>
            <a:endParaRPr lang="en-US" sz="1100" dirty="0"/>
          </a:p>
        </p:txBody>
      </p:sp>
      <p:sp>
        <p:nvSpPr>
          <p:cNvPr id="33" name="Shape 30"/>
          <p:cNvSpPr/>
          <p:nvPr/>
        </p:nvSpPr>
        <p:spPr>
          <a:xfrm>
            <a:off x="2014677" y="91440"/>
            <a:ext cx="4051046" cy="274320"/>
          </a:xfrm>
          <a:prstGeom prst="rect">
            <a:avLst/>
          </a:prstGeom>
          <a:solidFill>
            <a:srgbClr val="E0F2FE"/>
          </a:solidFill>
          <a:ln w="12700">
            <a:solidFill>
              <a:srgbClr val="0369A1"/>
            </a:solidFill>
            <a:prstDash val="solid"/>
          </a:ln>
        </p:spPr>
      </p:sp>
      <p:sp>
        <p:nvSpPr>
          <p:cNvPr id="34" name="Shape 31"/>
          <p:cNvSpPr/>
          <p:nvPr/>
        </p:nvSpPr>
        <p:spPr>
          <a:xfrm>
            <a:off x="2014677" y="91440"/>
            <a:ext cx="73152" cy="274320"/>
          </a:xfrm>
          <a:prstGeom prst="rect">
            <a:avLst/>
          </a:prstGeom>
          <a:solidFill>
            <a:srgbClr val="0369A1"/>
          </a:solidFill>
          <a:ln w="12700">
            <a:solidFill>
              <a:srgbClr val="0369A1"/>
            </a:solidFill>
            <a:prstDash val="solid"/>
          </a:ln>
        </p:spPr>
      </p:sp>
      <p:pic>
        <p:nvPicPr>
          <p:cNvPr id="35" name="Image 1" descr="preencoded.png">    </p:cNvPr>
          <p:cNvPicPr>
            <a:picLocks noChangeAspect="1"/>
          </p:cNvPicPr>
          <p:nvPr/>
        </p:nvPicPr>
        <p:blipFill>
          <a:blip r:embed="rId2"/>
          <a:stretch>
            <a:fillRect/>
          </a:stretch>
        </p:blipFill>
        <p:spPr>
          <a:xfrm>
            <a:off x="2142693" y="128016"/>
            <a:ext cx="201168" cy="201168"/>
          </a:xfrm>
          <a:prstGeom prst="rect">
            <a:avLst/>
          </a:prstGeom>
        </p:spPr>
      </p:pic>
      <p:sp>
        <p:nvSpPr>
          <p:cNvPr id="36" name="Text 32"/>
          <p:cNvSpPr txBox="1"/>
          <p:nvPr/>
        </p:nvSpPr>
        <p:spPr>
          <a:xfrm>
            <a:off x="2398725" y="91440"/>
            <a:ext cx="363042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un'istruzione è un numero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Punto di controllo 2: tracciate first_update a mano</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13452"/>
                <a:gridCol w="2253553"/>
                <a:gridCol w="2426903"/>
                <a:gridCol w="2600254"/>
                <a:gridCol w="26002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lw: t1 diventa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addi: t1 diventa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sw: counter diventa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Larghezza barra (andi 255)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257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Completate le righe segnate con ?, poi verificatele in PRG32-QT. Che cosa succede alla barra al frame 256, e perché?</a:t>
            </a:r>
            <a:endParaRPr lang="en-US" sz="1500" dirty="0"/>
          </a:p>
        </p:txBody>
      </p:sp>
      <p:sp>
        <p:nvSpPr>
          <p:cNvPr id="5" name="Shape 2"/>
          <p:cNvSpPr/>
          <p:nvPr/>
        </p:nvSpPr>
        <p:spPr>
          <a:xfrm>
            <a:off x="7460691" y="91440"/>
            <a:ext cx="4182364" cy="274320"/>
          </a:xfrm>
          <a:prstGeom prst="rect">
            <a:avLst/>
          </a:prstGeom>
          <a:solidFill>
            <a:srgbClr val="E0F2FE"/>
          </a:solidFill>
          <a:ln w="12700">
            <a:solidFill>
              <a:srgbClr val="0369A1"/>
            </a:solidFill>
            <a:prstDash val="solid"/>
          </a:ln>
        </p:spPr>
      </p:sp>
      <p:sp>
        <p:nvSpPr>
          <p:cNvPr id="6" name="Shape 3"/>
          <p:cNvSpPr/>
          <p:nvPr/>
        </p:nvSpPr>
        <p:spPr>
          <a:xfrm>
            <a:off x="7460691"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7588707" y="128016"/>
            <a:ext cx="201168" cy="201168"/>
          </a:xfrm>
          <a:prstGeom prst="rect">
            <a:avLst/>
          </a:prstGeom>
        </p:spPr>
      </p:pic>
      <p:sp>
        <p:nvSpPr>
          <p:cNvPr id="8" name="Text 4"/>
          <p:cNvSpPr txBox="1"/>
          <p:nvPr/>
        </p:nvSpPr>
        <p:spPr>
          <a:xfrm>
            <a:off x="7844739" y="91440"/>
            <a:ext cx="376174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seguire a mano l'esecuzione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Non ancora: ciò che spiegheranno le prossime lezioni</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757786"/>
                <a:gridCol w="4652497"/>
                <a:gridCol w="2684133"/>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Avete visto</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La domanda</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Risposta in</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0x07e0, 0xffff, 255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Perché i programmatori scrivono i numeri in esadecimale?</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Lezioni 04 e 05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una posizione sotto zero mostrata come 0xFFFFFFFF</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Come fa un registro a contenere un numero negativo?</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Lezione 05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una palla che si muove meno di un pixel per frame</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Come si rappresentano le frazioni senza FPU?</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Lezione 06</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andi a2, t1, 255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Che cosa fa AND a trentadue bit in un colpo solo?</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Lezioni 08 e 09</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addi t1, t1, 1</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Quale circuito somma davvero due numeri?</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Lezione 09: gli addizionatori</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un pulsante premuto è un 1</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Di che cosa è fatto, fisicamente, un bit?</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Lezione 10</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counter sopravvive tra i frame</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Come fa un circuito a ricordare un bit?</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Lezioni 13 e 15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0x00130313</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Come fa il processore a decodificarla ed eseguirla?</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Lezioni 18 e 19</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tre funzioni e un rettangolo</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Posso farci un gioco intero?</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Verm1: 07, 12, 17, 22</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726121" y="91440"/>
            <a:ext cx="3916934" cy="274320"/>
          </a:xfrm>
          <a:prstGeom prst="rect">
            <a:avLst/>
          </a:prstGeom>
          <a:solidFill>
            <a:srgbClr val="F3E8FF"/>
          </a:solidFill>
          <a:ln w="12700">
            <a:solidFill>
              <a:srgbClr val="7E22CE"/>
            </a:solidFill>
            <a:prstDash val="dash"/>
          </a:ln>
        </p:spPr>
      </p:sp>
      <p:sp>
        <p:nvSpPr>
          <p:cNvPr id="5" name="Shape 2"/>
          <p:cNvSpPr/>
          <p:nvPr/>
        </p:nvSpPr>
        <p:spPr>
          <a:xfrm>
            <a:off x="7753553" y="128016"/>
            <a:ext cx="45720" cy="45720"/>
          </a:xfrm>
          <a:prstGeom prst="rect">
            <a:avLst/>
          </a:prstGeom>
          <a:solidFill>
            <a:srgbClr val="7E22CE"/>
          </a:solidFill>
          <a:ln w="12700">
            <a:solidFill>
              <a:srgbClr val="7E22CE"/>
            </a:solidFill>
            <a:prstDash val="solid"/>
          </a:ln>
        </p:spPr>
      </p:sp>
      <p:sp>
        <p:nvSpPr>
          <p:cNvPr id="6" name="Shape 3"/>
          <p:cNvSpPr/>
          <p:nvPr/>
        </p:nvSpPr>
        <p:spPr>
          <a:xfrm>
            <a:off x="7753553" y="205740"/>
            <a:ext cx="45720" cy="45720"/>
          </a:xfrm>
          <a:prstGeom prst="rect">
            <a:avLst/>
          </a:prstGeom>
          <a:solidFill>
            <a:srgbClr val="7E22CE"/>
          </a:solidFill>
          <a:ln w="12700">
            <a:solidFill>
              <a:srgbClr val="7E22CE"/>
            </a:solidFill>
            <a:prstDash val="solid"/>
          </a:ln>
        </p:spPr>
      </p:sp>
      <p:sp>
        <p:nvSpPr>
          <p:cNvPr id="7" name="Shape 4"/>
          <p:cNvSpPr/>
          <p:nvPr/>
        </p:nvSpPr>
        <p:spPr>
          <a:xfrm>
            <a:off x="7753553" y="283464"/>
            <a:ext cx="45720" cy="45720"/>
          </a:xfrm>
          <a:prstGeom prst="rect">
            <a:avLst/>
          </a:prstGeom>
          <a:solidFill>
            <a:srgbClr val="7E22CE"/>
          </a:solidFill>
          <a:ln w="12700">
            <a:solidFill>
              <a:srgbClr val="7E22CE"/>
            </a:solidFill>
            <a:prstDash val="solid"/>
          </a:ln>
        </p:spPr>
      </p:sp>
      <p:pic>
        <p:nvPicPr>
          <p:cNvPr id="8" name="Image 0" descr="preencoded.png">    </p:cNvPr>
          <p:cNvPicPr>
            <a:picLocks noChangeAspect="1"/>
          </p:cNvPicPr>
          <p:nvPr/>
        </p:nvPicPr>
        <p:blipFill>
          <a:blip r:embed="rId1"/>
          <a:stretch>
            <a:fillRect/>
          </a:stretch>
        </p:blipFill>
        <p:spPr>
          <a:xfrm>
            <a:off x="7854137" y="128016"/>
            <a:ext cx="201168" cy="201168"/>
          </a:xfrm>
          <a:prstGeom prst="rect">
            <a:avLst/>
          </a:prstGeom>
        </p:spPr>
      </p:pic>
      <p:sp>
        <p:nvSpPr>
          <p:cNvPr id="9" name="Text 5"/>
          <p:cNvSpPr txBox="1"/>
          <p:nvPr/>
        </p:nvSpPr>
        <p:spPr>
          <a:xfrm>
            <a:off x="8110169" y="91440"/>
            <a:ext cx="3496310"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b="1" dirty="0">
                <a:solidFill>
                  <a:srgbClr val="6B21A8"/>
                </a:solidFill>
                <a:latin typeface="Calibri" pitchFamily="34" charset="0"/>
                <a:ea typeface="Calibri" pitchFamily="34" charset="-122"/>
                <a:cs typeface="Calibri" pitchFamily="34" charset="-120"/>
              </a:rPr>
              <a:t> → Lezioni 04–19</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filo di oggi, e dove porta</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cartuccia</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init una volta; update e draw a ogni frame</a:t>
            </a:r>
            <a:endParaRPr lang="en-US" sz="17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registri</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i valori mentre si calcola</a:t>
            </a:r>
            <a:endParaRPr lang="en-US" sz="17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memoria</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variabili a indirizzi, conservate tra i frame</a:t>
            </a:r>
            <a:endParaRPr lang="en-US" sz="17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la, lw, addi, sw</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carica, modifica, memorizza</a:t>
            </a:r>
            <a:endParaRPr lang="en-US" sz="17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traccia</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prevedere lo schermo prima di eseguire</a:t>
            </a:r>
            <a:endParaRPr lang="en-US" sz="17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Prossimo passo: la Lezione 03, da dove vengono queste idee. I numeri: Lezioni da 04 a 06. Lo stack e la convenzione di chiamata: Lezione 18. La codifica di un'istruzione: Lezione 19.</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Dopo la t0, counter e lw t1, 0(t0), che cosa contiene t0?</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valore del contatore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L'indirizzo del contatore</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Zero, perché la azzera il registro</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L'indirizzo di ritorno</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Una funzione che chiama prg32_gfx_clear deve salvare un registro prima della chiamata. Quale?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a0, perché porta l'argomento</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sp, perché lo stack si sposta</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ra, perché call lo sovrascrive</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t0, perché è temporaneo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t1 contiene 300. Che cosa lascia in a2 l'istruzione andi a2, t1, 255?</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300</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255</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45</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44</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Quale numero è 0x1F?</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numero decimale 1F</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31: un sedici più quindici</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registro t1F</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commento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84133"/>
                <a:gridCol w="2863075"/>
                <a:gridCol w="2684133"/>
                <a:gridCol w="2863075"/>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pila (stack)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load / store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caricare / memorizzare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stack pointer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puntatore alla pila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address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indirizzo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return address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indirizzo di ritorno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immediate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immediato (costante)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calling convention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convenzione di chiamata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branch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salto condizionato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code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codice macchina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label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etichetta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cartridge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cartuccia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Riepilogo e letture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processore RISC-V è fatto di trentadue registri e di un piccolo insieme di istruzioni che calcolano, spostano e saltano</a:t>
            </a:r>
            <a:endParaRPr lang="en-US" sz="2200" dirty="0"/>
          </a:p>
        </p:txBody>
      </p:sp>
      <p:sp>
        <p:nvSpPr>
          <p:cNvPr id="5" name="Shape 3"/>
          <p:cNvSpPr/>
          <p:nvPr/>
        </p:nvSpPr>
        <p:spPr>
          <a:xfrm>
            <a:off x="548640" y="247586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69439"/>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gioco PRG32 sono tre funzioni; gli argomenti viaggiano in a0-a7; una funzione che ne chiama un'altra salva ra</a:t>
            </a:r>
            <a:endParaRPr lang="en-US" sz="2200" dirty="0"/>
          </a:p>
        </p:txBody>
      </p:sp>
      <p:sp>
        <p:nvSpPr>
          <p:cNvPr id="7" name="Shape 5"/>
          <p:cNvSpPr/>
          <p:nvPr/>
        </p:nvSpPr>
        <p:spPr>
          <a:xfrm>
            <a:off x="548640" y="34279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2155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 variabili vivono in memoria: la per l'indirizzo, lw e sw per il valore</a:t>
            </a:r>
            <a:endParaRPr lang="en-US" sz="2200" dirty="0"/>
          </a:p>
        </p:txBody>
      </p:sp>
      <p:sp>
        <p:nvSpPr>
          <p:cNvPr id="9" name="Shape 7"/>
          <p:cNvSpPr/>
          <p:nvPr/>
        </p:nvSpPr>
        <p:spPr>
          <a:xfrm>
            <a:off x="548640" y="40392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932809"/>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Un'istruzione è un numero a 32 bit; l'assembly è la sua scrittura leggibile</a:t>
            </a:r>
            <a:endParaRPr lang="en-US" sz="2200" dirty="0"/>
          </a:p>
        </p:txBody>
      </p:sp>
      <p:sp>
        <p:nvSpPr>
          <p:cNvPr id="11" name="Shape 9"/>
          <p:cNvSpPr/>
          <p:nvPr/>
        </p:nvSpPr>
        <p:spPr>
          <a:xfrm>
            <a:off x="548640" y="4650486"/>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544060"/>
            <a:ext cx="10710367" cy="1628140"/>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Letture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Playing with RISC-V, capitolo 5: First Contact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Patterson, Hennessy: Struttura e progetto dei calcolatori, edizione RISC-V, capitolo 2</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Repository di PRG32: docs/learn/tutorial_ascii_game.md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Primo contatto: l'assembly RISC-V su PRG32</dc:title>
  <dc:subject>Lezione 02</dc:subject>
  <dc:creator>Raffaele Montella</dc:creator>
  <cp:lastModifiedBy>Raffaele Montella</cp:lastModifiedBy>
  <cp:revision>1</cp:revision>
  <dcterms:created xsi:type="dcterms:W3CDTF">2026-10-17T07:16:49Z</dcterms:created>
  <dcterms:modified xsi:type="dcterms:W3CDTF">2026-10-17T07:16:49Z</dcterms:modified>
</cp:coreProperties>
</file>