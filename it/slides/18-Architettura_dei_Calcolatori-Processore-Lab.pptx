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c9b1e3fa-e00e-5184-40e4-817ff16feb4f}">
          <p14:sldIdLst>
            <p14:sldId id="256"/>
            <p14:sldId id="257"/>
          </p14:sldIdLst>
        </p14:section>
        <p14:section name="Riscaldamento sulla macchina" id="{f707a34b-455e-0ec2-bdba-13a47561c94c}">
          <p14:sldIdLst>
            <p14:sldId id="258"/>
          </p14:sldIdLst>
        </p14:section>
        <p14:section name="Lo stack" id="{ce4606fe-155d-457b-abce-2d37976db36b}">
          <p14:sldIdLst>
            <p14:sldId id="259"/>
          </p14:sldIdLst>
        </p14:section>
        <p14:section name="Modelli di processore" id="{2c99ab55-7e23-7999-c1a4-6b6ab7334f48}">
          <p14:sldIdLst>
            <p14:sldId id="260"/>
          </p14:sldIdLst>
        </p14:section>
        <p14:section name="Il programma completo" id="{2c3272e7-1ba9-c0f9-1206-4aa30a835507}">
          <p14:sldIdLst>
            <p14:sldId id="261"/>
            <p14:sldId id="262"/>
            <p14:sldId id="263"/>
            <p14:sldId id="264"/>
          </p14:sldIdLst>
        </p14:section>
        <p14:section name="Eseguire e provare" id="{0a5831ec-de4c-db74-d3c0-be02d9eb8fb2}">
          <p14:sldIdLst>
            <p14:sldId id="265"/>
            <p14:sldId id="266"/>
            <p14:sldId id="267"/>
            <p14:sldId id="268"/>
            <p14:sldId id="269"/>
          </p14:sldIdLst>
        </p14:section>
        <p14:section name="Esercizi" id="{72ea9f10-fb0e-b5ef-063c-f37c84dfd8a3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Questa è la presentazione del codice della Lezione 18. Mentre la presentazione della lezione sviluppa i concetti, questa raccoglie tutto ciò che si scrive e si esegue: ogni listato con il suo commento, il programma completo della lezione, il risultato che deve produrre, e la procedura per provarlo su ciascuno dei tre host. Le due presentazioni vanno lette insieme: i concetti spiegano il codice, e il codice dà ai concetti una conseguenza osservabile.
Stato di apprendimento: DA COMPRENDERE OGGI, alla fine di questa lezione lo spiegate, lo seguite passo passo e lo applicate da soli; DA UTILIZZARE OGGI, oggi seguite e usate la ricetta; come funziona dentro si spiega più avanti, o non fa parte del corso; DA COMPRENDERE PIÙ AVANTI, riconoscete il nome e lo scopo; lo spiega una lezione successiva. Una slide senza etichetta è contesto: una storia, un esempio, una domanda, un esercizio.
Stato di apprendimento di questa lezione. DA COMPRENDERE OGGI: accumulatore, pila, registri; il modello del processore; i registri di RISC-V; la convenzione di chiamata; la pila; il processore RV32. DA UTILIZZARE OGGI: il programma completo, gli strumenti di PRG32 (si usa, non si studia, in questo corso). DA COMPRENDERE PIÙ AVANTI: interruzioni e trap (Lezione 19). Una slide senza etichetta è contesto: una storia, un esempio, una domanda, un esercizio.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contenuto della presentazione, nell'ordine delle slide. Il programma della lezione è un file sorgente completo, che si può compilare ed eseguire così com'è. Il percorso consigliato è eseguirlo per primo, osservarne il comportamento, e poi tornare ai singoli listati per capire come ciascuna parte contribuisce a quel comportamento. Il programma di questa lezione è ~/arc12/code/l18.S; tools/tests/cartridges/run.py lo compila, lo esegue su PRG32-QT con ingressi programmati e controlla i pixel del frame.
Per il docente: Procurarsi il codice una volta: git clone https://github.com/riscv-prg32/computer-architecture-with-prg32 ~/arc12. Il programma di questa lezione è ~/arc12/code/l18.S; tools/tests/cartridges/run.py lo compila, lo esegue su PRG32-QT con ingressi programmati e controlla i pixel del frame. Ogni listato di queste slide è letto dalla compilazione da un file provato, o verificato da tools/tests: si veda il suo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riscaldamento. Per calcolare z = x + y il programma carica x in un registro e y in un altro, somma i due registri in un terzo, e memorizza il risultato in z: sette righe per una somma. Alla memoria accedono solo lw e sw; l'aritmetica si svolge solo tra registri. Altri processori svolgono lo stesso compito con tre istruzioni, o con una. Perché RISC-V è progettato così? Rispondere richiede prima un modello di che cosa sia un processore, e poi un confronto tra i diversi modi di costruirne uno, che è il piano della lezione.
DA COMPRENDERE OGGI: accumulatore, pila, registri.
Per il docente: Il ciclo load-modify-store della Lezione 02, visto ora come scelta di progetto. Tenere a mente i tre indirizzi: lo stesso calcolo ritorna nel confronto tra i modelli di processore.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RISC-V il puntatore allo stack sp contiene l'indirizzo dell'ultima locazione occupata, e lo stack cresce verso gli indirizzi bassi. Un push richiede due istruzioni: sottrarre 4 a sp, poi memorizzare nella nuova cima. Un pop è l'inverso: caricare dalla cima, poi sommare 4. La tabella confronta tre processori: RISC-V richiede due istruzioni, il 68000 un'istruzione con un modo di indirizzamento a pre-decremento, x86 un'istruzione dedicata. In pratica una funzione RISC-V alloca l'intero frame una volta sola, sedici byte alla volta per rispettare l'allineamento richiesto dalla convenzione di chiamata, come si fa dalla Lezione 02.
DA COMPRENDERE OGGI: la pila; la convenzione di chiamata.
Per il docente: I valori sono quelli disegnati nella presentazione originale. RISC-V non ha push e pop: un frame di stack si alloca una volta per funzione, sedici byte alla volta, e si riempie con normali store (Lezione 02). La forma del 68000 MOVE (SP)+, D0 estrae con un postincremento.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somma del riscaldamento su quattro macchine. La macchina ad accumulatore: carica x, somma y, memorizza z. La macchina a stack: push x, push y, add, pop z. Una macchina a registri con operandi in memoria: sposta x in un registro, sommagli y, sposta il registro in z. RISC-V: due caricamenti, una somma tra registri, una memorizzazione. In ogni caso si compiono tre accessi alla memoria. Ciò che cambia è il numero di istruzioni e il lavoro che ciascuna svolge: in RISC-V ogni istruzione fa esattamente una cosa, il che permette di eseguirla in fretta e in una pipeline.
DA COMPRENDERE OGGI: accumulatore, pila, registri.
Per il docente: Gli stessi tre accessi alla memoria ovunque: cambia quante sono le istruzioni e quanto è complessa ciascuna. Nel modello registro-memoria un'istruzione come ADD y, D0 legge la memoria e calcola; nel modello load-store ogni istruzione fa una cosa sola. Le macchine a stack con lo stack in memoria sono in genere più lente di quelle a registri generici. lw t1, x è una forma abbreviata che l'assemblatore accetta per la coppia la e lw del riscaldamento.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riprodotta esattamente com'è nel repository. Va letta dall'inizio. L'intestazione dice che cosa mostra il programma e come si compila; seguono i tre punti di ingresso, init, update e draw, e le sezioni dei dati chiudono il file. Le righe già incontrate nei listati della lezione hanno qui gli stessi commenti, così che ogni frammento si possa ritrovare nell'insieme.
DA UTILIZZARE OGGI: il programma completo (si usa, non si studia, in questo corso).
Per il docente: code/l18.S,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riprodotta esattamente com'è nel repository. Va letta dall'inizio. L'intestazione dice che cosa mostra il programma e come si compila; seguono i tre punti di ingresso, init, update e draw, e le sezioni dei dati chiudono il file. Le righe già incontrate nei listati della lezione hanno qui gli stessi commenti, così che ogni frammento si possa ritrovare nell'insieme.
DA UTILIZZARE OGGI: il programma completo (si usa, non si studia, in questo corso).
Per il docente: code/l18.S,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riprodotta esattamente com'è nel repository. Va letta dall'inizio. L'intestazione dice che cosa mostra il programma e come si compila; seguono i tre punti di ingresso, init, update e draw, e le sezioni dei dati chiudono il file. Le righe già incontrate nei listati della lezione hanno qui gli stessi commenti, così che ogni frammento si possa ritrovare nell'insieme.
DA UTILIZZARE OGGI: il programma completo (si usa, non si studia, in questo corso).
Per il docente: code/l18.S,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riprodotta esattamente com'è nel repository. Va letta dall'inizio. L'intestazione dice che cosa mostra il programma e come si compila; seguono i tre punti di ingresso, init, update e draw, e le sezioni dei dati chiudono il file. Le righe già incontrate nei listati della lezione hanno qui gli stessi commenti, così che ogni frammento si possa ritrovare nell'insieme.
DA UTILIZZARE OGGI: il programma completo (si usa, non si studia, in questo corso).
Per il docente: code/l18.S,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comportamento atteso del programma, e l'ingresso che richiede. Il risultato va previsto prima di eseguire: ogni differenza tra la previsione e lo schermo è un'informazione sul proprio modello della macchina, e conviene spiegarla prima di correggerla. L'immagine è stata prodotta dal test automatico, non disegnata a mano.
Per il docente: L'immagine è il frame che l'esecutore senza interfaccia di PRG32-QT ha prodotto nel test di questo programma. Su QEMU e sulla scheda l'area di gioco è la stessa, 320 per 200 pixel, tra le due bande di stato.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via più diretta: PRG32-QT sul proprio computer, in quattro passi, ciascuno con il suo comando. Per gli strumenti PRG32-QT si presenta come una scheda in ascolto sulla porta 8080, ed è per questo che il comando di caricamento nomina l'esp32c6. Con la modalità debug attiva si può fermare l'esecuzione su qualsiasi istruzione e ispezionare registri e memoria.
DA UTILIZZARE OGGI: gli strumenti di PRG32 (si usa, non si studia, in questo corso).
Per il docente: Eseguito dai test: la cartuccia di questa slide è compilata con questo comando ed eseguita sull'esecutore senza interfaccia di PRG32-QT. Senza la toolchain: importate il file .prg32 in PRG32-QT e scegliete Run Cartridge. Tasti: frecce o WASD per il joystick, Z o J per A, X o K per B, Invio per Start, Esc per tornare a Setup.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stesso programma sull'emulatore. QEMU esegue il firmware vero su un chip emulato, quindi la cartuccia va compilata per l'architettura qemu e caricata mentre QEMU non è in esecuzione. Il firmware si avvia sul menu Setup, da cui si scelgono Run Cartridge e lo slot. La tastiera è letta dal terminale da cui QEMU è stato avviato, non dalla finestra che mostra l'immagine.
DA UTILIZZARE OGGI: gli strumenti di PRG32 (si usa, non si studia, in questo corso).
Per il docente: Verificato dai test fino al caricamento: la cartuccia è compilata per l'architettura qemu e accettata nell'immagine flash dell'emulatore. Ciò che l'emulatore poi mostra non è verificato automaticamente: il QEMU di Espressif ha bisogno della sua finestra. Dall'ottobre 2026 il firmware parte da Setup: scegliete Run Cartridge, poi cart0.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stesso programma sul kit fisico. Il firmware si scrive una volta, via USB; da quel momento le cartucce viaggiano sul Wi-Fi con lo stesso comando di caricamento usato per PRG32-QT, indirizzato alla scheda. È l'unico host non esercitato dai test automatici, quindi le osservazioni fatte sulla scheda sono particolarmente preziose e vanno riferite.
DA UTILIZZARE OGGI: gli strumenti di PRG32 (si usa, non si studia, in questo corso).
Per il docente: Non eseguito dai test: sulla macchina di prova non c'è una scheda. La cartuccia per l'architettura esp32c6 è compilata dai test; i passi sono quelli della documentazione di PRG32. Se la porta seriale non viene trovata, passatela esplicitamente. Per usare il Wi-Fi dell'aula: python3 -m prg32 wifi set --ssid NOME --password PASSWORD --mode 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cinque sintomi più frequenti, il loro significato e il rimedio. Il messaggio di errore va letto per intero prima di cambiare qualsiasi cosa: quasi sempre nomina la causa. Quando si chiede aiuto, vanno riportati alla lettera il comando e il messaggio completo.
DA UTILIZZARE OGGI: gli strumenti di PRG32 (si usa, non si studia, in questo corso).
Per il docente: Le prime tre righe coprono la maggior parte dei casi. Quando chiedete aiuto, incollate il comando e l'intero messaggio come testo. docs/usage/troubleshooting.md del repository di PRG32 ha l'elenco completo.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Cinque esercizi. Scrivere z = (a + b) - (c + d) per una macchina ad accumulatore, una a stack e RISC-V, contando in ciascuna istruzioni e accessi alla memoria. Scrivere push e pop di due registri mantenendo sp multiplo di 16, come richiede la convenzione di chiamata. Classificare per funzione i registri del proprio ultimo programma, distinguendo quelli salvati dal chiamante da quelli salvati dal chiamato. Eseguire passo-passo una chiamata e il suo ritorno in PRG32-QT, osservando pc, ra e sp. E individuare il processore del proprio telefono o portatile, collocandolo tra i modelli della lezione.
Per il docente: Accumulatore: LDA a; ADD b; STA tmp; LDA c; ADD d; STA tmp2; LDA tmp; SUB tmp2; STA z. Stack: PUSH a; PUSH b; ADD; PUSH c; PUSH d; ADD; SUB; POP z. RISC-V: quattro load, due add, una sub, uno store.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|  Lezione 18: Il processore (codice)  |  A.A. 2026/27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640080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859536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859536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78992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002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77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·  LEZIONE 18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11680"/>
            <a:ext cx="97228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processore: il codice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11880"/>
            <a:ext cx="9722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 codice: ogni listato spiegato, il programma completo, e come provarlo su PRG32-QT, su QEMU e sulla scheda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486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Raffaele Montella, PhD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Napoli “Parthenope”  ·  A.A. 2026/27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raffaelemontella.it  ·  raffaele.montella@uniparthenope.it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693615" y="56692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 codice. I concetti, le figure e le domande sono nella presentazione della lezione:</a:t>
            </a:r>
            <a:endParaRPr lang="en-US" sz="1300" dirty="0"/>
          </a:p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18-Architettura_dei_Calcolatori-Processore.pptx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25535" y="4160520"/>
            <a:ext cx="3017520" cy="2011680"/>
          </a:xfrm>
          <a:prstGeom prst="roundRect">
            <a:avLst>
              <a:gd name="adj" fmla="val 3636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3" name="Image 0" descr="/Users/raffaelemontella/devel/riscv-prg32/computer-architecture-with-prg32/tools/assets/prg32qt_debugg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0277" y="4251960"/>
            <a:ext cx="2648036" cy="18288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910777" y="91440"/>
            <a:ext cx="2732278" cy="274320"/>
          </a:xfrm>
          <a:prstGeom prst="rect">
            <a:avLst/>
          </a:prstGeom>
          <a:solidFill>
            <a:srgbClr val="F3E8FF"/>
          </a:solidFill>
          <a:ln w="12700">
            <a:solidFill>
              <a:srgbClr val="7E22CE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8938209" y="128016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938209" y="205740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938209" y="283464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8793" y="128016"/>
            <a:ext cx="201168" cy="20116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9294825" y="91440"/>
            <a:ext cx="23116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PIÙ AVANTI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675069" y="91440"/>
            <a:ext cx="2125980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67506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72993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085" y="128016"/>
            <a:ext cx="201168" cy="201168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7059117" y="91440"/>
            <a:ext cx="17053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352747" y="91440"/>
            <a:ext cx="2212594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352747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763" y="128016"/>
            <a:ext cx="201168" cy="201168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4736795" y="91440"/>
            <a:ext cx="17919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questa presentazione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854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1540256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listato della Lezione 18: leggete il codice, poi le osservazioni numerate a fianco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267919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programma completo: code/l18.S, 64 righe, stampato per intero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9359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3575304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cosa dovreste vedere quando gira, verificato sull'esecutore senza interfaccia di PRG32-QT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73252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4714240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provarlo, passo per passo: su PRG32-QT, su QEMU, sulla scheda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62864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561035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esercizi: modificare il programma, prevedere, eseguire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 = x + 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x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       </a:t>
            </a:r>
            <a:pPr indent="0" marL="0">
              <a:buNone/>
            </a:pPr>
            <a:r>
              <a:rPr lang="en-US" sz="15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bring x into a register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y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t2, 0(t0)       </a:t>
            </a:r>
            <a:pPr indent="0" marL="0">
              <a:buNone/>
            </a:pPr>
            <a:r>
              <a:rPr lang="en-US" sz="15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bring y into a register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t3, t1, t2      </a:t>
            </a:r>
            <a:pPr indent="0" marL="0">
              <a:buNone/>
            </a:pPr>
            <a:r>
              <a:rPr lang="en-US" sz="15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compute, between registers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z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t3, 0(t0)       </a:t>
            </a:r>
            <a:pPr indent="0" marL="0">
              <a:buNone/>
            </a:pPr>
            <a:r>
              <a:rPr lang="en-US" sz="15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take the result back to memory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.data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x: .word 5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y: .word 7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z: .word 0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229600" y="1417320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554480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Sette righe per una somma: la memoria è toccata solo da lw e sw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0" y="2656332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2793492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L'aritmetica avviene solo tra registri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0" y="3895344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032504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Altri processori fanno lo stesso lavoro con tre istruzioni, o con una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0" y="5134356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9419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5271516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RISC-V è fatto così? Per rispondere serve un modello del processore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95032" y="91440"/>
            <a:ext cx="4248023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95032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3048" y="128016"/>
            <a:ext cx="201168" cy="20116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7779080" y="91440"/>
            <a:ext cx="38273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accumulatore, pila, registri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Push e pop in RISC-V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920240" y="13990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251960" y="182880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indirizzi bassi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828800"/>
            <a:ext cx="2194560" cy="530352"/>
          </a:xfrm>
          <a:prstGeom prst="rect">
            <a:avLst/>
          </a:prstGeom>
          <a:solidFill>
            <a:srgbClr val="EEF2F4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(libero)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2359152"/>
            <a:ext cx="2194560" cy="530352"/>
          </a:xfrm>
          <a:prstGeom prst="rect">
            <a:avLst/>
          </a:prstGeom>
          <a:solidFill>
            <a:srgbClr val="EEF2F4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(libero)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2889504"/>
            <a:ext cx="2194560" cy="530352"/>
          </a:xfrm>
          <a:prstGeom prst="rect">
            <a:avLst/>
          </a:prstGeom>
          <a:solidFill>
            <a:srgbClr val="C7791B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-28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3419856"/>
            <a:ext cx="2194560" cy="530352"/>
          </a:xfrm>
          <a:prstGeom prst="rect">
            <a:avLst/>
          </a:prstGeom>
          <a:solidFill>
            <a:srgbClr val="D8ECEE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-17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920240" y="3950208"/>
            <a:ext cx="2194560" cy="530352"/>
          </a:xfrm>
          <a:prstGeom prst="rect">
            <a:avLst/>
          </a:prstGeom>
          <a:solidFill>
            <a:srgbClr val="D8ECEE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739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920240" y="4480560"/>
            <a:ext cx="2194560" cy="530352"/>
          </a:xfrm>
          <a:prstGeom prst="rect">
            <a:avLst/>
          </a:prstGeom>
          <a:solidFill>
            <a:srgbClr val="D8ECEE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251960" y="448056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 dello stack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097280" y="3154680"/>
            <a:ext cx="777240" cy="0"/>
          </a:xfrm>
          <a:prstGeom prst="line">
            <a:avLst/>
          </a:prstGeom>
          <a:noFill/>
          <a:ln w="28575">
            <a:solidFill>
              <a:srgbClr val="B23A48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548640" y="2889504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B23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148072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 punta all'ultima locazione occupata; lo stack cresce verso gli indirizzi bassi.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35040" y="1417320"/>
            <a:ext cx="5608015" cy="2743200"/>
          </a:xfrm>
          <a:prstGeom prst="roundRect">
            <a:avLst>
              <a:gd name="adj" fmla="val 2667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63640" y="1600200"/>
            <a:ext cx="51508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push t0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addi sp, sp, -4      </a:t>
            </a:r>
            <a:pPr indent="0" marL="0">
              <a:buNone/>
            </a:pPr>
            <a:r>
              <a:rPr lang="en-US" sz="16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make room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   t0, 0(sp)       </a:t>
            </a:r>
            <a:pPr indent="0" marL="0">
              <a:buNone/>
            </a:pPr>
            <a:r>
              <a:rPr lang="en-US" sz="16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store on top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pop t0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lw   t0, 0(sp)       </a:t>
            </a:r>
            <a:pPr indent="0" marL="0">
              <a:buNone/>
            </a:pPr>
            <a:r>
              <a:rPr lang="en-US" sz="16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fetch the top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addi sp, sp, 4       </a:t>
            </a:r>
            <a:pPr indent="0" marL="0">
              <a:buNone/>
            </a:pPr>
            <a:r>
              <a:rPr lang="en-US" sz="16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release it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4389120"/>
          <a:ext cx="560527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59359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Processore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RISC-V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 sp, sp, -4 e sw: due istruzioni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MC68000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 D0, -(SP): un modo di indirizzamento con predecremento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 x86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PUSH: un'istruzione dedicata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8773871" y="91440"/>
            <a:ext cx="2869184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773871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1887" y="128016"/>
            <a:ext cx="201168" cy="201168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9157919" y="91440"/>
            <a:ext cx="244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la pila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 = x + y in quattro processori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326248"/>
                <a:gridCol w="2326248"/>
                <a:gridCol w="5278794"/>
                <a:gridCol w="116312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Modello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Esempio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Accessi alla memoria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accumulatore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Motorola 6809, MOS 6502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LDA x ;  ADD y ;  STA z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macchina virtuale Java, WebAssembly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PUSH x ;  PUSH y ;  ADD ;  POP z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 più lo stack stesso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registri generici, operandi in memoria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MC68000, Intel x86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MOVE x, D0 ;  ADD y, D0 ;  MOVE D0, z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registri generici, load-store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RISC-V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lw t1, x ;  lw t2, y ;  add t3, t1, t2 ;  sw t3, z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395032" y="91440"/>
            <a:ext cx="4248023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395032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3048" y="128016"/>
            <a:ext cx="201168" cy="20116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779080" y="91440"/>
            <a:ext cx="38273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accumulatore, pila, registri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l18.S (1 di 4)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ARC12 Computer Architecture - Lecture 18: The Processor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l18.S: z = x + y on a load-store machine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 the screen: three bars, eight pixels per unit: x = 5 (white), y = 7 (white) and z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= 12 (green), computed by the seven instructions of the slide.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Build: python3 -m prg32 cartridge build l18.S --portable \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   --entry-prefix l18 --name l18 --out l18.prg32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.option norelax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BLACK, 0x0000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WHITE, 0xffff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GREEN, 0x07e0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.text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l18_init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l18_update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l18_draw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l18_init: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l18.S (2 di 4)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l18_update: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x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       </a:t>
            </a:r>
            <a:pPr indent="0" marL="0">
              <a:buNone/>
            </a:pPr>
            <a:r>
              <a:rPr lang="en-US" sz="16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bring x into a register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y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t2, 0(t0)       </a:t>
            </a:r>
            <a:pPr indent="0" marL="0">
              <a:buNone/>
            </a:pPr>
            <a:r>
              <a:rPr lang="en-US" sz="16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bring y into a register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t3, t1, t2      </a:t>
            </a:r>
            <a:pPr indent="0" marL="0">
              <a:buNone/>
            </a:pPr>
            <a:r>
              <a:rPr lang="en-US" sz="16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compute, between registers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z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t3, 0(t0)       </a:t>
            </a:r>
            <a:pPr indent="0" marL="0">
              <a:buNone/>
            </a:pPr>
            <a:r>
              <a:rPr lang="en-US" sz="16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take the result back to memory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bar: a0 = ADDRESS of a variable, a1 = y of the bar, a4 = colour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bar: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a2, 0(a0)       </a:t>
            </a:r>
            <a:pPr indent="0" marL="0">
              <a:buNone/>
            </a:pPr>
            <a:r>
              <a:rPr lang="en-US" sz="16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VALUE of the variable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slli a2, a2, 3       </a:t>
            </a:r>
            <a:pPr indent="0" marL="0">
              <a:buNone/>
            </a:pPr>
            <a:r>
              <a:rPr lang="en-US" sz="16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width: eight pixels per unit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20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16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tail prg32_gfx_rect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l18.S (3 di 4)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l18_draw: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BLACK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prg32_gfx_clear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a0, 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40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WHITE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bar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a0, 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72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WHITE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bar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a0, z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120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GREEN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bar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l18.S (4 di 4)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.data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x: .word 5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y: .word 7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z: .word 0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Eseguite: che cosa dovreste vedere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22120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600200"/>
            <a:ext cx="5468112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Sullo schermo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tre barre, otto pixel per unità: x = 5 (bianca), y = 7 (bianca) e z = 12 (verde), calcolata dalle sette istruzioni della slide.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3889248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3767328"/>
            <a:ext cx="5468112" cy="733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cosa premere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niente: il programma va da solo</a:t>
            </a:r>
            <a:endParaRPr lang="en-US" sz="2400" dirty="0"/>
          </a:p>
        </p:txBody>
      </p:sp>
      <p:pic>
        <p:nvPicPr>
          <p:cNvPr id="7" name="Image 0" descr="/Users/raffaelemontella/devel/riscv-prg32/computer-architecture-with-prg32/tools/assets/lab_l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2042255"/>
            <a:ext cx="4876495" cy="304781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766560" y="5788152"/>
            <a:ext cx="48764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frame scritto dal test automatico su PRG32-QT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 PRG32-QT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start PRG32-QT on this computer (it listens on port 8080)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in the PRG32 folder, with ESP-IDF active: build the cartridge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~/arc12/code/l18.S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l18 --name l18 --out l18.prg32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send it to PRG32-QT and start it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l18.prg32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http://localhost:8080 --slot cart0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look, press, compare with the previous slide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PRG32-QT deve essere in esecuzione: risponde sulla porta 8080, come una scheda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compila una volta, dalla cartella PRG32, con ESP-IDF attivo nel terminale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upload-and-run memorizza la cartuccia nello slot cart0 e la avvia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Modalità debug, in Settings: fermare il programma, leggere registri e memoria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 QEMU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once: build the firmware for QEMU (several minutes)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build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build the cartridge for the emulated chip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~/arc12/code/l18.S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l18 --name l18 --architecture qemu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--out l18-qemu.prg32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with QEMU closed, stage the cartridge into its flash image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upload l18-qemu.prg32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start the emulator; on Setup choose Run Cartridge, then cart0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run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L'emulatore esegue il firmware vero su un chip emulato: si compila una volta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cartuccia è compilata per l'architettura qemu: lo stesso sorgente, un altro file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carica la cartuccia con QEMU chiuso, poi lo si avvia e si sceglie Run Cartridge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tasti vanno al terminale: frecce o WASD, Z o J per A, X o K per 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sulla scheda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once per board: write the firmware through the USB cable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build-and-flash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join the Wi-Fi network of the board: PRG32, password prg32game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build the cartridge for the board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~/arc12/code/l18.S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l18 --name l18 --architecture esp32c6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--out l18-esp32c6.prg32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send it over Wi-Fi and start it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l18-esp32c6.prg32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http://192.168.4.1 --slot cart0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firmware si scrive una volta per scheda, attraverso il cavo USB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scheda crea la rete Wi-Fi PRG32: collegatevi con il vostro computer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stesso comando di caricamento di PRG32-QT, con l'indirizzo della scheda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Schermo nero: confrontate il cablaggio del display con il firmware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non funziona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3025750"/>
                <a:gridCol w="3866236"/>
                <a:gridCol w="420243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Vedete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Fate così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manca un punto di ingresso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prefisso non è quello del sorgente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--entry-prefix l18; controllate le tre righe .global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idf.py: command not found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ESP-IDF non è attivo in questo terminale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eseguite export.sh, o aprite ESP-IDF PowerShell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upload: connection refused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l'host non ascolta a quell'indirizzo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avviate PRG32-QT; usate l'indirizzo della sua schermata Setup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schermo nero, o di nuovo il menu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funzione non ritorna, o ra non è stato salvato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modalità debug: passo-passo in init, update, draw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QEMU ignora i tasti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tastiera va al terminale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fate clic sul terminale che ha lanciato QEMU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Esercizi: prima su carta, poi su PRG32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0088575" y="566928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TU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3560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1417320"/>
            <a:ext cx="10436047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Scrivete z = (a + b) - (c + d) per una macchina ad accumulatore, una a stack e RISC-V; contate istruzioni e accessi alla memoria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57095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2138807"/>
            <a:ext cx="10436047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Scrivete push e pop di due registri, t0 e t1, tenendo sp multiplo di 16 come richiede la convenzione di chiamata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87858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2860294"/>
            <a:ext cx="10436047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ogni registro usato nel vostro ultimo programma PRG32, dite quale funzione svolge: transito, accumulo, indirizzamento, stack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600069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3581781"/>
            <a:ext cx="10436047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PRG32-QT eseguite passo-passo una chiamata e il suo ritorno: osservate pc, ra e sp, e la parola salvata sullo stack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32155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07008" y="4303268"/>
            <a:ext cx="10436047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Trovate nel datasheet del processore del vostro telefono o portatile: insieme di istruzioni, numero di core, clock, livelli di privilegio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48640" y="512064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DCEEE3"/>
          </a:solidFill>
          <a:ln w="12700">
            <a:solidFill>
              <a:srgbClr val="DCEE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5212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atteso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504688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PRG32-QT: sp scende di 16 al prologo e ritorna all'epilogo; ra contiene l'indirizzo successivo alla chiamata.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Università degli Studi di Napoli Parthenope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ARC12 Architettura dei Calcolatori - Il processore: il codice</dc:title>
  <dc:subject>Lezione 18</dc:subject>
  <dc:creator>Raffaele Montella</dc:creator>
  <cp:lastModifiedBy>Raffaele Montella</cp:lastModifiedBy>
  <cp:revision>1</cp:revision>
  <dcterms:created xsi:type="dcterms:W3CDTF">2026-10-16T20:22:26Z</dcterms:created>
  <dcterms:modified xsi:type="dcterms:W3CDTF">2026-10-16T20:22:26Z</dcterms:modified>
</cp:coreProperties>
</file>