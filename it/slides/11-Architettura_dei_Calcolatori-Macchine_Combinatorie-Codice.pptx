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b0c6fc6-dc08-1784-ccbb-4dbfe5b30b5a}">
          <p14:sldIdLst>
            <p14:sldId id="256"/>
            <p14:sldId id="257"/>
          </p14:sldIdLst>
        </p14:section>
        <p14:section name="Riscaldamento sulla macchina" id="{d9812c6c-aad0-09ff-3486-3fe37bf0c8c1}">
          <p14:sldIdLst>
            <p14:sldId id="258"/>
          </p14:sldIdLst>
        </p14:section>
        <p14:section name="Decodificatori e codificatori" id="{11fa296b-80ed-9ba4-9f80-00f0ec47a562}">
          <p14:sldIdLst>
            <p14:sldId id="259"/>
          </p14:sldIdLst>
        </p14:section>
        <p14:section name="Multiplexer e demultiplexer" id="{644ded7e-9d2f-0c95-41e3-109e57d627d8}">
          <p14:sldIdLst>
            <p14:sldId id="260"/>
          </p14:sldIdLst>
        </p14:section>
        <p14:section name="Confrontare e controllare" id="{e8f37ee5-54ba-c9b3-6a22-8d6790732146}">
          <p14:sldIdLst>
            <p14:sldId id="261"/>
          </p14:sldIdLst>
        </p14:section>
        <p14:section name="L'unità aritmetico-logica" id="{6c934318-3939-1742-09e0-0e75a97a3fa3}">
          <p14:sldIdLst>
            <p14:sldId id="262"/>
          </p14:sldIdLst>
        </p14:section>
        <p14:section name="Il programma completo" id="{eb461f55-cc5e-63c3-39b3-9b2767be2c3c}">
          <p14:sldIdLst>
            <p14:sldId id="263"/>
            <p14:sldId id="264"/>
            <p14:sldId id="265"/>
          </p14:sldIdLst>
        </p14:section>
        <p14:section name="Eseguire e provare" id="{3ae0e679-f26f-848b-920f-1c0a424fc835}">
          <p14:sldIdLst>
            <p14:sldId id="266"/>
            <p14:sldId id="267"/>
            <p14:sldId id="268"/>
            <p14:sldId id="269"/>
            <p14:sldId id="270"/>
          </p14:sldIdLst>
        </p14:section>
        <p14:section name="Esercizi" id="{4c7daeec-56a9-345f-4fa0-79dc40b57409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11.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 multiplexer; le reti combinatorie; i codici; decoder ed encoder; comparatori e parità; l'ALU. DA UTILIZZARE OGGI: il programma completo, gli strumenti di PRG32 (si usa, non si studia, in questo corso). DA COMPRENDERE PIÙ AVANTI: macchine a stati finiti (Lezione 13).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~/arc12/code/l11.S;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~/arc12/code/l11.S;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a0 contiene un numero da 0 a 3. Le quattro istruzioni sono l'accesso al vettore della Lezione 04: si carica l'indirizzo della tabella, si moltiplica il selettore per 4, si somma, e si carica la parola selezionata. Lo stesso selettore dà sempre lo stesso colore, e nulla viene ricordato da un uso al successivo. Questo comportamento, uscite che dipendono solo dagli ingressi presenti, definisce le macchine di oggi. In hardware questa in particolare è un multiplexer: quattro ingressi dati, due bit di selezione, un'uscita.
DA COMPRENDERE OGGI: i multiplexer.
Per il docente: L'accesso al vettore della Lezione 04, letto come circuito. Nel processore la selezione è fatta da porte in molto meno di un nanosecondo; qui richiede quattro istruzioni.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decodificatore al lavoro nel processore. L'istruzione addi t1, t1, 1 contiene un campo di 5 bit, rd, con il numero del registro di destinazione: 00110, cioè 6, il registro t1. Un decodificatore 5-a-32 trasforma quei cinque bit in trentadue linee di abilitazione alla scrittura, di cui è attiva solo la sesta: solo quel registro riceve il risultato. La stessa istruzione contiene altri due numeri di registro, che selezionano i registri da leggere.
DA COMPRENDERE OGGI: decoder ed encoder.
Per il docente: L'istruzione della Lezione 02. I campi grigi non sono coinvolti. L'abilitazione alla scrittura di x0 semplicemente non è collegata: x0 si legge sempre zero. La lettura usa multiplexer, mostrati tra qualche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multiplexer al lavoro nel processore. add t2, t0, t1 somma due registri; addi t2, t0, 5 somma un registro e una costante presa dall'istruzione. Entrambe usano lo stesso addizionatore. Un multiplexer davanti al secondo ingresso della ALU sceglie tra il valore di un registro e la costante: la sua linea di selezione vale 0 per add e 1 per addi. È un multiplexer su parole intere: trentadue multiplexer a un bit con una linea di selezione comune. Anche leggere un registro è un multiplexer.
DA COMPRENDERE OGGI: i multiplexer.
Per il docente: Nel datapath del libro di Patterson e Hennessy il segnale di selezione si chiama ALUSrc. Una porta applicata a ogni bit di una parola con un controllo comune è una porta di parola.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rete di parità in software, per un byte. Ogni coppia di istruzioni scorre il valore a destra e lo combina con se stesso tramite XOR: il primo ripiegamento porta otto bit su quattro, il secondo quattro su due, il terzo due su uno. L'ultima istruzione tiene solo il bit più basso, che è la parità. In hardware gli stessi tre livelli sono un albero di sette porte XOR. Tracciatela a mano con 0x53, che ha quattro 1, e con 0x13, che ne ha tre.
DA COMPRENDERE OGGI: comparatori e parità.
Per il docente: Scritto per questa lezione. Tracciarlo con 0x53 = 0101 0011 (quattro 1, risultato 0) e con 0x13 = 0001 0011 (tre 1, risultato 1). In hardware i tre livelli sono un albero di sette porte XOR.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un'istruzione sceglie l'operazione. Il campo di 3 bit funct3 dell'istruzione è un codice compatto: 000 per somma o differenza, 001 per lo scorrimento a sinistra, 100 per XOR, 110 per OR, 111 per AND. Un piccolo decodificatore lo trasforma nelle linee di selezione del multiplexer della ALU. Dove due istruzioni condividono un valore, come add e sub, le distingue un altro bit altrove nell'istruzione. Un codice, un decodificatore, un multiplexer: l'intera lezione in una tabella.
DA COMPRENDERE OGGI: l'ALU.
Per il docente: funct3 è il campo di 3 bit dell'istruzione visto nella Lezione 02 (bit da 14 a 12). Tre bit, otto parole codice: un codice compatto che un piccolo decodificatore trasforma nelle linee di selezione del multiplexer della ALU.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code/l11.S,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Sintetizzate il segmento g con una mappa, usando le indifferenze. Costruite un decodificatore 3-a-8 con due decodificatori 2-a-4 con abilitazione e un invertitore. Realizzate una funzione con un solo multiplexer mettendo la sua tabella di verità sugli ingressi dati, e riconoscete la funzione. Scrivete un comparatore in assembly con le sole xor e sltiu. E disegnate su PRG32 una cifra a sette segmenti: una tabella di dieci byte, uno per cifra, e sette rettangoli accesi esaminandone i bit: un transcodificatore in software.
Per il docente: Esercizio 3: si mettono 0, 1, 1, 0, 1, 0, 0, 1 sugli ingressi dati: è lo XOR a tre ingressi, il bit di somma del sommatore completo. Esercizio 4: xor a0, a0, a1 e poi sltiu a0, a0, 1 (la pseudo-istruzione seqz). L'esercizio 5 è un transcodificatore software seguito da sette test di bit: la tabella è la tabella di verità di questa lezione, una riga per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11: Macchine combinatorie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combinatorie: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11-Architettura_dei_Calcolatori-Macchine_Combinatorie.pptx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brea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11,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code/l11.S, 50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Scegliere uno di quattro colori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selector, 0 to 3      result: a4 = the selected colour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palette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words: the data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a0, 2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selector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selected word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selected input reaches the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green, blue, yellow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palette: .word 0xf800, 0x07e0, 0x001f, 0xffe0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selettore dà sempre lo stesso colore: il risultato dipende solo dagli ingressi presenti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viene ricordato da un uso al successivo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hardware è un multiplexer: quattro ingressi dati, due bit di selezione, un'uscita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processore ne contiene decine. Come sono fatti?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multiplexer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processore: quale registro viene scritto?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t1, t1, 1     =     0x00130313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3806308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50976" y="1956816"/>
            <a:ext cx="1903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817554" y="1956816"/>
            <a:ext cx="1866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720708" y="2194560"/>
            <a:ext cx="1585962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7284" y="1956816"/>
            <a:ext cx="7929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13689" y="1956816"/>
            <a:ext cx="756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06670" y="2194560"/>
            <a:ext cx="1164317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43246" y="1956816"/>
            <a:ext cx="5821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88828" y="1956816"/>
            <a:ext cx="5455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470987" y="2194560"/>
            <a:ext cx="1585962" cy="54864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70987" y="2798064"/>
            <a:ext cx="15859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 = 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07563" y="1956816"/>
            <a:ext cx="7929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63968" y="1956816"/>
            <a:ext cx="756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056949" y="2194560"/>
            <a:ext cx="2220347" cy="548640"/>
          </a:xfrm>
          <a:prstGeom prst="rect">
            <a:avLst/>
          </a:prstGeom>
          <a:solidFill>
            <a:srgbClr val="5B6B78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93525" y="1956816"/>
            <a:ext cx="11101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167122" y="1956816"/>
            <a:ext cx="10735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33756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decodificatore 5-a-32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3840" y="3081528"/>
            <a:ext cx="0" cy="237744"/>
          </a:xfrm>
          <a:prstGeom prst="line">
            <a:avLst/>
          </a:prstGeom>
          <a:noFill/>
          <a:ln w="28575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63840" y="3858768"/>
            <a:ext cx="0" cy="466344"/>
          </a:xfrm>
          <a:prstGeom prst="line">
            <a:avLst/>
          </a:prstGeom>
          <a:noFill/>
          <a:ln w="28575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864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534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534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4204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24204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58874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58874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93544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93544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28214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28214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628843" y="4343400"/>
            <a:ext cx="346700" cy="457200"/>
          </a:xfrm>
          <a:prstGeom prst="rect">
            <a:avLst/>
          </a:prstGeom>
          <a:solidFill>
            <a:srgbClr val="2F7D4F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2884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97554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7554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32224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32224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66894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66894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x9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01564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01564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x10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36234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36234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x11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09046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709046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055746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55746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402447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02447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x14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749147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749147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x15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095848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095848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x16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442548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442548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x17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789249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789249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x18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135949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7135949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x19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74826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4826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x20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8293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78293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x21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176050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8176050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x22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52275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852275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x23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8869451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8869451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x24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921615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921615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9562852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9562852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x26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990955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90955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x27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10256253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256253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x28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060295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1060295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x29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0949654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10949654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x30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1296355" y="4343400"/>
            <a:ext cx="346700" cy="457200"/>
          </a:xfrm>
          <a:prstGeom prst="rect">
            <a:avLst/>
          </a:prstGeom>
          <a:solidFill>
            <a:srgbClr val="EEF2F4"/>
          </a:solidFill>
          <a:ln w="12700"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1296355" y="4837176"/>
            <a:ext cx="346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48640" y="52748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32688" y="5230368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cinque bit di rd sono una parola codice: 32 registri, ceil(log2 32) = 5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548640" y="56372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32688" y="5592826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decodificatore 5-a-32 ne ricava 32 linee di abilitazione alla scrittura: solo x6, cioè t1, riceve il risultato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548640" y="5999734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32688" y="5955284"/>
            <a:ext cx="10710367" cy="216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 due selezioni, su rs1 e rs2, scelgono i registri da leggere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9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96" name="Text 9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decoder ed encoder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processore: registro o costante?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dei 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di rs1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dei registri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di rs2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 dell'istruzione,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segno esteso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017520"/>
            <a:ext cx="1005840" cy="1874520"/>
          </a:xfrm>
          <a:prstGeom prst="roundRect">
            <a:avLst>
              <a:gd name="adj" fmla="val 5455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91640"/>
            <a:ext cx="1737360" cy="2743200"/>
          </a:xfrm>
          <a:prstGeom prst="roundRect">
            <a:avLst>
              <a:gd name="adj" fmla="val 315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53512" y="2011680"/>
            <a:ext cx="341985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85216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53512" y="3383280"/>
            <a:ext cx="122529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794760" y="3044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53512" y="4526280"/>
            <a:ext cx="122529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794760" y="4187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39512" y="3931920"/>
            <a:ext cx="1133856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85216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V="1">
            <a:off x="4709160" y="4919472"/>
            <a:ext cx="0" cy="612648"/>
          </a:xfrm>
          <a:prstGeom prst="line">
            <a:avLst/>
          </a:prstGeom>
          <a:noFill/>
          <a:ln w="28575">
            <a:solidFill>
              <a:srgbClr val="B23A4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017520" y="5550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selezione: 0 per add, 1 per addi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65592" y="3063240"/>
            <a:ext cx="704088" cy="0"/>
          </a:xfrm>
          <a:prstGeom prst="line">
            <a:avLst/>
          </a:prstGeom>
          <a:noFill/>
          <a:ln w="28575">
            <a:solidFill>
              <a:srgbClr val="5B6B7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82296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52560" y="146951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36608" y="1417320"/>
            <a:ext cx="2206447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t2, t0, t1 e addi t2, t0, 5 usano lo stesso addizionatore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52560" y="235724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36608" y="2305050"/>
            <a:ext cx="220644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multiplexer davanti alla ALU sceglie il secondo operando: un registro o la costante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052560" y="3477387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36608" y="3425190"/>
            <a:ext cx="2206447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multiplexer su parole: trentadue multiplexer a un bit con una linea di selezione comune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052560" y="4829937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36608" y="4777740"/>
            <a:ext cx="2206447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 leggere un registro è un multiplexer: 32 parole in ingresso, 5 bit di selezione (rs1), una parola in uscita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79917" y="91440"/>
            <a:ext cx="326313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7991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933" y="128016"/>
            <a:ext cx="201168" cy="2011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763965" y="91440"/>
            <a:ext cx="2842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multiplexer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rete di parità in sette istruzioni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byte        result: a0 = 1 if the number of 1 bits is odd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eight bits onto four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four bits onto two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t0, a0,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a0, a0, t0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fold two bits onto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a0, a0, 1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the parity bit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xor combina la metà alta dei bit con la metà bassa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06933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0649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per otto bit: la versione software di un albero di porte XOR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2135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85851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valore accodato al byte ne rende pari la parità totale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comparatori e parità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RISC-V e la ALU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818757"/>
                <a:gridCol w="1455005"/>
                <a:gridCol w="2728135"/>
                <a:gridCol w="509251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 della ALU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Unità che produce il risultato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add, sub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somma o differenza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addizionatore / sottrattore (sceglie un altro bit, in funct7)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sinistra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slt, sltu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010, 011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pone a 1 se minore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sottrattore, poi le regole di segno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XOR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srl, sra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scorrimento a destra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shifter (funct7 sceglie logico o aritmetico)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bit a bit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 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 è un codice di 3 bit dentro l'istruzione: decodificandolo si pilota il multiplexer della ALU.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905189" y="91440"/>
            <a:ext cx="2737866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0518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3205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289237" y="91440"/>
            <a:ext cx="23172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l'ALU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11: Combinational Machines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l11.S: a multiplexer in software: a selector chooses one of four colours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four horizontal bars, red, green, blue and yellow from the top: bar 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drawn in the colour that the selector k chooses in the table.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l11.S --portable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l11 --name l11 --out l11.prg32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l11_init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l11_draw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l11_init: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l11_draw: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selector,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selector, 0 to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palette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four words: the data inputs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a0, 2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selector * 4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selected 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selected input reaches the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s0,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20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20 + 32 * selector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bars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l11.S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green, blue, yellow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palette: .word 0xf800, 0x07e0, 0x001f, 0xffe0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quattro barre orizzontali, rossa, verde, blu e gialla dall'alto: la barra k è disegnata nel colore che il selettore k sceglie nella tabella.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l11 --out l11.prg32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l11 --name l11 --architecture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Sintetizzate con una mappa di Karnaugh il segmento g del transcodificatore a sette segmenti, usando le indifferenze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un decodificatore 3-a-8 con due decodificatori 2-a-4 con abilitazione e un invertitore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Realizzate F = somma di m(1, 2, 4, 7) con un multiplexer a 8 ingressi. Che funzione è?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26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44316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un comparatore in assembly: a0 = 1 se a0 e a1 sono uguali, usando solo xor e sltiu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su PRG32 una cifra a sette segmenti: una tabella di dieci byte, uno per cifra, e sette rettangoli accesi esaminandone i bit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una grande cifra che conta da 0 a 9, un passo al secondo, disegnata con sette rettangoli.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combinatorie: il codice</dc:title>
  <dc:subject>Lezione 11</dc:subject>
  <dc:creator>Raffaele Montella</dc:creator>
  <cp:lastModifiedBy>Raffaele Montella</cp:lastModifiedBy>
  <cp:revision>1</cp:revision>
  <dcterms:created xsi:type="dcterms:W3CDTF">2026-10-16T16:46:58Z</dcterms:created>
  <dcterms:modified xsi:type="dcterms:W3CDTF">2026-10-16T16:46:58Z</dcterms:modified>
</cp:coreProperties>
</file>