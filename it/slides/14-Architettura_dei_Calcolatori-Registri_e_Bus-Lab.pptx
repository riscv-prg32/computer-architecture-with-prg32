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36315b9-8f53-4059-821d-f09af5f2bc87}">
          <p14:sldIdLst>
            <p14:sldId id="256"/>
            <p14:sldId id="257"/>
          </p14:sldIdLst>
        </p14:section>
        <p14:section name="Riscaldamento sulla macchina" id="{e759e6dc-581c-7830-6bdf-e70a2d63710b}">
          <p14:sldIdLst>
            <p14:sldId id="258"/>
          </p14:sldIdLst>
        </p14:section>
        <p14:section name="Ritorno alla macchina" id="{e9d31cce-c08d-3d59-da03-1280744214a6}">
          <p14:sldIdLst>
            <p14:sldId id="259"/>
            <p14:sldId id="260"/>
          </p14:sldIdLst>
        </p14:section>
        <p14:section name="Il programma completo" id="{e82748df-aa29-6a11-c5f8-c22ed6761a12}">
          <p14:sldIdLst>
            <p14:sldId id="261"/>
            <p14:sldId id="262"/>
            <p14:sldId id="263"/>
            <p14:sldId id="264"/>
            <p14:sldId id="265"/>
            <p14:sldId id="266"/>
          </p14:sldIdLst>
        </p14:section>
        <p14:section name="Eseguire e provare" id="{d946bbef-ca18-f736-3763-c51f3fc3d16b}">
          <p14:sldIdLst>
            <p14:sldId id="267"/>
            <p14:sldId id="268"/>
            <p14:sldId id="269"/>
            <p14:sldId id="270"/>
            <p14:sldId id="271"/>
          </p14:sldIdLst>
        </p14:section>
        <p14:section name="Esercizi" id="{cd96fc58-38e4-5d7d-7f83-1438a43e142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14.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~/arc12/code/l14.S; tools/tests/cartridges/run.py lo compila, lo esegue su PRG32-QT con ingressi programmati e controlla i pixel del frame.
Per il docente: Procurarsi il codice una volta: git clone https://github.com/riscv-prg32/computer-architecture-with-prg32 ~/arc12. Il programma di questa lezione è ~/arc12/code/l14.S;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del riscaldamento trasmette un byte un bit alla volta, il più significativo per primo. A ogni iterazione il byte si fa scorrere a destra di 7 e si maschera con 1, isolandone il bit più alto; quel bit verrebbe posto su una linea di dato e verrebbe dato un impulso su una linea di clock; il byte si fa poi scorrere a sinistra di uno, così che il bit successivo passi in cima. Dopo otto iterazioni l'intero byte è stato inviato. Il ciclo è un registro a scorrimento realizzato in software. Le due righe omesse scriverebbero in registri GPIO mappati in memoria, un meccanismo spiegato nella Lezione 15. Il chip del kit contiene hardware dedicato che esegue la stessa operazione milioni di volte al secondo.
DA COMPRENDERE OGGI: i registri a scorrimento. DA COMPRENDERE PIÙ AVANTI: l'I/O mappato in memoria (si studia nella Lezione 15).
Per il docente: Scritto per questa lezione. Sul kit il display usa SPI e l'amplificatore I2S: entrambi sono bus seriali pilotati da registri a scorrimento interni al chip. Le due righe omesse scriverebbero in registri GPIO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bus del kit. Dentro il chip il bus è parallelo. Il display è collegato da SPI, un bus seriale con una linea di clock, una linea di dato, una linea di chip select e una linea che distingue dati da comandi; ogni pixel di ogni frame lo attraversa bit per bit. L'amplificatore è collegato da I2S, un altro bus seriale, che porta 22.050 campioni audio al secondo. I pulsanti usano un filo ciascuno, una rappresentazione decodificata. L'USB, anch'esso seriale, porta il firmware e la console di debug. Il kit esemplifica così la tendenza generale enunciata nella lezione: parallelo dentro il chip, seriale tra chip.
DA COMPRENDERE OGGI: bus e porte three-state.
Per il docente: Dalla descrizione hardware del repository di PRG32 (docs/hardware). Chip select è il CS della piccola memoria della presentazione della lezione: più dispositivi possono condividere lo stesso bus seriale perché ascolta solo quello selezionato.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istruzioni di scorrimento spostano ogni bit di un registro in un solo passo: slli e srli riempiono con zeri, srai con copie del bit di segno, mentre sll, srl e sra prendono l'entità dello scorrimento da un registro. In hardware non si tratta di una catena di flip-flop, che richiederebbe un impulso di clock per posizione, ma di un barrel shifter, una rete combinatoria di strati di multiplexer, e una delle unità della ALU. Il codice a destra mostra le due conversioni, da parallelo a seriale e da seriale a parallelo.
DA COMPRENDERE OGGI: i registri a scorrimento.
Per il docente: A un vero registro a scorrimento servono n impulsi di clock per n posizioni; il barrel shifter della ALU è combinatorio e lo fa entro un periodo di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Disegnare un registro a scorrimento a 4 bit con ingresso seriale e uscita parallela e seguirne il contenuto per quattro impulsi di clock. Scrivere i segnali di abilitazione e di caricamento che copiano un registro in un altro attraverso un bus comune. Completare il riscaldamento con il ciclo di ricezione, che ricostruisce il byte. Su PRG32, mostrare un byte come otto lampade e farlo scorrere ogni mezzo secondo. Infine, far rientrare dall'altro lato il bit che esce da un lato: una rotazione, che in hardware si chiama contatore ad anello.
Per il docente: Esercizio 3: slli a1, a1, 1 e poi or con il bit ricevuto, otto volte. Esercizio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code/l14.S, 94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Inviare un byte un bit alla volta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display e il chip audio del kit sono collegati da pochi fili, non da trentadue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parola deve quindi viaggiare un bit dopo l'altro: un trasferimento seriale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ciclo è un registro a scorrimento in software: scorrere, prendere un bit, ripetere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L'ESP32-C6 ha hardware che fa esattamente questo, milioni di volte al secondo</a:t>
            </a:r>
            <a:endParaRPr lang="en-US" sz="1200" dirty="0"/>
          </a:p>
        </p:txBody>
      </p:sp>
      <p:sp>
        <p:nvSpPr>
          <p:cNvPr id="17" name="Shape 15"/>
          <p:cNvSpPr/>
          <p:nvPr/>
        </p:nvSpPr>
        <p:spPr>
          <a:xfrm>
            <a:off x="6175451" y="91440"/>
            <a:ext cx="5467604" cy="274320"/>
          </a:xfrm>
          <a:prstGeom prst="rect">
            <a:avLst/>
          </a:prstGeom>
          <a:solidFill>
            <a:srgbClr val="F3E8FF"/>
          </a:solidFill>
          <a:ln w="12700">
            <a:solidFill>
              <a:srgbClr val="7E22CE"/>
            </a:solidFill>
            <a:prstDash val="dash"/>
          </a:ln>
        </p:spPr>
      </p:sp>
      <p:sp>
        <p:nvSpPr>
          <p:cNvPr id="18" name="Shape 16"/>
          <p:cNvSpPr/>
          <p:nvPr/>
        </p:nvSpPr>
        <p:spPr>
          <a:xfrm>
            <a:off x="6202883" y="128016"/>
            <a:ext cx="45720" cy="45720"/>
          </a:xfrm>
          <a:prstGeom prst="rect">
            <a:avLst/>
          </a:prstGeom>
          <a:solidFill>
            <a:srgbClr val="7E22CE"/>
          </a:solidFill>
          <a:ln w="12700">
            <a:solidFill>
              <a:srgbClr val="7E22CE"/>
            </a:solidFill>
            <a:prstDash val="solid"/>
          </a:ln>
        </p:spPr>
      </p:sp>
      <p:sp>
        <p:nvSpPr>
          <p:cNvPr id="19" name="Shape 17"/>
          <p:cNvSpPr/>
          <p:nvPr/>
        </p:nvSpPr>
        <p:spPr>
          <a:xfrm>
            <a:off x="6202883" y="205740"/>
            <a:ext cx="45720" cy="45720"/>
          </a:xfrm>
          <a:prstGeom prst="rect">
            <a:avLst/>
          </a:prstGeom>
          <a:solidFill>
            <a:srgbClr val="7E22CE"/>
          </a:solidFill>
          <a:ln w="12700">
            <a:solidFill>
              <a:srgbClr val="7E22CE"/>
            </a:solidFill>
            <a:prstDash val="solid"/>
          </a:ln>
        </p:spPr>
      </p:sp>
      <p:sp>
        <p:nvSpPr>
          <p:cNvPr id="20" name="Shape 18"/>
          <p:cNvSpPr/>
          <p:nvPr/>
        </p:nvSpPr>
        <p:spPr>
          <a:xfrm>
            <a:off x="6202883"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22" name="Text 19"/>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l'I/O mappato in memoria</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23" name="Shape 20"/>
          <p:cNvSpPr/>
          <p:nvPr/>
        </p:nvSpPr>
        <p:spPr>
          <a:xfrm>
            <a:off x="2080336" y="91440"/>
            <a:ext cx="3985387" cy="274320"/>
          </a:xfrm>
          <a:prstGeom prst="rect">
            <a:avLst/>
          </a:prstGeom>
          <a:solidFill>
            <a:srgbClr val="E0F2FE"/>
          </a:solidFill>
          <a:ln w="12700">
            <a:solidFill>
              <a:srgbClr val="0369A1"/>
            </a:solidFill>
            <a:prstDash val="solid"/>
          </a:ln>
        </p:spPr>
      </p:sp>
      <p:sp>
        <p:nvSpPr>
          <p:cNvPr id="24" name="Shape 21"/>
          <p:cNvSpPr/>
          <p:nvPr/>
        </p:nvSpPr>
        <p:spPr>
          <a:xfrm>
            <a:off x="2080336"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2208352" y="128016"/>
            <a:ext cx="201168" cy="201168"/>
          </a:xfrm>
          <a:prstGeom prst="rect">
            <a:avLst/>
          </a:prstGeom>
        </p:spPr>
      </p:pic>
      <p:sp>
        <p:nvSpPr>
          <p:cNvPr id="26" name="Text 22"/>
          <p:cNvSpPr txBox="1"/>
          <p:nvPr/>
        </p:nvSpPr>
        <p:spPr>
          <a:xfrm>
            <a:off x="2464384"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del kit PRG32</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Collegamento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Tipo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Che cosa vi viaggia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dentro l'ESP32-C6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linee dati, indirizzi e controllo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istruzioni, dati e trasferimenti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dati in uscita, chip select, dato/comando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ogni pixel di ogni frame, bit per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amplificatore audio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di bit, selezione di parola, dati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campioni audio, 22.050 al secondo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e pulsanti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filo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piedino di ingresso ciascuno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una rappresentazione decodificata: una linea per pulsante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verso il portatile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seriale, coppia differenziale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due fili di dati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 e la console di debug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Scorrimenti in RISC-V: uno shift register in un'istruzione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e srli spostano tutti i bit di un registro di un dato numero di posizioni, riempiendo di zeri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riempie con copie del bit di segno (Lezione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e sra prendono la quantità da un secondo registro</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uno scorrimento di una quantità qualsiasi in un solo passo è fatto da un barrel shifter: strati di multiplexer, non una catena di flip-flop</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 shifter è una delle unità della ALU della Lezione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15" name="Shape 13"/>
          <p:cNvSpPr/>
          <p:nvPr/>
        </p:nvSpPr>
        <p:spPr>
          <a:xfrm>
            <a:off x="7657668" y="91440"/>
            <a:ext cx="3985387" cy="274320"/>
          </a:xfrm>
          <a:prstGeom prst="rect">
            <a:avLst/>
          </a:prstGeom>
          <a:solidFill>
            <a:srgbClr val="E0F2FE"/>
          </a:solidFill>
          <a:ln w="12700">
            <a:solidFill>
              <a:srgbClr val="0369A1"/>
            </a:solidFill>
            <a:prstDash val="solid"/>
          </a:ln>
        </p:spPr>
      </p:sp>
      <p:sp>
        <p:nvSpPr>
          <p:cNvPr id="16" name="Shape 14"/>
          <p:cNvSpPr/>
          <p:nvPr/>
        </p:nvSpPr>
        <p:spPr>
          <a:xfrm>
            <a:off x="7657668"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8" name="Text 15"/>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l14.S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3011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riga in alto: gli otto bit di 0xA5 nell'ordine in cui escono, il più significativo per primo (accesa, spenta, accesa, spenta, spenta, accesa, spenta, accesa). Riga in basso: il byte ricostruito dal ricevitore. Un quadrato verde dice che è uguale al byte inviato.</a:t>
            </a:r>
            <a:endParaRPr lang="en-US" sz="2400" dirty="0"/>
          </a:p>
        </p:txBody>
      </p:sp>
      <p:sp>
        <p:nvSpPr>
          <p:cNvPr id="5" name="Shape 3"/>
          <p:cNvSpPr/>
          <p:nvPr/>
        </p:nvSpPr>
        <p:spPr>
          <a:xfrm>
            <a:off x="548640" y="5190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506882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Disegnate un registro a scorrimento a 4 bit, ingresso seriale e uscita parallela, con flip-flop D, e compilatene il contenuto su quattro impulsi di clock per l'ingresso 1, 0, 1, 1</a:t>
            </a:r>
            <a:endParaRPr lang="en-US" sz="1800" dirty="0"/>
          </a:p>
        </p:txBody>
      </p:sp>
      <p:sp>
        <p:nvSpPr>
          <p:cNvPr id="6" name="Text 4"/>
          <p:cNvSpPr txBox="1"/>
          <p:nvPr/>
        </p:nvSpPr>
        <p:spPr>
          <a:xfrm>
            <a:off x="548640" y="24037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85441"/>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registri condividono un bus comune: scrivete i segnali di abilitazione e di caricamento necessari per copiare il registro B nel registro A</a:t>
            </a:r>
            <a:endParaRPr lang="en-US" sz="1800" dirty="0"/>
          </a:p>
        </p:txBody>
      </p:sp>
      <p:sp>
        <p:nvSpPr>
          <p:cNvPr id="8" name="Text 6"/>
          <p:cNvSpPr txBox="1"/>
          <p:nvPr/>
        </p:nvSpPr>
        <p:spPr>
          <a:xfrm>
            <a:off x="548640" y="30929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74670"/>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Completate il riscaldamento: scrivete il ciclo che riceve otto bit da una linea e ricostruisce il byte</a:t>
            </a:r>
            <a:endParaRPr lang="en-US" sz="1800" dirty="0"/>
          </a:p>
        </p:txBody>
      </p:sp>
      <p:sp>
        <p:nvSpPr>
          <p:cNvPr id="10" name="Text 8"/>
          <p:cNvSpPr txBox="1"/>
          <p:nvPr/>
        </p:nvSpPr>
        <p:spPr>
          <a:xfrm>
            <a:off x="548640" y="378218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763899"/>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Su PRG32 mostrate un byte come otto lampade e fatelo scorrere a sinistra di una posizione ogni mezzo secondo</a:t>
            </a:r>
            <a:endParaRPr lang="en-US" sz="18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Fate rientrare da destra il bit che esce a sinistra (una rotazione): un contatore ad anello</a:t>
            </a:r>
            <a:endParaRPr lang="en-US" sz="18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PRG32: una configurazione di lampade che cammina verso sinistra e, nell'ultimo esercizio, gira all'infinito.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 il codice</dc:title>
  <dc:subject>Lezione 14</dc:subject>
  <dc:creator>Raffaele Montella</dc:creator>
  <cp:lastModifiedBy>Raffaele Montella</cp:lastModifiedBy>
  <cp:revision>1</cp:revision>
  <dcterms:created xsi:type="dcterms:W3CDTF">2026-10-16T20:22:26Z</dcterms:created>
  <dcterms:modified xsi:type="dcterms:W3CDTF">2026-10-16T20:22:26Z</dcterms:modified>
</cp:coreProperties>
</file>