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5c5ebd2a-583f-6627-74a7-15773ac3c306}">
          <p14:sldIdLst>
            <p14:sldId id="256"/>
            <p14:sldId id="257"/>
          </p14:sldIdLst>
        </p14:section>
        <p14:section name="Riscaldamento sulla macchina" id="{cc86c365-7a16-b734-35a9-4347010c33e5}">
          <p14:sldIdLst>
            <p14:sldId id="258"/>
          </p14:sldIdLst>
        </p14:section>
        <p14:section name="Ritorno alla macchina" id="{c1ff2335-daf7-bb5e-627b-b7aafa27cb0e}">
          <p14:sldIdLst>
            <p14:sldId id="259"/>
            <p14:sldId id="260"/>
          </p14:sldIdLst>
        </p14:section>
        <p14:section name="Il programma completo" id="{4bf5cf08-c5c9-a009-24ca-0085aa7ab215}">
          <p14:sldIdLst>
            <p14:sldId id="261"/>
            <p14:sldId id="262"/>
            <p14:sldId id="263"/>
          </p14:sldIdLst>
        </p14:section>
        <p14:section name="Eseguire e provare" id="{0e22512a-c93f-fab8-cbc1-30931f2637a9}">
          <p14:sldIdLst>
            <p14:sldId id="264"/>
            <p14:sldId id="265"/>
            <p14:sldId id="266"/>
            <p14:sldId id="267"/>
            <p14:sldId id="268"/>
          </p14:sldIdLst>
        </p14:section>
        <p14:section name="Esercizi" id="{535174f1-1381-cb84-504c-edd68c7c1f73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10. Mentre la presentazione della lezione sviluppa i concetti, questa raccoglie tutto ciò che si scrive e si esegue: ogni listato con il suo commento, il programma completo della lezione, il risultato che deve produrre, e la procedura per provarlo su ciascuno dei tre host. Le due presentazioni vanno lette insieme: i concetti spiegano il codice, e il codice dà ai concetti una conseguenza osservabile.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gli ingressi con pull-up; tensione, corrente, legge di Ohm; il transistor come interruttore; dai volt ai bit; le porte CMOS. DA UTILIZZARE OGGI: il programma completo, gli strumenti di PRG32 (si usa, non si studia, in questo corso). DA COMPRENDERE PIÙ AVANTI: il clock (Lezione 13). Una slide senza etichetta è contesto: una storia, un esempio, una domanda, un esercizio.
Percorso. I risultati di oggi: (1) spiegare come un transistor MOS funziona da interruttore e come CMOS costruisce una porta; (2) leggere livelli logici e margini di rumore dalle tensioni; (3) dimensionare la resistenza di un LED e spiegare il pull-up di un pulsante. Si appoggia su: solo ciò che ha preparato la Lezione 01. Prossimo passo: Lezione 11, Macchine combinatorie.
Ponte. Nella Lezione 02 il contatore sopravviveva da un frame all'altro in memoria, non in un registro. Oggi una cella di memoria costa circa 6 transistor e un flip-flop circa 20: ricordare un bit è un circuito. La Lezione 13 mostra come latch e flip-flop conservano un bit. Richiamo: Dove abitava il contatore della Lezione 02 tra due frame, e perché non in t1?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contenuto della presentazione, nell'ordine delle slide. Il programma della lezione è un file sorgente completo, che si può compilare ed eseguire così com'è. Il percorso consigliato è eseguirlo per primo, osservarne il comportamento, e poi tornare ai singoli listati per capire come ciascuna parte contribuisce a quel comportamento. Il programma di questa lezione è ~/arc12/code/l10.S;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~/arc12/code/l10.S;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riscaldamento. Nel programma un pulsante premuto si legge 1. Sulla scheda, però, il pulsante LEFT è un interruttore tra un piedino del chip, GPIO18, e la massa: premuto, il piedino è a 0 volt; rilasciato, a 3,3 volt. Premuto significa quindi 0 volt, eppure il programma legge 1. I quattro richiami trasformano questa apparente contraddizione nelle domande della lezione: che cos'è un volt, perché il piedino rilasciato sta a 3,3 V, e che cosa decide che 0 V è un bit? L'ultima sezione della lezione risponde a tutte e quattro.
DA COMPRENDERE OGGI: gli ingressi con pull-up.
Per il docente: Collegamenti dalla documentazione hardware di PRG32: ogni pulsante è un interruttore verso GND, e il firmware attiva il pull-up interno di ogni ingresso. Il runtime inverte il livello quando costruisce la maschera (prg32_controller.c): piedino basso quando premuto, bit alto. L'ultima sezione della lezione risponde alle quattro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percorso completo in sette passi. Il dito chiude l'interruttore; il piedino scende a 0 V in meno di un microsecondo; il buffer d'ingresso vede una tensione sotto la sua soglia, uno 0 logico; il livello viene catturato in un flip-flop; il firmware lo legge con un'istruzione di caricamento, lo inverte e lo impacchetta con gli altri pulsanti; il programma lo verifica con andi. La colonna di destra indica dove si spiega ciascun passo: tre in questa lezione, gli altri in lezioni già seguite o ancora da venire. Sette livelli di astrazione separano un dito da un bit, e il corso li attraversa tutti.
DA COMPRENDERE OGGI: gli ingressi con pull-up.
Per il docente: I contatti di un interruttore reale rimbalzano per qualche millisecondo quando si chiudono: leggere i pulsanti una volta per frame, ogni poche decine di millisecondi, nasconde il rimbalzo (Lezione 21).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kit considerato come circuito. Una breadboard ha fori collegati a file sotto la superficie, così che i componenti si possono unire senza saldature. Due lunghe barre portano l'alimentazione, 3,3 V e massa, e una barra separata porta 5 V per gli amplificatori audio. Ogni componente condivide la stessa massa: senza un riferimento comune le tensioni di due parti non avrebbero relazione tra loro. I pulsanti collegano un piedino alla massa; il display e gli amplificatori ricevono segnali digitali. Un piedino pilotato alto non va mai collegato direttamente alla massa, perché il cortocircuito che ne risulterebbe assorbirebbe una corrente eccessiva.
DA COMPRENDERE OGGI: gli ingressi con pull-up.
Per il docente: Schema dal repository di PRG32 (docs/hardware/images). Un piedino dell'ESP32-C6 può erogare qualche decina di milliampere: a un LED serve la sua resistenza in serie, come calcolato prima. Mai collegare direttamente a massa un piedino pilotato alto.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code/l10.S,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code/l10.S,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code/l10.S,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comportamento atteso del programma, e l'ingresso che richiede. Il risultato va previsto prima di eseguire: ogni differenza tra la previsione e lo schermo è un'informazione sul proprio modello della macchina, e conviene spiegarla prima di correggerla. L'immagine è stata prodotta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diretta: PRG32-QT sul proprio computer, in quattro passi, ciascuno con il suo comando. Per gli strumenti PRG32-QT si presenta come una scheda in ascolto sulla porta 8080, ed è per questo che il comando di caricamento nomina l'esp32c6. Con la modalità debug attiva si può fermare l'esecuzione su qualsiasi istruzione e ispezionare registri e memoria.
DA UTILIZZARE OGGI: gli strumenti di PRG32 (si usa, non si studia, in questo corso).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 e caricata mentre QEMU non è in esecuzione. Il firmware si avvia sul menu Setup, da cui si scelgono Run Cartridge e lo slot. La tastiera è letta dal terminale da cui QEMU è stato avviato, non dalla finestra che mostra l'immagine.
DA UTILIZZARE OGGI: gli strumenti di PRG32 (si usa, non si studia, in questo corso).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 fisico. Il firmware si scrive una volta, via USB; da quel momento le cartucce viaggiano sul Wi-Fi con lo stesso comando di caricamento usato per PRG32-QT, indirizzato alla scheda. È l'unico host non esercitato dai test automatici, quindi le osservazioni fatte sulla scheda sono particolarmente preziose e vanno riferite.
DA UTILIZZARE OGGI: gli strumenti di PRG32 (si usa, non si studia, in questo corso).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frequenti, il loro significato e il rimedio. Il messaggio di errore va letto per intero prima di cambiare qualsiasi cosa: quasi sempre nomina la causa. Quando si chiede aiuto, vanno riportati alla lettera il comando e il messaggio completo.
DA UTILIZZARE OGGI: gli strumenti di PRG32 (si usa, non si studia, in questo corso).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esercizi. Dimensionare la resistenza di un LED blu e calcolare la potenza che dissipa. Calcolare l'uscita di un partitore di tensione e stabilire come la leggerebbe un ingresso del kit, per confronto con le due soglie. Disegnare un NAND a tre ingressi e contarne i transistor. Verificare il NOR sul disegno enumerando le combinazioni di ingresso. E sul kit, con la cartuccia delle lampade in esecuzione, collegare con un filo un piedino di pulsante alla massa: va spiegato ciò che si osserva, e che cosa accadrebbe in assenza del pull-up.
Per il docente: Esercizio 1: (3,3 - 3,0) / 0,002 = 150 Ω; P = 0,3 x 0,002 = 0,6 mW. Esercizio 2: 3,3 x 20 / 30 = 2,2 V, tra 0,825 e 2,475. Esercizio 3: tre pMOS in parallelo, tre nMOS in serie: sei transistor. La cartuccia delle lampade è il passo 1 del laboratorio 06 del libro di PRG32.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10: Elettronica ed elettronica digitale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10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Introduzione all'elettronica e all'elettronica digitale: il codice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10-Architettura_dei_Calcolatori-Elettronica.pptx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Users/raffaelemontella/devel/riscv-prg32/computer-architecture-with-prg32/tools/assets/kit_bread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975" y="4254756"/>
            <a:ext cx="2834640" cy="1823209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listato della Lezione 10: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code/l10.S, 58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pulsante, un bit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one bit per button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a0, 0x01 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bit 0: LEFT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1f       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0: not pressed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              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1: pressed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kit: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LEFT is a switch between pin GPIO18 and ground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pressed  -&gt; the pin is at 0 volts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released -&gt; the pin is at 3.3 volts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dai primi laboratori un pulsante premuto è un 1 in un registro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Sulla scheda il pulsante è un pezzo di metallo che collega a massa un piedino del chip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Premuto significa 0 volt sul piedino, eppure il programma legge 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cos'è un volt, perché il piedino rilasciato sta a 3,3 V, e chi decide che 0 V è un bit?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57668" y="91440"/>
            <a:ext cx="3985387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57668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5684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041716" y="91440"/>
            <a:ext cx="35647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ingressi con pull-up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dito al bit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818440"/>
                <a:gridCol w="6456586"/>
                <a:gridCol w="381938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 cosa accade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Dove è spiegato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dito chiude l'interruttore tra GPIO18 e massa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questa lezione: il circuito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piedino scende da 3,3 V a 0 V, in molto meno di un microsecondo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questa lezione: R x 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buffer di ingresso vede una tensione sotto 0,825 V: uno 0 logico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questa lezione: livelli logici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livello è campionato in un flip-flop del registro di ingresso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Lezione 13: macchine sequenziali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firmware legge quel registro con un'istruzione di load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Lezione 15: ingresso/uscita mappato in memoria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inverte il bit e lo impacchetta con gli altri in a0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Lezione 08: maschere; Lezione 21: dispositivi di ingresso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vostro programma lo esamina: andi t3, a0, 0x01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Lezione 02: primo contatto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657668" y="91440"/>
            <a:ext cx="3985387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57668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5684" y="128016"/>
            <a:ext cx="201168" cy="2011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041716" y="91440"/>
            <a:ext cx="35647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ingressi con pull-up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kit come circuito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9275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546811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breadboard: fori collegati a file sul retro, così i componenti si connettono senza saldature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472309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396871"/>
            <a:ext cx="546811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lunghe linee portano l'alimentazione: 3,3 V e massa; una linea separata porta i 5 V per gli amplificatori audio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45186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376422"/>
            <a:ext cx="546811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parte condivide la stessa massa: senza un riferimento comune, le tensioni di due parti non significano nulla l'una per l'altra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431411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355973"/>
            <a:ext cx="546811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pulsanti vanno da un piedino a massa; display e amplificatori ricevono segnali digitali da altri piedini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541096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335524"/>
            <a:ext cx="546811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piedino di uscita può accendere un LED attraverso una resistenza; un piedino di ingresso ascolta soltanto</a:t>
            </a:r>
            <a:endParaRPr lang="en-US" sz="1800" dirty="0"/>
          </a:p>
        </p:txBody>
      </p:sp>
      <p:pic>
        <p:nvPicPr>
          <p:cNvPr id="13" name="Image 0" descr="/Users/raffaelemontella/devel/riscv-prg32/computer-architecture-with-prg32/tools/assets/kit_bread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997906"/>
            <a:ext cx="4876495" cy="313650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kit PRG32 su breadboard (documentazione hardware di PRG32)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57668" y="91440"/>
            <a:ext cx="3985387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57668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684" y="128016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041716" y="91440"/>
            <a:ext cx="35647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ingressi con pull-up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l10.S (1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10: Introduction to Electronics and Digital Electronics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l10.S: one button, one bit: from the finger to a register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a large square, grey while LEFT is released and yellow while it 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pressed. On the kit LEFT is a switch between GPIO18 and ground.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l10.S --portable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l10 --name l10 --out l10.prg32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BLACK,  0x0000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GREY,   0x4208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YELLOW, 0xffe0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l10_init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l10_update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l10_draw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l10_init: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l10.S (2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l10_update: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one bit per button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a0, 0x01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bit 0: LEFT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pressed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t3, 0(t0)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0: not pressed, 1: pressed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kit: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LEFT is a switch between pin GPIO18 and ground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pressed  -&gt; the pin is at 0 volts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released -&gt; the pin is at 3.3 volts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runtime inverts the level: in the program, pressed is 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l10.S (3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l10_draw: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BLACK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pressed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GREY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t1, 1f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YELLOW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li   a0, 120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60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80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80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pressed: .word 0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un grande quadrato, grigio mentre LEFT è rilasciato e giallo mentre è premuto. Sul kit LEFT è un interruttore tra GPIO18 e massa.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889248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3767328"/>
            <a:ext cx="5468112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premete e rilasciate LEFT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~/arc12/code/l10.S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l10 --name l10 --out l10.prg32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l10.prg32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~/arc12/code/l10.S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l10 --name l10 --architecture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l10-qemu.prg32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l10-qemu.prg32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~/arc12/code/l10.S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l10 --name l10 --architecture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l10-esp32c6.prg32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l10-esp32c6.prg32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l10;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Esercizi: prima su carta, poi sul kit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LED blu fa cadere 3,0 V: quale resistenza dà 2 mA da 3,3 V? Quale potenza dissipa la resistenza?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176272"/>
            <a:ext cx="1043604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partitore con R1 = 10 kΩ e R2 = 20 kΩ su 3,3 V: calcolate Vout. Un ingresso del kit lo legge come 0, come 1, o è indefinito?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5351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935224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Disegnate in CMOS un NAND a tre ingressi e contatene i transistor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75304"/>
            <a:ext cx="1043604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Verificate il disegno del NOR per le quattro combinazioni di ingresso, segnando quali transistor conducono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52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334256"/>
            <a:ext cx="1043604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PRG32 eseguite la cartuccia delle lampade e collegate a massa con un filo il piedino di un pulsante: spiegate ciò che vedete, e che cosa accadrebbe con il pull-up disattivato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carta: 150 Ω e 0,6 mW; Vout = 2,2 V, nella fascia indefinita. Sul kit: la lampada si accende esattamente come se il pulsante fosse premuto.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Introduzione all'elettronica e all'elettronica digitale: il codice</dc:title>
  <dc:subject>Lezione 10</dc:subject>
  <dc:creator>Raffaele Montella</dc:creator>
  <cp:lastModifiedBy>Raffaele Montella</cp:lastModifiedBy>
  <cp:revision>1</cp:revision>
  <dcterms:created xsi:type="dcterms:W3CDTF">2026-10-17T07:16:50Z</dcterms:created>
  <dcterms:modified xsi:type="dcterms:W3CDTF">2026-10-17T07:16:50Z</dcterms:modified>
</cp:coreProperties>
</file>