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dae7ffe-686f-a24e-98f2-0ed5436b0e6c}">
          <p14:sldIdLst>
            <p14:sldId id="256"/>
            <p14:sldId id="257"/>
          </p14:sldIdLst>
        </p14:section>
        <p14:section name="Riscaldamento sulla macchina" id="{12945271-981d-7c21-0372-69d7d1552f10}">
          <p14:sldIdLst>
            <p14:sldId id="258"/>
          </p14:sldIdLst>
        </p14:section>
        <p14:section name="Istruzioni" id="{d89aa7f0-9efa-56e8-572d-5326e1ab5b2d}">
          <p14:sldIdLst>
            <p14:sldId id="259"/>
          </p14:sldIdLst>
        </p14:section>
        <p14:section name="Il ciclo del processore" id="{2b9855de-af12-743f-1757-dc1ca4586d8e}">
          <p14:sldIdLst>
            <p14:sldId id="260"/>
            <p14:sldId id="261"/>
          </p14:sldIdLst>
        </p14:section>
        <p14:section name="La soluzione di RISC-V" id="{da96641d-d64e-7499-f26c-a9f8bb017aa9}">
          <p14:sldIdLst>
            <p14:sldId id="262"/>
          </p14:sldIdLst>
        </p14:section>
        <p14:section name="Il programma completo" id="{debe2294-c90a-71b3-3243-00930d23c7c7}">
          <p14:sldIdLst>
            <p14:sldId id="263"/>
            <p14:sldId id="264"/>
            <p14:sldId id="265"/>
            <p14:sldId id="266"/>
            <p14:sldId id="267"/>
            <p14:sldId id="268"/>
          </p14:sldIdLst>
        </p14:section>
        <p14:section name="Eseguire e provare" id="{a308c7c9-f555-e658-115b-b81e550e810a}">
          <p14:sldIdLst>
            <p14:sldId id="269"/>
            <p14:sldId id="270"/>
            <p14:sldId id="271"/>
            <p14:sldId id="272"/>
            <p14:sldId id="273"/>
          </p14:sldIdLst>
        </p14:section>
        <p14:section name="Esercizi" id="{677d27d1-3d3c-9264-ca0d-256b89ffcd0b}">
          <p14:sldIdLst>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Questa è la presentazione del codice della Lezione 19. Mentre la presentazione della lezione sviluppa i concetti, questa raccoglie tutto ciò che si scrive e si esegue: ogni listato con il suo commento, il programma completo della lezione, il risultato che deve produrre, e la procedura per provarlo su ciascuno dei tre host. Le due presentazioni vanno lette insieme: i concetti spiegano il codice, e il codice dà ai concetti una conseguenza osservabile.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formati delle istruzioni; i modi di indirizzamento; il ciclo del processore; interruzioni e trap. DA UTILIZZARE OGGI: il programma completo, gli strumenti di PRG32 (si usa, non si studia, in questo corso). DA COMPRENDERE PIÙ AVANTI: niente. Una slide senza etichetta è contesto: una storia, un esempio, una domanda, un esercizio.
Percorso. I risultati di oggi: (1) decodificare un'istruzione RISC-V nei suoi campi; (2) nominare il modo di indirizzamento di ogni operando; (3) descrivere il ciclo dell'istruzione e che cosa cambia un'interruzione. Si appoggia su: solo ciò che ha preparato la Lezione 01. Prossimo passo: Lezione 20, I bus e la scheda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contenuto della presentazione, nell'ordine delle slide. Il programma della lezione è un file sorgente completo, che si può compilare ed eseguire così com'è. Il percorso consigliato è eseguirlo per primo, osservarne il comportamento, e poi tornare ai singoli listati per capire come ciascuna parte contribuisce a quel comportamento. Il programma di questa lezione è ~/arc12/code/l19.S; tools/tests/cartridges/run.py lo compila, lo esegue su PRG32-QT con ingressi programmati e controlla i pixel del frame.
Per il docente: Procurarsi il codice una volta: git clone https://github.com/riscv-prg32/computer-architecture-with-prg32 ~/arc12. Il programma di questa lezione è ~/arc12/code/l19.S; tools/tests/cartridges/run.py lo compila, lo esegue su PRG32-QT con ingressi programmati e controlla i pixel del frame. Ogni listato di queste slide è letto dalla compilazione da un file provato, o verificato da tools/tests: si veda il suo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riscaldamento: quattro parole di memoria, a quattro indirizzi di distanza l'una dall'altra, che insieme costituiscono first_update, la funzione della Lezione 02 che incrementa un contatore. A sinistra ci sono gli indirizzi, al centro il codice macchina, a destra il sorgente così come è stato scritto. Il processore possiede solo la colonna centrale. Tre domande organizzano la lezione. Come fa a sapere che la prima parola è un caricamento e la seconda un'addizione? Quali passi compie per eseguire ciascuna? E mentre le esegue, come si accorge che è stato premuto un pulsante o che un timer è scaduto?
DA COMPRENDERE OGGI: formati delle istruzioni.
Per il docente: La la che precede queste istruzioni è omessa, e le codifiche sono quelle non compresse a 32 bit: con l'estensione C l'assemblatore può scegliere per alcune le forme a 16 bit. Gli indirizzi sono relativi all'inizio della funzione.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istruzioni decodificate a mano. Le otto cifre esadecimali si scrivono in binario; si separano per primi gli ultimi sette bit, l'opcode, perché determinano il formato; poi si separano di conseguenza i campi restanti. Per 0x006283B3 l'opcode indica un'operazione tra registri, i campi danno x7, x5 e x6, e funct3 con funct7 selezionano l'addizione: add t2, t0, t1. Per 0x0002A303 l'opcode indica un caricamento, l'immediato è 0, la base x5 e la destinazione x6: lw t1, 0(t0). L'esercizio va fatto una volta con carta e matita; è l'inverso del lavoro dell'assemblatore.
DA COMPRENDERE OGGI: formati delle istruzioni.
Per il docente: Metodo: scrivere in binario le otto cifre esadecimali, staccare gli ultimi sette bit (l'opcode), cercare il formato, poi tagliare i campi. I decodificatori della Lezione 11 fanno la stessa cosa in una frazione di nanosecondo.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fase di prelievo espressa come quattro trasferimenti tra registri, usando i registri del modello di riferimento della Lezione 18. Il contenuto del PC va in MA, il registro indirizzo di memoria. La memoria viene letta, e la parola arriva in MB, il registro buffer. La parola viene copiata in D, il registro di decodifica. Il PC viene incrementato di 4, perché un'istruzione occupa quattro byte, così che punti all'istruzione successiva. Ogni riga è un trasferimento sul bus interno, comandato dall'unità di controllo.
DA COMPRENDERE OGGI: il ciclo del processore.
Per il docente: Fase fetch. PC, D, MA e MB sono i registri del modello di riferimento della Lezione 18; i trasferimenti viaggiano sul bus interno. Nella presentazione originale la macchina aveva parole di 16 bit e il PC avanzava di 2; in RV32 una parola è di quattro byte, quindi il PC avanza di 4 (di 2 dopo un'istruzione compressa).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restanti quattro fasi, affiancate per due istruzioni. Per add la decodifica legge i due registri nei registri operando della ALU, l'esecuzione li somma, la fase di memoria si salta, e la somma si scrive in t2. Per lw il secondo operando è l'immediato, la somma è un indirizzo, la fase di memoria legge la parola a quell'indirizzo, e la parola letta si scrive in t1. Lo stesso sommatore serve entrambe le istruzioni; cambiano solo i comandi emessi dall'unità di controllo. L'economia del percorso dei dati poggia su questa condivisione.
DA COMPRENDERE OGGI: il ciclo del processore.
Per il docente: O1, O2 e U sono i registri della ALU. Lo stesso sommatore calcola una somma per add e un indirizzo per lw: cambiano solo i segnali di controllo. Uno store finisce alla fase di memoria; un salto condizionato finisce all'esecuzione, scegliendo il prossimo 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gestore di trap a grandi linee. Riserva spazio sullo stack e salva i registri che userà, la parte software del contesto. Legge mcause con csrr e ne verifica il segno: il bit più alto è il bit di segno, quindi bgez separa le eccezioni dalle interruzioni in una sola istruzione. Dopo aver servito l'evento ripristina i registri, rilascia lo stack ed esegue mret. Il programma interrotto non deve osservare nulla: un solo registro lasciato modificato qui produce un errore che compare a caso, dovunque, il che rende irrinunciabile la disciplina del salvataggio del contesto. Un gestore reale salva tutti i registri salvati dal chiamante, di solito su uno stack separato raggiunto attraverso mscratch.
DA COMPRENDERE OGGI: interruzioni e trap.
Per il docente: Uno schema, non il sorgente di PRG32: un gestore vero salva tutti i registri caller-saved, di solito su uno stack separato raggiunto tramite mscratch. csrr t0, mcause è la pseudo-istruzione per csrrs t0, mcause,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pagina del programma completo, riprodotta esattamente com'è nel repository. Va letta dall'inizio. L'intestazione dice che cosa mostra il programma e come si compila; seguono i tre punti di ingresso, init, update e draw, e le sezioni dei dati chiudono il file. Le righe già incontrate nei listati della lezione hanno qui gli stessi commenti, così che ogni frammento si possa ritrovare nell'insieme.
DA UTILIZZARE OGGI: il programma completo (si usa, non si studia, in questo corso).
Per il docente: code/l19.S, come viene compilato ed eseguito dai test. I commenti fanno parte del programma, e sono in inglese come in tutti i listati: leggeteli con il codice.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comportamento atteso del programma, e l'ingresso che richiede. Il risultato va previsto prima di eseguire: ogni differenza tra la previsione e lo schermo è un'informazione sul proprio modello della macchina, e conviene spiegarla prima di correggerla. L'immagine è stata prodotta dal test automatico, non disegnata a mano.
Per il docente: L'immagine è il frame che l'esecutore senza interfaccia di PRG32-QT ha prodotto nel test di questo programma. Su QEMU e sulla scheda l'area di gioco è la stessa, 320 per 200 pixel, tra le due bande di stato.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via più diretta: PRG32-QT sul proprio computer, in quattro passi, ciascuno con il suo comando. Per gli strumenti PRG32-QT si presenta come una scheda in ascolto sulla porta 8080, ed è per questo che il comando di caricamento nomina l'esp32c6. Con la modalità debug attiva si può fermare l'esecuzione su qualsiasi istruzione e ispezionare registri e memoria.
DA UTILIZZARE OGGI: gli strumenti di PRG32 (si usa, non si studia, in questo corso).
Per il docente: Eseguito dai test: la cartuccia di questa slide è compilata con questo comando ed eseguita sull'esecutore senza interfaccia di PRG32-QT. Senza la toolchain: importate il file .prg32 in PRG32-QT e scegliete Run Cartridge. Tasti: frecce o WASD per il joystick, Z o J per A, X o K per B, Invio per Start, Esc per tornare a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sull'emulatore. QEMU esegue il firmware vero su un chip emulato, quindi la cartuccia va compilata per l'architettura qemu e caricata mentre QEMU non è in esecuzione. Il firmware si avvia sul menu Setup, da cui si scelgono Run Cartridge e lo slot. La tastiera è letta dal terminale da cui QEMU è stato avviato, non dalla finestra che mostra l'immagine.
DA UTILIZZARE OGGI: gli strumenti di PRG32 (si usa, non si studia, in questo corso).
Per il docente: Verificato dai test fino al caricamento: la cartuccia è compilata per l'architettura qemu e accettata nell'immagine flash dell'emulatore. Ciò che l'emulatore poi mostra non è verificato automaticamente: il QEMU di Espressif ha bisogno della sua finestra. Dall'ottobre 2026 il firmware parte da Setup: scegliete Run Cartridge, poi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stesso programma sul kit fisico. Il firmware si scrive una volta, via USB; da quel momento le cartucce viaggiano sul Wi-Fi con lo stesso comando di caricamento usato per PRG32-QT, indirizzato alla scheda. È l'unico host non esercitato dai test automatici, quindi le osservazioni fatte sulla scheda sono particolarmente preziose e vanno riferite.
DA UTILIZZARE OGGI: gli strumenti di PRG32 (si usa, non si studia, in questo corso).
Per il docente: Non eseguito dai test: sulla macchina di prova non c'è una scheda. La cartuccia per l'architettura esp32c6 è compilata dai test; i passi sono quelli della documentazione di PRG32. Se la porta seriale non viene trovata, passatela esplicitamente. Per usare il Wi-Fi dell'aula: python3 -m prg32 wifi set --ssid NOME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cinque sintomi più frequenti, il loro significato e il rimedio. Il messaggio di errore va letto per intero prima di cambiare qualsiasi cosa: quasi sempre nomina la causa. Quando si chiede aiuto, vanno riportati alla lettera il comando e il messaggio completo.
DA UTILIZZARE OGGI: gli strumenti di PRG32 (si usa, non si studia, in questo corso).
Per il docente: Le prime tre righe coprono la maggior parte dei casi. Quando chiedete aiuto, incollate il comando e l'intero messaggio come testo. docs/usage/troubleshooting.md del repository di PRG32 ha l'elenco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esercizi. Decodificare a mano due parole, dando formato, campi e assembly. Codificare sub t0, t1, t2 e sw a0, 8(sp), seguendo il percorso inverso. Scrivere i trasferimenti tra registri dell'intero ciclo per una memorizzazione e per un salto. Disegnare il diagramma della pipeline di sei istruzioni su quattro stadi e stabilire in quale ciclo si completa la sesta. E in PRG32-QT, fermarsi in first_update, eseguire passo-passo e confrontare il codice macchina mostrato con la propria decodifica del riscaldamento.
Per il docente: 0x00A28293: imm 10, rs1 x5, funct3 000, rd x5, opcode 0010011. 0x40628333: funct7 0100000, rs2 x6, rs1 x5, funct3 000, rd x6, opcode 0110011. sub t0, t1, t2 = 0x407302B3. sw a0, 8(sp) = 0x00A12423. Sei istruzioni su quattro stadi terminano al ciclo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19: Istruzioni e interruzioni (codice)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19</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Istruzioni e interruzioni: il codice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Presentazione del codice: ogni listato spiegato, il programma completo, e come provarlo su PRG32-QT, su QEMU e sulla scheda</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 codice. I concetti, le figure e le domande sono nella presentazione della lezione: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19-Architettura_dei_Calcolatori-Istruzioni_e_Interruzioni.pptx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asteroids.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8910777" y="91440"/>
            <a:ext cx="2732278" cy="274320"/>
          </a:xfrm>
          <a:prstGeom prst="rect">
            <a:avLst/>
          </a:prstGeom>
          <a:solidFill>
            <a:srgbClr val="F3E8FF"/>
          </a:solidFill>
          <a:ln w="12700">
            <a:solidFill>
              <a:srgbClr val="7E22CE"/>
            </a:solidFill>
            <a:prstDash val="dash"/>
          </a:ln>
        </p:spPr>
      </p:sp>
      <p:sp>
        <p:nvSpPr>
          <p:cNvPr id="15" name="Shape 12"/>
          <p:cNvSpPr/>
          <p:nvPr/>
        </p:nvSpPr>
        <p:spPr>
          <a:xfrm>
            <a:off x="8938209" y="128016"/>
            <a:ext cx="45720" cy="45720"/>
          </a:xfrm>
          <a:prstGeom prst="rect">
            <a:avLst/>
          </a:prstGeom>
          <a:solidFill>
            <a:srgbClr val="7E22CE"/>
          </a:solidFill>
          <a:ln w="12700">
            <a:solidFill>
              <a:srgbClr val="7E22CE"/>
            </a:solidFill>
            <a:prstDash val="solid"/>
          </a:ln>
        </p:spPr>
      </p:sp>
      <p:sp>
        <p:nvSpPr>
          <p:cNvPr id="16" name="Shape 13"/>
          <p:cNvSpPr/>
          <p:nvPr/>
        </p:nvSpPr>
        <p:spPr>
          <a:xfrm>
            <a:off x="8938209" y="205740"/>
            <a:ext cx="45720" cy="45720"/>
          </a:xfrm>
          <a:prstGeom prst="rect">
            <a:avLst/>
          </a:prstGeom>
          <a:solidFill>
            <a:srgbClr val="7E22CE"/>
          </a:solidFill>
          <a:ln w="12700">
            <a:solidFill>
              <a:srgbClr val="7E22CE"/>
            </a:solidFill>
            <a:prstDash val="solid"/>
          </a:ln>
        </p:spPr>
      </p:sp>
      <p:sp>
        <p:nvSpPr>
          <p:cNvPr id="17" name="Shape 14"/>
          <p:cNvSpPr/>
          <p:nvPr/>
        </p:nvSpPr>
        <p:spPr>
          <a:xfrm>
            <a:off x="8938209"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19" name="Text 15"/>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0" name="Shape 16"/>
          <p:cNvSpPr/>
          <p:nvPr/>
        </p:nvSpPr>
        <p:spPr>
          <a:xfrm>
            <a:off x="6675069" y="91440"/>
            <a:ext cx="2125980" cy="274320"/>
          </a:xfrm>
          <a:prstGeom prst="rect">
            <a:avLst/>
          </a:prstGeom>
          <a:solidFill>
            <a:srgbClr val="FEF3C7"/>
          </a:solidFill>
          <a:ln w="12700">
            <a:solidFill>
              <a:srgbClr val="B45309"/>
            </a:solidFill>
            <a:prstDash val="solid"/>
          </a:ln>
        </p:spPr>
      </p:sp>
      <p:sp>
        <p:nvSpPr>
          <p:cNvPr id="21" name="Shape 17"/>
          <p:cNvSpPr/>
          <p:nvPr/>
        </p:nvSpPr>
        <p:spPr>
          <a:xfrm>
            <a:off x="6675069" y="91440"/>
            <a:ext cx="27432" cy="274320"/>
          </a:xfrm>
          <a:prstGeom prst="rect">
            <a:avLst/>
          </a:prstGeom>
          <a:solidFill>
            <a:srgbClr val="B45309"/>
          </a:solidFill>
          <a:ln w="12700">
            <a:solidFill>
              <a:srgbClr val="B45309"/>
            </a:solidFill>
            <a:prstDash val="solid"/>
          </a:ln>
        </p:spPr>
      </p:sp>
      <p:sp>
        <p:nvSpPr>
          <p:cNvPr id="22" name="Shape 18"/>
          <p:cNvSpPr/>
          <p:nvPr/>
        </p:nvSpPr>
        <p:spPr>
          <a:xfrm>
            <a:off x="672993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4" name="Text 19"/>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5" name="Shape 20"/>
          <p:cNvSpPr/>
          <p:nvPr/>
        </p:nvSpPr>
        <p:spPr>
          <a:xfrm>
            <a:off x="4352747" y="91440"/>
            <a:ext cx="2212594" cy="274320"/>
          </a:xfrm>
          <a:prstGeom prst="rect">
            <a:avLst/>
          </a:prstGeom>
          <a:solidFill>
            <a:srgbClr val="E0F2FE"/>
          </a:solidFill>
          <a:ln w="12700">
            <a:solidFill>
              <a:srgbClr val="0369A1"/>
            </a:solidFill>
            <a:prstDash val="solid"/>
          </a:ln>
        </p:spPr>
      </p:sp>
      <p:sp>
        <p:nvSpPr>
          <p:cNvPr id="26" name="Shape 21"/>
          <p:cNvSpPr/>
          <p:nvPr/>
        </p:nvSpPr>
        <p:spPr>
          <a:xfrm>
            <a:off x="435274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8" name="Text 22"/>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questa presentazione</a:t>
            </a:r>
            <a:endParaRPr lang="en-US" sz="3200" dirty="0"/>
          </a:p>
        </p:txBody>
      </p:sp>
      <p:sp>
        <p:nvSpPr>
          <p:cNvPr id="3" name="Text 1"/>
          <p:cNvSpPr txBox="1"/>
          <p:nvPr/>
        </p:nvSpPr>
        <p:spPr>
          <a:xfrm>
            <a:off x="548640" y="155854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540256"/>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2 listati della Lezione 19, uno per slide: leggete il codice, poi le osservazioni numerate a fianco</a:t>
            </a:r>
            <a:endParaRPr lang="en-US" sz="2200" dirty="0"/>
          </a:p>
        </p:txBody>
      </p:sp>
      <p:sp>
        <p:nvSpPr>
          <p:cNvPr id="5" name="Text 3"/>
          <p:cNvSpPr txBox="1"/>
          <p:nvPr/>
        </p:nvSpPr>
        <p:spPr>
          <a:xfrm>
            <a:off x="548640" y="269748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67919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Il programma completo: code/l19.S, 112 righe, stampato per intero</a:t>
            </a:r>
            <a:endParaRPr lang="en-US" sz="2200" dirty="0"/>
          </a:p>
        </p:txBody>
      </p:sp>
      <p:sp>
        <p:nvSpPr>
          <p:cNvPr id="7" name="Text 5"/>
          <p:cNvSpPr txBox="1"/>
          <p:nvPr/>
        </p:nvSpPr>
        <p:spPr>
          <a:xfrm>
            <a:off x="548640" y="359359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57530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Che cosa dovreste vedere quando gira, verificato sull'esecutore senza interfaccia di PRG32-QT</a:t>
            </a:r>
            <a:endParaRPr lang="en-US" sz="2200" dirty="0"/>
          </a:p>
        </p:txBody>
      </p:sp>
      <p:sp>
        <p:nvSpPr>
          <p:cNvPr id="9" name="Text 7"/>
          <p:cNvSpPr txBox="1"/>
          <p:nvPr/>
        </p:nvSpPr>
        <p:spPr>
          <a:xfrm>
            <a:off x="548640" y="473252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71424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Come provarlo, passo per passo: su PRG32-QT, su QEMU, sulla scheda</a:t>
            </a:r>
            <a:endParaRPr lang="en-US" sz="2200" dirty="0"/>
          </a:p>
        </p:txBody>
      </p:sp>
      <p:sp>
        <p:nvSpPr>
          <p:cNvPr id="11" name="Text 9"/>
          <p:cNvSpPr txBox="1"/>
          <p:nvPr/>
        </p:nvSpPr>
        <p:spPr>
          <a:xfrm>
            <a:off x="548640" y="56286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61035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Gli esercizi: modificare il programma, prevedere, eseguire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Quattro parole in memoria</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indirizzo   codice macchina  che cosa avete scritto</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0x000       0x0002A303       lw   t1,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0x004       0x00130313       addi t1, t1, 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0x008       0x0062A023       sw   t1, 0(t0)</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0x00C       0x00008067       ret</a:t>
            </a:r>
            <a:endParaRPr lang="en-US" sz="17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È first_update della Lezione 02 così come sta in memoria: quattro numeri, a quattro indirizzi di distanza</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Come fa il processore a sapere che il primo è un caricamento e il secondo una somma?</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Quali passi compie per ciascuno?</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 mentre li esegue, come si accorge che è stato premuto un pulsante o che è scaduto un timer?</a:t>
            </a:r>
            <a:endParaRPr lang="en-US" sz="1200" dirty="0"/>
          </a:p>
        </p:txBody>
      </p:sp>
      <p:sp>
        <p:nvSpPr>
          <p:cNvPr id="17" name="Shape 15"/>
          <p:cNvSpPr/>
          <p:nvPr/>
        </p:nvSpPr>
        <p:spPr>
          <a:xfrm>
            <a:off x="7657668" y="91440"/>
            <a:ext cx="3985387" cy="274320"/>
          </a:xfrm>
          <a:prstGeom prst="rect">
            <a:avLst/>
          </a:prstGeom>
          <a:solidFill>
            <a:srgbClr val="E0F2FE"/>
          </a:solidFill>
          <a:ln w="12700">
            <a:solidFill>
              <a:srgbClr val="0369A1"/>
            </a:solidFill>
            <a:prstDash val="solid"/>
          </a:ln>
        </p:spPr>
      </p:sp>
      <p:sp>
        <p:nvSpPr>
          <p:cNvPr id="18" name="Shape 16"/>
          <p:cNvSpPr/>
          <p:nvPr/>
        </p:nvSpPr>
        <p:spPr>
          <a:xfrm>
            <a:off x="7657668"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20" name="Text 17"/>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Decodifica a mano</a:t>
            </a:r>
            <a:endParaRPr lang="en-US" sz="3200" dirty="0"/>
          </a:p>
        </p:txBody>
      </p:sp>
      <p:sp>
        <p:nvSpPr>
          <p:cNvPr id="3" name="Text 1"/>
          <p:cNvSpPr txBox="1"/>
          <p:nvPr/>
        </p:nvSpPr>
        <p:spPr>
          <a:xfrm>
            <a:off x="548640" y="132588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0x006283B3</a:t>
            </a:r>
            <a:endParaRPr lang="en-US" sz="2200" dirty="0"/>
          </a:p>
        </p:txBody>
      </p:sp>
      <p:sp>
        <p:nvSpPr>
          <p:cNvPr id="4" name="Text 2"/>
          <p:cNvSpPr txBox="1"/>
          <p:nvPr/>
        </p:nvSpPr>
        <p:spPr>
          <a:xfrm>
            <a:off x="8229600" y="132588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add t2, t0, t1</a:t>
            </a:r>
            <a:endParaRPr lang="en-US" sz="2200" dirty="0"/>
          </a:p>
        </p:txBody>
      </p:sp>
      <p:sp>
        <p:nvSpPr>
          <p:cNvPr id="5" name="Text 3"/>
          <p:cNvSpPr txBox="1"/>
          <p:nvPr/>
        </p:nvSpPr>
        <p:spPr>
          <a:xfrm>
            <a:off x="548640" y="2194560"/>
            <a:ext cx="2394823"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a:t>
            </a:r>
            <a:endParaRPr lang="en-US" sz="1600" dirty="0"/>
          </a:p>
        </p:txBody>
      </p:sp>
      <p:sp>
        <p:nvSpPr>
          <p:cNvPr id="6" name="Text 4"/>
          <p:cNvSpPr txBox="1"/>
          <p:nvPr/>
        </p:nvSpPr>
        <p:spPr>
          <a:xfrm>
            <a:off x="548640"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funct7</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 non sub</a:t>
            </a:r>
            <a:endParaRPr lang="en-US" sz="1300" dirty="0"/>
          </a:p>
        </p:txBody>
      </p:sp>
      <p:sp>
        <p:nvSpPr>
          <p:cNvPr id="7" name="Text 5"/>
          <p:cNvSpPr txBox="1"/>
          <p:nvPr/>
        </p:nvSpPr>
        <p:spPr>
          <a:xfrm>
            <a:off x="585216"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8" name="Text 6"/>
          <p:cNvSpPr txBox="1"/>
          <p:nvPr/>
        </p:nvSpPr>
        <p:spPr>
          <a:xfrm>
            <a:off x="1746051"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25</a:t>
            </a:r>
            <a:endParaRPr lang="en-US" sz="1050" dirty="0"/>
          </a:p>
        </p:txBody>
      </p:sp>
      <p:sp>
        <p:nvSpPr>
          <p:cNvPr id="9" name="Text 7"/>
          <p:cNvSpPr txBox="1"/>
          <p:nvPr/>
        </p:nvSpPr>
        <p:spPr>
          <a:xfrm>
            <a:off x="2943463"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10" name="Text 8"/>
          <p:cNvSpPr txBox="1"/>
          <p:nvPr/>
        </p:nvSpPr>
        <p:spPr>
          <a:xfrm>
            <a:off x="2943463"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rs2</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11" name="Text 9"/>
          <p:cNvSpPr txBox="1"/>
          <p:nvPr/>
        </p:nvSpPr>
        <p:spPr>
          <a:xfrm>
            <a:off x="2980039"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24</a:t>
            </a:r>
            <a:endParaRPr lang="en-US" sz="1050" dirty="0"/>
          </a:p>
        </p:txBody>
      </p:sp>
      <p:sp>
        <p:nvSpPr>
          <p:cNvPr id="12" name="Text 10"/>
          <p:cNvSpPr txBox="1"/>
          <p:nvPr/>
        </p:nvSpPr>
        <p:spPr>
          <a:xfrm>
            <a:off x="3798757"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13" name="Text 11"/>
          <p:cNvSpPr txBox="1"/>
          <p:nvPr/>
        </p:nvSpPr>
        <p:spPr>
          <a:xfrm>
            <a:off x="4654050" y="219456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14" name="Text 12"/>
          <p:cNvSpPr txBox="1"/>
          <p:nvPr/>
        </p:nvSpPr>
        <p:spPr>
          <a:xfrm>
            <a:off x="4654050"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15" name="Text 13"/>
          <p:cNvSpPr txBox="1"/>
          <p:nvPr/>
        </p:nvSpPr>
        <p:spPr>
          <a:xfrm>
            <a:off x="4690626"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16" name="Text 14"/>
          <p:cNvSpPr txBox="1"/>
          <p:nvPr/>
        </p:nvSpPr>
        <p:spPr>
          <a:xfrm>
            <a:off x="5509344"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17" name="Text 15"/>
          <p:cNvSpPr txBox="1"/>
          <p:nvPr/>
        </p:nvSpPr>
        <p:spPr>
          <a:xfrm>
            <a:off x="6364638" y="219456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a:t>
            </a:r>
            <a:endParaRPr lang="en-US" sz="1600" dirty="0"/>
          </a:p>
        </p:txBody>
      </p:sp>
      <p:sp>
        <p:nvSpPr>
          <p:cNvPr id="18" name="Text 16"/>
          <p:cNvSpPr txBox="1"/>
          <p:nvPr/>
        </p:nvSpPr>
        <p:spPr>
          <a:xfrm>
            <a:off x="6364638" y="279806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add</a:t>
            </a:r>
            <a:endParaRPr lang="en-US" sz="1300" dirty="0"/>
          </a:p>
        </p:txBody>
      </p:sp>
      <p:sp>
        <p:nvSpPr>
          <p:cNvPr id="19" name="Text 17"/>
          <p:cNvSpPr txBox="1"/>
          <p:nvPr/>
        </p:nvSpPr>
        <p:spPr>
          <a:xfrm>
            <a:off x="6401214" y="195681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20" name="Text 18"/>
          <p:cNvSpPr txBox="1"/>
          <p:nvPr/>
        </p:nvSpPr>
        <p:spPr>
          <a:xfrm>
            <a:off x="6951141" y="195681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21" name="Text 19"/>
          <p:cNvSpPr txBox="1"/>
          <p:nvPr/>
        </p:nvSpPr>
        <p:spPr>
          <a:xfrm>
            <a:off x="7537645" y="219456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00111</a:t>
            </a:r>
            <a:endParaRPr lang="en-US" sz="1600" dirty="0"/>
          </a:p>
        </p:txBody>
      </p:sp>
      <p:sp>
        <p:nvSpPr>
          <p:cNvPr id="22" name="Text 20"/>
          <p:cNvSpPr txBox="1"/>
          <p:nvPr/>
        </p:nvSpPr>
        <p:spPr>
          <a:xfrm>
            <a:off x="7537645" y="279806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x7 = t2</a:t>
            </a:r>
            <a:endParaRPr lang="en-US" sz="1300" dirty="0"/>
          </a:p>
        </p:txBody>
      </p:sp>
      <p:sp>
        <p:nvSpPr>
          <p:cNvPr id="23" name="Text 21"/>
          <p:cNvSpPr txBox="1"/>
          <p:nvPr/>
        </p:nvSpPr>
        <p:spPr>
          <a:xfrm>
            <a:off x="7574221" y="195681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24" name="Text 22"/>
          <p:cNvSpPr txBox="1"/>
          <p:nvPr/>
        </p:nvSpPr>
        <p:spPr>
          <a:xfrm>
            <a:off x="8392939" y="195681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25" name="Text 23"/>
          <p:cNvSpPr txBox="1"/>
          <p:nvPr/>
        </p:nvSpPr>
        <p:spPr>
          <a:xfrm>
            <a:off x="9248232" y="219456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0110011</a:t>
            </a:r>
            <a:endParaRPr lang="en-US" sz="1600" dirty="0"/>
          </a:p>
        </p:txBody>
      </p:sp>
      <p:sp>
        <p:nvSpPr>
          <p:cNvPr id="26" name="Text 24"/>
          <p:cNvSpPr txBox="1"/>
          <p:nvPr/>
        </p:nvSpPr>
        <p:spPr>
          <a:xfrm>
            <a:off x="9248232" y="279806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registro-registro</a:t>
            </a:r>
            <a:endParaRPr lang="en-US" sz="1300" dirty="0"/>
          </a:p>
        </p:txBody>
      </p:sp>
      <p:sp>
        <p:nvSpPr>
          <p:cNvPr id="27" name="Text 25"/>
          <p:cNvSpPr txBox="1"/>
          <p:nvPr/>
        </p:nvSpPr>
        <p:spPr>
          <a:xfrm>
            <a:off x="9284808" y="195681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28" name="Text 26"/>
          <p:cNvSpPr txBox="1"/>
          <p:nvPr/>
        </p:nvSpPr>
        <p:spPr>
          <a:xfrm>
            <a:off x="10445644" y="195681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29" name="Text 27"/>
          <p:cNvSpPr txBox="1"/>
          <p:nvPr/>
        </p:nvSpPr>
        <p:spPr>
          <a:xfrm>
            <a:off x="548640" y="3794760"/>
            <a:ext cx="2926080" cy="457200"/>
          </a:xfrm>
          <a:prstGeom prst="rect">
            <a:avLst/>
          </a:prstGeom>
          <a:noFill/>
          <a:ln/>
        </p:spPr>
        <p:txBody>
          <a:bodyPr wrap="square" lIns="0" tIns="0" rIns="0" bIns="0" rtlCol="0" anchor="ctr"/>
          <a:lstStyle/>
          <a:p>
            <a:pPr indent="0" marL="0">
              <a:buNone/>
            </a:pPr>
            <a:r>
              <a:rPr lang="en-US" sz="2200" b="1" dirty="0">
                <a:solidFill>
                  <a:srgbClr val="2E4A62"/>
                </a:solidFill>
                <a:latin typeface="Courier New" pitchFamily="34" charset="0"/>
                <a:ea typeface="Courier New" pitchFamily="34" charset="-122"/>
                <a:cs typeface="Courier New" pitchFamily="34" charset="-120"/>
              </a:rPr>
              <a:t>0x0002A303</a:t>
            </a:r>
            <a:endParaRPr lang="en-US" sz="2200" dirty="0"/>
          </a:p>
        </p:txBody>
      </p:sp>
      <p:sp>
        <p:nvSpPr>
          <p:cNvPr id="30" name="Text 28"/>
          <p:cNvSpPr txBox="1"/>
          <p:nvPr/>
        </p:nvSpPr>
        <p:spPr>
          <a:xfrm>
            <a:off x="8229600" y="3794760"/>
            <a:ext cx="3413455" cy="457200"/>
          </a:xfrm>
          <a:prstGeom prst="rect">
            <a:avLst/>
          </a:prstGeom>
          <a:noFill/>
          <a:ln/>
        </p:spPr>
        <p:txBody>
          <a:bodyPr wrap="square" lIns="0" tIns="0" rIns="0" bIns="0" rtlCol="0" anchor="ctr"/>
          <a:lstStyle/>
          <a:p>
            <a:pPr algn="r" indent="0" marL="0">
              <a:buNone/>
            </a:pPr>
            <a:r>
              <a:rPr lang="en-US" sz="2200" b="1" dirty="0">
                <a:solidFill>
                  <a:srgbClr val="2F7D4F"/>
                </a:solidFill>
                <a:latin typeface="Courier New" pitchFamily="34" charset="0"/>
                <a:ea typeface="Courier New" pitchFamily="34" charset="-122"/>
                <a:cs typeface="Courier New" pitchFamily="34" charset="-120"/>
              </a:rPr>
              <a:t>lw t1, 0(t0)</a:t>
            </a:r>
            <a:endParaRPr lang="en-US" sz="2200" dirty="0"/>
          </a:p>
        </p:txBody>
      </p:sp>
      <p:sp>
        <p:nvSpPr>
          <p:cNvPr id="31" name="Text 29"/>
          <p:cNvSpPr txBox="1"/>
          <p:nvPr/>
        </p:nvSpPr>
        <p:spPr>
          <a:xfrm>
            <a:off x="548640" y="4663440"/>
            <a:ext cx="4105410" cy="54864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000000000000</a:t>
            </a:r>
            <a:endParaRPr lang="en-US" sz="1600" dirty="0"/>
          </a:p>
        </p:txBody>
      </p:sp>
      <p:sp>
        <p:nvSpPr>
          <p:cNvPr id="32" name="Text 30"/>
          <p:cNvSpPr txBox="1"/>
          <p:nvPr/>
        </p:nvSpPr>
        <p:spPr>
          <a:xfrm>
            <a:off x="548640" y="5266944"/>
            <a:ext cx="4105410"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immediato</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scostamento 0</a:t>
            </a:r>
            <a:endParaRPr lang="en-US" sz="1300" dirty="0"/>
          </a:p>
        </p:txBody>
      </p:sp>
      <p:sp>
        <p:nvSpPr>
          <p:cNvPr id="33" name="Text 31"/>
          <p:cNvSpPr txBox="1"/>
          <p:nvPr/>
        </p:nvSpPr>
        <p:spPr>
          <a:xfrm>
            <a:off x="585216" y="4425696"/>
            <a:ext cx="205270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34" name="Text 32"/>
          <p:cNvSpPr txBox="1"/>
          <p:nvPr/>
        </p:nvSpPr>
        <p:spPr>
          <a:xfrm>
            <a:off x="2601345" y="4425696"/>
            <a:ext cx="201612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20</a:t>
            </a:r>
            <a:endParaRPr lang="en-US" sz="1050" dirty="0"/>
          </a:p>
        </p:txBody>
      </p:sp>
      <p:sp>
        <p:nvSpPr>
          <p:cNvPr id="35" name="Text 33"/>
          <p:cNvSpPr txBox="1"/>
          <p:nvPr/>
        </p:nvSpPr>
        <p:spPr>
          <a:xfrm>
            <a:off x="4654050" y="4663440"/>
            <a:ext cx="1710588" cy="54864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00101</a:t>
            </a:r>
            <a:endParaRPr lang="en-US" sz="1600" dirty="0"/>
          </a:p>
        </p:txBody>
      </p:sp>
      <p:sp>
        <p:nvSpPr>
          <p:cNvPr id="36" name="Text 34"/>
          <p:cNvSpPr txBox="1"/>
          <p:nvPr/>
        </p:nvSpPr>
        <p:spPr>
          <a:xfrm>
            <a:off x="4654050"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rs1</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x5 = t0</a:t>
            </a:r>
            <a:endParaRPr lang="en-US" sz="1300" dirty="0"/>
          </a:p>
        </p:txBody>
      </p:sp>
      <p:sp>
        <p:nvSpPr>
          <p:cNvPr id="37" name="Text 35"/>
          <p:cNvSpPr txBox="1"/>
          <p:nvPr/>
        </p:nvSpPr>
        <p:spPr>
          <a:xfrm>
            <a:off x="4690626"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19</a:t>
            </a:r>
            <a:endParaRPr lang="en-US" sz="1050" dirty="0"/>
          </a:p>
        </p:txBody>
      </p:sp>
      <p:sp>
        <p:nvSpPr>
          <p:cNvPr id="38" name="Text 36"/>
          <p:cNvSpPr txBox="1"/>
          <p:nvPr/>
        </p:nvSpPr>
        <p:spPr>
          <a:xfrm>
            <a:off x="5509344"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15</a:t>
            </a:r>
            <a:endParaRPr lang="en-US" sz="1050" dirty="0"/>
          </a:p>
        </p:txBody>
      </p:sp>
      <p:sp>
        <p:nvSpPr>
          <p:cNvPr id="39" name="Text 37"/>
          <p:cNvSpPr txBox="1"/>
          <p:nvPr/>
        </p:nvSpPr>
        <p:spPr>
          <a:xfrm>
            <a:off x="6364638" y="4663440"/>
            <a:ext cx="1173007" cy="548640"/>
          </a:xfrm>
          <a:prstGeom prst="rect">
            <a:avLst/>
          </a:prstGeom>
          <a:solidFill>
            <a:srgbClr val="6B4FA0"/>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010</a:t>
            </a:r>
            <a:endParaRPr lang="en-US" sz="1600" dirty="0"/>
          </a:p>
        </p:txBody>
      </p:sp>
      <p:sp>
        <p:nvSpPr>
          <p:cNvPr id="40" name="Text 38"/>
          <p:cNvSpPr txBox="1"/>
          <p:nvPr/>
        </p:nvSpPr>
        <p:spPr>
          <a:xfrm>
            <a:off x="6364638" y="5266944"/>
            <a:ext cx="1173007"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funct3</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una parola</a:t>
            </a:r>
            <a:endParaRPr lang="en-US" sz="1300" dirty="0"/>
          </a:p>
        </p:txBody>
      </p:sp>
      <p:sp>
        <p:nvSpPr>
          <p:cNvPr id="41" name="Text 39"/>
          <p:cNvSpPr txBox="1"/>
          <p:nvPr/>
        </p:nvSpPr>
        <p:spPr>
          <a:xfrm>
            <a:off x="6401214" y="4425696"/>
            <a:ext cx="586503"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14</a:t>
            </a:r>
            <a:endParaRPr lang="en-US" sz="1050" dirty="0"/>
          </a:p>
        </p:txBody>
      </p:sp>
      <p:sp>
        <p:nvSpPr>
          <p:cNvPr id="42" name="Text 40"/>
          <p:cNvSpPr txBox="1"/>
          <p:nvPr/>
        </p:nvSpPr>
        <p:spPr>
          <a:xfrm>
            <a:off x="6951141" y="4425696"/>
            <a:ext cx="549927"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12</a:t>
            </a:r>
            <a:endParaRPr lang="en-US" sz="1050" dirty="0"/>
          </a:p>
        </p:txBody>
      </p:sp>
      <p:sp>
        <p:nvSpPr>
          <p:cNvPr id="43" name="Text 41"/>
          <p:cNvSpPr txBox="1"/>
          <p:nvPr/>
        </p:nvSpPr>
        <p:spPr>
          <a:xfrm>
            <a:off x="7537645" y="4663440"/>
            <a:ext cx="1710588" cy="548640"/>
          </a:xfrm>
          <a:prstGeom prst="rect">
            <a:avLst/>
          </a:prstGeom>
          <a:solidFill>
            <a:srgbClr val="2F7D4F"/>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00110</a:t>
            </a:r>
            <a:endParaRPr lang="en-US" sz="1600" dirty="0"/>
          </a:p>
        </p:txBody>
      </p:sp>
      <p:sp>
        <p:nvSpPr>
          <p:cNvPr id="44" name="Text 42"/>
          <p:cNvSpPr txBox="1"/>
          <p:nvPr/>
        </p:nvSpPr>
        <p:spPr>
          <a:xfrm>
            <a:off x="7537645" y="5266944"/>
            <a:ext cx="1710588"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rd</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x6 = t1</a:t>
            </a:r>
            <a:endParaRPr lang="en-US" sz="1300" dirty="0"/>
          </a:p>
        </p:txBody>
      </p:sp>
      <p:sp>
        <p:nvSpPr>
          <p:cNvPr id="45" name="Text 43"/>
          <p:cNvSpPr txBox="1"/>
          <p:nvPr/>
        </p:nvSpPr>
        <p:spPr>
          <a:xfrm>
            <a:off x="7574221" y="4425696"/>
            <a:ext cx="85529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11</a:t>
            </a:r>
            <a:endParaRPr lang="en-US" sz="1050" dirty="0"/>
          </a:p>
        </p:txBody>
      </p:sp>
      <p:sp>
        <p:nvSpPr>
          <p:cNvPr id="46" name="Text 44"/>
          <p:cNvSpPr txBox="1"/>
          <p:nvPr/>
        </p:nvSpPr>
        <p:spPr>
          <a:xfrm>
            <a:off x="8392939" y="4425696"/>
            <a:ext cx="81871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7</a:t>
            </a:r>
            <a:endParaRPr lang="en-US" sz="1050" dirty="0"/>
          </a:p>
        </p:txBody>
      </p:sp>
      <p:sp>
        <p:nvSpPr>
          <p:cNvPr id="47" name="Text 45"/>
          <p:cNvSpPr txBox="1"/>
          <p:nvPr/>
        </p:nvSpPr>
        <p:spPr>
          <a:xfrm>
            <a:off x="9248232" y="4663440"/>
            <a:ext cx="2394823" cy="548640"/>
          </a:xfrm>
          <a:prstGeom prst="rect">
            <a:avLst/>
          </a:prstGeom>
          <a:solidFill>
            <a:srgbClr val="2E4A62"/>
          </a:solidFill>
          <a:ln w="19050">
            <a:solidFill>
              <a:srgbClr val="FFFFFF"/>
            </a:solidFill>
          </a:ln>
        </p:spPr>
        <p:txBody>
          <a:bodyPr wrap="square" lIns="0" tIns="0" rIns="0" bIns="0" rtlCol="0" anchor="ctr"/>
          <a:lstStyle/>
          <a:p>
            <a:pPr algn="ctr" indent="0" marL="0">
              <a:buNone/>
            </a:pPr>
            <a:r>
              <a:rPr lang="en-US" sz="1600" b="1" dirty="0">
                <a:solidFill>
                  <a:srgbClr val="FFFFFF"/>
                </a:solidFill>
                <a:latin typeface="Courier New" pitchFamily="34" charset="0"/>
                <a:ea typeface="Courier New" pitchFamily="34" charset="-122"/>
                <a:cs typeface="Courier New" pitchFamily="34" charset="-120"/>
              </a:rPr>
              <a:t>0000011</a:t>
            </a:r>
            <a:endParaRPr lang="en-US" sz="1600" dirty="0"/>
          </a:p>
        </p:txBody>
      </p:sp>
      <p:sp>
        <p:nvSpPr>
          <p:cNvPr id="48" name="Text 46"/>
          <p:cNvSpPr txBox="1"/>
          <p:nvPr/>
        </p:nvSpPr>
        <p:spPr>
          <a:xfrm>
            <a:off x="9248232" y="5266944"/>
            <a:ext cx="2394823" cy="502920"/>
          </a:xfrm>
          <a:prstGeom prst="rect">
            <a:avLst/>
          </a:prstGeom>
          <a:noFill/>
          <a:ln/>
        </p:spPr>
        <p:txBody>
          <a:bodyPr wrap="square" lIns="0" tIns="0" rIns="0" bIns="0" rtlCol="0" anchor="t"/>
          <a:lstStyle/>
          <a:p>
            <a:pPr algn="ctr" indent="0" marL="0">
              <a:buNone/>
            </a:pPr>
            <a:r>
              <a:rPr lang="en-US" sz="1300" dirty="0">
                <a:solidFill>
                  <a:srgbClr val="1B2530"/>
                </a:solidFill>
                <a:latin typeface="Calibri" pitchFamily="34" charset="0"/>
                <a:ea typeface="Calibri" pitchFamily="34" charset="-122"/>
                <a:cs typeface="Calibri" pitchFamily="34" charset="-120"/>
              </a:rPr>
              <a:t>opcode</a:t>
            </a:r>
            <a:endParaRPr lang="en-US" sz="1300" dirty="0"/>
          </a:p>
          <a:p>
            <a:pPr algn="ctr" indent="0" marL="0">
              <a:buNone/>
            </a:pPr>
            <a:r>
              <a:rPr lang="en-US" sz="1300" dirty="0">
                <a:solidFill>
                  <a:srgbClr val="1B2530"/>
                </a:solidFill>
                <a:latin typeface="Calibri" pitchFamily="34" charset="0"/>
                <a:ea typeface="Calibri" pitchFamily="34" charset="-122"/>
                <a:cs typeface="Calibri" pitchFamily="34" charset="-120"/>
              </a:rPr>
              <a:t>load</a:t>
            </a:r>
            <a:endParaRPr lang="en-US" sz="1300" dirty="0"/>
          </a:p>
        </p:txBody>
      </p:sp>
      <p:sp>
        <p:nvSpPr>
          <p:cNvPr id="49" name="Text 47"/>
          <p:cNvSpPr txBox="1"/>
          <p:nvPr/>
        </p:nvSpPr>
        <p:spPr>
          <a:xfrm>
            <a:off x="9284808" y="4425696"/>
            <a:ext cx="1197411"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6</a:t>
            </a:r>
            <a:endParaRPr lang="en-US" sz="1050" dirty="0"/>
          </a:p>
        </p:txBody>
      </p:sp>
      <p:sp>
        <p:nvSpPr>
          <p:cNvPr id="50" name="Text 48"/>
          <p:cNvSpPr txBox="1"/>
          <p:nvPr/>
        </p:nvSpPr>
        <p:spPr>
          <a:xfrm>
            <a:off x="10445644" y="4425696"/>
            <a:ext cx="1160835"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51" name="Shape 49"/>
          <p:cNvSpPr/>
          <p:nvPr/>
        </p:nvSpPr>
        <p:spPr>
          <a:xfrm>
            <a:off x="7657668" y="91440"/>
            <a:ext cx="3985387" cy="274320"/>
          </a:xfrm>
          <a:prstGeom prst="rect">
            <a:avLst/>
          </a:prstGeom>
          <a:solidFill>
            <a:srgbClr val="E0F2FE"/>
          </a:solidFill>
          <a:ln w="12700">
            <a:solidFill>
              <a:srgbClr val="0369A1"/>
            </a:solidFill>
            <a:prstDash val="solid"/>
          </a:ln>
        </p:spPr>
      </p:sp>
      <p:sp>
        <p:nvSpPr>
          <p:cNvPr id="52" name="Shape 50"/>
          <p:cNvSpPr/>
          <p:nvPr/>
        </p:nvSpPr>
        <p:spPr>
          <a:xfrm>
            <a:off x="7657668" y="91440"/>
            <a:ext cx="73152" cy="274320"/>
          </a:xfrm>
          <a:prstGeom prst="rect">
            <a:avLst/>
          </a:prstGeom>
          <a:solidFill>
            <a:srgbClr val="0369A1"/>
          </a:solidFill>
          <a:ln w="12700">
            <a:solidFill>
              <a:srgbClr val="0369A1"/>
            </a:solidFill>
            <a:prstDash val="solid"/>
          </a:ln>
        </p:spPr>
      </p:sp>
      <p:pic>
        <p:nvPicPr>
          <p:cNvPr id="53" name="Image 0" descr="preencoded.png">    </p:cNvPr>
          <p:cNvPicPr>
            <a:picLocks noChangeAspect="1"/>
          </p:cNvPicPr>
          <p:nvPr/>
        </p:nvPicPr>
        <p:blipFill>
          <a:blip r:embed="rId1"/>
          <a:stretch>
            <a:fillRect/>
          </a:stretch>
        </p:blipFill>
        <p:spPr>
          <a:xfrm>
            <a:off x="7785684" y="128016"/>
            <a:ext cx="201168" cy="201168"/>
          </a:xfrm>
          <a:prstGeom prst="rect">
            <a:avLst/>
          </a:prstGeom>
        </p:spPr>
      </p:pic>
      <p:sp>
        <p:nvSpPr>
          <p:cNvPr id="54" name="Text 51"/>
          <p:cNvSpPr txBox="1"/>
          <p:nvPr/>
        </p:nvSpPr>
        <p:spPr>
          <a:xfrm>
            <a:off x="8041716" y="91440"/>
            <a:ext cx="3564763"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formati delle istruzioni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fase di prelievo, trasferimento per trasferimento</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818440"/>
                <a:gridCol w="3273762"/>
                <a:gridCol w="7002213"/>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Passo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Trasferimento tra registri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Significato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 := PC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l'indirizzo dell'istruzione va nel registro degli indirizzi di memoria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abilita lettura; MB := M[MA]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la memoria mette l'istruzione sul bus dati; viene catturata nel buffer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 := MB</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l'istruzione viene copiata nel registro di decodifica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PC := PC + 4</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il PC ora punta all'istruzione successiva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723327" y="91440"/>
            <a:ext cx="3919728" cy="274320"/>
          </a:xfrm>
          <a:prstGeom prst="rect">
            <a:avLst/>
          </a:prstGeom>
          <a:solidFill>
            <a:srgbClr val="E0F2FE"/>
          </a:solidFill>
          <a:ln w="12700">
            <a:solidFill>
              <a:srgbClr val="0369A1"/>
            </a:solidFill>
            <a:prstDash val="solid"/>
          </a:ln>
        </p:spPr>
      </p:sp>
      <p:sp>
        <p:nvSpPr>
          <p:cNvPr id="5" name="Shape 2"/>
          <p:cNvSpPr/>
          <p:nvPr/>
        </p:nvSpPr>
        <p:spPr>
          <a:xfrm>
            <a:off x="772332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7" name="Text 3"/>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resto del ciclo per due istruzioni</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636881"/>
                <a:gridCol w="4365016"/>
                <a:gridCol w="5092518"/>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Fase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add t2, t0, t1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lw t1, 0(t0)</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decodifica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R[t1]</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O1 := R[t0];  O2 := 0  (l'immediato)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esecuzione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U := O1 + O2  (un indirizzo)</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memoria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MA := U;  abilita lettura;  MB := M[MA]</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scrittura</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R[t2] := U</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R[t1] := MB</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300" i="1" dirty="0">
                <a:solidFill>
                  <a:srgbClr val="5B6B78"/>
                </a:solidFill>
                <a:latin typeface="Calibri" pitchFamily="34" charset="0"/>
                <a:ea typeface="Calibri" pitchFamily="34" charset="-122"/>
                <a:cs typeface="Calibri" pitchFamily="34" charset="-120"/>
              </a:rPr>
              <a:t>La stessa ALU somma due registri per add e forma un indirizzo per lw. L'unità di controllo, decodificando l'opcode, decide quali trasferimenti avvengono.</a:t>
            </a:r>
            <a:endParaRPr lang="en-US" sz="1300" dirty="0"/>
          </a:p>
        </p:txBody>
      </p:sp>
      <p:sp>
        <p:nvSpPr>
          <p:cNvPr id="5" name="Shape 2"/>
          <p:cNvSpPr/>
          <p:nvPr/>
        </p:nvSpPr>
        <p:spPr>
          <a:xfrm>
            <a:off x="7723327" y="91440"/>
            <a:ext cx="3919728" cy="274320"/>
          </a:xfrm>
          <a:prstGeom prst="rect">
            <a:avLst/>
          </a:prstGeom>
          <a:solidFill>
            <a:srgbClr val="E0F2FE"/>
          </a:solidFill>
          <a:ln w="12700">
            <a:solidFill>
              <a:srgbClr val="0369A1"/>
            </a:solidFill>
            <a:prstDash val="solid"/>
          </a:ln>
        </p:spPr>
      </p:sp>
      <p:sp>
        <p:nvSpPr>
          <p:cNvPr id="6" name="Shape 3"/>
          <p:cNvSpPr/>
          <p:nvPr/>
        </p:nvSpPr>
        <p:spPr>
          <a:xfrm>
            <a:off x="7723327" y="91440"/>
            <a:ext cx="73152" cy="274320"/>
          </a:xfrm>
          <a:prstGeom prst="rect">
            <a:avLst/>
          </a:prstGeom>
          <a:solidFill>
            <a:srgbClr val="0369A1"/>
          </a:solidFill>
          <a:ln w="12700">
            <a:solidFill>
              <a:srgbClr val="0369A1"/>
            </a:solidFill>
            <a:prstDash val="solid"/>
          </a:ln>
        </p:spPr>
      </p:sp>
      <p:pic>
        <p:nvPicPr>
          <p:cNvPr id="7"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8" name="Text 4"/>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il ciclo del processore</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 gestore di trap, per sommi capi</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00" dirty="0">
                <a:solidFill>
                  <a:srgbClr val="E6EDF2"/>
                </a:solidFill>
                <a:latin typeface="Courier New" pitchFamily="34" charset="0"/>
                <a:ea typeface="Courier New" pitchFamily="34" charset="-122"/>
                <a:cs typeface="Courier New" pitchFamily="34" charset="-120"/>
              </a:rPr>
              <a:t>trap_entry:</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t0, 0(sp)            </a:t>
            </a:r>
            <a:pPr indent="0" marL="0">
              <a:buNone/>
            </a:pPr>
            <a:r>
              <a:rPr lang="en-US" sz="1300" dirty="0">
                <a:solidFill>
                  <a:srgbClr val="8FB3A0"/>
                </a:solidFill>
                <a:latin typeface="Courier New" pitchFamily="34" charset="0"/>
                <a:ea typeface="Courier New" pitchFamily="34" charset="-122"/>
                <a:cs typeface="Courier New" pitchFamily="34" charset="-120"/>
              </a:rPr>
              <a:t># software context: save what we use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sw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csrr t0, mcause           </a:t>
            </a:r>
            <a:pPr indent="0" marL="0">
              <a:buNone/>
            </a:pPr>
            <a:r>
              <a:rPr lang="en-US" sz="1300" dirty="0">
                <a:solidFill>
                  <a:srgbClr val="8FB3A0"/>
                </a:solidFill>
                <a:latin typeface="Courier New" pitchFamily="34" charset="0"/>
                <a:ea typeface="Courier New" pitchFamily="34" charset="-122"/>
                <a:cs typeface="Courier New" pitchFamily="34" charset="-120"/>
              </a:rPr>
              <a:t># why are we here?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bgez t0, exception        </a:t>
            </a:r>
            <a:pPr indent="0" marL="0">
              <a:buNone/>
            </a:pPr>
            <a:r>
              <a:rPr lang="en-US" sz="1300" dirty="0">
                <a:solidFill>
                  <a:srgbClr val="8FB3A0"/>
                </a:solidFill>
                <a:latin typeface="Courier New" pitchFamily="34" charset="0"/>
                <a:ea typeface="Courier New" pitchFamily="34" charset="-122"/>
                <a:cs typeface="Courier New" pitchFamily="34" charset="-120"/>
              </a:rPr>
              <a:t># top bit 0: an exception</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                       </a:t>
            </a:r>
            <a:pPr indent="0" marL="0">
              <a:buNone/>
            </a:pPr>
            <a:r>
              <a:rPr lang="en-US" sz="1300" dirty="0">
                <a:solidFill>
                  <a:srgbClr val="8FB3A0"/>
                </a:solidFill>
                <a:latin typeface="Courier New" pitchFamily="34" charset="0"/>
                <a:ea typeface="Courier New" pitchFamily="34" charset="-122"/>
                <a:cs typeface="Courier New" pitchFamily="34" charset="-120"/>
              </a:rPr>
              <a:t># top bit 1: find the device, serve 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t0, 0(sp)            </a:t>
            </a:r>
            <a:pPr indent="0" marL="0">
              <a:buNone/>
            </a:pPr>
            <a:r>
              <a:rPr lang="en-US" sz="1300" dirty="0">
                <a:solidFill>
                  <a:srgbClr val="8FB3A0"/>
                </a:solidFill>
                <a:latin typeface="Courier New" pitchFamily="34" charset="0"/>
                <a:ea typeface="Courier New" pitchFamily="34" charset="-122"/>
                <a:cs typeface="Courier New" pitchFamily="34" charset="-120"/>
              </a:rPr>
              <a:t># restore the context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lw   t1, 4(sp)</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addi sp, sp, 16</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mret                      </a:t>
            </a:r>
            <a:pPr indent="0" marL="0">
              <a:buNone/>
            </a:pPr>
            <a:r>
              <a:rPr lang="en-US" sz="1300" dirty="0">
                <a:solidFill>
                  <a:srgbClr val="8FB3A0"/>
                </a:solidFill>
                <a:latin typeface="Courier New" pitchFamily="34" charset="0"/>
                <a:ea typeface="Courier New" pitchFamily="34" charset="-122"/>
                <a:cs typeface="Courier New" pitchFamily="34" charset="-120"/>
              </a:rPr>
              <a:t># MIE := MPIE, PC := mepc</a:t>
            </a:r>
            <a:endParaRPr lang="en-US" sz="13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programma interrotto non deve accorgersene: ogni registro toccato dal gestore viene salvato e ripristinato</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mcause letto come numero con segno è negativo per le interruzioni: bgez separa le due famiglie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mret è l'unica via del ritorno: riabilita le interruzioni e ricarica il PC in un solo passo</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Il firmware del kit contiene proprio una routine così; la vostra cartuccia viene interrotta molte volte per frame</a:t>
            </a:r>
            <a:endParaRPr lang="en-US" sz="1200" dirty="0"/>
          </a:p>
        </p:txBody>
      </p:sp>
      <p:sp>
        <p:nvSpPr>
          <p:cNvPr id="17" name="Shape 15"/>
          <p:cNvSpPr/>
          <p:nvPr/>
        </p:nvSpPr>
        <p:spPr>
          <a:xfrm>
            <a:off x="7985963" y="91440"/>
            <a:ext cx="3657092" cy="274320"/>
          </a:xfrm>
          <a:prstGeom prst="rect">
            <a:avLst/>
          </a:prstGeom>
          <a:solidFill>
            <a:srgbClr val="E0F2FE"/>
          </a:solidFill>
          <a:ln w="12700">
            <a:solidFill>
              <a:srgbClr val="0369A1"/>
            </a:solidFill>
            <a:prstDash val="solid"/>
          </a:ln>
        </p:spPr>
      </p:sp>
      <p:sp>
        <p:nvSpPr>
          <p:cNvPr id="18" name="Shape 16"/>
          <p:cNvSpPr/>
          <p:nvPr/>
        </p:nvSpPr>
        <p:spPr>
          <a:xfrm>
            <a:off x="7985963"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113979" y="128016"/>
            <a:ext cx="201168" cy="201168"/>
          </a:xfrm>
          <a:prstGeom prst="rect">
            <a:avLst/>
          </a:prstGeom>
        </p:spPr>
      </p:pic>
      <p:sp>
        <p:nvSpPr>
          <p:cNvPr id="20" name="Text 17"/>
          <p:cNvSpPr txBox="1"/>
          <p:nvPr/>
        </p:nvSpPr>
        <p:spPr>
          <a:xfrm>
            <a:off x="8370011" y="91440"/>
            <a:ext cx="323646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interruzioni e trap</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(1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8FB3A0"/>
                </a:solidFill>
                <a:latin typeface="Courier New" pitchFamily="34" charset="0"/>
                <a:ea typeface="Courier New" pitchFamily="34" charset="-122"/>
                <a:cs typeface="Courier New" pitchFamily="34" charset="-120"/>
              </a:rPr>
              <a:t># ARC12 Computer Architecture - Lecture 19: Instructions and Interrupts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l19.S: four words in memory: a function read back as machine code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On the screen: four rows of 32 lamps, the machine code of lw t1, 0(t0) / addi t1,</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t1, 1 / sw t1, 0(t0) / ret, and beside each a green square: the word in memory is</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the one decoded by hand in the lecture.</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Build: python3 -m prg32 cartridge build l19.S --portable \</a:t>
            </a:r>
            <a:endParaRPr lang="en-US" sz="1250" dirty="0"/>
          </a:p>
          <a:p>
            <a:pPr indent="0" marL="0">
              <a:buNone/>
            </a:pPr>
            <a:r>
              <a:rPr lang="en-US" sz="1250" dirty="0">
                <a:solidFill>
                  <a:srgbClr val="8FB3A0"/>
                </a:solidFill>
                <a:latin typeface="Courier New" pitchFamily="34" charset="0"/>
                <a:ea typeface="Courier New" pitchFamily="34" charset="-122"/>
                <a:cs typeface="Courier New" pitchFamily="34" charset="-120"/>
              </a:rPr>
              <a:t>#            --entry-prefix l19 --name l19 --out l19.prg32</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.option norelax</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BLACK,  0x0000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GREY,   0x4208</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YELLOW, 0xffe0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GREEN,  0x07e0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.equ RED,    0xf800</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.section .text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.global l19_draw</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l19_init: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(2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l19_update: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The function of Lecture 02, kept in its uncompressed 32-bit forms.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push</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norvc</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sample: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t1, 0(t0)           </a:t>
            </a:r>
            <a:pPr indent="0" marL="0">
              <a:buNone/>
            </a:pPr>
            <a:r>
              <a:rPr lang="en-US" sz="1800" dirty="0">
                <a:solidFill>
                  <a:srgbClr val="8FB3A0"/>
                </a:solidFill>
                <a:latin typeface="Courier New" pitchFamily="34" charset="0"/>
                <a:ea typeface="Courier New" pitchFamily="34" charset="-122"/>
                <a:cs typeface="Courier New" pitchFamily="34" charset="-120"/>
              </a:rPr>
              <a:t># 0x0002A303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t1, t1, 1           </a:t>
            </a:r>
            <a:pPr indent="0" marL="0">
              <a:buNone/>
            </a:pPr>
            <a:r>
              <a:rPr lang="en-US" sz="1800" dirty="0">
                <a:solidFill>
                  <a:srgbClr val="8FB3A0"/>
                </a:solidFill>
                <a:latin typeface="Courier New" pitchFamily="34" charset="0"/>
                <a:ea typeface="Courier New" pitchFamily="34" charset="-122"/>
                <a:cs typeface="Courier New" pitchFamily="34" charset="-120"/>
              </a:rPr>
              <a:t># 0x00130313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t1, 0(t0)           </a:t>
            </a:r>
            <a:pPr indent="0" marL="0">
              <a:buNone/>
            </a:pPr>
            <a:r>
              <a:rPr lang="en-US" sz="1800" dirty="0">
                <a:solidFill>
                  <a:srgbClr val="8FB3A0"/>
                </a:solidFill>
                <a:latin typeface="Courier New" pitchFamily="34" charset="0"/>
                <a:ea typeface="Courier New" pitchFamily="34" charset="-122"/>
                <a:cs typeface="Courier New" pitchFamily="34" charset="-120"/>
              </a:rPr>
              <a:t># 0x0062A023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                      </a:t>
            </a:r>
            <a:pPr indent="0" marL="0">
              <a:buNone/>
            </a:pPr>
            <a:r>
              <a:rPr lang="en-US" sz="1800" dirty="0">
                <a:solidFill>
                  <a:srgbClr val="8FB3A0"/>
                </a:solidFill>
                <a:latin typeface="Courier New" pitchFamily="34" charset="0"/>
                <a:ea typeface="Courier New" pitchFamily="34" charset="-122"/>
                <a:cs typeface="Courier New" pitchFamily="34" charset="-120"/>
              </a:rPr>
              <a:t># 0x00008067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.option pop</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(3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l19_draw: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s0, 0               </a:t>
            </a:r>
            <a:pPr indent="0" marL="0">
              <a:buNone/>
            </a:pPr>
            <a:r>
              <a:rPr lang="en-US" sz="1200" dirty="0">
                <a:solidFill>
                  <a:srgbClr val="8FB3A0"/>
                </a:solidFill>
                <a:latin typeface="Courier New" pitchFamily="34" charset="0"/>
                <a:ea typeface="Courier New" pitchFamily="34" charset="-122"/>
                <a:cs typeface="Courier New" pitchFamily="34" charset="-120"/>
              </a:rPr>
              <a:t># which instruction, 0 to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la   t0, sample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           </a:t>
            </a:r>
            <a:pPr indent="0" marL="0">
              <a:buNone/>
            </a:pPr>
            <a:r>
              <a:rPr lang="en-US" sz="1200" dirty="0">
                <a:solidFill>
                  <a:srgbClr val="8FB3A0"/>
                </a:solidFill>
                <a:latin typeface="Courier New" pitchFamily="34" charset="0"/>
                <a:ea typeface="Courier New" pitchFamily="34" charset="-122"/>
                <a:cs typeface="Courier New" pitchFamily="34" charset="-120"/>
              </a:rPr>
              <a:t># instructions are 4 bytes apart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s1, 0(t0)           </a:t>
            </a:r>
            <a:pPr indent="0" marL="0">
              <a:buNone/>
            </a:pPr>
            <a:r>
              <a:rPr lang="en-US" sz="1200" dirty="0">
                <a:solidFill>
                  <a:srgbClr val="8FB3A0"/>
                </a:solidFill>
                <a:latin typeface="Courier New" pitchFamily="34" charset="0"/>
                <a:ea typeface="Courier New" pitchFamily="34" charset="-122"/>
                <a:cs typeface="Courier New" pitchFamily="34" charset="-120"/>
              </a:rPr>
              <a:t># the instruction, fetched as a datum</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a1, s0, 5</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a1, a1, 30          </a:t>
            </a:r>
            <a:pPr indent="0" marL="0">
              <a:buNone/>
            </a:pPr>
            <a:r>
              <a:rPr lang="en-US" sz="1200" dirty="0">
                <a:solidFill>
                  <a:srgbClr val="8FB3A0"/>
                </a:solidFill>
                <a:latin typeface="Courier New" pitchFamily="34" charset="0"/>
                <a:ea typeface="Courier New" pitchFamily="34" charset="-122"/>
                <a:cs typeface="Courier New" pitchFamily="34" charset="-120"/>
              </a:rPr>
              <a:t># y = 30 + 32 *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expected        </a:t>
            </a:r>
            <a:pPr indent="0" marL="0">
              <a:buNone/>
            </a:pPr>
            <a:r>
              <a:rPr lang="en-US" sz="1200" dirty="0">
                <a:solidFill>
                  <a:srgbClr val="8FB3A0"/>
                </a:solidFill>
                <a:latin typeface="Courier New" pitchFamily="34" charset="0"/>
                <a:ea typeface="Courier New" pitchFamily="34" charset="-122"/>
                <a:cs typeface="Courier New" pitchFamily="34" charset="-120"/>
              </a:rPr>
              <a:t># compare with the encoding worked out by hand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slli t1, s0,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t0, t0, t1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t2, 0(t0)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s1, t2,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li   a0, 306</a:t>
            </a:r>
            <a:endParaRPr lang="en-US" sz="12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(4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slli a1, s0,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a1, a1, 30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s0, s0,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s0,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(5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programma completo: l19.S (6 di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.section .rodata</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expected: .word 0x0002A303, 0x00130313, 0x0062A023, 0x00008067</a:t>
            </a:r>
            <a:endParaRPr lang="en-US" sz="1800" dirty="0"/>
          </a:p>
        </p:txBody>
      </p:sp>
      <p:sp>
        <p:nvSpPr>
          <p:cNvPr id="5" name="Shape 3"/>
          <p:cNvSpPr/>
          <p:nvPr/>
        </p:nvSpPr>
        <p:spPr>
          <a:xfrm>
            <a:off x="7941259" y="91440"/>
            <a:ext cx="3701796" cy="274320"/>
          </a:xfrm>
          <a:prstGeom prst="rect">
            <a:avLst/>
          </a:prstGeom>
          <a:solidFill>
            <a:srgbClr val="FEF3C7"/>
          </a:solidFill>
          <a:ln w="12700">
            <a:solidFill>
              <a:srgbClr val="B45309"/>
            </a:solidFill>
            <a:prstDash val="solid"/>
          </a:ln>
        </p:spPr>
      </p:sp>
      <p:sp>
        <p:nvSpPr>
          <p:cNvPr id="6" name="Shape 4"/>
          <p:cNvSpPr/>
          <p:nvPr/>
        </p:nvSpPr>
        <p:spPr>
          <a:xfrm>
            <a:off x="7941259" y="91440"/>
            <a:ext cx="27432" cy="274320"/>
          </a:xfrm>
          <a:prstGeom prst="rect">
            <a:avLst/>
          </a:prstGeom>
          <a:solidFill>
            <a:srgbClr val="B45309"/>
          </a:solidFill>
          <a:ln w="12700">
            <a:solidFill>
              <a:srgbClr val="B45309"/>
            </a:solidFill>
            <a:prstDash val="solid"/>
          </a:ln>
        </p:spPr>
      </p:sp>
      <p:sp>
        <p:nvSpPr>
          <p:cNvPr id="7" name="Shape 5"/>
          <p:cNvSpPr/>
          <p:nvPr/>
        </p:nvSpPr>
        <p:spPr>
          <a:xfrm>
            <a:off x="7996123"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8069275" y="128016"/>
            <a:ext cx="201168" cy="201168"/>
          </a:xfrm>
          <a:prstGeom prst="rect">
            <a:avLst/>
          </a:prstGeom>
        </p:spPr>
      </p:pic>
      <p:sp>
        <p:nvSpPr>
          <p:cNvPr id="9" name="Text 6"/>
          <p:cNvSpPr txBox="1"/>
          <p:nvPr/>
        </p:nvSpPr>
        <p:spPr>
          <a:xfrm>
            <a:off x="8325307" y="91440"/>
            <a:ext cx="328117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il programma completo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Eseguite: che cosa dovreste vedere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Sullo schermo</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quattro righe di 32 lampade, il codice macchina di lw t1, 0(t0) / addi t1, t1, 1 / sw t1, 0(t0) / ret, e accanto a ciascuna un quadrato verde: la parola in memoria è quella decodificata a mano a lezione.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Che cosa premere</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niente: il programma va da solo</a:t>
            </a:r>
            <a:endParaRPr lang="en-US" sz="2400" dirty="0"/>
          </a:p>
        </p:txBody>
      </p:sp>
      <p:pic>
        <p:nvPicPr>
          <p:cNvPr id="7" name="Image 0" descr="/Users/raffaelemontella/devel/riscv-prg32/computer-architecture-with-prg32/tools/assets/lab_l19.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Il frame scritto dal test automatico su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l19 --out l19.prg32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deve essere in esecuzione: risponde sulla porta 8080, come una scheda</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Si compila una volta, dalla cartella PRG32, con ESP-IDF attivo nel terminale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memorizza la cartuccia nello slot cart0 e la avvia</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Modalità debug, in Settings: fermare il programma, leggere registri e memoria</a:t>
            </a:r>
            <a:endParaRPr lang="en-US" sz="12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l19-qemu.prg32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L'emulatore esegue il firmware vero su un chip emulato: si compila una volta</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cartuccia è compilata per l'architettura qemu: lo stesso sorgente, un altro file</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Si carica la cartuccia con QEMU chiuso, poi lo si avvia e si sceglie Run Cartridge</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 tasti vanno al terminale: frecce o WASD, Z o J per A, X o K per B</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Provatelo sulla scheda</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~/arc12/code/l19.S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l19 --name l19 --architecture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l19-esp32c6.prg32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l19-esp32c6.prg32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Il firmware si scrive una volta per scheda, attraverso il cavo USB</a:t>
            </a:r>
            <a:endParaRPr lang="en-US" sz="11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La scheda crea la rete Wi-Fi PRG32: collegatevi con il vostro computer</a:t>
            </a:r>
            <a:endParaRPr lang="en-US" sz="11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Lo stesso comando di caricamento di PRG32-QT, con l'indirizzo della scheda</a:t>
            </a:r>
            <a:endParaRPr lang="en-US" sz="11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100" dirty="0">
                <a:solidFill>
                  <a:srgbClr val="1B2530"/>
                </a:solidFill>
                <a:latin typeface="Calibri" pitchFamily="34" charset="0"/>
                <a:ea typeface="Calibri" pitchFamily="34" charset="-122"/>
                <a:cs typeface="Calibri" pitchFamily="34" charset="-120"/>
              </a:rPr>
              <a:t>Schermo nero: confrontate il cablaggio del display con il firmware</a:t>
            </a:r>
            <a:endParaRPr lang="en-US" sz="1100" dirty="0"/>
          </a:p>
        </p:txBody>
      </p:sp>
      <p:sp>
        <p:nvSpPr>
          <p:cNvPr id="17" name="Shape 15"/>
          <p:cNvSpPr/>
          <p:nvPr/>
        </p:nvSpPr>
        <p:spPr>
          <a:xfrm>
            <a:off x="7875600" y="91440"/>
            <a:ext cx="3767455" cy="274320"/>
          </a:xfrm>
          <a:prstGeom prst="rect">
            <a:avLst/>
          </a:prstGeom>
          <a:solidFill>
            <a:srgbClr val="FEF3C7"/>
          </a:solidFill>
          <a:ln w="12700">
            <a:solidFill>
              <a:srgbClr val="B45309"/>
            </a:solidFill>
            <a:prstDash val="solid"/>
          </a:ln>
        </p:spPr>
      </p:sp>
      <p:sp>
        <p:nvSpPr>
          <p:cNvPr id="18" name="Shape 16"/>
          <p:cNvSpPr/>
          <p:nvPr/>
        </p:nvSpPr>
        <p:spPr>
          <a:xfrm>
            <a:off x="7875600" y="91440"/>
            <a:ext cx="27432" cy="274320"/>
          </a:xfrm>
          <a:prstGeom prst="rect">
            <a:avLst/>
          </a:prstGeom>
          <a:solidFill>
            <a:srgbClr val="B45309"/>
          </a:solidFill>
          <a:ln w="12700">
            <a:solidFill>
              <a:srgbClr val="B45309"/>
            </a:solidFill>
            <a:prstDash val="solid"/>
          </a:ln>
        </p:spPr>
      </p:sp>
      <p:sp>
        <p:nvSpPr>
          <p:cNvPr id="19" name="Shape 17"/>
          <p:cNvSpPr/>
          <p:nvPr/>
        </p:nvSpPr>
        <p:spPr>
          <a:xfrm>
            <a:off x="7930464"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21" name="Text 18"/>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 non funziona</a:t>
            </a:r>
            <a:endParaRPr lang="en-US" sz="3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Vedete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Significa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Fate così</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manca un punto di ingresso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prefisso non è quello del sorgente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l19; controllate le tre righe .global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non è attivo in questo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eseguite export.sh, o aprite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l'host non ascolta a quell'indirizzo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avviate PRG32-QT; usate l'indirizzo della sua schermata Setup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schermo nero, o di nuovo il menu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funzione non ritorna, o ra non è stato salvato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modalità debug: passo-passo in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ignora i tasti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la tastiera va al terminale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fate clic sul terminale che ha lanciato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75600" y="91440"/>
            <a:ext cx="3767455" cy="274320"/>
          </a:xfrm>
          <a:prstGeom prst="rect">
            <a:avLst/>
          </a:prstGeom>
          <a:solidFill>
            <a:srgbClr val="FEF3C7"/>
          </a:solidFill>
          <a:ln w="12700">
            <a:solidFill>
              <a:srgbClr val="B45309"/>
            </a:solidFill>
            <a:prstDash val="solid"/>
          </a:ln>
        </p:spPr>
      </p:sp>
      <p:sp>
        <p:nvSpPr>
          <p:cNvPr id="5" name="Shape 2"/>
          <p:cNvSpPr/>
          <p:nvPr/>
        </p:nvSpPr>
        <p:spPr>
          <a:xfrm>
            <a:off x="7875600" y="91440"/>
            <a:ext cx="27432" cy="274320"/>
          </a:xfrm>
          <a:prstGeom prst="rect">
            <a:avLst/>
          </a:prstGeom>
          <a:solidFill>
            <a:srgbClr val="B45309"/>
          </a:solidFill>
          <a:ln w="12700">
            <a:solidFill>
              <a:srgbClr val="B45309"/>
            </a:solidFill>
            <a:prstDash val="solid"/>
          </a:ln>
        </p:spPr>
      </p:sp>
      <p:sp>
        <p:nvSpPr>
          <p:cNvPr id="6" name="Shape 3"/>
          <p:cNvSpPr/>
          <p:nvPr/>
        </p:nvSpPr>
        <p:spPr>
          <a:xfrm>
            <a:off x="7930464"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8003616" y="128016"/>
            <a:ext cx="201168" cy="201168"/>
          </a:xfrm>
          <a:prstGeom prst="rect">
            <a:avLst/>
          </a:prstGeom>
        </p:spPr>
      </p:pic>
      <p:sp>
        <p:nvSpPr>
          <p:cNvPr id="8" name="Text 4"/>
          <p:cNvSpPr txBox="1"/>
          <p:nvPr/>
        </p:nvSpPr>
        <p:spPr>
          <a:xfrm>
            <a:off x="8259648" y="91440"/>
            <a:ext cx="3346831"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pPr indent="0" marL="0">
              <a:buNone/>
            </a:pPr>
            <a:r>
              <a:rPr lang="en-US" sz="1100" dirty="0">
                <a:solidFill>
                  <a:srgbClr val="92400E"/>
                </a:solidFill>
                <a:latin typeface="Calibri" pitchFamily="34" charset="0"/>
                <a:ea typeface="Calibri" pitchFamily="34" charset="-122"/>
                <a:cs typeface="Calibri" pitchFamily="34" charset="-120"/>
              </a:rPr>
              <a:t> · gli strumenti di PRG32</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Esercizi: prima su carta, poi su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PROVA TU</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Decodificate a mano 0x00A28293 e 0x40628333: formato, campi, assembly</a:t>
            </a:r>
            <a:endParaRPr lang="en-US" sz="2000" dirty="0"/>
          </a:p>
        </p:txBody>
      </p:sp>
      <p:sp>
        <p:nvSpPr>
          <p:cNvPr id="6" name="Text 4"/>
          <p:cNvSpPr txBox="1"/>
          <p:nvPr/>
        </p:nvSpPr>
        <p:spPr>
          <a:xfrm>
            <a:off x="548640" y="20589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040636"/>
            <a:ext cx="10436047" cy="438912"/>
          </a:xfrm>
          <a:prstGeom prst="rect">
            <a:avLst/>
          </a:prstGeom>
          <a:noFill/>
          <a:ln/>
        </p:spPr>
        <p:txBody>
          <a:bodyPr wrap="square" lIns="0" tIns="0" rIns="0" bIns="0" rtlCol="0" anchor="ctr"/>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Codificate sub t0, t1, t2 e sw a0, 8(sp)</a:t>
            </a:r>
            <a:endParaRPr lang="en-US" sz="2000" dirty="0"/>
          </a:p>
        </p:txBody>
      </p:sp>
      <p:sp>
        <p:nvSpPr>
          <p:cNvPr id="8" name="Text 6"/>
          <p:cNvSpPr txBox="1"/>
          <p:nvPr/>
        </p:nvSpPr>
        <p:spPr>
          <a:xfrm>
            <a:off x="548640" y="268224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663952"/>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Scrivete i trasferimenti tra registri dell'intero ciclo per sw t1, 0(t0) e per beq t0, t1, target</a:t>
            </a:r>
            <a:endParaRPr lang="en-US" sz="2000" dirty="0"/>
          </a:p>
        </p:txBody>
      </p:sp>
      <p:sp>
        <p:nvSpPr>
          <p:cNvPr id="10" name="Text 8"/>
          <p:cNvSpPr txBox="1"/>
          <p:nvPr/>
        </p:nvSpPr>
        <p:spPr>
          <a:xfrm>
            <a:off x="548640" y="34864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468116"/>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Disegnate il diagramma della pipeline per sei istruzioni su una pipeline a quattro stadi: quando termina la sesta?</a:t>
            </a:r>
            <a:endParaRPr lang="en-US" sz="2000" dirty="0"/>
          </a:p>
        </p:txBody>
      </p:sp>
      <p:sp>
        <p:nvSpPr>
          <p:cNvPr id="12" name="Text 10"/>
          <p:cNvSpPr txBox="1"/>
          <p:nvPr/>
        </p:nvSpPr>
        <p:spPr>
          <a:xfrm>
            <a:off x="548640" y="42905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272280"/>
            <a:ext cx="10436047"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In PRG32-QT mettete un breakpoint in first_update, avanzate di un passo, e confrontate il codice macchina mostrato con la vostra decodifica del riscaldamento</a:t>
            </a:r>
            <a:endParaRPr lang="en-US" sz="20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Risultato atteso</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Su carta: addi t0, t0, 10 e sub t1, t0, t1. Su PRG32-QT: le quattro parole del riscaldamento, o i loro equivalenti compressi.</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Istruzioni e interruzioni: il codice</dc:title>
  <dc:subject>Lezione 19</dc:subject>
  <dc:creator>Raffaele Montella</dc:creator>
  <cp:lastModifiedBy>Raffaele Montella</cp:lastModifiedBy>
  <cp:revision>1</cp:revision>
  <dcterms:created xsi:type="dcterms:W3CDTF">2026-10-17T07:16:50Z</dcterms:created>
  <dcterms:modified xsi:type="dcterms:W3CDTF">2026-10-17T07:16:50Z</dcterms:modified>
</cp:coreProperties>
</file>