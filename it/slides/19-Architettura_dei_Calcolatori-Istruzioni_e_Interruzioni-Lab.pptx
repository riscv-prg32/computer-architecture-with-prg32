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5c59bc0b-a7a3-9d0a-5460-12788882490e}">
          <p14:sldIdLst>
            <p14:sldId id="256"/>
            <p14:sldId id="257"/>
          </p14:sldIdLst>
        </p14:section>
        <p14:section name="Riscaldamento sulla macchina" id="{51f78b9d-a709-5ed1-cb9b-421a13b8b527}">
          <p14:sldIdLst>
            <p14:sldId id="258"/>
          </p14:sldIdLst>
        </p14:section>
        <p14:section name="Istruzioni" id="{ae0b8d1d-7226-ed32-4a29-40aaa66db646}">
          <p14:sldIdLst>
            <p14:sldId id="259"/>
          </p14:sldIdLst>
        </p14:section>
        <p14:section name="Il ciclo del processore" id="{8c659fde-5fc5-5401-6919-0467495ac334}">
          <p14:sldIdLst>
            <p14:sldId id="260"/>
            <p14:sldId id="261"/>
          </p14:sldIdLst>
        </p14:section>
        <p14:section name="La soluzione di RISC-V" id="{1e02e16c-18a9-5f8f-d452-b67404bbbc18}">
          <p14:sldIdLst>
            <p14:sldId id="262"/>
          </p14:sldIdLst>
        </p14:section>
        <p14:section name="Il programma completo" id="{c1544408-a4f8-b3b3-1032-25f2077e7064}">
          <p14:sldIdLst>
            <p14:sldId id="263"/>
            <p14:sldId id="264"/>
            <p14:sldId id="265"/>
            <p14:sldId id="266"/>
            <p14:sldId id="267"/>
            <p14:sldId id="268"/>
          </p14:sldIdLst>
        </p14:section>
        <p14:section name="Eseguire e provare" id="{3195783d-168d-d038-65a1-6544e4ef02f7}">
          <p14:sldIdLst>
            <p14:sldId id="269"/>
            <p14:sldId id="270"/>
            <p14:sldId id="271"/>
            <p14:sldId id="272"/>
            <p14:sldId id="273"/>
          </p14:sldIdLst>
        </p14:section>
        <p14:section name="Esercizi" id="{493984a4-a7ed-7d88-70c1-39d345b3264e}">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19.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formati delle istruzioni; i modi di indirizzamento; il ciclo del processore; interruzioni e trap. DA UTILIZZARE OGGI: il programma completo, gli strumenti di PRG32 (si usa, non si studia, in questo corso). DA COMPRENDERE PIÙ AVANTI: niente.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~/arc12/code/l19.S; tools/tests/cartridges/run.py lo compila, lo esegue su PRG32-QT con ingressi programmati e controlla i pixel del frame.
Per il docente: Procurarsi il codice una volta: git clone https://github.com/riscv-prg32/computer-architecture-with-prg32 ~/arc12. Il programma di questa lezione è ~/arc12/code/l19.S;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quattro parole di memoria, a quattro indirizzi di distanza l'una dall'altra, che insieme costituiscono first_update, la funzione della Lezione 02 che incrementa un contatore. A sinistra ci sono gli indirizzi, al centro il codice macchina, a destra il sorgente così come è stato scritto. Il processore possiede solo la colonna centrale. Tre domande organizzano la lezione. Come fa a sapere che la prima parola è un caricamento e la seconda un'addizione? Quali passi compie per eseguire ciascuna? E mentre le esegue, come si accorge che è stato premuto un pulsante o che un timer è scaduto?
DA COMPRENDERE OGGI: formati delle istruzioni.
Per il docente: La la che precede queste istruzioni è omessa, e le codifiche sono quelle non compresse a 32 bit: con l'estensione C l'assemblatore può scegliere per alcune le forme a 16 bit. Gli indirizzi sono relativi all'inizio della funzione.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istruzioni decodificate a mano. Le otto cifre esadecimali si scrivono in binario; si separano per primi gli ultimi sette bit, l'opcode, perché determinano il formato; poi si separano di conseguenza i campi restanti. Per 0x006283B3 l'opcode indica un'operazione tra registri, i campi danno x7, x5 e x6, e funct3 con funct7 selezionano l'addizione: add t2, t0, t1. Per 0x0002A303 l'opcode indica un caricamento, l'immediato è 0, la base x5 e la destinazione x6: lw t1, 0(t0). L'esercizio va fatto una volta con carta e matita; è l'inverso del lavoro dell'assemblatore.
DA COMPRENDERE OGGI: formati delle istruzioni.
Per il docente: Metodo: scrivere in binario le otto cifre esadecimali, staccare gli ultimi sette bit (l'opcode), cercare il formato, poi tagliare i campi. I decodificatori della Lezione 11 fanno la stessa cosa in una frazione di nanosecondo.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di prelievo espressa come quattro trasferimenti tra registri, usando i registri del modello di riferimento della Lezione 18. Il contenuto del PC va in MA, il registro indirizzo di memoria. La memoria viene letta, e la parola arriva in MB, il registro buffer. La parola viene copiata in D, il registro di decodifica. Il PC viene incrementato di 4, perché un'istruzione occupa quattro byte, così che punti all'istruzione successiva. Ogni riga è un trasferimento sul bus interno, comandato dall'unità di controllo.
DA COMPRENDERE OGGI: il ciclo del processore.
Per il docente: Fase fetch. PC, D, MA e MB sono i registri del modello di riferimento della Lezione 18; i trasferimenti viaggiano sul bus interno. Nella presentazione originale la macchina aveva parole di 16 bit e il PC avanzava di 2; in RV32 una parola è di quattro byte, quindi il PC avanza di 4 (di 2 dopo un'istruzione compressa).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restanti quattro fasi, affiancate per due istruzioni. Per add la decodifica legge i due registri nei registri operando della ALU, l'esecuzione li somma, la fase di memoria si salta, e la somma si scrive in t2. Per lw il secondo operando è l'immediato, la somma è un indirizzo, la fase di memoria legge la parola a quell'indirizzo, e la parola letta si scrive in t1. Lo stesso sommatore serve entrambe le istruzioni; cambiano solo i comandi emessi dall'unità di controllo. L'economia del percorso dei dati poggia su questa condivisione.
DA COMPRENDERE OGGI: il ciclo del processore.
Per il docente: O1, O2 e U sono i registri della ALU. Lo stesso sommatore calcola una somma per add e un indirizzo per lw: cambiano solo i segnali di controllo. Uno store finisce alla fase di memoria; un salto condizionato finisce all'esecuzione, scegliendo il prossimo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gestore di trap a grandi linee. Riserva spazio sullo stack e salva i registri che userà, la parte software del contesto. Legge mcause con csrr e ne verifica il segno: il bit più alto è il bit di segno, quindi bgez separa le eccezioni dalle interruzioni in una sola istruzione. Dopo aver servito l'evento ripristina i registri, rilascia lo stack ed esegue mret. Il programma interrotto non deve osservare nulla: un solo registro lasciato modificato qui produce un errore che compare a caso, dovunque, il che rende irrinunciabile la disciplina del salvataggio del contesto. Un gestore reale salva tutti i registri salvati dal chiamante, di solito su uno stack separato raggiunto attraverso mscratch.
DA COMPRENDERE OGGI: interruzioni e trap.
Per il docente: Uno schema, non il sorgente di PRG32: un gestore vero salva tutti i registri caller-saved, di solito su uno stack separato raggiunto tramite mscratch. csrr t0, mcause è la pseudo-istruzione per csrrs t0, mcause,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code/l19.S,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Decodificare a mano due parole, dando formato, campi e assembly. Codificare sub t0, t1, t2 e sw a0, 8(sp), seguendo il percorso inverso. Scrivere i trasferimenti tra registri dell'intero ciclo per una memorizzazione e per un salto. Disegnare il diagramma della pipeline di sei istruzioni su quattro stadi e stabilire in quale ciclo si completa la sesta. E in PRG32-QT, fermarsi in first_update, eseguire passo-passo e confrontare il codice macchina mostrato con la propria decodifica del riscaldamento.
Per il docente: 0x00A28293: imm 10, rs1 x5, funct3 000, rd x5, opcode 0010011. 0x40628333: funct7 0100000, rs2 x6, rs1 x5, funct3 000, rd x6, opcode 0110011. sub t0, t1, t2 = 0x407302B3. sw a0, 8(sp) = 0x00A12423. Sei istruzioni su quattro stadi terminano al ciclo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19: Istruzioni e interruzioni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Istruzioni e interruzioni: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19-Architettura_dei_Calcolatori-Istruzioni_e_Interruzioni.pptx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2 listati della Lezione 19,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code/l19.S, 112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parole in memoria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indirizzo   codice macchina  che cosa avete scritto</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0x000       0x0002A303       lw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0x004       0x00130313       addi t1, t1, 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0x008       0x0062A023       sw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0x00C       0x00008067       ret</a:t>
            </a:r>
            <a:endParaRPr lang="en-US" sz="17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È first_update della Lezione 02 così come sta in memoria: quattro numeri, a quattro indirizzi di distanza</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Come fa il processore a sapere che il primo è un caricamento e il secondo una somma?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Quali passi compie per ciascuno?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 mentre li esegue, come si accorge che è stato premuto un pulsante o che è scaduto un timer?</a:t>
            </a:r>
            <a:endParaRPr lang="en-US" sz="1200" dirty="0"/>
          </a:p>
        </p:txBody>
      </p:sp>
      <p:sp>
        <p:nvSpPr>
          <p:cNvPr id="17" name="Shape 15"/>
          <p:cNvSpPr/>
          <p:nvPr/>
        </p:nvSpPr>
        <p:spPr>
          <a:xfrm>
            <a:off x="7657668" y="91440"/>
            <a:ext cx="3985387" cy="274320"/>
          </a:xfrm>
          <a:prstGeom prst="rect">
            <a:avLst/>
          </a:prstGeom>
          <a:solidFill>
            <a:srgbClr val="E0F2FE"/>
          </a:solidFill>
          <a:ln w="12700">
            <a:solidFill>
              <a:srgbClr val="0369A1"/>
            </a:solidFill>
            <a:prstDash val="solid"/>
          </a:ln>
        </p:spPr>
      </p:sp>
      <p:sp>
        <p:nvSpPr>
          <p:cNvPr id="18" name="Shape 16"/>
          <p:cNvSpPr/>
          <p:nvPr/>
        </p:nvSpPr>
        <p:spPr>
          <a:xfrm>
            <a:off x="765766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20" name="Text 17"/>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formati delle istruzioni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Decodifica a mano</a:t>
            </a:r>
            <a:endParaRPr lang="en-US" sz="3200" dirty="0"/>
          </a:p>
        </p:txBody>
      </p:sp>
      <p:sp>
        <p:nvSpPr>
          <p:cNvPr id="3" name="Text 1"/>
          <p:cNvSpPr txBox="1"/>
          <p:nvPr/>
        </p:nvSpPr>
        <p:spPr>
          <a:xfrm>
            <a:off x="548640" y="132588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0x006283B3</a:t>
            </a:r>
            <a:endParaRPr lang="en-US" sz="2200" dirty="0"/>
          </a:p>
        </p:txBody>
      </p:sp>
      <p:sp>
        <p:nvSpPr>
          <p:cNvPr id="4" name="Text 2"/>
          <p:cNvSpPr txBox="1"/>
          <p:nvPr/>
        </p:nvSpPr>
        <p:spPr>
          <a:xfrm>
            <a:off x="8229600" y="132588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add t2, t0, t1</a:t>
            </a:r>
            <a:endParaRPr lang="en-US" sz="2200" dirty="0"/>
          </a:p>
        </p:txBody>
      </p:sp>
      <p:sp>
        <p:nvSpPr>
          <p:cNvPr id="5" name="Text 3"/>
          <p:cNvSpPr txBox="1"/>
          <p:nvPr/>
        </p:nvSpPr>
        <p:spPr>
          <a:xfrm>
            <a:off x="548640" y="2194560"/>
            <a:ext cx="2394823"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a:t>
            </a:r>
            <a:endParaRPr lang="en-US" sz="1600" dirty="0"/>
          </a:p>
        </p:txBody>
      </p:sp>
      <p:sp>
        <p:nvSpPr>
          <p:cNvPr id="6" name="Text 4"/>
          <p:cNvSpPr txBox="1"/>
          <p:nvPr/>
        </p:nvSpPr>
        <p:spPr>
          <a:xfrm>
            <a:off x="548640"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funct7</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 non sub</a:t>
            </a:r>
            <a:endParaRPr lang="en-US" sz="1300" dirty="0"/>
          </a:p>
        </p:txBody>
      </p:sp>
      <p:sp>
        <p:nvSpPr>
          <p:cNvPr id="7" name="Text 5"/>
          <p:cNvSpPr txBox="1"/>
          <p:nvPr/>
        </p:nvSpPr>
        <p:spPr>
          <a:xfrm>
            <a:off x="585216"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8" name="Text 6"/>
          <p:cNvSpPr txBox="1"/>
          <p:nvPr/>
        </p:nvSpPr>
        <p:spPr>
          <a:xfrm>
            <a:off x="1746051"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9" name="Text 7"/>
          <p:cNvSpPr txBox="1"/>
          <p:nvPr/>
        </p:nvSpPr>
        <p:spPr>
          <a:xfrm>
            <a:off x="2943463"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0" name="Text 8"/>
          <p:cNvSpPr txBox="1"/>
          <p:nvPr/>
        </p:nvSpPr>
        <p:spPr>
          <a:xfrm>
            <a:off x="2943463"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rs2</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11" name="Text 9"/>
          <p:cNvSpPr txBox="1"/>
          <p:nvPr/>
        </p:nvSpPr>
        <p:spPr>
          <a:xfrm>
            <a:off x="2980039"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12" name="Text 10"/>
          <p:cNvSpPr txBox="1"/>
          <p:nvPr/>
        </p:nvSpPr>
        <p:spPr>
          <a:xfrm>
            <a:off x="3798757"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3" name="Text 11"/>
          <p:cNvSpPr txBox="1"/>
          <p:nvPr/>
        </p:nvSpPr>
        <p:spPr>
          <a:xfrm>
            <a:off x="4654050"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14" name="Text 12"/>
          <p:cNvSpPr txBox="1"/>
          <p:nvPr/>
        </p:nvSpPr>
        <p:spPr>
          <a:xfrm>
            <a:off x="4654050"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15" name="Text 13"/>
          <p:cNvSpPr txBox="1"/>
          <p:nvPr/>
        </p:nvSpPr>
        <p:spPr>
          <a:xfrm>
            <a:off x="4690626"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6" name="Text 14"/>
          <p:cNvSpPr txBox="1"/>
          <p:nvPr/>
        </p:nvSpPr>
        <p:spPr>
          <a:xfrm>
            <a:off x="5509344"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7" name="Text 15"/>
          <p:cNvSpPr txBox="1"/>
          <p:nvPr/>
        </p:nvSpPr>
        <p:spPr>
          <a:xfrm>
            <a:off x="6364638" y="219456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8" name="Text 16"/>
          <p:cNvSpPr txBox="1"/>
          <p:nvPr/>
        </p:nvSpPr>
        <p:spPr>
          <a:xfrm>
            <a:off x="6364638" y="279806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9" name="Text 17"/>
          <p:cNvSpPr txBox="1"/>
          <p:nvPr/>
        </p:nvSpPr>
        <p:spPr>
          <a:xfrm>
            <a:off x="6401214" y="195681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20" name="Text 18"/>
          <p:cNvSpPr txBox="1"/>
          <p:nvPr/>
        </p:nvSpPr>
        <p:spPr>
          <a:xfrm>
            <a:off x="6951141" y="195681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21" name="Text 19"/>
          <p:cNvSpPr txBox="1"/>
          <p:nvPr/>
        </p:nvSpPr>
        <p:spPr>
          <a:xfrm>
            <a:off x="7537645" y="219456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00111</a:t>
            </a:r>
            <a:endParaRPr lang="en-US" sz="1600" dirty="0"/>
          </a:p>
        </p:txBody>
      </p:sp>
      <p:sp>
        <p:nvSpPr>
          <p:cNvPr id="22" name="Text 20"/>
          <p:cNvSpPr txBox="1"/>
          <p:nvPr/>
        </p:nvSpPr>
        <p:spPr>
          <a:xfrm>
            <a:off x="7537645"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x7 = t2</a:t>
            </a:r>
            <a:endParaRPr lang="en-US" sz="1300" dirty="0"/>
          </a:p>
        </p:txBody>
      </p:sp>
      <p:sp>
        <p:nvSpPr>
          <p:cNvPr id="23" name="Text 21"/>
          <p:cNvSpPr txBox="1"/>
          <p:nvPr/>
        </p:nvSpPr>
        <p:spPr>
          <a:xfrm>
            <a:off x="7574221"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24" name="Text 22"/>
          <p:cNvSpPr txBox="1"/>
          <p:nvPr/>
        </p:nvSpPr>
        <p:spPr>
          <a:xfrm>
            <a:off x="8392939"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5" name="Text 23"/>
          <p:cNvSpPr txBox="1"/>
          <p:nvPr/>
        </p:nvSpPr>
        <p:spPr>
          <a:xfrm>
            <a:off x="9248232" y="219456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0110011</a:t>
            </a:r>
            <a:endParaRPr lang="en-US" sz="1600" dirty="0"/>
          </a:p>
        </p:txBody>
      </p:sp>
      <p:sp>
        <p:nvSpPr>
          <p:cNvPr id="26" name="Text 24"/>
          <p:cNvSpPr txBox="1"/>
          <p:nvPr/>
        </p:nvSpPr>
        <p:spPr>
          <a:xfrm>
            <a:off x="9248232"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registro-registro</a:t>
            </a:r>
            <a:endParaRPr lang="en-US" sz="1300" dirty="0"/>
          </a:p>
        </p:txBody>
      </p:sp>
      <p:sp>
        <p:nvSpPr>
          <p:cNvPr id="27" name="Text 25"/>
          <p:cNvSpPr txBox="1"/>
          <p:nvPr/>
        </p:nvSpPr>
        <p:spPr>
          <a:xfrm>
            <a:off x="9284808"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10445644"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9" name="Text 27"/>
          <p:cNvSpPr txBox="1"/>
          <p:nvPr/>
        </p:nvSpPr>
        <p:spPr>
          <a:xfrm>
            <a:off x="548640" y="379476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0x0002A303</a:t>
            </a:r>
            <a:endParaRPr lang="en-US" sz="2200" dirty="0"/>
          </a:p>
        </p:txBody>
      </p:sp>
      <p:sp>
        <p:nvSpPr>
          <p:cNvPr id="30" name="Text 28"/>
          <p:cNvSpPr txBox="1"/>
          <p:nvPr/>
        </p:nvSpPr>
        <p:spPr>
          <a:xfrm>
            <a:off x="8229600" y="379476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lw t1, 0(t0)</a:t>
            </a:r>
            <a:endParaRPr lang="en-US" sz="2200" dirty="0"/>
          </a:p>
        </p:txBody>
      </p:sp>
      <p:sp>
        <p:nvSpPr>
          <p:cNvPr id="31" name="Text 29"/>
          <p:cNvSpPr txBox="1"/>
          <p:nvPr/>
        </p:nvSpPr>
        <p:spPr>
          <a:xfrm>
            <a:off x="548640" y="4663440"/>
            <a:ext cx="4105410" cy="54864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000000000000</a:t>
            </a:r>
            <a:endParaRPr lang="en-US" sz="1600" dirty="0"/>
          </a:p>
        </p:txBody>
      </p:sp>
      <p:sp>
        <p:nvSpPr>
          <p:cNvPr id="32" name="Text 30"/>
          <p:cNvSpPr txBox="1"/>
          <p:nvPr/>
        </p:nvSpPr>
        <p:spPr>
          <a:xfrm>
            <a:off x="548640" y="5266944"/>
            <a:ext cx="4105410"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immediato</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scostamento 0</a:t>
            </a:r>
            <a:endParaRPr lang="en-US" sz="1300" dirty="0"/>
          </a:p>
        </p:txBody>
      </p:sp>
      <p:sp>
        <p:nvSpPr>
          <p:cNvPr id="33" name="Text 31"/>
          <p:cNvSpPr txBox="1"/>
          <p:nvPr/>
        </p:nvSpPr>
        <p:spPr>
          <a:xfrm>
            <a:off x="585216" y="4425696"/>
            <a:ext cx="205270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34" name="Text 32"/>
          <p:cNvSpPr txBox="1"/>
          <p:nvPr/>
        </p:nvSpPr>
        <p:spPr>
          <a:xfrm>
            <a:off x="2601345" y="4425696"/>
            <a:ext cx="201612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35" name="Text 33"/>
          <p:cNvSpPr txBox="1"/>
          <p:nvPr/>
        </p:nvSpPr>
        <p:spPr>
          <a:xfrm>
            <a:off x="4654050" y="466344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36" name="Text 34"/>
          <p:cNvSpPr txBox="1"/>
          <p:nvPr/>
        </p:nvSpPr>
        <p:spPr>
          <a:xfrm>
            <a:off x="4654050"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37" name="Text 35"/>
          <p:cNvSpPr txBox="1"/>
          <p:nvPr/>
        </p:nvSpPr>
        <p:spPr>
          <a:xfrm>
            <a:off x="4690626"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38" name="Text 36"/>
          <p:cNvSpPr txBox="1"/>
          <p:nvPr/>
        </p:nvSpPr>
        <p:spPr>
          <a:xfrm>
            <a:off x="5509344"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39" name="Text 37"/>
          <p:cNvSpPr txBox="1"/>
          <p:nvPr/>
        </p:nvSpPr>
        <p:spPr>
          <a:xfrm>
            <a:off x="6364638" y="466344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010</a:t>
            </a:r>
            <a:endParaRPr lang="en-US" sz="1600" dirty="0"/>
          </a:p>
        </p:txBody>
      </p:sp>
      <p:sp>
        <p:nvSpPr>
          <p:cNvPr id="40" name="Text 38"/>
          <p:cNvSpPr txBox="1"/>
          <p:nvPr/>
        </p:nvSpPr>
        <p:spPr>
          <a:xfrm>
            <a:off x="6364638" y="526694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una parola</a:t>
            </a:r>
            <a:endParaRPr lang="en-US" sz="1300" dirty="0"/>
          </a:p>
        </p:txBody>
      </p:sp>
      <p:sp>
        <p:nvSpPr>
          <p:cNvPr id="41" name="Text 39"/>
          <p:cNvSpPr txBox="1"/>
          <p:nvPr/>
        </p:nvSpPr>
        <p:spPr>
          <a:xfrm>
            <a:off x="6401214" y="442569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42" name="Text 40"/>
          <p:cNvSpPr txBox="1"/>
          <p:nvPr/>
        </p:nvSpPr>
        <p:spPr>
          <a:xfrm>
            <a:off x="6951141" y="442569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43" name="Text 41"/>
          <p:cNvSpPr txBox="1"/>
          <p:nvPr/>
        </p:nvSpPr>
        <p:spPr>
          <a:xfrm>
            <a:off x="7537645" y="466344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44" name="Text 42"/>
          <p:cNvSpPr txBox="1"/>
          <p:nvPr/>
        </p:nvSpPr>
        <p:spPr>
          <a:xfrm>
            <a:off x="7537645"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45" name="Text 43"/>
          <p:cNvSpPr txBox="1"/>
          <p:nvPr/>
        </p:nvSpPr>
        <p:spPr>
          <a:xfrm>
            <a:off x="7574221"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46" name="Text 44"/>
          <p:cNvSpPr txBox="1"/>
          <p:nvPr/>
        </p:nvSpPr>
        <p:spPr>
          <a:xfrm>
            <a:off x="8392939"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47" name="Text 45"/>
          <p:cNvSpPr txBox="1"/>
          <p:nvPr/>
        </p:nvSpPr>
        <p:spPr>
          <a:xfrm>
            <a:off x="9248232" y="466344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0000011</a:t>
            </a:r>
            <a:endParaRPr lang="en-US" sz="1600" dirty="0"/>
          </a:p>
        </p:txBody>
      </p:sp>
      <p:sp>
        <p:nvSpPr>
          <p:cNvPr id="48" name="Text 46"/>
          <p:cNvSpPr txBox="1"/>
          <p:nvPr/>
        </p:nvSpPr>
        <p:spPr>
          <a:xfrm>
            <a:off x="9248232" y="526694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load</a:t>
            </a:r>
            <a:endParaRPr lang="en-US" sz="1300" dirty="0"/>
          </a:p>
        </p:txBody>
      </p:sp>
      <p:sp>
        <p:nvSpPr>
          <p:cNvPr id="49" name="Text 47"/>
          <p:cNvSpPr txBox="1"/>
          <p:nvPr/>
        </p:nvSpPr>
        <p:spPr>
          <a:xfrm>
            <a:off x="9284808" y="442569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50" name="Text 48"/>
          <p:cNvSpPr txBox="1"/>
          <p:nvPr/>
        </p:nvSpPr>
        <p:spPr>
          <a:xfrm>
            <a:off x="10445644" y="442569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51" name="Shape 49"/>
          <p:cNvSpPr/>
          <p:nvPr/>
        </p:nvSpPr>
        <p:spPr>
          <a:xfrm>
            <a:off x="7657668" y="91440"/>
            <a:ext cx="3985387" cy="274320"/>
          </a:xfrm>
          <a:prstGeom prst="rect">
            <a:avLst/>
          </a:prstGeom>
          <a:solidFill>
            <a:srgbClr val="E0F2FE"/>
          </a:solidFill>
          <a:ln w="12700">
            <a:solidFill>
              <a:srgbClr val="0369A1"/>
            </a:solidFill>
            <a:prstDash val="solid"/>
          </a:ln>
        </p:spPr>
      </p:sp>
      <p:sp>
        <p:nvSpPr>
          <p:cNvPr id="52" name="Shape 50"/>
          <p:cNvSpPr/>
          <p:nvPr/>
        </p:nvSpPr>
        <p:spPr>
          <a:xfrm>
            <a:off x="7657668" y="91440"/>
            <a:ext cx="73152" cy="274320"/>
          </a:xfrm>
          <a:prstGeom prst="rect">
            <a:avLst/>
          </a:prstGeom>
          <a:solidFill>
            <a:srgbClr val="0369A1"/>
          </a:solidFill>
          <a:ln w="12700">
            <a:solidFill>
              <a:srgbClr val="0369A1"/>
            </a:solidFill>
            <a:prstDash val="solid"/>
          </a:ln>
        </p:spPr>
      </p:sp>
      <p:pic>
        <p:nvPicPr>
          <p:cNvPr id="53"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54" name="Text 51"/>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formati delle istruzioni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fase di prelievo, trasferimento per trasferimento</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3273762"/>
                <a:gridCol w="70022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Passo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Trasferimento tra registri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Significato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 := 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l'indirizzo dell'istruzione va nel registro degli indirizzi di memoria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abilita lettura; MB := M[MA]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la memoria mette l'istruzione sul bus dati; viene catturata nel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MB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l'istruzione viene copiata nel registro di decodifica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PC := PC + 4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PC ora punta all'istruzione successiva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723327" y="91440"/>
            <a:ext cx="3919728" cy="274320"/>
          </a:xfrm>
          <a:prstGeom prst="rect">
            <a:avLst/>
          </a:prstGeom>
          <a:solidFill>
            <a:srgbClr val="E0F2FE"/>
          </a:solidFill>
          <a:ln w="12700">
            <a:solidFill>
              <a:srgbClr val="0369A1"/>
            </a:solidFill>
            <a:prstDash val="solid"/>
          </a:ln>
        </p:spPr>
      </p:sp>
      <p:sp>
        <p:nvSpPr>
          <p:cNvPr id="5" name="Shape 2"/>
          <p:cNvSpPr/>
          <p:nvPr/>
        </p:nvSpPr>
        <p:spPr>
          <a:xfrm>
            <a:off x="7723327"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7" name="Text 3"/>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ciclo del processore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resto del ciclo per due istruzioni</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4365016"/>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Fase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add t2, t0, 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lw t1, 0(t0)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decodifica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R[t1]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0  (l'immediato)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esecuzione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  (un indirizzo)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MA := U;  abilita lettura;  MB := M[MA]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scrittura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R[t2] := 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R[t1] := MB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La stessa ALU somma due registri per add e forma un indirizzo per lw. L'unità di controllo, decodificando l'opcode, decide quali trasferimenti avvengono.</a:t>
            </a:r>
            <a:endParaRPr lang="en-US" sz="1300" dirty="0"/>
          </a:p>
        </p:txBody>
      </p:sp>
      <p:sp>
        <p:nvSpPr>
          <p:cNvPr id="5" name="Shape 2"/>
          <p:cNvSpPr/>
          <p:nvPr/>
        </p:nvSpPr>
        <p:spPr>
          <a:xfrm>
            <a:off x="7723327" y="91440"/>
            <a:ext cx="3919728" cy="274320"/>
          </a:xfrm>
          <a:prstGeom prst="rect">
            <a:avLst/>
          </a:prstGeom>
          <a:solidFill>
            <a:srgbClr val="E0F2FE"/>
          </a:solidFill>
          <a:ln w="12700">
            <a:solidFill>
              <a:srgbClr val="0369A1"/>
            </a:solidFill>
            <a:prstDash val="solid"/>
          </a:ln>
        </p:spPr>
      </p:sp>
      <p:sp>
        <p:nvSpPr>
          <p:cNvPr id="6" name="Shape 3"/>
          <p:cNvSpPr/>
          <p:nvPr/>
        </p:nvSpPr>
        <p:spPr>
          <a:xfrm>
            <a:off x="7723327"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7851343" y="128016"/>
            <a:ext cx="201168" cy="201168"/>
          </a:xfrm>
          <a:prstGeom prst="rect">
            <a:avLst/>
          </a:prstGeom>
        </p:spPr>
      </p:pic>
      <p:sp>
        <p:nvSpPr>
          <p:cNvPr id="8" name="Text 4"/>
          <p:cNvSpPr txBox="1"/>
          <p:nvPr/>
        </p:nvSpPr>
        <p:spPr>
          <a:xfrm>
            <a:off x="8107375" y="91440"/>
            <a:ext cx="349910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ciclo del processore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gestore di trap, per sommi capi</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trap_entry: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0(sp)            </a:t>
            </a:r>
            <a:pPr indent="0" marL="0">
              <a:buNone/>
            </a:pPr>
            <a:r>
              <a:rPr lang="en-US" sz="1300" dirty="0">
                <a:solidFill>
                  <a:srgbClr val="8FB3A0"/>
                </a:solidFill>
                <a:latin typeface="Courier New" pitchFamily="34" charset="0"/>
                <a:ea typeface="Courier New" pitchFamily="34" charset="-122"/>
                <a:cs typeface="Courier New" pitchFamily="34" charset="-120"/>
              </a:rPr>
              <a:t># software context: save what we use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csrr t0, mcause           </a:t>
            </a:r>
            <a:pPr indent="0" marL="0">
              <a:buNone/>
            </a:pPr>
            <a:r>
              <a:rPr lang="en-US" sz="1300" dirty="0">
                <a:solidFill>
                  <a:srgbClr val="8FB3A0"/>
                </a:solidFill>
                <a:latin typeface="Courier New" pitchFamily="34" charset="0"/>
                <a:ea typeface="Courier New" pitchFamily="34" charset="-122"/>
                <a:cs typeface="Courier New" pitchFamily="34" charset="-120"/>
              </a:rPr>
              <a:t># why are we 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bgez t0, exception        </a:t>
            </a:r>
            <a:pPr indent="0" marL="0">
              <a:buNone/>
            </a:pPr>
            <a:r>
              <a:rPr lang="en-US" sz="1300" dirty="0">
                <a:solidFill>
                  <a:srgbClr val="8FB3A0"/>
                </a:solidFill>
                <a:latin typeface="Courier New" pitchFamily="34" charset="0"/>
                <a:ea typeface="Courier New" pitchFamily="34" charset="-122"/>
                <a:cs typeface="Courier New" pitchFamily="34" charset="-120"/>
              </a:rPr>
              <a:t># top bit 0: an exception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                       </a:t>
            </a:r>
            <a:pPr indent="0" marL="0">
              <a:buNone/>
            </a:pPr>
            <a:r>
              <a:rPr lang="en-US" sz="1300" dirty="0">
                <a:solidFill>
                  <a:srgbClr val="8FB3A0"/>
                </a:solidFill>
                <a:latin typeface="Courier New" pitchFamily="34" charset="0"/>
                <a:ea typeface="Courier New" pitchFamily="34" charset="-122"/>
                <a:cs typeface="Courier New" pitchFamily="34" charset="-120"/>
              </a:rPr>
              <a:t># top bit 1: find the device, serve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t0, 0(sp)            </a:t>
            </a:r>
            <a:pPr indent="0" marL="0">
              <a:buNone/>
            </a:pPr>
            <a:r>
              <a:rPr lang="en-US" sz="1300" dirty="0">
                <a:solidFill>
                  <a:srgbClr val="8FB3A0"/>
                </a:solidFill>
                <a:latin typeface="Courier New" pitchFamily="34" charset="0"/>
                <a:ea typeface="Courier New" pitchFamily="34" charset="-122"/>
                <a:cs typeface="Courier New" pitchFamily="34" charset="-120"/>
              </a:rPr>
              <a:t># restore the context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mret                      </a:t>
            </a:r>
            <a:pPr indent="0" marL="0">
              <a:buNone/>
            </a:pPr>
            <a:r>
              <a:rPr lang="en-US" sz="1300" dirty="0">
                <a:solidFill>
                  <a:srgbClr val="8FB3A0"/>
                </a:solidFill>
                <a:latin typeface="Courier New" pitchFamily="34" charset="0"/>
                <a:ea typeface="Courier New" pitchFamily="34" charset="-122"/>
                <a:cs typeface="Courier New" pitchFamily="34" charset="-120"/>
              </a:rPr>
              <a:t># MIE := MPIE, PC := mepc</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programma interrotto non deve accorgersene: ogni registro toccato dal gestore viene salvato e ripristinato</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mcause letto come numero con segno è negativo per le interruzioni: bgez separa le due famiglie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mret è l'unica via del ritorno: riabilita le interruzioni e ricarica il PC in un solo passo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firmware del kit contiene proprio una routine così; la vostra cartuccia viene interrotta molte volte per frame</a:t>
            </a:r>
            <a:endParaRPr lang="en-US" sz="1200" dirty="0"/>
          </a:p>
        </p:txBody>
      </p:sp>
      <p:sp>
        <p:nvSpPr>
          <p:cNvPr id="17" name="Shape 15"/>
          <p:cNvSpPr/>
          <p:nvPr/>
        </p:nvSpPr>
        <p:spPr>
          <a:xfrm>
            <a:off x="7985963" y="91440"/>
            <a:ext cx="3657092" cy="274320"/>
          </a:xfrm>
          <a:prstGeom prst="rect">
            <a:avLst/>
          </a:prstGeom>
          <a:solidFill>
            <a:srgbClr val="E0F2FE"/>
          </a:solidFill>
          <a:ln w="12700">
            <a:solidFill>
              <a:srgbClr val="0369A1"/>
            </a:solidFill>
            <a:prstDash val="solid"/>
          </a:ln>
        </p:spPr>
      </p:sp>
      <p:sp>
        <p:nvSpPr>
          <p:cNvPr id="18" name="Shape 16"/>
          <p:cNvSpPr/>
          <p:nvPr/>
        </p:nvSpPr>
        <p:spPr>
          <a:xfrm>
            <a:off x="798596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113979" y="128016"/>
            <a:ext cx="201168" cy="201168"/>
          </a:xfrm>
          <a:prstGeom prst="rect">
            <a:avLst/>
          </a:prstGeom>
        </p:spPr>
      </p:pic>
      <p:sp>
        <p:nvSpPr>
          <p:cNvPr id="20" name="Text 17"/>
          <p:cNvSpPr txBox="1"/>
          <p:nvPr/>
        </p:nvSpPr>
        <p:spPr>
          <a:xfrm>
            <a:off x="8370011" y="91440"/>
            <a:ext cx="323646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interruzioni e trap</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(1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19: Instructions and Interrupts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l19.S: four words in memory: a function read back as machine code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rows of 32 lamps, the machine code of lw t1, 0(t0) / addi t1,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t1, 1 / sw t1, 0(t0) / ret, and beside each a green square: the word in memory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one decoded by hand in the lecture.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l19.S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l19 --name l19 --out l19.prg32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GREY,   0x4208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(2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l19_update: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function of Lecture 02, kept in its uncompressed 32-bit forms.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push</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norvc</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sample: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0x0002A303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           </a:t>
            </a:r>
            <a:pPr indent="0" marL="0">
              <a:buNone/>
            </a:pPr>
            <a:r>
              <a:rPr lang="en-US" sz="1800" dirty="0">
                <a:solidFill>
                  <a:srgbClr val="8FB3A0"/>
                </a:solidFill>
                <a:latin typeface="Courier New" pitchFamily="34" charset="0"/>
                <a:ea typeface="Courier New" pitchFamily="34" charset="-122"/>
                <a:cs typeface="Courier New" pitchFamily="34" charset="-120"/>
              </a:rPr>
              <a:t># 0x00130313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           </a:t>
            </a:r>
            <a:pPr indent="0" marL="0">
              <a:buNone/>
            </a:pPr>
            <a:r>
              <a:rPr lang="en-US" sz="1800" dirty="0">
                <a:solidFill>
                  <a:srgbClr val="8FB3A0"/>
                </a:solidFill>
                <a:latin typeface="Courier New" pitchFamily="34" charset="0"/>
                <a:ea typeface="Courier New" pitchFamily="34" charset="-122"/>
                <a:cs typeface="Courier New" pitchFamily="34" charset="-120"/>
              </a:rPr>
              <a:t># 0x0062A023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                      </a:t>
            </a:r>
            <a:pPr indent="0" marL="0">
              <a:buNone/>
            </a:pPr>
            <a:r>
              <a:rPr lang="en-US" sz="1800" dirty="0">
                <a:solidFill>
                  <a:srgbClr val="8FB3A0"/>
                </a:solidFill>
                <a:latin typeface="Courier New" pitchFamily="34" charset="0"/>
                <a:ea typeface="Courier New" pitchFamily="34" charset="-122"/>
                <a:cs typeface="Courier New" pitchFamily="34" charset="-120"/>
              </a:rPr>
              <a:t># 0x00008067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pop</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(3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l19_draw: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which instruction,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sample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instructions are 4 bytes apart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s1, 0(t0)           </a:t>
            </a:r>
            <a:pPr indent="0" marL="0">
              <a:buNone/>
            </a:pPr>
            <a:r>
              <a:rPr lang="en-US" sz="1200" dirty="0">
                <a:solidFill>
                  <a:srgbClr val="8FB3A0"/>
                </a:solidFill>
                <a:latin typeface="Courier New" pitchFamily="34" charset="0"/>
                <a:ea typeface="Courier New" pitchFamily="34" charset="-122"/>
                <a:cs typeface="Courier New" pitchFamily="34" charset="-120"/>
              </a:rPr>
              <a:t># the instruction, fetched as a datum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expected        </a:t>
            </a:r>
            <a:pPr indent="0" marL="0">
              <a:buNone/>
            </a:pPr>
            <a:r>
              <a:rPr lang="en-US" sz="1200" dirty="0">
                <a:solidFill>
                  <a:srgbClr val="8FB3A0"/>
                </a:solidFill>
                <a:latin typeface="Courier New" pitchFamily="34" charset="0"/>
                <a:ea typeface="Courier New" pitchFamily="34" charset="-122"/>
                <a:cs typeface="Courier New" pitchFamily="34" charset="-120"/>
              </a:rPr>
              <a:t># compare with the encoding worked out by hand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s1, t2,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306</a:t>
            </a:r>
            <a:endParaRPr lang="en-US" sz="12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(4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slli a1, s0,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a1, a1, 30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(5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l19.S (6 di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expected: .word 0x0002A303, 0x00130313, 0x0062A023, 0x00008067</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quattro righe di 32 lampade, il codice macchina di lw t1, 0(t0) / addi t1, t1, 1 / sw t1, 0(t0) / ret, e accanto a ciascuna un quadrato verde: la parola in memoria è quella decodificata a mano a lezione.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1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l19 --out l19.prg32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l19;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Decodificate a mano 0x00A28293 e 0x40628333: formato, campi, assembly</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Codificate sub t0, t1, t2 e sw a0, 8(sp)</a:t>
            </a:r>
            <a:endParaRPr lang="en-US" sz="2000" dirty="0"/>
          </a:p>
        </p:txBody>
      </p:sp>
      <p:sp>
        <p:nvSpPr>
          <p:cNvPr id="8" name="Text 6"/>
          <p:cNvSpPr txBox="1"/>
          <p:nvPr/>
        </p:nvSpPr>
        <p:spPr>
          <a:xfrm>
            <a:off x="548640" y="26822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66395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i trasferimenti tra registri dell'intero ciclo per sw t1, 0(t0) e per beq t0, t1, target</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per sei istruzioni su una pipeline a quattro stadi: quando termina la sesta?</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mettete un breakpoint in first_update, avanzate di un passo, e confrontate il codice macchina mostrato con la vostra decodifica del riscaldamento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carta: addi t0, t0, 10 e sub t1, t0, t1. Su PRG32-QT: le quattro parole del riscaldamento, o i loro equivalenti compressi.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Istruzioni e interruzioni: il codice</dc:title>
  <dc:subject>Lezione 19</dc:subject>
  <dc:creator>Raffaele Montella</dc:creator>
  <cp:lastModifiedBy>Raffaele Montella</cp:lastModifiedBy>
  <cp:revision>1</cp:revision>
  <dcterms:created xsi:type="dcterms:W3CDTF">2026-10-16T20:22:26Z</dcterms:created>
  <dcterms:modified xsi:type="dcterms:W3CDTF">2026-10-16T20:22:26Z</dcterms:modified>
</cp:coreProperties>
</file>