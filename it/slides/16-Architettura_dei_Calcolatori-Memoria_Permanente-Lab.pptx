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32a9509f-2c2f-3bef-9dda-588766ea7158}">
          <p14:sldIdLst>
            <p14:sldId id="256"/>
            <p14:sldId id="257"/>
          </p14:sldIdLst>
        </p14:section>
        <p14:section name="Riscaldamento sulla macchina" id="{deaeccbb-0cc9-1e3e-0323-2851e0109fe7}">
          <p14:sldIdLst>
            <p14:sldId id="258"/>
          </p14:sldIdLst>
        </p14:section>
        <p14:section name="Il programma completo" id="{633e5a7f-c4b3-18ed-13d5-77abdaec7d1a}">
          <p14:sldIdLst>
            <p14:sldId id="259"/>
            <p14:sldId id="260"/>
            <p14:sldId id="261"/>
            <p14:sldId id="262"/>
          </p14:sldIdLst>
        </p14:section>
        <p14:section name="Eseguire e provare" id="{87fee756-872c-5b89-7645-c2eebf9dd5a9}">
          <p14:sldIdLst>
            <p14:sldId id="263"/>
            <p14:sldId id="264"/>
            <p14:sldId id="265"/>
            <p14:sldId id="266"/>
            <p14:sldId id="267"/>
          </p14:sldIdLst>
        </p14:section>
        <p14:section name="Esercizi" id="{de6ff789-8496-b831-5df1-5048e75cdaca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Questa è la presentazione del codice della Lezione 16. Mentre la presentazione della lezione sviluppa i concetti, questa raccoglie tutto ciò che si scrive e si esegue: ogni listato con il suo commento, il programma completo della lezione, il risultato che deve produrre, e la procedura per provarlo su ciascuno dei tre host. Le due presentazioni vanno lette insieme: i concetti spiegano il codice, e il codice dà ai concetti una conseguenza osservabile.
Stato di apprendimento: DA COMPRENDERE OGGI, alla fine di questa lezione lo spiegate, lo seguite passo passo e lo applicate da soli; DA UTILIZZARE OGGI, oggi seguite e usate la ricetta; come funziona dentro si spiega più avanti, o non fa parte del corso; DA COMPRENDERE PIÙ AVANTI, riconoscete il nome e lo scopo; lo spiega una lezione successiva. Una slide senza etichetta è contesto: una storia, un esempio, una domanda, un esercizio.
Stato di apprendimento di questa lezione. DA COMPRENDERE OGGI: ROM, flash, firmware; l'architettura di von Neumann; la cache; la memoria secondaria. DA UTILIZZARE OGGI: il programma completo, gli strumenti di PRG32 (si usa, non si studia, in questo corso). DA COMPRENDERE PIÙ AVANTI: niente. Una slide senza etichetta è contesto: una storia, un esempio, una domanda, un esercizio.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contenuto della presentazione, nell'ordine delle slide. Il programma della lezione è un file sorgente completo, che si può compilare ed eseguire così com'è. Il percorso consigliato è eseguirlo per primo, osservarne il comportamento, e poi tornare ai singoli listati per capire come ciascuna parte contribuisce a quel comportamento. Il programma di questa lezione è ~/arc12/code/l16.S; tools/tests/cartridges/run.py lo compila, lo esegue su PRG32-QT con ingressi programmati e controlla i pixel del frame.
Per il docente: Procurarsi il codice una volta: git clone https://github.com/riscv-prg32/computer-architecture-with-prg32 ~/arc12. Il programma di questa lezione è ~/arc12/code/l16.S; tools/tests/cartridges/run.py lo compila, lo esegue su PRG32-QT con ingressi programmati e controlla i pixel del frame. Ogni listato di queste slide è letto dalla compilazione da un file provato, o verificato da tools/tests: si veda il suo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riscaldamento. Il titolo risiede nella sezione .rodata, che fa parte del file della cartuccia; il file è memorizzato nella flash e quindi sopravvive. Il punteggio migliore è una variabile della sezione .data, che viene copiata in RAM all'avvio della cartuccia; vive nella SRAM e si perde. Dopo uno spegnimento e una riaccensione il titolo è ancora presente e il punteggio è tornato a 0. Per conservare un punteggio in modo permanente bisognerebbe scriverlo in una memoria non volatile, e la lezione passa in rassegna le memorie che esistono. La lezione riguarda più del punteggio: ogni sezione di un programma ha una collocazione fisica, e quella collocazione ne determina la durata.
DA COMPRENDERE OGGI: ROM, flash, firmware.
Per il docente: Scritto per questa lezione. Su PRG32 i punteggi persistenti sono gestiti dal servizio del Cartridge Store; qui conta dove vive ciascuna sezione di un programma.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pagina del programma completo, riprodotta esattamente com'è nel repository. Va letta dall'inizio. L'intestazione dice che cosa mostra il programma e come si compila; seguono i tre punti di ingresso, init, update e draw, e le sezioni dei dati chiudono il file. Le righe già incontrate nei listati della lezione hanno qui gli stessi commenti, così che ogni frammento si possa ritrovare nell'insieme.
DA UTILIZZARE OGGI: il programma completo (si usa, non si studia, in questo corso).
Per il docente: code/l16.S, come viene compilato ed eseguito dai test. I commenti fanno parte del programma, e sono in inglese come in tutti i listati: leggeteli con il codice.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comportamento atteso del programma, e l'ingresso che richiede. Il risultato va previsto prima di eseguire: ogni differenza tra la previsione e lo schermo è un'informazione sul proprio modello della macchina, e conviene spiegarla prima di correggerla. L'immagine è stata prodotta dal test automatico, non disegnata a mano.
Per il docente: L'immagine è il frame che l'esecutore senza interfaccia di PRG32-QT ha prodotto nel test di questo programma. Su QEMU e sulla scheda l'area di gioco è la stessa, 320 per 200 pixel, tra le due bande di stato.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via più diretta: PRG32-QT sul proprio computer, in quattro passi, ciascuno con il suo comando. Per gli strumenti PRG32-QT si presenta come una scheda in ascolto sulla porta 8080, ed è per questo che il comando di caricamento nomina l'esp32c6. Con la modalità debug attiva si può fermare l'esecuzione su qualsiasi istruzione e ispezionare registri e memoria.
DA UTILIZZARE OGGI: gli strumenti di PRG32 (si usa, non si studia, in questo corso).
Per il docente: Eseguito dai test: la cartuccia di questa slide è compilata con questo comando ed eseguita sull'esecutore senza interfaccia di PRG32-QT. Senza la toolchain: importate il file .prg32 in PRG32-QT e scegliete Run Cartridge. Tasti: frecce o WASD per il joystick, Z o J per A, X o K per B, Invio per Start, Esc per tornare a Setup.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sull'emulatore. QEMU esegue il firmware vero su un chip emulato, quindi la cartuccia va compilata per l'architettura qemu e caricata mentre QEMU non è in esecuzione. Il firmware si avvia sul menu Setup, da cui si scelgono Run Cartridge e lo slot. La tastiera è letta dal terminale da cui QEMU è stato avviato, non dalla finestra che mostra l'immagine.
DA UTILIZZARE OGGI: gli strumenti di PRG32 (si usa, non si studia, in questo corso).
Per il docente: Verificato dai test fino al caricamento: la cartuccia è compilata per l'architettura qemu e accettata nell'immagine flash dell'emulatore. Ciò che l'emulatore poi mostra non è verificato automaticamente: il QEMU di Espressif ha bisogno della sua finestra. Dall'ottobre 2026 il firmware parte da Setup: scegliete Run Cartridge, poi cart0.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stesso programma sul kit fisico. Il firmware si scrive una volta, via USB; da quel momento le cartucce viaggiano sul Wi-Fi con lo stesso comando di caricamento usato per PRG32-QT, indirizzato alla scheda. È l'unico host non esercitato dai test automatici, quindi le osservazioni fatte sulla scheda sono particolarmente preziose e vanno riferite.
DA UTILIZZARE OGGI: gli strumenti di PRG32 (si usa, non si studia, in questo corso).
Per il docente: Non eseguito dai test: sulla macchina di prova non c'è una scheda. La cartuccia per l'architettura esp32c6 è compilata dai test; i passi sono quelli della documentazione di PRG32. Se la porta seriale non viene trovata, passatela esplicitamente. Per usare il Wi-Fi dell'aula: python3 -m prg32 wifi set --ssid NOME --password PASSWORD --mode 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cinque sintomi più frequenti, il loro significato e il rimedio. Il messaggio di errore va letto per intero prima di cambiare qualsiasi cosa: quasi sempre nomina la causa. Quando si chiede aiuto, vanno riportati alla lettera il comando e il messaggio completo.
DA UTILIZZARE OGGI: gli strumenti di PRG32 (si usa, non si studia, in questo corso).
Per il docente: Le prime tre righe coprono la maggior parte dei casi. Quando chiedete aiuto, incollate il comando e l'intero messaggio come testo. docs/usage/troubleshooting.md del repository di PRG32 ha l'elenco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Cinque esercizi. Calcolare la latenza rotazionale media di un disco a 7.200 giri al minuto, che è il tempo di mezzo giro. Calcolare il tempo di accesso medio di una cache con il 95% di hit, come media pesata dei tempi di hit e di miss. Dire dove risiedono cinque oggetti sul kit: il codice di avvio, il firmware, una cartuccia, una variabile e un registro. Trovare le specifiche della memorizzazione del proprio portatile o telefono. E misurare su PRG32 due cicli su un grande array, uno sequenziale e uno a salti: c'è una differenza, e perché potrebbe non essercene su questo chip particolare, che non ha una cache dei dati davanti alla sua SRAM?
Per il docente: 60 / 7200 = 8,33 ms per giro. Esercizio 3: ROM, flash, flash (o RAM una volta caricata), SRAM, un registro di flip-flop nel processore. Esercizio 5: la SRAM dell'ESP32-C6 non ha una cache davanti, quindi l'ordine degli accessi conta poco; su un portatile la differenza è grande.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|  Lezione 16: Memoria permanente (codice)  |  A.A. 2026/27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68096" y="640080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" y="859536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859536"/>
            <a:ext cx="201900" cy="201900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78992"/>
            <a:ext cx="201900" cy="2019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6002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779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ARC12 ARCHITETTURA DEI CALCOLATORI  ·  LEZIONE 16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97228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memoria permanente: il codice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61188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codice: ogni listato spiegato, il programma completo, e come provarlo su PRG32-QT, su QEMU e sulla scheda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86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Raffaele Montella, PhD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Napoli “Parthenope”  ·  A.A. 2026/27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raffaelemontella.it  ·  raffaele.montella@uniparthenope.it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93615" y="566928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Presentazione del codice. I concetti, le figure e le domande sono nella presentazione della lezione: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16-Architettura_dei_Calcolatori-Memoria_Permanente.pptx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25535" y="4160520"/>
            <a:ext cx="3017520" cy="2011680"/>
          </a:xfrm>
          <a:prstGeom prst="roundRect">
            <a:avLst>
              <a:gd name="adj" fmla="val 3636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13" name="Image 0" descr="/Users/raffaelemontella/devel/riscv-prg32/computer-architecture-with-prg32/tools/assets/game_platfor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095" y="4251960"/>
            <a:ext cx="2438400" cy="18288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910777" y="91440"/>
            <a:ext cx="2732278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7E22CE"/>
            </a:solidFill>
            <a:prstDash val="dash"/>
          </a:ln>
        </p:spPr>
      </p:sp>
      <p:sp>
        <p:nvSpPr>
          <p:cNvPr id="15" name="Shape 12"/>
          <p:cNvSpPr/>
          <p:nvPr/>
        </p:nvSpPr>
        <p:spPr>
          <a:xfrm>
            <a:off x="8938209" y="128016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38209" y="205740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938209" y="283464"/>
            <a:ext cx="45720" cy="45720"/>
          </a:xfrm>
          <a:prstGeom prst="rect">
            <a:avLst/>
          </a:prstGeom>
          <a:solidFill>
            <a:srgbClr val="7E22CE"/>
          </a:solidFill>
          <a:ln w="12700">
            <a:solidFill>
              <a:srgbClr val="7E22C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8793" y="128016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9294825" y="91440"/>
            <a:ext cx="23116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PIÙ AVANTI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675069" y="91440"/>
            <a:ext cx="212598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7506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72993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085" y="128016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059117" y="91440"/>
            <a:ext cx="17053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352747" y="91440"/>
            <a:ext cx="2212594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52747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763" y="128016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736795" y="91440"/>
            <a:ext cx="1791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3E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questa presentazione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854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207008" y="1540256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listato della Lezione 16: leggete il codice, poi le osservazioni numerate a fianco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267919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programma completo: code/l16.S, 82 righe, stampato per intero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9359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3575304"/>
            <a:ext cx="10436047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dovreste vedere quando gira, verificato sull'esecutore senza interfaccia di PRG32-QT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32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471424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provarlo, passo per passo: su PRG32-QT, su QEMU, sulla scheda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8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5610352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2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esercizi: modificare il programma, prevedere, eseguire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Spegnete e riaccendete il kit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40664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69494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 of the cartridge file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.asciz "HIGH SCORE"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stored in flash: it survives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copied into RAM at start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.word 0    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lives in RAM: it is lost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a0, t1, 1f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score not better: skip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</a:t>
            </a:r>
            <a:pPr indent="0" marL="0">
              <a:buNone/>
            </a:pPr>
            <a:r>
              <a:rPr lang="en-US" sz="13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 best score ... in RAM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...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0" y="1417320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419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1554480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Dopo uno spegnimento il titolo c'è ancora, ma il punteggio migliore è di nuovo 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0" y="2656332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419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915400" y="2793492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un file nella memoria flash: non volatile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0" y="3895344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419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4032504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variabile vive nella SRAM: volatile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5134356"/>
            <a:ext cx="341345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9419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5271516"/>
            <a:ext cx="254477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conservare un punteggio per sempre va scritto in una memoria permanente: quali esistono?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20304" y="91440"/>
            <a:ext cx="3722751" cy="274320"/>
          </a:xfrm>
          <a:prstGeom prst="rect">
            <a:avLst/>
          </a:prstGeom>
          <a:solidFill>
            <a:srgbClr val="E0F2FE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0304" y="91440"/>
            <a:ext cx="73152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8320" y="128016"/>
            <a:ext cx="201168" cy="20116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8304352" y="91440"/>
            <a:ext cx="33021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COMPRENDERE OGGI</a:t>
            </a:r>
            <a:pPr indent="0" marL="0">
              <a:buNone/>
            </a:pPr>
            <a:r>
              <a:rPr lang="en-US" sz="1100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ROM, flash, firmware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(1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ARC12 Computer Architecture - Lecture 16: Permanent Memory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l16.S: what stays in the file and what lives in RAM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the screen: the title HIGH SCORE and two bars: the score of this run, which grows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while A is held and falls back to zero when A is released, and the best score, which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never goes down. Restart the cartridge: the title is still there, the best score is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zero again.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Build: python3 -m prg32 cartridge build l16.S --portable \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  --entry-prefix l16 --name l16 --out l16.prg32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.option norelax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BLACK,  0x0000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WHITE,  0xffff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GREEN,  0x07e0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.equ YELLOW, 0xffe0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.text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l16_init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l16_update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.global l16_draw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l16_init: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(2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l16_update: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game_update: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prg32_input_read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t2, a0, 0x10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button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a0,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a0, a0, 1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held: one more point per frame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bnez t2, 2f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0     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released: the run is over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  sw   a0,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t1, 0(t0)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ble  a0, t1, 1f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new score not better: skip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a0, 0(t0)          </a:t>
            </a:r>
            <a:pPr indent="0" marL="0">
              <a:buNone/>
            </a:pPr>
            <a:r>
              <a:rPr lang="en-US" sz="14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remember the best score ... in RAM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  lw   ra, 12(sp)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(3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l16_draw: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-16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sw   ra, 12(sp)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prg32_gfx_clear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a2, title  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read from .rodata: it is always there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WHITE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BLACK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prg32_gfx_text8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score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255         </a:t>
            </a:r>
            <a:pPr indent="0" marL="0">
              <a:buNone/>
            </a:pPr>
            <a:r>
              <a:rPr lang="en-US" sz="12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width = score, at most 255 pixels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GREEN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   t0, best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a2, 0(t0)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andi a2, a2, 255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a0, 20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a1, 100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 programma completo: l16.S (4 di 4)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4415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1063721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a3, 12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   a4, YELLOW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call prg32_gfx_rect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lw   ra, 12(sp)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addi sp, sp, 16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.rodata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 of the cartridge file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title: .asciz "HIGH SCORE"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stored in flash: it survives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.section .data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copied into RAM at start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best:  .word 0              </a:t>
            </a:r>
            <a:pPr indent="0" marL="0">
              <a:buNone/>
            </a:pPr>
            <a:r>
              <a:rPr lang="en-US" sz="180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lives in RAM: it is lost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score: .word 0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941259" y="91440"/>
            <a:ext cx="3701796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41259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996123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9275" y="128016"/>
            <a:ext cx="201168" cy="20116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25307" y="91440"/>
            <a:ext cx="3281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il programma completo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Eseguite: che cosa dovreste vedere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22120"/>
            <a:ext cx="146304" cy="14630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2688" y="1600200"/>
            <a:ext cx="5468112" cy="268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Sullo schermo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il titolo HIGH SCORE e due barre: il punteggio di questa prova, che cresce mentre A è premuto e torna a zero quando A è rilasciato, e il punteggio migliore, che non scende mai. Riavviate la cartuccia: il titolo c'è ancora, il punteggio migliore è di nuovo zero.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4865370"/>
            <a:ext cx="146304" cy="146304"/>
          </a:xfrm>
          <a:prstGeom prst="rect">
            <a:avLst/>
          </a:prstGeom>
          <a:solidFill>
            <a:srgbClr val="C7791B"/>
          </a:solidFill>
          <a:ln w="12700">
            <a:solidFill>
              <a:srgbClr val="C7791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4743450"/>
            <a:ext cx="5468112" cy="1059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24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 cosa premere</a:t>
            </a:r>
            <a:endParaRPr lang="en-US" sz="2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2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tenete premuto A, rilasciatelo, poi riavviate la cartuccia</a:t>
            </a:r>
            <a:endParaRPr lang="en-US" sz="2400" dirty="0"/>
          </a:p>
        </p:txBody>
      </p:sp>
      <p:pic>
        <p:nvPicPr>
          <p:cNvPr id="7" name="Image 0" descr="/Users/raffaelemontella/devel/riscv-prg32/computer-architecture-with-prg32/tools/assets/lab_l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42255"/>
            <a:ext cx="4876495" cy="304781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766560" y="5788152"/>
            <a:ext cx="48764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frame scritto dal test automatico su PRG32-QT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PRG32-QT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start PRG32-QT on this computer (it listens on port 8080)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in the PRG32 folder, with ESP-IDF active: build the cartridge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l16 --name l16 --out l16.prg32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send it to PRG32-QT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http://localhost:8080 --slot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look, press, compare with the previous slide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PRG32-QT deve essere in esecuzione: risponde sulla porta 8080, come una scheda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compila una volta, dalla cartella PRG32, con ESP-IDF attivo nel terminale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upload-and-run memorizza la cartuccia nello slot cart0 e la avvia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 debug, in Settings: fermare il programma, leggere registri e memoria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 QEMU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once: build the firmware for QEMU (several minutes)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build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build the cartridge for the emulated chip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l16 --name l16 --architecture qemu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with QEMU closed, stage the cartridge into its flash image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upload l16-qemu.prg32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start the emulator; on Setup choose Run Cartridge, then cart0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qemu run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L'emulatore esegue il firmware vero su un chip emulato: si compila una volta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cartuccia è compilata per l'architettura qemu: lo stesso sorgente, un altro file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carica la cartuccia con QEMU chiuso, poi lo si avvia e si sceglie Run Cartridge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tasti vanno al terminale: frecce o WASD, Z o J per A, X o K per 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Provatelo sulla scheda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8138160" cy="4754880"/>
          </a:xfrm>
          <a:prstGeom prst="roundRect">
            <a:avLst>
              <a:gd name="adj" fmla="val 1538"/>
            </a:avLst>
          </a:prstGeom>
          <a:solidFill>
            <a:srgbClr val="12202B"/>
          </a:solidFill>
          <a:ln w="12700">
            <a:solidFill>
              <a:srgbClr val="1220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76809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once per board: write the firmware through the USB cable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build-and-flash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join the Wi-Fi network of the board: PRG32, password prg32game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build the cartridge for the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cartridge build ~/arc12/code/l16.S --portable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--entry-prefix l16 --name l16 --architecture esp32c6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--out l16-esp32c6.prg32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8FB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send it over Wi-Fi and start it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python3 -m prg32 esp32c6 upload-and-run l16-esp32c6.prg32 \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E6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--url http://192.168.4.1 --slot cart0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961120" y="1417320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25712" y="15819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46920" y="1554480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firmware si scrive una volta per scheda, attraverso il cavo USB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961120" y="2656332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25712" y="282092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646920" y="2793492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scheda crea la rete Wi-Fi PRG32: collegatevi con il vostro computer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961120" y="3895344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25712" y="40599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46920" y="4032504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stesso comando di caricamento di PRG32-QT, con l'indirizzo della scheda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61120" y="5134356"/>
            <a:ext cx="2681935" cy="1037844"/>
          </a:xfrm>
          <a:prstGeom prst="roundRect">
            <a:avLst>
              <a:gd name="adj" fmla="val 7048"/>
            </a:avLst>
          </a:prstGeom>
          <a:solidFill>
            <a:srgbClr val="EEF2F4"/>
          </a:solidFill>
          <a:ln w="12700">
            <a:solidFill>
              <a:srgbClr val="EEF2F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529894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7791B"/>
          </a:solidFill>
          <a:ln>
            <a:solidFill>
              <a:srgbClr val="C779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646920" y="5271516"/>
            <a:ext cx="1813255" cy="7635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Schermo nero: confrontate il cablaggio del display con il firmware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non funziona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3025750"/>
                <a:gridCol w="3866236"/>
                <a:gridCol w="420243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Vedete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così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6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manca un punto di ingresso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prefisso non è quello del sorgente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--entry-prefix l16; controllate le tre righe .global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idf.py: command not found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ESP-IDF non è attivo in questo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eseguite export.sh, o aprite ESP-IDF PowerShell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upload: connection refused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l'host non ascolta a quell'indirizzo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avviate PRG32-QT; usate l'indirizzo della sua schermata Setup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schermo nero, o di nuovo il menu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funzione non ritorna, o ra non è stato salvato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modalità debug: passo-passo in init, update, draw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QEMU ignora i tasti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tastiera va al terminale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B25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fate clic sul terminale che ha lanciato QEMU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4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875600" y="91440"/>
            <a:ext cx="3767455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875600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30464" y="91440"/>
            <a:ext cx="27432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3616" y="128016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259648" y="91440"/>
            <a:ext cx="33468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UTILIZZARE OGGI</a:t>
            </a:r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gli strumenti di PRG32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Esercizi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10088575" y="566928"/>
            <a:ext cx="1554480" cy="457200"/>
          </a:xfrm>
          <a:prstGeom prst="roundRect">
            <a:avLst>
              <a:gd name="adj" fmla="val 16000"/>
            </a:avLst>
          </a:prstGeom>
          <a:solidFill>
            <a:srgbClr val="2F7D4F"/>
          </a:solidFill>
          <a:ln>
            <a:solidFill>
              <a:srgbClr val="2F7D4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TU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3560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207008" y="1417320"/>
            <a:ext cx="1043604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disco gira a 7200 giri al minuto: qual è la sua latenza media?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470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2026412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cache risponde in 1 ns e la memoria in 50 ns: qual è il tempo medio di accesso con il 95% di hit?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8036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785364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 dove vive sul kit PRG32 ciascuno di questi: il codice di avvio, il firmware, una cartuccia, la variabile counter, il registro t0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562604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3544316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Trovate le specifiche della memoria di massa del vostro portatile o telefono: tecnologia, capacità, interfaccia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2155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0E7C86"/>
          </a:solidFill>
          <a:ln>
            <a:solidFill>
              <a:srgbClr val="0E7C8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207008" y="4303268"/>
            <a:ext cx="10436047" cy="588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9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PRG32 cronometrate due cicli che sommano un grande vettore: uno in ordine, uno a salti di passo ampio. C'è differenza, e perché su questo chip potrebbe non esserci?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DCEEE3"/>
          </a:solidFill>
          <a:ln w="12700">
            <a:solidFill>
              <a:srgbClr val="DCEE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Risultato atteso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504688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Latenza: mezzo giro, circa 4,2 ms. Tempo medio di accesso: 0,95 x 1 + 0,05 x 51 = 3,5 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1908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Università degli Studi di Napoli Parthenope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ARC12 Architettura dei Calcolatori - La memoria permanente: il codice</dc:title>
  <dc:subject>Lezione 16</dc:subject>
  <dc:creator>Raffaele Montella</dc:creator>
  <cp:lastModifiedBy>Raffaele Montella</cp:lastModifiedBy>
  <cp:revision>1</cp:revision>
  <dcterms:created xsi:type="dcterms:W3CDTF">2026-10-16T20:22:26Z</dcterms:created>
  <dcterms:modified xsi:type="dcterms:W3CDTF">2026-10-16T20:22:26Z</dcterms:modified>
</cp:coreProperties>
</file>