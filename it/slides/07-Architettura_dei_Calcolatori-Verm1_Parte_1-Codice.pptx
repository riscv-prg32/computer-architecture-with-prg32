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f1329aec-7d79-4ecf-519c-200cfb47562c}">
          <p14:sldIdLst>
            <p14:sldId id="256"/>
            <p14:sldId id="257"/>
          </p14:sldIdLst>
        </p14:section>
        <p14:section name="Passo 0: il ciclo di lavoro" id="{5ad64092-96dd-c390-51f9-627f81469efe}">
          <p14:sldIdLst>
            <p14:sldId id="258"/>
            <p14:sldId id="259"/>
          </p14:sldIdLst>
        </p14:section>
        <p14:section name="Passo 2: una griglia e una testa" id="{2a922ae9-cd33-b17e-80cb-9b62f29b2a6b}">
          <p14:sldIdLst>
            <p14:sldId id="260"/>
            <p14:sldId id="261"/>
            <p14:sldId id="262"/>
            <p14:sldId id="263"/>
            <p14:sldId id="264"/>
          </p14:sldIdLst>
        </p14:section>
        <p14:section name="Passo 3: il movimento" id="{e5b95d1d-f38a-c66f-5ded-5b0ddb129773}">
          <p14:sldIdLst>
            <p14:sldId id="265"/>
            <p14:sldId id="266"/>
          </p14:sldIdLst>
        </p14:section>
        <p14:section name="Passo 4: guardare dentro con PRG32-QT" id="{796ad78c-6628-a157-365e-70eabfe06084}">
          <p14:sldIdLst>
            <p14:sldId id="267"/>
          </p14:sldIdLst>
        </p14:section>
        <p14:section name="Eseguire e provare" id="{fcd2d4c4-fbaa-9207-7f35-88143e2d5f59}">
          <p14:sldIdLst>
            <p14:sldId id="268"/>
            <p14:sldId id="269"/>
            <p14:sldId id="270"/>
            <p14:sldId id="271"/>
            <p14:sldId id="272"/>
          </p14:sldIdLst>
        </p14:section>
        <p14:section name="Esercizi" id="{2664d5f6-9f4f-4c33-7fe0-256c18e6ed2e}">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07. La presentazione della lezione contiene i concetti; questa contiene tutto ciò che si scrive e si esegue: i listati con la loro spiegazione, il programma completo, che cosa mostra, e il modo di provarlo su ciascuno dei tre host.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il progetto Verm1; contratto init/update/draw; un colore è un numero; gli array in memoria; .text, .rodata, .data; indirizzo, valore, load, store; perché si salva ra; shift come moltiplicazione; la virgola fissa; le pseudo-istruzioni; l'ordine little-endian. DA UTILIZZARE OGGI: gli strumenti di PRG32, il debugger di PRG32-QT (si usa, non si studia, in questo corso). DA COMPRENDERE PIÙ AVANTI: formati delle istruzioni (Lezione 19). Una slide senza etichetta è contesto: una storia, un esempio, una domanda, un esercizio.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contiene la presentazione, nell'ordine delle slide. Il programma della lezione è un file che potete compilare ed eseguire così com'è: partite da lì, e tornate ai listati per capire ogni parte. Il programma di riferimento è ~/arc12/verm1/verm1_part1.S; tools/tests/verm1_check.py lo compila e lo gioca con un giocatore programmato, e verm1_steps.py esegue i punti di controllo intermedi.
Per il docente: Procurarsi il codice una volta: git clone https://github.com/riscv-prg32/computer-architecture-with-prg32 ~/arc12. Il programma di riferimento è ~/arc12/verm1/verm1_part1.S; tools/tests/verm1_check.py lo compila e lo gioca con un giocatore programmato, e verm1_steps.py esegue i punti di controllo intermedi.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nella vostra home una cartella verm1 e tenetevi un solo file, verm1.S, che crescerà di parte in parte. Il primo comando compila la cartuccia; il secondo la invia a PRG32-QT in esecuzione sullo stesso computer e la avvia. Questi due comandi sono identici in ogni tutorial. Se localhost non risponde, usate l'indirizzo mostrato nella schermata Setup di PRG32-QT. In alternativa si può importare il file dal menu di PRG32-QT.
DA UTILIZZARE OGGI: gli strumenti di PRG32 (si usa, non si studia, in questo corso).
Per il docente: Create una cartella ~/verm1 e tenetevi un solo file, verm1.S, che cresce di parte in parte. PRG32-QT ascolta sulla porta 8080 e mostra il proprio indirizzo nella schermata Setup: usate quello se localhost non risponde. La stessa cartuccia gira su QEMU (python3 -m prg32 qemu upload, poi qemu run) e sulla scheda (--url http://192.168.4.1).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passo 1 è lo scheletro della Lezione 02 con il prefisso verm1: tre etichette globali e tre funzioni che ritornano e basta. Scrivetelo, compilatelo, eseguitelo. Il risultato giusto è uno schermo nero: dimostra che gli strumenti funzionano e che il firmware trova le vostre funzioni. Se qui la compilazione fallisce il problema è l'installazione, non il programma, e va risolto prima di proseguire. L'ultima nota è la regola di tutto il progetto: aggiungere una cosa, eseguire, guardare. Mai due cose insieme.
DA COMPRENDERE OGGI: contratto init/update/draw.
Per il docente: Lo scheletro della Lezione 02. Se qui la compilazione fallisce il problema è l'installazione, non il programma: va risolto prima di proseguire.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Queste righe sostituiscono l'inizio dello scheletro. Ogni .equ dà un nome a un numero e non usa memoria: l'assemblatore sostituisce semplicemente il numero. Tre colori in RGB565. Poi la geometria: una cella è di 8 per 8 pixel, quindi i 320 pixel di larghezza contengono 40 colonne; gli 8 pixel in alto sono riservati al titolo, e i 192 restanti contengono 24 righe. SPEED_Q8 è la velocità in virgola fissa e si userà nel passo 3. Le costanti con un nome rendono il programma leggibile e facile da modificare.
DA COMPRENDERE OGGI: un colore è un numero.
Per il docente: Sostituite con queste le prime righe dello scheletro. SPEED_Q8 si usa nel passo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va in fondo al file. La sezione .rodata contiene ciò che non cambia mai: il titolo, una stringa che .asciz termina con un byte a zero. La sezione .data contiene le variabili, una parola di 32 bit ciascuna: la colonna della testa, la sua riga, e la frazione di passo accumulata finora. I valori iniziali scritti qui sono solo un punto di partenza: init li imposterà di nuovo in modo esplicito.
DA COMPRENDERE OGGI: .text, .rodata, .data.
Per il docente: Mettete questo in fondo al file. step_q8 si usa nel passo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mette la testa al suo posto. Per ogni variabile lo schema è lo stesso: la carica l'indirizzo, li carica il valore, sw memorizza il valore all'indirizzo. La frazione step_q8 si azzera memorizzando direttamente il registro zero. La funzione non chiama nulla, quindi è una foglia e non le serve un frame di stack. Perché impostare valori che .data contiene già? Perché init può essere chiamata di nuovo per ricominciare la partita: mai fidarsi di ciò che la memoria conteneva.
DA COMPRENDERE OGGI: indirizzo, valore, load,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verm1_draw fa tre chiamate: cancella lo schermo, scrive il titolo, disegna la testa. Salva quindi ra in un frame di stack all'inizio e lo ripristina alla fine, come nella Lezione 02. Guardate come la cella diventa pixel: la colonna è caricata in a0 e scorsa a sinistra di 3; la riga è caricata in a1, scorsa e aumentata di TOP. Gli argomenti restanti sono larghezza, altezza e colore. Gli argomenti viaggiano da a0 ad a4, nell'ordine in cui la funzione li aspetta.
DA COMPRENDERE OGGI: perché si salva ra; shift come moltiplicazione.
Per il docente: prg32_gfx_text8(x, y, stringa, colore del testo, colore dello sfondo); prg32_gfx_rect(x, y, larghezza, altezza, colore).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Compilate ed eseguite. Dovreste vedere la parola VERM1 in alto a sinistra e un quadrato verde fermo nella colonna 5 della riga 12. La schermata sulla slide è stata presa più tardi, dalla Parte 1 finita, quindi la sua testa è più a destra: non preoccupatevi della differenza. Se il vostro quadrato è nel posto sbagliato, controllate per prima cosa i due scorrimenti e la somma di TOP.
Per il docente: Schermata prodotta da tools/tests/verm1_check.py a partire da verm1/verm1_part1.S.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Leggete verm1_update in due metà. Prima il timer: si carica step_q8, si somma la velocità, si confronta con 256. Se è minore si salta all'etichetta 2, si memorizza la frazione e si ritorna: in questo frame nulla si muove. Altrimenti si sottrae 256, tenendo il resto, e lo si memorizza. Poi il passo: si carica head_x, si somma 1, si confronta con COLS; se la colonna è arrivata a 40 diventa 0, e la testa rientra da sinistra. Le etichette 1: e 2: sono etichette locali: 1f significa «la prossima etichetta 1 in avanti».
DA COMPRENDERE OGGI: la virgola fissa.
Per il docente: blt confronta numeri con segno, e qui va bene: tutti i valori sono piccoli e positivi. Le etichette locali 1: e 2: si richiamano con 1f e 2f, «il prossimo 1 o 2 in avanti».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Eseguite. La testa va verso destra a circa cinque celle al secondo, esce dalla colonna 39 e rientra dalla colonna 0. Poi sperimentate con la velocità: prima di ogni esecuzione, prevedete che cosa vedrete. Con 8 la testa è lenta; con 128 fa un passo ogni due frame; con 256, un passo per frame. Provate un valore più grande e scoprite un limite di questo programma: update fa al più un passo per frame.
Per il docente: Con SPEED_Q8 = 256 la testa avanza di una cella per frame; valori più grandi danno comunque un passo per frame, perché update fa al più un passo: un limite che vale la pena scoprire.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debugger non mostra il vostro sorgente: mostra ciò che l'assemblatore ha prodotto. I nomi sono spariti: le etichette sono diventate indirizzi e SPEED_Q8 è diventato il numero 40. Le pseudo-istruzioni sono espanse: la è auipc seguita da addi, li è una addi da zero, ret è un salto a ra. Alcune istruzioni cominciano con c.: sono le forme compresse, a 16 bit, delle stesse istruzioni, la C di RV32IMAC. Riconoscere il proprio programma in questo listato è un'abilità che cresce con la pratica.
DA COMPRENDERE OGGI: le pseudo-istruzioni. DA COMPRENDERE PIÙ AVANTI: formati delle istruzioni (si studia nella Lezione 19).
Per il docente: Disassemblato di verm1_update da verm1/verm1_part1.S (objdump, rv32imac), abbreviato; gli scostamenti esatti dipendono dalla compilazione. Formati delle istruzioni e istruzioni compresse sono l'argomento della Lezione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mostra il programma quando gira, e che cosa premere. Prevedete prima di eseguire: se lo schermo è diverso da questa immagine, la differenza è informazione. L'immagine è stata scritta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rapida: PRG32-QT sul vostro computer. Quattro passi, ciascuno con il suo comando. PRG32-QT si comporta come una scheda sulla porta 8080, ed è per questo che il comando di caricamento dice esp32c6. Con la modalità debug abilitata potete fermarvi su qualsiasi istruzione e leggere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Caricate la cartuccia mentre QEMU è chiuso. Il firmware si apre sul menu Setup: scegliete Run Cartridge e lo slot. Ricordate che la tastiera è letta dal terminale, non dalla finestra con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Il firmware si scrive una volta, via USB; dopo, le cartucce viaggiano sul Wi-Fi. Il comando di caricamento è quello usato per PRG32-QT con l'indirizzo della scheda. È l'unico host che i test automatici non eseguono: provatelo, e riferite ciò che vedete.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comuni, che cosa significa ciascuno, e che cosa fare. Leggete il messaggio prima di cambiare qualcosa: quasi sempre nomina la causa.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modifiche per fare vostro il programma, ciascuna di poche righe. Fate muovere la testa verso sinistra: la somma diventa una sottrazione, e il bordo si rileva sul segno del risultato. Fatela muovere verso il basso. Disegnate una seconda cella, più scura, dietro la testa. Scrivete il vostro nome accanto al titolo in un colore calcolato a mano. Prima di sperimentare tenete una copia della Parte 1 funzionante: la Parte 2 parte da lì.
Per il docente: Verso sinistra: addi t3, t3, -1, poi bgez t3 per saltare il rientro, altrimenti li t3, COLS-1. Il confronto è sul segno: Lezione 05. Verde più scuro: 0x03e0.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07: Verm1, parte 1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07</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700" b="1" dirty="0">
                <a:solidFill>
                  <a:srgbClr val="FFFFFF"/>
                </a:solidFill>
                <a:latin typeface="Cambria" pitchFamily="34" charset="0"/>
                <a:ea typeface="Cambria" pitchFamily="34" charset="-122"/>
                <a:cs typeface="Cambria" pitchFamily="34" charset="-120"/>
              </a:rPr>
              <a:t>Verm1, parte 1: una testa che attraversa il mondo: il codice</a:t>
            </a:r>
            <a:endParaRPr lang="en-US" sz="47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Implementazione di riferimento di Verm1: contributo di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07-Architettura_dei_Calcolatori-Verm1_Parte_1.pptx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1.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43713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884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8 listati della Lezione 07, uno per slide: leggete il codice, poi le osservazioni numerate a fianco</a:t>
            </a:r>
            <a:endParaRPr lang="en-US" sz="2200" dirty="0"/>
          </a:p>
        </p:txBody>
      </p:sp>
      <p:sp>
        <p:nvSpPr>
          <p:cNvPr id="5" name="Text 3"/>
          <p:cNvSpPr txBox="1"/>
          <p:nvPr/>
        </p:nvSpPr>
        <p:spPr>
          <a:xfrm>
            <a:off x="548640" y="25760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5577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è il vostro verm1.S; il riferimento è verm1/verm1_part1.S, 78 righe, mostrato qui regione per regione</a:t>
            </a:r>
            <a:endParaRPr lang="en-US" sz="2200" dirty="0"/>
          </a:p>
        </p:txBody>
      </p:sp>
      <p:sp>
        <p:nvSpPr>
          <p:cNvPr id="7" name="Text 5"/>
          <p:cNvSpPr txBox="1"/>
          <p:nvPr/>
        </p:nvSpPr>
        <p:spPr>
          <a:xfrm>
            <a:off x="548640" y="37150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9671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8539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8356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750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731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Compilare ed eseguire</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5" name="Shape 3"/>
          <p:cNvSpPr/>
          <p:nvPr/>
        </p:nvSpPr>
        <p:spPr>
          <a:xfrm>
            <a:off x="7875600" y="91440"/>
            <a:ext cx="3767455" cy="274320"/>
          </a:xfrm>
          <a:prstGeom prst="rect">
            <a:avLst/>
          </a:prstGeom>
          <a:solidFill>
            <a:srgbClr val="FEF3C7"/>
          </a:solidFill>
          <a:ln w="12700">
            <a:solidFill>
              <a:srgbClr val="B45309"/>
            </a:solidFill>
            <a:prstDash val="solid"/>
          </a:ln>
        </p:spPr>
      </p:sp>
      <p:sp>
        <p:nvSpPr>
          <p:cNvPr id="6" name="Shape 4"/>
          <p:cNvSpPr/>
          <p:nvPr/>
        </p:nvSpPr>
        <p:spPr>
          <a:xfrm>
            <a:off x="7875600" y="91440"/>
            <a:ext cx="27432" cy="274320"/>
          </a:xfrm>
          <a:prstGeom prst="rect">
            <a:avLst/>
          </a:prstGeom>
          <a:solidFill>
            <a:srgbClr val="B45309"/>
          </a:solidFill>
          <a:ln w="12700">
            <a:solidFill>
              <a:srgbClr val="B45309"/>
            </a:solidFill>
            <a:prstDash val="solid"/>
          </a:ln>
        </p:spPr>
      </p:sp>
      <p:sp>
        <p:nvSpPr>
          <p:cNvPr id="7" name="Shape 5"/>
          <p:cNvSpPr/>
          <p:nvPr/>
        </p:nvSpPr>
        <p:spPr>
          <a:xfrm>
            <a:off x="7930464"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9" name="Text 6"/>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1: tre funzioni che ritornano</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verm1.S - my Verm1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norelax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.text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Scrivetelo, compilatelo, eseguitelo: uno schermo nero è la risposta giusta</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Il prefisso verm1 è il nome che passate a --entry-prefix</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init viene eseguita una volta; update e draw una volta per frame</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Da ora in poi: aggiungere una cosa, eseguire, guardare. Mai due cose insieme</a:t>
            </a:r>
            <a:endParaRPr lang="en-US" sz="1300" dirty="0"/>
          </a:p>
        </p:txBody>
      </p:sp>
      <p:sp>
        <p:nvSpPr>
          <p:cNvPr id="17" name="Shape 15"/>
          <p:cNvSpPr/>
          <p:nvPr/>
        </p:nvSpPr>
        <p:spPr>
          <a:xfrm>
            <a:off x="7526350" y="91440"/>
            <a:ext cx="4116705" cy="274320"/>
          </a:xfrm>
          <a:prstGeom prst="rect">
            <a:avLst/>
          </a:prstGeom>
          <a:solidFill>
            <a:srgbClr val="E0F2FE"/>
          </a:solidFill>
          <a:ln w="12700">
            <a:solidFill>
              <a:srgbClr val="0369A1"/>
            </a:solidFill>
            <a:prstDash val="solid"/>
          </a:ln>
        </p:spPr>
      </p:sp>
      <p:sp>
        <p:nvSpPr>
          <p:cNvPr id="18" name="Shape 16"/>
          <p:cNvSpPr/>
          <p:nvPr/>
        </p:nvSpPr>
        <p:spPr>
          <a:xfrm>
            <a:off x="752635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20" name="Text 17"/>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contratto init/update/draw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Costanti: i colori e la griglia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500" dirty="0">
                <a:solidFill>
                  <a:srgbClr val="8FB3A0"/>
                </a:solidFill>
                <a:latin typeface="Courier New" pitchFamily="34" charset="0"/>
                <a:ea typeface="Courier New" pitchFamily="34" charset="-122"/>
                <a:cs typeface="Courier New" pitchFamily="34" charset="-120"/>
              </a:rPr>
              <a:t># RGB565 colours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WHITE, 0xffff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GREEN, 0x07e0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CELL,  8               </a:t>
            </a:r>
            <a:pPr indent="0" marL="0">
              <a:buNone/>
            </a:pPr>
            <a:r>
              <a:rPr lang="en-US" sz="1500" dirty="0">
                <a:solidFill>
                  <a:srgbClr val="8FB3A0"/>
                </a:solidFill>
                <a:latin typeface="Courier New" pitchFamily="34" charset="0"/>
                <a:ea typeface="Courier New" pitchFamily="34" charset="-122"/>
                <a:cs typeface="Courier New" pitchFamily="34" charset="-120"/>
              </a:rPr>
              <a:t># a cell is 8 x 8 pixels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COLS,  40              </a:t>
            </a:r>
            <a:pPr indent="0" marL="0">
              <a:buNone/>
            </a:pPr>
            <a:r>
              <a:rPr lang="en-US" sz="1500" dirty="0">
                <a:solidFill>
                  <a:srgbClr val="8FB3A0"/>
                </a:solidFill>
                <a:latin typeface="Courier New" pitchFamily="34" charset="0"/>
                <a:ea typeface="Courier New" pitchFamily="34" charset="-122"/>
                <a:cs typeface="Courier New" pitchFamily="34" charset="-120"/>
              </a:rPr>
              <a:t># 320 / 8 cells across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ROWS,  24              </a:t>
            </a:r>
            <a:pPr indent="0" marL="0">
              <a:buNone/>
            </a:pPr>
            <a:r>
              <a:rPr lang="en-US" sz="1500" dirty="0">
                <a:solidFill>
                  <a:srgbClr val="8FB3A0"/>
                </a:solidFill>
                <a:latin typeface="Courier New" pitchFamily="34" charset="0"/>
                <a:ea typeface="Courier New" pitchFamily="34" charset="-122"/>
                <a:cs typeface="Courier New" pitchFamily="34" charset="-120"/>
              </a:rPr>
              <a:t># 192 / 8 cells down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TOP,   8               </a:t>
            </a:r>
            <a:pPr indent="0" marL="0">
              <a:buNone/>
            </a:pPr>
            <a:r>
              <a:rPr lang="en-US" sz="1500" dirty="0">
                <a:solidFill>
                  <a:srgbClr val="8FB3A0"/>
                </a:solidFill>
                <a:latin typeface="Courier New" pitchFamily="34" charset="0"/>
                <a:ea typeface="Courier New" pitchFamily="34" charset="-122"/>
                <a:cs typeface="Courier New" pitchFamily="34" charset="-120"/>
              </a:rPr>
              <a:t># the top 8 pixels are the title line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SPEED_Q8, 40           </a:t>
            </a:r>
            <a:pPr indent="0" marL="0">
              <a:buNone/>
            </a:pPr>
            <a:r>
              <a:rPr lang="en-US" sz="1500" dirty="0">
                <a:solidFill>
                  <a:srgbClr val="8FB3A0"/>
                </a:solidFill>
                <a:latin typeface="Courier New" pitchFamily="34" charset="0"/>
                <a:ea typeface="Courier New" pitchFamily="34" charset="-122"/>
                <a:cs typeface="Courier New" pitchFamily="34" charset="-120"/>
              </a:rPr>
              <a:t># 40/256 of a cell per frame (Q24.8)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verm1_draw</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colori sono numeri RGB565: 0x07e0 è verde puro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320 pixel in larghezza, 8 per cella: 40 colonne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Gli 8 pixel in alto contengono il titolo; ne restano 192: 24 righe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.equ dà un nome a un numero: non si usa memoria</a:t>
            </a:r>
            <a:endParaRPr lang="en-US" sz="1200" dirty="0"/>
          </a:p>
        </p:txBody>
      </p:sp>
      <p:sp>
        <p:nvSpPr>
          <p:cNvPr id="17" name="Shape 15"/>
          <p:cNvSpPr/>
          <p:nvPr/>
        </p:nvSpPr>
        <p:spPr>
          <a:xfrm>
            <a:off x="7854645" y="91440"/>
            <a:ext cx="3788410" cy="274320"/>
          </a:xfrm>
          <a:prstGeom prst="rect">
            <a:avLst/>
          </a:prstGeom>
          <a:solidFill>
            <a:srgbClr val="E0F2FE"/>
          </a:solidFill>
          <a:ln w="12700">
            <a:solidFill>
              <a:srgbClr val="0369A1"/>
            </a:solidFill>
            <a:prstDash val="solid"/>
          </a:ln>
        </p:spPr>
      </p:sp>
      <p:sp>
        <p:nvSpPr>
          <p:cNvPr id="18" name="Shape 16"/>
          <p:cNvSpPr/>
          <p:nvPr/>
        </p:nvSpPr>
        <p:spPr>
          <a:xfrm>
            <a:off x="785464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20" name="Text 17"/>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un colore è un numero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Variabili e una stringa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title:   .asciz "VERM1"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head_x:  .word 5                </a:t>
            </a:r>
            <a:pPr indent="0" marL="0">
              <a:buNone/>
            </a:pPr>
            <a:r>
              <a:rPr lang="en-US" sz="1500" dirty="0">
                <a:solidFill>
                  <a:srgbClr val="8FB3A0"/>
                </a:solidFill>
                <a:latin typeface="Courier New" pitchFamily="34" charset="0"/>
                <a:ea typeface="Courier New" pitchFamily="34" charset="-122"/>
                <a:cs typeface="Courier New" pitchFamily="34" charset="-120"/>
              </a:rPr>
              <a:t># column of the head, 0 .. COLS-1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head_y:  .word 12               </a:t>
            </a:r>
            <a:pPr indent="0" marL="0">
              <a:buNone/>
            </a:pPr>
            <a:r>
              <a:rPr lang="en-US" sz="1500" dirty="0">
                <a:solidFill>
                  <a:srgbClr val="8FB3A0"/>
                </a:solidFill>
                <a:latin typeface="Courier New" pitchFamily="34" charset="0"/>
                <a:ea typeface="Courier New" pitchFamily="34" charset="-122"/>
                <a:cs typeface="Courier New" pitchFamily="34" charset="-120"/>
              </a:rPr>
              <a:t># row of the head, 0 .. ROWS-1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step_q8: .word 0                </a:t>
            </a:r>
            <a:pPr indent="0" marL="0">
              <a:buNone/>
            </a:pPr>
            <a:r>
              <a:rPr lang="en-US" sz="1500" dirty="0">
                <a:solidFill>
                  <a:srgbClr val="8FB3A0"/>
                </a:solidFill>
                <a:latin typeface="Courier New" pitchFamily="34" charset="0"/>
                <a:ea typeface="Courier New" pitchFamily="34" charset="-122"/>
                <a:cs typeface="Courier New" pitchFamily="34" charset="-120"/>
              </a:rPr>
              <a:t># fraction of a step, in 1/256</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.rodata contiene le costanti: il titolo termina con un byte a zero</a:t>
            </a:r>
            <a:endParaRPr lang="en-US" sz="15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.data contiene le variabili: una parola di 32 bit ciascuna</a:t>
            </a:r>
            <a:endParaRPr lang="en-US" sz="15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 valori iniziali sono solo un punto di partenza: init li imposta di nuovo</a:t>
            </a:r>
            <a:endParaRPr lang="en-US" sz="1500" dirty="0"/>
          </a:p>
        </p:txBody>
      </p:sp>
      <p:sp>
        <p:nvSpPr>
          <p:cNvPr id="14" name="Shape 12"/>
          <p:cNvSpPr/>
          <p:nvPr/>
        </p:nvSpPr>
        <p:spPr>
          <a:xfrm>
            <a:off x="7854645" y="91440"/>
            <a:ext cx="3788410" cy="274320"/>
          </a:xfrm>
          <a:prstGeom prst="rect">
            <a:avLst/>
          </a:prstGeom>
          <a:solidFill>
            <a:srgbClr val="E0F2FE"/>
          </a:solidFill>
          <a:ln w="12700">
            <a:solidFill>
              <a:srgbClr val="0369A1"/>
            </a:solidFill>
            <a:prstDash val="solid"/>
          </a:ln>
        </p:spPr>
      </p:sp>
      <p:sp>
        <p:nvSpPr>
          <p:cNvPr id="15" name="Shape 13"/>
          <p:cNvSpPr/>
          <p:nvPr/>
        </p:nvSpPr>
        <p:spPr>
          <a:xfrm>
            <a:off x="785464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17" name="Text 14"/>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.text, .rodata, .data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init: la testa al suo posto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verm1_init: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head_x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5</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the head starts in column 5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head_y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 of row 12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step_q8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zero, 0(t0)            </a:t>
            </a:r>
            <a:pPr indent="0" marL="0">
              <a:buNone/>
            </a:pPr>
            <a:r>
              <a:rPr lang="en-US" sz="1500" dirty="0">
                <a:solidFill>
                  <a:srgbClr val="8FB3A0"/>
                </a:solidFill>
                <a:latin typeface="Courier New" pitchFamily="34" charset="0"/>
                <a:ea typeface="Courier New" pitchFamily="34" charset="-122"/>
                <a:cs typeface="Courier New" pitchFamily="34" charset="-120"/>
              </a:rPr>
              <a:t># no fraction of a step yet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prende un INDIRIZZO, sw vi memorizza un VALORE</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init imposta la partenza in modo esplicito: mai fidarsi di ciò che la memoria conteneva</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zero è il registro che si legge sempre 0</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Una funzione foglia: nessuna chiamata, quindi nessun frame di stack</a:t>
            </a:r>
            <a:endParaRPr lang="en-US" sz="1100" dirty="0"/>
          </a:p>
        </p:txBody>
      </p:sp>
      <p:sp>
        <p:nvSpPr>
          <p:cNvPr id="17" name="Shape 15"/>
          <p:cNvSpPr/>
          <p:nvPr/>
        </p:nvSpPr>
        <p:spPr>
          <a:xfrm>
            <a:off x="7263714" y="91440"/>
            <a:ext cx="4379341" cy="274320"/>
          </a:xfrm>
          <a:prstGeom prst="rect">
            <a:avLst/>
          </a:prstGeom>
          <a:solidFill>
            <a:srgbClr val="E0F2FE"/>
          </a:solidFill>
          <a:ln w="12700">
            <a:solidFill>
              <a:srgbClr val="0369A1"/>
            </a:solidFill>
            <a:prstDash val="solid"/>
          </a:ln>
        </p:spPr>
      </p:sp>
      <p:sp>
        <p:nvSpPr>
          <p:cNvPr id="18" name="Shape 16"/>
          <p:cNvSpPr/>
          <p:nvPr/>
        </p:nvSpPr>
        <p:spPr>
          <a:xfrm>
            <a:off x="726371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391730" y="128016"/>
            <a:ext cx="201168" cy="201168"/>
          </a:xfrm>
          <a:prstGeom prst="rect">
            <a:avLst/>
          </a:prstGeom>
        </p:spPr>
      </p:pic>
      <p:sp>
        <p:nvSpPr>
          <p:cNvPr id="20" name="Text 17"/>
          <p:cNvSpPr txBox="1"/>
          <p:nvPr/>
        </p:nvSpPr>
        <p:spPr>
          <a:xfrm>
            <a:off x="7647762" y="91440"/>
            <a:ext cx="395871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indirizzo, valore, load, store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draw: titolo e testa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verm1_draw:</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a0, BLACK</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prg32_gfx_clear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a0, 0                  </a:t>
            </a:r>
            <a:pPr indent="0" marL="0">
              <a:buNone/>
            </a:pPr>
            <a:r>
              <a:rPr lang="en-US" sz="1150" dirty="0">
                <a:solidFill>
                  <a:srgbClr val="8FB3A0"/>
                </a:solidFill>
                <a:latin typeface="Courier New" pitchFamily="34" charset="0"/>
                <a:ea typeface="Courier New" pitchFamily="34" charset="-122"/>
                <a:cs typeface="Courier New" pitchFamily="34" charset="-120"/>
              </a:rPr>
              <a:t># 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a1, 0                  </a:t>
            </a:r>
            <a:pPr indent="0" marL="0">
              <a:buNone/>
            </a:pPr>
            <a:r>
              <a:rPr lang="en-US" sz="1150" dirty="0">
                <a:solidFill>
                  <a:srgbClr val="8FB3A0"/>
                </a:solidFill>
                <a:latin typeface="Courier New" pitchFamily="34" charset="0"/>
                <a:ea typeface="Courier New" pitchFamily="34" charset="-122"/>
                <a:cs typeface="Courier New" pitchFamily="34" charset="-120"/>
              </a:rPr>
              <a:t># 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a2, title              </a:t>
            </a:r>
            <a:pPr indent="0" marL="0">
              <a:buNone/>
            </a:pPr>
            <a:r>
              <a:rPr lang="en-US" sz="1150" dirty="0">
                <a:solidFill>
                  <a:srgbClr val="8FB3A0"/>
                </a:solidFill>
                <a:latin typeface="Courier New" pitchFamily="34" charset="0"/>
                <a:ea typeface="Courier New" pitchFamily="34" charset="-122"/>
                <a:cs typeface="Courier New" pitchFamily="34" charset="-120"/>
              </a:rPr>
              <a:t># address of the string</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a3, WHITE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a4, BLACK</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prg32_gfx_text8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head_x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a0,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slli a0, a0, 3              </a:t>
            </a:r>
            <a:pPr indent="0" marL="0">
              <a:buNone/>
            </a:pPr>
            <a:r>
              <a:rPr lang="en-US" sz="1150" dirty="0">
                <a:solidFill>
                  <a:srgbClr val="8FB3A0"/>
                </a:solidFill>
                <a:latin typeface="Courier New" pitchFamily="34" charset="0"/>
                <a:ea typeface="Courier New" pitchFamily="34" charset="-122"/>
                <a:cs typeface="Courier New" pitchFamily="34" charset="-120"/>
              </a:rPr>
              <a:t># x = column * 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head_y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a1,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slli a1, a1,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150" dirty="0">
                <a:solidFill>
                  <a:srgbClr val="8FB3A0"/>
                </a:solidFill>
                <a:latin typeface="Courier New" pitchFamily="34" charset="0"/>
                <a:ea typeface="Courier New" pitchFamily="34" charset="-122"/>
                <a:cs typeface="Courier New" pitchFamily="34" charset="-120"/>
              </a:rPr>
              <a:t># y = row * 8 + 8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a2, CELL               </a:t>
            </a:r>
            <a:pPr indent="0" marL="0">
              <a:buNone/>
            </a:pPr>
            <a:r>
              <a:rPr lang="en-US" sz="1150" dirty="0">
                <a:solidFill>
                  <a:srgbClr val="8FB3A0"/>
                </a:solidFill>
                <a:latin typeface="Courier New" pitchFamily="34" charset="0"/>
                <a:ea typeface="Courier New" pitchFamily="34" charset="-122"/>
                <a:cs typeface="Courier New" pitchFamily="34" charset="-120"/>
              </a:rPr>
              <a:t># width</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a3, CELL               </a:t>
            </a:r>
            <a:pPr indent="0" marL="0">
              <a:buNone/>
            </a:pPr>
            <a:r>
              <a:rPr lang="en-US" sz="1150" dirty="0">
                <a:solidFill>
                  <a:srgbClr val="8FB3A0"/>
                </a:solidFill>
                <a:latin typeface="Courier New" pitchFamily="34" charset="0"/>
                <a:ea typeface="Courier New" pitchFamily="34" charset="-122"/>
                <a:cs typeface="Courier New" pitchFamily="34" charset="-120"/>
              </a:rPr>
              <a:t># height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a4, GREEN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prg32_gfx_rect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ret</a:t>
            </a:r>
            <a:endParaRPr lang="en-US" sz="11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Cancellare, scrivere il titolo, disegnare un rettangolo: tre chiamate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Gli argomenti viaggiano da a0 ad a4, nell'ordine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slli di 3 moltiplica per 8: da cella a pixel</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draw fa delle chiamate, quindi salva ra in un frame di stack</a:t>
            </a:r>
            <a:endParaRPr lang="en-US" sz="1200" dirty="0"/>
          </a:p>
        </p:txBody>
      </p:sp>
      <p:sp>
        <p:nvSpPr>
          <p:cNvPr id="17" name="Shape 15"/>
          <p:cNvSpPr/>
          <p:nvPr/>
        </p:nvSpPr>
        <p:spPr>
          <a:xfrm>
            <a:off x="8051622" y="91440"/>
            <a:ext cx="3591433" cy="274320"/>
          </a:xfrm>
          <a:prstGeom prst="rect">
            <a:avLst/>
          </a:prstGeom>
          <a:solidFill>
            <a:srgbClr val="E0F2FE"/>
          </a:solidFill>
          <a:ln w="12700">
            <a:solidFill>
              <a:srgbClr val="0369A1"/>
            </a:solidFill>
            <a:prstDash val="solid"/>
          </a:ln>
        </p:spPr>
      </p:sp>
      <p:sp>
        <p:nvSpPr>
          <p:cNvPr id="18" name="Shape 16"/>
          <p:cNvSpPr/>
          <p:nvPr/>
        </p:nvSpPr>
        <p:spPr>
          <a:xfrm>
            <a:off x="8051622"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20" name="Text 17"/>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perché si salva ra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una testa sulla griglia</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1.png">    </p:cNvPr>
          <p:cNvPicPr>
            <a:picLocks noChangeAspect="1"/>
          </p:cNvPicPr>
          <p:nvPr/>
        </p:nvPicPr>
        <p:blipFill>
          <a:blip r:embed="rId1"/>
          <a:stretch>
            <a:fillRect/>
          </a:stretch>
        </p:blipFill>
        <p:spPr>
          <a:xfrm>
            <a:off x="3645256" y="1554480"/>
            <a:ext cx="4901184"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Il titolo e la testa. Dopo il passo 3 la testa si muoverà: questa immagine è stata presa a 64 frame dall'avvio della Parte 1 finita</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Atteso ora: la parola VERM1 in alto a sinistra e un quadrato verde fermo nella colonna 5, riga 12.</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update: accumulare, avanzare, rientrare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verm1_update: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step_q8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350" dirty="0">
                <a:solidFill>
                  <a:srgbClr val="8FB3A0"/>
                </a:solidFill>
                <a:latin typeface="Courier New" pitchFamily="34" charset="0"/>
                <a:ea typeface="Courier New" pitchFamily="34" charset="-122"/>
                <a:cs typeface="Courier New" pitchFamily="34" charset="-120"/>
              </a:rPr>
              <a:t># add a fraction of a cell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t2, 256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t1, t2, 2f             </a:t>
            </a:r>
            <a:pPr indent="0" marL="0">
              <a:buNone/>
            </a:pPr>
            <a:r>
              <a:rPr lang="en-US" sz="1350" dirty="0">
                <a:solidFill>
                  <a:srgbClr val="8FB3A0"/>
                </a:solidFill>
                <a:latin typeface="Courier New" pitchFamily="34" charset="0"/>
                <a:ea typeface="Courier New" pitchFamily="34" charset="-122"/>
                <a:cs typeface="Courier New" pitchFamily="34" charset="-120"/>
              </a:rPr>
              <a:t># less than one whole cell: wait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sub  t1, t1, t2             </a:t>
            </a:r>
            <a:pPr indent="0" marL="0">
              <a:buNone/>
            </a:pPr>
            <a:r>
              <a:rPr lang="en-US" sz="1350" dirty="0">
                <a:solidFill>
                  <a:srgbClr val="8FB3A0"/>
                </a:solidFill>
                <a:latin typeface="Courier New" pitchFamily="34" charset="0"/>
                <a:ea typeface="Courier New" pitchFamily="34" charset="-122"/>
                <a:cs typeface="Courier New" pitchFamily="34" charset="-120"/>
              </a:rPr>
              <a:t># one cell done: keep the remainder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t3,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t3, t3, 1              </a:t>
            </a:r>
            <a:pPr indent="0" marL="0">
              <a:buNone/>
            </a:pPr>
            <a:r>
              <a:rPr lang="en-US" sz="1350" dirty="0">
                <a:solidFill>
                  <a:srgbClr val="8FB3A0"/>
                </a:solidFill>
                <a:latin typeface="Courier New" pitchFamily="34" charset="0"/>
                <a:ea typeface="Courier New" pitchFamily="34" charset="-122"/>
                <a:cs typeface="Courier New" pitchFamily="34" charset="-120"/>
              </a:rPr>
              <a:t># one cell to the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t4, COLS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t3, t4,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t3, 0                  </a:t>
            </a:r>
            <a:pPr indent="0" marL="0">
              <a:buNone/>
            </a:pPr>
            <a:r>
              <a:rPr lang="en-US" sz="1350" dirty="0">
                <a:solidFill>
                  <a:srgbClr val="8FB3A0"/>
                </a:solidFill>
                <a:latin typeface="Courier New" pitchFamily="34" charset="0"/>
                <a:ea typeface="Courier New" pitchFamily="34" charset="-122"/>
                <a:cs typeface="Courier New" pitchFamily="34" charset="-120"/>
              </a:rPr>
              <a:t># past the right edge: back to column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sw   t3,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Si somma la velocità alla frazione; sotto 256, si aspetta</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256: lo si sottrae, si tiene il resto, si avanza di una cella</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La colonna 40 non esiste: si torna alla colonna 0</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Due uscite: ognuna memorizza ciò che ha cambiato</a:t>
            </a:r>
            <a:endParaRPr lang="en-US" sz="1300" dirty="0"/>
          </a:p>
        </p:txBody>
      </p:sp>
      <p:sp>
        <p:nvSpPr>
          <p:cNvPr id="17" name="Shape 15"/>
          <p:cNvSpPr/>
          <p:nvPr/>
        </p:nvSpPr>
        <p:spPr>
          <a:xfrm>
            <a:off x="8182940" y="91440"/>
            <a:ext cx="3460115" cy="274320"/>
          </a:xfrm>
          <a:prstGeom prst="rect">
            <a:avLst/>
          </a:prstGeom>
          <a:solidFill>
            <a:srgbClr val="E0F2FE"/>
          </a:solidFill>
          <a:ln w="12700">
            <a:solidFill>
              <a:srgbClr val="0369A1"/>
            </a:solidFill>
            <a:prstDash val="solid"/>
          </a:ln>
        </p:spPr>
      </p:sp>
      <p:sp>
        <p:nvSpPr>
          <p:cNvPr id="18" name="Shape 16"/>
          <p:cNvSpPr/>
          <p:nvPr/>
        </p:nvSpPr>
        <p:spPr>
          <a:xfrm>
            <a:off x="818294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10956" y="128016"/>
            <a:ext cx="201168" cy="201168"/>
          </a:xfrm>
          <a:prstGeom prst="rect">
            <a:avLst/>
          </a:prstGeom>
        </p:spPr>
      </p:pic>
      <p:sp>
        <p:nvSpPr>
          <p:cNvPr id="20" name="Text 17"/>
          <p:cNvSpPr txBox="1"/>
          <p:nvPr/>
        </p:nvSpPr>
        <p:spPr>
          <a:xfrm>
            <a:off x="8566988" y="91440"/>
            <a:ext cx="303949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fissa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la testa attraversa il mondo</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Compilate ed eseguite: la testa va verso destra, circa cinque celle al secondo</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Aspettate il bordo destro: la testa esce dalla colonna 39 e rientra dalla colonna 0</a:t>
            </a:r>
            <a:endParaRPr lang="en-US" sz="2400" dirty="0"/>
          </a:p>
        </p:txBody>
      </p:sp>
      <p:sp>
        <p:nvSpPr>
          <p:cNvPr id="8" name="Text 6"/>
          <p:cNvSpPr txBox="1"/>
          <p:nvPr/>
        </p:nvSpPr>
        <p:spPr>
          <a:xfrm>
            <a:off x="548640" y="3459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4411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Portate SPEED_Q8 a 8, poi a 128, poi a 256: prevedete la velocità prima di eseguire</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Cambiate in init la riga di partenza e il colore della testa</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La testa attraversa le quaranta colonne in 256 frame, circa otto secondi e mezzo a trenta frame al secondo, all'infinito.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listato: il vostro codice dopo l'assemblatore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verm1_update: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auipc   t0, 0x0          # la t0, step_q8   is two instructions: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t0, t0, ...      #   t0 = address of step_q8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t1, t1, 40       # SPEED_Q8 is gone: only the number is left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t2, zero, 256    # li t2, 256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blt     t1, t2,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sub     t1, t1, t2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c.addi  t3, 1            # addi t3, t3, 1 in a 16-bit form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c.jr    ra               # ret</a:t>
            </a:r>
            <a:endParaRPr lang="en-US" sz="12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nomi sono spariti: le etichette sono diventate indirizzi, le costanti numeri</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Le pseudo-istruzioni sono espanse: la è auipc più addi, li è addi da zero, ret è un salto a ra</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Alcune istruzioni cominciano con c.: sono le forme compresse a 16 bit delle stesse istruzioni</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cartuccia è caricata all'indirizzo 0x40800000: ogni indirizzo che vedete parte da lì</a:t>
            </a:r>
            <a:endParaRPr lang="en-US" sz="1200" dirty="0"/>
          </a:p>
        </p:txBody>
      </p:sp>
      <p:sp>
        <p:nvSpPr>
          <p:cNvPr id="17" name="Shape 15"/>
          <p:cNvSpPr/>
          <p:nvPr/>
        </p:nvSpPr>
        <p:spPr>
          <a:xfrm>
            <a:off x="6175451" y="91440"/>
            <a:ext cx="5467604" cy="274320"/>
          </a:xfrm>
          <a:prstGeom prst="rect">
            <a:avLst/>
          </a:prstGeom>
          <a:solidFill>
            <a:srgbClr val="F3E8FF"/>
          </a:solidFill>
          <a:ln w="12700">
            <a:solidFill>
              <a:srgbClr val="7E22CE"/>
            </a:solidFill>
            <a:prstDash val="dash"/>
          </a:ln>
        </p:spPr>
      </p:sp>
      <p:sp>
        <p:nvSpPr>
          <p:cNvPr id="18" name="Shape 16"/>
          <p:cNvSpPr/>
          <p:nvPr/>
        </p:nvSpPr>
        <p:spPr>
          <a:xfrm>
            <a:off x="6202883" y="128016"/>
            <a:ext cx="45720" cy="45720"/>
          </a:xfrm>
          <a:prstGeom prst="rect">
            <a:avLst/>
          </a:prstGeom>
          <a:solidFill>
            <a:srgbClr val="7E22CE"/>
          </a:solidFill>
          <a:ln w="12700">
            <a:solidFill>
              <a:srgbClr val="7E22CE"/>
            </a:solidFill>
            <a:prstDash val="solid"/>
          </a:ln>
        </p:spPr>
      </p:sp>
      <p:sp>
        <p:nvSpPr>
          <p:cNvPr id="19" name="Shape 17"/>
          <p:cNvSpPr/>
          <p:nvPr/>
        </p:nvSpPr>
        <p:spPr>
          <a:xfrm>
            <a:off x="6202883" y="205740"/>
            <a:ext cx="45720" cy="45720"/>
          </a:xfrm>
          <a:prstGeom prst="rect">
            <a:avLst/>
          </a:prstGeom>
          <a:solidFill>
            <a:srgbClr val="7E22CE"/>
          </a:solidFill>
          <a:ln w="12700">
            <a:solidFill>
              <a:srgbClr val="7E22CE"/>
            </a:solidFill>
            <a:prstDash val="solid"/>
          </a:ln>
        </p:spPr>
      </p:sp>
      <p:sp>
        <p:nvSpPr>
          <p:cNvPr id="20" name="Shape 18"/>
          <p:cNvSpPr/>
          <p:nvPr/>
        </p:nvSpPr>
        <p:spPr>
          <a:xfrm>
            <a:off x="6202883" y="283464"/>
            <a:ext cx="45720" cy="45720"/>
          </a:xfrm>
          <a:prstGeom prst="rect">
            <a:avLst/>
          </a:prstGeom>
          <a:solidFill>
            <a:srgbClr val="7E22CE"/>
          </a:solidFill>
          <a:ln w="12700">
            <a:solidFill>
              <a:srgbClr val="7E22CE"/>
            </a:solidFill>
            <a:prstDash val="solid"/>
          </a:ln>
        </p:spPr>
      </p:sp>
      <p:pic>
        <p:nvPicPr>
          <p:cNvPr id="21" name="Image 0" descr="preencoded.png">    </p:cNvPr>
          <p:cNvPicPr>
            <a:picLocks noChangeAspect="1"/>
          </p:cNvPicPr>
          <p:nvPr/>
        </p:nvPicPr>
        <p:blipFill>
          <a:blip r:embed="rId1"/>
          <a:stretch>
            <a:fillRect/>
          </a:stretch>
        </p:blipFill>
        <p:spPr>
          <a:xfrm>
            <a:off x="6303467" y="128016"/>
            <a:ext cx="201168" cy="201168"/>
          </a:xfrm>
          <a:prstGeom prst="rect">
            <a:avLst/>
          </a:prstGeom>
        </p:spPr>
      </p:pic>
      <p:sp>
        <p:nvSpPr>
          <p:cNvPr id="22" name="Text 19"/>
          <p:cNvSpPr txBox="1"/>
          <p:nvPr/>
        </p:nvSpPr>
        <p:spPr>
          <a:xfrm>
            <a:off x="6559499" y="91440"/>
            <a:ext cx="5046980"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dirty="0">
                <a:solidFill>
                  <a:srgbClr val="6B21A8"/>
                </a:solidFill>
                <a:latin typeface="Calibri" pitchFamily="34" charset="0"/>
                <a:ea typeface="Calibri" pitchFamily="34" charset="-122"/>
                <a:cs typeface="Calibri" pitchFamily="34" charset="-120"/>
              </a:rPr>
              <a:t> · formati delle istruzioni</a:t>
            </a:r>
            <a:pPr indent="0" marL="0">
              <a:buNone/>
            </a:pPr>
            <a:r>
              <a:rPr lang="en-US" sz="1100" b="1" dirty="0">
                <a:solidFill>
                  <a:srgbClr val="6B21A8"/>
                </a:solidFill>
                <a:latin typeface="Calibri" pitchFamily="34" charset="0"/>
                <a:ea typeface="Calibri" pitchFamily="34" charset="-122"/>
                <a:cs typeface="Calibri" pitchFamily="34" charset="-120"/>
              </a:rPr>
              <a:t> → Lezione 19</a:t>
            </a:r>
            <a:endParaRPr lang="en-US" sz="1100" dirty="0"/>
          </a:p>
        </p:txBody>
      </p:sp>
      <p:sp>
        <p:nvSpPr>
          <p:cNvPr id="23" name="Shape 20"/>
          <p:cNvSpPr/>
          <p:nvPr/>
        </p:nvSpPr>
        <p:spPr>
          <a:xfrm>
            <a:off x="2342972" y="91440"/>
            <a:ext cx="3722751" cy="274320"/>
          </a:xfrm>
          <a:prstGeom prst="rect">
            <a:avLst/>
          </a:prstGeom>
          <a:solidFill>
            <a:srgbClr val="E0F2FE"/>
          </a:solidFill>
          <a:ln w="12700">
            <a:solidFill>
              <a:srgbClr val="0369A1"/>
            </a:solidFill>
            <a:prstDash val="solid"/>
          </a:ln>
        </p:spPr>
      </p:sp>
      <p:sp>
        <p:nvSpPr>
          <p:cNvPr id="24" name="Shape 21"/>
          <p:cNvSpPr/>
          <p:nvPr/>
        </p:nvSpPr>
        <p:spPr>
          <a:xfrm>
            <a:off x="2342972" y="91440"/>
            <a:ext cx="73152" cy="274320"/>
          </a:xfrm>
          <a:prstGeom prst="rect">
            <a:avLst/>
          </a:prstGeom>
          <a:solidFill>
            <a:srgbClr val="0369A1"/>
          </a:solidFill>
          <a:ln w="12700">
            <a:solidFill>
              <a:srgbClr val="0369A1"/>
            </a:solidFill>
            <a:prstDash val="solid"/>
          </a:ln>
        </p:spPr>
      </p:sp>
      <p:pic>
        <p:nvPicPr>
          <p:cNvPr id="25" name="Image 1" descr="preencoded.png">    </p:cNvPr>
          <p:cNvPicPr>
            <a:picLocks noChangeAspect="1"/>
          </p:cNvPicPr>
          <p:nvPr/>
        </p:nvPicPr>
        <p:blipFill>
          <a:blip r:embed="rId2"/>
          <a:stretch>
            <a:fillRect/>
          </a:stretch>
        </p:blipFill>
        <p:spPr>
          <a:xfrm>
            <a:off x="2470988" y="128016"/>
            <a:ext cx="201168" cy="201168"/>
          </a:xfrm>
          <a:prstGeom prst="rect">
            <a:avLst/>
          </a:prstGeom>
        </p:spPr>
      </p:pic>
      <p:sp>
        <p:nvSpPr>
          <p:cNvPr id="26" name="Text 22"/>
          <p:cNvSpPr txBox="1"/>
          <p:nvPr/>
        </p:nvSpPr>
        <p:spPr>
          <a:xfrm>
            <a:off x="2727020"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pseudo-istruzioni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la parola VERM1 in alto a sinistra e una testa verde che attraversa la griglia da sinistra a destra, circa cinque celle al secondo, e rientra dalla colonna 0.</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verm1_p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Fatelo vostro</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Fate muovere la testa verso sinistra: quale istruzione cambia, e quale confronto rileva il bordo?</a:t>
            </a:r>
            <a:endParaRPr lang="en-US" sz="2400" dirty="0"/>
          </a:p>
        </p:txBody>
      </p:sp>
      <p:sp>
        <p:nvSpPr>
          <p:cNvPr id="6" name="Text 4"/>
          <p:cNvSpPr txBox="1"/>
          <p:nvPr/>
        </p:nvSpPr>
        <p:spPr>
          <a:xfrm>
            <a:off x="548640" y="2345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276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Fatela muovere invece verso il basso, rientrando dalla riga 23 alla riga 0</a:t>
            </a:r>
            <a:endParaRPr lang="en-US" sz="2400" dirty="0"/>
          </a:p>
        </p:txBody>
      </p:sp>
      <p:sp>
        <p:nvSpPr>
          <p:cNvPr id="8" name="Text 6"/>
          <p:cNvSpPr txBox="1"/>
          <p:nvPr/>
        </p:nvSpPr>
        <p:spPr>
          <a:xfrm>
            <a:off x="548640" y="32562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79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Disegnate una seconda cella, di un verde più scuro, una colonna dietro la testa: un primo accenno di corpo</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Scrivete il vostro nome accanto al titolo, in un colore calcolato a mano in RGB565</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Ogni modifica sono poche righe. Tenete una copia della Parte 1 funzionante prima di sperimentare: la Parte 2 parte da lì.</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Verm1, parte 1: una testa che attraversa il mondo: il codice</dc:title>
  <dc:subject>Lezione 07</dc:subject>
  <dc:creator>Raffaele Montella</dc:creator>
  <cp:lastModifiedBy>Raffaele Montella</cp:lastModifiedBy>
  <cp:revision>1</cp:revision>
  <dcterms:created xsi:type="dcterms:W3CDTF">2026-10-16T15:51:39Z</dcterms:created>
  <dcterms:modified xsi:type="dcterms:W3CDTF">2026-10-16T15:51:39Z</dcterms:modified>
</cp:coreProperties>
</file>