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ee90b659-ea92-2a5e-48cb-fa46469bf605}">
          <p14:sldIdLst>
            <p14:sldId id="256"/>
            <p14:sldId id="257"/>
          </p14:sldIdLst>
        </p14:section>
        <p14:section name="Riscaldamento sulla macchina" id="{0b71a69f-ac9e-dd83-f55a-d736c57e246c}">
          <p14:sldIdLst>
            <p14:sldId id="258"/>
            <p14:sldId id="259"/>
          </p14:sldIdLst>
        </p14:section>
        <p14:section name="Ritorno alla macchina" id="{3cea00b7-9ac3-06cd-6338-b7d2d3aaa751}">
          <p14:sldIdLst>
            <p14:sldId id="260"/>
            <p14:sldId id="261"/>
            <p14:sldId id="262"/>
            <p14:sldId id="263"/>
          </p14:sldIdLst>
        </p14:section>
        <p14:section name="Il programma completo" id="{038b81a3-bec0-9a88-5e64-5069942baa08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Eseguire e provare" id="{5c2d49a7-3acd-8f1c-f4d5-bf8c79f3d3b8}">
          <p14:sldIdLst>
            <p14:sldId id="270"/>
            <p14:sldId id="271"/>
            <p14:sldId id="272"/>
            <p14:sldId id="273"/>
            <p14:sldId id="274"/>
          </p14:sldIdLst>
        </p14:section>
        <p14:section name="Esercizi" id="{f7640a9e-6b0d-6889-21fa-d968098310fb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è la presentazione del codice della Lezione 08. Mentre la presentazione della lezione sviluppa i concetti, questa raccoglie tutto ciò che si scrive e si esegue: ogni listato con il suo commento, il programma completo della lezione, il risultato che deve produrre, e la procedura per provarlo su ciascuno dei tre host. Le due presentazioni vanno lette insieme: i concetti spiegano il codice, e il codice dà ai concetti una conseguenza osservabile.
Stato di apprendimento: DA COMPRENDERE OGGI, alla fine di questa lezione lo spiegate, lo seguite passo passo e lo applicate da soli; DA UTILIZZARE OGGI, oggi seguite e usate la ricetta; come funziona dentro si spiega più avanti, o non fa parte del corso; DA COMPRENDERE PIÙ AVANTI, riconoscete il nome e lo scopo; lo spiega una lezione successiva. Una slide senza etichetta è contesto: una storia, un esempio, una domanda, un esercizio.
Stato di apprendimento di questa lezione. DA COMPRENDERE OGGI: le maschere di bit; l'architettura di von Neumann; analisi e sintesi; l'algebra di Boole; le porte logiche. DA UTILIZZARE OGGI: il programma completo, gli strumenti di PRG32 (si usa, non si studia, in questo corso). DA COMPRENDERE PIÙ AVANTI: minimizzazione, Karnaugh (Lezione 09). Una slide senza etichetta è contesto: una storia, un esempio, una domanda, un esercizio.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contenuto della presentazione, nell'ordine delle slide. Il programma della lezione è un file sorgente completo, che si può compilare ed eseguire così com'è. Il percorso consigliato è eseguirlo per primo, osservarne il comportamento, e poi tornare ai singoli listati per capire come ciascuna parte contribuisce a quel comportamento. Il programma di questa lezione è ~/arc12/code/l08.S; tools/tests/cartridges/run.py lo compila, lo esegue su PRG32-QT con ingressi programmati e controlla i pixel del frame.
Per il docente: Procurarsi il codice una volta: git clone https://github.com/riscv-prg32/computer-architecture-with-prg32 ~/arc12. Il programma di questa lezione è ~/arc12/code/l08.S; tools/tests/cartridges/run.py lo compila, lo esegue su PRG32-QT con ingressi programmati e controlla i pixel del frame. Ogni listato di queste slide è letto dalla compilazione da un file provato, o verificato da tools/tests: si veda il suo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riscaldamento. prg32_input_read restituisce in a0 lo stato di tutti i pulsanti insieme, un bit per pulsante. andi t3, t0, 0x01 conserva il bit 0 e forza a zero ogni altro bit; il risultato è diverso da zero esattamente quando LEFT è premuto, e beqz altrimenti salta lo spostamento. Lo stesso schema con 0x02 verifica RIGHT. La costante usata con andi si chiama maschera. L'ultimo richiamo pone la domanda della lezione: andi sono trentadue porte AND che lavorano fianco a fianco; che cos'è, esattamente, un AND?
DA COMPRENDERE OGGI: le maschere di bit.
Per il docente: Dal capitolo 6 (State and Input) e dal laboratorio 06-asm-state-and-input del libro di PRG32. La costante usata con andi si chiama maschera.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valore restituito per i pulsanti è una parola in cui ogni bit ha un significato assegnato: il bit 0 è LEFT, il bit 1 RIGHT, il bit 2 UP, il bit 3 DOWN, i bit 4 e 5 sono A e B, il bit 6 è START. Tenendo premuti insieme RIGHT e A si ottiene 0x12, cioè 0001 0010. Nell'immagine ogni lampada mostra un bit di questa parola. Ogni domanda che si può porre sui comandi, come "LEFT è premuto ma RIGHT no?", è un'espressione booleana su queste sette variabili; è la rappresentazione decodificata che la Lezione 11 nomina.
DA COMPRENDERE OGGI: le maschere di bit.
Per il docente: Costanti dei pulsanti da prg32.h (PRG32_BTN_*). Il secondo giocatore usa la stessa disposizione nei bit più alti.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and, or, xor e not applicano una singola porta a ogni coppia di bit corrispondenti di due registri, in tutte le posizioni contemporaneamente. La terza colonna svolge un esempio a otto bit: con a uguale a 1100 1010 e b uguale a 0000 1111, AND dà 0000 1010, OR dà 1100 1111, XOR dà 1100 0101. L'ultima colonna mostra gli operatori C corrispondenti. not è una pseudo-istruzione: è xori con -1, perché -1 in complemento a due è fatto interamente di uni, e lo XOR con 1 inverte un bit.
DA COMPRENDERE OGGI: le maschere di bit.
Per il docente: Ogni istruzione applica la stessa porta a tutte e trentadue le coppie di bit insieme (ne sono mostrate otto). Le forme con immediato andi, ori e xori prendono una costante di 12 bit; not è la pseudo-istruzione xori t0, a, -1, perché -1 è fatto di tutti uni.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quattro usi canonici di una maschera, ciascuno fondato su una legge dell'algebra. Per verificare un bit, AND con una maschera che ha 1 in quella posizione, poiché x AND 1 è x e x AND 0 è 0. Per porlo a uno, OR con la stessa maschera. Per azzerarlo, AND con la maschera complementata. Per invertirlo, XOR con la maschera. Negli ultimi tre casi gli altri bit non sono toccati, ed è la proprietà essenziale: una maschera agisce sui bit scelti e lascia intatti tutti gli altri.
DA COMPRENDERE OGGI: le maschere di bit.
Per il docente: Le leggi dell'elemento neutro e dell'elemento nullo sono esattamente ciò che fa funzionare una maschera: un 1 nella maschera lascia passare il bit (AND) oppure lo forza (OR); uno 0 fa il contrario. ~0x10 è 0xFFFFFFEF, che l'assemblatore codifica come immediato -17.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leggi di De Morgan applicate in un programma. Il giocatore è fermo quando né LEFT né RIGHT è premuto. La versione breve usa una maschera a due bit, 0x03: il risultato è zero solo se entrambi i bit sono zero, cioè NOT (LEFT OR RIGHT). La versione lunga verifica ogni pulsante separatamente: (NOT LEFT) AND (NOT RIGHT). La seconda legge di De Morgan garantisce che le due condizioni siano identiche. Due istruzioni ne sostituiscono cinque: la semplificazione è preziosa nel software quanto nell'hardware, ed è l'algebra a certificare che il programma più breve è corretto.
DA COMPRENDERE OGGI: le maschere di bit.
Per il docente: (x + y)' = x' . y'. Due istruzioni invece di cinque: la minimizzazione non riguarda solo l'hardware.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 leggere il bit numero n di una parola quando n sta in un registro, si fa scorrere la parola a destra di n posizioni, così che il bit desiderato arrivi in posizione 0, e poi la si maschera con 1. Qui s0 contiene l'indice della lampada, srl fa scorrere la parola dei pulsanti, andi isola il bit, e il colore si sceglie di conseguenza: grigio per spenta, giallo per accesa. Scorrimento e maschera è tra gli idiomi più comuni della programmazione a basso livello. srl è lo scorrimento logico della Lezione 05, che inserisce zeri a sinistra.
DA COMPRENDERE OGGI: le maschere di bit.
Per il docente: Sorgente: laboratorio 06-asm-state-and-input del libro di PRG32, step1_lamps.S (dentro lamp_loop). srl è uno scorrimento logico a destra (Lezione 05).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riprodotta esattamente com'è nel repository. Va letta dall'inizio. L'intestazione dice che cosa mostra il programma e come si compila; seguono i tre punti di ingresso, init, update e draw, e le sezioni dei dati chiudono il file. Le righe già incontrate nei listati della lezione hanno qui gli stessi commenti, così che ogni frammento si possa ritrovare nell'insieme.
DA UTILIZZARE OGGI: il programma completo (si usa, non si studia, in questo corso).
Per il docente: code/l08.S,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riprodotta esattamente com'è nel repository. Va letta dall'inizio. L'intestazione dice che cosa mostra il programma e come si compila; seguono i tre punti di ingresso, init, update e draw, e le sezioni dei dati chiudono il file. Le righe già incontrate nei listati della lezione hanno qui gli stessi commenti, così che ogni frammento si possa ritrovare nell'insieme.
DA UTILIZZARE OGGI: il programma completo (si usa, non si studia, in questo corso).
Per il docente: code/l08.S,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riprodotta esattamente com'è nel repository. Va letta dall'inizio. L'intestazione dice che cosa mostra il programma e come si compila; seguono i tre punti di ingresso, init, update e draw, e le sezioni dei dati chiudono il file. Le righe già incontrate nei listati della lezione hanno qui gli stessi commenti, così che ogni frammento si possa ritrovare nell'insieme.
DA UTILIZZARE OGGI: il programma completo (si usa, non si studia, in questo corso).
Per il docente: code/l08.S,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riprodotta esattamente com'è nel repository. Va letta dall'inizio. L'intestazione dice che cosa mostra il programma e come si compila; seguono i tre punti di ingresso, init, update e draw, e le sezioni dei dati chiudono il file. Le righe già incontrate nei listati della lezione hanno qui gli stessi commenti, così che ogni frammento si possa ritrovare nell'insieme.
DA UTILIZZARE OGGI: il programma completo (si usa, non si studia, in questo corso).
Per il docente: code/l08.S,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riprodotta esattamente com'è nel repository. Va letta dall'inizio. L'intestazione dice che cosa mostra il programma e come si compila; seguono i tre punti di ingresso, init, update e draw, e le sezioni dei dati chiudono il file. Le righe già incontrate nei listati della lezione hanno qui gli stessi commenti, così che ogni frammento si possa ritrovare nell'insieme.
DA UTILIZZARE OGGI: il programma completo (si usa, non si studia, in questo corso).
Per il docente: code/l08.S,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riprodotta esattamente com'è nel repository. Va letta dall'inizio. L'intestazione dice che cosa mostra il programma e come si compila; seguono i tre punti di ingresso, init, update e draw, e le sezioni dei dati chiudono il file. Le righe già incontrate nei listati della lezione hanno qui gli stessi commenti, così che ogni frammento si possa ritrovare nell'insieme.
DA UTILIZZARE OGGI: il programma completo (si usa, non si studia, in questo corso).
Per il docente: code/l08.S,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comportamento atteso del programma, e l'ingresso che richiede. Il risultato va previsto prima di eseguire: ogni differenza tra la previsione e lo schermo è un'informazione sul proprio modello della macchina, e conviene spiegarla prima di correggerla. L'immagine è stata prodotta dal test automatico, non disegnata a mano.
Per il docente: L'immagine è il frame che l'esecutore senza interfaccia di PRG32-QT ha prodotto nel test di questo programma. Su QEMU e sulla scheda l'area di gioco è la stessa, 320 per 200 pixel, tra le due bande di stato.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via più diretta: PRG32-QT sul proprio computer, in quattro passi, ciascuno con il suo comando. Per gli strumenti PRG32-QT si presenta come una scheda in ascolto sulla porta 8080, ed è per questo che il comando di caricamento nomina l'esp32c6. Con la modalità debug attiva si può fermare l'esecuzione su qualsiasi istruzione e ispezionare registri e memoria.
DA UTILIZZARE OGGI: gli strumenti di PRG32 (si usa, non si studia, in questo corso).
Per il docente: Eseguito dai test: la cartuccia di questa slide è compilata con questo comando ed eseguita sull'esecutore senza interfaccia di PRG32-QT. Senza la toolchain: importate il file .prg32 in PRG32-QT e scegliete Run Cartridge. Tasti: frecce o WASD per il joystick, Z o J per A, X o K per B, Invio per Start, Esc per tornare a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sull'emulatore. QEMU esegue il firmware vero su un chip emulato, quindi la cartuccia va compilata per l'architettura qemu e caricata mentre QEMU non è in esecuzione. Il firmware si avvia sul menu Setup, da cui si scelgono Run Cartridge e lo slot. La tastiera è letta dal terminale da cui QEMU è stato avviato, non dalla finestra che mostra l'immagine.
DA UTILIZZARE OGGI: gli strumenti di PRG32 (si usa, non si studia, in questo corso).
Per il docente: Verificato dai test fino al caricamento: la cartuccia è compilata per l'architettura qemu e accettata nell'immagine flash dell'emulatore. Ciò che l'emulatore poi mostra non è verificato automaticamente: il QEMU di Espressif ha bisogno della sua finestra. Dall'ottobre 2026 il firmware parte da Setup: scegliete Run Cartridge, poi cart0.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 kit fisico. Il firmware si scrive una volta, via USB; da quel momento le cartucce viaggiano sul Wi-Fi con lo stesso comando di caricamento usato per PRG32-QT, indirizzato alla scheda. È l'unico host non esercitato dai test automatici, quindi le osservazioni fatte sulla scheda sono particolarmente preziose e vanno riferite.
DA UTILIZZARE OGGI: gli strumenti di PRG32 (si usa, non si studia, in questo corso).
Per il docente: Non eseguito dai test: sulla macchina di prova non c'è una scheda. La cartuccia per l'architettura esp32c6 è compilata dai test; i passi sono quelli della documentazione di PRG32. Se la porta seriale non viene trovata, passatela esplicitamente. Per usare il Wi-Fi dell'aula: python3 -m prg32 wifi set --ssid NOME --password PASSWORD --mode 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cinque sintomi più frequenti, il loro significato e il rimedio. Il messaggio di errore va letto per intero prima di cambiare qualsiasi cosa: quasi sempre nomina la causa. Quando si chiede aiuto, vanno riportati alla lettera il comando e il messaggio completo.
DA UTILIZZARE OGGI: gli strumenti di PRG32 (si usa, non si studia, in questo corso).
Per il docente: Le prime tre righe coprono la maggior parte dei casi. Quando chiedete aiuto, incollate il comando e l'intero messaggio come testo. docs/usage/troubleshooting.md del repository di PRG32 ha l'elenco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Cinque esercizi. Dimostrare la seconda legge di De Morgan per induzione completa. Semplificare un'espressione, nominando la legge che giustifica ogni passo. Scrivere la maschera e il test per "A e B premuti insieme", notando che verificare semplicemente un risultato diverso da zero esprimerebbe "A o B", un errore logico frequente. Modificare le lampade in modo che mostrino il complemento dei pulsanti. E convertire una lettera tra maiuscola e minuscola con una sola istruzione, ricordando dalla Lezione 04 che i due codici differiscono esattamente per un bit.
Per il docente: Esercizio 2: x y + x y' z + x' y = y (x + x') + x y' z = y + x y' z = y + x z. Esercizio 3: andi t1, t0, 0x30 e poi confronto con 0x30 (li t2, 0x30; beq t1, t2, both): verificare che sia diverso da zero significherebbe A OR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|  Lezione 08: Algebra di Boole (1) (codice)  |  A.A. 2026/27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640080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859536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859536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78992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·  LEZIONE 08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97228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Elementi di algebra di Boole: il codice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11880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codice: ogni listato spiegato, il programma completo, e come provarlo su PRG32-QT, su QEMU e sulla scheda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486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Raffaele Montella, PhD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“Parthenope”  ·  A.A. 2026/27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raffaelemontella.it  ·  raffaele.montella@uniparthenope.it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93615" y="56692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codice. I concetti, le figure e le domande sono nella presentazione della lezione: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08-Architettura_dei_Calcolatori-Algebra_di_Boole_1.pptx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25535" y="416052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3" name="Image 0" descr="/Users/raffaelemontella/devel/riscv-prg32/computer-architecture-with-prg32/tools/assets/lab2_step1_lam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6975" y="4280535"/>
            <a:ext cx="2834640" cy="177165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910777" y="91440"/>
            <a:ext cx="2732278" cy="274320"/>
          </a:xfrm>
          <a:prstGeom prst="rect">
            <a:avLst/>
          </a:prstGeom>
          <a:solidFill>
            <a:srgbClr val="F3E8FF"/>
          </a:solidFill>
          <a:ln w="12700">
            <a:solidFill>
              <a:srgbClr val="7E22CE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8938209" y="128016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938209" y="205740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38209" y="283464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8793" y="128016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9294825" y="91440"/>
            <a:ext cx="23116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PIÙ AVANTI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675069" y="91440"/>
            <a:ext cx="212598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67506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2993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085" y="128016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7059117" y="91440"/>
            <a:ext cx="1705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352747" y="91440"/>
            <a:ext cx="221259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35274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763" y="128016"/>
            <a:ext cx="201168" cy="20116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4736795" y="91440"/>
            <a:ext cx="1791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questa presentazione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854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1540256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3 listati della Lezione 08, uno per slide: leggete il codice, poi le osservazioni numerate a fianco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67919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programma completo: code/l08.S, 107 righe, stampato per intero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9359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575304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dovreste vedere quando gira, verificato sull'esecutore senza interfaccia di PRG32-QT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3252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4714240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provarlo, passo per passo: su PRG32-QT, su QEMU, sulla scheda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62864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561035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esercizi: modificare il programma, prevedere, eseguire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 è premuto?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prg32_input_read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all the buttons, one bit each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t0, a0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keep our own copy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t3, t0, 0x01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keep only bit 0: LEFT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1f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zero: LEFT is not pressed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t2, t2, -2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move left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t3, t0, 0x02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keep only bit 1: RIGHT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2f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t2, t2, 2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move right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0" y="141732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55448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prg32_input_read restituisce tutti i pulsanti insieme: un bit per pulsante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0" y="265633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79349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andi con 0x01 conserva il bit 0 e forza a zero tutti gli altri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389534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3250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risultato è diverso da zero esattamente quando LEFT è premuto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513435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27151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andi sono trentadue porte AND che lavorano fianco a fianco: che cos'è, esattamente, un AND?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51622" y="91440"/>
            <a:ext cx="3591433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51622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9638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435670" y="91440"/>
            <a:ext cx="3170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le maschere di bit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bit per pulsante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23746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656539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0x01, RIGHT 0x02, UP 0x04, DOWN 0x08: bit da 0 a 3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542032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435606"/>
            <a:ext cx="656539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0x10, B 0x20, START / SELECT 0x40: bit da 4 a 6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3560318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453892"/>
            <a:ext cx="656539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Tenendo premuti insieme RIGHT e A si ottiene 0x12 = 0001 0010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4578604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4472178"/>
            <a:ext cx="656539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lampada del laboratorio è un bit della maschera: accesa quando il bit vale 1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559689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5490464"/>
            <a:ext cx="656539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domanda sul joystick è un'espressione booleana su queste variabili</a:t>
            </a:r>
            <a:endParaRPr lang="en-US" sz="2200" dirty="0"/>
          </a:p>
        </p:txBody>
      </p:sp>
      <p:pic>
        <p:nvPicPr>
          <p:cNvPr id="13" name="Image 0" descr="/Users/raffaelemontella/devel/riscv-prg32/computer-architecture-with-prg32/tools/assets/lab2_step1_lam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385155"/>
            <a:ext cx="3779215" cy="236201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863840" y="5788152"/>
            <a:ext cx="37792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06, passo 1: sette lampade, una per ogni bit dei pulsanti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051622" y="91440"/>
            <a:ext cx="3591433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051622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9638" y="128016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435670" y="91440"/>
            <a:ext cx="3170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le maschere di bit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Istruzioni bit a bit: l'algebra su un registro intero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728135"/>
                <a:gridCol w="2728135"/>
                <a:gridCol w="3819389"/>
                <a:gridCol w="181875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Istruzione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Operazione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= 1100 1010, b = 0000 1111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C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and  t0, a, b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 bit a bit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0000 1010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&amp; b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   t0, a, b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 bit a bit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1100 1111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| b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xor  t0, a, b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XOR bit a bit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1100 0101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^ b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  t0, a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complementa ogni bit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0011 0101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~a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60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istruzione applica una porta a tutte le posizioni di bit insieme. not è una pseudo-istruzione: xori con -1, cioè con tutti uni.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8051622" y="91440"/>
            <a:ext cx="3591433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51622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9638" y="128016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435670" y="91440"/>
            <a:ext cx="3170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le maschere di bit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Quattro cose da fare con una maschera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080203"/>
                <a:gridCol w="3120304"/>
                <a:gridCol w="3293655"/>
                <a:gridCol w="260025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Legge usata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Istruzione (bit 4 = pulsante A)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Effetto sugli altri bit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Esaminare un bit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. 1 = x,  x . 0 = 0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andi t1, t0, 0x10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forzati a 0 nel risultato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Porre un bit a 1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+ 1 = 1,  x + 0 = x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ori  t0, t0, 0x10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invariati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Azzerare un bit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. 0 = 0,  x . 1 = x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andi t0, t0, ~0x10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invariati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Invertire un bit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xor 1 = x',  x xor 0 = x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xori t0, t0, 0x10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invariati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051622" y="91440"/>
            <a:ext cx="3591433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051622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9638" y="128016"/>
            <a:ext cx="201168" cy="20116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435670" y="91440"/>
            <a:ext cx="3170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le maschere di bit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Morgan al joystick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"idle" when NEITHER LEFT NOR RIGHT is pressed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t3, t0, 0x03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0x03 = LEFT | RIGHT: keep both bits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idle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all zero: (LEFT + RIGHT)' is true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long way: test each button, the result is the same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t3, t0, 0x01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bnez t3, moving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LEFT pressed: not idle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t3, t0, 0x02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bnez t3, moving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RIGHT pressed: not idle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    idle  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LEFT' . RIGHT'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0" y="141732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55448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maschera con due bit esamina due pulsanti con una sola istruzione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0" y="265633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79349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risultato è zero solo se entrambi i bit sono zero: NOT (LEFT OR RIGHT)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0" y="389534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3250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De Morgan equivale a (NOT LEFT) AND (NOT RIGHT): la via lunga, qui sotto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0" y="513435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27151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L'algebra dice che i due programmi sono equivalenti, e qual è il più economico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51622" y="91440"/>
            <a:ext cx="3591433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51622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9638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435670" y="91440"/>
            <a:ext cx="3170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le maschere di bit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lampada per bit: scorrere e mascherare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67512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6217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s0 = bit number, 0 to 6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buttons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t1 = the button mask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srl  t1, t1, s0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bring bit number s0 down to bit 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t1, t1, 1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keep it, clear all the others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GREY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lamp off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t1, 1f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YELLOW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lamp 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call prg32_gfx_rect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470648" y="1399032"/>
            <a:ext cx="4245559" cy="2708339"/>
          </a:xfrm>
          <a:prstGeom prst="roundRect">
            <a:avLst>
              <a:gd name="adj" fmla="val 2701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pic>
        <p:nvPicPr>
          <p:cNvPr id="6" name="Image 0" descr="/Users/raffaelemontella/devel/riscv-prg32/computer-architecture-with-prg32/tools/assets/lab2_step1_lam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1472184"/>
            <a:ext cx="4099255" cy="25620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543800" y="4180523"/>
            <a:ext cx="40992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Schermata: questo passo, compilato ed eseguito su PRG32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470648" y="4527995"/>
            <a:ext cx="4245559" cy="1644205"/>
          </a:xfrm>
          <a:prstGeom prst="roundRect">
            <a:avLst>
              <a:gd name="adj" fmla="val 444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80960" y="4637723"/>
            <a:ext cx="3824935" cy="142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Scorrere, poi mascherare con 1: il modo standard di leggere il bit numero n di una parola.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8051622" y="91440"/>
            <a:ext cx="3591433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51622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9638" y="128016"/>
            <a:ext cx="201168" cy="20116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435670" y="91440"/>
            <a:ext cx="3170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le maschere di bit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l08.S (1 di 6)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ARC12 Computer Architecture - Lecture 08: Elements of Boolean Algebra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l08.S: one lamp per button, a marker that moves, and De Morgan at the joystick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 the screen: seven lamps, one per button (LEFT on the left), lit while the button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is held; a white marker that LEFT and RIGHT move; a square that is green when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neither LEFT nor RIGHT is pressed and red otherwise.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Build: python3 -m prg32 cartridge build l08.S --portable \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--entry-prefix l08 --name l08 --out l08.prg32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.option norelax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BLACK,  0x0000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WHITE,  0xffff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GREY,   0x4208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YELLOW, 0xffe0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GREEN,  0x07e0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RED,    0xf800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.text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l08_init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l08_update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l08_draw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l08.S (2 di 6)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l08_init: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l08_update: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prg32_input_read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all the buttons, one bit each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t0, a0 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keep our own copy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t1, buttons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t0, 0(t1)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remember them for draw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t1, marker_x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t2, 0(t1)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t3, t0, 0x01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keep only bit 0: LEFT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1f 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zero: LEFT is not pressed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t2, t2, -2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move left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t3, t0, 0x02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keep only bit 1: RIGHT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2f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t2, t2, 2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move right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t2, 0(t1)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l08.S (3 di 6)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"idle" when NEITHER LEFT NOR RIGHT is pressed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t4, 1     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idle = 1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t3, t0, 0x03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0x03 = LEFT | RIGHT: keep both bits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3f    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all zero: (LEFT + RIGHT)' is true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t4, 0     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idle = 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  la   t1, idle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t4, 0(t1)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l08.S (4 di 6)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l08_draw: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s0, 8(sp)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BLACK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prg32_gfx_clear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s0, 0   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s0 = bit number, 0 to 6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la   t0, buttons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t1 = the button mask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srl  t1, t1, s0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bring bit number s0 down to bit 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t1, t1, 1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keep it, clear all the others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GREY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lamp off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t1, 2f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YELLOW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lamp 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 slli a0, s0, 5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a0, a0, 48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 = 48 + 32 * bit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40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24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24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prg32_gfx_rect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s0, s0, 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t0, 7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blt  s0, t0, 1b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l08.S (5 di 6)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marker_x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marker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a0, 0(t0)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100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16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16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WHITE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prg32_gfx_rect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idle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result of De Morgan's test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RED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t1, 3f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GREEN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  li   a0, 152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150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16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16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prg32_gfx_rect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s0, 8(sp)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l08.S (6 di 6)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.data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buttons:  .word 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marker_x: .word 152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idle:     .word 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Eseguite: che cosa dovreste vedere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2212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600200"/>
            <a:ext cx="5468112" cy="2360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Sullo schermo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sette lampade, una per pulsante (LEFT a sinistra), accese mentre il pulsante è premuto; un segnalino bianco mosso da LEFT e RIGHT; un quadrato verde quando né LEFT né RIGHT è premuto, rosso altrimenti.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4539996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4418076"/>
            <a:ext cx="5468112" cy="1059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premere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LEFT e RIGHT muovono il segnalino; provate anche A e B</a:t>
            </a:r>
            <a:endParaRPr lang="en-US" sz="2400" dirty="0"/>
          </a:p>
        </p:txBody>
      </p:sp>
      <p:pic>
        <p:nvPicPr>
          <p:cNvPr id="7" name="Image 0" descr="/Users/raffaelemontella/devel/riscv-prg32/computer-architecture-with-prg32/tools/assets/lab_l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042255"/>
            <a:ext cx="4876495" cy="304781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766560" y="5788152"/>
            <a:ext cx="4876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frame scritto dal test automatico su PRG32-QT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PRG32-QT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start PRG32-QT on this computer (it listens on port 8080)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in the PRG32 folder, with ESP-IDF active: build the cartridge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~/arc12/code/l08.S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l08 --name l08 --out l08.prg32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send it to PRG32-QT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l08.prg32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http://localhost:8080 --slot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look, press, compare with the previous slide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 deve essere in esecuzione: risponde sulla porta 8080, come una scheda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compila una volta, dalla cartella PRG32, con ESP-IDF attivo nel terminale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upload-and-run memorizza la cartuccia nello slot cart0 e la avvia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 debug, in Settings: fermare il programma, leggere registri e memoria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QEMU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once: build the firmware for QEMU (several minutes)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build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build the cartridge for the emulated chip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~/arc12/code/l08.S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l08 --name l08 --architecture qemu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l08-qemu.prg32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with QEMU closed, stage the cartridge into its flash image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upload l08-qemu.prg32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start the emulator; on Setup choose Run Cartridge, then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run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L'emulatore esegue il firmware vero su un chip emulato: si compila una volta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cartuccia è compilata per l'architettura qemu: lo stesso sorgente, un altro 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carica la cartuccia con QEMU chiuso, poi lo si avvia e si sceglie Run Cartridge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tasti vanno al terminale: frecce o WASD, Z o J per A, X o K per 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sulla scheda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 per board: write the firmware through the USB cable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build-and-flash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join the Wi-Fi network of the board: PRG32, password prg32game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build the cartridge for the board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~/arc12/code/l08.S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l08 --name l08 --architecture esp32c6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l08-esp32c6.prg32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send it over Wi-Fi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l08-esp32c6.prg32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http://192.168.4.1 --slot cart0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firmware si scrive una volta per scheda, attraverso il cavo USB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scheda crea la rete Wi-Fi PRG32: collegatevi con il vostro computer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comando di caricamento di PRG32-QT, con l'indirizzo della scheda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Schermo nero: confrontate il cablaggio del display con il firmware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non funziona</a:t>
            </a:r>
            <a:endParaRPr lang="en-US" sz="3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025750"/>
                <a:gridCol w="3866236"/>
                <a:gridCol w="420243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Vedete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così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manca un punto di ingresso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prefisso non è quello del sorgente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--entry-prefix l08; controllate le tre righe .global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idf.py: command not found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ESP-IDF non è attivo in questo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eseguite export.sh, o aprite ESP-IDF PowerShell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upload: connection refused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l'host non ascolta a quell'indirizzo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avviate PRG32-QT; usate l'indirizzo della sua schermata Setup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schermo nero, o di nuovo il menu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funzione non ritorna, o ra non è stato salvato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modalità debug: passo-passo in init, update, draw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QEMU ignora i tasti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tastiera va al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clic sul terminale che ha lanciato QEMU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Esercizi: prima su carta, poi su PRG32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088575" y="56692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TU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17320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Dimostrate con una tabella di verità la seconda legge di De Morgan, (x + y)' = x' . y'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9456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176272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Semplificate con l'algebra: x . y + x . y' . z + x' . y, nominando la legge usata a ogni passo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5351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935224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Scrivete la maschera e l'istruzione che verificano se A e B sono premuti insieme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3161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3513328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Modificate il programma delle lampade perché mostrino il complemento dei pulsanti (accese quando rilasciati)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9056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4272280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Convertite una lettera da maiuscola a minuscola e viceversa con una sola istruzione bit a bit (suggerimento: ASCII, Lezione 04)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DCEEE3"/>
          </a:solidFill>
          <a:ln w="12700">
            <a:solidFill>
              <a:srgbClr val="DCEE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50468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PRG32: tutte e sette le lampade accese a riposo, ognuna si spegne mentre il suo pulsante è premuto. Per la lettera: xori con 0x20 inverte il bit 5.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Università degli Studi di Napoli Parthenope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ARC12 Architettura dei Calcolatori - Elementi di algebra di Boole: il codice</dc:title>
  <dc:subject>Lezione 08</dc:subject>
  <dc:creator>Raffaele Montella</dc:creator>
  <cp:lastModifiedBy>Raffaele Montella</cp:lastModifiedBy>
  <cp:revision>1</cp:revision>
  <dcterms:created xsi:type="dcterms:W3CDTF">2026-10-16T23:36:44Z</dcterms:created>
  <dcterms:modified xsi:type="dcterms:W3CDTF">2026-10-16T23:36:44Z</dcterms:modified>
</cp:coreProperties>
</file>