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e1a60856-db90-e218-f3d9-a5b9f663a33b}">
          <p14:sldIdLst>
            <p14:sldId id="256"/>
            <p14:sldId id="257"/>
          </p14:sldIdLst>
        </p14:section>
        <p14:section name="Riscaldamento sulla macchina" id="{2162af99-46bf-ca2f-e1a5-7fd908b20df3}">
          <p14:sldIdLst>
            <p14:sldId id="258"/>
            <p14:sldId id="259"/>
          </p14:sldIdLst>
        </p14:section>
        <p14:section name="Ritorno alla macchina" id="{726a6705-511f-6386-8dc7-8904d8b6180e}">
          <p14:sldIdLst>
            <p14:sldId id="260"/>
            <p14:sldId id="261"/>
            <p14:sldId id="262"/>
            <p14:sldId id="263"/>
          </p14:sldIdLst>
        </p14:section>
        <p14:section name="Il programma completo" id="{c1f2e2bf-5cbd-cb8d-3913-073f86f2f4f9}">
          <p14:sldIdLst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Eseguire e provare" id="{91db4233-4cad-eae8-1686-fefbee0e9784}">
          <p14:sldIdLst>
            <p14:sldId id="270"/>
            <p14:sldId id="271"/>
            <p14:sldId id="272"/>
            <p14:sldId id="273"/>
            <p14:sldId id="274"/>
          </p14:sldIdLst>
        </p14:section>
        <p14:section name="Esercizi" id="{84bffc15-aea4-d9b9-5c04-58f4764564bc}">
          <p14:sldIdLst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08. Mentre la presentazione della lezione sviluppa i concetti, questa raccoglie tutto ciò che si scrive e si esegue: ogni listato con il suo commento, il programma completo della lezione, il risultato che deve produrre, e la procedura per provarlo su ciascuno dei tre host. Le due presentazioni vanno lette insieme: i concetti spiegano il codice, e il codice dà ai concetti una conseguenza osservabile.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le maschere di bit; l'architettura di von Neumann; analisi e sintesi; l'algebra di Boole; le porte logiche. DA UTILIZZARE OGGI: il programma completo, gli strumenti di PRG32 (si usa, non si studia, in questo corso). DA COMPRENDERE PIÙ AVANTI: minimizzazione, Karnaugh (Lezione 09). Una slide senza etichetta è contesto: una storia, un esempio, una domanda, un esercizio.
Percorso. I risultati di oggi: (1) distinguere l'analisi di un circuito logico dalla sua sintesi; (2) applicare gli assiomi e i teoremi dell'algebra di Boole, compreso De Morgan; (3) porre a 1, azzerare e verificare bit con le maschere. Si appoggia su: l'architettura di von Neumann (Lezione 03). Prossimo passo: Lezione 09, Elementi di algebra di Boole.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contenuto della presentazione, nell'ordine delle slide. Il programma della lezione è un file sorgente completo, che si può compilare ed eseguire così com'è. Il percorso consigliato è eseguirlo per primo, osservarne il comportamento, e poi tornare ai singoli listati per capire come ciascuna parte contribuisce a quel comportamento. Il programma di questa lezione è ~/arc12/code/l08.S;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~/arc12/code/l08.S;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riscaldamento. prg32_input_read restituisce in a0 lo stato di tutti i pulsanti insieme, un bit per pulsante. andi t3, t0, 0x01 conserva il bit 0 e forza a zero ogni altro bit; il risultato è diverso da zero esattamente quando LEFT è premuto, e beqz altrimenti salta lo spostamento. Lo stesso schema con 0x02 verifica RIGHT. La costante usata con andi si chiama maschera. L'ultimo richiamo pone la domanda della lezione: andi sono trentadue porte AND che lavorano fianco a fianco; che cos'è, esattamente, un AND?
DA COMPRENDERE OGGI: le maschere di bit.
Per il docente: Dal capitolo 6 (State and Input) e dal laboratorio 06-asm-state-and-input del libro di PRG32. La costante usata con andi si chiama maschera.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valore restituito per i pulsanti è una parola in cui ogni bit ha un significato assegnato: il bit 0 è LEFT, il bit 1 RIGHT, il bit 2 UP, il bit 3 DOWN, i bit 4 e 5 sono A e B, il bit 6 è START. Tenendo premuti insieme RIGHT e A si ottiene 0x12, cioè 0001 0010. Nell'immagine ogni lampada mostra un bit di questa parola. Ogni domanda che si può porre sui comandi, come "LEFT è premuto ma RIGHT no?", è un'espressione booleana su queste sette variabili; è la rappresentazione decodificata che la Lezione 11 nomina.
DA COMPRENDERE OGGI: le maschere di bit.
Per il docente: Costanti dei pulsanti da prg32.h (PRG32_BTN_*). Il secondo giocatore usa la stessa disposizione nei bit più alti.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and, or, xor e not applicano una singola porta a ogni coppia di bit corrispondenti di due registri, in tutte le posizioni contemporaneamente. La terza colonna svolge un esempio a otto bit: con a uguale a 1100 1010 e b uguale a 0000 1111, AND dà 0000 1010, OR dà 1100 1111, XOR dà 1100 0101. L'ultima colonna mostra gli operatori C corrispondenti. not è una pseudo-istruzione: è xori con -1, perché -1 in complemento a due è fatto interamente di uni, e lo XOR con 1 inverte un bit.
DA COMPRENDERE OGGI: le maschere di bit.
Per il docente: Ogni istruzione applica la stessa porta a tutte e trentadue le coppie di bit insieme (ne sono mostrate otto). Le forme con immediato andi, ori e xori prendono una costante di 12 bit; not è la pseudo-istruzione xori t0, a, -1, perché -1 è fatto di tutti uni.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quattro usi canonici di una maschera, ciascuno fondato su una legge dell'algebra. Per verificare un bit, AND con una maschera che ha 1 in quella posizione, poiché x AND 1 è x e x AND 0 è 0. Per porlo a uno, OR con la stessa maschera. Per azzerarlo, AND con la maschera complementata. Per invertirlo, XOR con la maschera. Negli ultimi tre casi gli altri bit non sono toccati, ed è la proprietà essenziale: una maschera agisce sui bit scelti e lascia intatti tutti gli altri.
DA COMPRENDERE OGGI: le maschere di bit.
Per il docente: Le leggi dell'elemento neutro e dell'elemento nullo sono esattamente ciò che fa funzionare una maschera: un 1 nella maschera lascia passare il bit (AND) oppure lo forza (OR); uno 0 fa il contrario. ~0x10 è 0xFFFFFFEF, che l'assemblatore codifica come immediato -17.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leggi di De Morgan applicate in un programma. Il giocatore è fermo quando né LEFT né RIGHT è premuto. La versione breve usa una maschera a due bit, 0x03: il risultato è zero solo se entrambi i bit sono zero, cioè NOT (LEFT OR RIGHT). La versione lunga verifica ogni pulsante separatamente: (NOT LEFT) AND (NOT RIGHT). La seconda legge di De Morgan garantisce che le due condizioni siano identiche. Due istruzioni ne sostituiscono cinque: la semplificazione è preziosa nel software quanto nell'hardware, ed è l'algebra a certificare che il programma più breve è corretto.
DA COMPRENDERE OGGI: le maschere di bit.
Per il docente: (x + y)' = x' . y'. Due istruzioni invece di cinque: la minimizzazione non riguarda solo l'hardware.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leggere il bit numero n di una parola quando n sta in un registro, si fa scorrere la parola a destra di n posizioni, così che il bit desiderato arrivi in posizione 0, e poi la si maschera con 1. Qui s0 contiene l'indice della lampada, srl fa scorrere la parola dei pulsanti, andi isola il bit, e il colore si sceglie di conseguenza: grigio per spenta, giallo per accesa. Scorrimento e maschera è tra gli idiomi più comuni della programmazione a basso livello. srl è lo scorrimento logico della Lezione 05, che inserisce zeri a sinistra.
DA COMPRENDERE OGGI: le maschere di bit.
Per il docente: Sorgente: laboratorio 06-asm-state-and-input del libro di PRG32, step1_lamps.S (dentro lamp_loop). srl è uno scorrimento logico a destra (Lezione 05).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code/l08.S,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code/l08.S,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code/l08.S,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code/l08.S,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code/l08.S,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code/l08.S,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comportamento atteso del programma, e l'ingresso che richiede. Il risultato va previsto prima di eseguire: ogni differenza tra la previsione e lo schermo è un'informazione sul proprio modello della macchina, e conviene spiegarla prima di correggerla. L'immagine è stata prodotta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diretta: PRG32-QT sul proprio computer, in quattro passi, ciascuno con il suo comando. Per gli strumenti PRG32-QT si presenta come una scheda in ascolto sulla porta 8080, ed è per questo che il comando di caricamento nomina l'esp32c6. Con la modalità debug attiva si può fermare l'esecuzione su qualsiasi istruzione e ispezionare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 e caricata mentre QEMU non è in esecuzione. Il firmware si avvia sul menu Setup, da cui si scelgono Run Cartridge e lo slot. La tastiera è letta dal terminale da cui QEMU è stato avviato, non dalla finestra che mostra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 fisico. Il firmware si scrive una volta, via USB; da quel momento le cartucce viaggiano sul Wi-Fi con lo stesso comando di caricamento usato per PRG32-QT, indirizzato alla scheda. È l'unico host non esercitato dai test automatici, quindi le osservazioni fatte sulla scheda sono particolarmente preziose e vanno riferite.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frequenti, il loro significato e il rimedio. Il messaggio di errore va letto per intero prima di cambiare qualsiasi cosa: quasi sempre nomina la causa. Quando si chiede aiuto, vanno riportati alla lettera il comando e il messaggio completo.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Dimostrare la seconda legge di De Morgan per induzione completa. Semplificare un'espressione, nominando la legge che giustifica ogni passo. Scrivere la maschera e il test per "A e B premuti insieme", notando che verificare semplicemente un risultato diverso da zero esprimerebbe "A o B", un errore logico frequente. Modificare le lampade in modo che mostrino il complemento dei pulsanti. E convertire una lettera tra maiuscola e minuscola con una sola istruzione, ricordando dalla Lezione 04 che i due codici differiscono esattamente per un bit.
Per il docente: Esercizio 2: x y + x y' z + x' y = y (x + x') + x y' z = y + x y' z = y + x z. Esercizio 3: andi t1, t0, 0x30 e poi confronto con 0x30 (li t2, 0x30; beq t1, t2, both): verificare che sia diverso da zero significherebbe A OR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08: Algebra di Boole (1)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08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Elementi di algebra di Boole: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08-Architettura_dei_Calcolatori-Algebra_di_Boole_1.pptx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lab2_step1_lam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3 listati della Lezione 08, uno per slide: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code/l08.S, 107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LEFT è premuto?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all the buttons, one bit each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t0, a0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our own copy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0x01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only bit 0: LEFT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1f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zero: LEFT is not pressed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-2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move left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0x02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only bit 1: RIGHT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2f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2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move right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prg32_input_read restituisce tutti i pulsanti insieme: un bit per pulsante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 con 0x01 conserva il bit 0 e forza a zero tutti gli altri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risultato è diverso da zero esattamente quando LEFT è premuto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 sono trentadue porte AND che lavorano fianco a fianco: che cos'è, esattamente, un AND?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051622" y="91440"/>
            <a:ext cx="359143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5162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9638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435670" y="91440"/>
            <a:ext cx="3170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maschere di bit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bit per pulsante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0x01, RIGHT 0x02, UP 0x04, DOWN 0x08: bit da 0 a 3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54203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35606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0x10, B 0x20, START / SELECT 0x40: bit da 4 a 6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56031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53892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Tenendo premuti insieme RIGHT e A si ottiene 0x12 = 0001 0010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57860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72178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lampada del laboratorio è un bit della maschera: accesa quando il bit vale 1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domanda sul joystick è un'espressione booleana su queste variabili</a:t>
            </a:r>
            <a:endParaRPr lang="en-US" sz="2200" dirty="0"/>
          </a:p>
        </p:txBody>
      </p:sp>
      <p:pic>
        <p:nvPicPr>
          <p:cNvPr id="13" name="Image 0" descr="/Users/raffaelemontella/devel/riscv-prg32/computer-architecture-with-prg32/tools/assets/lab2_step1_lam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385155"/>
            <a:ext cx="3779215" cy="236201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06, passo 1: sette lampade, una per ogni bit dei pulsanti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051622" y="91440"/>
            <a:ext cx="359143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05162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9638" y="128016"/>
            <a:ext cx="201168" cy="20116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8435670" y="91440"/>
            <a:ext cx="3170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maschere di bit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Istruzioni bit a bit: l'algebra su un registro intero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728135"/>
                <a:gridCol w="2728135"/>
                <a:gridCol w="3819389"/>
                <a:gridCol w="1818757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Istruzione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= 1100 1010, b = 0000 1111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C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  t0, a, b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 bit a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0000 1010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&amp; b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   t0, a, b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 bit a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1100 1111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| b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xor  t0, a, b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XOR bit a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1100 0101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^ b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not  t0, a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complementa ogni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0011 0101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~a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istruzione applica una porta a tutte le posizioni di bit insieme. not è una pseudo-istruzione: xori con -1, cioè con tutti uni.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8051622" y="91440"/>
            <a:ext cx="359143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05162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9638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435670" y="91440"/>
            <a:ext cx="3170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maschere di bit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Quattro cose da fare con una maschera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080203"/>
                <a:gridCol w="3120304"/>
                <a:gridCol w="3293655"/>
                <a:gridCol w="260025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Legge usata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Istruzione (bit 4 = pulsante A)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Effetto sugli altri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Esaminare un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. 1 = x,  x . 0 = 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andi t1, t0, 0x10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forzati a 0 nel risultato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Porre un bit a 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+ 1 = 1,  x + 0 = x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ori  t0, t0, 0x10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invariati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Azzerare un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. 0 = 0,  x . 1 = x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andi t0, t0, ~0x10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invariati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Invertire un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xor 1 = x',  x xor 0 = x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xori t0, t0, 0x10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invariati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8051622" y="91440"/>
            <a:ext cx="359143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05162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9638" y="128016"/>
            <a:ext cx="201168" cy="2011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435670" y="91440"/>
            <a:ext cx="3170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maschere di bit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Morgan al joystick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"idle" when NEITHER LEFT NOR RIGHT is pressed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0x03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0x03 = LEFT | RIGHT: keep both bits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idle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all zero: (LEFT + RIGHT)' is true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long way: test each button, the result is the same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0x01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t3, moving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LEFT pressed: not idle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0x02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t3, moving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RIGHT pressed: not idle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idle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LEFT' . RIGHT'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maschera con due bit esamina due pulsanti con una sola istruzione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risultato è zero solo se entrambi i bit sono zero: NOT (LEFT OR RIGHT)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De Morgan equivale a (NOT LEFT) AND (NOT RIGHT): la via lunga, qui sotto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L'algebra dice che i due programmi sono equivalenti, e qual è il più economico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051622" y="91440"/>
            <a:ext cx="359143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5162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9638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435670" y="91440"/>
            <a:ext cx="3170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maschere di bit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lampada per bit: scorrere e mascherare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667512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2179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bit number, 0 to 6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buttons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the button mask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  t1, t1, s0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bring bit number s0 down to bit 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t1, t1, 1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it, clear all the others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GREY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off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1f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YELLOW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on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call prg32_gfx_rect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470648" y="1399032"/>
            <a:ext cx="4245559" cy="2708339"/>
          </a:xfrm>
          <a:prstGeom prst="roundRect">
            <a:avLst>
              <a:gd name="adj" fmla="val 2701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pic>
        <p:nvPicPr>
          <p:cNvPr id="6" name="Image 0" descr="/Users/raffaelemontella/devel/riscv-prg32/computer-architecture-with-prg32/tools/assets/lab2_step1_lam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0" y="1472184"/>
            <a:ext cx="4099255" cy="25620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543800" y="4180523"/>
            <a:ext cx="40992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Schermata: questo passo, compilato ed eseguito su PRG32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470648" y="4527995"/>
            <a:ext cx="4245559" cy="1644205"/>
          </a:xfrm>
          <a:prstGeom prst="roundRect">
            <a:avLst>
              <a:gd name="adj" fmla="val 444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80960" y="4637723"/>
            <a:ext cx="3824935" cy="1424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Scorrere, poi mascherare con 1: il modo standard di leggere il bit numero n di una parola.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8051622" y="91440"/>
            <a:ext cx="359143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05162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9638" y="128016"/>
            <a:ext cx="201168" cy="20116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8435670" y="91440"/>
            <a:ext cx="3170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maschere di bit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l08.S (1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08: Elements of Boolean Algebra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l08.S: one lamp per button, a marker that moves, and De Morgan at the joystick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seven lamps, one per button (LEFT on the left), lit while the button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is held; a white marker that LEFT and RIGHT move; a square that is green when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neither LEFT nor RIGHT is pressed and red otherwise.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l08.S --portable \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l08 --name l08 --out l08.prg32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 0x0000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WHITE,  0xffff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GREY,   0x4208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YELLOW, 0xffe0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GREEN,  0x07e0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RED,    0xf800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l08_init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l08_update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l08_draw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l08.S (2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l08_init: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l08_update: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all the buttons, one bit each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t0, a0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our own copy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t1, buttons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t0, 0(t1)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remember them for draw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t1, marker_x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0(t1)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0x01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only bit 0: LEFT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1f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zero: LEFT is not pressed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-2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move left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0x02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only bit 1: RIGHT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2f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2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move right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t2, 0(t1)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l08.S (3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"idle" when NEITHER LEFT NOR RIGHT is pressed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t4, 1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idle = 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0x03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0x03 = LEFT | RIGHT: keep both bits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3f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all zero: (LEFT + RIGHT)' is true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t4, 0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idle = 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la   t1, idle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t4, 0(t1)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l08.S (4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l08_draw: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bit number, 0 to 6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la   t0, buttons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the button mask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  t1, t1, s0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bring bit number s0 down to bit 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t1, t1, 1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it, clear all the others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GREY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off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2f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YELLOW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on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slli a0, s0, 5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a0, a0, 48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48 + 32 * bit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40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24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24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s0, s0, 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7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s0, t0, 1b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l08.S (5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marker_x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marker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100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WHITE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idle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result of De Morgan's test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RED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3f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GREEN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li   a0, 152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150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l08.S (6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buttons:  .word 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marker_x: .word 152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idle:     .word 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2360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sette lampade, una per pulsante (LEFT a sinistra), accese mentre il pulsante è premuto; un segnalino bianco mosso da LEFT e RIGHT; un quadrato verde quando né LEFT né RIGHT è premuto, rosso altrimenti.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453999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4418076"/>
            <a:ext cx="5468112" cy="1059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LEFT e RIGHT muovono il segnalino; provate anche A e B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~/arc12/code/l08.S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l08 --name l08 --out l08.prg32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l08.prg32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~/arc12/code/l08.S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l08 --name l08 --architecture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l08-qemu.prg32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l08-qemu.prg32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~/arc12/code/l08.S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l08 --name l08 --architecture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l08-esp32c6.prg32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l08-esp32c6.prg32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l08;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Dimostrate con una tabella di verità la seconda legge di De Morgan, (x + y)' = x' . y'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9456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76272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Semplificate con l'algebra: x . y + x . y' . z + x' . y, nominando la legge usata a ogni passo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5351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93522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la maschera e l'istruzione che verificano se A e B sono premuti insieme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31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13328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Modificate il programma delle lampade perché mostrino il complemento dei pulsanti (accese quando rilasciati)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905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27228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Convertite una lettera da maiuscola a minuscola e viceversa con una sola istruzione bit a bit (suggerimento: ASCII, Lezione 04)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PRG32: tutte e sette le lampade accese a riposo, ognuna si spegne mentre il suo pulsante è premuto. Per la lettera: xori con 0x20 inverte il bit 5.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Elementi di algebra di Boole: il codice</dc:title>
  <dc:subject>Lezione 08</dc:subject>
  <dc:creator>Raffaele Montella</dc:creator>
  <cp:lastModifiedBy>Raffaele Montella</cp:lastModifiedBy>
  <cp:revision>1</cp:revision>
  <dcterms:created xsi:type="dcterms:W3CDTF">2026-10-17T07:16:50Z</dcterms:created>
  <dcterms:modified xsi:type="dcterms:W3CDTF">2026-10-17T07:16:50Z</dcterms:modified>
</cp:coreProperties>
</file>