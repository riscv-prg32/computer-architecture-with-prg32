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022b208-34bb-58ae-ba2f-337dcacbf059}">
          <p14:sldIdLst>
            <p14:sldId id="256"/>
            <p14:sldId id="257"/>
          </p14:sldIdLst>
        </p14:section>
        <p14:section name="Tempo e stato" id="{f813b0e4-47c1-5b19-6701-0c92aae2ee59}">
          <p14:sldIdLst>
            <p14:sldId id="258"/>
            <p14:sldId id="259"/>
          </p14:sldIdLst>
        </p14:section>
        <p14:section name="Macchine a stati finiti" id="{91d4bf8c-139f-21b7-f749-c279fb4ac7da}">
          <p14:sldIdLst>
            <p14:sldId id="260"/>
            <p14:sldId id="261"/>
            <p14:sldId id="262"/>
            <p14:sldId id="263"/>
          </p14:sldIdLst>
        </p14:section>
        <p14:section name="Latch" id="{edd6a9fd-f982-4ac7-f294-eb794f8b8b13}">
          <p14:sldIdLst>
            <p14:sldId id="264"/>
            <p14:sldId id="265"/>
            <p14:sldId id="266"/>
            <p14:sldId id="267"/>
            <p14:sldId id="268"/>
          </p14:sldIdLst>
        </p14:section>
        <p14:section name="Flip-flop" id="{f7943d18-37f2-ac1e-2b44-d29f8de04ccd}">
          <p14:sldIdLst>
            <p14:sldId id="269"/>
            <p14:sldId id="270"/>
          </p14:sldIdLst>
        </p14:section>
        <p14:section name="Ritorno alla macchina" id="{a79afe55-ac3c-42a1-574a-45dd9bdac678}">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terzo blocco del corso: stato e memoria. Le macchine della Lezione 11 non avevano memoria: ingressi identici producevano sempre uscite identiche. Un calcolatore, però, ricorda: un contatore persiste da un frame al successivo, e un gioco sa se sta mostrando il titolo o il campo di gioco. Questa lezione introduce tempo e stato, il modello che descrive ogni circuito dotato di memoria, e gli elementi elementari di memorizzazione, latch e flip-flop, con cui si costruiscono i registri del processore. È il cardine concettuale tra logica e architettura.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Per il docente: Spirale: un gioco con una schermata del titolo è una macchina a stati finiti scritta in assembly; la lezione costruisce poi la teoria (tempo, stato, Mealy e Moore), gli elementi di memoria (latch e flip-flop), e torna ai registri e al program counter di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Spiegare perché un circuito sequenziale richiede i concetti di tempo e di stato. Definire una macchina a stati finiti e distinguere i modelli di Mealy e di Moore. Descrivere una macchina con una tabella degli stati e con un diagramma degli stati, e passare dall'uno all'altro. Spiegare come un latch SR memorizza un bit e perché una combinazione di ingresso è vietata. Distinguere i latch dai flip-flop, l'attivazione a livello da quella sul fronte. E riconoscere registri, contatori e program counter come macchine sequenziali.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clock è un segnale che alterna regolarmente tra 0 e 1. Il disegno ne indica le caratteristiche: il periodo T, i tempi alto e basso, il fronte di salita, dove passa da 0 a 1, e il fronte di discesa. La frequenza è il numero di periodi al secondo, 1/T. I circuiti sincroni cambiano stato su uno dei due fronti. Per il kit, 160 MHz corrispondono a un periodo di 6,25 nanosecondi, e ogni rete combinatoria del chip deve assestarsi entro quell'intervallo: il cammino critico della Lezione 11 pone così un limite superiore alla frequenza di clock.
DA COMPRENDERE OGGI: il clock.
Per il docente: Fronte di salita, fronte di discesa, periodo TCK, TH e TL nella slide originale. Il legame con la Lezione 11: il periodo deve superare il percorso critico. In un gioco PRG32 il frame fa da clock, molto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stato è un riassunto dell'intera storia passata degli ingressi: ciò che il circuito deve sapere del passato per comportarsi correttamente da qui in avanti. È contenuto nelle variabili di stato. Una funzione di transizione calcola lo stato successivo dallo stato presente e dagli ingressi presenti, e lo stato si aggiorna una volta per ciclo di clock, come la formula a destra dice in forma compatta. La nozione di stato è un'astrazione potente: una storia illimitata è sostituita da una quantità finita di informazione. Memorizzarla richiede elementi con due condizioni stabili, latch e flip-flop.
DA COMPRENDERE OGGI: macchine a stati finiti.
Per il docente: Nel riscaldamento: una variabile di stato (la parola state), la funzione di transizione è game_update, il clock è il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formale. Una macchina sequenziale è specificata da cinque componenti: un alfabeto di ingresso I e un alfabeto di uscita U, entrambi insiemi finiti di simboli; un insieme finito di stati S; una funzione di stato successivo, che assegna uno stato successivo a ogni coppia di stato e ingresso; e una funzione di uscita. Il riscaldamento istanzia la definizione: l'ingresso è "A premuto o no", gli stati sono TITLE, PLAY e OVER, la funzione di stato successivo è il codice di game_update, e l'uscita è lo schermo.
DA COMPRENDERE OGGI: macchine a stati finiti.
Per il docente: In inglese: finite-state automaton; sequential machine. Con k variabili di stato gli stati sono al più 2^k. La slide originale scriveva le funzioni con segni di appartenenza: qui si usano le frecce corrette.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sono due modi di definire l'uscita. In una macchina di Mealy l'uscita dipende sia dallo stato sia dall'ingresso; si scrive sulle transizioni e può rispondere a un ingresso nello stesso ciclo. In una macchina di Moore l'uscita dipende solo dallo stato; si scrive dentro gli stati e cambia solo quando cambia lo stato. Il gioco del riscaldamento è una macchina di Moore, perché ogni stato ha la sua schermata. I due modelli hanno la stessa potenza espressiva, anche se il numero di stati richiesti può differire.
DA COMPRENDERE OGGI: macchine a stati finiti.
Per il docente: Ogni macchina di Mealy ha una macchina di Moore equivalente e viceversa, eventualmente con un numero diverso di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L'architettura generale di ogni macchina sequenziale. Una rete combinatoria calcola lo stato successivo e le uscite dagli ingressi e dallo stato presente; un registro di flip-flop contiene lo stato presente; a ogni fronte di clock lo stato successivo diventa lo stato presente. L'anello dalla rete al registro e ritorno è ciò che rende possibile la memoria, e il registro è ciò che disciplina l'anello: i valori circolano una volta per ciclo, mai più in fretta. Ogni macchina della Lezione 11 appartiene al blocco superiore. Questo schema, con il contenuto adatto, descrive il processore stesso.
DA COMPRENDERE OGGI: macchine a stati finiti.
Per il docente: Rete combinatoria e registri di stato. Il riscaldamento ha esattamente questa forma: game_update è il riquadro superiore, la parola state è il registro, il frame è il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descrizioni equivalenti di una macchina, illustrate da un esempio di Mealy a quattro stati. Nella tabella degli stati ogni riga è uno stato presente e ogni colonna un simbolo di ingresso; ogni cella dà lo stato successivo e, dopo la barra, l'uscita. Nel diagramma degli stati ogni stato è un nodo e ogni transizione una freccia etichettata ingresso/uscita. Il passaggio tra le due va esercitato: si prende la riga di s0 e se ne individuano le due frecce nel disegno.
DA COMPRENDERE OGGI: macchine a stati finiti.
Per il docente: Tabella degli stati e diagramma degli stati: G(V, E, L) con V i nodi (stati), E gli archi (transizioni) e L le etichette. L'esempio è quello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SR consiste di due porte NOR, ciascuna con l'uscita collegata a un ingresso dell'altra. S, per set, porta Q a 1; R, per reset, porta Q a 0. Con entrambi a 0 il latch conserva il suo ultimo valore: ricorda quale ingresso è stato 1 più di recente. La tabella riassume i quattro casi, l'ultimo dei quali è vietato. A causa della retroazione, Q dipende da sé stesso: in un circuito con un anello un segnale va inteso come una forma d'onda nel tempo, non come un singolo valore.
DA COMPRENDERE OGGI: latch e flip-flop.
Per il docente: Q = (R + Q')' e Q' = (S + Q)'. Tagliando il filo di retroazione il latch diventa una semplice rete combinatoria di due NOR: così lo analizzava, caso per caso, la presentazione originale. Lo stesso latch si può costruire con due porte NAND e ingressi attivi bassi.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osservato nel tempo. S sale a 1, e dopo il ritardo delle porte Q diventa 1. S torna poi a 0 e nulla cambia: la retroazione tiene Q a 1. Questo tratto piatto è la memoria. Più tardi R sale a 1, Q torna a 0, e vi resta quando R torna a 0. I quattro istanti segnati vanno seguiti con il circuito della slide precedente sotto gli occhi, determinando l'uscita di ogni porta in ogni istante.
DA COMPRENDERE OGGI: latch e flip-flop.
Per il docente: Diagramma temporale. La presentazione originale tracciava ciascuno di questi quattro passi porta per porta su una dozzina di slide; ripercorrerli alla lavagna con il circuito della slide precedente. Il latch è un automa di Moore: la sua uscita è il suo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S e R entrambi a 1, entrambe le porte NOR danno 0, quindi Q e il suo complemento non sono più complementari. Peggio ancora, se i due ingressi tornano poi a 0 contemporaneamente, le porte entrano in competizione, e lo stato finale dipende da quale è più veloce. L'esito è imprevedibile, e il latch può persino oscillare, una condizione nota in forma generale come metastabilità. Un progettista che usa un latch SR deve garantire che S e R non valgano mai 1 insieme. Gli elementi JK e D sono stati ideati per eliminare questo rischio alla radice.
DA COMPRENDERE OGGI: latch e flip-flop.
Per il docente: Le conclusioni della presentazione originale scambiavano set e reset in una slide: set dà Q = 1, reset dà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circuito asincrono le uscite possono cambiare ogni volta che cambia un ingresso; in uno sincrono è il clock a decidere quando. Per rendere sincrono il latch SR, S e R passano per due porte AND insieme al clock. Quando il clock vale 0 entrambe le porte danno 0 e il latch non può cambiare; quando il clock vale 1 si comporta come il latch semplice. Il clock decide così quando gli ingressi vengono ascoltati.
DA COMPRENDERE OGGI: latch e flip-flop.
Per il docente: Latch sincroni e asincroni. La presentazione originale suggerisce un simulatore: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perfezionamenti del latch. Nel latch JK le uscite sono riportate alle porte di ingresso, così che set e reset interni non possano mai valere 1 insieme; la combinazione J = K = 1, invece di essere vietata, inverte l'uscita, il che si chiama commutazione. Il latch D ha un solo ingresso: D pilota il set e la sua negazione il reset, quindi l'uscita segue semplicemente D finché il clock è attivo. D sta per delay, o data.
DA COMPRENDERE OGGI: latch e flip-flop.
Per il docente: JK: le uscite sono riportate alle porte di ingresso, S = J . Q' e R = K . Q; poiché Q e Q' sono complementari, S e R non possono mai valere entrambi 1. D: un solo ingresso va a S e, attraverso un invertitore, a R, quindi sono possibili solo i casi S = 0, R = 1 e S = 1, R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flip-flop master-slave consiste di due latch in serie, abilitati da livelli opposti del clock. Quando il clock vale 0 il master è trasparente e segue l'ingresso, mentre lo slave è opaco. Quando il clock sale a 1 il master si chiude, trattenendo il suo contenuto, e lo slave si apre e lo presenta. I due non sono mai trasparenti contemporaneamente, quindi l'ingresso non può mai propagarsi direttamente all'uscita. L'effetto è che l'uscita cambia solo sul fronte di salita: il flip-flop è attivato sul fronte.
DA COMPRENDERE OGGI: latch e flip-flop.
Per il docente: Flip-flop master-slave. La presentazione originale mostrava la versione JK, fatta di due latch JK sincroni; la versione D è quella usata nei registri di un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differenza resa visibile sulle forme d'onda. Il clock e l'ingresso D sono identici per entrambi gli elementi. L'uscita del latch segue D per tutta la fase alta del clock, e può quindi cambiare a metà di una fase. L'uscita del flip-flop cambia solo sui fronti di salita, assumendo il valore che D ha in quell'istante; brevi impulsi di D tra due fronti vengono ignorati. L'uscita del flip-flop è stabile per un intero periodo, che è esattamente la proprietà richiesta a un registro di stato.
DA COMPRENDERE OGGI: latch e flip-flop.
Per il docente: Sensibile al livello contro sensibile al fronte. Le forme d'onda sono calcolate, non disegnate a mano: l'uscita del latch cambia a metà di una fase alta, quella del flip-flop solo sui fronti di salita.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è una fila di flip-flop che condividono un clock, un flip-flop per bit. Con un segnale di abilitazione al caricamento accetta un nuovo valore solo su richiesta e altrimenti conserva quello vecchio. RISC-V ha trentadue registri di trentadue bit, quindi 1.024 flip-flop. Le due macchine della Lezione 11 trovano ora il loro posto: il decoder pilotato dal campo rd attiva il caricamento di un solo registro, e i multiplexer selezionano quali registri si leggono. Il banco dei registri è così una sintesi del combinatorio e del sequenziale.
DA COMPRENDERE OGGI: i registri come flip-flop.
Per il docente: La presentazione originale usava come esempio il 74273 (otto flip-flop D, un clock e un clear). Registri, registri a scorrimento, bus e buffer a tre stati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ricorda dove si scrive l'uscita in ciascun tipo di diagramma. In una macchina di Moore sta dentro i nodi: appartiene allo stato, e l'ingresso non vi entra.
Per la seconda si consulta la tabella del latch SR cercando la riga con entrambi gli ingressi a 0. È la riga della memoria: la retroazione conserva il valore memorizzato, qualunque esso sia.
Per il docente: 1. Risposta: B. Moore: w va da S a U. In una macchina di Mealy l'uscita dipende dallo stato e dall'ingresso.
2. Risposta: C. S = R = 0 è la condizione di mantenimento: la retroazione conserva il valore memorizzato.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entrambi gli elementi memorizzano un bit ed entrambi hanno un clock. La differenza sta in quando rispondono: il latch per tutto il livello attivo, il flip-flop solo nell'istante di un fronte.
Per la seconda, una macchina con N stati richiede abbastanza variabili di stato da dare a ogni stato un codice distinto: il più piccolo k tale che 2^k sia almeno N. È la formula dei codici a lunghezza fissa della Lezione 11.
Per il docente: 1. Risposta: C. Il latch è trasparente per tutto il livello attivo del clock; il flip-flop campiona D solo sul fronte.
2. Risposta: B. ceil(log2 10) = 4 variabili di stato, con il codice binario di lunghezza minima della Lezione 11. Ne servirebbero dieci con un codice one-hot.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Feedback è retroazione. Il rising e il falling edge sono il fronte di salita e il fronte di discesa. Level-triggered ed edge-triggered specificano quando un elemento di memoria risponde. Stato presente e stato successivo sono i due valori ai due lati di un fronte di clock. Latch e flip-flop non si traducono; il termine generale italiano è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circuiti digitali sono combinatori o sequenziali, e per i secondi tempo e stato sono essenziali. Una macchina sequenziale realizza un automa a stati finiti, di tipo Mealy o Moore. Latch e flip-flop sono le memorie elementari, e la retroazione è ciò che permette a un circuito di ricordare. Il clock decide quando: i latch rispondono durante un livello, i flip-flop su un fronte. Registri, contatori, il program counter e il processore stesso sono macchine sequenziali costruite attorno a reti combinatorie. La prossima lezione assembla i registri nelle macchine elementari del percorso dei dati.
Stato di apprendimento, riepilogo.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Per il docente: Prossima lezione: le macchine elementari per l'architettura: registri, registri a scorrimento, bus e buffer a tre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13: Macchine sequenziali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sequenziali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Tempo, stato e macchine a stati finiti; latch, flip-flop e i registri di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ogni automobile ha un volante, ma nessuno pretende che il volante sia una sua invenzione.”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nel film I pirati di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13-Architettura_dei_Calcolatori-Macchine_Sequenziali-Lab.pptx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 circuito sequenziale ha bisogno dei concetti di tempo e di stato</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una macchina a stati finiti e distinguere le macchine di Mealy da quelle di Moore</a:t>
            </a:r>
            <a:endParaRPr lang="en-US" sz="2200" dirty="0"/>
          </a:p>
        </p:txBody>
      </p:sp>
      <p:sp>
        <p:nvSpPr>
          <p:cNvPr id="7" name="Text 5"/>
          <p:cNvSpPr txBox="1"/>
          <p:nvPr/>
        </p:nvSpPr>
        <p:spPr>
          <a:xfrm>
            <a:off x="548640" y="31619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4370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una macchina con una tabella degli stati e con un diagramma degli stati, e passare dall'una all'altro</a:t>
            </a:r>
            <a:endParaRPr lang="en-US" sz="2200" dirty="0"/>
          </a:p>
        </p:txBody>
      </p:sp>
      <p:sp>
        <p:nvSpPr>
          <p:cNvPr id="9" name="Text 7"/>
          <p:cNvSpPr txBox="1"/>
          <p:nvPr/>
        </p:nvSpPr>
        <p:spPr>
          <a:xfrm>
            <a:off x="548640" y="402518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06901"/>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latch SR ricorda un bit, e perché S = R = 1 non è ammesso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latch e flip-flop, sensibilità al livello e sensibilità al fronte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registri, contatori e il program counter di RISC-V come macchine sequenziali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segnale binario periodico che scandisce gli istanti discreti</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 periodo vale 1 per il tempo alto e 0 per il tempo basso</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il rapporto tra il tempo alto e il periodo</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Frequenza: il numero di periodi al secondo,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Fronte di salita: il passaggio da 0 a 1. Fronte di discesa: il passaggio da 1 a 0. I circuiti sincroni cambiano stato su uno dei due</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L'ESP32-C6 lavora a 160 MHz: un periodo dura 6,25 nanosecondi, e ogni rete combinatoria al suo interno deve assestarsi entro quel tempo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concetto di stato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uscite di un circuito sequenziale dipendono dagli ingressi e dallo stato: una sintesi di tutta la storia precedente degli ingressi</a:t>
            </a:r>
            <a:endParaRPr lang="en-US" sz="1900" dirty="0"/>
          </a:p>
        </p:txBody>
      </p:sp>
      <p:sp>
        <p:nvSpPr>
          <p:cNvPr id="5" name="Shape 3"/>
          <p:cNvSpPr/>
          <p:nvPr/>
        </p:nvSpPr>
        <p:spPr>
          <a:xfrm>
            <a:off x="548640" y="26297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654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è conservato da un insieme di variabili di stato</a:t>
            </a:r>
            <a:endParaRPr lang="en-US" sz="1900" dirty="0"/>
          </a:p>
        </p:txBody>
      </p:sp>
      <p:sp>
        <p:nvSpPr>
          <p:cNvPr id="7" name="Shape 5"/>
          <p:cNvSpPr/>
          <p:nvPr/>
        </p:nvSpPr>
        <p:spPr>
          <a:xfrm>
            <a:off x="548640" y="346456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81375"/>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funzione di transizione calcola lo stato prossimo dallo stato presente e dagli ingressi presenti</a:t>
            </a:r>
            <a:endParaRPr lang="en-US" sz="1900" dirty="0"/>
          </a:p>
        </p:txBody>
      </p:sp>
      <p:sp>
        <p:nvSpPr>
          <p:cNvPr id="9" name="Shape 7"/>
          <p:cNvSpPr/>
          <p:nvPr/>
        </p:nvSpPr>
        <p:spPr>
          <a:xfrm>
            <a:off x="548640" y="4299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210"/>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si aggiorna a ogni istante del tempo discreto, cioè a ogni ciclo di clock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lo stato all'istante k dipende dagli ingressi all'istante k e dallo stato all'istante k - 1</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memorizzare lo stato si usano elementi di memoria detti bistabili: latch e flip-flop</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stato prossimo è funzione dello stato presente e dell'ingresso</a:t>
            </a:r>
            <a:endParaRPr lang="en-US" sz="19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L'automa a stati finiti</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Il numero di stati di una rete sequenziale fisicamente realizzabile è necessariamente finito. Il modello che ne descrive il comportamento è l'automa a stati finiti; una macchina sequenziale ne realizza uno.</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sequenziale è una quintupla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l'alfabeto di ingresso, e U, l'alfabeto di uscita: insiemi finiti di simboli</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l'insieme finito e non vuoto degli stati</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la funzione stato prossimo, da S x I a S. A ogni coppia stato-ingresso corrisponde, se specificato, uno e un solo stato prossimo</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la funzione di uscita, che genera il simbolo di uscita</a:t>
            </a:r>
            <a:endParaRPr lang="en-US" sz="21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Macchine di Mealy e macchine di Moore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Mealy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dipende dallo stato e dall'ingresso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x I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sulle transizioni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Può reagire a un ingresso nello stesso ciclo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Spesso richiede meno stati</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Moore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è associata al solo stato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dentro gli stati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Cambia solo quando cambia lo stato: nessun disturbo dagli ingressi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Il gioco del riscaldamento lo è: ogni stato ha la sua schermata</a:t>
            </a:r>
            <a:endParaRPr lang="en-US" sz="20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Architettura generale di una macchina sequenziale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rete combinatoria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stato prossimo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di uscita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di stato</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ingressi</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uscite</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stato prossimo</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stato presente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rete combinatoria calcola lo stato prossimo e le uscite</a:t>
            </a:r>
            <a:endParaRPr lang="en-US" sz="2100" dirty="0"/>
          </a:p>
        </p:txBody>
      </p:sp>
      <p:sp>
        <p:nvSpPr>
          <p:cNvPr id="18" name="Shape 16"/>
          <p:cNvSpPr/>
          <p:nvPr/>
        </p:nvSpPr>
        <p:spPr>
          <a:xfrm>
            <a:off x="6949440" y="2379345"/>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280666"/>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registro di flip-flop conserva lo stato presente</a:t>
            </a:r>
            <a:endParaRPr lang="en-US" sz="2100" dirty="0"/>
          </a:p>
        </p:txBody>
      </p:sp>
      <p:sp>
        <p:nvSpPr>
          <p:cNvPr id="20" name="Shape 18"/>
          <p:cNvSpPr/>
          <p:nvPr/>
        </p:nvSpPr>
        <p:spPr>
          <a:xfrm>
            <a:off x="6949440" y="3242691"/>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14401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ogni fronte del clock lo stato prossimo diventa lo stato presente</a:t>
            </a:r>
            <a:endParaRPr lang="en-US" sz="2100" dirty="0"/>
          </a:p>
        </p:txBody>
      </p:sp>
      <p:sp>
        <p:nvSpPr>
          <p:cNvPr id="22" name="Shape 20"/>
          <p:cNvSpPr/>
          <p:nvPr/>
        </p:nvSpPr>
        <p:spPr>
          <a:xfrm>
            <a:off x="694944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33273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L'anello è spezzato dal registro: i valori fanno un giro per ciclo, mai più in fretta</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L'intera Lezione 11 vive nel riquadro superiore</a:t>
            </a:r>
            <a:endParaRPr lang="en-US" sz="2100" dirty="0"/>
          </a:p>
        </p:txBody>
      </p:sp>
      <p:sp>
        <p:nvSpPr>
          <p:cNvPr id="26" name="Shape 24"/>
          <p:cNvSpPr/>
          <p:nvPr/>
        </p:nvSpPr>
        <p:spPr>
          <a:xfrm>
            <a:off x="7723327" y="91440"/>
            <a:ext cx="3919728" cy="274320"/>
          </a:xfrm>
          <a:prstGeom prst="rect">
            <a:avLst/>
          </a:prstGeom>
          <a:solidFill>
            <a:srgbClr val="E0F2FE"/>
          </a:solidFill>
          <a:ln w="12700">
            <a:solidFill>
              <a:srgbClr val="0369A1"/>
            </a:solidFill>
            <a:prstDash val="solid"/>
          </a:ln>
        </p:spPr>
      </p:sp>
      <p:sp>
        <p:nvSpPr>
          <p:cNvPr id="27" name="Shape 25"/>
          <p:cNvSpPr/>
          <p:nvPr/>
        </p:nvSpPr>
        <p:spPr>
          <a:xfrm>
            <a:off x="7723327"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9" name="Text 2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Tabella e diagramma degli stati: una macchina di Mealy</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Stato presente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00424"/>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Tabella degli stati: una riga per stato presente, una colonna per simbolo di ingresso; ogni cella contiene stato prossimo / uscita</a:t>
            </a:r>
            <a:endParaRPr lang="en-US" sz="16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82388"/>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Diagramma degli stati: un grafo orientato; un nodo per stato, un arco per transizione, etichettato ingresso / uscita</a:t>
            </a:r>
            <a:endParaRPr lang="en-US" sz="1600" dirty="0"/>
          </a:p>
        </p:txBody>
      </p:sp>
      <p:sp>
        <p:nvSpPr>
          <p:cNvPr id="15" name="Shape 9"/>
          <p:cNvSpPr/>
          <p:nvPr/>
        </p:nvSpPr>
        <p:spPr>
          <a:xfrm>
            <a:off x="6400800" y="5984240"/>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924296"/>
            <a:ext cx="485820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due descrizioni sono equivalenti</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 prossimo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mantiene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non ammesso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492758"/>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porte NOR, ciascuna con l'uscita collegata a un ingresso dell'altra: retroazione</a:t>
            </a:r>
            <a:endParaRPr lang="en-US" sz="1800" dirty="0"/>
          </a:p>
        </p:txBody>
      </p:sp>
      <p:sp>
        <p:nvSpPr>
          <p:cNvPr id="13" name="Shape 7"/>
          <p:cNvSpPr/>
          <p:nvPr/>
        </p:nvSpPr>
        <p:spPr>
          <a:xfrm>
            <a:off x="5943600" y="2346960"/>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271522"/>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 (set) porta Q allo stato stabile 1; R (reset) porta Q allo stato stabile 0</a:t>
            </a:r>
            <a:endParaRPr lang="en-US" sz="1800" dirty="0"/>
          </a:p>
        </p:txBody>
      </p:sp>
      <p:sp>
        <p:nvSpPr>
          <p:cNvPr id="15" name="Shape 9"/>
          <p:cNvSpPr/>
          <p:nvPr/>
        </p:nvSpPr>
        <p:spPr>
          <a:xfrm>
            <a:off x="5943600" y="3201162"/>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125724"/>
            <a:ext cx="53154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 S = R = 0 il latch conserva l'ultimo valore: ricorda quale dei due ingressi è stato a 1 più di recente</a:t>
            </a:r>
            <a:endParaRPr lang="en-US" sz="1800" dirty="0"/>
          </a:p>
        </p:txBody>
      </p:sp>
      <p:sp>
        <p:nvSpPr>
          <p:cNvPr id="17" name="Shape 11"/>
          <p:cNvSpPr/>
          <p:nvPr/>
        </p:nvSpPr>
        <p:spPr>
          <a:xfrm>
            <a:off x="5943600" y="4334256"/>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258818"/>
            <a:ext cx="531540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Per via della retroazione Q dipende da se stesso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Q = R' . (S + Q), dove la Q a destra è il valore di un ritardo di propagazione prima</a:t>
            </a:r>
            <a:endParaRPr lang="en-US" sz="1800" dirty="0"/>
          </a:p>
        </p:txBody>
      </p:sp>
      <p:sp>
        <p:nvSpPr>
          <p:cNvPr id="19" name="Shape 13"/>
          <p:cNvSpPr/>
          <p:nvPr/>
        </p:nvSpPr>
        <p:spPr>
          <a:xfrm>
            <a:off x="5943600" y="5689854"/>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614416"/>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una rete con anelli ogni variabile è una forma d'onda nel tempo, non un singolo valore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 nel tempo</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32706"/>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Set: S va a 1; dopo il ritardo di due porte Q diventa 1</a:t>
            </a:r>
            <a:endParaRPr lang="en-US" sz="2200" dirty="0"/>
          </a:p>
        </p:txBody>
      </p:sp>
      <p:sp>
        <p:nvSpPr>
          <p:cNvPr id="12" name="Shape 7"/>
          <p:cNvSpPr/>
          <p:nvPr/>
        </p:nvSpPr>
        <p:spPr>
          <a:xfrm>
            <a:off x="548640" y="528523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17880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torna a 0 e non cambia nulla: la retroazione tiene Q a 1. Il latch ricorda</a:t>
            </a:r>
            <a:endParaRPr lang="en-US" sz="2200" dirty="0"/>
          </a:p>
        </p:txBody>
      </p:sp>
      <p:sp>
        <p:nvSpPr>
          <p:cNvPr id="14"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Reset: R va a 1 e, dopo il ritardo, Q diventa 0; quando R torna a 0 resta lì</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 = R = 1 non è ammesso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 entrambi gli ingressi a 1 entrambe le porte NOR danno 0: Q e Q' non sono più complementari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poi S e R tornano a 0 insieme, le due porte fanno a gara: lo stato finale dipende da quale è più veloce</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è imprevedibile, e il latch può perfino oscillare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e R si chiamano ingressi di eccitazione; il progettista deve garantire che non siano mai a 1 insieme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Gli elementi JK e D esistono per eliminare questo problema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condizione che deve rispettare ogni circuito che pilota un latch SR</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sincroni: si aggiunge un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latch SR sincrono: gli ingressi di eccitazione passano per due porte AND controllate da CK</a:t>
            </a:r>
            <a:endParaRPr lang="en-US" sz="1350" dirty="0"/>
          </a:p>
        </p:txBody>
      </p:sp>
      <p:sp>
        <p:nvSpPr>
          <p:cNvPr id="11" name="Shape 6"/>
          <p:cNvSpPr/>
          <p:nvPr/>
        </p:nvSpPr>
        <p:spPr>
          <a:xfrm>
            <a:off x="548640" y="1508252"/>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asincroni: le uscite possono cambiare ogni volta che cambia un ingresso</a:t>
            </a:r>
            <a:endParaRPr lang="en-US" sz="2000" dirty="0"/>
          </a:p>
        </p:txBody>
      </p:sp>
      <p:sp>
        <p:nvSpPr>
          <p:cNvPr id="13" name="Shape 8"/>
          <p:cNvSpPr/>
          <p:nvPr/>
        </p:nvSpPr>
        <p:spPr>
          <a:xfrm>
            <a:off x="548640" y="2614337"/>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523405"/>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sincroni: l'istante in cui le uscite possono cambiare è deciso dal clock</a:t>
            </a:r>
            <a:endParaRPr lang="en-US" sz="2000" dirty="0"/>
          </a:p>
        </p:txBody>
      </p:sp>
      <p:sp>
        <p:nvSpPr>
          <p:cNvPr id="15" name="Shape 10"/>
          <p:cNvSpPr/>
          <p:nvPr/>
        </p:nvSpPr>
        <p:spPr>
          <a:xfrm>
            <a:off x="548640" y="3720423"/>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629491"/>
            <a:ext cx="528523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 latch SR sincrono, S e R sono messi in AND con il clock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0: entrambe le porte AND danno 0 e il latch non può cambiare stato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1: il latch è sensibile a S e R, esattamente come quello asincrono</a:t>
            </a:r>
            <a:endParaRPr lang="en-US" sz="2000" dirty="0"/>
          </a:p>
        </p:txBody>
      </p:sp>
      <p:sp>
        <p:nvSpPr>
          <p:cNvPr id="17" name="Shape 12"/>
          <p:cNvSpPr/>
          <p:nvPr/>
        </p:nvSpPr>
        <p:spPr>
          <a:xfrm>
            <a:off x="548640" y="5643372"/>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552440"/>
            <a:ext cx="528523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clock decide quando gli ingressi vengono ascoltati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latch JK e 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JK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mantiene: Q invariato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commuta: Q si inverte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e R = K . Q non valgono mai 1 insieme. D (delay): S = D e R = D', quindi l'uscita ripete l'ingresso finché il clock è attivo.</a:t>
            </a:r>
            <a:endParaRPr lang="en-US" sz="13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flip-flop master-slave</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invertito</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latch in serie, controllati da livelli opposti del clock</a:t>
            </a:r>
            <a:endParaRPr lang="en-US" sz="1800" dirty="0"/>
          </a:p>
        </p:txBody>
      </p:sp>
      <p:sp>
        <p:nvSpPr>
          <p:cNvPr id="18" name="Shape 16"/>
          <p:cNvSpPr/>
          <p:nvPr/>
        </p:nvSpPr>
        <p:spPr>
          <a:xfrm>
            <a:off x="7589520" y="2332863"/>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257425"/>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master riceve gli ingressi; lo slave produce le uscite</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Non sono mai trasparenti insieme: l'ingresso non può mai correre dritto fino all'uscita</a:t>
            </a:r>
            <a:endParaRPr lang="en-US" sz="1800" dirty="0"/>
          </a:p>
        </p:txBody>
      </p:sp>
      <p:sp>
        <p:nvSpPr>
          <p:cNvPr id="22" name="Shape 20"/>
          <p:cNvSpPr/>
          <p:nvPr/>
        </p:nvSpPr>
        <p:spPr>
          <a:xfrm>
            <a:off x="7589520" y="4291965"/>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216527"/>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L'uscita cambia solo quando il clock passa da 0 a 1: sul fronte</a:t>
            </a:r>
            <a:endParaRPr lang="en-US" sz="1800" dirty="0"/>
          </a:p>
        </p:txBody>
      </p:sp>
      <p:sp>
        <p:nvSpPr>
          <p:cNvPr id="24" name="Shape 22"/>
          <p:cNvSpPr/>
          <p:nvPr/>
        </p:nvSpPr>
        <p:spPr>
          <a:xfrm>
            <a:off x="7589520" y="5132070"/>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056632"/>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flip-flop è sensibile al fronte: un'operazione per ciclo di clock, e nessuna fluttuazione dell'uscita</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(livello 0) seguito da (livello 1) = (fronte di salita)</a:t>
            </a:r>
            <a:endParaRPr lang="en-US" sz="1800" dirty="0"/>
          </a:p>
        </p:txBody>
      </p:sp>
      <p:sp>
        <p:nvSpPr>
          <p:cNvPr id="28" name="Shape 26"/>
          <p:cNvSpPr/>
          <p:nvPr/>
        </p:nvSpPr>
        <p:spPr>
          <a:xfrm>
            <a:off x="8117281" y="91440"/>
            <a:ext cx="3525774" cy="274320"/>
          </a:xfrm>
          <a:prstGeom prst="rect">
            <a:avLst/>
          </a:prstGeom>
          <a:solidFill>
            <a:srgbClr val="E0F2FE"/>
          </a:solidFill>
          <a:ln w="12700">
            <a:solidFill>
              <a:srgbClr val="0369A1"/>
            </a:solidFill>
            <a:prstDash val="solid"/>
          </a:ln>
        </p:spPr>
      </p:sp>
      <p:sp>
        <p:nvSpPr>
          <p:cNvPr id="29" name="Shape 27"/>
          <p:cNvSpPr/>
          <p:nvPr/>
        </p:nvSpPr>
        <p:spPr>
          <a:xfrm>
            <a:off x="8117281"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1" name="Text 28"/>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 flip-flop? Guardate l'uscita</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latch D segue D per tutto il tempo in cui il clock è alto, e conserva l'ultimo valore quando il clock scende</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flip-flop D guarda D solo sul fronte di salita: gli impulsi brevi tra due fronti sono ignorati</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del flip-flop è ferma per un intero periodo: è ciò che serve a un registro di stato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registro è una fila di flip-flop</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un registro di quattro bit</a:t>
            </a:r>
            <a:endParaRPr lang="en-US" sz="1300" dirty="0"/>
          </a:p>
        </p:txBody>
      </p:sp>
      <p:sp>
        <p:nvSpPr>
          <p:cNvPr id="30" name="Shape 28"/>
          <p:cNvSpPr/>
          <p:nvPr/>
        </p:nvSpPr>
        <p:spPr>
          <a:xfrm>
            <a:off x="7406640" y="1469517"/>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Un registro è un dispositivo capace di memorizzare un gruppo di bit: un flip-flop per bit e un clock comune</a:t>
            </a:r>
            <a:endParaRPr lang="en-US" sz="1500" dirty="0"/>
          </a:p>
        </p:txBody>
      </p:sp>
      <p:sp>
        <p:nvSpPr>
          <p:cNvPr id="32" name="Shape 30"/>
          <p:cNvSpPr/>
          <p:nvPr/>
        </p:nvSpPr>
        <p:spPr>
          <a:xfrm>
            <a:off x="7406640" y="2381822"/>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29625"/>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Con un segnale di abilitazione al caricamento il registro prende il nuovo valore solo quando gli è chiesto; altrimenti conserva il vecchio</a:t>
            </a:r>
            <a:endParaRPr lang="en-US" sz="1500" dirty="0"/>
          </a:p>
        </p:txBody>
      </p:sp>
      <p:sp>
        <p:nvSpPr>
          <p:cNvPr id="34" name="Shape 32"/>
          <p:cNvSpPr/>
          <p:nvPr/>
        </p:nvSpPr>
        <p:spPr>
          <a:xfrm>
            <a:off x="7406640" y="3526536"/>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474339"/>
            <a:ext cx="3852367" cy="873252"/>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RISC-V ha trentadue registri di trentadue bit</a:t>
            </a:r>
            <a:endParaRPr lang="en-US" sz="1500" dirty="0"/>
          </a:p>
          <a:p>
            <a:pPr indent="0" marL="0">
              <a:spcAft>
                <a:spcPts val="200"/>
              </a:spcAft>
              <a:buNone/>
            </a:pPr>
            <a:r>
              <a:rPr lang="en-US" sz="1200" dirty="0">
                <a:solidFill>
                  <a:srgbClr val="5B6B78"/>
                </a:solidFill>
                <a:latin typeface="Calibri" pitchFamily="34" charset="0"/>
                <a:ea typeface="Calibri" pitchFamily="34" charset="-122"/>
                <a:cs typeface="Calibri" pitchFamily="34" charset="-120"/>
              </a:rPr>
              <a:t>– 1024 flip-flop, meno quelli di x0, che è cablato a zero</a:t>
            </a:r>
            <a:endParaRPr lang="en-US" sz="1500" dirty="0"/>
          </a:p>
        </p:txBody>
      </p:sp>
      <p:sp>
        <p:nvSpPr>
          <p:cNvPr id="36" name="Shape 34"/>
          <p:cNvSpPr/>
          <p:nvPr/>
        </p:nvSpPr>
        <p:spPr>
          <a:xfrm>
            <a:off x="7406640" y="461486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562666"/>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Il decodificatore della Lezione 11 pilota le abilitazioni: al fronte del clock cambia solo il registro indicato da rd</a:t>
            </a:r>
            <a:endParaRPr lang="en-US" sz="1500" dirty="0"/>
          </a:p>
        </p:txBody>
      </p:sp>
      <p:sp>
        <p:nvSpPr>
          <p:cNvPr id="38" name="Shape 36"/>
          <p:cNvSpPr/>
          <p:nvPr/>
        </p:nvSpPr>
        <p:spPr>
          <a:xfrm>
            <a:off x="7406640" y="5759577"/>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707380"/>
            <a:ext cx="385236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 multiplexer della Lezione 11 selezionano i registri da leggere</a:t>
            </a:r>
            <a:endParaRPr lang="en-US" sz="1500" dirty="0"/>
          </a:p>
        </p:txBody>
      </p:sp>
      <p:sp>
        <p:nvSpPr>
          <p:cNvPr id="40" name="Shape 38"/>
          <p:cNvSpPr/>
          <p:nvPr/>
        </p:nvSpPr>
        <p:spPr>
          <a:xfrm>
            <a:off x="7592009" y="91440"/>
            <a:ext cx="4051046" cy="274320"/>
          </a:xfrm>
          <a:prstGeom prst="rect">
            <a:avLst/>
          </a:prstGeom>
          <a:solidFill>
            <a:srgbClr val="E0F2FE"/>
          </a:solidFill>
          <a:ln w="12700">
            <a:solidFill>
              <a:srgbClr val="0369A1"/>
            </a:solidFill>
            <a:prstDash val="solid"/>
          </a:ln>
        </p:spPr>
      </p:sp>
      <p:sp>
        <p:nvSpPr>
          <p:cNvPr id="41" name="Shape 39"/>
          <p:cNvSpPr/>
          <p:nvPr/>
        </p:nvSpPr>
        <p:spPr>
          <a:xfrm>
            <a:off x="7592009"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43" name="Text 40"/>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di Moore l'uscita dipende: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ingresso presente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stato presente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presente e dall'ingresso presente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prossimo e dall'ingresso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latch SR fatto di porte NOR ha Q = 1. S e R valgono entrambi 0. Che cosa accade?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diventa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resta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stato è indefinito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un flip-flop D da un latch 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ha due ingressi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memorizza due bit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cambia solo su un fronte del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 flip-flop non serve un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flip-flop servono per una macchina a stati finiti con 10 stati?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circuiti digitali sono combinatori o sequenziali; per i sequenziali contano il tempo e lo stato</a:t>
            </a:r>
            <a:endParaRPr lang="en-US" sz="1800" dirty="0"/>
          </a:p>
        </p:txBody>
      </p:sp>
      <p:sp>
        <p:nvSpPr>
          <p:cNvPr id="5" name="Shape 3"/>
          <p:cNvSpPr/>
          <p:nvPr/>
        </p:nvSpPr>
        <p:spPr>
          <a:xfrm>
            <a:off x="548640" y="22916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6201"/>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macchina sequenziale realizza un automa a stati finiti, descritto come macchina di Mealy o di Moore</a:t>
            </a:r>
            <a:endParaRPr lang="en-US" sz="1800" dirty="0"/>
          </a:p>
        </p:txBody>
      </p:sp>
      <p:sp>
        <p:nvSpPr>
          <p:cNvPr id="7" name="Shape 5"/>
          <p:cNvSpPr/>
          <p:nvPr/>
        </p:nvSpPr>
        <p:spPr>
          <a:xfrm>
            <a:off x="548640" y="30905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5082"/>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Latch e flip-flop sono le memorie elementari: la retroazione fa sì che un circuito ricordi</a:t>
            </a:r>
            <a:endParaRPr lang="en-US" sz="1800" dirty="0"/>
          </a:p>
        </p:txBody>
      </p:sp>
      <p:sp>
        <p:nvSpPr>
          <p:cNvPr id="9" name="Shape 7"/>
          <p:cNvSpPr/>
          <p:nvPr/>
        </p:nvSpPr>
        <p:spPr>
          <a:xfrm>
            <a:off x="548640" y="36105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3507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clock decide quando: i latch ascoltano durante un livello, i flip-flop solo su un fronte</a:t>
            </a:r>
            <a:endParaRPr lang="en-US" sz="1800" dirty="0"/>
          </a:p>
        </p:txBody>
      </p:sp>
      <p:sp>
        <p:nvSpPr>
          <p:cNvPr id="11" name="Shape 9"/>
          <p:cNvSpPr/>
          <p:nvPr/>
        </p:nvSpPr>
        <p:spPr>
          <a:xfrm>
            <a:off x="548640" y="41304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Registri, contatori, program counter e il processore stesso sono macchine sequenziali costruite attorno a reti combinatorie</a:t>
            </a:r>
            <a:endParaRPr lang="en-US" sz="1800" dirty="0"/>
          </a:p>
        </p:txBody>
      </p:sp>
      <p:sp>
        <p:nvSpPr>
          <p:cNvPr id="13" name="Shape 11"/>
          <p:cNvSpPr/>
          <p:nvPr/>
        </p:nvSpPr>
        <p:spPr>
          <a:xfrm>
            <a:off x="548640" y="492937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53940"/>
            <a:ext cx="10710367" cy="13182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appendice A (clock, elementi di memoria, macchine a stati finiti)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Bucci: Architettura dei calcolatori elettronici, i capitoli sulle reti sequenziali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8: il gioco finale in assembly</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sequenziali</dc:title>
  <dc:subject>Lezione 13</dc:subject>
  <dc:creator>Raffaele Montella</dc:creator>
  <cp:lastModifiedBy>Raffaele Montella</cp:lastModifiedBy>
  <cp:revision>1</cp:revision>
  <dcterms:created xsi:type="dcterms:W3CDTF">2026-10-16T20:22:26Z</dcterms:created>
  <dcterms:modified xsi:type="dcterms:W3CDTF">2026-10-16T20:22:26Z</dcterms:modified>
</cp:coreProperties>
</file>