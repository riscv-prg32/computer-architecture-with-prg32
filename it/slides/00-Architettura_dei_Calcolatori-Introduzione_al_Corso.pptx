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105682a-2c54-cdae-ff07-e019cf11c49d}">
          <p14:sldIdLst>
            <p14:sldId id="256"/>
            <p14:sldId id="257"/>
            <p14:sldId id="258"/>
          </p14:sldIdLst>
        </p14:section>
        <p14:section name="Un approccio nuovo" id="{07bca8e4-f7b9-48b7-0a06-03b3a8045bc7}">
          <p14:sldIdLst>
            <p14:sldId id="259"/>
            <p14:sldId id="260"/>
            <p14:sldId id="261"/>
          </p14:sldIdLst>
        </p14:section>
        <p14:section name="PRG32 e RISC-V" id="{70c03c8a-b2dc-ddb0-5a7d-48a473ce6737}">
          <p14:sldIdLst>
            <p14:sldId id="262"/>
            <p14:sldId id="263"/>
            <p14:sldId id="264"/>
            <p14:sldId id="265"/>
          </p14:sldIdLst>
        </p14:section>
        <p14:section name="Il progetto del corso: Verm1" id="{4d3bde54-97ce-8368-a0d0-e6d14cc91dd8}">
          <p14:sldIdLst>
            <p14:sldId id="266"/>
            <p14:sldId id="267"/>
            <p14:sldId id="268"/>
          </p14:sldIdLst>
        </p14:section>
        <p14:section name="Organizzazione e valutazione" id="{d6e34043-a23d-fcd6-015a-f1c50c1f6c09}">
          <p14:sldIdLst>
            <p14:sldId id="269"/>
            <p14:sldId id="270"/>
            <p14:sldId id="271"/>
            <p14:sldId id="272"/>
            <p14:sldId id="273"/>
          </p14:sldIdLst>
        </p14:section>
        <p14:section name="Materiale e primo contatto" id="{7c3260ac-c48f-6fc6-3a14-adae5fcc74d0}">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prima lezione non insegna nessun argomento tecnico. Spiega come funziona il corso: il suo metodo, la macchina su cui si prova ogni idea, il progetto che attraversa il semestre, e le regole dell'esame. Il corso non presuppone alcuna esperienza: la maggior parte degli studenti in aula non ha mai scritto un programma, un elenco di istruzioni, ordini piccoli ed esatti, che un computer esegue una dopo l'altra. Il materiale è scritto per loro. Ogni parola tecnica è spiegata la prima volta che compare, in queste note o sulla slide. L'epigrafe da Matrix esprime l'idea del corso: un computer è un sistema, e un sistema di cui si possono aprire, nominare e capire le parti smette di essere un mistero. Il sottotitolo, prima programmare, poi formalizzare, è il metodo dell'intero corso; le slide che seguono ne sono le conseguenze.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metodo: prima il programma; le regole del corso. DA UTILIZZARE OGGI: il programma completo, gli strumenti di PRG32 (si usa, non si studia, in questo corso). DA COMPRENDERE PIÙ AVANTI: i componenti di PRG32 (Lezione 01); RISC e un ISA aperto (Lezione 03); il progetto Verm1 (Lezione 07). Una slide senza etichetta è contesto: una storia, un esempio, una domanda, un esercizio.
Percorso. I risultati di oggi: (1) descrivere i quattro passi della spirale di apprendimento e dire perché la previsione viene prima dell'esecuzione; (2) enunciare le regole di valutazione: una prova intercorso, due parti d'esame da superare entrambe, nessun dispositivo e nessuna IA. Si appoggia su: niente: è la prima lezione. Prossimo passo: Lezione 01, PRG32 e PRG32-QT: allestire la propria officina.
Per il docente: Lezione di apertura. I dati amministrativi (orario, valutazione) vengono dalla presentazione 2026/27; da quest'anno la prova intercorso è una sola, con dieci domande e due esercizi. Le date ancora indicate come «da definire» vanno inserite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ha cinque parti: le persone e le ore, l'approccio, la macchina, il progetto e le regole. L'ordine è voluto. Le regole hanno senso solo quando si sa che cosa chiede il corso, e ciò che chiede discende dal suo metodo: per questo il metodo viene per primo. Una parola della slide può essere nuova. Un debugger è uno strumento che permette di osservare un programma mentre gira, di fermarlo e di guardare dentro la macchina; il corso ne usa uno ogni settimana. Chi vuole sapere dell'esame lo trova nell'ultima parte.
Per il docente: Cinque parti, circa dieci minuti ciascuna. L'ultima è quella su cui gli studenti fanno domande: dire subito che arriva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corso vale 12 crediti ECTS, cioè 96 ore, divise in parti uguali tra lezioni (Prof. Montella) e laboratorio (Prof.ssa Staffa): due docenti, un corso, un solo voto finale. Non ci sono prerequisiti, e lo si intende alla lettera. Non si presuppone né esperienza di programmazione né conoscenza di come è fatto un computer; tutto ciò che serve si impara qui, a partire dalle parole stesse. Ciò che serve è la curiosità di capire come funziona davvero un computer, e un lavoro regolare: un po' ogni settimana rende molto più che tanto alla fine. Orario di ricevimento e codice di Teams vanno annotati subito; una domanda fatta nelle prime settimane è quella che costa meno risolvere.
Per il docente: Link di Teams dalla presentazione originale: https://teams.microsoft.com/l/channel/19%3Af4f24e8de71f424395ba903febdc4766%40thread.tacv2/General?groupId=09ae05f6-46f6-4441-ab7b-7522f88007d5 . Il codice del team c7rf33g viene dal Syllabus ufficiale e può cambiare: annunciare in aula ogni variazione.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metodo in una frase. Il processore è la parte del computer che lavora: esegue istruzioni, ordini piccoli ed esatti come "somma questi due numeri". L'assembly è un modo di scrivere quelle istruzioni come brevi parole, un'istruzione per riga, invece che come numeri. Prima programmare significa che dalla prima settimana gli studenti scrivono assembly RISC-V, e un processore vero lo esegue. Poi formalizzare significa che la teoria, cioè definizioni, regole e metodi, arriva dopo, come risposta a qualcosa che lo studente ha già visto accadere. La ragione è semplice: una spiegazione resta molto meglio quando risponde a una domanda che ci si è già posti. Della teoria non si toglie nulla, e tutta è oggetto d'esame. Arriva soltanto per seconda.
DA COMPRENDERE OGGI: il metodo: prima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argomento percorre gli stessi quattro passi. Giocare: si scrivono poche istruzioni e si eseguono. Osservare: la macchina fa qualcosa che non ci si aspettava del tutto. Per esempio, un contatore che scende sotto zero mostra 0xFFFFFFFF invece di -1. (Un numero che comincia con 0x è scritto in esadecimale, base sedici; la Lezione 02 mostra come leggerlo.) Oppure un bit, una singola cifra binaria che vale 0 o 1, accende una lampada sullo schermo. Formalizzare: la lezione dà la regola che lo spiega; qui il complemento a due, il modo in cui i computer rappresentano i numeri negativi, studiato nella Lezione 05. Ritornare: si torna alla macchina e si prevede il risultato prima di eseguire. Il quarto passo è la prova della comprensione. Una previsione giusta mostra che la regola è stata capita; una sbagliata è smentita subito dalla macchina, senza alcun costo. Una cartuccia, nominata nella slide, è un programma finito racchiuso in un unico file, come le cartucce delle vecchie console.
DA COMPRENDERE OGGI: il metodo: prima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Sono gli obiettivi scritti nel programma ufficiale, e discendono l'uno dall'altro. Prima le idee di base su come sono organizzati i computer. Poi i linguaggi a basso livello: il linguaggio macchina, i numeri che il processore legge davvero, e l'assembly, le stesse istruzioni scritte come parole. Poi la matematica con cui si costruisce un processore: l'algebra di Boole, l'algebra del vero e del falso, e l'aritmetica binaria, che conta con le sole cifre 0 e 1. Con esse si progettano le reti logiche, circuiti che calcolano una risposta dai loro ingressi (combinatorie) o che in più ricordano (sequenziali). Poi la struttura del processore, della memoria, dove si conservano programmi e dati, e dell'ingresso e uscita. Infine il codice assembly, in cui tutti questi livelli si vedono insieme. L'immagine è Pong su PRG32: qualche centinaio di istruzioni, che alla fine del corso gli studenti sapranno leggere una per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è una piccola console di gioco che si programma in assembly o in C, un altro linguaggio di programmazione. Alcune parole della slide vanno spiegate. Open source significa che il suo codice sorgente, il testo del programma come lo scrivono le persone, è pubblico: chiunque può leggerlo, usarlo e migliorarlo. Il firmware è il programma che la console esegue dal momento in cui viene accesa; il runtime è la parte di esso che resta sulla macchina ed esegue il gioco dello studente. Il codice macchina è il programma nella forma numerica che il processore legge; RV32IMAC nomina l'insieme di istruzioni, l'elenco delle istruzioni che questo particolare processore capisce. Interpretato da un simulatore vorrebbe dire che un altro programma, un interprete, imita il processore; sulla scheda di PRG32, invece, il codice gira direttamente sul chip. (PRG32-QT, nella slide successiva, lo interpreta: è così che un portatile può eseguirlo, e la Lezione 01 confronta i due casi.) Il gioco si scrive come tre funzioni, pezzi di programma con un nome: init gira una volta, mentre update e draw girano una volta per frame, cioè per ogni immagine mostrata sullo schermo. Un gioco finito è una cartuccia, un piccolo file che termina in .prg32. Lo schermo misura 320 per 200 pixel, i punti colorati che compongono un'immagine: abbastanza pochi da poter ragionare su ciascuno.
DA COMPRENDERE PIÙ AVANTI: i componenti di PRG32 (si studia nella Lezione 01).
Per il docente: PRG32: https://github.com/riscv-prg32/PRG32 . Libro di testo: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è PRG32 come applicazione sul proprio portatile. Esegue le stesse cartucce, senza la scheda e senza compilatore, il programma che traduce il codice sorgente in codice macchina (per l'assembly il traduttore si chiama assemblatore). È un emulatore, più precisamente un interprete: un programma che imita via software il processore della console, un'istruzione alla volta. La sua modalità debug apre la macchina. Il programma si può mettere in pausa e riprendere, o far avanzare un'istruzione alla volta. Un breakpoint è un segno su un'istruzione che ferma il programma quando ci arriva. Un registro è una delle 32 piccole celle di memorizzazione dentro il processore, ciascuna con un numero a 32 bit; il processore calcola solo sui registri. La memoria è una fila molto più grande di celle, ciascuna con un byte, otto bit, e ciascuna con un numero, il suo indirizzo. PRG32-QT mostra i registri e 128 byte di memoria a qualsiasi indirizzo, e può rallentare un gioco fino a un centesimo della sua velocità. L'ultima riga della slide è la prova pratica di comprensione usata in tutto il corso: saper dire che cosa conterrà ogni registro prima di premere Step.
DA COMPRENDERE PIÙ AVANTI: i componenti di PRG32 (si studia nella Lezione 01).
Per il docente: Settings, Run cartridges in RISC-V debug mode. La Lezione 01 lo installa; la stessa cartuccia gira anche sul kit e sull'emulatore QEMU, e la Lezione 01 confronta i tre. Il debugger si usa dalla Lezione 02 e in modo sistematico nei tutorial di Verm1: ognuno ha una sezione di debug con una procedura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ragioni spiegano la scelta di RISC-V. È aperto: l'insieme di istruzioni è uno standard pubblico, e chiunque può costruire un processore RISC-V senza pagare una licenza. È piccolo: circa quaranta istruzioni di base e trentadue registri, abbastanza pochi da impararli tutti in un semestre. È reale: le istruzioni della slide, addi, lw, sw, beqz, sono eseguite da miliardi di dispositivi commerciali, quindi nulla di ciò che si impara qui è un giocattolo. Ed è strategico: progetti europei costruiscono su di esso i propri processori. Per un principiante conta soprattutto la seconda ragione: alla fine del corso gli studenti conosceranno l'intero insieme di istruzioni di base, non una selezione.
DA COMPRENDERE PIÙ AVANTI: RISC e un ISA aperto (si studia nella Lezione 03).
Per il docente: DARE: Digital Autonomy with RISC-V in Europe, progetto della EuroHPC Joint Undertaking. Per l'argomentazione completa e le fonti si veda il capitolo 1 del libro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è l'intero corso in una pagina. La colonna di sinistra elenca la teoria; quella di destra dice dove ogni argomento si incontra per la prima volta sulla macchina, come qualcosa che si vede accadere. Molte parole della colonna di sinistra sono nuove, ed è previsto: ciascuna è il titolo di una lezione, e la tabella mostra soltanto dove arriverà. Due esempi. Il complemento a due, il modo in cui si conservano i numeri negativi, compare la prima volta come una posizione che si sposta a sinistra oltre lo zero. Le reti sequenziali, circuiti che ricordano, compaiono la prima volta come un contatore che conserva il suo valore da un frame all'altro. Lo stack, più in basso, è una zona di memoria in cui una funzione tiene i suoi valori temporanei (Lezione 18). Conviene riguardare la tabella all'inizio di ogni blocco, ed è un'ottima lista di controllo per il ripasso.
Per il docente: Questa tabella è il corso in una slide. Riprenderla all'inizio di ogni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del corso è Verm1, che si legge "vermone": un omaggio a Snake, in cui un verme si muove su una griglia, mangia, cresce e non deve mordersi. Le regole stanno in una frase, eppure scriverlo usa quasi ogni argomento del corso: i numeri per le posizioni, la logica per i comandi, la memoria per il corpo, le funzioni e la divisione per il punteggio. Gli studenti scrivono ogni riga da sé. Non c'è un motore di gioco, solo poche chiamate di PRG32, funzioni già pronte che disegnano un rettangolo, leggono i pulsanti o suonano una nota. Il gioco finito porta il nome del suo autore.
DA COMPRENDERE PIÙ AVANTI: il progetto Verm1 (si studia nella Lezione 07).
Per il docente: Il progetto è il filo del corso: ogni parte usa esattamente ciò che le quattro lezioni precedenti hanno insegnato. L'implementazione di riferimento di Verm1 è un contributo di Giuseppe Coviello; i sorgenti sono nella cartella verm1 del materiale del corso e sono compilati e giocati automaticamente dai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cresce in quattro parti e una pubblicazione; ogni parte arriva subito dopo le lezioni che usa. La Parte 1 (Lezione 07) usa i numeri: una griglia e una testa che si muove. La Parte 2 (Lezione 12) usa la logica: la guida, il cibo e un punteggio. La Parte 3 (Lezione 17) usa lo stato e la memoria: un corpo che cresce, le collisioni e tre schermate. La Parte 4 (Lezione 22) usa l'organizzazione della macchina: cifre sullo schermo, livelli e disegno veloce. La Lezione 23 pubblica il gioco sul Cartridge Store. La colonna di destra nomina le tecniche; parole come array, una fila di valori dello stesso tipo conservati uno dopo l'altro in memoria, sono spiegate nella lezione che le usa. La didascalia dice la regola più importante: ogni parte si chiude con un gioco che gira.
DA COMPRENDERE PIÙ AVANTI: il progetto Verm1 (si studia nella Lezione 07).
Per il docente: Una presentazione su cinque è un tutorial. I numeri sono quelli delle lezioni: 07, 12, 17 e 22 per le quattro parti, 23 per la pubblicazione.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calendario del corso, a blocchi. Dopo le tre lezioni iniziali vengono quattro blocchi di quattro lezioni ciascuno. Informazione: che cosa significa un bit, e come si scrivono i numeri con i bit. Logica: come si combinano i bit. Stato e memoria: come si conservano i bit. La macchina: il processore e i suoi dispositivi. Ogni blocco si chiude con una parte di Verm1; la Lezione 23 pubblica il gioco e la Lezione 24 guarda a macchine più veloci. Gran parte dei titoli della slide, dal bus alle interruzioni alle FPGA, nomina cose non ancora incontrate: ciascuna è spiegata nella sua lezione, e oggi non serve capire nulla di tutto ciò. I numeri delle lezioni di questa slide sono usati ovunque nel materiale, quindi un riferimento come "Lezione 13" si ritrova sempre qui.
Per il docente: L'ordine è scelto per l'apprendimento: prima che cosa significa un bit, poi come i bit si combinano, poi come si ricordano, poi la macchina che fa le tre cose; il processore viene prima dei dispositivi che pilota. Dopo ogni blocco il progetto lo mette in pratica. L'ultima lezione è uno sguardo in avanti, prima della visita ai sistemi di 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corso si riunisce quattro volte a settimana da settembre a dicembre, sempre in Aula 1: lunedì pomeriggio e mercoledì mattina con il Prof. Montella, martedì e venerdì mattina con la Prof.ssa Staffa. Lezioni e laboratorio non si alternano secondo uno schema fisso. Un calendario interno, condiviso con la classe, dà la distribuzione reale settimana per settimana; è quel calendario, non questa tabella da sola, a dire che cosa preparare per un dato giorno.
DA COMPRENDERE OGGI: le regole del corso.
Per il docente: Condivideremo un calendario interno con la distribuzione effettiva di lezioni e laboratori.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C'è una sola prova intercorso: dieci domande a risposta multipla e due esercizi, su carta, in circa 45 minuti. Servono un documento d'identità e una penna, e bisogna conoscere il proprio indirizzo e-mail istituzionale e il proprio numero di matricola. La prova ha due scopi: misura i progressi di ogni studente, e dice ai docenti come sta andando il corso. La preparazione è già dentro le lezioni, ciascuna delle quali si chiude con domande proprio di questo tipo. Rispondere settimana per settimana richiede pochi minuti; lasciarle tutte alla sera prima non funziona.
DA COMPRENDERE OGGI: le regole del corso.
Per il docente: Una sola prova intercorso dal 2026/27 (erano due). La data è da definire: inserirla. Il peso della prova si decide dopo aver valutato il comportamento corretto degli studenti in aula. Le regole di prenotazione non sono sulla slide: dirle in aula, se ci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per la prova intercorso e per l'esame finale è breve: nessun dispositivo e nessun aiuto di alcun tipo, umano o artificiale. Ciò include ChatGPT, gli altri grandi modelli linguistici, e ogni altra forma di intelligenza artificiale generativa. Copiare annulla subito la prova. La regola non è ostilità verso la tecnologia, che il corso usa ogni giorno; discende da ciò a cui serve una prova. Una prova misura ciò che il candidato sa. Una risposta prodotta da qualcun altro, o da qualcos'altro, non misura nulla e non aiuta nessuno, men che meno il candidato.
DA COMPRENDERE OGGI: le regole del corso.
Per il docente: Se per comportamento inadeguato si devono annullare più di due prove, l'intera prova intercorso è annullata per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L'esame ha due parti, ed entrambe vanno superate. La parte di teoria è un esame orale su tutto il programma, in cui alcune risposte richiedono un disegno o un calcolo alla lavagna. La parte pratica è l'esame di laboratorio con la Prof.ssa Staffa. Ciascuna vale metà, e il voto finale è la loro media. L'orale può anche abbassare il voto della prova intercorso: la prova intercorso è un risultato vero, non una garanzia. Come la prova intercorso entri nel voto di teoria è spiegato in aula.
DA COMPRENDERE OGGI: le regole del corso.
Per il docente: I risultati della prova intercorso e dell'esame valgono per l'anno accademico in corso. Il Syllabus ufficiale descrive la parte scritta come esercizi di analisi e sintesi di reti logiche e di sviluppo in assembly RISC-V su PRG32. Come la prova intercorso entra nel voto di teoria si dice in aula: la slide non dà una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voto finale si verbalizza solo quando entrambe le parti sono superate, e solo durante un appello di teoria; l'esame di laboratorio di solito lo precede di circa una settimana. Entrambi vanno prenotati su Esse3, il sistema online dell'ateneo. Le due domande più frequenti hanno la stessa risposta: la parte di teoria si può sostenere prima di quella pratica, e il suo risultato resta valido per l'anno accademico, ma nulla si verbalizza finché entrambe non sono superate. Conviene pianificare insieme i due esami.
DA COMPRENDERE OGGI: le regole del corso.
Per il docente: Nella presentazione originale le date degli appelli erano vuote: aggiungerle quando sono pubblicate.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materiale viene da quattro fonti. Le slide sono in una cartella condivisa di Google Drive e sono pubblicate di tanto in tanto sul portale di e-learning. PRG32 e il suo libro, Playing with RISC-V, sono gratuiti e open source su GitHub, un sito che ospita il codice sorgente di molti progetti. I libri di riferimento sono Patterson e Hennessy, Computer Organization and Design, edizione RISC-V, e Tanenbaum e Austin, Structured Computer Organization; entrambi esistono in italiano. La documentazione ufficiale di RISC-V è su riscv.org. Il primo giorno non serve comprare nulla: le slide e il materiale di PRG32 bastano finché non comincia la teoria, e a quel punto conviene scegliere un libro.
Per il docente: Cartella Drive: https://drive.google.com/drive/folders/15Kdu8XYbQQVP0ieuZA5OIEmoKqDjQ-eR?usp=sharing . E-learning: https://elearning.uniparthenope.it/course/view.php?id=107 . Edizioni originali: Patterson, Hennessy, Computer Organization and Design, RISC-V Edition (Morgan Kaufmann); Tanenbaum, Austin, Structured Computer Organization (Pearson). Edizioni italiane: Zanichelli e Pearson.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gruppi di domande aprono la conversazione: hardware, software, cultura, concetti, RISC-V e gli studenti stessi. Non ci sono risposte giuste e nulla viene valutato. Lo scopo è capire da dove parte la classe. Chi non ha mai montato un computer né letto una riga di assembly è la maggioranza, ed è esattamente dove il corso se lo aspetta: si parte da zero. Chi l'ha fatto troverà occasioni per aiutare i vicini, che è a sua volta uno dei modi migliori di imparare. Hardware indica le parti fisiche di un computer; software i programmi che vi girano.
Stato di apprendimento, riepilogo. DA COMPRENDERE OGGI: il metodo: prima il programma; le regole del corso. DA UTILIZZARE OGGI: il programma completo, gli strumenti di PRG32 (si usa, non si studia, in questo corso). DA COMPRENDERE PIÙ AVANTI: i componenti di PRG32 (Lezione 01); RISC e un ISA aperto (Lezione 03); il progetto Verm1 (Lezione 07). Una slide senza etichetta è contesto: una storia, un esempio, una domanda, un esercizio. Il filo della lezione: Il corso segue un solo metodo: giocare, osservare, formalizzare, ritornare. Ogni argomento comincerà come qualcosa visto su PRG32 e finirà come una regola che permette di prevederlo. Prossimo passo: installare il laboratorio. Biglietto d'uscita (da due a quattro minuti, da soli, su carta): 1. Prima di eseguire un programma vi si chiede di scrivere che cosa vi aspettate di vedere. Quale passo della spirale di apprendimento è questo, e che cosa imparate quando la previsione si rivela sbagliata? 2. Vero o falso? Correggete le affermazioni false. (a) Superare la prova intercorso basta per verbalizzare il voto finale. (b) Nella prova intercorso è ammessa la calcolatrice del telefono. (c) La parte di teoria si può sostenere prima di quella di laboratorio.
Per il docente: Per rompere il ghiaccio. Rapido; annotare le risposte: dicono a che velocità può andare la Lezione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00: Introduzione al corso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 corso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Architettura dei Calcolatori e Laboratorio (ARC12): prima si programma, poi si formalizza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“Matrix è un sistema, Neo. E quel sistema è nostro nemico.”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Matrix, Lana e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00-Architettura_dei_Calcolatori-Introduzione_al_Corso-Lab.pptx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Oggi</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 siamo, e come sono organizzate le 96 ore del corso</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L'approccio: prima programmate, poi formalizziamo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PRG32, RISC-V e il debugger che userete ogni settimana; la prossima volta li installiamo insieme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progetto: Verm1, un gioco che scrivete partendo da un file vuoto e che pubblicate</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regole: orario, prova intercorso, esame, materiale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corso in breve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Nome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Architettura dei Calcolatori e Laboratorio di Architettura dei Calcolatori (ARC12). Primo anno, primo semestre, Corso di Laurea in Informatica.</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Docenti</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lezioni, 6 CFU.</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laboratorio, 6 CFU.</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Crediti</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CFU, 96 ore.</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Settore scientifico: INFO-01/A (Informatica).</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Ricevimento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Stanza 420, martedì 14:00-16:00, su appuntamento. Anche su Microsoft Teams (codice del team: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Crediti aggiuntivi</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dà 2 CFU come ulteriori conoscenze: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Nessuno. L'unico vero prerequisito è la passione per l'informatica e per le tecnologie che la rendono possibile.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Prima si programma. Poi si formalizza.</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Dal primo giorno scrivete assembly RISC-V che gira su un processore vero. Ogni argomento formale risponde poi a una domanda che il vostro stesso programma ha già sollevato.</a:t>
            </a:r>
            <a:endParaRPr lang="en-US" sz="2200" dirty="0"/>
          </a:p>
        </p:txBody>
      </p:sp>
      <p:sp>
        <p:nvSpPr>
          <p:cNvPr id="7" name="Shape 5"/>
          <p:cNvSpPr/>
          <p:nvPr/>
        </p:nvSpPr>
        <p:spPr>
          <a:xfrm>
            <a:off x="7329373" y="91440"/>
            <a:ext cx="4313682" cy="274320"/>
          </a:xfrm>
          <a:prstGeom prst="rect">
            <a:avLst/>
          </a:prstGeom>
          <a:solidFill>
            <a:srgbClr val="E0F2FE"/>
          </a:solidFill>
          <a:ln w="12700">
            <a:solidFill>
              <a:srgbClr val="0369A1"/>
            </a:solidFill>
            <a:prstDash val="solid"/>
          </a:ln>
        </p:spPr>
      </p:sp>
      <p:sp>
        <p:nvSpPr>
          <p:cNvPr id="8" name="Shape 6"/>
          <p:cNvSpPr/>
          <p:nvPr/>
        </p:nvSpPr>
        <p:spPr>
          <a:xfrm>
            <a:off x="7329373"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0" name="Text 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metodo: prima il programma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spirale dell'apprendimento, ripetuta per ogni argomento</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Gioca</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Scrivete poche istruzioni, compilate una cartuccia, eseguitela su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Osserva</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Qualcosa accade: un numero fa il giro, un bit accende una lampada, un rettangolo si muove</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Formalizza</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Definizioni, teoremi e metodi spiegano esattamente perché</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Ritorna</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Di nuovo sulla macchina: prevedete il risultato prima di eseguire</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voto è un'opinione; una racchetta che esce dallo schermo è un fatto. Useremo i fatti, e poi li spiegheremo.</a:t>
            </a:r>
            <a:endParaRPr lang="en-US" sz="2000" dirty="0"/>
          </a:p>
        </p:txBody>
      </p:sp>
      <p:sp>
        <p:nvSpPr>
          <p:cNvPr id="20" name="Shape 18"/>
          <p:cNvSpPr/>
          <p:nvPr/>
        </p:nvSpPr>
        <p:spPr>
          <a:xfrm>
            <a:off x="7329373" y="91440"/>
            <a:ext cx="4313682" cy="274320"/>
          </a:xfrm>
          <a:prstGeom prst="rect">
            <a:avLst/>
          </a:prstGeom>
          <a:solidFill>
            <a:srgbClr val="E0F2FE"/>
          </a:solidFill>
          <a:ln w="12700">
            <a:solidFill>
              <a:srgbClr val="0369A1"/>
            </a:solidFill>
            <a:prstDash val="solid"/>
          </a:ln>
        </p:spPr>
      </p:sp>
      <p:sp>
        <p:nvSpPr>
          <p:cNvPr id="21" name="Shape 19"/>
          <p:cNvSpPr/>
          <p:nvPr/>
        </p:nvSpPr>
        <p:spPr>
          <a:xfrm>
            <a:off x="732937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3" name="Text 20"/>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metodo: prima il programma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Gli obiettivi del corso</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Presentare gli aspetti fondamentali dell'architettura dei calcolatori moderni</a:t>
            </a:r>
            <a:endParaRPr lang="en-US" sz="1700" dirty="0"/>
          </a:p>
        </p:txBody>
      </p:sp>
      <p:sp>
        <p:nvSpPr>
          <p:cNvPr id="5" name="Shape 3"/>
          <p:cNvSpPr/>
          <p:nvPr/>
        </p:nvSpPr>
        <p:spPr>
          <a:xfrm>
            <a:off x="548640" y="221773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50047"/>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Usare, in laboratorio, i concetti di base per programmarli in modo efficiente con linguaggi di basso livello: linguaggio macchina e assembly</a:t>
            </a:r>
            <a:endParaRPr lang="en-US" sz="1700" dirty="0"/>
          </a:p>
        </p:txBody>
      </p:sp>
      <p:sp>
        <p:nvSpPr>
          <p:cNvPr id="7" name="Shape 5"/>
          <p:cNvSpPr/>
          <p:nvPr/>
        </p:nvSpPr>
        <p:spPr>
          <a:xfrm>
            <a:off x="548640" y="321386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6171"/>
            <a:ext cx="6565392" cy="1033780"/>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Trattare con rigore gli strumenti con cui il processore è costruito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algebra di Boole e sintesi di reti logiche combinatorie e sequenziali</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rappresentazione binaria e aritmetica binaria</a:t>
            </a:r>
            <a:endParaRPr lang="en-US" sz="1700" dirty="0"/>
          </a:p>
        </p:txBody>
      </p:sp>
      <p:sp>
        <p:nvSpPr>
          <p:cNvPr id="9" name="Shape 7"/>
          <p:cNvSpPr/>
          <p:nvPr/>
        </p:nvSpPr>
        <p:spPr>
          <a:xfrm>
            <a:off x="548640" y="445357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85882"/>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Descrivere in dettaglio la struttura funzionale e fisica della CPU, della memoria e del sottosistema di ingresso/uscita</a:t>
            </a:r>
            <a:endParaRPr lang="en-US" sz="1700" dirty="0"/>
          </a:p>
        </p:txBody>
      </p:sp>
      <p:sp>
        <p:nvSpPr>
          <p:cNvPr id="11" name="Shape 9"/>
          <p:cNvSpPr/>
          <p:nvPr/>
        </p:nvSpPr>
        <p:spPr>
          <a:xfrm>
            <a:off x="548640" y="544969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82006"/>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Sviluppare codice assembly che renda visibile come funziona davvero un processore e come interagiscono le unità di base di un calcolatore</a:t>
            </a:r>
            <a:endParaRPr lang="en-US" sz="17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in esecuzione su PRG32: codice macchina RISC-V nativo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una console rétro da programmare in assembly</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ambiente didattico open source per insegnare l'assembly RISC-V e il C, sviluppato alla Parthenope</a:t>
            </a:r>
            <a:endParaRPr lang="en-US" sz="1900" dirty="0"/>
          </a:p>
        </p:txBody>
      </p:sp>
      <p:sp>
        <p:nvSpPr>
          <p:cNvPr id="5" name="Shape 3"/>
          <p:cNvSpPr/>
          <p:nvPr/>
        </p:nvSpPr>
        <p:spPr>
          <a:xfrm>
            <a:off x="548640" y="22617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8558"/>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vostro codice gira in modo nativo come codice macchina RISC-V a 32 bit (RV32IMAC): non è interpretato da un simulatore</a:t>
            </a:r>
            <a:endParaRPr lang="en-US" sz="1900" dirty="0"/>
          </a:p>
        </p:txBody>
      </p:sp>
      <p:sp>
        <p:nvSpPr>
          <p:cNvPr id="7" name="Shape 5"/>
          <p:cNvSpPr/>
          <p:nvPr/>
        </p:nvSpPr>
        <p:spPr>
          <a:xfrm>
            <a:off x="548640" y="33173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418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contratto volutamente sottile: tre funzioni che scrivete voi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init viene eseguita una volta; update e draw una volta per frame</a:t>
            </a:r>
            <a:endParaRPr lang="en-US" sz="1900" dirty="0"/>
          </a:p>
        </p:txBody>
      </p:sp>
      <p:sp>
        <p:nvSpPr>
          <p:cNvPr id="9" name="Shape 7"/>
          <p:cNvSpPr/>
          <p:nvPr/>
        </p:nvSpPr>
        <p:spPr>
          <a:xfrm>
            <a:off x="548640" y="46109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780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giochi viaggiano come piccole cartucce: file con estensione .prg32</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Un'area di 320 per 200 pixel, un joystick, il suono: abbastanza piccola da tenerla tutta in mente, abbastanza ricca da esercitare l'intero corso</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menu del firmware residente di PRG32</a:t>
            </a:r>
            <a:endParaRPr lang="en-US" sz="1200" dirty="0"/>
          </a:p>
        </p:txBody>
      </p:sp>
      <p:sp>
        <p:nvSpPr>
          <p:cNvPr id="15" name="Shape 12"/>
          <p:cNvSpPr/>
          <p:nvPr/>
        </p:nvSpPr>
        <p:spPr>
          <a:xfrm>
            <a:off x="6372428" y="91440"/>
            <a:ext cx="5270627" cy="274320"/>
          </a:xfrm>
          <a:prstGeom prst="rect">
            <a:avLst/>
          </a:prstGeom>
          <a:solidFill>
            <a:srgbClr val="F3E8FF"/>
          </a:solidFill>
          <a:ln w="12700">
            <a:solidFill>
              <a:srgbClr val="7E22CE"/>
            </a:solidFill>
            <a:prstDash val="dash"/>
          </a:ln>
        </p:spPr>
      </p:sp>
      <p:sp>
        <p:nvSpPr>
          <p:cNvPr id="16" name="Shape 13"/>
          <p:cNvSpPr/>
          <p:nvPr/>
        </p:nvSpPr>
        <p:spPr>
          <a:xfrm>
            <a:off x="6399860" y="128016"/>
            <a:ext cx="45720" cy="45720"/>
          </a:xfrm>
          <a:prstGeom prst="rect">
            <a:avLst/>
          </a:prstGeom>
          <a:solidFill>
            <a:srgbClr val="7E22CE"/>
          </a:solidFill>
          <a:ln w="12700">
            <a:solidFill>
              <a:srgbClr val="7E22CE"/>
            </a:solidFill>
            <a:prstDash val="solid"/>
          </a:ln>
        </p:spPr>
      </p:sp>
      <p:sp>
        <p:nvSpPr>
          <p:cNvPr id="17" name="Shape 14"/>
          <p:cNvSpPr/>
          <p:nvPr/>
        </p:nvSpPr>
        <p:spPr>
          <a:xfrm>
            <a:off x="6399860" y="205740"/>
            <a:ext cx="45720" cy="45720"/>
          </a:xfrm>
          <a:prstGeom prst="rect">
            <a:avLst/>
          </a:prstGeom>
          <a:solidFill>
            <a:srgbClr val="7E22CE"/>
          </a:solidFill>
          <a:ln w="12700">
            <a:solidFill>
              <a:srgbClr val="7E22CE"/>
            </a:solidFill>
            <a:prstDash val="solid"/>
          </a:ln>
        </p:spPr>
      </p:sp>
      <p:sp>
        <p:nvSpPr>
          <p:cNvPr id="18" name="Shape 15"/>
          <p:cNvSpPr/>
          <p:nvPr/>
        </p:nvSpPr>
        <p:spPr>
          <a:xfrm>
            <a:off x="6399860"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6500444" y="128016"/>
            <a:ext cx="201168" cy="201168"/>
          </a:xfrm>
          <a:prstGeom prst="rect">
            <a:avLst/>
          </a:prstGeom>
        </p:spPr>
      </p:pic>
      <p:sp>
        <p:nvSpPr>
          <p:cNvPr id="20" name="Text 16"/>
          <p:cNvSpPr txBox="1"/>
          <p:nvPr/>
        </p:nvSpPr>
        <p:spPr>
          <a:xfrm>
            <a:off x="6756476" y="91440"/>
            <a:ext cx="485000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componenti di PRG32</a:t>
            </a:r>
            <a:pPr indent="0" marL="0">
              <a:buNone/>
            </a:pPr>
            <a:r>
              <a:rPr lang="en-US" sz="1100" b="1" dirty="0">
                <a:solidFill>
                  <a:srgbClr val="6B21A8"/>
                </a:solidFill>
                <a:latin typeface="Calibri" pitchFamily="34" charset="0"/>
                <a:ea typeface="Calibri" pitchFamily="34" charset="-122"/>
                <a:cs typeface="Calibri" pitchFamily="34" charset="-120"/>
              </a:rPr>
              <a:t> → Lezione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il debugger del corso</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PRG32-QT è PRG32 sul vostro portatile: esegue le stesse cartucce, senza scheda e senza compilatore</a:t>
            </a:r>
            <a:endParaRPr lang="en-US" sz="1800" dirty="0"/>
          </a:p>
        </p:txBody>
      </p:sp>
      <p:sp>
        <p:nvSpPr>
          <p:cNvPr id="5" name="Shape 3"/>
          <p:cNvSpPr/>
          <p:nvPr/>
        </p:nvSpPr>
        <p:spPr>
          <a:xfrm>
            <a:off x="548640" y="248666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11222"/>
            <a:ext cx="5468112" cy="205206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modalità debug apre la macchina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pausa, ripresa, un'istruzione alla volta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breakpoint su qualunque istruzione di init, update o draw</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 32 registri e 128 byte di memoria a qualunque indirizzo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velocità da 0,01x a 4x, e contatori: frame, istruzioni, frame in ritardo</a:t>
            </a:r>
            <a:endParaRPr lang="en-US" sz="1800" dirty="0"/>
          </a:p>
        </p:txBody>
      </p:sp>
      <p:sp>
        <p:nvSpPr>
          <p:cNvPr id="7" name="Shape 5"/>
          <p:cNvSpPr/>
          <p:nvPr/>
        </p:nvSpPr>
        <p:spPr>
          <a:xfrm>
            <a:off x="548640" y="46959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20514"/>
            <a:ext cx="546811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Lo userete in ogni lezione: per verificare una previsione, per trovare un errore, per misurare</a:t>
            </a:r>
            <a:endParaRPr lang="en-US" sz="1800" dirty="0"/>
          </a:p>
        </p:txBody>
      </p:sp>
      <p:sp>
        <p:nvSpPr>
          <p:cNvPr id="9" name="Shape 7"/>
          <p:cNvSpPr/>
          <p:nvPr/>
        </p:nvSpPr>
        <p:spPr>
          <a:xfrm>
            <a:off x="548640" y="5410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35524"/>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programma è capito quando sapete dire che cosa conterrà ogni registro prima di premere Step</a:t>
            </a:r>
            <a:endParaRPr lang="en-US" sz="18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modalità debug: a sinistra il gioco, a destra la macchina</a:t>
            </a:r>
            <a:endParaRPr lang="en-US" sz="1200" dirty="0"/>
          </a:p>
        </p:txBody>
      </p:sp>
      <p:sp>
        <p:nvSpPr>
          <p:cNvPr id="13" name="Shape 10"/>
          <p:cNvSpPr/>
          <p:nvPr/>
        </p:nvSpPr>
        <p:spPr>
          <a:xfrm>
            <a:off x="6372428" y="91440"/>
            <a:ext cx="5270627" cy="274320"/>
          </a:xfrm>
          <a:prstGeom prst="rect">
            <a:avLst/>
          </a:prstGeom>
          <a:solidFill>
            <a:srgbClr val="F3E8FF"/>
          </a:solidFill>
          <a:ln w="12700">
            <a:solidFill>
              <a:srgbClr val="7E22CE"/>
            </a:solidFill>
            <a:prstDash val="dash"/>
          </a:ln>
        </p:spPr>
      </p:sp>
      <p:sp>
        <p:nvSpPr>
          <p:cNvPr id="14" name="Shape 11"/>
          <p:cNvSpPr/>
          <p:nvPr/>
        </p:nvSpPr>
        <p:spPr>
          <a:xfrm>
            <a:off x="6399860" y="128016"/>
            <a:ext cx="45720" cy="45720"/>
          </a:xfrm>
          <a:prstGeom prst="rect">
            <a:avLst/>
          </a:prstGeom>
          <a:solidFill>
            <a:srgbClr val="7E22CE"/>
          </a:solidFill>
          <a:ln w="12700">
            <a:solidFill>
              <a:srgbClr val="7E22CE"/>
            </a:solidFill>
            <a:prstDash val="solid"/>
          </a:ln>
        </p:spPr>
      </p:sp>
      <p:sp>
        <p:nvSpPr>
          <p:cNvPr id="15" name="Shape 12"/>
          <p:cNvSpPr/>
          <p:nvPr/>
        </p:nvSpPr>
        <p:spPr>
          <a:xfrm>
            <a:off x="6399860" y="205740"/>
            <a:ext cx="45720" cy="45720"/>
          </a:xfrm>
          <a:prstGeom prst="rect">
            <a:avLst/>
          </a:prstGeom>
          <a:solidFill>
            <a:srgbClr val="7E22CE"/>
          </a:solidFill>
          <a:ln w="12700">
            <a:solidFill>
              <a:srgbClr val="7E22CE"/>
            </a:solidFill>
            <a:prstDash val="solid"/>
          </a:ln>
        </p:spPr>
      </p:sp>
      <p:sp>
        <p:nvSpPr>
          <p:cNvPr id="16" name="Shape 13"/>
          <p:cNvSpPr/>
          <p:nvPr/>
        </p:nvSpPr>
        <p:spPr>
          <a:xfrm>
            <a:off x="6399860"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6500444" y="128016"/>
            <a:ext cx="201168" cy="201168"/>
          </a:xfrm>
          <a:prstGeom prst="rect">
            <a:avLst/>
          </a:prstGeom>
        </p:spPr>
      </p:pic>
      <p:sp>
        <p:nvSpPr>
          <p:cNvPr id="18" name="Text 14"/>
          <p:cNvSpPr txBox="1"/>
          <p:nvPr/>
        </p:nvSpPr>
        <p:spPr>
          <a:xfrm>
            <a:off x="6756476" y="91440"/>
            <a:ext cx="485000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componenti di PRG32</a:t>
            </a:r>
            <a:pPr indent="0" marL="0">
              <a:buNone/>
            </a:pPr>
            <a:r>
              <a:rPr lang="en-US" sz="1100" b="1" dirty="0">
                <a:solidFill>
                  <a:srgbClr val="6B21A8"/>
                </a:solidFill>
                <a:latin typeface="Calibri" pitchFamily="34" charset="0"/>
                <a:ea typeface="Calibri" pitchFamily="34" charset="-122"/>
                <a:cs typeface="Calibri" pitchFamily="34" charset="-120"/>
              </a:rPr>
              <a:t> → Lezione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Aperto</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RISC-V è un insieme di istruzioni a standard aperto: chiunque può progettare, costruire e vendere un processore RISC-V senza pagare licenze per l'architettura.</a:t>
            </a:r>
            <a:endParaRPr lang="en-US" sz="18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Piccolo</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L'insieme di base delle istruzioni intere ha circa quaranta istruzioni e trentadue registri. Si impara tutto in un semestre.</a:t>
            </a:r>
            <a:endParaRPr lang="en-US" sz="18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Vero</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addi, lw, sw e beqz non sono un dialetto didattico. L'industria produce miliardi di core RISC-V che eseguono esattamente queste istruzioni.</a:t>
            </a:r>
            <a:endParaRPr lang="en-US" sz="18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L'Europa considera RISC-V una leva di sovranità tecnologica: il Chips Act e progetti come DARE vi costruiscono sopra i propri processori.</a:t>
            </a:r>
            <a:endParaRPr lang="en-US" sz="1800" dirty="0"/>
          </a:p>
        </p:txBody>
      </p:sp>
      <p:sp>
        <p:nvSpPr>
          <p:cNvPr id="19" name="Shape 17"/>
          <p:cNvSpPr/>
          <p:nvPr/>
        </p:nvSpPr>
        <p:spPr>
          <a:xfrm>
            <a:off x="6438087" y="91440"/>
            <a:ext cx="5204968" cy="274320"/>
          </a:xfrm>
          <a:prstGeom prst="rect">
            <a:avLst/>
          </a:prstGeom>
          <a:solidFill>
            <a:srgbClr val="F3E8FF"/>
          </a:solidFill>
          <a:ln w="12700">
            <a:solidFill>
              <a:srgbClr val="7E22CE"/>
            </a:solidFill>
            <a:prstDash val="dash"/>
          </a:ln>
        </p:spPr>
      </p:sp>
      <p:sp>
        <p:nvSpPr>
          <p:cNvPr id="20" name="Shape 18"/>
          <p:cNvSpPr/>
          <p:nvPr/>
        </p:nvSpPr>
        <p:spPr>
          <a:xfrm>
            <a:off x="6465519" y="128016"/>
            <a:ext cx="45720" cy="45720"/>
          </a:xfrm>
          <a:prstGeom prst="rect">
            <a:avLst/>
          </a:prstGeom>
          <a:solidFill>
            <a:srgbClr val="7E22CE"/>
          </a:solidFill>
          <a:ln w="12700">
            <a:solidFill>
              <a:srgbClr val="7E22CE"/>
            </a:solidFill>
            <a:prstDash val="solid"/>
          </a:ln>
        </p:spPr>
      </p:sp>
      <p:sp>
        <p:nvSpPr>
          <p:cNvPr id="21" name="Shape 19"/>
          <p:cNvSpPr/>
          <p:nvPr/>
        </p:nvSpPr>
        <p:spPr>
          <a:xfrm>
            <a:off x="6465519" y="205740"/>
            <a:ext cx="45720" cy="45720"/>
          </a:xfrm>
          <a:prstGeom prst="rect">
            <a:avLst/>
          </a:prstGeom>
          <a:solidFill>
            <a:srgbClr val="7E22CE"/>
          </a:solidFill>
          <a:ln w="12700">
            <a:solidFill>
              <a:srgbClr val="7E22CE"/>
            </a:solidFill>
            <a:prstDash val="solid"/>
          </a:ln>
        </p:spPr>
      </p:sp>
      <p:sp>
        <p:nvSpPr>
          <p:cNvPr id="22" name="Shape 20"/>
          <p:cNvSpPr/>
          <p:nvPr/>
        </p:nvSpPr>
        <p:spPr>
          <a:xfrm>
            <a:off x="6465519"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6566103" y="128016"/>
            <a:ext cx="201168" cy="201168"/>
          </a:xfrm>
          <a:prstGeom prst="rect">
            <a:avLst/>
          </a:prstGeom>
        </p:spPr>
      </p:pic>
      <p:sp>
        <p:nvSpPr>
          <p:cNvPr id="24" name="Text 21"/>
          <p:cNvSpPr txBox="1"/>
          <p:nvPr/>
        </p:nvSpPr>
        <p:spPr>
          <a:xfrm>
            <a:off x="6822135" y="91440"/>
            <a:ext cx="478434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RISC e un ISA aperto</a:t>
            </a:r>
            <a:pPr indent="0" marL="0">
              <a:buNone/>
            </a:pPr>
            <a:r>
              <a:rPr lang="en-US" sz="1100" b="1" dirty="0">
                <a:solidFill>
                  <a:srgbClr val="6B21A8"/>
                </a:solidFill>
                <a:latin typeface="Calibri" pitchFamily="34" charset="0"/>
                <a:ea typeface="Calibri" pitchFamily="34" charset="-122"/>
                <a:cs typeface="Calibri" pitchFamily="34" charset="-120"/>
              </a:rPr>
              <a:t> → Lezione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ogni argomento si incontra due volte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Argomento formale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Lo incontrate prima su PRG32 come...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Notazione posizionale,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colore 0x07E0 e il valore mostrato dal debugger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Complemento a due, overflow</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posizione che va a sinistra oltre lo zero e mostra 0xFFFFFFFF</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Virgola fissa e virgola mobile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palla che si muove di 0,375 pixel per frame su un chip senza FPU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Algebra di Boole, maschere di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andi t3, t0, 1 per sapere se LEFT è premuto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Elettronica, porte logiche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pulsante che collega a massa un piedino del chip</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Reti combinatorie, addizionatori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che cosa fa davvero add a trentadue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Reti sequenziali, registri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contatore che sopravvive da un frame al successivo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CPU, datapath, ciclo dell'istruzione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l'esecuzione di una singola istruzione in PRG32-QT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Memoria e ingresso/uscita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lw e sw, lo stack, il joystick e il display</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il vostro gioco, da un file vuoto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si legge "vermone": un omaggio a Snake, il gioco di Blockade (1976) e dei telefoni Nokia (1997)</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verme si muove su una griglia, mangia, cresce, e non deve mordersi</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Scrivete ogni riga, in assembly RISC-V: nessun motore, nessuna libreria oltre alle chiamate di PRG32</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Abbastanza piccolo per uno studente del primo anno, abbastanza ricco da richiedere ogni argomento del corso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Alla fine è pronto per il Cartridge Store, con il vostro nome sopra</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alla fine del corso</a:t>
            </a:r>
            <a:endParaRPr lang="en-US" sz="1200" dirty="0"/>
          </a:p>
        </p:txBody>
      </p:sp>
      <p:sp>
        <p:nvSpPr>
          <p:cNvPr id="15" name="Shape 12"/>
          <p:cNvSpPr/>
          <p:nvPr/>
        </p:nvSpPr>
        <p:spPr>
          <a:xfrm>
            <a:off x="6635064" y="91440"/>
            <a:ext cx="5007991" cy="274320"/>
          </a:xfrm>
          <a:prstGeom prst="rect">
            <a:avLst/>
          </a:prstGeom>
          <a:solidFill>
            <a:srgbClr val="F3E8FF"/>
          </a:solidFill>
          <a:ln w="12700">
            <a:solidFill>
              <a:srgbClr val="7E22CE"/>
            </a:solidFill>
            <a:prstDash val="dash"/>
          </a:ln>
        </p:spPr>
      </p:sp>
      <p:sp>
        <p:nvSpPr>
          <p:cNvPr id="16" name="Shape 13"/>
          <p:cNvSpPr/>
          <p:nvPr/>
        </p:nvSpPr>
        <p:spPr>
          <a:xfrm>
            <a:off x="6662496" y="128016"/>
            <a:ext cx="45720" cy="45720"/>
          </a:xfrm>
          <a:prstGeom prst="rect">
            <a:avLst/>
          </a:prstGeom>
          <a:solidFill>
            <a:srgbClr val="7E22CE"/>
          </a:solidFill>
          <a:ln w="12700">
            <a:solidFill>
              <a:srgbClr val="7E22CE"/>
            </a:solidFill>
            <a:prstDash val="solid"/>
          </a:ln>
        </p:spPr>
      </p:sp>
      <p:sp>
        <p:nvSpPr>
          <p:cNvPr id="17" name="Shape 14"/>
          <p:cNvSpPr/>
          <p:nvPr/>
        </p:nvSpPr>
        <p:spPr>
          <a:xfrm>
            <a:off x="6662496" y="205740"/>
            <a:ext cx="45720" cy="45720"/>
          </a:xfrm>
          <a:prstGeom prst="rect">
            <a:avLst/>
          </a:prstGeom>
          <a:solidFill>
            <a:srgbClr val="7E22CE"/>
          </a:solidFill>
          <a:ln w="12700">
            <a:solidFill>
              <a:srgbClr val="7E22CE"/>
            </a:solidFill>
            <a:prstDash val="solid"/>
          </a:ln>
        </p:spPr>
      </p:sp>
      <p:sp>
        <p:nvSpPr>
          <p:cNvPr id="18" name="Shape 15"/>
          <p:cNvSpPr/>
          <p:nvPr/>
        </p:nvSpPr>
        <p:spPr>
          <a:xfrm>
            <a:off x="6662496"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6763080" y="128016"/>
            <a:ext cx="201168" cy="201168"/>
          </a:xfrm>
          <a:prstGeom prst="rect">
            <a:avLst/>
          </a:prstGeom>
        </p:spPr>
      </p:pic>
      <p:sp>
        <p:nvSpPr>
          <p:cNvPr id="20" name="Text 16"/>
          <p:cNvSpPr txBox="1"/>
          <p:nvPr/>
        </p:nvSpPr>
        <p:spPr>
          <a:xfrm>
            <a:off x="7019112" y="91440"/>
            <a:ext cx="45873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progetto Verm1</a:t>
            </a:r>
            <a:pPr indent="0" marL="0">
              <a:buNone/>
            </a:pPr>
            <a:r>
              <a:rPr lang="en-US" sz="1100" b="1" dirty="0">
                <a:solidFill>
                  <a:srgbClr val="6B21A8"/>
                </a:solidFill>
                <a:latin typeface="Calibri" pitchFamily="34" charset="0"/>
                <a:ea typeface="Calibri" pitchFamily="34" charset="-122"/>
                <a:cs typeface="Calibri" pitchFamily="34" charset="-120"/>
              </a:rPr>
              <a:t> → Lezione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parti e una pubblicazione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Lezione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Dopo il blocco su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Verm1 acquista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07  Parte 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informazione e numeri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griglia, una testa che si muove, un mondo senza bordi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colori, scorrimenti, virgola fissa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12  Parte 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logica e circuiti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 guida, il cibo, un punteggio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maschere, XOR, tabelle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17  Parte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stato e 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corpo che cresce, le collisioni, tre schermate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macchina a stati, vettori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22  Parte 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cifre, livelli, suono, disegno veloce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chiamate, divisione, frame buffer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23  Lo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tutto il corso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nome, un'icona, i crediti, un bundle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gli strumenti di PRG32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Ogni parte finisce con un gioco che funziona. Non tornate mai a casa con un programma rotto.</a:t>
            </a:r>
            <a:endParaRPr lang="en-US" sz="1500" dirty="0"/>
          </a:p>
        </p:txBody>
      </p:sp>
      <p:sp>
        <p:nvSpPr>
          <p:cNvPr id="5" name="Shape 2"/>
          <p:cNvSpPr/>
          <p:nvPr/>
        </p:nvSpPr>
        <p:spPr>
          <a:xfrm>
            <a:off x="6635064" y="91440"/>
            <a:ext cx="5007991" cy="274320"/>
          </a:xfrm>
          <a:prstGeom prst="rect">
            <a:avLst/>
          </a:prstGeom>
          <a:solidFill>
            <a:srgbClr val="F3E8FF"/>
          </a:solidFill>
          <a:ln w="12700">
            <a:solidFill>
              <a:srgbClr val="7E22CE"/>
            </a:solidFill>
            <a:prstDash val="dash"/>
          </a:ln>
        </p:spPr>
      </p:sp>
      <p:sp>
        <p:nvSpPr>
          <p:cNvPr id="6" name="Shape 3"/>
          <p:cNvSpPr/>
          <p:nvPr/>
        </p:nvSpPr>
        <p:spPr>
          <a:xfrm>
            <a:off x="6662496" y="128016"/>
            <a:ext cx="45720" cy="45720"/>
          </a:xfrm>
          <a:prstGeom prst="rect">
            <a:avLst/>
          </a:prstGeom>
          <a:solidFill>
            <a:srgbClr val="7E22CE"/>
          </a:solidFill>
          <a:ln w="12700">
            <a:solidFill>
              <a:srgbClr val="7E22CE"/>
            </a:solidFill>
            <a:prstDash val="solid"/>
          </a:ln>
        </p:spPr>
      </p:sp>
      <p:sp>
        <p:nvSpPr>
          <p:cNvPr id="7" name="Shape 4"/>
          <p:cNvSpPr/>
          <p:nvPr/>
        </p:nvSpPr>
        <p:spPr>
          <a:xfrm>
            <a:off x="6662496" y="205740"/>
            <a:ext cx="45720" cy="45720"/>
          </a:xfrm>
          <a:prstGeom prst="rect">
            <a:avLst/>
          </a:prstGeom>
          <a:solidFill>
            <a:srgbClr val="7E22CE"/>
          </a:solidFill>
          <a:ln w="12700">
            <a:solidFill>
              <a:srgbClr val="7E22CE"/>
            </a:solidFill>
            <a:prstDash val="solid"/>
          </a:ln>
        </p:spPr>
      </p:sp>
      <p:sp>
        <p:nvSpPr>
          <p:cNvPr id="8" name="Shape 5"/>
          <p:cNvSpPr/>
          <p:nvPr/>
        </p:nvSpPr>
        <p:spPr>
          <a:xfrm>
            <a:off x="6662496"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6763080" y="128016"/>
            <a:ext cx="201168" cy="201168"/>
          </a:xfrm>
          <a:prstGeom prst="rect">
            <a:avLst/>
          </a:prstGeom>
        </p:spPr>
      </p:pic>
      <p:sp>
        <p:nvSpPr>
          <p:cNvPr id="10" name="Text 6"/>
          <p:cNvSpPr txBox="1"/>
          <p:nvPr/>
        </p:nvSpPr>
        <p:spPr>
          <a:xfrm>
            <a:off x="7019112" y="91440"/>
            <a:ext cx="45873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progetto Verm1</a:t>
            </a:r>
            <a:pPr indent="0" marL="0">
              <a:buNone/>
            </a:pPr>
            <a:r>
              <a:rPr lang="en-US" sz="1100" b="1" dirty="0">
                <a:solidFill>
                  <a:srgbClr val="6B21A8"/>
                </a:solidFill>
                <a:latin typeface="Calibri" pitchFamily="34" charset="0"/>
                <a:ea typeface="Calibri" pitchFamily="34" charset="-122"/>
                <a:cs typeface="Calibri" pitchFamily="34" charset="-120"/>
              </a:rPr>
              <a:t> → Lezione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corso a blocchi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Blocco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Poi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Avvio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Introduzione, 01 PRG32 e PRG32-QT: installazione, 02 Primo contatto con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Storia, 04 Informazione digitale, 05 Interi, 06 Reali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parte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e 09 Algebra di Boole, 10 Elettronica, 11 Macchine combinatorie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parte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Stato e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Macchine sequenziali, 14 Registri e bus, 15 Memoria, 16 Memoria permanente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parte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La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Processore, 19 Istruzioni e interruzioni, 20 Scheda video, 21 Ingresso e uscita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parte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Pubblicazione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sul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Prospettive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Oltre il singolo core: RISC-V superscalare, HPC, GPU e FPGA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visita ai sistemi di calcolo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Orario: da settembre a dicembre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Giorno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Aula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Docente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Lunedì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Martedì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Mercoledì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Venerdì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Sarà condiviso un calendario interno con la distribuzione effettiva di lezioni e laboratori.</a:t>
            </a:r>
            <a:endParaRPr lang="en-US" sz="1500" dirty="0"/>
          </a:p>
        </p:txBody>
      </p:sp>
      <p:sp>
        <p:nvSpPr>
          <p:cNvPr id="5" name="Shape 2"/>
          <p:cNvSpPr/>
          <p:nvPr/>
        </p:nvSpPr>
        <p:spPr>
          <a:xfrm>
            <a:off x="7985963" y="91440"/>
            <a:ext cx="3657092" cy="274320"/>
          </a:xfrm>
          <a:prstGeom prst="rect">
            <a:avLst/>
          </a:prstGeom>
          <a:solidFill>
            <a:srgbClr val="E0F2FE"/>
          </a:solidFill>
          <a:ln w="12700">
            <a:solidFill>
              <a:srgbClr val="0369A1"/>
            </a:solidFill>
            <a:prstDash val="solid"/>
          </a:ln>
        </p:spPr>
      </p:sp>
      <p:sp>
        <p:nvSpPr>
          <p:cNvPr id="6" name="Shape 3"/>
          <p:cNvSpPr/>
          <p:nvPr/>
        </p:nvSpPr>
        <p:spPr>
          <a:xfrm>
            <a:off x="798596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8" name="Text 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sola prova intercorso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Risposta multipla, dieci domande, più due esercizi: circa 45 minuti, in presenza e su carta</a:t>
            </a:r>
            <a:endParaRPr lang="en-US" sz="1900" dirty="0"/>
          </a:p>
        </p:txBody>
      </p:sp>
      <p:sp>
        <p:nvSpPr>
          <p:cNvPr id="5" name="Shape 3"/>
          <p:cNvSpPr/>
          <p:nvPr/>
        </p:nvSpPr>
        <p:spPr>
          <a:xfrm>
            <a:off x="548640" y="22617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8558"/>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Lunedì, data da definire, 14:00-16:00, Aula 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Gli studenti potranno essere divisi in gruppi e la prova svolta a turni</a:t>
            </a:r>
            <a:endParaRPr lang="en-US" sz="1900" dirty="0"/>
          </a:p>
        </p:txBody>
      </p:sp>
      <p:sp>
        <p:nvSpPr>
          <p:cNvPr id="7" name="Shape 5"/>
          <p:cNvSpPr/>
          <p:nvPr/>
        </p:nvSpPr>
        <p:spPr>
          <a:xfrm>
            <a:off x="548640" y="3260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794"/>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Portate un documento d'identità e una penna; dovete conoscere la vostra e-mail istituzionale e la matricola (chi è in trasferimento e non l'ha ancora è giustificato)</a:t>
            </a:r>
            <a:endParaRPr lang="en-US" sz="1900" dirty="0"/>
          </a:p>
        </p:txBody>
      </p:sp>
      <p:sp>
        <p:nvSpPr>
          <p:cNvPr id="9" name="Shape 7"/>
          <p:cNvSpPr/>
          <p:nvPr/>
        </p:nvSpPr>
        <p:spPr>
          <a:xfrm>
            <a:off x="548640" y="46109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780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prova valuta entrambe le parti, voi e noi: ci serve per sapere dove stiamo andando</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lezione finisce con domande dello stesso tipo: la preparazione migliore è rispondere settimana per settimana</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domande a risposta multipla più due esercizi, su carta, in circa 45 minuti</a:t>
            </a:r>
            <a:endParaRPr lang="en-US" sz="1900" dirty="0"/>
          </a:p>
        </p:txBody>
      </p:sp>
      <p:sp>
        <p:nvSpPr>
          <p:cNvPr id="16" name="Shape 14"/>
          <p:cNvSpPr/>
          <p:nvPr/>
        </p:nvSpPr>
        <p:spPr>
          <a:xfrm>
            <a:off x="7985963" y="91440"/>
            <a:ext cx="3657092" cy="274320"/>
          </a:xfrm>
          <a:prstGeom prst="rect">
            <a:avLst/>
          </a:prstGeom>
          <a:solidFill>
            <a:srgbClr val="E0F2FE"/>
          </a:solidFill>
          <a:ln w="12700">
            <a:solidFill>
              <a:srgbClr val="0369A1"/>
            </a:solidFill>
            <a:prstDash val="solid"/>
          </a:ln>
        </p:spPr>
      </p:sp>
      <p:sp>
        <p:nvSpPr>
          <p:cNvPr id="17" name="Shape 15"/>
          <p:cNvSpPr/>
          <p:nvPr/>
        </p:nvSpPr>
        <p:spPr>
          <a:xfrm>
            <a:off x="798596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9" name="Text 16"/>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Niente tecnologia. Niente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La prova intercorso e l'esame sono #nogpt. Nessun aiuto tecnologico o umano di alcun tipo: niente dispositivi, niente ChatGPT o altri LLM, niente IA generativa. Chi copia vede annullata subito la propria prova; comportamenti più gravi hanno conseguenze più gravi.</a:t>
            </a:r>
            <a:endParaRPr lang="en-US" sz="2200" dirty="0"/>
          </a:p>
        </p:txBody>
      </p:sp>
      <p:sp>
        <p:nvSpPr>
          <p:cNvPr id="7" name="Shape 5"/>
          <p:cNvSpPr/>
          <p:nvPr/>
        </p:nvSpPr>
        <p:spPr>
          <a:xfrm>
            <a:off x="7985963" y="91440"/>
            <a:ext cx="3657092" cy="274320"/>
          </a:xfrm>
          <a:prstGeom prst="rect">
            <a:avLst/>
          </a:prstGeom>
          <a:solidFill>
            <a:srgbClr val="E0F2FE"/>
          </a:solidFill>
          <a:ln w="12700">
            <a:solidFill>
              <a:srgbClr val="0369A1"/>
            </a:solidFill>
            <a:prstDash val="solid"/>
          </a:ln>
        </p:spPr>
      </p:sp>
      <p:sp>
        <p:nvSpPr>
          <p:cNvPr id="8" name="Shape 6"/>
          <p:cNvSpPr/>
          <p:nvPr/>
        </p:nvSpPr>
        <p:spPr>
          <a:xfrm>
            <a:off x="7985963"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0" name="Text 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Valutazione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L'esame ha due parti e vanno superate entrambe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Teoria (50%): orale, con domande estemporanee su tutto il programma; alcune risposte richiedono uno schema o un calcolo alla lavagna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Pratica (50%): l'esame di laboratorio con la prof.ssa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L'orale può anche abbassare il voto ottenuto nella prova intercorso</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Voto finale = media del voto di teoria e del voto di pratica</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teoria e pratica: due parti, da superare entrambe</a:t>
            </a:r>
            <a:endParaRPr lang="en-US" sz="1900" dirty="0"/>
          </a:p>
        </p:txBody>
      </p:sp>
      <p:sp>
        <p:nvSpPr>
          <p:cNvPr id="12" name="Shape 10"/>
          <p:cNvSpPr/>
          <p:nvPr/>
        </p:nvSpPr>
        <p:spPr>
          <a:xfrm>
            <a:off x="7985963" y="91440"/>
            <a:ext cx="3657092" cy="274320"/>
          </a:xfrm>
          <a:prstGeom prst="rect">
            <a:avLst/>
          </a:prstGeom>
          <a:solidFill>
            <a:srgbClr val="E0F2FE"/>
          </a:solidFill>
          <a:ln w="12700">
            <a:solidFill>
              <a:srgbClr val="0369A1"/>
            </a:solidFill>
            <a:prstDash val="solid"/>
          </a:ln>
        </p:spPr>
      </p:sp>
      <p:sp>
        <p:nvSpPr>
          <p:cNvPr id="13" name="Shape 11"/>
          <p:cNvSpPr/>
          <p:nvPr/>
        </p:nvSpPr>
        <p:spPr>
          <a:xfrm>
            <a:off x="798596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5" name="Text 12"/>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Appelli e verbalizzazione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verbalizzare serve un voto positivo sia in teoria sia in pratica</a:t>
            </a:r>
            <a:endParaRPr lang="en-US" sz="2200" dirty="0"/>
          </a:p>
        </p:txBody>
      </p:sp>
      <p:sp>
        <p:nvSpPr>
          <p:cNvPr id="5" name="Shape 3"/>
          <p:cNvSpPr/>
          <p:nvPr/>
        </p:nvSpPr>
        <p:spPr>
          <a:xfrm>
            <a:off x="548640" y="2229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229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verbalizzazione avviene solo durante un appello di teoria</a:t>
            </a:r>
            <a:endParaRPr lang="en-US" sz="2200" dirty="0"/>
          </a:p>
        </p:txBody>
      </p:sp>
      <p:sp>
        <p:nvSpPr>
          <p:cNvPr id="7" name="Shape 5"/>
          <p:cNvSpPr/>
          <p:nvPr/>
        </p:nvSpPr>
        <p:spPr>
          <a:xfrm>
            <a:off x="548640" y="293497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854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L'esame di laboratorio con la prof.ssa Staffa è di solito una settimana prima dell'appello di teoria</a:t>
            </a:r>
            <a:endParaRPr lang="en-US" sz="2200" dirty="0"/>
          </a:p>
        </p:txBody>
      </p:sp>
      <p:sp>
        <p:nvSpPr>
          <p:cNvPr id="9" name="Shape 7"/>
          <p:cNvSpPr/>
          <p:nvPr/>
        </p:nvSpPr>
        <p:spPr>
          <a:xfrm>
            <a:off x="548640" y="398145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Prenotate entrambi gli appelli su uniparthenope.esse3.cineca.it</a:t>
            </a:r>
            <a:endParaRPr lang="en-US" sz="2200" dirty="0"/>
          </a:p>
        </p:txBody>
      </p:sp>
      <p:sp>
        <p:nvSpPr>
          <p:cNvPr id="11" name="Shape 9"/>
          <p:cNvSpPr/>
          <p:nvPr/>
        </p:nvSpPr>
        <p:spPr>
          <a:xfrm>
            <a:off x="548640" y="46870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80636"/>
            <a:ext cx="10710367"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Domande frequenti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Posso sostenere la teoria prima di aver superato la pratica? Sì: il risultato della prova intercorso vale per un anno accademico, ma si verbalizza solo dopo aver superato la parte pratica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Posso prenotare l'appello di teoria senza la prova pratica? Sì, il caso è lo stesso</a:t>
            </a:r>
            <a:endParaRPr lang="en-US" sz="2200" dirty="0"/>
          </a:p>
        </p:txBody>
      </p:sp>
      <p:sp>
        <p:nvSpPr>
          <p:cNvPr id="13" name="Shape 11"/>
          <p:cNvSpPr/>
          <p:nvPr/>
        </p:nvSpPr>
        <p:spPr>
          <a:xfrm>
            <a:off x="7985963" y="91440"/>
            <a:ext cx="3657092" cy="274320"/>
          </a:xfrm>
          <a:prstGeom prst="rect">
            <a:avLst/>
          </a:prstGeom>
          <a:solidFill>
            <a:srgbClr val="E0F2FE"/>
          </a:solidFill>
          <a:ln w="12700">
            <a:solidFill>
              <a:srgbClr val="0369A1"/>
            </a:solidFill>
            <a:prstDash val="solid"/>
          </a:ln>
        </p:spPr>
      </p:sp>
      <p:sp>
        <p:nvSpPr>
          <p:cNvPr id="14" name="Shape 12"/>
          <p:cNvSpPr/>
          <p:nvPr/>
        </p:nvSpPr>
        <p:spPr>
          <a:xfrm>
            <a:off x="7985963"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6" name="Text 1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Materiale didattico</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sempre condivise su Google Drive; pubblicate periodicamente su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Piattaforma PRG32 e relativo libro (liberi,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Libri di testo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Struttura e progetto dei calcolatori, edizione RISC-V</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Architettura dei calcolatori. Un approccio strutturale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Nel Syllabus anche: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Documentazione ufficiale di RISC-V: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Primo contatto: chi siete?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ha assemblato da sé il proprio computer? Chi ha già giocato con un Arduino o un ESP32?</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Quanti linguaggi di programmazione conoscete? Qualcuno ha mai letto una riga di assembly?</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Che cosa sono il retrocomputing e il retrogaming? Avete mai visitato un museo dell'informatica?</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Concetti</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sa dire la differenza tra ROM, RAM e memoria di massa? Che cos'è il cloud computing? E l'Internet delle cose?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ha sentito parlare di RISC-V? Quale processore c'è nel vostro telefono, nel portatile, nel router?</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Voi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Hobby? Passioni? Passatempi, oltre allo studio?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 corso</dc:title>
  <dc:subject>Lezione 00</dc:subject>
  <dc:creator>Raffaele Montella</dc:creator>
  <cp:lastModifiedBy>Raffaele Montella</cp:lastModifiedBy>
  <cp:revision>1</cp:revision>
  <dcterms:created xsi:type="dcterms:W3CDTF">2026-10-17T07:16:49Z</dcterms:created>
  <dcterms:modified xsi:type="dcterms:W3CDTF">2026-10-17T07:16:49Z</dcterms:modified>
</cp:coreProperties>
</file>