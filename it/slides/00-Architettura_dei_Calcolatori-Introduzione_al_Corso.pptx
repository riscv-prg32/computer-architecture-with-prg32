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87853c9-8f17-e2b5-4dfe-2c6003be41eb}">
          <p14:sldIdLst>
            <p14:sldId id="256"/>
            <p14:sldId id="257"/>
            <p14:sldId id="258"/>
          </p14:sldIdLst>
        </p14:section>
        <p14:section name="Un approccio nuovo" id="{f9825c13-ccd5-cf34-d252-d756ba966e05}">
          <p14:sldIdLst>
            <p14:sldId id="259"/>
            <p14:sldId id="260"/>
            <p14:sldId id="261"/>
          </p14:sldIdLst>
        </p14:section>
        <p14:section name="PRG32 e RISC-V" id="{31b4ee09-307c-512d-7785-bb79b2231c89}">
          <p14:sldIdLst>
            <p14:sldId id="262"/>
            <p14:sldId id="263"/>
            <p14:sldId id="264"/>
            <p14:sldId id="265"/>
          </p14:sldIdLst>
        </p14:section>
        <p14:section name="Il progetto del corso: Verm1" id="{0fbf8655-4738-eca9-bed4-a910f5217212}">
          <p14:sldIdLst>
            <p14:sldId id="266"/>
            <p14:sldId id="267"/>
            <p14:sldId id="268"/>
          </p14:sldIdLst>
        </p14:section>
        <p14:section name="Organizzazione e valutazione" id="{a297c717-b2b2-579d-2fad-8b621ffef276}">
          <p14:sldIdLst>
            <p14:sldId id="269"/>
            <p14:sldId id="270"/>
            <p14:sldId id="271"/>
            <p14:sldId id="272"/>
            <p14:sldId id="273"/>
          </p14:sldIdLst>
        </p14:section>
        <p14:section name="Materiale e primo contatto" id="{3652c65f-c4df-191d-acea-59fe261e2fc3}">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di apertura non introduce alcun argomento tecnico. Il suo scopo è stabilire i termini del corso: il metodo con cui procede, la macchina su cui le sue idee vengono messe alla prova, il progetto che lo attraversa e le regole con cui l'apprendimento viene valutato. La citazione da Matrix enuncia la convinzione di fondo: un calcolatore è un sistema, e un sistema le cui parti si possono aprire, nominare e ragionare smette di essere opaco. Il sottotitolo, prima programmare, poi formalizzare, è la tesi metodologica dell'intero corso, e le slide che seguono vanno lette come sue conseguenze.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Per il docente: Lezione di apertura. I dati amministrativi (orario, valutazione) vengono dalla presentazione 2026/27; da quest'anno la prova intercorso è una sola, con dieci domande e due esercizi. Le date ancora indicate come «da definire» vanno inserite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è organizzata in cinque parti: le persone e le ore, l'approccio, la macchina, il progetto e le regole. L'ordine è voluto. Un insieme di regole si può giudicare solo quando si sa che cosa il corso richiede, e ciò che richiede discende dal metodo; per questo il metodo precede il regolamento. Chi desidera passare subito all'esame lo trova trattato per intero nell'ultima parte. L'elenco può servire da mappa durante la lezione e, più avanti, da indice quando si consultano le slide.
Per il docente: Cinque parti, circa dieci minuti ciascuna. L'ultima è quella su cui gli studenti fanno domande: dire subito che arriva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vale 12 crediti ECTS, cioè 96 ore, divise in parti uguali tra lezioni (prof. Montella) e laboratorio (prof.ssa Staffa): due docenti, un solo corso, un solo voto finale. Non ci sono prerequisiti formali, e l'affermazione va presa alla lettera: non si presuppone alcuna esperienza di programmazione. Ciò che serve è una curiosità costante per il modo in cui un calcolatore funziona davvero. Orari di ricevimento e codice Teams vanno annotati subito: le domande poste nelle prime settimane sono le meno costose da risolvere.
Per il docente: Link di Teams dalla presentazione originale: https://teams.microsoft.com/l/channel/19%3Af4f24e8de71f424395ba903febdc4766%40thread.tacv2/General?groupId=09ae05f6-46f6-4441-ab7b-7522f88007d5 . Il codice del team c7rf33g viene dal Syllabus ufficiale e può cambiare: annunciare in aula ogni variazione.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metodo in una frase. Prima programmare significa che, dalla prima settimana, si scrivono istruzioni RISC-V eseguite da un processore fisico. Poi formalizzare significa che definizioni e teoremi entrano come risposte: ciascuno spiega un fenomeno che il proprio programma ha già mostrato. L'ordine poggia su un'osservazione ben nota sull'apprendimento: una domanda incontrata in prima persona offre alla risposta successiva un punto a cui ancorarsi. Alla teoria non viene tolto nulla; è presentata per intero ed è oggetto d'esame. Semplicemente arriva per seconda.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attraversa le stesse quattro fasi. Giocare: si scrivono e si eseguono poche istruzioni. Osservare: la macchina produce un effetto non del tutto previsto, per esempio un contatore che, decrementato oltre lo zero, mostra 0xFFFFFFFF. Formalizzare: la lezione fornisce la regola che spiega l'effetto, qui la rappresentazione in complemento a due. Tornare: si torna alla macchina e si prevede il risultato prima di eseguire il programma. La quarta fase è il criterio della comprensione. Una previsione corretta mostra che la regola è stata afferrata; una sbagliata è smentita subito dalla macchina, senza alcun costo.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Sono gli obiettivi dichiarati nel programma ufficiale, e formano una catena. Prima gli aspetti fondamentali dell'architettura dei calcolatori; poi i linguaggi di basso livello, linguaggio macchina e assembly, con cui una macchina si programma; poi gli strumenti formali con cui si costruisce un processore, cioè l'algebra di Boole e l'aritmetica binaria; poi l'organizzazione di processore, memoria e ingresso/uscita; e infine il codice assembly, in cui tutti questi livelli diventano visibili insieme. L'illustrazione è Pong su PRG32: un programma di poche centinaia di istruzioni, ciascuna delle quali lo studente saprà leggere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è una piccola console da gioco programmata in assembly o in C. Tre proprietà sono essenziali. Primo, il codice dello studente è vero codice macchina per un processore RISC-V a 32 bit che implementa l'insieme di istruzioni RV32IMAC: viene eseguito, non interpretato né imitato. Secondo, l'interfaccia tra un programma e la macchina è un contratto di tre funzioni scritte dallo studente: init, eseguita una volta, e update e draw, eseguite una volta per frame. Terzo, un programma finito è una cartuccia, un solo piccolo file con estensione .prg32. Lo schermo misura 320 per 200 pixel, abbastanza piccolo perché ogni pixel possa essere oggetto di ragionamento.
DA COMPRENDERE PIÙ AVANTI: i componenti di PRG32 (si studia nella Lezione 01).
Per il docente: PRG32: https://github.com/riscv-prg32/PRG32 . Libro di testo: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è PRG32 come applicazione per il computer: esegue le stesse cartucce senza alcun hardware. In modalità debug espone lo stato della macchina mentre il gioco gira: l'esecuzione si può mettere in pausa, avanzare di un'istruzione alla volta, fermare a un breakpoint; si possono ispezionare i 32 registri e una qualsiasi finestra di 128 byte di memoria; e il programma si può rallentare fino a un centesimo della sua velocità. L'ultima riga della slide merita di essere presa come definizione operativa: un programma è compreso quando si sa dire il contenuto di ogni registro prima di premere Step.
DA COMPRENDERE PIÙ AVANTI: i componenti di PRG32 (si studia nella Lezione 01).
Per il docente: Settings, Run cartridges in RISC-V debug mode. La Lezione 01 lo installa; la stessa cartuccia gira anche sul kit e sull'emulatore QEMU, e la Lezione 01 confronta i tre. Il debugger si usa dalla Lezione 02 e in modo sistematico nei tutorial di Verm1: ognuno ha una sezione di debug con una procedura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argomenti motivano la scelta di RISC-V. È aperto: l'architettura dell'insieme di istruzioni è uno standard pubblico che chiunque può implementare senza pagare licenze. È piccolo: circa quaranta istruzioni di base e trentadue registri di uso generale, un corpo di conoscenze che un solo semestre può coprire per intero. È reale: queste istruzioni sono eseguite da miliardi di dispositivi commerciali, quindi nulla di ciò che si impara qui è un artificio didattico. Ed è strategico: iniziative europee costruiscono su di esso i propri processori. Il secondo argomento ha la conseguenza più diretta per lo studente, che padroneggerà l'intero insieme di istruzioni di base e non una sua selezione.
DA COMPRENDERE PIÙ AVANTI: RISC e un ISA aperto (si studia nella Lezione 03).
Per il docente: DARE: Digital Autonomy with RISC-V in Europe, progetto della EuroHPC Joint Undertaking. Per l'argomentazione completa e le fonti si veda il capitolo 1 del libro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è il corso in una sola pagina. La colonna di sinistra elenca gli argomenti formali; quella di destra indica dove ciascuno si incontra per la prima volta sperimentalmente, sulla macchina. Il complemento a due compare come una posizione che si sposta a sinistra oltre lo zero; l'algebra di Boole come il test di un pulsante; le reti sequenziali come un contatore che sopravvive da un frame al successivo. Ogni argomento si incontra così due volte, prima come fenomeno e poi come teoria. Conviene tornare a questa tabella all'inizio di ogni blocco, perché dice quale esperienza la teoria in arrivo spiegherà, e serve da elenco di controllo per il ripasso.
Per il docente: Questa tabella è il corso in una slide. Riprenderla all'inizio di ogni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del corso è Verm1, che si legge "vermone": un omaggio a Snake, in cui un verme si muove su una griglia, mangia, cresce e non deve urtare sé stesso. Le regole stanno in una frase, eppure la realizzazione attinge a quasi ogni argomento del corso: la rappresentazione dei numeri per le posizioni, la logica booleana per i comandi, l'organizzazione della memoria per il corpo, le chiamate di procedura e la divisione per il punteggio. Ogni riga è scritta dallo studente; non c'è alcun motore di gioco, solo le poche chiamate di PRG32 che disegnano un rettangolo, leggono i pulsanti o suonano una nota. Il gioco finito porta il nome del suo autore.
DA COMPRENDERE PIÙ AVANTI: il progetto Verm1 (si studia nella Lezione 07).
Per il docente: Il progetto è il filo del corso: ogni parte usa esattamente ciò che le quattro lezioni precedenti hanno insegnato. L'implementazione di riferimento di Verm1 è un contributo di Giuseppe Coviello; i sorgenti sono nella cartella verm1 del materiale del corso e sono compilati e giocati automaticamente dai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si sviluppa in quattro parti e una pubblicazione, ciascuna parte dopo il blocco di lezioni di cui applica i contenuti. La Parte 1 (Lezione 07) applica la rappresentazione dei numeri: una griglia e una testa che si muove. La Parte 2 (Lezione 12) applica la logica: guida, cibo e punteggio. La Parte 3 (Lezione 17) applica stato e memoria: un corpo, le collisioni e tre schermate. La Parte 4 (Lezione 22) applica l'organizzazione della macchina: cifre decimali, livelli e disegno efficiente. La Lezione 23 impacchetta il gioco per il Cartridge Store. La didascalia enuncia l'invariante più importante: ogni parte termina con un gioco che gira.
DA COMPRENDERE PIÙ AVANTI: il progetto Verm1 (si studia nella Lezione 07).
Per il docente: Una presentazione su cinque è un tutorial. I numeri sono quelli delle lezioni: 07, 12, 17 e 22 per le quattro parti, 23 per la pubblicazione.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calendario del corso, organizzato in blocchi. Dopo le tre lezioni di apertura vengono quattro blocchi di quattro lezioni: Informazione (che cosa significa un bit), Logica (come si combinano i bit), Stato e memoria (come si conservano i bit) e La macchina (il processore e i suoi dispositivi). Ogni blocco è seguito da una parte di Verm1; la Lezione 23 pubblica il gioco e la Lezione 24 guarda oltre il singolo core. I numeri di lezione di questa slide sono quelli usati in tutto il materiale, così che un riferimento come "Lezione 13" si possa sempre ritrovare qui.
Per il docente: L'ordine è scelto per l'apprendimento: prima che cosa significa un bit, poi come i bit si combinano, poi come si ricordano, poi la macchina che fa le tre cose; il processore viene prima dei dispositivi che pilota. Dopo ogni blocco il progetto lo mette in pratica. L'ultima lezione è uno sguardo in avanti, prima della visita ai sistemi di 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si tiene quattro volte a settimana da settembre a dicembre, sempre in Aula 1: lunedì pomeriggio e mercoledì mattina con il prof. Montella, martedì e venerdì mattina con la prof.ssa Staffa. Lezioni e laboratorio non si alternano in modo rigido; un calendario interno, condiviso con la classe, dà la distribuzione effettiva settimana per settimana. È quel calendario, e non solo questa tabella, da consultare per decidere che cosa preparare per un dato giorno.
DA COMPRENDERE OGGI: le regole del corso.
Per il docente: Condivideremo un calendario interno con la distribuzione effettiva di lezioni e laboratori.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C'è una sola prova intercorso, composta da dieci domande a risposta multipla e due esercizi, svolta su carta in circa 45 minuti. Occorre portare un documento d'identità e una penna, e conoscere il proprio indirizzo e-mail istituzionale e il numero di matricola. La prova ha due scopi insieme: misura il progresso di ciascuno studente e misura il progresso del corso. La preparazione è incorporata nelle lezioni, ognuna delle quali si chiude con domande esattamente di questo tipo. Rispondere settimana per settimana costa pochi minuti; rimandarle tutte alla sera prima non funziona.
DA COMPRENDERE OGGI: le regole del corso.
Per il docente: Una sola prova intercorso dal 2026/27 (erano due). La data è da definire: inserirla. Il peso della prova si decide dopo aver valutato il comportamento corretto degli studenti in aula. Le regole di prenotazione non sono sulla slide: dirle in aula, se ci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per la prova intercorso e per l'esame è breve: nessun dispositivo e nessun aiuto di alcun tipo, umano o artificiale, inclusi ChatGPT, altri grandi modelli linguistici e ogni forma di IA generativa. Chi copia vede annullata subito la prova. La regola non esprime ostilità verso la tecnologia, che il corso usa ogni giorno; discende dallo scopo di una valutazione. Una prova misura ciò che il candidato sa; una risposta prodotta da un altro agente non misura nulla e non giova a nessuno, tanto meno al candidato.
DA COMPRENDERE OGGI: le regole del corso.
Per il docente: Se per comportamento inadeguato si devono annullare più di due prove, l'intera prova intercorso è annullata per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L'esame ha due componenti, entrambe da superare: una componente di teoria, un orale sull'intero programma in cui alcune risposte richiedono uno schema o un calcolo alla lavagna; e una componente pratica, l'esame di laboratorio con la prof.ssa Staffa. Ciascuna pesa la metà, e il voto finale è la loro media. L'orale può anche abbassare il voto ottenuto nella prova intercorso: la prova intercorso è un risultato vero, non una garanzia. Il modo in cui la prova intercorso entra nel voto di teoria è spiegato in aula.
DA COMPRENDERE OGGI: le regole del corso.
Per il docente: I risultati della prova intercorso e dell'esame valgono per l'anno accademico in corso. Il Syllabus ufficiale descrive la parte scritta come esercizi di analisi e sintesi di reti logiche e di sviluppo in assembly RISC-V su PRG32. Come la prova intercorso entra nel voto di teoria si dice in aula: la slide non dà una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voto finale si registra solo quando entrambe le componenti sono superate, e la verbalizzazione avviene esclusivamente in una sessione di teoria; l'esame di laboratorio la precede di norma di circa una settimana. Entrambi vanno prenotati su Esse3. Le due domande più frequenti hanno la stessa risposta: la teoria si può sostenere prima della pratica, e il suo esito è conservato per l'anno accademico, ma nulla si verbalizza finché entrambe non sono superate. Conviene quindi programmare i due esami insieme.
DA COMPRENDERE OGGI: le regole del corso.
Per il docente: Nella presentazione originale le date degli appelli erano vuote: aggiungerle quando sono pubblicate.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materiale proviene da quattro fonti. Le slide sono in una cartella Google Drive condivisa e periodicamente pubblicate sul portale e-learning. PRG32 e il suo libro, Playing with RISC-V, sono liberi e open source su GitHub. I testi di riferimento sono Patterson e Hennessy, Computer Organization and Design, edizione RISC-V, e Tanenbaum e Austin, Structured Computer Organization; entrambi esistono in italiano. La documentazione autorevole dell'architettura è pubblicata su riscv.org. Non occorre acquistare nulla il primo giorno: le slide e il materiale di PRG32 bastano fino all'inizio degli argomenti formali, quando conviene scegliere un testo.
Per il docente: Cartella Drive: https://drive.google.com/drive/folders/15Kdu8XYbQQVP0ieuZA5OIEmoKqDjQ-eR?usp=sharing . E-learning: https://elearning.uniparthenope.it/course/view.php?id=107 . Edizioni originali: Patterson, Hennessy, Computer Organization and Design, RISC-V Edition (Morgan Kaufmann); Tanenbaum, Austin, Structured Computer Organization (Pearson). Edizioni italiane: Zanichelli e Pearson.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gruppi di domande aprono il dialogo: hardware, software, cultura, concetti, RISC-V e gli studenti stessi. Non ci sono risposte giuste e nulla viene valutato. Lo scopo è diagnostico: le risposte indicano quanto si può dare per scontato nelle prime settimane. Chi non ha mai assemblato un computer né letto una riga di assembly è in maggioranza ed è esattamente dove il corso se lo aspetta; chi lo ha fatto troverà occasioni per aiutare il vicino, che è a sua volta uno dei modi più efficaci di imparare.
Stato di apprendimento, riepilogo.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Per il docente: Per rompere il ghiaccio. Rapido; annotare le risposte: dicono a che velocità può andare la Lezione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00: Introduzione al corso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 corso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Architettura dei Calcolatori e Laboratorio (ARC12): prima si programma, poi si formalizza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“Matrix è un sistema, Neo. E quel sistema è nostro nemico.”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Matrix, Lana e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00-Architettura_dei_Calcolatori-Introduzione_al_Corso-Lab.pptx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Oggi</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 siamo, e come sono organizzate le 96 ore del corso</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L'approccio: prima programmate, poi formalizziamo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PRG32, RISC-V e il debugger che userete ogni settimana; la prossima volta li installiamo insieme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progetto: Verm1, un gioco che scrivete partendo da un file vuoto e che pubblicate</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regole: orario, prova intercorso, esame, materiale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in breve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Nome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Architettura dei Calcolatori e Laboratorio di Architettura dei Calcolatori (ARC12). Primo anno, primo semestre, Corso di Laurea in Informatica.</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Docenti</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lezioni, 6 CFU.</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laboratorio, 6 CFU.</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CFU, 96 ore.</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Settore scientifico: INFO-01/A (Informatica).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Ricevimento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Stanza 420, martedì 14:00-16:00, su appuntamento. Anche su Microsoft Teams (codice del team: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 aggiuntivi</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dà 2 CFU come ulteriori conoscenze: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Nessuno. L'unico vero prerequisito è la passione per l'informatica e per le tecnologie che la rendono possibile.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Prima si programma. Poi si formalizza.</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Dal primo giorno scrivete assembly RISC-V che gira su un processore vero. Ogni argomento formale risponde poi a una domanda che il vostro stesso programma ha già sollevato.</a:t>
            </a:r>
            <a:endParaRPr lang="en-US" sz="2200" dirty="0"/>
          </a:p>
        </p:txBody>
      </p:sp>
      <p:sp>
        <p:nvSpPr>
          <p:cNvPr id="7" name="Shape 5"/>
          <p:cNvSpPr/>
          <p:nvPr/>
        </p:nvSpPr>
        <p:spPr>
          <a:xfrm>
            <a:off x="7329373" y="91440"/>
            <a:ext cx="4313682" cy="274320"/>
          </a:xfrm>
          <a:prstGeom prst="rect">
            <a:avLst/>
          </a:prstGeom>
          <a:solidFill>
            <a:srgbClr val="E0F2FE"/>
          </a:solidFill>
          <a:ln w="12700">
            <a:solidFill>
              <a:srgbClr val="0369A1"/>
            </a:solidFill>
            <a:prstDash val="solid"/>
          </a:ln>
        </p:spPr>
      </p:sp>
      <p:sp>
        <p:nvSpPr>
          <p:cNvPr id="8" name="Shape 6"/>
          <p:cNvSpPr/>
          <p:nvPr/>
        </p:nvSpPr>
        <p:spPr>
          <a:xfrm>
            <a:off x="732937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0" name="Text 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spirale dell'apprendimento, ripetuta per ogni argomento</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Gioca</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Scrivete poche istruzioni, compilate una cartuccia, eseguitela su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Osserva</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Qualcosa accade: un numero fa il giro, un bit accende una lampada, un rettangolo si muove</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Formalizza</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Definizioni, teoremi e metodi spiegano esattamente perché</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Ritorna</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Di nuovo sulla macchina: prevedete il risultato prima di eseguire</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voto è un'opinione; una racchetta che esce dallo schermo è un fatto. Useremo i fatti, e poi li spiegheremo.</a:t>
            </a:r>
            <a:endParaRPr lang="en-US" sz="2000" dirty="0"/>
          </a:p>
        </p:txBody>
      </p:sp>
      <p:sp>
        <p:nvSpPr>
          <p:cNvPr id="20" name="Shape 18"/>
          <p:cNvSpPr/>
          <p:nvPr/>
        </p:nvSpPr>
        <p:spPr>
          <a:xfrm>
            <a:off x="7329373" y="91440"/>
            <a:ext cx="4313682" cy="274320"/>
          </a:xfrm>
          <a:prstGeom prst="rect">
            <a:avLst/>
          </a:prstGeom>
          <a:solidFill>
            <a:srgbClr val="E0F2FE"/>
          </a:solidFill>
          <a:ln w="12700">
            <a:solidFill>
              <a:srgbClr val="0369A1"/>
            </a:solidFill>
            <a:prstDash val="solid"/>
          </a:ln>
        </p:spPr>
      </p:sp>
      <p:sp>
        <p:nvSpPr>
          <p:cNvPr id="21" name="Shape 19"/>
          <p:cNvSpPr/>
          <p:nvPr/>
        </p:nvSpPr>
        <p:spPr>
          <a:xfrm>
            <a:off x="732937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3" name="Text 20"/>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Gli obiettivi del corso</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Presentare gli aspetti fondamentali dell'architettura dei calcolatori moderni</a:t>
            </a:r>
            <a:endParaRPr lang="en-US" sz="1700" dirty="0"/>
          </a:p>
        </p:txBody>
      </p:sp>
      <p:sp>
        <p:nvSpPr>
          <p:cNvPr id="5" name="Shape 3"/>
          <p:cNvSpPr/>
          <p:nvPr/>
        </p:nvSpPr>
        <p:spPr>
          <a:xfrm>
            <a:off x="548640" y="221773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0047"/>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Usare, in laboratorio, i concetti di base per programmarli in modo efficiente con linguaggi di basso livello: linguaggio macchina e assembly</a:t>
            </a:r>
            <a:endParaRPr lang="en-US" sz="1700" dirty="0"/>
          </a:p>
        </p:txBody>
      </p:sp>
      <p:sp>
        <p:nvSpPr>
          <p:cNvPr id="7" name="Shape 5"/>
          <p:cNvSpPr/>
          <p:nvPr/>
        </p:nvSpPr>
        <p:spPr>
          <a:xfrm>
            <a:off x="548640" y="321386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6171"/>
            <a:ext cx="6565392" cy="1033780"/>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Trattare con rigore gli strumenti con cui il processore è costruito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algebra di Boole e sintesi di reti logiche combinatorie e sequenziali</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rappresentazione binaria e aritmetica binaria</a:t>
            </a:r>
            <a:endParaRPr lang="en-US" sz="1700" dirty="0"/>
          </a:p>
        </p:txBody>
      </p:sp>
      <p:sp>
        <p:nvSpPr>
          <p:cNvPr id="9" name="Shape 7"/>
          <p:cNvSpPr/>
          <p:nvPr/>
        </p:nvSpPr>
        <p:spPr>
          <a:xfrm>
            <a:off x="548640" y="445357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85882"/>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Descrivere in dettaglio la struttura funzionale e fisica della CPU, della memoria e del sottosistema di ingresso/uscita</a:t>
            </a:r>
            <a:endParaRPr lang="en-US" sz="1700" dirty="0"/>
          </a:p>
        </p:txBody>
      </p:sp>
      <p:sp>
        <p:nvSpPr>
          <p:cNvPr id="11" name="Shape 9"/>
          <p:cNvSpPr/>
          <p:nvPr/>
        </p:nvSpPr>
        <p:spPr>
          <a:xfrm>
            <a:off x="548640" y="54496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82006"/>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Sviluppare codice assembly che renda visibile come funziona davvero un processore e come interagiscono le unità di base di un calcolatore</a:t>
            </a:r>
            <a:endParaRPr lang="en-US" sz="17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in esecuzione su PRG32: codice macchina RISC-V nativo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una console rétro da programmare in assembly</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ambiente didattico open source per insegnare l'assembly RISC-V e il C, sviluppato alla Parthenope</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vostro codice gira in modo nativo come codice macchina RISC-V a 32 bit (RV32IMAC): non è interpretato da un simulatore</a:t>
            </a:r>
            <a:endParaRPr lang="en-US" sz="1900" dirty="0"/>
          </a:p>
        </p:txBody>
      </p:sp>
      <p:sp>
        <p:nvSpPr>
          <p:cNvPr id="7" name="Shape 5"/>
          <p:cNvSpPr/>
          <p:nvPr/>
        </p:nvSpPr>
        <p:spPr>
          <a:xfrm>
            <a:off x="548640" y="33173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418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contratto volutamente sottile: tre funzioni che scrivete voi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init viene eseguita una volta; update e draw una volta per frame</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giochi viaggiano come piccole cartucce: file con estensione .prg32</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Un'area di 320 per 200 pixel, un joystick, il suono: abbastanza piccola da tenerla tutta in mente, abbastanza ricca da esercitare l'intero corso</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residente di PRG32</a:t>
            </a:r>
            <a:endParaRPr lang="en-US" sz="1200" dirty="0"/>
          </a:p>
        </p:txBody>
      </p:sp>
      <p:sp>
        <p:nvSpPr>
          <p:cNvPr id="15" name="Shape 12"/>
          <p:cNvSpPr/>
          <p:nvPr/>
        </p:nvSpPr>
        <p:spPr>
          <a:xfrm>
            <a:off x="6372428" y="91440"/>
            <a:ext cx="5270627" cy="274320"/>
          </a:xfrm>
          <a:prstGeom prst="rect">
            <a:avLst/>
          </a:prstGeom>
          <a:solidFill>
            <a:srgbClr val="F3E8FF"/>
          </a:solidFill>
          <a:ln w="12700">
            <a:solidFill>
              <a:srgbClr val="7E22CE"/>
            </a:solidFill>
            <a:prstDash val="dash"/>
          </a:ln>
        </p:spPr>
      </p:sp>
      <p:sp>
        <p:nvSpPr>
          <p:cNvPr id="16" name="Shape 13"/>
          <p:cNvSpPr/>
          <p:nvPr/>
        </p:nvSpPr>
        <p:spPr>
          <a:xfrm>
            <a:off x="6399860" y="128016"/>
            <a:ext cx="45720" cy="45720"/>
          </a:xfrm>
          <a:prstGeom prst="rect">
            <a:avLst/>
          </a:prstGeom>
          <a:solidFill>
            <a:srgbClr val="7E22CE"/>
          </a:solidFill>
          <a:ln w="12700">
            <a:solidFill>
              <a:srgbClr val="7E22CE"/>
            </a:solidFill>
            <a:prstDash val="solid"/>
          </a:ln>
        </p:spPr>
      </p:sp>
      <p:sp>
        <p:nvSpPr>
          <p:cNvPr id="17" name="Shape 14"/>
          <p:cNvSpPr/>
          <p:nvPr/>
        </p:nvSpPr>
        <p:spPr>
          <a:xfrm>
            <a:off x="6399860" y="205740"/>
            <a:ext cx="45720" cy="45720"/>
          </a:xfrm>
          <a:prstGeom prst="rect">
            <a:avLst/>
          </a:prstGeom>
          <a:solidFill>
            <a:srgbClr val="7E22CE"/>
          </a:solidFill>
          <a:ln w="12700">
            <a:solidFill>
              <a:srgbClr val="7E22CE"/>
            </a:solidFill>
            <a:prstDash val="solid"/>
          </a:ln>
        </p:spPr>
      </p:sp>
      <p:sp>
        <p:nvSpPr>
          <p:cNvPr id="18" name="Shape 15"/>
          <p:cNvSpPr/>
          <p:nvPr/>
        </p:nvSpPr>
        <p:spPr>
          <a:xfrm>
            <a:off x="6399860"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20" name="Text 16"/>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il debugger del corso</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PRG32-QT è PRG32 sul vostro portatile: esegue le stesse cartucce, senza scheda e senza compilatore</a:t>
            </a:r>
            <a:endParaRPr lang="en-US" sz="1800" dirty="0"/>
          </a:p>
        </p:txBody>
      </p:sp>
      <p:sp>
        <p:nvSpPr>
          <p:cNvPr id="5" name="Shape 3"/>
          <p:cNvSpPr/>
          <p:nvPr/>
        </p:nvSpPr>
        <p:spPr>
          <a:xfrm>
            <a:off x="548640" y="248666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11222"/>
            <a:ext cx="5468112" cy="205206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modalità debug apre la macchina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pausa, ripresa, un'istruzione alla volta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breakpoint su qualunque istruzione di init, update o draw</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 32 registri e 128 byte di memoria a qualunque indirizzo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velocità da 0,01x a 4x, e contatori: frame, istruzioni, frame in ritardo</a:t>
            </a:r>
            <a:endParaRPr lang="en-US" sz="1800" dirty="0"/>
          </a:p>
        </p:txBody>
      </p:sp>
      <p:sp>
        <p:nvSpPr>
          <p:cNvPr id="7" name="Shape 5"/>
          <p:cNvSpPr/>
          <p:nvPr/>
        </p:nvSpPr>
        <p:spPr>
          <a:xfrm>
            <a:off x="548640" y="46959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20514"/>
            <a:ext cx="546811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Lo userete in ogni lezione: per verificare una previsione, per trovare un errore, per misurare</a:t>
            </a:r>
            <a:endParaRPr lang="en-US" sz="1800" dirty="0"/>
          </a:p>
        </p:txBody>
      </p:sp>
      <p:sp>
        <p:nvSpPr>
          <p:cNvPr id="9" name="Shape 7"/>
          <p:cNvSpPr/>
          <p:nvPr/>
        </p:nvSpPr>
        <p:spPr>
          <a:xfrm>
            <a:off x="548640" y="5410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35524"/>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programma è capito quando sapete dire che cosa conterrà ogni registro prima di premere Step</a:t>
            </a:r>
            <a:endParaRPr lang="en-US" sz="18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modalità debug: a sinistra il gioco, a destra la macchina</a:t>
            </a:r>
            <a:endParaRPr lang="en-US" sz="1200" dirty="0"/>
          </a:p>
        </p:txBody>
      </p:sp>
      <p:sp>
        <p:nvSpPr>
          <p:cNvPr id="13" name="Shape 10"/>
          <p:cNvSpPr/>
          <p:nvPr/>
        </p:nvSpPr>
        <p:spPr>
          <a:xfrm>
            <a:off x="6372428" y="91440"/>
            <a:ext cx="5270627" cy="274320"/>
          </a:xfrm>
          <a:prstGeom prst="rect">
            <a:avLst/>
          </a:prstGeom>
          <a:solidFill>
            <a:srgbClr val="F3E8FF"/>
          </a:solidFill>
          <a:ln w="12700">
            <a:solidFill>
              <a:srgbClr val="7E22CE"/>
            </a:solidFill>
            <a:prstDash val="dash"/>
          </a:ln>
        </p:spPr>
      </p:sp>
      <p:sp>
        <p:nvSpPr>
          <p:cNvPr id="14" name="Shape 11"/>
          <p:cNvSpPr/>
          <p:nvPr/>
        </p:nvSpPr>
        <p:spPr>
          <a:xfrm>
            <a:off x="6399860" y="128016"/>
            <a:ext cx="45720" cy="45720"/>
          </a:xfrm>
          <a:prstGeom prst="rect">
            <a:avLst/>
          </a:prstGeom>
          <a:solidFill>
            <a:srgbClr val="7E22CE"/>
          </a:solidFill>
          <a:ln w="12700">
            <a:solidFill>
              <a:srgbClr val="7E22CE"/>
            </a:solidFill>
            <a:prstDash val="solid"/>
          </a:ln>
        </p:spPr>
      </p:sp>
      <p:sp>
        <p:nvSpPr>
          <p:cNvPr id="15" name="Shape 12"/>
          <p:cNvSpPr/>
          <p:nvPr/>
        </p:nvSpPr>
        <p:spPr>
          <a:xfrm>
            <a:off x="6399860" y="205740"/>
            <a:ext cx="45720" cy="45720"/>
          </a:xfrm>
          <a:prstGeom prst="rect">
            <a:avLst/>
          </a:prstGeom>
          <a:solidFill>
            <a:srgbClr val="7E22CE"/>
          </a:solidFill>
          <a:ln w="12700">
            <a:solidFill>
              <a:srgbClr val="7E22CE"/>
            </a:solidFill>
            <a:prstDash val="solid"/>
          </a:ln>
        </p:spPr>
      </p:sp>
      <p:sp>
        <p:nvSpPr>
          <p:cNvPr id="16" name="Shape 13"/>
          <p:cNvSpPr/>
          <p:nvPr/>
        </p:nvSpPr>
        <p:spPr>
          <a:xfrm>
            <a:off x="6399860"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18" name="Text 14"/>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Aperto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RISC-V è un insieme di istruzioni a standard aperto: chiunque può progettare, costruire e vendere un processore RISC-V senza pagare licenze per l'architettura.</a:t>
            </a:r>
            <a:endParaRPr lang="en-US" sz="18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Piccolo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L'insieme di base delle istruzioni intere ha circa quaranta istruzioni e trentadue registri. Si impara tutto in un semestre.</a:t>
            </a:r>
            <a:endParaRPr lang="en-US" sz="18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Vero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addi, lw, sw e beqz non sono un dialetto didattico. L'industria produce miliardi di core RISC-V che eseguono esattamente queste istruzioni.</a:t>
            </a:r>
            <a:endParaRPr lang="en-US" sz="18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L'Europa considera RISC-V una leva di sovranità tecnologica: il Chips Act e progetti come DARE vi costruiscono sopra i propri processori.</a:t>
            </a:r>
            <a:endParaRPr lang="en-US" sz="1800" dirty="0"/>
          </a:p>
        </p:txBody>
      </p:sp>
      <p:sp>
        <p:nvSpPr>
          <p:cNvPr id="19" name="Shape 17"/>
          <p:cNvSpPr/>
          <p:nvPr/>
        </p:nvSpPr>
        <p:spPr>
          <a:xfrm>
            <a:off x="6438087" y="91440"/>
            <a:ext cx="5204968" cy="274320"/>
          </a:xfrm>
          <a:prstGeom prst="rect">
            <a:avLst/>
          </a:prstGeom>
          <a:solidFill>
            <a:srgbClr val="F3E8FF"/>
          </a:solidFill>
          <a:ln w="12700">
            <a:solidFill>
              <a:srgbClr val="7E22CE"/>
            </a:solidFill>
            <a:prstDash val="dash"/>
          </a:ln>
        </p:spPr>
      </p:sp>
      <p:sp>
        <p:nvSpPr>
          <p:cNvPr id="20" name="Shape 18"/>
          <p:cNvSpPr/>
          <p:nvPr/>
        </p:nvSpPr>
        <p:spPr>
          <a:xfrm>
            <a:off x="6465519" y="128016"/>
            <a:ext cx="45720" cy="45720"/>
          </a:xfrm>
          <a:prstGeom prst="rect">
            <a:avLst/>
          </a:prstGeom>
          <a:solidFill>
            <a:srgbClr val="7E22CE"/>
          </a:solidFill>
          <a:ln w="12700">
            <a:solidFill>
              <a:srgbClr val="7E22CE"/>
            </a:solidFill>
            <a:prstDash val="solid"/>
          </a:ln>
        </p:spPr>
      </p:sp>
      <p:sp>
        <p:nvSpPr>
          <p:cNvPr id="21" name="Shape 19"/>
          <p:cNvSpPr/>
          <p:nvPr/>
        </p:nvSpPr>
        <p:spPr>
          <a:xfrm>
            <a:off x="6465519" y="205740"/>
            <a:ext cx="45720" cy="45720"/>
          </a:xfrm>
          <a:prstGeom prst="rect">
            <a:avLst/>
          </a:prstGeom>
          <a:solidFill>
            <a:srgbClr val="7E22CE"/>
          </a:solidFill>
          <a:ln w="12700">
            <a:solidFill>
              <a:srgbClr val="7E22CE"/>
            </a:solidFill>
            <a:prstDash val="solid"/>
          </a:ln>
        </p:spPr>
      </p:sp>
      <p:sp>
        <p:nvSpPr>
          <p:cNvPr id="22" name="Shape 20"/>
          <p:cNvSpPr/>
          <p:nvPr/>
        </p:nvSpPr>
        <p:spPr>
          <a:xfrm>
            <a:off x="6465519"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6566103" y="128016"/>
            <a:ext cx="201168" cy="201168"/>
          </a:xfrm>
          <a:prstGeom prst="rect">
            <a:avLst/>
          </a:prstGeom>
        </p:spPr>
      </p:pic>
      <p:sp>
        <p:nvSpPr>
          <p:cNvPr id="24" name="Text 21"/>
          <p:cNvSpPr txBox="1"/>
          <p:nvPr/>
        </p:nvSpPr>
        <p:spPr>
          <a:xfrm>
            <a:off x="6822135" y="91440"/>
            <a:ext cx="478434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RISC e un ISA aperto</a:t>
            </a:r>
            <a:pPr indent="0" marL="0">
              <a:buNone/>
            </a:pPr>
            <a:r>
              <a:rPr lang="en-US" sz="1100" b="1" dirty="0">
                <a:solidFill>
                  <a:srgbClr val="6B21A8"/>
                </a:solidFill>
                <a:latin typeface="Calibri" pitchFamily="34" charset="0"/>
                <a:ea typeface="Calibri" pitchFamily="34" charset="-122"/>
                <a:cs typeface="Calibri" pitchFamily="34" charset="-120"/>
              </a:rPr>
              <a:t> → Lezione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ogni argomento si incontra due volte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Argomento formale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Lo incontrate prima su PRG32 come...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Notazione posizionale,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colore 0x07E0 e il valore mostrato dal debugger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Complemento a due, overflow</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posizione che va a sinistra oltre lo zero e mostra 0xFFFFFFFF</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Virgola fissa e virgola mobile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palla che si muove di 0,375 pixel per frame su un chip senza FPU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Algebra di Boole, maschere di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andi t3, t0, 1 per sapere se LEFT è premuto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Elettronica, porte logiche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pulsante che collega a massa un piedino del chip</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combinatorie, addizionatori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che cosa fa davvero add a trentadue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sequenziali, registri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contatore che sopravvive da un frame al successivo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CPU, datapath, ciclo dell'istruzione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l'esecuzione di una singola istruzione in PRG32-QT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Memoria e ingresso/uscita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lw e sw, lo stack, il joystick e il display</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il vostro gioco, da un file vuoto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si legge "vermone": un omaggio a Snake, il gioco di Blockade (1976) e dei telefoni Nokia (1997)</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verme si muove su una griglia, mangia, cresce, e non deve mordersi</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Scrivete ogni riga, in assembly RISC-V: nessun motore, nessuna libreria oltre alle chiamate di PRG32</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Abbastanza piccolo per uno studente del primo anno, abbastanza ricco da richiedere ogni argomento del corso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Alla fine è pronto per il Cartridge Store, con il vostro nome sopra</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 corso</a:t>
            </a:r>
            <a:endParaRPr lang="en-US" sz="1200" dirty="0"/>
          </a:p>
        </p:txBody>
      </p:sp>
      <p:sp>
        <p:nvSpPr>
          <p:cNvPr id="15" name="Shape 12"/>
          <p:cNvSpPr/>
          <p:nvPr/>
        </p:nvSpPr>
        <p:spPr>
          <a:xfrm>
            <a:off x="6635064" y="91440"/>
            <a:ext cx="5007991" cy="274320"/>
          </a:xfrm>
          <a:prstGeom prst="rect">
            <a:avLst/>
          </a:prstGeom>
          <a:solidFill>
            <a:srgbClr val="F3E8FF"/>
          </a:solidFill>
          <a:ln w="12700">
            <a:solidFill>
              <a:srgbClr val="7E22CE"/>
            </a:solidFill>
            <a:prstDash val="dash"/>
          </a:ln>
        </p:spPr>
      </p:sp>
      <p:sp>
        <p:nvSpPr>
          <p:cNvPr id="16" name="Shape 13"/>
          <p:cNvSpPr/>
          <p:nvPr/>
        </p:nvSpPr>
        <p:spPr>
          <a:xfrm>
            <a:off x="6662496" y="128016"/>
            <a:ext cx="45720" cy="45720"/>
          </a:xfrm>
          <a:prstGeom prst="rect">
            <a:avLst/>
          </a:prstGeom>
          <a:solidFill>
            <a:srgbClr val="7E22CE"/>
          </a:solidFill>
          <a:ln w="12700">
            <a:solidFill>
              <a:srgbClr val="7E22CE"/>
            </a:solidFill>
            <a:prstDash val="solid"/>
          </a:ln>
        </p:spPr>
      </p:sp>
      <p:sp>
        <p:nvSpPr>
          <p:cNvPr id="17" name="Shape 14"/>
          <p:cNvSpPr/>
          <p:nvPr/>
        </p:nvSpPr>
        <p:spPr>
          <a:xfrm>
            <a:off x="6662496" y="205740"/>
            <a:ext cx="45720" cy="45720"/>
          </a:xfrm>
          <a:prstGeom prst="rect">
            <a:avLst/>
          </a:prstGeom>
          <a:solidFill>
            <a:srgbClr val="7E22CE"/>
          </a:solidFill>
          <a:ln w="12700">
            <a:solidFill>
              <a:srgbClr val="7E22CE"/>
            </a:solidFill>
            <a:prstDash val="solid"/>
          </a:ln>
        </p:spPr>
      </p:sp>
      <p:sp>
        <p:nvSpPr>
          <p:cNvPr id="18" name="Shape 15"/>
          <p:cNvSpPr/>
          <p:nvPr/>
        </p:nvSpPr>
        <p:spPr>
          <a:xfrm>
            <a:off x="6662496"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763080" y="128016"/>
            <a:ext cx="201168" cy="201168"/>
          </a:xfrm>
          <a:prstGeom prst="rect">
            <a:avLst/>
          </a:prstGeom>
        </p:spPr>
      </p:pic>
      <p:sp>
        <p:nvSpPr>
          <p:cNvPr id="20" name="Text 1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parti e una pubblicazione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Dopo il blocco su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Verm1 acquista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07  Parte 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informazione e numeri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griglia, una testa che si muove, un mondo senza bordi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colori, scorrimenti, virgola fissa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12  Parte 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logica e circuiti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guida, il cibo, un punteggio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maschere, XOR, tabelle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17  Parte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stato e 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corpo che cresce, le collisioni, tre schermate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macchina a stati, vettori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22  Parte 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cifre, livelli, suono, disegno veloce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chiamate, divisione, frame buffer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23  Lo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tutto il corso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nome, un'icona, i crediti, un bundle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gli strumenti di PRG32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Ogni parte finisce con un gioco che funziona. Non tornate mai a casa con un programma rotto.</a:t>
            </a:r>
            <a:endParaRPr lang="en-US" sz="1500" dirty="0"/>
          </a:p>
        </p:txBody>
      </p:sp>
      <p:sp>
        <p:nvSpPr>
          <p:cNvPr id="5" name="Shape 2"/>
          <p:cNvSpPr/>
          <p:nvPr/>
        </p:nvSpPr>
        <p:spPr>
          <a:xfrm>
            <a:off x="6635064" y="91440"/>
            <a:ext cx="5007991" cy="274320"/>
          </a:xfrm>
          <a:prstGeom prst="rect">
            <a:avLst/>
          </a:prstGeom>
          <a:solidFill>
            <a:srgbClr val="F3E8FF"/>
          </a:solidFill>
          <a:ln w="12700">
            <a:solidFill>
              <a:srgbClr val="7E22CE"/>
            </a:solidFill>
            <a:prstDash val="dash"/>
          </a:ln>
        </p:spPr>
      </p:sp>
      <p:sp>
        <p:nvSpPr>
          <p:cNvPr id="6" name="Shape 3"/>
          <p:cNvSpPr/>
          <p:nvPr/>
        </p:nvSpPr>
        <p:spPr>
          <a:xfrm>
            <a:off x="6662496" y="128016"/>
            <a:ext cx="45720" cy="45720"/>
          </a:xfrm>
          <a:prstGeom prst="rect">
            <a:avLst/>
          </a:prstGeom>
          <a:solidFill>
            <a:srgbClr val="7E22CE"/>
          </a:solidFill>
          <a:ln w="12700">
            <a:solidFill>
              <a:srgbClr val="7E22CE"/>
            </a:solidFill>
            <a:prstDash val="solid"/>
          </a:ln>
        </p:spPr>
      </p:sp>
      <p:sp>
        <p:nvSpPr>
          <p:cNvPr id="7" name="Shape 4"/>
          <p:cNvSpPr/>
          <p:nvPr/>
        </p:nvSpPr>
        <p:spPr>
          <a:xfrm>
            <a:off x="6662496" y="205740"/>
            <a:ext cx="45720" cy="45720"/>
          </a:xfrm>
          <a:prstGeom prst="rect">
            <a:avLst/>
          </a:prstGeom>
          <a:solidFill>
            <a:srgbClr val="7E22CE"/>
          </a:solidFill>
          <a:ln w="12700">
            <a:solidFill>
              <a:srgbClr val="7E22CE"/>
            </a:solidFill>
            <a:prstDash val="solid"/>
          </a:ln>
        </p:spPr>
      </p:sp>
      <p:sp>
        <p:nvSpPr>
          <p:cNvPr id="8" name="Shape 5"/>
          <p:cNvSpPr/>
          <p:nvPr/>
        </p:nvSpPr>
        <p:spPr>
          <a:xfrm>
            <a:off x="6662496"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763080" y="128016"/>
            <a:ext cx="201168" cy="201168"/>
          </a:xfrm>
          <a:prstGeom prst="rect">
            <a:avLst/>
          </a:prstGeom>
        </p:spPr>
      </p:pic>
      <p:sp>
        <p:nvSpPr>
          <p:cNvPr id="10" name="Text 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a blocchi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Avvio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Introduzione, 01 PRG32 e PRG32-QT: installazione, 02 Primo contatto con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Storia, 04 Informazione digitale, 05 Interi, 06 Reali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parte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e 09 Algebra di Boole, 10 Elettronica, 11 Macchine combinatorie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parte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Stato e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Macchine sequenziali, 14 Registri e bus, 15 Memoria, 16 Memoria permanente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parte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La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Processore, 19 Istruzioni e interruzioni, 20 Scheda video, 21 Ingresso e uscita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parte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Pubblicazione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sul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Prospettive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Oltre il singolo core: RISC-V superscalare, HPC, GPU e FPGA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visita ai sistemi di calcolo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Orario: da settembre a dicembre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Giorno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Aula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Docente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Lunedì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Martedì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Mercoledì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Venerdì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Sarà condiviso un calendario interno con la distribuzione effettiva di lezioni e laboratori.</a:t>
            </a:r>
            <a:endParaRPr lang="en-US" sz="1500" dirty="0"/>
          </a:p>
        </p:txBody>
      </p:sp>
      <p:sp>
        <p:nvSpPr>
          <p:cNvPr id="5" name="Shape 2"/>
          <p:cNvSpPr/>
          <p:nvPr/>
        </p:nvSpPr>
        <p:spPr>
          <a:xfrm>
            <a:off x="7985963" y="91440"/>
            <a:ext cx="3657092" cy="274320"/>
          </a:xfrm>
          <a:prstGeom prst="rect">
            <a:avLst/>
          </a:prstGeom>
          <a:solidFill>
            <a:srgbClr val="E0F2FE"/>
          </a:solidFill>
          <a:ln w="12700">
            <a:solidFill>
              <a:srgbClr val="0369A1"/>
            </a:solidFill>
            <a:prstDash val="solid"/>
          </a:ln>
        </p:spPr>
      </p:sp>
      <p:sp>
        <p:nvSpPr>
          <p:cNvPr id="6" name="Shape 3"/>
          <p:cNvSpPr/>
          <p:nvPr/>
        </p:nvSpPr>
        <p:spPr>
          <a:xfrm>
            <a:off x="798596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8" name="Text 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sola prova intercorso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Risposta multipla, dieci domande, più due esercizi: circa 45 minuti, in presenza e su carta</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Lunedì, data da definire, 14:00-16:00, Aula 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Gli studenti potranno essere divisi in gruppi e la prova svolta a turni</a:t>
            </a:r>
            <a:endParaRPr lang="en-US" sz="1900" dirty="0"/>
          </a:p>
        </p:txBody>
      </p:sp>
      <p:sp>
        <p:nvSpPr>
          <p:cNvPr id="7" name="Shape 5"/>
          <p:cNvSpPr/>
          <p:nvPr/>
        </p:nvSpPr>
        <p:spPr>
          <a:xfrm>
            <a:off x="548640" y="3260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794"/>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Portate un documento d'identità e una penna; dovete conoscere la vostra e-mail istituzionale e la matricola (chi è in trasferimento e non l'ha ancora è giustificato)</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prova valuta entrambe le parti, voi e noi: ci serve per sapere dove stiamo andando</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lezione finisce con domande dello stesso tipo: la preparazione migliore è rispondere settimana per settimana</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domande a risposta multipla più due esercizi, su carta, in circa 45 minuti</a:t>
            </a:r>
            <a:endParaRPr lang="en-US" sz="1900" dirty="0"/>
          </a:p>
        </p:txBody>
      </p:sp>
      <p:sp>
        <p:nvSpPr>
          <p:cNvPr id="16" name="Shape 14"/>
          <p:cNvSpPr/>
          <p:nvPr/>
        </p:nvSpPr>
        <p:spPr>
          <a:xfrm>
            <a:off x="7985963" y="91440"/>
            <a:ext cx="3657092" cy="274320"/>
          </a:xfrm>
          <a:prstGeom prst="rect">
            <a:avLst/>
          </a:prstGeom>
          <a:solidFill>
            <a:srgbClr val="E0F2FE"/>
          </a:solidFill>
          <a:ln w="12700">
            <a:solidFill>
              <a:srgbClr val="0369A1"/>
            </a:solidFill>
            <a:prstDash val="solid"/>
          </a:ln>
        </p:spPr>
      </p:sp>
      <p:sp>
        <p:nvSpPr>
          <p:cNvPr id="17" name="Shape 15"/>
          <p:cNvSpPr/>
          <p:nvPr/>
        </p:nvSpPr>
        <p:spPr>
          <a:xfrm>
            <a:off x="798596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9" name="Text 16"/>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Niente tecnologia. Niente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prova intercorso e l'esame sono #nogpt. Nessun aiuto tecnologico o umano di alcun tipo: niente dispositivi, niente ChatGPT o altri LLM, niente IA generativa. Chi copia vede annullata subito la propria prova; comportamenti più gravi hanno conseguenze più gravi.</a:t>
            </a:r>
            <a:endParaRPr lang="en-US" sz="2200" dirty="0"/>
          </a:p>
        </p:txBody>
      </p:sp>
      <p:sp>
        <p:nvSpPr>
          <p:cNvPr id="7" name="Shape 5"/>
          <p:cNvSpPr/>
          <p:nvPr/>
        </p:nvSpPr>
        <p:spPr>
          <a:xfrm>
            <a:off x="7985963" y="91440"/>
            <a:ext cx="3657092" cy="274320"/>
          </a:xfrm>
          <a:prstGeom prst="rect">
            <a:avLst/>
          </a:prstGeom>
          <a:solidFill>
            <a:srgbClr val="E0F2FE"/>
          </a:solidFill>
          <a:ln w="12700">
            <a:solidFill>
              <a:srgbClr val="0369A1"/>
            </a:solidFill>
            <a:prstDash val="solid"/>
          </a:ln>
        </p:spPr>
      </p:sp>
      <p:sp>
        <p:nvSpPr>
          <p:cNvPr id="8" name="Shape 6"/>
          <p:cNvSpPr/>
          <p:nvPr/>
        </p:nvSpPr>
        <p:spPr>
          <a:xfrm>
            <a:off x="798596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0" name="Text 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Valutazione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L'esame ha due parti e vanno superate entrambe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Teoria (50%): orale, con domande estemporanee su tutto il programma; alcune risposte richiedono uno schema o un calcolo alla lavagna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Pratica (50%): l'esame di laboratorio con la prof.ssa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L'orale può anche abbassare il voto ottenuto nella prova intercorso</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Voto finale = media del voto di teoria e del voto di pratica</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teoria e pratica: due parti, da superare entrambe</a:t>
            </a:r>
            <a:endParaRPr lang="en-US" sz="19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Appelli e verbalizzazione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verbalizzare serve un voto positivo sia in teoria sia in pratica</a:t>
            </a:r>
            <a:endParaRPr lang="en-US" sz="2200" dirty="0"/>
          </a:p>
        </p:txBody>
      </p:sp>
      <p:sp>
        <p:nvSpPr>
          <p:cNvPr id="5" name="Shape 3"/>
          <p:cNvSpPr/>
          <p:nvPr/>
        </p:nvSpPr>
        <p:spPr>
          <a:xfrm>
            <a:off x="548640" y="2229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229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verbalizzazione avviene solo durante un appello di teoria</a:t>
            </a:r>
            <a:endParaRPr lang="en-US" sz="2200" dirty="0"/>
          </a:p>
        </p:txBody>
      </p:sp>
      <p:sp>
        <p:nvSpPr>
          <p:cNvPr id="7" name="Shape 5"/>
          <p:cNvSpPr/>
          <p:nvPr/>
        </p:nvSpPr>
        <p:spPr>
          <a:xfrm>
            <a:off x="548640" y="29349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854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L'esame di laboratorio con la prof.ssa Staffa è di solito una settimana prima dell'appello di teoria</a:t>
            </a:r>
            <a:endParaRPr lang="en-US" sz="2200" dirty="0"/>
          </a:p>
        </p:txBody>
      </p:sp>
      <p:sp>
        <p:nvSpPr>
          <p:cNvPr id="9" name="Shape 7"/>
          <p:cNvSpPr/>
          <p:nvPr/>
        </p:nvSpPr>
        <p:spPr>
          <a:xfrm>
            <a:off x="548640" y="398145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Prenotate entrambi gli appelli su uniparthenope.esse3.cineca.it</a:t>
            </a:r>
            <a:endParaRPr lang="en-US" sz="2200" dirty="0"/>
          </a:p>
        </p:txBody>
      </p:sp>
      <p:sp>
        <p:nvSpPr>
          <p:cNvPr id="11" name="Shape 9"/>
          <p:cNvSpPr/>
          <p:nvPr/>
        </p:nvSpPr>
        <p:spPr>
          <a:xfrm>
            <a:off x="548640" y="46870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80636"/>
            <a:ext cx="10710367"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Domande frequenti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sostenere la teoria prima di aver superato la pratica? Sì: il risultato della prova intercorso vale per un anno accademico, ma si verbalizza solo dopo aver superato la parte pratica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prenotare l'appello di teoria senza la prova pratica? Sì, il caso è lo stesso</a:t>
            </a:r>
            <a:endParaRPr lang="en-US" sz="2200" dirty="0"/>
          </a:p>
        </p:txBody>
      </p:sp>
      <p:sp>
        <p:nvSpPr>
          <p:cNvPr id="13" name="Shape 11"/>
          <p:cNvSpPr/>
          <p:nvPr/>
        </p:nvSpPr>
        <p:spPr>
          <a:xfrm>
            <a:off x="7985963" y="91440"/>
            <a:ext cx="3657092" cy="274320"/>
          </a:xfrm>
          <a:prstGeom prst="rect">
            <a:avLst/>
          </a:prstGeom>
          <a:solidFill>
            <a:srgbClr val="E0F2FE"/>
          </a:solidFill>
          <a:ln w="12700">
            <a:solidFill>
              <a:srgbClr val="0369A1"/>
            </a:solidFill>
            <a:prstDash val="solid"/>
          </a:ln>
        </p:spPr>
      </p:sp>
      <p:sp>
        <p:nvSpPr>
          <p:cNvPr id="14" name="Shape 12"/>
          <p:cNvSpPr/>
          <p:nvPr/>
        </p:nvSpPr>
        <p:spPr>
          <a:xfrm>
            <a:off x="7985963"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6" name="Text 1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Materiale didattico</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sempre condivise su Google Drive; pubblicate periodicamente su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Piattaforma PRG32 e relativo libro (liberi,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Libri di testo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Struttura e progetto dei calcolatori, edizione RISC-V</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Architettura dei calcolatori. Un approccio strutturale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Nel Syllabus anche: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Documentazione ufficiale di RISC-V: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Primo contatto: chi siete?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assemblato da sé il proprio computer? Chi ha già giocato con un Arduino o un ESP32?</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Quanti linguaggi di programmazione conoscete? Qualcuno ha mai letto una riga di assembly?</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Che cosa sono il retrocomputing e il retrogaming? Avete mai visitato un museo dell'informatica?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Concetti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sa dire la differenza tra ROM, RAM e memoria di massa? Che cos'è il cloud computing? E l'Internet delle cose?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sentito parlare di RISC-V? Quale processore c'è nel vostro telefono, nel portatile, nel router?</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Voi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Hobby? Passioni? Passatempi, oltre allo studio?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 corso</dc:title>
  <dc:subject>Lezione 00</dc:subject>
  <dc:creator>Raffaele Montella</dc:creator>
  <cp:lastModifiedBy>Raffaele Montella</cp:lastModifiedBy>
  <cp:revision>1</cp:revision>
  <dcterms:created xsi:type="dcterms:W3CDTF">2026-10-16T20:22:25Z</dcterms:created>
  <dcterms:modified xsi:type="dcterms:W3CDTF">2026-10-16T20:22:25Z</dcterms:modified>
</cp:coreProperties>
</file>