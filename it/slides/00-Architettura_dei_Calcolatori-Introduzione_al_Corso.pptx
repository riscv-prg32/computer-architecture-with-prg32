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2a5efc1e-578e-b136-7e72-c1efaee61c40}">
          <p14:sldIdLst>
            <p14:sldId id="256"/>
            <p14:sldId id="257"/>
            <p14:sldId id="258"/>
          </p14:sldIdLst>
        </p14:section>
        <p14:section name="Un approccio nuovo" id="{7d69bc3e-9e2a-8aaa-2a54-c07e37581059}">
          <p14:sldIdLst>
            <p14:sldId id="259"/>
            <p14:sldId id="260"/>
            <p14:sldId id="261"/>
          </p14:sldIdLst>
        </p14:section>
        <p14:section name="PRG32 e RISC-V" id="{121aa893-1d58-2eff-d09d-be34c55a586b}">
          <p14:sldIdLst>
            <p14:sldId id="262"/>
            <p14:sldId id="263"/>
            <p14:sldId id="264"/>
            <p14:sldId id="265"/>
          </p14:sldIdLst>
        </p14:section>
        <p14:section name="Il progetto del corso: Verm1" id="{ba82b730-6e71-e567-3d7c-b267c8bce050}">
          <p14:sldIdLst>
            <p14:sldId id="266"/>
            <p14:sldId id="267"/>
            <p14:sldId id="268"/>
          </p14:sldIdLst>
        </p14:section>
        <p14:section name="Organizzazione e valutazione" id="{a1ac5313-063d-f10d-cc26-5e9459b0fca6}">
          <p14:sldIdLst>
            <p14:sldId id="269"/>
            <p14:sldId id="270"/>
            <p14:sldId id="271"/>
            <p14:sldId id="272"/>
            <p14:sldId id="273"/>
          </p14:sldIdLst>
        </p14:section>
        <p14:section name="Materiale e primo contatto" id="{c645cba8-d018-1b95-520e-7322226bd49a}">
          <p14:sldIdLst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lezione di apertura del corso. Non insegna un argomento: spiega come funziona il corso, quale macchina programmerete, quale gioco costruirete e come sarete valutati. La citazione da Matrix è una promessa: un calcolatore è un sistema, e un sistema che si può aprire e leggere smette di essere un mistero. Tenete a mente il sottotitolo, prima si programma, poi si formalizza: è il metodo di tutte le lezioni che seguono, e la ragione per cui scriverete assembly prima di incontrare la teoria che lo spiega.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metodo: prima il programma; le regole del corso. DA UTILIZZARE OGGI: il programma completo, gli strumenti di PRG32 (si usa, non si studia, in questo corso). DA COMPRENDERE PIÙ AVANTI: i componenti di PRG32 (Lezione 01); RISC e un ISA aperto (Lezione 03); il progetto Verm1 (Lezione 07). Una slide senza etichetta è contesto: una storia, un esempio, una domanda, un esercizio.
Per il docente: Lezione di apertura. I dati amministrativi (orario, valutazione) vengono dalla presentazione 2026/27; da quest'anno la prova intercorso è una sola, con dieci domande e due esercizi. Le date ancora indicate come «da definire» vanno inserite prima della lezione.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ha cinque parti: le persone e le ore, l'approccio, la macchina, il progetto e le regole. Seguono le domande che si pone uno studente appena arrivato, nell'ordine in cui le risposte hanno senso: non si possono giudicare le regole prima di sapere che cosa chiede il corso. Se siete impazienti di sentir parlare dell'esame, è l'ultima parte, ed è completa. Usate questo elenco come una mappa mentre ascoltate, e di nuovo quando tornerete sulle slide per cercare qualcosa.
Per il docente: Cinque parti, circa dieci minuti ciascuna. L'ultima è quella su cui gli studenti fanno domande: dire subito che arriva alla fine.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fatti sul corso. Vale 12 CFU e 96 ore, divise a metà tra lezioni (prof. Montella) e laboratorio (prof.ssa Staffa): due docenti, un solo corso, un solo voto. Non ci sono prerequisiti formali, e va preso alla lettera: nessuno presume che abbiate già programmato. Quello che serve è la curiosità di capire come funziona davvero un calcolatore. Annotate subito l'orario di ricevimento e il codice di Teams: le domande fatte presto, nelle prime settimane, sono quelle a cui costa meno rispondere.
Per il docente: Link di Teams dalla presentazione originale: https://teams.microsoft.com/l/channel/19%3Af4f24e8de71f424395ba903febdc4766%40thread.tacv2/General?groupId=09ae05f6-46f6-4441-ab7b-7522f88007d5 . Il codice del team c7rf33g viene dal Syllabus ufficiale e può cambiare: annunciare in aula ogni variazione. Accenture SuperSkills: https://richiediaccesso.uniparthenope.it/reservations?type=J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frase sola, da ricordare. Prima si programma significa che dal primo giorno scrivete istruzioni RISC-V che un processore vero esegue. Poi si formalizza significa che definizioni e teoremi arrivano come risposte: ognuno spiega qualcosa che il vostro programma vi ha già mostrato. L'ordine conta perché una domanda che vi siete posti da soli si ricorda meglio della risposta a una domanda che nessuno vi aveva fatto. Alla teoria non si toglie nulla: c'è tutta, ed è materia d'esame; semplicemente arriva per seconda.
DA COMPRENDERE OGGI: il metodo: prima il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Gli stessi quattro passi si ripetono per ogni argomento. Gioca: scrivete poche istruzioni e le eseguite. Osserva: accade qualcosa che non vi aspettavate del tutto, per esempio un numero che supera lo zero e diventa 0xFFFFFFFF. Formalizza: la lezione dà la regola che lo spiega, in questo caso il complemento a due. Ritorna: tornate alla macchina e prevedete il risultato prima di eseguire il programma. L'ultimo passo è la verifica della comprensione: se la previsione è giusta, conoscete la regola; se è sbagliata, la macchina ve lo dice subito, e senza voto.
DA COMPRENDERE OGGI: il metodo: prima il programma.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Sono gli obiettivi del corso, con le parole del Syllabus ufficiale. Leggeteli come una catena: prima gli aspetti dell'architettura, poi i linguaggi di basso livello con cui si programma una macchina, poi gli strumenti formali con cui un processore è costruito (algebra di Boole, aritmetica binaria), poi la struttura di CPU, memoria e ingresso/uscita, infine il codice assembly che rende visibile tutto questo. L'immagine è Pong su PRG32: un gioco di poche centinaia di istruzioni, che alla fine saprete leggere una per una.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 è una piccola console di gioco che si programma in assembly o in C. Tre idee contano qui. Primo: il vostro codice è vero codice macchina per un processore RISC-V a 32 bit, detto RV32IMAC: viene eseguito, non imitato. Secondo: il contratto con la macchina è fatto di tre funzioni che scrivete voi: init viene eseguita una volta, update e draw una volta per frame, molte volte al secondo. Terzo: un programma finito è una cartuccia, un piccolo file che termina in .prg32. Lo schermo ha 320 per 200 pixel: abbastanza piccolo da poter ragionare su ognuno.
DA COMPRENDERE PIÙ AVANTI: i componenti di PRG32 (si studia nella Lezione 01).
Per il docente: PRG32: https://github.com/riscv-prg32/PRG32 . Libro di testo: https://github.com/riscv-prg32/Playing-with-RISC-V_PRG32_textbook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PRG32-QT è PRG32 sotto forma di applicazione per il vostro portatile: esegue le stesse cartucce senza bisogno della scheda. In modalità debug mostra la macchina mentre il gioco gira: potete mettere in pausa, eseguire un'istruzione alla volta, fermarvi a un breakpoint, leggere i 32 registri e 128 byte di memoria a un indirizzo qualsiasi, e rallentare il programma fino a un centesimo della sua velocità. Nell'immagine il gioco è a sinistra e la macchina a destra. Prendete l'ultima riga come una definizione: un programma è capito quando sapete dire che cosa conterrà ogni registro prima di premere Step.
DA COMPRENDERE PIÙ AVANTI: i componenti di PRG32 (si studia nella Lezione 01).
Per il docente: Settings, Run cartridges in RISC-V debug mode. La Lezione 01 lo installa; la stessa cartuccia gira anche sul kit e sull'emulatore QEMU, e la Lezione 01 confronta i tre. Il debugger si usa dalla Lezione 02 e in modo sistematico nei tutorial di Verm1: ognuno ha una sezione di debug con una procedura precisa.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ragioni per RISC-V. È aperto: l'insieme delle istruzioni è uno standard pubblico, e chiunque può costruire un processore che lo realizza. È piccolo: circa quaranta istruzioni di base e trentadue registri, una quantità che un semestre copre per intero. È vero: sono le istruzioni di miliardi di chip in commercio, non un giocattolo didattico. Ed è strategico per l'Europa, che vi costruisce sopra i propri processori. La seconda ragione è quella che sentirete di più: conoscerete tutto l'insieme di base, non una selezione.
DA COMPRENDERE PIÙ AVANTI: RISC e un ISA aperto (si studia nella Lezione 03).
Per il docente: DARE: Digital Autonomy with RISC-V in Europe, progetto della EuroHPC Joint Undertaking. Per l'argomentazione completa e le fonti si veda il capitolo 1 del libro di PRG32.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tabella è il corso in una pagina. La colonna di sinistra elenca gli argomenti formali; quella di destra dice dove incontrate ciascuno per la prima volta, sulla macchina. Il complemento a due compare come una posizione che va a sinistra oltre lo zero; l'algebra di Boole come il test di un pulsante; le reti sequenziali come un contatore che sopravvive da un frame al successivo. Tornate a questa slide all'inizio di ogni blocco: vi dice quale esperienza sta per essere spiegata dalla teoria in arrivo, ed è una buona lista di controllo per il ripasso.
Per il docente: Questa tabella è il corso in una slide. Riprenderla all'inizio di ogni blocco.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gioco è Verm1, si legge "vermone": un omaggio a Snake. Un verme si muove su una griglia, mangia, cresce e non deve mordersi. Le regole stanno in una frase, eppure il programma richiede quasi tutto ciò che il corso insegna: i numeri per le posizioni, la logica per i pulsanti, la memoria per il corpo, chiamate e divisione per il punteggio. Scrivete ogni riga voi; dietro non c'è alcun motore di gioco, soltanto le poche chiamate di PRG32 che disegnano un rettangolo, leggono i pulsanti o suonano una nota. Alla fine il gioco porta il vostro nome.
DA COMPRENDERE PIÙ AVANTI: il progetto Verm1 (si studia nella Lezione 07).
Per il docente: Il progetto è il filo del corso: ogni parte usa esattamente ciò che le quattro lezioni precedenti hanno insegnato. L'implementazione di riferimento di Verm1 è un contributo di Giuseppe Coviello; i sorgenti sono nella cartella verm1 del materiale del corso e sono compilati e giocati automaticamente dai 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ha quattro parti e una pubblicazione, e ogni parte viene dopo il blocco di lezioni che utilizza. La Parte 1 (Lezione 07) usa i numeri: una griglia e una testa che si muove. La Parte 2 (Lezione 12) usa la logica: la guida, il cibo e un punteggio. La Parte 3 (Lezione 17) usa stato e memoria: un corpo, le collisioni e tre schermate. La Parte 4 (Lezione 22) usa la macchina: cifre, livelli e disegno veloce. La Lezione 23 impacchetta il gioco per lo Store. La didascalia enuncia la regola che vi interessa di più: ogni parte finisce con un gioco che funziona.
DA COMPRENDERE PIÙ AVANTI: il progetto Verm1 (si studia nella Lezione 07).
Per il docente: Una presentazione su cinque è un tutorial. I numeri sono quelli delle lezioni: 07, 12, 17 e 22 per le quattro parti, 23 per la pubblicazione.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calendario del corso, a blocchi. Dopo tre lezioni di avvio ci sono quattro blocchi di quattro lezioni: Informazione (che cosa significa un bit), Logica (come i bit si combinano), Stato e memoria (come i bit si ricordano) e La macchina (il processore e i suoi dispositivi). Dopo ogni blocco viene una parte di Verm1. La Lezione 23 pubblica il gioco e la Lezione 24 guarda a macchine più grandi. I numeri delle lezioni su questa slide sono quelli usati ovunque nel materiale: quando una slide dice «Lezione 13», questa è la tabella che vi dice dove si trova.
Per il docente: L'ordine è scelto per l'apprendimento: prima che cosa significa un bit, poi come i bit si combinano, poi come si ricordano, poi la macchina che fa le tre cose; il processore viene prima dei dispositivi che pilota. Dopo ogni blocco il progetto lo mette in pratica. L'ultima lezione è uno sguardo in avanti, prima della visita ai sistemi di calcolo del Dipartimento.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incontri a settimana da settembre a dicembre, tutti in Aula 1: lunedì pomeriggio e mercoledì mattina con il prof. Montella, martedì e venerdì mattina con la prof.ssa Staffa. Lezioni e laboratorio non si alternano sempre in modo rigido: un calendario interno, condiviso con la classe, dà la distribuzione effettiva settimana per settimana. Consultate quel calendario, e non solo questa tabella, prima di decidere quale materiale preparare per un certo giorno.
DA COMPRENDERE OGGI: le regole del corso.
Per il docente: Condivideremo un calendario interno con la distribuzione effettiva di lezioni e laboratori.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prova intercorso è una sola: dieci domande a risposta multipla e due esercizi, su carta, in circa 45 minuti. Portate un documento d'identità e una penna, e dovete conoscere l'indirizzo e-mail istituzionale e la matricola. La prova misura due cose insieme: come state andando voi, e come sta andando il corso. La preparazione migliore è già dentro le lezioni: ognuna finisce con domande esattamente di questo tipo. Rispondere settimana per settimana costa pochi minuti; lasciarle tutte alla sera prima non funziona.
DA COMPRENDERE OGGI: le regole del corso.
Per il docente: Una sola prova intercorso dal 2026/27 (erano due). La data è da definire: inserirla. Il peso della prova si decide dopo aver valutato il comportamento corretto degli studenti in aula. Le regole di prenotazione non sono sulla slide: dirle in aula, se ci sono.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regola per la prova intercorso e per l'esame è breve: nessun dispositivo e nessun aiuto, umano o artificiale, di alcun tipo. Sono compresi ChatGPT, gli altri modelli linguistici e ogni forma di IA generativa. Chi copia vede annullata subito la propria prova. La regola non nasce da ostilità verso la tecnologia, che in questo corso userete ogni giorno: discende da ciò a cui serve la prova. Una prova misura ciò che sapete voi; una risposta prodotta da qualcos'altro non misura nulla e non aiuta nessuno, voi per primi.
DA COMPRENDERE OGGI: le regole del corso.
Per il docente: Se per comportamento inadeguato si devono annullare più di due prove, l'intera prova intercorso è annullata per tutti.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L'esame ha due parti e vanno superate entrambe: la teoria, un orale con domande su tutto il programma, alcune delle quali richiedono uno schema o un calcolo alla lavagna; e la pratica, l'esame di laboratorio con la prof.ssa Staffa. Ciascuna vale metà, e il voto finale è la media delle due. Notate che l'orale può anche abbassare il voto ottenuto nella prova intercorso: la prova è un risultato vero, non una garanzia. Come la prova intercorso entra nel voto di teoria viene spiegato in aula.
DA COMPRENDERE OGGI: le regole del corso.
Per il docente: I risultati della prova intercorso e dell'esame valgono per l'anno accademico in corso. Il Syllabus ufficiale descrive la parte scritta come esercizi di analisi e sintesi di reti logiche e di sviluppo in assembly RISC-V su PRG32. Come la prova intercorso entra nel voto di teoria si dice in aula: la slide non dà una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 verbalizzare il voto finale serve un risultato positivo in entrambe le parti, e la verbalizzazione avviene solo durante un appello di teoria; l'esame di laboratorio è di solito una settimana prima. Prenotate entrambi su Esse3. Le due domande frequenti hanno la stessa risposta: sì, si può sostenere la teoria prima della pratica, e il risultato vale per l'anno accademico, ma non si verbalizza nulla finché non sono superate tutte e due le parti. Pianificate i due esami insieme, non uno alla volta.
DA COMPRENDERE OGGI: le regole del corso.
Per il docente: Nella presentazione originale le date degli appelli erano vuote: aggiungerle quando sono pubblicate.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materiale ha quattro fonti. Le slide stanno in una cartella Google Drive condivisa e sono pubblicate sul portale e-learning. PRG32 e il suo libro, Playing with RISC-V, sono liberi e open source su GitHub. I libri di testo di riferimento sono Patterson e Hennessy, nell'edizione RISC-V, e Tanenbaum e Austin; entrambi esistono in italiano. La documentazione ufficiale di RISC-V è su riscv.org. Non occorre comprare tutto il primo giorno: cominciate con le slide e con il materiale di PRG32, e scegliete un libro quando iniziano gli argomenti formali.
Per il docente: Cartella Drive: https://drive.google.com/drive/folders/15Kdu8XYbQQVP0ieuZA5OIEmoKqDjQ-eR?usp=sharing . E-learning: https://elearning.uniparthenope.it/course/view.php?id=107 . Edizioni originali: Patterson, Hennessy, Computer Organization and Design, RISC-V Edition (Morgan Kaufmann); Tanenbaum, Austin, Structured Computer Organization (Pearson). Edizioni italiane: Zanichelli e Pearson.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gruppi di domande per rompere il ghiaccio: hardware, software, cultura, concetti, RISC-V e voi stessi. Non ci sono risposte giuste, e nessuno viene valutato. Lo scopo è pratico: le risposte dicono al docente quanto si può dare per scontato nelle prime settimane. Se non avete mai assemblato un computer né letto una riga di assembly, siete nella maggioranza e nel posto giusto; se l'avete fatto, potrete aiutare chi vi siede accanto.
Stato di apprendimento, riepilogo. DA COMPRENDERE OGGI: il metodo: prima il programma; le regole del corso. DA UTILIZZARE OGGI: il programma completo, gli strumenti di PRG32 (si usa, non si studia, in questo corso). DA COMPRENDERE PIÙ AVANTI: i componenti di PRG32 (Lezione 01); RISC e un ISA aperto (Lezione 03); il progetto Verm1 (Lezione 07). Una slide senza etichetta è contesto: una storia, un esempio, una domanda, un esercizio.
Per il docente: Per rompere il ghiaccio. Rapido; annotare le risposte: dicono a che velocità può andare la Lezione 02.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00: Introduzione al corso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Introduzione al corso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dei Calcolatori e Laboratorio (ARC12): prima si programma, poi si formalizza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“Matrix è un sistema, Neo. E quel sistema è nostro nemico.”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Matrix, Lana e Lilly Wachowski, 1999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00-Architettura_dei_Calcolatori-Introduzione_al_Corso-Codice.pptx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Oggi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siamo, e come sono organizzate le 96 ore del corso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46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636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L'approccio: prima programmate, poi formalizziamo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macchina: PRG32, RISC-V e il debugger che userete ogni settimana; la prossima volta li installiamo insieme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97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141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progetto: Verm1, un gioco che scrivete partendo da un file vuoto e che pubblicate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regole: orario, prova intercorso, esame, materiale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corso in breve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dei Calcolatori e Laboratorio di Architettura dei Calcolatori (ARC12). Primo anno, primo semestre, Corso di Laurea in Informatica.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Docenti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 Montella: lezioni, 6 CFU.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Mariacarla Staffa: laboratorio, 6 CFU.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Crediti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CFU, 96 ore.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Settore scientifico: INFO-01/A (Informatica).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Ricevimento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Stanza 420, martedì 14:00-16:00, su appuntamento. Anche su Microsoft Teams (codice del team: c7rf33g).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Crediti aggiuntivi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Accenture SuperSkills! dà 2 CFU come ulteriori conoscenze: richiediaccesso.uniparthenope.it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Prerequisiti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Nessuno. L'unico vero prerequisito è la passione per l'informatica e per le tecnologie che la rendono possibile.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 si programma. Poi si formalizza.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 primo giorno scrivete assembly RISC-V che gira su un processore vero. Ogni argomento formale risponde poi a una domanda che il vostro stesso programma ha già sollevato.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29373" y="91440"/>
            <a:ext cx="431368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2937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7389" y="128016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713421" y="91440"/>
            <a:ext cx="3893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metodo: prima il programma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spirale dell'apprendimento, ripetuta per ogni argomento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poche istruzioni, compilate una cartuccia, eseguitela su PRG32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093644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13684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50844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Osserva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3550844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Qualcosa accade: un numero fa il giro, un bit accende una lampada, un rettangolo si muove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958688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278728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15888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Formalizza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6415888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Definizioni, teoremi e metodi spiegano esattamente perché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823731" y="2962656"/>
            <a:ext cx="274320" cy="292608"/>
          </a:xfrm>
          <a:prstGeom prst="rightArrow">
            <a:avLst/>
          </a:prstGeom>
          <a:solidFill>
            <a:srgbClr val="5B6B78"/>
          </a:solidFill>
          <a:ln w="12700">
            <a:solidFill>
              <a:srgbClr val="5B6B7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3771" y="1874520"/>
            <a:ext cx="2499284" cy="2468880"/>
          </a:xfrm>
          <a:prstGeom prst="roundRect">
            <a:avLst>
              <a:gd name="adj" fmla="val 296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80931" y="2057400"/>
            <a:ext cx="2224964" cy="685800"/>
          </a:xfrm>
          <a:prstGeom prst="roundRect">
            <a:avLst>
              <a:gd name="adj" fmla="val 10667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Ritorna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9280931" y="2880360"/>
            <a:ext cx="222496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nuovo sulla macchina: prevedete il risultato prima di eseguire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470916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800600"/>
            <a:ext cx="1054577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voto è un'opinione; una racchetta che esce dallo schermo è un fatto. Useremo i fatti, e poi li spiegheremo.</a:t>
            </a:r>
            <a:endParaRPr lang="en-US" sz="2000" dirty="0"/>
          </a:p>
        </p:txBody>
      </p:sp>
      <p:sp>
        <p:nvSpPr>
          <p:cNvPr id="20" name="Shape 18"/>
          <p:cNvSpPr/>
          <p:nvPr/>
        </p:nvSpPr>
        <p:spPr>
          <a:xfrm>
            <a:off x="7329373" y="91440"/>
            <a:ext cx="431368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2937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7389" y="128016"/>
            <a:ext cx="201168" cy="2011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7713421" y="91440"/>
            <a:ext cx="38930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metodo: prima il programma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Gli obiettivi del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Presentare gli aspetti fondamentali dell'architettura dei calcolatori moderni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21773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50047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Usare, in laboratorio, i concetti di base per programmarli in modo efficiente con linguaggi di basso livello: linguaggio macchina e assembly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2138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6171"/>
            <a:ext cx="6565392" cy="103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Trattare con rigore gli strumenti con cui il processore è costruito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algebra di Boole e sintesi di reti logiche combinatorie e sequenziali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rappresentazione binaria e aritmetica binaria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445357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85882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in dettaglio la struttura funzionale e fisica della CPU, della memoria e del sottosistema di ingresso/uscita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54496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382006"/>
            <a:ext cx="6565392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Sviluppare codice assembly che renda visibile come funziona davvero un processore e come interagiscono le unità di base di un calcolatore</a:t>
            </a:r>
            <a:endParaRPr lang="en-US" sz="1700" dirty="0"/>
          </a:p>
        </p:txBody>
      </p:sp>
      <p:pic>
        <p:nvPicPr>
          <p:cNvPr id="13" name="Image 0" descr="/Users/raffaelemontella/devel/riscv-prg32/computer-architecture-with-prg32/tools/assets/game_p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Pong in esecuzione su PRG32: codice macchina RISC-V nativo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PRG32: una console rétro da programmare in assembly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ambiente didattico open source per insegnare l'assembly RISC-V e il C, sviluppato alla Parthenope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17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8558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vostro codice gira in modo nativo come codice macchina RISC-V a 32 bit (RV32IMAC): non è interpretato da un simulatore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3173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34182"/>
            <a:ext cx="6565392" cy="11211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contratto volutamente sottile: tre funzioni che scrivete voi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init viene eseguita una volta; update e draw una volta per frame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61098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27804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giochi viaggiano come piccole cartucce: file con estensione .prg32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Un'area di 320 per 200 pixel, un joystick, il suono: abbastanza piccola da tenerla tutta in mente, abbastanza ricca da esercitare l'intero corso</a:t>
            </a:r>
            <a:endParaRPr lang="en-US" sz="1900" dirty="0"/>
          </a:p>
        </p:txBody>
      </p:sp>
      <p:pic>
        <p:nvPicPr>
          <p:cNvPr id="13" name="Image 0" descr="/Users/raffaelemontella/devel/riscv-prg32/computer-architecture-with-prg32/tools/assets/menu_m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148954"/>
            <a:ext cx="3779215" cy="283441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del firmware residente di PRG32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372428" y="91440"/>
            <a:ext cx="5270627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6399860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399860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99860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444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6756476" y="91440"/>
            <a:ext cx="4850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PRG32-QT: il debugger del 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9275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è PRG32 sul vostro portatile: esegue le stesse cartucce, senza scheda e senza compilatore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48666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11222"/>
            <a:ext cx="5468112" cy="2052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modalità debug apre la macchina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pausa, ripresa, un'istruzione alla volta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breakpoint su qualunque istruzione di init, update o draw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 32 registri e 128 byte di memoria a qualunque indirizzo</a:t>
            </a:r>
            <a:endParaRPr lang="en-US" sz="1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velocità da 0,01x a 4x, e contatori: frame, istruzioni, frame in ritardo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6959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620514"/>
            <a:ext cx="54681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userete in ogni lezione: per verificare una previsione, per trovare un errore, per misurare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541096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335524"/>
            <a:ext cx="5468112" cy="8366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programma è capito quando sapete dire che cosa conterrà ogni registro prima di premere Step</a:t>
            </a:r>
            <a:endParaRPr lang="en-US" sz="1800" dirty="0"/>
          </a:p>
        </p:txBody>
      </p:sp>
      <p:pic>
        <p:nvPicPr>
          <p:cNvPr id="11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1882245"/>
            <a:ext cx="4876495" cy="3367829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in modalità debug: a sinistra il gioco, a destra la macchina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372428" y="91440"/>
            <a:ext cx="5270627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4" name="Shape 11"/>
          <p:cNvSpPr/>
          <p:nvPr/>
        </p:nvSpPr>
        <p:spPr>
          <a:xfrm>
            <a:off x="6399860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399860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399860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0444" y="128016"/>
            <a:ext cx="201168" cy="2011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6756476" y="91440"/>
            <a:ext cx="485000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componenti di PRG32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RISC-V?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Aperto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un insieme di istruzioni a standard aperto: chiunque può progettare, costruire e vendere un processore RISC-V senza pagare licenze per l'architettura.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L'insieme di base delle istruzioni intere ha circa quaranta istruzioni e trentadue registri. Si impara tutto in un semestre.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Vero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addi, lw, sw e beqz non sono un dialetto didattico. L'industria produce miliardi di core RISC-V che eseguono esattamente queste istruzioni.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Europeo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L'Europa considera RISC-V una leva di sovranità tecnologica: il Chips Act e progetti come DARE vi costruiscono sopra i propri processori.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6438087" y="91440"/>
            <a:ext cx="520496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6551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6551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6551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66103" y="128016"/>
            <a:ext cx="201168" cy="201168"/>
          </a:xfrm>
          <a:prstGeom prst="rect">
            <a:avLst/>
          </a:prstGeom>
        </p:spPr>
      </p:pic>
      <p:sp>
        <p:nvSpPr>
          <p:cNvPr id="24" name="Text 21"/>
          <p:cNvSpPr txBox="1"/>
          <p:nvPr/>
        </p:nvSpPr>
        <p:spPr>
          <a:xfrm>
            <a:off x="6822135" y="91440"/>
            <a:ext cx="4784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RISC e un ISA aperto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03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mappa: ogni argomento si incontra due volte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4183140"/>
                <a:gridCol w="69112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Argomento formale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 incontrate prima su PRG32 come...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Notazione posizionale, esadecimale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colore 0x07E0 e il valore mostrato dal debugger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 a due, overflow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posizione che va a sinistra oltre lo zero e mostra 0xFFFFFFFF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fissa e virgola mobile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palla che si muove di 0,375 pixel per frame su un chip senza FPU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 di Boole, maschere di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andi t3, t0, 1 per sapere se LEFT è premuto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Elettronica, porte logiche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pulsante che collega a massa un piedino del chip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 combinatorie, addizionatori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fa davvero add a trentadue bit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 sequenziali, registri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contatore che sopravvive da un frame al successivo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CPU, datapath, ciclo dell'istruzione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l'esecuzione di una singola istruzione in PRG32-QT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e ingresso/uscita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lw e sw, lo stack, il joystick e il display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Verm1: il vostro gioco, da un file vuoto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Verm1, si legge "vermone": un omaggio a Snake, il gioco di Blockade (1976) e dei telefoni Nokia (1997)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verme si muove su una griglia, mangia, cresce, e non deve mordersi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ogni riga, in assembly RISC-V: nessun motore, nessuna libreria oltre alle chiamate di PRG32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Abbastanza piccolo per uno studente del primo anno, abbastanza ricco da richiedere ogni argomento del corso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 fine è pronto per il Cartridge Store, con il vostro nome sopra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 corso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35064" y="91440"/>
            <a:ext cx="5007991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6662496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662496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62496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080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7019112" y="91440"/>
            <a:ext cx="45873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parti e una pubblicazione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596923"/>
                <a:gridCol w="2437409"/>
                <a:gridCol w="4202430"/>
                <a:gridCol w="28576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 il blocco su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Verm1 acquista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 Parte 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informazione e numeri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griglia, una testa che si muove, un mondo senza bordi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colori, scorrimenti, virgola fissa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 Parte 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 e circuiti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guida, il cibo, un punteggio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maschere, XOR, tabelle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Parte 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e memoria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corpo che cresce, le collisioni, tre schermate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macchina a stati, vettori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 Parte 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macchina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cifre, livelli, suono, disegno veloce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chiamate, divisione, frame buffer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 Lo Store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tutto il corso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nome, un'icona, i crediti, un bundle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strumenti di PRG32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parte finisce con un gioco che funziona. Non tornate mai a casa con un programma rotto.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6635064" y="91440"/>
            <a:ext cx="5007991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6662496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662496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662496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3080" y="128016"/>
            <a:ext cx="201168" cy="2011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019112" y="91440"/>
            <a:ext cx="458736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progetto Verm1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07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corso a blocchi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17166"/>
                <a:gridCol w="6639839"/>
                <a:gridCol w="243740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Blocco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 Introduzione, 01 PRG32 e PRG32-QT: installazione, 02 Primo contatto con RISC-V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03 Storia, 04 Informazione digitale, 05 Interi, 06 Reali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Verm1, parte 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08 e 09 Algebra di Boole, 10 Elettronica, 11 Macchine combinatorie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Verm1, parte 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e memoria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 Macchine sequenziali, 14 Registri e bus, 15 Memoria, 16 Memoria permanente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Verm1, parte 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macchina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Processore, 19 Istruzioni e interruzioni, 20 Scheda video, 21 Ingresso e uscita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Verm1, parte 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Pubblicazione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Verm1 sul Cartridge Store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Prospettive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Oltre il singolo core: RISC-V superscalare, HPC, GPU e FPGA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visita ai sistemi di calcolo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Orario: da settembre a dicembre 2026</a:t>
            </a:r>
            <a:endParaRPr lang="en-US" sz="3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Giorno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14:00 - 16:00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Mercoledì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Montella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Venerdì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09:00 - 11:00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Aula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Staffa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Sarà condiviso un calendario interno con la distribuzione effettiva di lezioni e laboratori.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regole del corso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prova intercorso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Risposta multipla, dieci domande, più due esercizi: circa 45 minuti, in presenza e su carta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6174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8558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Lunedì, data da definire, 14:00-16:00, Aula 1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Gli studenti potranno essere divisi in gruppi e la prova svolta a turni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26097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77794"/>
            <a:ext cx="6565392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Portate un documento d'identità e una penna; dovete conoscere la vostra e-mail istituzionale e la matricola (chi è in trasferimento e non l'ha ancora è giustificato)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61098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27804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prova valuta entrambe le parti, voi e noi: ci serve per sapere dove stiamo andando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656539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lezione finisce con domande dello stesso tipo: la preparazione migliore è rispondere settimana per settimana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+ 2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a risposta multipla più due esercizi, su carta, in circa 45 minuti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regole del corso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Niente tecnologia. Niente GPT.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prova intercorso e l'esame sono #nogpt. Nessun aiuto tecnologico o umano di alcun tipo: niente dispositivi, niente ChatGPT o altri LLM, niente IA generativa. Chi copia vede annullata subito la propria prova; comportamenti più gravi hanno conseguenze più gravi.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regole del corso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Valutazione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2443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L'esame ha due parti e vanno superate entrambe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Teoria (50%): orale, con domande estemporanee su tutto il programma; alcune risposte richiedono uno schema o un calcolo alla lavagna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Pratica (50%): l'esame di laboratorio con la prof.ssa Staffa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439483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4272915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L'orale può anche abbassare il voto ottenuto nella prova intercorso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Voto finale = media del voto di teoria e del voto di pratica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+ 50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teoria e pratica: due parti, da superare entrambe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regole del corso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Appelli e verbalizzazione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verbalizzare serve un voto positivo sia in teoria sia in pratica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22935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22932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verbalizzazione avviene solo durante un appello di teoria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93497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82854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L'esame di laboratorio con la prof.ssa Staffa è di solito una settimana prima dell'appello di teoria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398145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87502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Prenotate entrambi gli appelli su uniparthenope.esse3.cineca.it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468706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80636"/>
            <a:ext cx="10710367" cy="15915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Domande frequenti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Posso sostenere la teoria prima di aver superato la pratica? Sì: il risultato della prova intercorso vale per un anno accademico, ma si verbalizza solo dopo aver superato la parte pratica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Posso prenotare l'appello di teoria senza la prova pratica? Sì, il caso è lo stesso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regole del corso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Materiale didattico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059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sempre condivise su Google Drive; pubblicate periodicamente su elearning.uniparthenope.it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74675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24836"/>
            <a:ext cx="10710367" cy="1095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Piattaforma PRG32 e relativo libro (liberi, open source)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github.com/riscv-prg32/PRG32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Playing with RISC-V: Assembly, C, and Retro Games on the PRG32 Platform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99084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868928"/>
            <a:ext cx="10710367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Libri di testo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Tanenbaum, Austin: Architettura dei calcolatori. Un approccio strutturale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Nel Syllabus anche: Stallings, Computer Organization and Architecture; Bucci, Architettura dei calcolatori elettronici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92226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80034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Documentazione ufficiale di RISC-V: riscv.org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Primo contatto: chi siete?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assemblato da sé il proprio computer? Chi ha già giocato con un Arduino o un ESP32?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8218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6681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115458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4612538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 linguaggi di programmazione conoscete? Qualcuno ha mai letto una riga di assembly?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27797" y="14173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56397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05037" y="16002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Cultura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3317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sono il retrocomputing e il retrogaming? Avete mai visitato un museo dell'informatica?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Concetti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22960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sa dire la differenza tra ROM, RAM e memoria di massa? Che cos'è il cloud computing? E l'Internet delle cose?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8218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6681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115458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4612538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 ha sentito parlare di RISC-V? Quale processore c'è nel vostro telefono, nel portatile, nel router?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27797" y="3931920"/>
            <a:ext cx="351525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8905037" y="4114800"/>
            <a:ext cx="2509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</a:t>
            </a:r>
            <a:endParaRPr lang="en-US" sz="2000" dirty="0"/>
          </a:p>
        </p:txBody>
      </p:sp>
      <p:sp>
        <p:nvSpPr>
          <p:cNvPr id="26" name="Text 24"/>
          <p:cNvSpPr txBox="1"/>
          <p:nvPr/>
        </p:nvSpPr>
        <p:spPr>
          <a:xfrm>
            <a:off x="8402117" y="4846320"/>
            <a:ext cx="296661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Hobby? Passioni? Passatempi, oltre allo studio?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Introduzione al corso</dc:title>
  <dc:subject>Lezione 00</dc:subject>
  <dc:creator>Raffaele Montella</dc:creator>
  <cp:lastModifiedBy>Raffaele Montella</cp:lastModifiedBy>
  <cp:revision>1</cp:revision>
  <dcterms:created xsi:type="dcterms:W3CDTF">2026-10-16T15:51:38Z</dcterms:created>
  <dcterms:modified xsi:type="dcterms:W3CDTF">2026-10-16T15:51:38Z</dcterms:modified>
</cp:coreProperties>
</file>