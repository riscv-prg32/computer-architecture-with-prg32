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5efb438e-5dc8-bc24-3319-7e9d05df4c60}">
          <p14:sldIdLst>
            <p14:sldId id="256"/>
            <p14:sldId id="257"/>
            <p14:sldId id="258"/>
            <p14:sldId id="259"/>
          </p14:sldIdLst>
        </p14:section>
        <p14:section name="Un approccio nuovo" id="{cd9ad19a-c420-fdcf-6567-196d481f27dd}">
          <p14:sldIdLst>
            <p14:sldId id="260"/>
            <p14:sldId id="261"/>
            <p14:sldId id="262"/>
            <p14:sldId id="263"/>
          </p14:sldIdLst>
        </p14:section>
        <p14:section name="PRG32 e RISC-V" id="{6a3e1121-cc6e-9db6-1f59-fdbf468ec18b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Il progetto del corso: Verm1" id="{1c7bb65a-e8ac-eaeb-b103-4ecc1e30cb43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Programma e risultati di apprendimento" id="{e06c0f37-9ec4-48ac-80f7-2af8fa803506}">
          <p14:sldIdLst>
            <p14:sldId id="277"/>
            <p14:sldId id="278"/>
            <p14:sldId id="279"/>
          </p14:sldIdLst>
        </p14:section>
        <p14:section name="Organizzazione e valutazione" id="{0a4e6226-5410-d14d-97c5-6765c326822e}">
          <p14:sldIdLst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Materiale e primo contatto" id="{df5816e6-26eb-ff48-1683-7e6e57cf106e}">
          <p14:sldIdLst>
            <p14:sldId id="288"/>
            <p14:sldId id="289"/>
            <p14:sldId id="290"/>
            <p14:sldId id="291"/>
            <p14:sldId id="292"/>
            <p14:sldId id="293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lezione di apertura del corso. Non insegna un argomento: spiega come funziona il corso, quale macchina programmerete, quale gioco costruirete e come sarete valutati. La citazione da Matrix è una promessa: un calcolatore è un sistema, e un sistema che si può aprire e leggere smette di essere un mistero. Tenete a mente il sottotitolo, prima si programma, poi si formalizza: è il metodo di tutte le lezioni che seguono, e la ragione per cui scriverete assembly prima di incontrare la teoria che lo spiega.
Per il docente: Lezione di apertura. I dati amministrativi (orario, valutazione) vengono dalla presentazione 2026/27; da quest'anno la prova intercorso è una sola, con dieci domande e due esercizi. Le date ancora indicate come «da definire» vanno inserite prima della lezione.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lezione ha cinque parti: le persone e le ore, l'approccio, la macchina, il progetto e le regole. Seguono le domande che si pone uno studente appena arrivato, nell'ordine in cui le risposte hanno senso: non si possono giudicare le regole prima di sapere che cosa chiede il corso. Se siete impazienti di sentir parlare dell'esame, è l'ultima parte, ed è completa. Usate questo elenco come una mappa mentre ascoltate, e di nuovo quando tornerete sulle slide per cercare qualcosa.
Per il docente: Cinque parti, circa dieci minuti ciascuna. L'ultima è quella su cui gli studenti fanno domande: dire subito che arriva alla 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 fatti sul corso. Vale 12 CFU e 96 ore, divise a metà tra lezioni (prof. Montella) e laboratorio (prof.ssa Staffa): due docenti, un solo corso, un solo voto. Non ci sono prerequisiti formali, e va preso alla lettera: nessuno presume che abbiate già programmato. Quello che serve è la curiosità di capire come funziona davvero un calcolatore. Annotate subito l'orario di ricevimento e il codice di Teams: le domande fatte presto, nelle prime settimane, sono quelle a cui costa meno rispondere.
Per il docente: Link di Teams dalla presentazione originale: https://teams.microsoft.com/l/channel/19%3Af4f24e8de71f424395ba903febdc4766%40thread.tacv2/General?groupId=09ae05f6-46f6-4441-ab7b-7522f88007d5 . Il codice del team c7rf33g viene dal Syllabus ufficiale e può cambiare: annunciare in aula ogni variazione. Accenture SuperSkills: https://richiediaccesso.uniparthenope.it/reservations?type=J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due colonne sono le due metà del corso, e sono progettate per incontrarsi. A lezione ogni argomento si apre con un programma che gira, viene poi formalizzato, e si chiude con domande nello stile della prova intercorso; ogni quattro lezioni un tutorial aggiunge una parte al gioco del corso. In laboratorio vi esercitate su conversioni, circuiti logici e assembly RISC-V, e sviluppate il vostro progetto. Leggete insieme l'ultima riga di ciascuna colonna: il tutorial vi dà il gioco, il laboratorio lo rende vostro.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sezione spiega l'idea che dà forma a tutto il corso. In un corso tradizionale si studiano per settimane sistemi di numerazione, algebra di Boole e circuiti prima di vedere un processore eseguire qualcosa. Qui l'ordine è rovesciato: scrivete assembly fin dai primi giorni, e la teoria arriva quando avete già qualcosa da spiegare. Le prossime slide dicono perché funziona e che cosa vi chiede.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frase sola, da ricordare. Prima si programma significa che dal primo giorno scrivete istruzioni RISC-V che un processore vero esegue. Poi si formalizza significa che definizioni e teoremi arrivano come risposte: ognuno spiega qualcosa che il vostro programma vi ha già mostrato. L'ordine conta perché una domanda che vi siete posti da soli si ricorda meglio della risposta a una domanda che nessuno vi aveva fatto. Alla teoria non si toglie nulla: c'è tutta, ed è materia d'esame; semplicemente arriva per seconda.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Gli stessi quattro passi si ripetono per ogni argomento. Gioca: scrivete poche istruzioni e le eseguite. Osserva: accade qualcosa che non vi aspettavate del tutto, per esempio un numero che supera lo zero e diventa 0xFFFFFFFF. Formalizza: la lezione dà la regola che lo spiega, in questo caso il complemento a due. Ritorna: tornate alla macchina e prevedete il risultato prima di eseguire il programma. L'ultimo passo è la verifica della comprensione: se la previsione è giusta, conoscete la regola; se è sbagliata, la macchina ve lo dice subito, e senza voto.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Sono gli obiettivi del corso, con le parole del Syllabus ufficiale. Leggeteli come una catena: prima gli aspetti dell'architettura, poi i linguaggi di basso livello con cui si programma una macchina, poi gli strumenti formali con cui un processore è costruito (algebra di Boole, aritmetica binaria), poi la struttura di CPU, memoria e ingresso/uscita, infine il codice assembly che rende visibile tutto questo. L'immagine è Pong su PRG32: un gioco di poche centinaia di istruzioni, che alla fine saprete leggere una per 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prossime slide presentano la macchina del corso: PRG32, la piattaforma; PRG32-QT, l'applicazione che la fa girare sul vostro portatile; e RISC-V, la famiglia di processori di cui scriverete le istruzioni. Sono gli strumenti di ogni lezione: conviene capire perché ciascuno è stato scelto prima di installarli nella Lezione 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PRG32 è una piccola console di gioco che si programma in assembly o in C. Tre idee contano qui. Primo: il vostro codice è vero codice macchina per un processore RISC-V a 32 bit, detto RV32IMAC: viene eseguito, non imitato. Secondo: il contratto con la macchina è fatto di tre funzioni che scrivete voi: init viene eseguita una volta, update e draw una volta per frame, molte volte al secondo. Terzo: un programma finito è una cartuccia, un piccolo file che termina in .prg32. Lo schermo ha 320 per 200 pixel: abbastanza piccolo da poter ragionare su ognuno.
Per il docente: PRG32: https://github.com/riscv-prg32/PRG32 . Libro di testo: https://github.com/riscv-prg32/Playing-with-RISC-V_PRG32_textbook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 principi, che riconoscerete in ogni tutorial. La macchina è piccola, quindi niente è nascosto. È vera, quindi ciò che imparate vale su ogni processore RISC-V. È limitata, e i limiti costringono alle buone idee. Si aggiunge una cosa alla volta e si esegue dopo ogni aggiunta, così un errore sta sempre nelle ultime righe scritte. Si guarda dentro con il debugger ogni volta che qualcosa sorprende. E ciò che si finisce, si condivide. Se ne tenete uno solo, tenete il quarto: una cosa alla volta è ciò che rende possibile a un principiante un programma grande.
Per il docente: I principi di progetto sono quelli del libro di PRG32: partire da funzioni che ritornano senza fare nulla; aggiungere una cosa alla volta; update cambia lo stato e draw lo disegna; il suono viene per ultimo. Il corso li segue alla lettera nel progetto.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PRG32 si usa in due modi, che vi chiedono cose diverse. Come palestra propone esercizi con una previsione e una verifica: dite che cosa accadrà, eseguite, e la macchina risponde senza lusinghe e senza voti. Come officina vi dà una cartuccia vuota e vi chiede decisioni: regole, colori, suoni. Il progetto del corso comincia nel primo modo e finisce nel secondo. Molti studenti non si aspettano che un corso di architettura chieda un'idea propria: questo lo fa.
Per il docente: PRG32 non è soltanto il posto dove girano gli esercizi del corso: è un posto dove si costruiscono cose. Insistere sulla seconda colonna: gli studenti del primo anno raramente si aspettano che un corso di architettura chieda loro un'idea.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PRG32-QT è PRG32 sotto forma di applicazione per il vostro portatile: esegue le stesse cartucce senza bisogno della scheda. In modalità debug mostra la macchina mentre il gioco gira: potete mettere in pausa, eseguire un'istruzione alla volta, fermarvi a un breakpoint, leggere i 32 registri e 128 byte di memoria a un indirizzo qualsiasi, e rallentare il programma fino a un centesimo della sua velocità. Nell'immagine il gioco è a sinistra e la macchina a destra. Prendete l'ultima riga come una definizione: un programma è capito quando sapete dire che cosa conterrà ogni registro prima di premere Step.
Per il docente: Settings, Run cartridges in RISC-V debug mode. La Lezione 01 lo installa; la stessa cartuccia gira anche sul kit e sull'emulatore QEMU, e la Lezione 01 confronta i tre. Il debugger si usa dalla Lezione 02 e in modo sistematico nei tutorial di Verm1: ognuno ha una sezione di debug con una procedura precisa.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ragioni per RISC-V. È aperto: l'insieme delle istruzioni è uno standard pubblico, e chiunque può costruire un processore che lo realizza. È piccolo: circa quaranta istruzioni di base e trentadue registri, una quantità che un semestre copre per intero. È vero: sono le istruzioni di miliardi di chip in commercio, non un giocattolo didattico. Ed è strategico per l'Europa, che vi costruisce sopra i propri processori. La seconda ragione è quella che sentirete di più: conoscerete tutto l'insieme di base, non una selezione.
Per il docente: DARE: Digital Autonomy with RISC-V in Europe, progetto della EuroHPC Joint Undertaking. Per l'argomentazione completa e le fonti si veda il capitolo 1 del libro di PRG32.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tabella è il corso in una pagina. La colonna di sinistra elenca gli argomenti formali; quella di destra dice dove incontrate ciascuno per la prima volta, sulla macchina. Il complemento a due compare come una posizione che va a sinistra oltre lo zero; l'algebra di Boole come il test di un pulsante; le reti sequenziali come un contatore che sopravvive da un frame al successivo. Tornate a questa slide all'inizio di ogni blocco: vi dice quale esperienza sta per essere spiegata dalla teoria in arrivo, ed è una buona lista di controllo per il ripasso.
Per il docente: Questa tabella è il corso in una slide. Riprenderla all'inizio di ogni blocco.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corso ha un progetto che dura tutto il semestre: un solo gioco, scritto da un file vuoto in assembly RISC-V, che cresce man mano che le lezioni procedono. Questa sezione presenta il gioco, il modo in cui lo si costruisce e il posto che occupa nel calendario.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gioco è Verm1, si legge "vermone": un omaggio a Snake. Un verme si muove su una griglia, mangia, cresce e non deve mordersi. Le regole stanno in una frase, eppure il programma richiede quasi tutto ciò che il corso insegna: i numeri per le posizioni, la logica per i pulsanti, la memoria per il corpo, chiamate e divisione per il punteggio. Scrivete ogni riga voi; dietro non c'è alcun motore di gioco, soltanto le poche chiamate di PRG32 che disegnano un rettangolo, leggono i pulsanti o suonano una nota. Alla fine il gioco porta il vostro nome.
Per il docente: Il progetto è il filo del corso: ogni parte usa esattamente ciò che le quattro lezioni precedenti hanno insegnato. L'implementazione di riferimento di Verm1 è un contributo di Giuseppe Coviello; i sorgenti sono nella cartella verm1 del materiale del corso e sono compilati e giocati automaticamente dai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progetto ha quattro parti e una pubblicazione, e ogni parte viene dopo il blocco di lezioni che utilizza. La Parte 1 (Lezione 07) usa i numeri: una griglia e una testa che si muove. La Parte 2 (Lezione 12) usa la logica: la guida, il cibo e un punteggio. La Parte 3 (Lezione 17) usa stato e memoria: un corpo, le collisioni e tre schermate. La Parte 4 (Lezione 22) usa la macchina: cifre, livelli e disegno veloce. La Lezione 23 impacchetta il gioco per lo Store. La didascalia enuncia la regola che vi interessa di più: ogni parte finisce con un gioco che funziona.
Per il docente: Una presentazione su cinque è un tutorial. I numeri sono quelli delle lezioni: 07, 12, 17 e 22 per le quattro parti, 23 per la pubblicazione.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schermate dello stesso file in quattro momenti del semestre: un quadrato verde che si muove; un quadrato che insegue il cibo e conta; un verme con un corpo; il gioco finito, con i livelli e il punteggio in cifre. Le immagini non sono state disegnate per la slide: sono prodotte eseguendo i programmi di riferimento con test automatici. Guardatele come il calendario di ciò che avrete scritto, e notate quanto poco cambia sullo schermo a ogni passo rispetto a quanto avrete imparato per farlo accadere.
Per il docente: Schermate prodotte dai programmi di riferimento con i test automatici del materiale del corso.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lezione tutorial ha quattro proprietà. È autosufficiente: le slide mostrano l'intero programma, e ogni riga è indicata come nuova, modificata o invariata, così non dovete mai indovinare che cosa contiene il file. Procede passo per passo, e dopo ogni passo si compila, si esegue e si confronta con un risultato atteso. Comprende una sessione con il debugger, con una cosa precisa da guardare. E finisce con modifiche che spetta a voi fare. Se all'inizio di un tutorial il vostro programma è rotto, ripartite dal file di riferimento della parte precedente: un bug non lascia indietro nessuno.
Per il docente: Se all'inizio di un tutorial il programma di uno studente non funziona, si parte dal file di riferimento della parte precedente: un bug non lascia indietro nessuno.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calendario del corso, a blocchi. Dopo tre lezioni di avvio ci sono quattro blocchi di quattro lezioni: Informazione (che cosa significa un bit), Logica (come i bit si combinano), Stato e memoria (come i bit si ricordano) e La macchina (il processore e i suoi dispositivi). Dopo ogni blocco viene una parte di Verm1. La Lezione 23 pubblica il gioco e la Lezione 24 guarda a macchine più grandi. I numeri delle lezioni su questa slide sono quelli usati ovunque nel materiale: quando una slide dice «Lezione 13», questa è la tabella che vi dice dove si trova.
Per il docente: L'ordine è scelto per l'apprendimento: prima che cosa significa un bit, poi come i bit si combinano, poi come si ricordano, poi la macchina che fa le tre cose; il processore viene prima dei dispositivi che pilota. Dopo ogni blocco il progetto lo mette in pratica. L'ultima lezione è uno sguardo in avanti, prima della visita ai sistemi di calcolo del Dipartimento.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Seguono due slide formali: il programma, cioè che cosa si insegna, e i risultati di apprendimento, cioè che cosa dovrete saper fare alla fine. Sono la descrizione ufficiale del corso, e l'esame è costruito su di esse.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programma in sei riquadri: l'organizzazione di un calcolatore; l'algebra di Boole e le reti logiche; la rappresentazione dei dati; la struttura di CPU, memoria e ingresso/uscita; l'assembly RISC-V; e il progetto. Confrontatelo con la mappa dei blocchi: il contenuto è lo stesso, ordinato qui per materia e là per ordine di apprendimento. Quando preparate l'esame, questa è la lista da spuntare; la versione dettagliata è nel file Syllabus su Esse3 e sul portale e-learning.
Per il docente: Il programma dettagliato è nel file Syllabus disponibile su U-GOV / Esse3 e su https://elearning.uniparthenope.it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risultati di apprendimento dicono che cosa saprete fare, in cinque gradini di autonomia crescente: conoscere il sistema binario, la logica digitale e il funzionamento di un calcolatore; applicare tutto questo a esercizi e programmi assembly; giudicare quale rappresentazione e quale struttura di controllo convengono a un problema; comunicare in un gruppo con i termini tecnici corretti; continuare a imparare da soli su fonti affidabili. Rileggete il primo riquadro: non si presuppongono conoscenze informatiche, quindi ciascuno di questi risultati si raggiunge partendo da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comincia la parte pratica: l'orario, la prova intercorso, l'esame e le regole di comportamento. Sono le slide a cui tornare durante il semestre, quando nasce un dubbio sulle date o su come si forma il voto.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incontri a settimana da settembre a dicembre, tutti in Aula 1: lunedì pomeriggio e mercoledì mattina con il prof. Montella, martedì e venerdì mattina con la prof.ssa Staffa. Lezioni e laboratorio non si alternano sempre in modo rigido: un calendario interno, condiviso con la classe, dà la distribuzione effettiva settimana per settimana. Consultate quel calendario, e non solo questa tabella, prima di decidere quale materiale preparare per un certo giorno.
Per il docente: Condivideremo un calendario interno con la distribuzione effettiva di lezioni e laboratori.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prova intercorso è una sola: dieci domande a risposta multipla e due esercizi, su carta, in circa 45 minuti. Portate un documento d'identità e una penna, e dovete conoscere l'indirizzo e-mail istituzionale e la matricola. La prova misura due cose insieme: come state andando voi, e come sta andando il corso. La preparazione migliore è già dentro le lezioni: ognuna finisce con domande esattamente di questo tipo. Rispondere settimana per settimana costa pochi minuti; lasciarle tutte alla sera prima non funziona.
Per il docente: Una sola prova intercorso dal 2026/27 (erano due). La data è da definire: inserirla. Il peso della prova si decide dopo aver valutato il comportamento corretto degli studenti in aula. Le regole di prenotazione non sono sulla slide: dirle in aula, se ci sono.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prova intercorso copre i primi tre blocchi: Informazione (Lezioni da 03 a 06), Logica (da 08 a 11), Stato e memoria (da 13 a 16). L'ultima riga, evidenziata, è ciò che non copre: processore, istruzioni e interruzioni, scheda video e ingresso/uscita appartengono all'orale. Gli esempi della prova possono usare istruzioni RISC-V, quindi il materiale di primo contatto della Lezione 02 si dà per acquisito, e il codice di Verm1, parti da 1 a 3, è una fonte naturale di domande. Usate la colonna centrale come piano di ripasso.
Per il docente: Da quest'anno negli esempi della prova compaiono istruzioni RISC-V: il materiale di primo contatto della Lezione 02 si dà per acquisito, e il codice di Verm1, parti da 1 a 3, è una fonte naturale di domande. La prova cade dopo il terzo blocco.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regola per la prova intercorso e per l'esame è breve: nessun dispositivo e nessun aiuto, umano o artificiale, di alcun tipo. Sono compresi ChatGPT, gli altri modelli linguistici e ogni forma di IA generativa. Chi copia vede annullata subito la propria prova. La regola non nasce da ostilità verso la tecnologia, che in questo corso userete ogni giorno: discende da ciò a cui serve la prova. Una prova misura ciò che sapete voi; una risposta prodotta da qualcos'altro non misura nulla e non aiuta nessuno, voi per primi.
Per il docente: Se per comportamento inadeguato si devono annullare più di due prove, l'intera prova intercorso è annullata per tutti.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L'esame ha due parti e vanno superate entrambe: la teoria, un orale con domande su tutto il programma, alcune delle quali richiedono uno schema o un calcolo alla lavagna; e la pratica, l'esame di laboratorio con la prof.ssa Staffa. Ciascuna vale metà, e il voto finale è la media delle due. Notate che l'orale può anche abbassare il voto ottenuto nella prova intercorso: la prova è un risultato vero, non una garanzia. Come la prova intercorso entra nel voto di teoria viene spiegato in aula.
Per il docente: I risultati della prova intercorso e dell'esame valgono per l'anno accademico in corso. Il Syllabus ufficiale descrive la parte scritta come esercizi di analisi e sintesi di reti logiche e di sviluppo in assembly RISC-V su PRG32. Come la prova intercorso entra nel voto di teoria si dice in aula: la slide non dà una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verbalizzare il voto finale serve un risultato positivo in entrambe le parti, e la verbalizzazione avviene solo durante un appello di teoria; l'esame di laboratorio è di solito una settimana prima. Prenotate entrambi su Esse3. Le due domande frequenti hanno la stessa risposta: sì, si può sostenere la teoria prima della pratica, e il risultato vale per l'anno accademico, ma non si verbalizza nulla finché non sono superate tutte e due le parti. Pianificate i due esami insieme, non uno alla volta.
Per il docente: Nella presentazione originale le date degli appelli erano vuote: aggiungerle quando sono pubblicate.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eventi segnano il semestre. Nella settimana della prova intercorso ci sono seminari sulle architetture di calcolo emergenti. Alla fine del corso c'è una mattinata di chiusura: l'ultima lezione, che guarda oltre il singolo core verso i supercalcolatori, e poi una visita ai sistemi di supercalcolo del Dipartimento. Lo studente o il gruppo che presenta il proprio gioco all'evento finale, una variante di Verm1 o un gioco originale, può guadagnare punti bonus per l'esame. I giochi finiti si possono anche pubblicare sul Cartridge Store, come spiega la Lezione 23.
Per il docente: La presentazione originale riportava ancora le date del 2025 (24-28 novembre, 19 dicembre 2025) e parlava di un'architettura a 8 bit: entrambe aggiornate qui, date da confermare.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L'ultima sezione dice dove si trova il materiale e poi si rivolge a voi: qualche domanda per capire chi c'è in aula, un breve questionario, un elenco di film, e che cosa fare prima della prossima lezione.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materiale ha quattro fonti. Le slide stanno in una cartella Google Drive condivisa e sono pubblicate sul portale e-learning. PRG32 e il suo libro, Playing with RISC-V, sono liberi e open source su GitHub. I libri di testo di riferimento sono Patterson e Hennessy, nell'edizione RISC-V, e Tanenbaum e Austin; entrambi esistono in italiano. La documentazione ufficiale di RISC-V è su riscv.org. Non occorre comprare tutto il primo giorno: cominciate con le slide e con il materiale di PRG32, e scegliete un libro quando iniziano gli argomenti formali.
Per il docente: Cartella Drive: https://drive.google.com/drive/folders/15Kdu8XYbQQVP0ieuZA5OIEmoKqDjQ-eR?usp=sharing . E-learning: https://elearning.uniparthenope.it/course/view.php?id=107 . Edizioni originali: Patterson, Hennessy, Computer Organization and Design, RISC-V Edition (Morgan Kaufmann); Tanenbaum, Austin, Structured Computer Organization (Pearson). Edizioni italiane: Zanichelli e Pearson.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materiale didattico è condiviso, e potete contribuire. Per avere accesso alla cartella Drive inviate al docente l'indirizzo che usate per quel servizio; tutte le altre comunicazioni passano dal vostro indirizzo istituzionale. Le slide sono generate da file sorgente, quindi una correzione o un nuovo esercizio si possono aggiungere con precisione e rigenerare per tutti. Se trovate un errore, segnalatelo: una correzione fatta da uno studente quest'anno è una slide migliore per gli studenti dell'anno prossimo.
Per il docente: Le presentazioni sono generate da tools/build.js a partire da specifiche compatte in tools/decks, in inglese e in italiano; ogni slide ha una nota didattica nella cartella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 gruppi di domande per rompere il ghiaccio: hardware, software, cultura, concetti, RISC-V e voi stessi. Non ci sono risposte giuste, e nessuno viene valutato. Lo scopo è pratico: le risposte dicono al docente quanto si può dare per scontato nelle prime settimane. Se non avete mai assemblato un computer né letto una riga di assembly, siete nella maggioranza e nel posto giusto; se l'avete fatto, potrete aiutare chi vi siede accanto.
Per il docente: Per rompere il ghiaccio. Rapido; annotare le risposte: dicono a che velocità può andare la Lezione 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Cappello Parlante è un breve questionario anonimo su che cosa vi attrae di più nel futuro dell'informatica e della scienza. Inquadrate il codice o aprite il link dalla cartella condivisa. I risultati aggregati si discutono in aula e servono a scegliere esempi e temi di progetto vicini ai vostri interessi. Richiede due minuti, ed è il primo di diversi momenti del corso in cui ciò che dite cambia ciò che viene insegnato.
Per il docente: L'immagine riporta la domanda: «Cosa ti attrae di più nel futuro dell'Informatica e della Scienza?»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Trenta film e serie sull'informatica, da Tron e WarGames a Mr. Robot. Non è una visione obbligatoria, e non è materia d'esame. È un invito a vedere come la cultura che vi circonda ha immaginato calcolatori, hacker e intelligenza artificiale, a volte con precisione e spesso no. Un esercizio utile man mano che il corso procede: guardatene uno, e trovate una scena che ora sapete spiegare, oppure una che ora sapete riconoscere come impossibile.
Per il docente: Ready Player One è anche il riferimento culturale del libro di PRG32: la padronanza degli strati di base è un'alfabetizzazione che conserva il suo valore.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compito per la prossima lezione, che è un'installazione pratica. Portate il portatile, carico, su cui avete il permesso di installare programmi. Scaricate l'installatore di PRG32-QT per il vostro sistema. A casa, con una buona connessione, avviate il lungo scaricamento di ESP-IDF, seguendo il README di PRG32. Se qualcosa non va, non perdeteci una serata: portate il messaggio d'errore esatto e lo si risolve in aula. Il risultato atteso è scritto in fondo: dopo la Lezione 01 ognuno ha PRG32-QT funzionante e una cartuccia compilata sulla propria macchina.
Per il docente: La Lezione 01 è l'installazione, passo per passo, per Windows, macOS e Linux. L'unica cosa che non si può fare in aula è scaricare ESP-IDF: qualche gigabyte per studente.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00: Introduzione al corso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00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Introduzione al corso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dei Calcolatori e Laboratorio (ARC12): prima si programma, poi si formalizza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“Matrix è un sistema, Neo. E quel sistema è nostro nemico.”</a:t>
            </a:r>
            <a:endParaRPr lang="en-US" sz="1900" dirty="0"/>
          </a:p>
          <a:p>
            <a:pPr indent="0" marL="0">
              <a:buNone/>
            </a:pPr>
            <a:r>
              <a:rPr lang="en-US" sz="1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Matrix, Lana e Lilly Wachowski, 1999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prg32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4280535"/>
            <a:ext cx="2834640" cy="177165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Oggi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siamo, e come sono organizzate le 96 ore del corso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5465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436368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L'approccio: prima programmate, poi formalizziamo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507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33248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macchina: PRG32, RISC-V e il debugger che userete ogni settimana; la prossima volta li installiamo insieme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8970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47141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progetto: Verm1, un gioco che scrivete partendo da un file vuoto e che pubblicate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regole: orario, prova intercorso, esame, materiale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corso in breve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002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dei Calcolatori e Laboratorio di Architettura dei Calcolatori (ARC12). Primo anno, primo semestre, Corso di Laurea in Informatica.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38218" y="14173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15458" y="16002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Docenti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3317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 Montella: lezioni, 6 CFU.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Mariacarla Staffa: laboratorio, 6 CFU.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7797" y="14173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05037" y="16002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Crediti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3317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CFU, 96 ore.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Settore scientifico: INFO-01/A (Informatica).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160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1148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Ricevimento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Stanza 420, martedì 14:00-16:00, su appuntamento. Anche su Microsoft Teams (codice del team: c7rf33g).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338218" y="39319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66818" y="4160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115458" y="41148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Crediti aggiuntivi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612538" y="48463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SuperSkills! dà 2 CFU come ulteriori conoscenze: richiediaccesso.uniparthenope.it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27797" y="39319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56397" y="4160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905037" y="41148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Prerequisiti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402117" y="48463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Nessuno. L'unico vero prerequisito è la passione per l'informatica e per le tecnologie che la rendono possibile.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sono organizzate le 96 ore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Lezioni: 48 ore (prof. Montella)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2316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idee: informazione, numeri, algebra di Boole, reti logiche, processore, memoria, ingresso e uscita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argomento si apre con un programma che potete eseguire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lo formalizziamo con definizioni, metodi e dimostrazioni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lezione si chiude con domande a risposta multipla nello stile della prova intercorso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quattro lezioni un tutorial: la parte successiva di Verm1, il gioco del corso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78728" y="141732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4592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Laboratorio: 48 ore (prof.ssa Staffa)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2316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Rappresentazione dei numeri e tecniche di conversione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Analisi, sintesi e minimizzazione di circuiti logici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Programmazione in assembly RISC-V sulla piattaforma PRG32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vostro progetto: una variante di Verm1, o un gioco di vostra invenzione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779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approccio nuovo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Scriverete assembly fin dai primi giorni. La teoria viene dopo, a spiegare ciò che avete già visto accadere.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 si programma. Poi si formalizza.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primo giorno scrivete assembly RISC-V che gira su un processore vero. Ogni argomento formale risponde poi a una domanda che il vostro stesso programma ha già sollevato.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spirale dell'apprendimento, ripetuta per ogni argomento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2499284" cy="2468880"/>
          </a:xfrm>
          <a:prstGeom prst="roundRect">
            <a:avLst>
              <a:gd name="adj" fmla="val 296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057400"/>
            <a:ext cx="2224964" cy="685800"/>
          </a:xfrm>
          <a:prstGeom prst="roundRect">
            <a:avLst>
              <a:gd name="adj" fmla="val 10667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Gioca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880360"/>
            <a:ext cx="22249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Scrivete poche istruzioni, compilate una cartuccia, eseguitela su PRG32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093644" y="2962656"/>
            <a:ext cx="274320" cy="292608"/>
          </a:xfrm>
          <a:prstGeom prst="rightArrow">
            <a:avLst/>
          </a:prstGeom>
          <a:solidFill>
            <a:srgbClr val="5B6B7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13684" y="1874520"/>
            <a:ext cx="2499284" cy="2468880"/>
          </a:xfrm>
          <a:prstGeom prst="roundRect">
            <a:avLst>
              <a:gd name="adj" fmla="val 296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50844" y="2057400"/>
            <a:ext cx="2224964" cy="685800"/>
          </a:xfrm>
          <a:prstGeom prst="roundRect">
            <a:avLst>
              <a:gd name="adj" fmla="val 10667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Osserva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550844" y="2880360"/>
            <a:ext cx="22249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Qualcosa accade: un numero fa il giro, un bit accende una lampada, un rettangolo si muove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58688" y="2962656"/>
            <a:ext cx="274320" cy="292608"/>
          </a:xfrm>
          <a:prstGeom prst="rightArrow">
            <a:avLst/>
          </a:prstGeom>
          <a:solidFill>
            <a:srgbClr val="5B6B7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78728" y="1874520"/>
            <a:ext cx="2499284" cy="2468880"/>
          </a:xfrm>
          <a:prstGeom prst="roundRect">
            <a:avLst>
              <a:gd name="adj" fmla="val 296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5888" y="2057400"/>
            <a:ext cx="2224964" cy="685800"/>
          </a:xfrm>
          <a:prstGeom prst="roundRect">
            <a:avLst>
              <a:gd name="adj" fmla="val 10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Formalizza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15888" y="2880360"/>
            <a:ext cx="22249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Definizioni, teoremi e metodi spiegano esattamente perché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823731" y="2962656"/>
            <a:ext cx="274320" cy="292608"/>
          </a:xfrm>
          <a:prstGeom prst="rightArrow">
            <a:avLst/>
          </a:prstGeom>
          <a:solidFill>
            <a:srgbClr val="5B6B7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3771" y="1874520"/>
            <a:ext cx="2499284" cy="2468880"/>
          </a:xfrm>
          <a:prstGeom prst="roundRect">
            <a:avLst>
              <a:gd name="adj" fmla="val 296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80931" y="2057400"/>
            <a:ext cx="2224964" cy="685800"/>
          </a:xfrm>
          <a:prstGeom prst="roundRect">
            <a:avLst>
              <a:gd name="adj" fmla="val 10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Ritorna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9280931" y="2880360"/>
            <a:ext cx="22249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nuovo sulla macchina: prevedete il risultato prima di eseguire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D8ECEE"/>
          </a:solidFill>
          <a:ln w="12700">
            <a:solidFill>
              <a:srgbClr val="D8EC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80060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voto è un'opinione; una racchetta che esce dallo schermo è un fatto. Useremo i fatti, e poi li spiegheremo.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Gli obiettivi del corso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85011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Presentare gli aspetti fondamentali dell'architettura dei calcolatori moderni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217737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150047"/>
            <a:ext cx="6565392" cy="790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Usare, in laboratorio, i concetti di base per programmarli in modo efficiente con linguaggi di basso livello: linguaggio macchina e assembly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21386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146171"/>
            <a:ext cx="6565392" cy="103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Trattare con rigore gli strumenti con cui il processore è costruito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algebra di Boole e sintesi di reti logiche combinatorie e sequenziali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rappresentazione binaria e aritmetica binaria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4453573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385882"/>
            <a:ext cx="6565392" cy="790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Descrivere in dettaglio la struttura funzionale e fisica della CPU, della memoria e del sottosistema di ingresso/uscita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544969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382006"/>
            <a:ext cx="6565392" cy="790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Sviluppare codice assembly che renda visibile come funziona davvero un processore e come interagiscono le unità di base di un calcolatore</a:t>
            </a:r>
            <a:endParaRPr lang="en-US" sz="1700" dirty="0"/>
          </a:p>
        </p:txBody>
      </p:sp>
      <p:pic>
        <p:nvPicPr>
          <p:cNvPr id="13" name="Image 0" descr="/Users/raffaelemontella/devel/riscv-prg32/computer-architecture-with-prg32/tools/assets/game_p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148954"/>
            <a:ext cx="3779215" cy="283441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863840" y="5788152"/>
            <a:ext cx="3779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Pong in esecuzione su PRG32: codice macchina RISC-V nativo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779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PRG32 e RISC-V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macchina che programmerete, le idee che la ispirano, e perché l'abbiamo scelta.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PRG32: una console rétro da programmare in assembly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0505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ambiente didattico open source per insegnare l'assembly RISC-V e il C, sviluppato alla Parthenope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261743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178558"/>
            <a:ext cx="6565392" cy="88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vostro codice gira in modo nativo come codice macchina RISC-V a 32 bit (RV32IMAC): non è interpretato da un simulatore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31736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234182"/>
            <a:ext cx="6565392" cy="1121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contratto volutamente sottile: tre funzioni che scrivete voi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init viene eseguita una volta; update e draw una volta per frame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4610989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527804"/>
            <a:ext cx="6565392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giochi viaggiano come piccole cartucce: file con estensione .prg32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537222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289042"/>
            <a:ext cx="6565392" cy="88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Un'area di 320 per 200 pixel, un joystick, il suono: abbastanza piccola da tenerla tutta in mente, abbastanza ricca da esercitare l'intero corso</a:t>
            </a:r>
            <a:endParaRPr lang="en-US" sz="1900" dirty="0"/>
          </a:p>
        </p:txBody>
      </p:sp>
      <p:pic>
        <p:nvPicPr>
          <p:cNvPr id="13" name="Image 0" descr="/Users/raffaelemontella/devel/riscv-prg32/computer-architecture-with-prg32/tools/assets/menu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148954"/>
            <a:ext cx="3779215" cy="283441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863840" y="5788152"/>
            <a:ext cx="3779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menu del firmware residente di PRG32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filosofia di PRG32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002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Abbastanza piccola da capirla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processore, uno schermo di 320 per 200 pixel, un joystick, un piccolo altoparlante. Niente è nascosto: l'intera macchina sta in una testa sola.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8218" y="14173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15458" y="16002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Vera, non simulata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3317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vostre istruzioni sono quelle che il chip esegue. Ciò che imparate qui vale su ogni processore RISC-V, dal sensore al supercalcolatore.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27797" y="14173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05037" y="16002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limiti rendono creativi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3317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Pochi kilobyte e tre funzioni. I giochi degli anni Ottanta sono nati da limiti come questi: un vincolo è un invito.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160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1148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cosa alla volta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parte da funzioni che ritornano e basta. Si aggiunge una cosa, si esegue, si guarda. Update cambia lo stato, draw lo mostra. Il suono viene per ultimo.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38218" y="39319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66818" y="4160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115458" y="41148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Guardare dentro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612538" y="48463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qualcosa vi sorprende, fermate il programma e leggete registri e memoria. Il debugger fa parte del metodo: non è uno strumento d'emergenza.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27797" y="39319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56397" y="4160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905037" y="41148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Fare, poi condividere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402117" y="48463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cartuccia è un file che potete dare a un amico. Il Cartridge Store è lo scaffale dove il lavoro finito incontra i suoi giocatori.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piattaforma, due usi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palestra: gli esercizi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2316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lezione si apre con un breve programma che gira, e si chiude tornando alla macchina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esercizio ha una previsione e una verifica: dite che cosa accadrà, poi eseguite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macchina non lusinga mai: una maschera sbagliata accende la lampada sbagliata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 piccoli, risposte immediate, nessun voto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78728" y="141732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4592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Un'officina: la creatività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2316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cartuccia vuota e uno schermo: che cosa metterci lo scegliete voi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Regole, colori, suoni e livelli sono decisioni di progetto, e sono vostre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progetto del corso comincia guidato e finisce libero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Ciò che finite, lo potete pubblicare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PRG32-QT: il debugger del corso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9275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546811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è PRG32 sul vostro portatile: esegue le stesse cartucce, senza scheda e senza compilatore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486660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411222"/>
            <a:ext cx="5468112" cy="2052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modalità debug apre la macchina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pausa, ripresa, un'istruzione alla volta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breakpoint su qualunque istruzione di init, update o draw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 32 registri e 128 byte di memoria a qualunque indirizzo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velocità da 0,01x a 4x, e contatori: frame, istruzioni, frame in ritardo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469595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4620514"/>
            <a:ext cx="54681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userete in ogni lezione: per verificare una previsione, per trovare un errore, per misurare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541096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5335524"/>
            <a:ext cx="546811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programma è capito quando sapete dire che cosa conterrà ogni registro prima di premere Step</a:t>
            </a:r>
            <a:endParaRPr lang="en-US" sz="1800" dirty="0"/>
          </a:p>
        </p:txBody>
      </p:sp>
      <p:pic>
        <p:nvPicPr>
          <p:cNvPr id="11" name="Image 0" descr="/Users/raffaelemontella/devel/riscv-prg32/computer-architecture-with-prg32/tools/assets/prg32qt_debug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882245"/>
            <a:ext cx="4876495" cy="3367829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in modalità debug: a sinistra il gioco, a destra la macchina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RISC-V?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0020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è un insieme di istruzioni a standard aperto: chiunque può progettare, costruire e vendere un processore RISC-V senza pagare licenze per l'architettura.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33008" y="141732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0020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Piccolo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33172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L'insieme di base delle istruzioni intere ha circa quaranta istruzioni e trentadue registri. Si impara tutto in un semestre.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160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1480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addi, lw, sw e beqz non sono un dialetto didattico. L'industria produce miliardi di core RISC-V che eseguono esattamente queste istruzioni.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33008" y="393192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160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1480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Europeo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84632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L'Europa considera RISC-V una leva di sovranità tecnologica: il Chips Act e progetti come DARE vi costruiscono sopra i propri processori.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mappa: ogni argomento si incontra due volte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4183140"/>
                <a:gridCol w="691127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Argomento formale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incontrate prima su PRG32 come...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Notazione posizionale, esadecimale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colore 0x07E0 e il valore mostrato dal debugger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Complemento a due, overflow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posizione che va a sinistra oltre lo zero e mostra 0xFFFFFFFF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Virgola fissa e virgola mobile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palla che si muove di 0,375 pixel per frame su un chip senza FPU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Algebra di Boole, maschere di bit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andi t3, t0, 1 per sapere se LEFT è premuto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Elettronica, porte logiche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pulsante che collega a massa un piedino del chip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 combinatorie, addizionatori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 cosa fa davvero add a trentadue bit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 sequenziali, registri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contatore che sopravvive da un frame al successivo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CPU, datapath, ciclo dell'istruzione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l'esecuzione di una singola istruzione in PRG32-QT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Memoria e ingresso/uscita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lw e sw, lo stack, il joystick e il display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779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progetto del corso: Verm1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gioco, scritto da zero in assembly RISC-V, che cresce insieme al corso.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Verm1: il vostro gioco, da un file vuoto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15999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Verm1, si legge "vermone": un omaggio a Snake, il gioco di Blockade (1976) e dei telefoni Nokia (1997)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2623375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524697"/>
            <a:ext cx="656539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verme si muove su una griglia, mangia, cresce, e non deve mordersi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340537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306699"/>
            <a:ext cx="6565392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Scrivete ogni riga, in assembly RISC-V: nessun motore, nessuna libreria oltre alle chiamate di PRG32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4512755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414076"/>
            <a:ext cx="6565392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Abbastanza piccolo per uno studente del primo anno, abbastanza ricco da richiedere ogni argomento del corso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48640" y="5620131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521452"/>
            <a:ext cx="656539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 fine è pronto per il Cartridge Store, con il vostro nome sopra</a:t>
            </a:r>
            <a:endParaRPr lang="en-US" sz="2100" dirty="0"/>
          </a:p>
        </p:txBody>
      </p:sp>
      <p:pic>
        <p:nvPicPr>
          <p:cNvPr id="13" name="Image 0" descr="/Users/raffaelemontella/devel/riscv-prg32/computer-architecture-with-prg32/tools/assets/verm1_p4_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385155"/>
            <a:ext cx="3779215" cy="236201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863840" y="5788152"/>
            <a:ext cx="3779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Verm1 alla fine del corso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Quattro parti e una pubblicazione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596923"/>
                <a:gridCol w="2437409"/>
                <a:gridCol w="4202430"/>
                <a:gridCol w="28576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Lezione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Dopo il blocco su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Verm1 acquista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  Parte 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informazione e numeri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griglia, una testa che si muove, un mondo senza bordi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colori, scorrimenti, virgola fissa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 Parte 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 e circuiti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guida, il cibo, un punteggio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maschere, XOR, tabelle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 Parte 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stato e memoria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corpo che cresce, le collisioni, tre schermate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macchina a stati, vettori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 Parte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macchina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cifre, livelli, suono, disegno veloce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chiamate, divisione, frame buffer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 Lo Store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tutto il corso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nome, un'icona, i crediti, un bundle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 strumenti di PRG32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parte finisce con un gioco che funziona. Non tornate mai a casa con un programma rotto.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Verm1 cresce con voi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567864" cy="3931920"/>
          </a:xfrm>
          <a:prstGeom prst="roundRect">
            <a:avLst>
              <a:gd name="adj" fmla="val 284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pic>
        <p:nvPicPr>
          <p:cNvPr id="4" name="Image 0" descr="/Users/raffaelemontella/devel/riscv-prg32/computer-architecture-with-prg32/tools/assets/verm1_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369368"/>
            <a:ext cx="2293544" cy="143346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663440"/>
            <a:ext cx="2293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1: una testa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390824" y="1417320"/>
            <a:ext cx="2567864" cy="3931920"/>
          </a:xfrm>
          <a:prstGeom prst="roundRect">
            <a:avLst>
              <a:gd name="adj" fmla="val 284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pic>
        <p:nvPicPr>
          <p:cNvPr id="7" name="Image 1" descr="/Users/raffaelemontella/devel/riscv-prg32/computer-architecture-with-prg32/tools/assets/verm1_p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984" y="2369368"/>
            <a:ext cx="2293544" cy="143346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527984" y="4663440"/>
            <a:ext cx="2293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2: cibo e punteggio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233008" y="1417320"/>
            <a:ext cx="2567864" cy="3931920"/>
          </a:xfrm>
          <a:prstGeom prst="roundRect">
            <a:avLst>
              <a:gd name="adj" fmla="val 284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pic>
        <p:nvPicPr>
          <p:cNvPr id="10" name="Image 2" descr="/Users/raffaelemontella/devel/riscv-prg32/computer-architecture-with-prg32/tools/assets/verm1_p3_p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8" y="2369368"/>
            <a:ext cx="2293544" cy="143346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370168" y="4663440"/>
            <a:ext cx="2293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3: un corpo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9075191" y="1417320"/>
            <a:ext cx="2567864" cy="3931920"/>
          </a:xfrm>
          <a:prstGeom prst="roundRect">
            <a:avLst>
              <a:gd name="adj" fmla="val 284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pic>
        <p:nvPicPr>
          <p:cNvPr id="13" name="Image 3" descr="/Users/raffaelemontella/devel/riscv-prg32/computer-architecture-with-prg32/tools/assets/verm1_p4_pl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2351" y="2369368"/>
            <a:ext cx="2293544" cy="143346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212351" y="4663440"/>
            <a:ext cx="2293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4: il gioco finito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54864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file, quattro sedute. Ogni immagine è un programma che avrete scritto ed eseguito voi.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funziona una lezione tutorial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464994" cy="425196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6817" y="1554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Autosufficiente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00400"/>
            <a:ext cx="209923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presentazione mostra l'intero programma: ogni riga è nuova, modificata, oppure ristampata invariata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077642" y="380847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5114" y="1828800"/>
            <a:ext cx="2464994" cy="425196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3291" y="1554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07994" y="224028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per passo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607994" y="3200400"/>
            <a:ext cx="209923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Poche righe alla volta; dopo ogni passo si compila, si esegue e si confronta con il risultato atteso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54116" y="380847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1588" y="1828800"/>
            <a:ext cx="2464994" cy="425196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59765" y="1554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84468" y="224028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il debugger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84468" y="3200400"/>
            <a:ext cx="209923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tutorial ha una sessione in PRG32-QT: un breakpoint, un registro da osservare, una zona di memoria da leggere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830589" y="380847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78061" y="1828800"/>
            <a:ext cx="2464994" cy="425196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36238" y="1554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360941" y="224028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Vostro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360941" y="3200400"/>
            <a:ext cx="209923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Ognuno finisce con modifiche da fare da soli: il gioco che pubblicate non deve essere identico al nostro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corso a blocchi</a:t>
            </a:r>
            <a:endParaRPr lang="en-US" sz="3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017166"/>
                <a:gridCol w="6639839"/>
                <a:gridCol w="243740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Lezioni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 Introduzione, 01 PRG32 e PRG32-QT: installazione, 02 Primo contatto con RISC-V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Informazione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Storia, 04 Informazione digitale, 05 Interi, 06 Reali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 Verm1, parte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 e 09 Algebra di Boole, 10 Elettronica, 11 Macchine combinatorie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Verm1, parte 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Stato e memoria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Macchine sequenziali, 14 Registri e bus, 15 Memoria, 16 Memoria permanente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Verm1, parte 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macchina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Processore, 19 Istruzioni e interruzioni, 20 Scheda video, 21 Ingresso e uscita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Verm1, parte 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Pubblicazione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Verm1 sul Cartridge Store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Prospettive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Oltre il singolo core: RISC-V superscalare, HPC, GPU e FPGA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visita ai sistemi di calcolo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779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Programma e risultati di apprendimento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studiamo, e che cosa saprete fare alla fine.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002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Organizzazione del calcolatore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 software; software applicativo e di sistema; il modello di von Neumann; principi di funzionamento di un calcolatore.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8218" y="14173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15458" y="16002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 di Boole e logica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3317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Funzioni booleane, tabelle di verità; reti combinatorie e minimizzazione; addizionatori; macchine a stati finiti; reti sequenziali; flip-flop, registri.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27797" y="14173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05037" y="16002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Rappresentazione dei dati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3317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Codifica; codici ridondanti, rilevazione e correzione d'errore; decodificatori, multiplexer; sistemi posizionali; naturali, interi, reali; aritmetica.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160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1148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di un calcolatore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unità di controllo, ALU, registri; ciclo dell'istruzione; datapath; memoria centrale; sottosistema di I/O; architetture microprogrammate.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38218" y="39319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66818" y="4160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115458" y="41148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RISC-V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612538" y="48463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Insieme delle istruzioni; registri, indirizzamento; aritmetica e logica; salti; sottoprogrammi, convenzione di chiamata, stack; memoria e I/O.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27797" y="39319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56397" y="4160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905037" y="41148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402117" y="48463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Verm1: un gioco in assembly RISC-V su PRG32, costruito in quattro parti guidate, poi variato, documentato e impacchettato dallo studente o da un piccolo gruppo.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Risultati di apprendimento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002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Conoscenza e comprensione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solida conoscenza del sistema binario, della logica digitale e dei principi di funzionamento dei calcolatori. Non si presuppongono conoscenze informatiche precedenti.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8218" y="14173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15458" y="16002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Applicare le conoscenze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3317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Applicare la teoria agli esercizi e a programmi in assembly RISC-V; riconoscere capacità e limiti dei calcolatori su problemi reali.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27797" y="14173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05037" y="16002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di giudizio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3317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Scrivere programmi assembly che rappresentano ed elaborano problemi reali in binario, scegliendo rappresentazioni dei dati e strutture di controllo adatte.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160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1148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Abilità comunicative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Partecipare attivamente a gruppi che progettano, realizzano e documentano applicazioni assembly, con la terminologia tecnica corretta.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38218" y="39319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66818" y="4160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115458" y="41148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Capacità di apprendere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612538" y="48463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Collegare rappresentazione, reti logiche e processori in un unico quadro, e aggiornarsi in autonomia su fonti tecniche affidabili.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779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Organizzazione e valutazione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ci vediamo, come siete valutati, e le regole del gioco.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Orario: da settembre a dicembre 2026</a:t>
            </a:r>
            <a:endParaRPr lang="en-US" sz="3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604"/>
                <a:gridCol w="2773604"/>
                <a:gridCol w="2773604"/>
                <a:gridCol w="277360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Giorno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Docente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Lunedì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14:00 - 16:00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 1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Montella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Martedì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09:00 - 11:00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 1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Mercoledì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09:00 - 11:00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 1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Montella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Venerdì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09:00 - 11:00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 1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Sarà condiviso un calendario interno con la distribuzione effettiva di lezioni e laboratori.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sola prova intercorso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0505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 multipla, dieci domande, più due esercizi: circa 45 minuti, in presenza e su carta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261743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178558"/>
            <a:ext cx="6565392" cy="826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Lunedì, data da definire, 14:00-16:00, Aula 1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Gli studenti potranno essere divisi in gruppi e la prova svolta a turni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260979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177794"/>
            <a:ext cx="6565392" cy="1177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Portate un documento d'identità e una penna; dovete conoscere la vostra e-mail istituzionale e la matricola (chi è in trasferimento e non l'ha ancora è giustificato)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4610989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527804"/>
            <a:ext cx="6565392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prova valuta entrambe le parti, voi e noi: ci serve per sapere dove stiamo andando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537222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289042"/>
            <a:ext cx="6565392" cy="88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lezione finisce con domande dello stesso tipo: la preparazione migliore è rispondere settimana per settimana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863840" y="1417320"/>
            <a:ext cx="3779215" cy="4754880"/>
          </a:xfrm>
          <a:prstGeom prst="roundRect">
            <a:avLst>
              <a:gd name="adj" fmla="val 1936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2148840"/>
            <a:ext cx="34134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+ 2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4160520"/>
            <a:ext cx="32305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domande a risposta multipla più due esercizi, su carta, in circa 45 minuti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copre la prova intercorso</a:t>
            </a:r>
            <a:endParaRPr lang="en-US" sz="3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304225"/>
                <a:gridCol w="1536150"/>
                <a:gridCol w="725404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Lezioni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Argomenti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Informazione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03 a 06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storia del calcolo; informazione digitale; rappresentazione dei numeri: interi e reali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08 a 11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algebra di Boole; elettronica e porte logiche; macchine combinatorie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Stato e memoria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13 a 16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macchine sequenziali: latch, flip-flop, macchine a stati; registri e bus; memoria e memoria permanente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Fuori dalla prova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18 a 24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processore, istruzioni e interruzioni, scheda video, ingresso e uscita, prospettive: fanno parte dell'orale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prova intercorso chiude i primi tre blocchi. La macchina, Lezioni da 18 a 21, si esamina all'orale.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Niente tecnologia. Niente GPT.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prova intercorso e l'esame sono #nogpt. Nessun aiuto tecnologico o umano di alcun tipo: niente dispositivi, niente ChatGPT o altri LLM, niente IA generativa. Chi copia vede annullata subito la propria prova; comportamenti più gravi hanno conseguenze più gravi.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Valutazione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3924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2443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L'esame ha due parti e vanno superate entrambe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Teoria (50%): orale, con domande estemporanee su tutto il programma; alcune risposte richiedono uno schema o un calcolo alla lavagna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Pratica (50%): l'esame di laboratorio con la prof.ssa Staffa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4394835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4272915"/>
            <a:ext cx="656539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L'orale può anche abbassare il voto ottenuto nella prova intercorso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555040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5428488"/>
            <a:ext cx="656539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Voto finale = media del voto di teoria e del voto di pratica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863840" y="1417320"/>
            <a:ext cx="3779215" cy="4754880"/>
          </a:xfrm>
          <a:prstGeom prst="roundRect">
            <a:avLst>
              <a:gd name="adj" fmla="val 1936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2148840"/>
            <a:ext cx="34134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+ 50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160520"/>
            <a:ext cx="32305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e pratica: due parti, da superare entrambe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Appelli e verbalizzazione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23746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10710367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verbalizzare serve un voto positivo sia in teoria sia in pratica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22935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122932"/>
            <a:ext cx="10710367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verbalizzazione avviene solo durante un appello di teoria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93497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2828544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L'esame di laboratorio con la prof.ssa Staffa è di solito una settimana prima dell'appello di teoria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981450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3875024"/>
            <a:ext cx="10710367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Prenotate entrambi gli appelli su uniparthenope.esse3.cineca.it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468706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4580636"/>
            <a:ext cx="10710367" cy="1591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Domande frequenti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Posso sostenere la teoria prima di aver superato la pratica? Sì: il risultato della prova intercorso vale per un anno accademico, ma si verbalizza solo dopo aver superato la parte pratica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Posso prenotare l'appello di teoria senza la prova pratica? Sì, il caso è lo stesso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settimana della prova e l'evento finale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25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 settimana della prova intercorso, seminari sulle architetture di calcolo emergenti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304457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213525"/>
            <a:ext cx="6565392" cy="1239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studente o il gruppo che presenta il proprio gioco alla cerimonia di chiusura può guadagnare punti bonus per l'esame: la vostra variante di Verm1, o un gioco vostro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720423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629491"/>
            <a:ext cx="6565392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Chiusura del corso: data da definire, 09:00-13:00, Aula 1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09:00-11:00 l'ultima lezione: oltre il singolo core, da RISC-V superscalare ai supercalcolatori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11:00-13:00 visita ai sistemi di supercalcolo del Dipartimento di Scienze e Tecnologie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564337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5552440"/>
            <a:ext cx="656539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giochi finiti si possono pubblicare sul Cartridge Store di PRG32: la Lezione 23 mostra come</a:t>
            </a:r>
            <a:endParaRPr lang="en-US" sz="2000" dirty="0"/>
          </a:p>
        </p:txBody>
      </p:sp>
      <p:pic>
        <p:nvPicPr>
          <p:cNvPr id="11" name="Image 0" descr="/Users/raffaelemontella/devel/riscv-prg32/computer-architecture-with-prg32/tools/assets/verm1_p4_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385155"/>
            <a:ext cx="3779215" cy="236201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863840" y="5788152"/>
            <a:ext cx="3779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Verm1: il gioco che potete presentare, nella vostra variante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779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Materiale e primo contatto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si trova tutto, e un primo sguardo a chi c'è in aula.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Materiale didattico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9275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sempre condivise su Google Drive; pubblicate periodicamente su elearning.uniparthenope.it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56082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485390"/>
            <a:ext cx="6565392" cy="1049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Piattaforma PRG32 e relativo libro (liberi, open source)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github.com/riscv-prg32/PRG32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Playing with RISC-V: Assembly, C, and Retro Games on the PRG32 Platform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897884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822446"/>
            <a:ext cx="65653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Libri di testo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Patterson, Hennessy: Struttura e progetto dei calcolatori, edizione RISC-V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Tanenbaum, Austin: Architettura dei calcolatori. Un approccio strutturale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Nel Syllabus anche: Stallings, Computer Organization and Architecture; Bucci, Architettura dei calcolatori elettronici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5968746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5893308"/>
            <a:ext cx="656539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Documentazione ufficiale di RISC-V: riscv.org</a:t>
            </a:r>
            <a:endParaRPr lang="en-US" sz="1800" dirty="0"/>
          </a:p>
        </p:txBody>
      </p:sp>
      <p:pic>
        <p:nvPicPr>
          <p:cNvPr id="11" name="Image 0" descr="/Users/raffaelemontella/devel/riscv-prg32/computer-architecture-with-prg32/tools/assets/book_patters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2838" y="1417320"/>
            <a:ext cx="3121220" cy="42976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863840" y="5788152"/>
            <a:ext cx="3779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Patterson, Hennessy: edizione RISC-V (traduzione italiana, Zanichelli)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Creative Commons e materiale condiviso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23746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Queste slide e tutto il materiale didattico stanno in una cartella Google Drive condivisa con gli studenti, che possono contribuire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54203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435606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Periodicamente il materiale viene consolidato e pubblicato sul portale e-learning del Dipartimento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56031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453892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avere accesso, inviate il vostro indirizzo Gmail (o un altro indirizzo collegato al servizio) a raffaele.montella@uniparthenope.it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4578604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472178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Tutte le comunicazioni con il docente passano comunque dall'indirizzo istituzionale @studenti.uniparthenope.it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559689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490464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slide sono generate da sorgente: correzioni e nuovi esercizi sono contributi benvenuti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Primo contatto: chi siete?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002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ha assemblato da sé il proprio computer? Chi ha già giocato con un Arduino o un ESP32?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38218" y="14173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15458" y="16002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3317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 linguaggi di programmazione conoscete? Qualcuno ha mai letto una riga di assembly?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7797" y="14173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05037" y="16002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3317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sono il retrocomputing e il retrogaming? Avete mai visitato un museo dell'informatica?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160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1148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Concetti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sa dire la differenza tra ROM, RAM e memoria di massa? Che cos'è il cloud computing? E l'Internet delle cose?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338218" y="39319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66818" y="4160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115458" y="41148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612538" y="48463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ha sentito parlare di RISC-V? Quale processore c'è nel vostro telefono, nel portatile, nel router?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27797" y="39319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56397" y="4160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905037" y="41148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402117" y="48463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Hobby? Passioni? Passatempi, oltre allo studio?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Cappello Parlante (fase 1)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754880" cy="4754880"/>
          </a:xfrm>
          <a:prstGeom prst="roundRect">
            <a:avLst>
              <a:gd name="adj" fmla="val 1538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pic>
        <p:nvPicPr>
          <p:cNvPr id="4" name="Image 0" descr="/Users/raffaelemontella/devel/riscv-prg32/computer-architecture-with-prg32/tools/assets/sorting_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448056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1531493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44768" y="1417320"/>
            <a:ext cx="5468112" cy="1069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breve questionario: che cosa vi attrae di più nel futuro dell'informatica e della scienza?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760720" y="2729611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44768" y="2615438"/>
            <a:ext cx="5468112" cy="712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Inquadrate il codice o aprite il link dalla cartella condivisa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5760720" y="357136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44768" y="3457194"/>
            <a:ext cx="5468112" cy="1069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risultati, anonimi, si discutono in aula e servono a calibrare esempi e progetti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5760720" y="4754880"/>
            <a:ext cx="5852160" cy="1417320"/>
          </a:xfrm>
          <a:prstGeom prst="roundRect">
            <a:avLst>
              <a:gd name="adj" fmla="val 5161"/>
            </a:avLst>
          </a:prstGeom>
          <a:solidFill>
            <a:srgbClr val="D8ECEE"/>
          </a:solidFill>
          <a:ln w="12700">
            <a:solidFill>
              <a:srgbClr val="D8EC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0" y="484632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https://forms.office.com/Pages/ResponsePage.aspx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4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?id=rhZ-ARX0jU-a8KIbV81EjtQ3ybGbf6pBqasTaUHJdQ1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4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UQUFaVEdZMkZYWFI3S0dJWVlOMDVOSFBCTS4u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Cineforum: trenta film e serie sull'informatica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305805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  The Social Network (2010)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2.  Steve Jobs (2015)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3.  Pirates of Silicon Valley (1999)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4.  The Imitation Game (2014)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5.  Hackers (1995)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6.  Ex Machina (2014)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7.  Her (2013)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8.  Tron (1982)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9.  Tron: Legacy (2010)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The Matrix (1999)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38218" y="141732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12538" y="1645920"/>
            <a:ext cx="305805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WarGames (1983)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Sneakers (1992)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 Jobs (2013)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 Antitrust (2001)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 Blackhat (2015)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 The Fifth Estate (2013)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 The Circle (2017)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 Silicon Valley (2014-2019)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 Source Code (2011)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 Chappie (2015)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27797" y="141732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02117" y="1645920"/>
            <a:ext cx="305805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 Mr. Robot (2015-2019)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 Ghost in the Shell (1995)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  Minority Report (2002)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  Transcendence (2014)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  Ready Player One (2018)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  A.I. Artificial Intelligence (2001)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  Revolt (2017)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  The Thirteenth Floor (1999)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  Eagle Eye (2008)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  Terminator 2: Judgment Day (1991)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 della prossima lezione: installiamo tutto insieme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Portate il portatile, carico, con i permessi per installare programmi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371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995424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Scaricate l'installatore di PRG32-QT per il vostro sistema: github.com/riscv-prg32/PRG32-QT, Releases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7266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754376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casa, con una buona connessione, avviate lo scaricamento lungo: ESP-IDF, seguendo il README di github.com/riscv-prg32/PRG32 per il vostro sistema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316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13328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qualcosa non va, non combattete da soli: portate il messaggio d'errore, lo risolviamo in aula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05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272280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Inviate il vostro indirizzo per la cartella condivisa e compilate il questionario del Cappello Parlante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Arrivate alla Lezione 01 con gli scaricamenti fatti. In due ore ognuno esce con PRG32-QT funzionante e una cartuccia compilata sul proprio portatile.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Introduzione al corso</dc:title>
  <dc:subject>Lezione 00</dc:subject>
  <dc:creator>Raffaele Montella</dc:creator>
  <cp:lastModifiedBy>Raffaele Montella</cp:lastModifiedBy>
  <cp:revision>1</cp:revision>
  <dcterms:created xsi:type="dcterms:W3CDTF">2026-10-12T11:28:40Z</dcterms:created>
  <dcterms:modified xsi:type="dcterms:W3CDTF">2026-10-12T11:28:40Z</dcterms:modified>
</cp:coreProperties>
</file>