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432e54a-4690-8896-69b5-d5a9c3956d0f}">
          <p14:sldIdLst>
            <p14:sldId id="256"/>
            <p14:sldId id="257"/>
          </p14:sldIdLst>
        </p14:section>
        <p14:section name="Basi e conversioni" id="{267d19d6-0252-9891-cd5e-5aeb80eb11e0}">
          <p14:sldIdLst>
            <p14:sldId id="258"/>
            <p14:sldId id="259"/>
            <p14:sldId id="260"/>
            <p14:sldId id="261"/>
          </p14:sldIdLst>
        </p14:section>
        <p14:section name="Numeri naturali e overflow" id="{595d2e1e-1ea0-0bec-0aaf-1035bf6fcece}">
          <p14:sldIdLst>
            <p14:sldId id="262"/>
            <p14:sldId id="263"/>
            <p14:sldId id="264"/>
          </p14:sldIdLst>
        </p14:section>
        <p14:section name="Interi con segno" id="{e9fd69b4-c4ba-894f-f2f7-600100b6652f}">
          <p14:sldIdLst>
            <p14:sldId id="265"/>
            <p14:sldId id="266"/>
            <p14:sldId id="267"/>
            <p14:sldId id="268"/>
            <p14:sldId id="269"/>
            <p14:sldId id="270"/>
          </p14:sldIdLst>
        </p14:section>
        <p14:section name="Ritorno alla macchina" id="{10d9a8a1-8958-c6da-7785-66aa9c42c7e1}">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avvia la trattazione formale dei numeri. Si apre con una piccola sorpresa sulla macchina, un segnalino che va a sinistra oltre lo zero e mostra FFFFFFFF, e si chiude spiegando esattamente perché accade. In mezzo imparate a convertire tra basi, a dire quali numeri stanno in un dato numero di bit, e a scrivere i numeri negativi. La citazione di Trilussa, l'Uno che discute con lo Zero, ricorda che in un sistema posizionale anche uno zero ha il suo peso.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complemento a due; i cambi di base; naturali e overflow; shift come moltiplicazione; segno e modulo; istruzioni con o senza segno; l'estensione del segno. DA UTILIZZARE OGGI: le chiamate del runtime PRG32, il programma completo, gli strumenti di PRG32 (si usa, non si studia, in questo corso). DA COMPRENDERE PIÙ AVANTI: niente. Una slide senza etichetta è contesto: una storia, un esempio, una domanda, un esercizio.
Per il docente: Spirale: la lezione si apre con il segnalino del laboratorio 06 del libro di PRG32 che va a sinistra oltre lo zero, e si chiude spiegandolo.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I primi tre sono abilità su carta: convertire tra le basi 2, 8, 10 e 16, dire quali naturali stanno in n bit, e codificare in due modi gli interi con segno. Il quarto è aritmetica: sommare, sottrarre e cambiare segno in complemento a due, e riconoscere un overflow. Gli ultimi due tornano alla macchina: spiegare l'FFFFFFFF del riscaldamento, e scegliere l'istruzione RISC-V che legge gli stessi bit come numero con segno o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posizionale in base b usa b cifre, da 0 a b meno 1, e il valore di un numero è la somma di ogni cifra per la potenza di b che corrisponde alla sua posizione: la formula della didascalia. La tabella mostra il tredici in quattro basi: 1101 in binario, 15 in ottale, 13 in decimale, D in esadecimale. È sempre lo stesso numero: cambia solo la scrittura. Per una macchina la base 10 non ha alcuno statuto speciale; è la base di chi ha dieci dita.
DA COMPRENDERE OGGI: i cambi di base.
Per il docente: Un numero N è una stringa di cifre d(n-1) ... d(1) d(0), ciascuna minore della base b. Il valore è la somma di ogni cifra per la potenza della base corrispondente alla sua posizione.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basi che sono potenze di due condividono gli stessi bit. La slide prende 127, lo scrive in binario, e raggruppa i bit da destra: a quattro a quattro, ogni gruppo è una cifra esadecimale, e si ottiene 7F; a tre a tre, ogni gruppo è una cifra ottale, e si ottiene 177. Non serve alcuna divisione, solo una ricerca in tabella. Due dettagli: si raggruppa sempre da destra, dal lato meno significativo, e il gruppo più a sinistra, se incompleto, si completa con zeri.
DA COMPRENDERE OGGI: i cambi di base.
Per il docente: Si raggruppa da destra (dal lato meno significativo) e si completa con zeri a sinistra.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convertire un intero dalla base 10 alla base r si divide ripetutamente per r: ogni resto è una cifra, e il quoziente si divide di nuovo finché non diventa zero. Le tre tabelle lo fanno per 127 con r uguale a 8, 16 e 2. Il riquadro giallo contiene il dettaglio che si sbaglia più spesso: il primo resto è la cifra meno significativa, quindi i resti si leggono dal basso verso l'alto. Verifica: 177 in ottale è 64 + 56 + 7 = 127.
DA COMPRENDERE OGGI: i cambi di base.
Per il docente: N = Q(n) r^(n+1) + R(n) r^n + ... + R(1) r + R(0). In C le due operazioni sono / e %; in RISC-V (estensione M) sono divu e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un numero tra 0 e 1 il procedimento è speculare: si moltiplica ripetutamente per r; ogni volta la parte intera del prodotto è una cifra, a partire dalla più significativa, e la parte frazionaria si moltiplica di nuovo. 0,875 dà 0,111 e si ferma, perché la frazione diventa zero. 0,8 non si ferma mai: tornano le stesse frazioni, e le cifre 1100 si ripetono all'infinito. Un numero finito in base dieci può essere periodico in base due, e con un numero finito di bit va troncato. È l'origine degli errori di arrotondamento della Lezione 06.
DA COMPRENDERE OGGI: i cambi di base.
Per il docente: N = R(1) r^-1 + R(2) r^-2 + ... Le slide originali rimandavano a due convertitori online (fermimn.edu.it e fauser.edu); qualunque calcolatrice moderna in modalità programmatore fa lo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numeri naturali la legge è la più semplice possibile: X è x scritto in binario. Con n bit ci sono 2 alla n configurazioni, quindi i numeri vanno da 0 a 2 alla n meno 1: con quattro bit, da 0 a 15, come mostra la striscia. La tabella dà i casi che si incontrano su RISC-V: un byte arriva a 255, una halfword a 65.535, una parola a 4.294.967.295. Quest'ultimo è la lettura senza segno di FFFFFFFF: metà della risposta al riscaldamento.
DA COMPRENDERE OGGI: naturali e overflow.
Per il docente: 4.294.967.295 è la lettura senza segno di 0xFFFFFFFF: la prima metà della risposta al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da ricordare. Un registro ha un numero finito di bit, quindi rappresenta un sottoinsieme finito di un insieme infinito di numeri. Le operazioni aritmetiche sono chiuse sull'insieme intero, non sul sottoinsieme: la somma di due numeri rappresentabili può cadere fuori. Quando accade si ha un overflow. L'esempio usa sette bit, che coprono da 0 a 127: 100 e 38 sono entrambi rappresentabili, e la loro somma, 138, no. L'overflow non è un difetto della macchina: è una conseguenza della finitezza.
DA COMPRENDERE OGGI: naturali e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calcoli su quattro bit, svolti colonna per colonna come in decimale: 1 più 1 fa 0 con riporto di 1. Sei più otto ci sta. Quattordici più tre fa diciassette, che richiede un quinto bit: un overflow. La differenza usa il prestito come in decimale. Il prodotto di due numeri di n bit può richiedere 2n bit, ed è per questo che RISC-V ha due istruzioni: mul per la metà bassa del prodotto e mulhu per la metà alta. Rifate a mano i quattro calcoli, coprendo i risultati.
DA COMPRENDERE OGGI: naturali e overflow.
Per il docente: La slide originale diceva che l'overflow «si può rilevare mediante il bit di overflow»: vero per i processori con registro dei flag, non per RISC-V. Si veda l'ultima sezione.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L'idea più naturale: usare il bit più a sinistra per il segno e i bit restanti per il modulo. È facile da leggere per una persona, e ha due difetti. Lo zero ha due rappresentazioni, più zero e meno zero. E l'aritmetica è scomoda: per sommare due numeri di segno opposto il circuito deve confrontare i moduli, sottrarre il minore dal maggiore e scegliere il segno. Una rappresentazione che complica la somma è una legge scadente nel senso della sezione precedente.
DA COMPRENDERE OGGI: segno e modulo.
Per il docente: Semplice per le persone, scomodo per i circuiti. Sopravvive nella mantissa dei numeri in virgola mobile IEEE 754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complemento a due. I numeri non negativi sono rappresentati da se stessi. Un numero negativo x è rappresentato da 2 alla n meno il suo modulo: su quattro bit, meno 3 è 16 meno 3, cioè 13, 1101. L'intervallo non è simmetrico: da meno 2 alla n meno 1 fino a 2 alla n meno 1, meno 1, quindi su quattro bit da meno 8 a più 7. Lo zero ha una sola rappresentazione, e il bit più a sinistra vale 1 esattamente quando il numero è negativo. Per un registro a 32 bit l'intervallo va da circa meno due miliardi a più due miliardi.
DA COMPRENDERE OGGI: il complemento a due.
Per il docente: Detto anche complemento alla base. L'asimmetria dell'intervallo (un negativo in più) ha una conseguenza: cambiare segno al numero più negativo dà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stesse sedici configurazioni lette in tre modi. Nella tabella di sinistra, dove il bit più a sinistra è 0, le tre letture coincidono. Nella tabella di destra differiscono: 1000 vale 8 senza segno, meno zero in segno e modulo, e meno 8 in complemento a due; 1111 vale 15, meno 7 oppure meno 1. La frase in fondo è la chiave di tutta la lezione: i bit non dicono quale colonna è quella giusta. Lo dice il programma, attraverso le istruzioni che sceglie.
DA COMPRENDERE OGGI: il complemento a due.
Per il docente: Evidenziati: 1000 è meno zero in segno e modulo ma -8 in complemento a due; 1111 è -7 oppure -1. Complemento a uno ed eccesso 8 si aggiungono a questa tabella nella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n bit i numeri formano un cerchio: dopo l'ultima configurazione viene la prima. Sommare 1 sposta di un passo in senso orario. L'anello interno dà il valore senza segno, i dischi esterni il valore in complemento a due. La ruota «si spezza» in due punti diversi. Per la lettura senza segno la rottura è in alto, tra 1111 e 0000: attraversarla è un riporto. Per il complemento a due è in basso, tra 0111 e 1000: attraversarla è un overflow con segno. E un passo indietro da 0000 porta a 1111: è l'FFFFFFFF del riscaldamento.
DA COMPRENDERE OGGI: il complemento a due.
Per il docente: Anello interno: valore senza segno. In mezzo: i bit. Dischi esterni: valore in complemento a due. Lo stesso addizionatore serve entrambe le letture: cambia solo il punto in cui la ruota «si spezza».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calcoli che mostrano il vantaggio del complemento a due. Per sommare 2 e meno 6 basta sommare le due configurazioni: 0010 più 1010 fa 1100, che si legge meno 4. Per sommare due negativi si sommano le configurazioni e si scarta il riporto uscente dalla posizione più a sinistra. Perfino il prodotto funziona sui quattro bit bassi. La prima riga dell'elenco è il punto: all'addizionatore non serve conoscere i segni. Il circuito che somma i numeri naturali dà già la risposta giusta per quelli con segno.
DA COMPRENDERE OGGI: il complemento a due.
Per il docente: Verifica del prodotto: 2 x 13 = 26 = 1 1010; i quattro bit bassi sono 1010, che si legge -6. Per questo RISC-V ha una sola mul per operandi con 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overflow sono due, e sono indipendenti. Per i numeri senza segno l'overflow è un riporto uscente dal bit più a sinistra: 128 più 130 su otto bit lascia 2 nel registro. Per i numeri con segno l'overflow è un risultato con il segno sbagliato: 127 più 127 non produce riporto uscente, ma la configurazione si legge meno 2. La regola: due operandi positivi che danno una somma negativa, o due negativi che danno una somma positiva. Due operandi di segno opposto non possono mai dare overflow, perché il risultato sta tra i due.
DA COMPRENDERE OGGI: il complemento a due.
Per il docente: Regola circuitale equivalente per l'overflow con segno: il riporto entrante nel bit più significativo è diverso da quello uscente.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porta un numero su più bit senza cambiarne il valore? In complemento a due si copia il bit di segno in tutte le nuove posizioni: meno 1 su quattro bit, 1111, diventa 1111 1111 su otto; più 5, 0101, diventa 0000 0101. È l'estensione del segno. Il processore la esegue ogni volta che un valore corto ne incontra uno lungo: la costante a dodici bit di addi viene estesa con segno a trentadue bit, e lb estende il segno del byte che carica, mentre lbu riempie di zeri.
DA COMPRENDERE OGGI: l'estensione del segno.
Per il docente: Estendere con zeri trasformerebbe 1111 (-1) in 0000 1111 (+15). L'estensione del segno è la controparte con segno della proprietà di «estensione a sinistra» vista per i naturali.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bit più a sinistra vale 1, quindi il numero è negativo: scartate 252, che è la lettura senza segno. Per trovare il modulo si cambia segno: complemento, 0000 0011, e si somma uno, 0000 0100, cioè 4. La configurazione vale meno 4.
Su otto bit in complemento a due l'intervallo va da meno 128 a più 127. Calcolate ogni somma e guardate se cade nell'intervallo. Ricordate che operandi di segno opposto non possono dare overflow, e questo esclude due opzioni in un colpo.
Per il docente: 1. Risposta: B. Si complementa e si somma uno: 0000 0011 + 1 = 0000 0100 = 4, quindi la configurazione vale -4. (252 è la sua lettura senza segno.)
2. Risposta: B. L'intervallo è [-128, 127]. 100 + 27 = 127 ci sta; 100 + 28 = 128 no: due positivi danno una configurazione negativa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registri, due istruzioni che differiscono per una lettera. slt legge FFFFFFFF come meno 1, che è minore di 1. sltu lo legge come più di quattro miliardi, che non lo è. Questa domanda è l'intera lezione in una riga.
Usate le moltiplicazioni successive: 0,625 per 2 fa 1,25, cifra 1; 0,25 per 2 fa 0,5, cifra 0; 0,5 per 2 fa 1,0, cifra 1. Verifica con i pesi: un mezzo più un ottavo fa 0,625.
Per il docente: 1. Risposta: C. Con segno: -1 &lt; 1 è vero, quindi t2 = 1. Senza segno: 4.294.967.295 &lt; 1 è falso, quindi t3 = 0.
2. Risposta: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Signed integer è il numero relativo, o intero con segno. Carry e borrow sono il riporto di un'addizione e il prestito di una sottrazione. Sign extension, estensione del segno, è l'operazione che allarga un numero con segno. To clamp non ha un'unica parola italiana: significa limitare un valore a un 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Ogni base ha il suo uso: la due per i circuiti, la sedici per le persone che leggono i bit. Con n bit ci sono 2 alla n numeri, e la legge di codifica dice quali. Il complemento a due trasforma la sottrazione in addizione. L'overflow è il prezzo dei registri finiti: lo si rileva, oppure lo si esclude per progetto come con il clamp. E in RISC-V i bit non hanno tipo: sceglie l'istruzione. La prossima lezione completa il quadro con i numeri reali.
Stato di apprendimento, riepilogo. DA COMPRENDERE OGGI: il complemento a due; i cambi di base; naturali e overflow; shift come moltiplicazione; segno e modulo; istruzioni con o senza segno; l'estensione del segno. DA UTILIZZARE OGGI: le chiamate del runtime PRG32, il programma completo, gli strumenti di PRG32 (si usa, non si studia, in questo corso). DA COMPRENDERE PIÙ AVANTI: niente. Una slide senza etichetta è contesto: una storia, un esempio, una domanda, un esercizio.
Per il docente: Prossima lezione: complemento a uno, eccesso k, virgola fissa e virgola mobile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Basi, numeri naturali, complemento a due e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05-Architettura_dei_Calcolatori-Rappresentazione_dei_Numeri_Interi-Codice.pptx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interi e frazioni tra le basi 2, 8, 10 e 16</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quali numeri naturali stanno in n bit e riconoscere un overflow</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interi con segno in segno e modulo e in complemento a due</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Sommare, sottrarre e cambiare segno in complemento a due, e rilevare l'overflow</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0 - 1 compare come 0xFFFFFFFF in un registro RISC-V</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Scegliere l'istruzione RISC-V giusta per dati con segno e senza segno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Sistemi posizionali: basi 2, 8, 10 e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Cifre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Nome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Tredici si scrive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binaria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ottale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esadecimale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con ogni cifra compresa tra 0 e b - 1.</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basi potenze di due condividono gli stessi bit</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4: esadecimale</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3: ottale</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ottale</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Se ogni cifra è scritta in binario puro, i bit di un numero sono gli stessi in ogni base b = 2^k: si raggruppano da destra, k alla volta. Esempio: 13 = 1101 in binario = 15 in ottale = D in esadecimale.</a:t>
            </a:r>
            <a:endParaRPr lang="en-US" sz="1650" dirty="0"/>
          </a:p>
        </p:txBody>
      </p:sp>
      <p:sp>
        <p:nvSpPr>
          <p:cNvPr id="23" name="Shape 21"/>
          <p:cNvSpPr/>
          <p:nvPr/>
        </p:nvSpPr>
        <p:spPr>
          <a:xfrm>
            <a:off x="8248599" y="91440"/>
            <a:ext cx="3394456" cy="274320"/>
          </a:xfrm>
          <a:prstGeom prst="rect">
            <a:avLst/>
          </a:prstGeom>
          <a:solidFill>
            <a:srgbClr val="E0F2FE"/>
          </a:solidFill>
          <a:ln w="12700">
            <a:solidFill>
              <a:srgbClr val="0369A1"/>
            </a:solidFill>
            <a:prstDash val="solid"/>
          </a:ln>
        </p:spPr>
      </p:sp>
      <p:sp>
        <p:nvSpPr>
          <p:cNvPr id="24" name="Shape 22"/>
          <p:cNvSpPr/>
          <p:nvPr/>
        </p:nvSpPr>
        <p:spPr>
          <a:xfrm>
            <a:off x="8248599"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26" name="Text 2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 intero: divisioni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divide N per la base r; il resto è la cifra successiva, a partire dalla meno significativa. Si ripete sul quoziente finché non diventa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ottale</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resti si leggono dal basso verso l'alto: l'ultimo resto è la cifra più significativa. Il metodo discende da N = Q x r + R, applicata più volte al quoziente.</a:t>
            </a:r>
            <a:endParaRPr lang="en-US" sz="1600" dirty="0"/>
          </a:p>
        </p:txBody>
      </p:sp>
      <p:sp>
        <p:nvSpPr>
          <p:cNvPr id="15" name="Shape 10"/>
          <p:cNvSpPr/>
          <p:nvPr/>
        </p:nvSpPr>
        <p:spPr>
          <a:xfrm>
            <a:off x="8248599" y="91440"/>
            <a:ext cx="3394456" cy="274320"/>
          </a:xfrm>
          <a:prstGeom prst="rect">
            <a:avLst/>
          </a:prstGeom>
          <a:solidFill>
            <a:srgbClr val="E0F2FE"/>
          </a:solidFill>
          <a:ln w="12700">
            <a:solidFill>
              <a:srgbClr val="0369A1"/>
            </a:solidFill>
            <a:prstDash val="solid"/>
          </a:ln>
        </p:spPr>
      </p:sp>
      <p:sp>
        <p:nvSpPr>
          <p:cNvPr id="16" name="Shape 11"/>
          <p:cNvSpPr/>
          <p:nvPr/>
        </p:nvSpPr>
        <p:spPr>
          <a:xfrm>
            <a:off x="824859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8" name="Text 12"/>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una frazione: moltiplicazioni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0 &lt;= N &lt; 1 si moltiplica per la base r: la parte intera del prodotto è la cifra successiva, a partire dalla più significativa. Si ripete sulla parte frazionaria.</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esatto</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binario</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periodico</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Una frazione finita in base 10 può essere periodica in base 2. Con un numero finito di bit va troncata: da qui nascono gli errori di approssimazione dei numeri reali (Lezione 06).</a:t>
            </a:r>
            <a:endParaRPr lang="en-US" sz="1650" dirty="0"/>
          </a:p>
        </p:txBody>
      </p:sp>
      <p:sp>
        <p:nvSpPr>
          <p:cNvPr id="12" name="Shape 8"/>
          <p:cNvSpPr/>
          <p:nvPr/>
        </p:nvSpPr>
        <p:spPr>
          <a:xfrm>
            <a:off x="8248599" y="91440"/>
            <a:ext cx="3394456" cy="274320"/>
          </a:xfrm>
          <a:prstGeom prst="rect">
            <a:avLst/>
          </a:prstGeom>
          <a:solidFill>
            <a:srgbClr val="E0F2FE"/>
          </a:solidFill>
          <a:ln w="12700">
            <a:solidFill>
              <a:srgbClr val="0369A1"/>
            </a:solidFill>
            <a:prstDash val="solid"/>
          </a:ln>
        </p:spPr>
      </p:sp>
      <p:sp>
        <p:nvSpPr>
          <p:cNvPr id="13" name="Shape 9"/>
          <p:cNvSpPr/>
          <p:nvPr/>
        </p:nvSpPr>
        <p:spPr>
          <a:xfrm>
            <a:off x="824859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5" name="Text 10"/>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naturali su n bit</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n bit ci sono 2^n configurazioni: i naturali da 0 a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ogni numero è associata la stringa di bit che lo rappresenta nel sistema posizionale binario</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Esempio: n = 4, intervallo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Intervallo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Massimo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registro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7985963" y="91440"/>
            <a:ext cx="3657092" cy="274320"/>
          </a:xfrm>
          <a:prstGeom prst="rect">
            <a:avLst/>
          </a:prstGeom>
          <a:solidFill>
            <a:srgbClr val="E0F2FE"/>
          </a:solidFill>
          <a:ln w="12700">
            <a:solidFill>
              <a:srgbClr val="0369A1"/>
            </a:solidFill>
            <a:prstDash val="solid"/>
          </a:ln>
        </p:spPr>
      </p:sp>
      <p:sp>
        <p:nvSpPr>
          <p:cNvPr id="42" name="Shape 39"/>
          <p:cNvSpPr/>
          <p:nvPr/>
        </p:nvSpPr>
        <p:spPr>
          <a:xfrm>
            <a:off x="7985963"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44" name="Text 40"/>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naturali e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Si ha overflow quando il risultato di un'operazione non è contenuto nel sottoinsieme finito di numeri che i bit disponibili possono rappresentare.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registri hanno dimensione finita e sono in numero finito</a:t>
            </a:r>
            <a:endParaRPr lang="en-US" sz="2200" dirty="0"/>
          </a:p>
        </p:txBody>
      </p:sp>
      <p:sp>
        <p:nvSpPr>
          <p:cNvPr id="8" name="Shape 6"/>
          <p:cNvSpPr/>
          <p:nvPr/>
        </p:nvSpPr>
        <p:spPr>
          <a:xfrm>
            <a:off x="548640" y="393166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8252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insiemi numerici sono infiniti: se ne può rappresentare solo un sottoinsieme finito</a:t>
            </a:r>
            <a:endParaRPr lang="en-US" sz="2200" dirty="0"/>
          </a:p>
        </p:txBody>
      </p:sp>
      <p:sp>
        <p:nvSpPr>
          <p:cNvPr id="10" name="Shape 8"/>
          <p:cNvSpPr/>
          <p:nvPr/>
        </p:nvSpPr>
        <p:spPr>
          <a:xfrm>
            <a:off x="548640" y="476427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65785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operatori aritmetici sono chiusi sull'insieme intero, non sul sottoinsieme finito</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7 bit si codifica [0, 127]: 100 e 38 sono rappresentabili, la loro somma 138 no</a:t>
            </a:r>
            <a:endParaRPr lang="en-US" sz="2200" dirty="0"/>
          </a:p>
        </p:txBody>
      </p:sp>
      <p:sp>
        <p:nvSpPr>
          <p:cNvPr id="14"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5"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7"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naturali e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su quattro bit</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Somma</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sta in quattro bit</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Somma con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serve un quinto bit</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Differenza</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prestito come in decimale</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 danno fino a 2n bit</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binaria segue le stesse regole colonna per colonna di quella decimale: 1 + 1 = 0 con riporto di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segnala un riporto perduto in modi diversi: molti hanno un flag di carry, RISC-V lo fa calcolare con un confronto</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prodotto richiede il doppio dei bit: su RV32 mul dà i 32 bit bassi e mulhu i 32 alti</a:t>
            </a:r>
            <a:endParaRPr lang="en-US" sz="2200" dirty="0"/>
          </a:p>
        </p:txBody>
      </p:sp>
      <p:sp>
        <p:nvSpPr>
          <p:cNvPr id="29" name="Shape 27"/>
          <p:cNvSpPr/>
          <p:nvPr/>
        </p:nvSpPr>
        <p:spPr>
          <a:xfrm>
            <a:off x="7985963" y="91440"/>
            <a:ext cx="3657092" cy="274320"/>
          </a:xfrm>
          <a:prstGeom prst="rect">
            <a:avLst/>
          </a:prstGeom>
          <a:solidFill>
            <a:srgbClr val="E0F2FE"/>
          </a:solidFill>
          <a:ln w="12700">
            <a:solidFill>
              <a:srgbClr val="0369A1"/>
            </a:solidFill>
            <a:prstDash val="solid"/>
          </a:ln>
        </p:spPr>
      </p:sp>
      <p:sp>
        <p:nvSpPr>
          <p:cNvPr id="30" name="Shape 28"/>
          <p:cNvSpPr/>
          <p:nvPr/>
        </p:nvSpPr>
        <p:spPr>
          <a:xfrm>
            <a:off x="7985963"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2" name="Text 29"/>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naturali e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Segno e modulo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è il segno (1 = negativo); gli altri n - 1 bit sono il modulo</a:t>
            </a:r>
            <a:endParaRPr lang="en-US" sz="2200" dirty="0"/>
          </a:p>
        </p:txBody>
      </p:sp>
      <p:sp>
        <p:nvSpPr>
          <p:cNvPr id="5" name="Shape 3"/>
          <p:cNvSpPr/>
          <p:nvPr/>
        </p:nvSpPr>
        <p:spPr>
          <a:xfrm>
            <a:off x="548640" y="257818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175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7" name="Shape 5"/>
          <p:cNvSpPr/>
          <p:nvPr/>
        </p:nvSpPr>
        <p:spPr>
          <a:xfrm>
            <a:off x="548640" y="32917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8532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 e -0: si rappresentano solo 2^n - 1 numeri</a:t>
            </a:r>
            <a:endParaRPr lang="en-US" sz="2200" dirty="0"/>
          </a:p>
        </p:txBody>
      </p:sp>
      <p:sp>
        <p:nvSpPr>
          <p:cNvPr id="9" name="Shape 7"/>
          <p:cNvSpPr/>
          <p:nvPr/>
        </p:nvSpPr>
        <p:spPr>
          <a:xfrm>
            <a:off x="548640" y="43461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39768"/>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deve lavorare separatamente su segno e modulo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per sommare due numeri di segno opposto si trova il modulo maggiore e gli si sottrae il minore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il risultato prende il segno dell'operando di modulo maggiore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legge di codifica, con s = 1 se x è negativo e 0 altrimenti. Su quattro bit: X = |x| + 8 s</a:t>
            </a:r>
            <a:endParaRPr lang="en-US" sz="1900" dirty="0"/>
          </a:p>
        </p:txBody>
      </p:sp>
      <p:sp>
        <p:nvSpPr>
          <p:cNvPr id="14" name="Shape 12"/>
          <p:cNvSpPr/>
          <p:nvPr/>
        </p:nvSpPr>
        <p:spPr>
          <a:xfrm>
            <a:off x="8314258" y="91440"/>
            <a:ext cx="3328797" cy="274320"/>
          </a:xfrm>
          <a:prstGeom prst="rect">
            <a:avLst/>
          </a:prstGeom>
          <a:solidFill>
            <a:srgbClr val="E0F2FE"/>
          </a:solidFill>
          <a:ln w="12700">
            <a:solidFill>
              <a:srgbClr val="0369A1"/>
            </a:solidFill>
            <a:prstDash val="solid"/>
          </a:ln>
        </p:spPr>
      </p:sp>
      <p:sp>
        <p:nvSpPr>
          <p:cNvPr id="15" name="Shape 13"/>
          <p:cNvSpPr/>
          <p:nvPr/>
        </p:nvSpPr>
        <p:spPr>
          <a:xfrm>
            <a:off x="831425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42274" y="128016"/>
            <a:ext cx="201168" cy="201168"/>
          </a:xfrm>
          <a:prstGeom prst="rect">
            <a:avLst/>
          </a:prstGeom>
        </p:spPr>
      </p:pic>
      <p:sp>
        <p:nvSpPr>
          <p:cNvPr id="17" name="Text 14"/>
          <p:cNvSpPr txBox="1"/>
          <p:nvPr/>
        </p:nvSpPr>
        <p:spPr>
          <a:xfrm>
            <a:off x="8698306" y="91440"/>
            <a:ext cx="290817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segno e modulo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due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-2^(n-1) &lt;= x &lt; 0, sono rappresentati da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a +2^(n-1) - 1; lo zero ha una sola rappresentazione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vale 1 se e solo se il numero è negativo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rappresentazione usata da ogni processore moderno, RISC-V compreso</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800" dirty="0">
                <a:solidFill>
                  <a:srgbClr val="CFE3EA"/>
                </a:solidFill>
                <a:latin typeface="Calibri" pitchFamily="34" charset="0"/>
                <a:ea typeface="Calibri" pitchFamily="34" charset="-122"/>
                <a:cs typeface="Calibri" pitchFamily="34" charset="-120"/>
              </a:rPr>
              <a:t>l'intervallo di un registro RISC-V a 32 bit letto come intero con segno: da circa meno due miliardi a più due miliardi</a:t>
            </a:r>
            <a:endParaRPr lang="en-US" sz="18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tre letture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 negativi: le tre letture coincidono</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bit più significativo a 1: le letture differiscono</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non dicono quale colonna è quella giusta. Lo dice il programma, scegliendo le istruzioni.</a:t>
            </a:r>
            <a:endParaRPr lang="en-US" sz="1700" dirty="0"/>
          </a:p>
        </p:txBody>
      </p:sp>
      <p:sp>
        <p:nvSpPr>
          <p:cNvPr id="9" name="Shape 5"/>
          <p:cNvSpPr/>
          <p:nvPr/>
        </p:nvSpPr>
        <p:spPr>
          <a:xfrm>
            <a:off x="7920304" y="91440"/>
            <a:ext cx="3722751" cy="274320"/>
          </a:xfrm>
          <a:prstGeom prst="rect">
            <a:avLst/>
          </a:prstGeom>
          <a:solidFill>
            <a:srgbClr val="E0F2FE"/>
          </a:solidFill>
          <a:ln w="12700">
            <a:solidFill>
              <a:srgbClr val="0369A1"/>
            </a:solidFill>
            <a:prstDash val="solid"/>
          </a:ln>
        </p:spPr>
      </p:sp>
      <p:sp>
        <p:nvSpPr>
          <p:cNvPr id="10" name="Shape 6"/>
          <p:cNvSpPr/>
          <p:nvPr/>
        </p:nvSpPr>
        <p:spPr>
          <a:xfrm>
            <a:off x="792030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2" name="Text 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ruota dei numeri</a:t>
            </a:r>
            <a:endParaRPr lang="en-US" sz="3200" dirty="0"/>
          </a:p>
        </p:txBody>
      </p:sp>
      <p:sp>
        <p:nvSpPr>
          <p:cNvPr id="3"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4"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6"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08252"/>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n bit l'aritmetica è modulo 2^n: la retta dei numeri si chiude in un cerchio</a:t>
            </a:r>
            <a:endParaRPr lang="en-US" sz="2000" dirty="0"/>
          </a:p>
        </p:txBody>
      </p:sp>
      <p:sp>
        <p:nvSpPr>
          <p:cNvPr id="11" name="Shape 6"/>
          <p:cNvSpPr/>
          <p:nvPr/>
        </p:nvSpPr>
        <p:spPr>
          <a:xfrm>
            <a:off x="5943600" y="2260346"/>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169414"/>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Sommare 1 sposta di un passo in senso orario, qualunque sia la lettura</a:t>
            </a:r>
            <a:endParaRPr lang="en-US" sz="2000" dirty="0"/>
          </a:p>
        </p:txBody>
      </p:sp>
      <p:sp>
        <p:nvSpPr>
          <p:cNvPr id="13" name="Shape 8"/>
          <p:cNvSpPr/>
          <p:nvPr/>
        </p:nvSpPr>
        <p:spPr>
          <a:xfrm>
            <a:off x="5943600" y="3012440"/>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2921508"/>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senza segno: la ruota si spezza tra 1111 e 0000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riporto: 15 + 1 = 0</a:t>
            </a:r>
            <a:endParaRPr lang="en-US" sz="2000" dirty="0"/>
          </a:p>
        </p:txBody>
      </p:sp>
      <p:sp>
        <p:nvSpPr>
          <p:cNvPr id="15" name="Shape 10"/>
          <p:cNvSpPr/>
          <p:nvPr/>
        </p:nvSpPr>
        <p:spPr>
          <a:xfrm>
            <a:off x="5943600" y="4327906"/>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236974"/>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in complemento a due: la ruota si spezza tra 0111 e 1000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overflow con segno: 7 + 1 = -8</a:t>
            </a:r>
            <a:endParaRPr lang="en-US" sz="2000" dirty="0"/>
          </a:p>
        </p:txBody>
      </p:sp>
      <p:sp>
        <p:nvSpPr>
          <p:cNvPr id="17" name="Shape 12"/>
          <p:cNvSpPr/>
          <p:nvPr/>
        </p:nvSpPr>
        <p:spPr>
          <a:xfrm>
            <a:off x="5943600" y="5643372"/>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5244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passo indietro da 0000 porta a 1111: ecco perché 0 - 1 dà tutti uni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due</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Segni opposti</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basta sommare le configurazioni</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il riporto uscente si ignora (somma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si tengono i quattro bit bassi: 1010 = -6</a:t>
            </a:r>
            <a:endParaRPr lang="en-US" sz="1250" dirty="0"/>
          </a:p>
        </p:txBody>
      </p:sp>
      <p:sp>
        <p:nvSpPr>
          <p:cNvPr id="18" name="Shape 16"/>
          <p:cNvSpPr/>
          <p:nvPr/>
        </p:nvSpPr>
        <p:spPr>
          <a:xfrm>
            <a:off x="548640" y="3908933"/>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somma non ha bisogno di conoscere i segni: l'addizionatore dei numeri naturali dà già la risposta giusta</a:t>
            </a:r>
            <a:endParaRPr lang="en-US" sz="2300" dirty="0"/>
          </a:p>
        </p:txBody>
      </p:sp>
      <p:sp>
        <p:nvSpPr>
          <p:cNvPr id="20" name="Shape 18"/>
          <p:cNvSpPr/>
          <p:nvPr/>
        </p:nvSpPr>
        <p:spPr>
          <a:xfrm>
            <a:off x="548640" y="491947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805299"/>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riporto uscente dal bit più significativo viene semplicemente scartato</a:t>
            </a:r>
            <a:endParaRPr lang="en-US" sz="2300" dirty="0"/>
          </a:p>
        </p:txBody>
      </p:sp>
      <p:sp>
        <p:nvSpPr>
          <p:cNvPr id="22" name="Shape 20"/>
          <p:cNvSpPr/>
          <p:nvPr/>
        </p:nvSpPr>
        <p:spPr>
          <a:xfrm>
            <a:off x="548640" y="5573649"/>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45947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Anche gli n bit bassi di un prodotto sono corretti, quali che siano i segni</a:t>
            </a:r>
            <a:endParaRPr lang="en-US" sz="2300" dirty="0"/>
          </a:p>
        </p:txBody>
      </p:sp>
      <p:sp>
        <p:nvSpPr>
          <p:cNvPr id="24" name="Shape 22"/>
          <p:cNvSpPr/>
          <p:nvPr/>
        </p:nvSpPr>
        <p:spPr>
          <a:xfrm>
            <a:off x="7920304" y="91440"/>
            <a:ext cx="3722751" cy="274320"/>
          </a:xfrm>
          <a:prstGeom prst="rect">
            <a:avLst/>
          </a:prstGeom>
          <a:solidFill>
            <a:srgbClr val="E0F2FE"/>
          </a:solidFill>
          <a:ln w="12700">
            <a:solidFill>
              <a:srgbClr val="0369A1"/>
            </a:solidFill>
            <a:prstDash val="solid"/>
          </a:ln>
        </p:spPr>
      </p:sp>
      <p:sp>
        <p:nvSpPr>
          <p:cNvPr id="25" name="Shape 23"/>
          <p:cNvSpPr/>
          <p:nvPr/>
        </p:nvSpPr>
        <p:spPr>
          <a:xfrm>
            <a:off x="7920304"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7" name="Text 2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Senza segno, 8 bit</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riporto uscente: il registro contiene 2, la somma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Con segno, 8 bit</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nessun riporto uscente, ma il risultato si legge -2</a:t>
            </a:r>
            <a:endParaRPr lang="en-US" sz="1250" dirty="0"/>
          </a:p>
        </p:txBody>
      </p:sp>
      <p:sp>
        <p:nvSpPr>
          <p:cNvPr id="13" name="Shape 11"/>
          <p:cNvSpPr/>
          <p:nvPr/>
        </p:nvSpPr>
        <p:spPr>
          <a:xfrm>
            <a:off x="548640" y="3870198"/>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senza segno: c'è un riporto uscente dal bit più significativo</a:t>
            </a:r>
            <a:endParaRPr lang="en-US" sz="1800" dirty="0"/>
          </a:p>
        </p:txBody>
      </p:sp>
      <p:sp>
        <p:nvSpPr>
          <p:cNvPr id="15" name="Shape 13"/>
          <p:cNvSpPr/>
          <p:nvPr/>
        </p:nvSpPr>
        <p:spPr>
          <a:xfrm>
            <a:off x="548640" y="4297426"/>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21988"/>
            <a:ext cx="10710367" cy="81686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con segno in complemento a due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positivi danno una somma negativa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negativi danno una somma positiva</a:t>
            </a:r>
            <a:endParaRPr lang="en-US" sz="1800" dirty="0"/>
          </a:p>
        </p:txBody>
      </p:sp>
      <p:sp>
        <p:nvSpPr>
          <p:cNvPr id="17" name="Shape 15"/>
          <p:cNvSpPr/>
          <p:nvPr/>
        </p:nvSpPr>
        <p:spPr>
          <a:xfrm>
            <a:off x="548640" y="5262626"/>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18718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somma di due numeri di segno opposto non può mai dare overflow</a:t>
            </a:r>
            <a:endParaRPr lang="en-US" sz="1800" dirty="0"/>
          </a:p>
        </p:txBody>
      </p:sp>
      <p:sp>
        <p:nvSpPr>
          <p:cNvPr id="19" name="Shape 17"/>
          <p:cNvSpPr/>
          <p:nvPr/>
        </p:nvSpPr>
        <p:spPr>
          <a:xfrm>
            <a:off x="548640" y="5689854"/>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due condizioni sono indipendenti: la stessa somma può farne scattare una, entrambe o nessuna</a:t>
            </a:r>
            <a:endParaRPr lang="en-US" sz="1800" dirty="0"/>
          </a:p>
        </p:txBody>
      </p:sp>
      <p:sp>
        <p:nvSpPr>
          <p:cNvPr id="21" name="Shape 19"/>
          <p:cNvSpPr/>
          <p:nvPr/>
        </p:nvSpPr>
        <p:spPr>
          <a:xfrm>
            <a:off x="7920304" y="91440"/>
            <a:ext cx="3722751" cy="274320"/>
          </a:xfrm>
          <a:prstGeom prst="rect">
            <a:avLst/>
          </a:prstGeom>
          <a:solidFill>
            <a:srgbClr val="E0F2FE"/>
          </a:solidFill>
          <a:ln w="12700">
            <a:solidFill>
              <a:srgbClr val="0369A1"/>
            </a:solidFill>
            <a:prstDash val="solid"/>
          </a:ln>
        </p:spPr>
      </p:sp>
      <p:sp>
        <p:nvSpPr>
          <p:cNvPr id="22" name="Shape 20"/>
          <p:cNvSpPr/>
          <p:nvPr/>
        </p:nvSpPr>
        <p:spPr>
          <a:xfrm>
            <a:off x="7920304"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4" name="Text 2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Estensione del segno: lo stesso numero su più bit</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4 bit</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8 bit</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4 bit</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8 bit</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69917"/>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Per allargare un numero in complemento a due si copia il suo bit di segno in tutte le nuove posizioni a sinistra</a:t>
            </a:r>
            <a:endParaRPr lang="en-US" sz="15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78755"/>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addi t2, t2, -1 memorizza -1 in dodici bit; il processore ne estende il segno a trentadue prima di sommare</a:t>
            </a:r>
            <a:endParaRPr lang="en-US" sz="1500" dirty="0"/>
          </a:p>
        </p:txBody>
      </p:sp>
      <p:sp>
        <p:nvSpPr>
          <p:cNvPr id="21" name="Shape 19"/>
          <p:cNvSpPr/>
          <p:nvPr/>
        </p:nvSpPr>
        <p:spPr>
          <a:xfrm>
            <a:off x="548640" y="5991987"/>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3979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lb estende il segno del byte che carica; lbu riempie di zeri: si sceglie in base a ciò che il byte significa</a:t>
            </a:r>
            <a:endParaRPr lang="en-US" sz="1500" dirty="0"/>
          </a:p>
        </p:txBody>
      </p:sp>
      <p:sp>
        <p:nvSpPr>
          <p:cNvPr id="23" name="Shape 21"/>
          <p:cNvSpPr/>
          <p:nvPr/>
        </p:nvSpPr>
        <p:spPr>
          <a:xfrm>
            <a:off x="7788986" y="91440"/>
            <a:ext cx="3854069" cy="274320"/>
          </a:xfrm>
          <a:prstGeom prst="rect">
            <a:avLst/>
          </a:prstGeom>
          <a:solidFill>
            <a:srgbClr val="E0F2FE"/>
          </a:solidFill>
          <a:ln w="12700">
            <a:solidFill>
              <a:srgbClr val="0369A1"/>
            </a:solidFill>
            <a:prstDash val="solid"/>
          </a:ln>
        </p:spPr>
      </p:sp>
      <p:sp>
        <p:nvSpPr>
          <p:cNvPr id="24" name="Shape 22"/>
          <p:cNvSpPr/>
          <p:nvPr/>
        </p:nvSpPr>
        <p:spPr>
          <a:xfrm>
            <a:off x="7788986"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7917002" y="128016"/>
            <a:ext cx="201168" cy="201168"/>
          </a:xfrm>
          <a:prstGeom prst="rect">
            <a:avLst/>
          </a:prstGeom>
        </p:spPr>
      </p:pic>
      <p:sp>
        <p:nvSpPr>
          <p:cNvPr id="26" name="Text 23"/>
          <p:cNvSpPr txBox="1"/>
          <p:nvPr/>
        </p:nvSpPr>
        <p:spPr>
          <a:xfrm>
            <a:off x="8173034" y="91440"/>
            <a:ext cx="343344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l'estensione del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rappresenta in complemento a due la configurazione di 8 bit 1111 1100?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8 bit, quale somma produce un overflow con segno?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contiene 0xFFFFFFFF e t1 contiene 1. Dopo slt t2, t0, t1 e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Come si scrive 0,625 in binario?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base ha i suoi vantaggi: la base 2 per i circuiti, la base 16 per le persone che leggono i bit</a:t>
            </a:r>
            <a:endParaRPr lang="en-US" sz="1900" dirty="0"/>
          </a:p>
        </p:txBody>
      </p:sp>
      <p:sp>
        <p:nvSpPr>
          <p:cNvPr id="5" name="Shape 3"/>
          <p:cNvSpPr/>
          <p:nvPr/>
        </p:nvSpPr>
        <p:spPr>
          <a:xfrm>
            <a:off x="548640" y="234896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782"/>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 bit rappresentano 2^n numeri: quali, dipende dalla legge di codifica</a:t>
            </a:r>
            <a:endParaRPr lang="en-US" sz="1900" dirty="0"/>
          </a:p>
        </p:txBody>
      </p:sp>
      <p:sp>
        <p:nvSpPr>
          <p:cNvPr id="7" name="Shape 5"/>
          <p:cNvSpPr/>
          <p:nvPr/>
        </p:nvSpPr>
        <p:spPr>
          <a:xfrm>
            <a:off x="548640" y="290304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1985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complemento a due trasforma la sottrazione in addizione: un addizionatore fa tutto</a:t>
            </a:r>
            <a:endParaRPr lang="en-US" sz="1900" dirty="0"/>
          </a:p>
        </p:txBody>
      </p:sp>
      <p:sp>
        <p:nvSpPr>
          <p:cNvPr id="9" name="Shape 7"/>
          <p:cNvSpPr/>
          <p:nvPr/>
        </p:nvSpPr>
        <p:spPr>
          <a:xfrm>
            <a:off x="548640" y="34571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7393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L'overflow è il prezzo dei registri finiti: lo si rileva, oppure lo si esclude per progetto</a:t>
            </a:r>
            <a:endParaRPr lang="en-US" sz="1900" dirty="0"/>
          </a:p>
        </p:txBody>
      </p:sp>
      <p:sp>
        <p:nvSpPr>
          <p:cNvPr id="11" name="Shape 9"/>
          <p:cNvSpPr/>
          <p:nvPr/>
        </p:nvSpPr>
        <p:spPr>
          <a:xfrm>
            <a:off x="548640" y="430557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2239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RISC-V i bit non hanno tipo: è l'istruzione a scegliere tra con segno e senza segno</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3.1-3.2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sui sistemi di numerazione e sull'aritmetica del calcolatore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dc:title>
  <dc:subject>Lezione 05</dc:subject>
  <dc:creator>Raffaele Montella</dc:creator>
  <cp:lastModifiedBy>Raffaele Montella</cp:lastModifiedBy>
  <cp:revision>1</cp:revision>
  <dcterms:created xsi:type="dcterms:W3CDTF">2026-10-16T15:51:38Z</dcterms:created>
  <dcterms:modified xsi:type="dcterms:W3CDTF">2026-10-16T15:51:38Z</dcterms:modified>
</cp:coreProperties>
</file>