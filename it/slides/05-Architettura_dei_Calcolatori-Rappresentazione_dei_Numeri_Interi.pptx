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87b3da6d-e58d-392f-4362-6209030b65ab}">
          <p14:sldIdLst>
            <p14:sldId id="256"/>
            <p14:sldId id="257"/>
          </p14:sldIdLst>
        </p14:section>
        <p14:section name="Basi e conversioni" id="{d0de1278-3f01-c221-8d8f-2ddd318904d9}">
          <p14:sldIdLst>
            <p14:sldId id="258"/>
            <p14:sldId id="259"/>
            <p14:sldId id="260"/>
            <p14:sldId id="261"/>
          </p14:sldIdLst>
        </p14:section>
        <p14:section name="Numeri naturali e overflow" id="{f17afddb-676d-5c53-34f9-4011ef8aceb6}">
          <p14:sldIdLst>
            <p14:sldId id="262"/>
            <p14:sldId id="263"/>
            <p14:sldId id="264"/>
          </p14:sldIdLst>
        </p14:section>
        <p14:section name="Interi con segno" id="{29456bff-6cd0-2f1a-8762-70d31c0d305a}">
          <p14:sldIdLst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Ritorno alla macchina" id="{93282a95-aebe-e954-4152-cfd0a74f9442}">
          <p14:sldIdLst>
            <p14:sldId id="271"/>
            <p14:sldId id="272"/>
            <p14:sldId id="273"/>
            <p14:sldId id="274"/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lezione avvia la trattazione formale della rappresentazione dei numeri. Si apre con un enigma osservato sulla macchina, un segnalino che si sposta a sinistra oltre lo zero e mostra FFFFFFFF, e si chiude spiegandolo per intero. Nel mezzo lo studente impara a convertire tra basi, a stabilire quali numeri un dato numero di bit può rappresentare, e a codificare i numeri negativi. La citazione di Trilussa, in cui l'Uno schernisce lo Zero, porta con sé un punto matematico preciso: in un sistema posizionale lo zero, che da solo non vale nulla, dà a ogni altra cifra il suo peso.
Stato di apprendimento: DA COMPRENDERE OGGI, alla fine di questa lezione lo spiegate, lo seguite passo passo e lo applicate da soli; DA UTILIZZARE OGGI, oggi seguite e usate la ricetta; come funziona dentro si spiega più avanti, o non fa parte del corso; DA COMPRENDERE PIÙ AVANTI, riconoscete il nome e lo scopo; lo spiega una lezione successiva. Una slide senza etichetta è contesto: una storia, un esempio, una domanda, un esercizio.
Stato di apprendimento di questa lezione. DA COMPRENDERE OGGI: il complemento a due; i cambi di base; naturali e overflow; shift come moltiplicazione; segno e modulo; istruzioni con o senza segno; l'estensione del segno. DA UTILIZZARE OGGI: le chiamate del runtime PRG32, il programma completo, gli strumenti di PRG32 (si usa, non si studia, in questo corso). DA COMPRENDERE PIÙ AVANTI: niente. Una slide senza etichetta è contesto: una storia, un esempio, una domanda, un esercizio.
Per il docente: Spirale: la lezione si apre con il segnalino del laboratorio 06 del libro di PRG32 che va a sinistra oltre lo zero, e si chiude spiegandolo.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Sei risultati di apprendimento. I primi tre sono abilità da esercitare su carta: convertire tra le basi 2, 8, 10 e 16, stabilire quali numeri naturali stanno in n bit, e codificare gli interi con segno in due rappresentazioni. Il quarto riguarda l'aritmetica: somma, sottrazione e cambio di segno in complemento a due, insieme al riconoscimento dell'overflow. Gli ultimi due tornano alla macchina: spiegare l'FFFFFFFF del riscaldamento, e scegliere l'istruzione RISC-V che interpreta gli stessi bit come numero con segno o senza segno.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sistema posizionale in base b usa b cifre, da 0 a b - 1, e il valore di un numerale è la somma di ogni cifra moltiplicata per la potenza di b corrispondente alla sua posizione, come dice la formula in didascalia. La tabella scrive tredici in quattro basi: 1101 in binario, 15 in ottale, 13 in decimale, D in esadecimale. Il numero è lo stesso in ogni caso; cambia solo la notazione. La base dieci non gode di alcun privilegio per una macchina: è semplicemente la base di una specie con dieci dita.
DA COMPRENDERE OGGI: i cambi di base.
Per il docente: Un numero N è una stringa di cifre d(n-1) ... d(1) d(0), ciascuna minore della base b. Il valore è la somma di ogni cifra per la potenza della base corrispondente alla sua posizione.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basi che sono potenze di due condividono gli stessi bit, il che riduce la conversione tra di esse a un semplice raggruppamento. La slide scrive 127 in binario e ne raggruppa i bit da destra: gruppi di quattro danno le cifre esadecimali, 7F; gruppi di tre danno le cifre ottali, 177. Non serve alcuna divisione, solo la consultazione di una tabella. Vanno rispettati due dettagli: il raggruppamento parte sempre da destra, l'estremo meno significativo, e il gruppo più a sinistra, se incompleto, si completa con zeri.
DA COMPRENDERE OGGI: i cambi di base.
Per il docente: Si raggruppa da destra (dal lato meno significativo) e si completa con zeri a sinistra.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 convertire un intero dalla base dieci alla base r si divide ripetutamente per r: ogni resto è una cifra, e il quoziente si divide di nuovo finché non diventa zero. Le tre tabelle eseguono il procedimento per 127 con r uguale a 8, 16 e 2. Il riquadro evidenziato riguarda l'errore più frequente: il primo resto è la cifra meno significativa, quindi i resti vanno letti dal basso verso l'alto. Il risultato si può sempre verificare valutandolo in forma posizionale: 177 in ottale è 64 + 56 + 7 = 127.
DA COMPRENDERE OGGI: i cambi di base.
Per il docente: N = Q(n) r^(n+1) + R(n) r^n + ... + R(1) r + R(0). In C le due operazioni sono / e %; in RISC-V (estensione M) sono divu e remu.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 un numero compreso tra 0 e 1 il procedimento è speculare: si moltiplica ripetutamente per r, e a ogni passo la parte intera del prodotto è una cifra, a partire dalla più significativa, mentre la parte frazionaria si moltiplica di nuovo. 0,875 dà 0,111 e termina, perché la frazione diventa zero. 0,8 non termina mai: le stesse frazioni ricorrono e le cifre 1100 si ripetono all'infinito. Un numero con rappresentazione finita in base dieci può dunque essere periodico in base due, e un numero finito di bit deve troncarlo. È l'origine degli errori di arrotondamento studiati nella Lezione 06.
DA COMPRENDERE OGGI: i cambi di base.
Per il docente: N = R(1) r^-1 + R(2) r^-2 + ... Le slide originali rimandavano a due convertitori online (fermimn.edu.it e fauser.edu); qualunque calcolatrice moderna in modalità programmatore fa lo stesso.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 i numeri naturali la legge di rappresentazione è la più semplice possibile: X è x scritto in binario. Con n bit ci sono 2^n configurazioni, quindi l'intervallo rappresentabile va da 0 a 2^n - 1, da 0 a 15 per quattro bit come mostra la striscia. La tabella dà le dimensioni che ricorrono su RISC-V: un byte arriva a 255, una halfword a 65.535, una word a 4.294.967.295. L'ultimo valore è la lettura senza segno di FFFFFFFF, e quindi metà della risposta al riscaldamento.
DA COMPRENDERE OGGI: naturali e overflow.
Per il docente: 4.294.967.295 è la lettura senza segno di 0xFFFFFFFF: la prima metà della risposta al riscaldamento.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definizione da ricordare. Un registro ha un numero finito di bit e rappresenta quindi un sottoinsieme finito di un insieme infinito di numeri. Le operazioni aritmetiche sono chiuse sull'intero insieme ma non sul sottoinsieme: la somma di due numeri rappresentabili può cadere fuori, e quando accade si è verificato un overflow. L'esempio usa sette bit, che coprono da 0 a 127: 100 e 38 sono entrambi rappresentabili, mentre la loro somma, 138, non lo è. L'overflow non è un malfunzionamento della macchina; è una conseguenza necessaria della finitezza, e la questione ingegneristica è come rilevarlo o evitarlo.
DA COMPRENDERE OGGI: naturali e overflow.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Quattro calcoli su quattro bit, eseguiti colonna per colonna esattamente come in decimale: 1 più 1 dà 0 con riporto di 1. Sei più otto ci sta. Quattordici più tre dà diciassette, che richiede un quinto bit: un overflow. La sottrazione prende in prestito come in decimale. Il prodotto di due numeri di n bit può richiedere 2n bit, ed è per questo che RISC-V fornisce due istruzioni, mul per la metà bassa del prodotto e mulhu per quella alta. Conviene rifare a mano i quattro calcoli coprendo i risultati.
DA COMPRENDERE OGGI: naturali e overflow.
Per il docente: La slide originale diceva che l'overflow «si può rilevare mediante il bit di overflow»: vero per i processori con registro dei flag, non per RISC-V. Si veda l'ultima sezione.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L'idea più naturale è dedicare il bit più a sinistra al segno e i restanti al modulo. La rappresentazione è facile da leggere per le persone ma ha due difetti. Lo zero ha due rappresentazioni, più zero e meno zero. E l'aritmetica diventa scomoda: per sommare due numeri di segno opposto un circuito deve confrontare i moduli, sottrarre il minore dal maggiore e scegliere il segno del risultato. Una rappresentazione che complica la somma è una cattiva scelta di legge nel senso introdotto prima. Segno e modulo sopravvive comunque nella mantissa dei numeri in virgola mobile, come mostra la Lezione 06.
DA COMPRENDERE OGGI: segno e modulo.
Per il docente: Semplice per le persone, scomodo per i circuiti. Sopravvive nella mantissa dei numeri in virgola mobile IEEE 754 (Lezione 06).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complemento a due. I numeri non negativi sono rappresentati da sé stessi; un numero negativo x è rappresentato da 2^n - |x|, così che su quattro bit -3 è rappresentato da 16 - 3 = 13, cioè 1101. L'intervallo è asimmetrico, da -2^(n-1) a 2^(n-1) - 1, quindi da -8 a +7 su quattro bit. Lo zero ha un'unica rappresentazione, e il bit più a sinistra vale 1 esattamente quando il numero è negativo. Per un registro a 32 bit l'intervallo va da circa meno due miliardi a più due miliardi. È la rappresentazione usata da ogni processore moderno, RISC-V compreso.
DA COMPRENDERE OGGI: il complemento a due.
Per il docente: Detto anche complemento alla base. L'asimmetria dell'intervallo (un negativo in più) ha una conseguenza: cambiare segno al numero più negativo dà overflow.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stesse sedici configurazioni lette secondo tre leggi. Nella tabella di sinistra, dove il bit più a sinistra è 0, le tre letture coincidono. In quella di destra divergono: 1000 vale 8 senza segno, meno zero in segno e modulo e -8 in complemento a due; 1111 vale 15, -7 o -1. La frase in fondo è la chiave dell'intera lezione: i bit non indicano quale colonna sia corretta. Lo indica il programma, attraverso le istruzioni che sceglie di applicare a essi.
DA COMPRENDERE OGGI: il complemento a due.
Per il docente: Evidenziati: 1000 è meno zero in segno e modulo ma -8 in complemento a due; 1111 è -7 oppure -1. Complemento a uno ed eccesso 8 si aggiungono a questa tabella nella Lezione 06.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 n bit i numeri formano un cerchio: l'ultima configurazione è seguita dalla prima, perché l'aritmetica si svolge modulo 2^n. Sommare 1 fa avanzare di un passo in senso orario. L'anello interno mostra il valore senza segno, i dischi esterni il valore in complemento a due. Il cerchio è "spezzato" in due punti diversi. Per la lettura senza segno la discontinuità sta in alto, tra 1111 e 0000, e attraversarla è un riporto. Per il complemento a due sta in basso, tra 0111 e 1000, e attraversarla è un overflow con segno. Un passo indietro da 0000 raggiunge 1111: è esattamente l'FFFFFFFF del riscaldamento.
DA COMPRENDERE OGGI: il complemento a due.
Per il docente: Anello interno: valore senza segno. In mezzo: i bit. Dischi esterni: valore in complemento a due. Lo stesso addizionatore serve entrambe le letture: cambia solo il punto in cui la ruota «si spezza».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 calcoli mostrano il vantaggio decisivo del complemento a due. Per sommare 2 e -6 basta sommare le due configurazioni: 0010 più 1010 dà 1100, che si legge -4. Per sommare due numeri negativi si sommano le configurazioni e si scarta il riporto uscente dalla posizione più a sinistra. Anche i quattro bit bassi del prodotto sono corretti. La prima riga di punti elenco ne enuncia la conseguenza: il sommatore non ha bisogno di conoscere i segni degli operandi. Il circuito che somma i numeri naturali dà già il risultato corretto per quelli con segno, quindi un solo sommatore serve entrambi.
DA COMPRENDERE OGGI: il complemento a due.
Per il docente: Verifica del prodotto: 2 x 13 = 26 = 1 1010; i quattro bit bassi sono 1010, che si legge -6. Per questo RISC-V ha una sola mul per operandi con e senza segno.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 sono due nozioni distinte di overflow, e sono indipendenti. Per i numeri senza segno, l'overflow è un riporto uscente dal bit più a sinistra: 128 più 130 su otto bit lascia 2 nel registro. Per i numeri con segno, l'overflow è un risultato del segno sbagliato: 127 più 127 non produce riporto uscente, eppure la configurazione si legge -2. Ne segue la regola: due operandi positivi che danno una somma negativa, o due negativi che danno una somma positiva. Operandi di segno opposto non possono mai dare overflow, perché il risultato esatto sta tra di essi ed è quindi rappresentabile.
DA COMPRENDERE OGGI: il complemento a due.
Per il docente: Regola circuitale equivalente per l'overflow con segno: il riporto entrante nel bit più significativo è diverso da quello uscente.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Come si può portare un numero su più bit senza cambiarne il valore? In complemento a due, copiando il bit del segno in ogni nuova posizione: -1 su quattro bit, 1111, diventa 1111 1111 su otto; +5, 0101, diventa 0000 0101. È l'estensione del segno. Il processore la esegue ogni volta che un valore stretto incontra uno largo: l'immediato a dodici bit di addi viene esteso con segno a trentadue bit, e lb estende con segno il byte che carica, mentre lbu riempie con zeri i bit alti. La scelta tra i due caricamenti è un'affermazione su che cosa significhi il byte.
DA COMPRENDERE OGGI: l'estensione del segno.
Per il docente: Estendere con zeri trasformerebbe 1111 (-1) in 0000 1111 (+15). L'estensione del segno è la controparte con segno della proprietà di «estensione a sinistra» vista per i naturali.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 la prima domanda, il bit più a sinistra è 1, quindi il numero è negativo, e 252, la lettura senza segno, va scartato. Il modulo si trova cambiando segno: complementando si ottiene 0000 0011, e sommando uno si ottiene 0000 0100, cioè 4. La configurazione rappresenta quindi -4.
Per la seconda, l'intervallo in complemento a due su otto bit va da -128 a +127. Si calcola ogni somma e la si confronta con l'intervallo. Ricordare che operandi di segno opposto non danno overflow elimina subito due opzioni.
Per il docente: 1. Risposta: B. Si complementa e si somma uno: 0000 0011 + 1 = 0000 0100 = 4, quindi la configurazione vale -4. (252 è la sua lettura senza segno.)
2. Risposta: B. L'intervallo è [-128, 127]. 100 + 27 = 127 ci sta; 100 + 28 = 128 no: due positivi danno una configurazione negativa (1000 0000 = -128).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 la prima domanda: gli stessi due registri, e due istruzioni che differiscono per una sola lettera. slt interpreta FFFFFFFF come -1, che è minore di 1; sltu lo interpreta come un valore superiore a quattro miliardi, che non lo è. La domanda condensa l'intera lezione in una riga.
Per la seconda si applica la moltiplicazione ripetuta: 0,625 per 2 dà 1,25, cifra 1; 0,25 per 2 dà 0,5, cifra 0; 0,5 per 2 dà 1,0, cifra 1. Il risultato si verifica con i pesi posizionali: un mezzo più un ottavo fa 0,625.
Per il docente: 1. Risposta: C. Con segno: -1 &lt; 1 è vero, quindi t2 = 1. Senza segno: 4.294.967.295 &lt; 1 è falso, quindi t3 = 0.
2. Risposta: A. 0,625 x 2 = 1,25 (1); 0,25 x 2 = 0,5 (0); 0,5 x 2 = 1,0 (1): 0,101 = 1/2 + 1/8.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Dodici termini. Signed integer si rende in italiano con numero relativo o intero con segno. Carry e borrow indicano il riporto nella somma e il prestito nella sottrazione. L'estensione del segno è l'operazione che allarga un numero con segno conservandone il valore. To clamp non ha un unico equivalente italiano: significa vincolare un valore a un intervallo.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conclusioni. Ogni base ha il suo scopo: la base due per i circuiti, la base sedici per chi legge i bit. Con n bit sono rappresentabili esattamente 2^n numeri, e la legge di codifica stabilisce quali. Il complemento a due riduce la sottrazione alla somma, così che un solo sommatore serve l'aritmetica con e senza segno. L'overflow è il prezzo dei registri finiti: va rilevato, oppure evitato per costruzione, come fa il clamp. E in RISC-V i bit non hanno tipo: è l'istruzione a decidere come vanno letti. La prossima lezione completa il quadro con la rappresentazione dei numeri reali.
Stato di apprendimento, riepilogo. DA COMPRENDERE OGGI: il complemento a due; i cambi di base; naturali e overflow; shift come moltiplicazione; segno e modulo; istruzioni con o senza segno; l'estensione del segno. DA UTILIZZARE OGGI: le chiamate del runtime PRG32, il programma completo, gli strumenti di PRG32 (si usa, non si studia, in questo corso). DA COMPRENDERE PIÙ AVANTI: niente. Una slide senza etichetta è contesto: una storia, un esempio, una domanda, un esercizio.
Per il docente: Prossima lezione: complemento a uno, eccesso k, virgola fissa e virgola mobile IEEE 754.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05: Rappresentazione dei numeri (interi)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05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Rappresentazione dei numeri: gli interi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Basi, numeri naturali, complemento a due e overflow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3434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“Conterò poco, è vero: - diceva l'Uno ar Zero - ma tu che vali? Gnente: propio gnente.”</a:t>
            </a:r>
            <a:endParaRPr lang="en-US" sz="1900" dirty="0"/>
          </a:p>
          <a:p>
            <a:pPr indent="0" marL="0">
              <a:buNone/>
            </a:pPr>
            <a:r>
              <a:rPr lang="en-US" sz="1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Trilussa, Nummeri, 1944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693615" y="56692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della lezione. I listati, il programma completo e come provarlo sono nella presentazione del codice: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05-Architettura_dei_Calcolatori-Rappresentazione_dei_Numeri_Interi-Lab.pptx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4" name="Image 0" descr="/Users/raffaelemontella/devel/riscv-prg32/computer-architecture-with-prg32/tools/assets/lab2_step2_mo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16975" y="4280535"/>
            <a:ext cx="2834640" cy="1771650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8910777" y="91440"/>
            <a:ext cx="2732278" cy="274320"/>
          </a:xfrm>
          <a:prstGeom prst="rect">
            <a:avLst/>
          </a:prstGeom>
          <a:solidFill>
            <a:srgbClr val="F3E8FF"/>
          </a:solidFill>
          <a:ln w="12700">
            <a:solidFill>
              <a:srgbClr val="7E22CE"/>
            </a:solidFill>
            <a:prstDash val="dash"/>
          </a:ln>
        </p:spPr>
      </p:sp>
      <p:sp>
        <p:nvSpPr>
          <p:cNvPr id="16" name="Shape 13"/>
          <p:cNvSpPr/>
          <p:nvPr/>
        </p:nvSpPr>
        <p:spPr>
          <a:xfrm>
            <a:off x="8938209" y="128016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938209" y="205740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938209" y="283464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8793" y="128016"/>
            <a:ext cx="201168" cy="201168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9294825" y="91440"/>
            <a:ext cx="23116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PIÙ AVANTI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6675069" y="91440"/>
            <a:ext cx="2125980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67506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672993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085" y="128016"/>
            <a:ext cx="201168" cy="201168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7059117" y="91440"/>
            <a:ext cx="17053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endParaRPr lang="en-US" sz="1100" dirty="0"/>
          </a:p>
        </p:txBody>
      </p:sp>
      <p:sp>
        <p:nvSpPr>
          <p:cNvPr id="26" name="Shape 21"/>
          <p:cNvSpPr/>
          <p:nvPr/>
        </p:nvSpPr>
        <p:spPr>
          <a:xfrm>
            <a:off x="4352747" y="91440"/>
            <a:ext cx="221259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435274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763" y="128016"/>
            <a:ext cx="201168" cy="201168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4736795" y="91440"/>
            <a:ext cx="17919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saprete fare alla fine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41732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Convertire interi e frazioni tra le basi 2, 8, 10 e 16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20167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183384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 quali numeri naturali stanno in n bit e riconoscere un overflow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96773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2949448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Codificare e decodificare interi con segno in segno e modulo e in complemento a due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97662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3958336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Sommare, sottrarre e cambiare segno in complemento a due, e rilevare l'overflow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98551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4967224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Spiegare perché 0 - 1 compare come 0xFFFFFFFF in un registro RISC-V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75157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207008" y="5733288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Scegliere l'istruzione RISC-V giusta per dati con segno e senza segno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Sistemi posizionali: basi 2, 8, 10 e 16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530264"/>
                <a:gridCol w="3443094"/>
                <a:gridCol w="2869245"/>
                <a:gridCol w="3251811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b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Cifre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Nome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Tredici si scrive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0, 1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binaria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1101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0, 1, ..., 7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ottale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15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0, 1, ..., 9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decimale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13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0, ..., 9, A, ..., F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esadecimale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760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d(n-1) x b^(n-1) + ... + d(1) x b + d(0), con ogni cifra compresa tra 0 e b - 1.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8248599" y="91440"/>
            <a:ext cx="3394456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248599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76615" y="128016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632647" y="91440"/>
            <a:ext cx="2973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 cambi di base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basi potenze di due condividono gli stessi bit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9164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127 in base 10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4297680" y="1737360"/>
            <a:ext cx="566928" cy="64008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864608" y="1737360"/>
            <a:ext cx="566928" cy="64008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431536" y="1737360"/>
            <a:ext cx="566928" cy="64008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998464" y="1737360"/>
            <a:ext cx="566928" cy="64008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6565392" y="1737360"/>
            <a:ext cx="566928" cy="64008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7132320" y="1737360"/>
            <a:ext cx="566928" cy="64008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7699248" y="1737360"/>
            <a:ext cx="566928" cy="64008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266176" y="1737360"/>
            <a:ext cx="566928" cy="64008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292608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gruppi di 4: esadecimale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297680" y="2926080"/>
            <a:ext cx="2267712" cy="640080"/>
          </a:xfrm>
          <a:prstGeom prst="rect">
            <a:avLst/>
          </a:prstGeom>
          <a:solidFill>
            <a:srgbClr val="0E7C86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0111 = 7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6565392" y="2926080"/>
            <a:ext cx="2267712" cy="640080"/>
          </a:xfrm>
          <a:prstGeom prst="rect">
            <a:avLst/>
          </a:prstGeom>
          <a:solidFill>
            <a:srgbClr val="C7791B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1111 = F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8961120" y="292608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0x7F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1148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gruppi di 3: ottale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4297680" y="4114800"/>
            <a:ext cx="1133856" cy="640080"/>
          </a:xfrm>
          <a:prstGeom prst="rect">
            <a:avLst/>
          </a:prstGeom>
          <a:solidFill>
            <a:srgbClr val="6B4FA0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= 1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5431536" y="4114800"/>
            <a:ext cx="1700784" cy="640080"/>
          </a:xfrm>
          <a:prstGeom prst="rect">
            <a:avLst/>
          </a:prstGeom>
          <a:solidFill>
            <a:srgbClr val="2F7D4F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111 = 7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7132320" y="4114800"/>
            <a:ext cx="1700784" cy="640080"/>
          </a:xfrm>
          <a:prstGeom prst="rect">
            <a:avLst/>
          </a:prstGeom>
          <a:solidFill>
            <a:srgbClr val="B23A48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111 = 7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8961120" y="41148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177 ottale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8ECEE"/>
          </a:solidFill>
          <a:ln w="12700">
            <a:solidFill>
              <a:srgbClr val="D8ECE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22960" y="5166360"/>
            <a:ext cx="105457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ogni cifra è scritta in binario puro, i bit di un numero sono gli stessi in ogni base b = 2^k: si raggruppano da destra, k alla volta. Esempio: 13 = 1101 in binario = 15 in ottale = D in esadecimale.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8248599" y="91440"/>
            <a:ext cx="3394456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248599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76615" y="128016"/>
            <a:ext cx="201168" cy="201168"/>
          </a:xfrm>
          <a:prstGeom prst="rect">
            <a:avLst/>
          </a:prstGeom>
        </p:spPr>
      </p:pic>
      <p:sp>
        <p:nvSpPr>
          <p:cNvPr id="26" name="Text 23"/>
          <p:cNvSpPr txBox="1"/>
          <p:nvPr/>
        </p:nvSpPr>
        <p:spPr>
          <a:xfrm>
            <a:off x="8632647" y="91440"/>
            <a:ext cx="2973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 cambi di base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Convertire un intero: divisioni successive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divide N per la base r; il resto è la cifra successiva, a partire dalla meno significativa. Si ripete sul quoziente finché non diventa zero.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029968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= 8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77440"/>
          <a:ext cx="30175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005840"/>
                <a:gridCol w="100584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/ 8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mod 8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127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15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15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3803904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779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127 = 177 ottale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4389120" y="2029968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= 16</a:t>
            </a:r>
            <a:endParaRPr lang="en-US" sz="150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89120" y="2377440"/>
          <a:ext cx="315468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1051560"/>
                <a:gridCol w="105156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/ 16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mod 16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127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15 = F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4389120" y="347472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779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127 = 0x7F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8275320" y="2029968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= 2</a:t>
            </a:r>
            <a:endParaRPr lang="en-US" sz="150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75320" y="2377440"/>
          <a:ext cx="30175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005840"/>
                <a:gridCol w="100584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/ 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mod 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127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63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63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15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15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12" name="Text 7"/>
          <p:cNvSpPr txBox="1"/>
          <p:nvPr/>
        </p:nvSpPr>
        <p:spPr>
          <a:xfrm>
            <a:off x="8275320" y="51206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779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127 = 1111111</a:t>
            </a:r>
            <a:endParaRPr lang="en-US" sz="1800" dirty="0"/>
          </a:p>
        </p:txBody>
      </p:sp>
      <p:sp>
        <p:nvSpPr>
          <p:cNvPr id="13" name="Shape 8"/>
          <p:cNvSpPr/>
          <p:nvPr/>
        </p:nvSpPr>
        <p:spPr>
          <a:xfrm>
            <a:off x="548640" y="4846320"/>
            <a:ext cx="7223760" cy="1325880"/>
          </a:xfrm>
          <a:prstGeom prst="roundRect">
            <a:avLst>
              <a:gd name="adj" fmla="val 5517"/>
            </a:avLst>
          </a:prstGeom>
          <a:solidFill>
            <a:srgbClr val="F6E7D2"/>
          </a:solidFill>
          <a:ln w="12700">
            <a:solidFill>
              <a:srgbClr val="F6E7D2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777240" y="4892040"/>
            <a:ext cx="6766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resti si leggono dal basso verso l'alto: l'ultimo resto è la cifra più significativa. Il metodo discende da N = Q x r + R, applicata più volte al quoziente.</a:t>
            </a:r>
            <a:endParaRPr lang="en-US" sz="1600" dirty="0"/>
          </a:p>
        </p:txBody>
      </p:sp>
      <p:sp>
        <p:nvSpPr>
          <p:cNvPr id="15" name="Shape 10"/>
          <p:cNvSpPr/>
          <p:nvPr/>
        </p:nvSpPr>
        <p:spPr>
          <a:xfrm>
            <a:off x="8248599" y="91440"/>
            <a:ext cx="3394456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8248599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76615" y="128016"/>
            <a:ext cx="201168" cy="20116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632647" y="91440"/>
            <a:ext cx="2973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 cambi di base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Convertire una frazione: moltiplicazioni successive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0 &lt;= N &lt; 1 si moltiplica per la base r: la parte intera del prodotto è la cifra successiva, a partire dalla più significativa. Si ripete sulla parte frazionaria.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075688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0,875 in base 2: esatto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423160"/>
          <a:ext cx="50292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554480"/>
                <a:gridCol w="15544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Prodotto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Frazione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Cifra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0,875 x 2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0,75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0,75 x 2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0,5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0,5 x 2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39319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779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0,875 = 0,111 in binario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6583680" y="2075688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0,8 in base 2: periodico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0" y="2423160"/>
          <a:ext cx="50292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554480"/>
                <a:gridCol w="15544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Prodotto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Frazione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Cifra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0,8 x 2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0,6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0,6 x 2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0,2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0,2 x 2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0,4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0,4 x 2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0,8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0,8 x 2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0,6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1 ...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6583680" y="459943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779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0,8 = 0,1100 1100 1100 ...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548640" y="5074920"/>
            <a:ext cx="11094415" cy="1097280"/>
          </a:xfrm>
          <a:prstGeom prst="roundRect">
            <a:avLst>
              <a:gd name="adj" fmla="val 6667"/>
            </a:avLst>
          </a:prstGeom>
          <a:solidFill>
            <a:srgbClr val="F3DDE0"/>
          </a:solidFill>
          <a:ln w="12700">
            <a:solidFill>
              <a:srgbClr val="F3DDE0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22960" y="5120640"/>
            <a:ext cx="105457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frazione finita in base 10 può essere periodica in base 2. Con un numero finito di bit va troncata: da qui nascono gli errori di approssimazione dei numeri reali (Lezione 06).</a:t>
            </a:r>
            <a:endParaRPr lang="en-US" sz="1650" dirty="0"/>
          </a:p>
        </p:txBody>
      </p:sp>
      <p:sp>
        <p:nvSpPr>
          <p:cNvPr id="12" name="Shape 8"/>
          <p:cNvSpPr/>
          <p:nvPr/>
        </p:nvSpPr>
        <p:spPr>
          <a:xfrm>
            <a:off x="8248599" y="91440"/>
            <a:ext cx="3394456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248599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76615" y="128016"/>
            <a:ext cx="201168" cy="20116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632647" y="91440"/>
            <a:ext cx="2973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 cambi di base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Numeri naturali su n bit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31493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10710367" cy="3563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n bit ci sono 2^n configurazioni: i naturali da 0 a 2^n - 1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48640" y="2053209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1939036"/>
            <a:ext cx="10710367" cy="7127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ogni numero è associata la stringa di bit che lo rappresenta nel sistema posizionale binario</a:t>
            </a:r>
            <a:endParaRPr lang="en-US" sz="23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8346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Esempio: n = 4, intervallo [0, 15]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520440"/>
            <a:ext cx="693401" cy="64008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0000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197096"/>
            <a:ext cx="6934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42041" y="3520440"/>
            <a:ext cx="693401" cy="64008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0001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1242041" y="4197096"/>
            <a:ext cx="6934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935442" y="3520440"/>
            <a:ext cx="693401" cy="64008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0010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1935442" y="4197096"/>
            <a:ext cx="6934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2628843" y="3520440"/>
            <a:ext cx="693401" cy="64008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0011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2628843" y="4197096"/>
            <a:ext cx="6934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3322244" y="3520440"/>
            <a:ext cx="693401" cy="64008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0100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3322244" y="4197096"/>
            <a:ext cx="6934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4015645" y="3520440"/>
            <a:ext cx="693401" cy="64008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0101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4015645" y="4197096"/>
            <a:ext cx="6934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4709046" y="3520440"/>
            <a:ext cx="693401" cy="64008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0110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4709046" y="4197096"/>
            <a:ext cx="6934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5402447" y="3520440"/>
            <a:ext cx="693401" cy="64008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0111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5402447" y="4197096"/>
            <a:ext cx="6934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6095848" y="3520440"/>
            <a:ext cx="693401" cy="64008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1000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6095848" y="4197096"/>
            <a:ext cx="6934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6789249" y="3520440"/>
            <a:ext cx="693401" cy="64008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1001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6789249" y="4197096"/>
            <a:ext cx="6934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7482650" y="3520440"/>
            <a:ext cx="693401" cy="64008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1010</a:t>
            </a:r>
            <a:endParaRPr lang="en-US" sz="1350" dirty="0"/>
          </a:p>
        </p:txBody>
      </p:sp>
      <p:sp>
        <p:nvSpPr>
          <p:cNvPr id="29" name="Text 27"/>
          <p:cNvSpPr txBox="1"/>
          <p:nvPr/>
        </p:nvSpPr>
        <p:spPr>
          <a:xfrm>
            <a:off x="7482650" y="4197096"/>
            <a:ext cx="6934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8176050" y="3520440"/>
            <a:ext cx="693401" cy="64008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1011</a:t>
            </a:r>
            <a:endParaRPr lang="en-US" sz="1350" dirty="0"/>
          </a:p>
        </p:txBody>
      </p:sp>
      <p:sp>
        <p:nvSpPr>
          <p:cNvPr id="31" name="Text 29"/>
          <p:cNvSpPr txBox="1"/>
          <p:nvPr/>
        </p:nvSpPr>
        <p:spPr>
          <a:xfrm>
            <a:off x="8176050" y="4197096"/>
            <a:ext cx="6934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8869451" y="3520440"/>
            <a:ext cx="693401" cy="64008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1100</a:t>
            </a:r>
            <a:endParaRPr lang="en-US" sz="1350" dirty="0"/>
          </a:p>
        </p:txBody>
      </p:sp>
      <p:sp>
        <p:nvSpPr>
          <p:cNvPr id="33" name="Text 31"/>
          <p:cNvSpPr txBox="1"/>
          <p:nvPr/>
        </p:nvSpPr>
        <p:spPr>
          <a:xfrm>
            <a:off x="8869451" y="4197096"/>
            <a:ext cx="6934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9562852" y="3520440"/>
            <a:ext cx="693401" cy="64008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1101</a:t>
            </a:r>
            <a:endParaRPr lang="en-US" sz="1350" dirty="0"/>
          </a:p>
        </p:txBody>
      </p:sp>
      <p:sp>
        <p:nvSpPr>
          <p:cNvPr id="35" name="Text 33"/>
          <p:cNvSpPr txBox="1"/>
          <p:nvPr/>
        </p:nvSpPr>
        <p:spPr>
          <a:xfrm>
            <a:off x="9562852" y="4197096"/>
            <a:ext cx="6934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10256253" y="3520440"/>
            <a:ext cx="693401" cy="64008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1110</a:t>
            </a:r>
            <a:endParaRPr lang="en-US" sz="1350" dirty="0"/>
          </a:p>
        </p:txBody>
      </p:sp>
      <p:sp>
        <p:nvSpPr>
          <p:cNvPr id="37" name="Text 35"/>
          <p:cNvSpPr txBox="1"/>
          <p:nvPr/>
        </p:nvSpPr>
        <p:spPr>
          <a:xfrm>
            <a:off x="10256253" y="4197096"/>
            <a:ext cx="6934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600" dirty="0"/>
          </a:p>
        </p:txBody>
      </p:sp>
      <p:sp>
        <p:nvSpPr>
          <p:cNvPr id="38" name="Text 36"/>
          <p:cNvSpPr txBox="1"/>
          <p:nvPr/>
        </p:nvSpPr>
        <p:spPr>
          <a:xfrm>
            <a:off x="10949654" y="3520440"/>
            <a:ext cx="693401" cy="64008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1111</a:t>
            </a:r>
            <a:endParaRPr lang="en-US" sz="1350" dirty="0"/>
          </a:p>
        </p:txBody>
      </p:sp>
      <p:sp>
        <p:nvSpPr>
          <p:cNvPr id="39" name="Text 37"/>
          <p:cNvSpPr txBox="1"/>
          <p:nvPr/>
        </p:nvSpPr>
        <p:spPr>
          <a:xfrm>
            <a:off x="10949654" y="4197096"/>
            <a:ext cx="6934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54880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  <a:gridCol w="2864815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Intervallo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RISC-V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Massimo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 ... 2^8 - 1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byte (lbu)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 ... 2^16 - 1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halfword (lhu)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65.535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 ... 2^32 - 1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word, registro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4.294.967.295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41" name="Shape 38"/>
          <p:cNvSpPr/>
          <p:nvPr/>
        </p:nvSpPr>
        <p:spPr>
          <a:xfrm>
            <a:off x="7985963" y="91440"/>
            <a:ext cx="3657092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7985963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4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13979" y="128016"/>
            <a:ext cx="201168" cy="201168"/>
          </a:xfrm>
          <a:prstGeom prst="rect">
            <a:avLst/>
          </a:prstGeom>
        </p:spPr>
      </p:pic>
      <p:sp>
        <p:nvSpPr>
          <p:cNvPr id="44" name="Text 40"/>
          <p:cNvSpPr txBox="1"/>
          <p:nvPr/>
        </p:nvSpPr>
        <p:spPr>
          <a:xfrm>
            <a:off x="8370011" y="91440"/>
            <a:ext cx="32364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naturali e overflow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Overflow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1596136"/>
          </a:xfrm>
          <a:prstGeom prst="roundRect">
            <a:avLst>
              <a:gd name="adj" fmla="val 4583"/>
            </a:avLst>
          </a:prstGeom>
          <a:solidFill>
            <a:srgbClr val="F6E7D2"/>
          </a:solidFill>
          <a:ln w="12700">
            <a:solidFill>
              <a:srgbClr val="F6E7D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60020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Definizione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057400"/>
            <a:ext cx="10362895" cy="773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 ha overflow quando il risultato di un'operazione non è contenuto nel sottoinsieme finito di numeri che i bit disponibili possono rappresentare.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48640" y="343992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32688" y="3333496"/>
            <a:ext cx="10710367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registri hanno dimensione finita e sono in numero finito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48640" y="3931666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32688" y="3825240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insiemi numerici sono infiniti: se ne può rappresentare solo un sottoinsieme finito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476427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32688" y="4657852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operatori aritmetici sono chiusi sull'insieme intero, non sul sottoinsieme finito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548640" y="559689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32688" y="5490464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7 bit si codifica [0, 127]: 100 e 38 sono rappresentabili, la loro somma 138 no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985963" y="91440"/>
            <a:ext cx="3657092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85963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13979" y="128016"/>
            <a:ext cx="201168" cy="201168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8370011" y="91440"/>
            <a:ext cx="32364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naturali e overflow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Aritmetica su quattro bit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2567864" cy="2057400"/>
          </a:xfrm>
          <a:prstGeom prst="roundRect">
            <a:avLst>
              <a:gd name="adj" fmla="val 355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554480"/>
            <a:ext cx="22021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920240"/>
            <a:ext cx="87307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+</a:t>
            </a:r>
            <a:endParaRPr lang="en-US" sz="1600" dirty="0"/>
          </a:p>
          <a:p>
            <a:pPr algn="r" indent="0" marL="0">
              <a:buNone/>
            </a:pPr>
            <a:r>
              <a:rPr lang="en-US" sz="16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=</a:t>
            </a:r>
            <a:endParaRPr lang="en-US" sz="1600" dirty="0"/>
          </a:p>
          <a:p>
            <a:pPr algn="r" indent="0" marL="0">
              <a:buNone/>
            </a:pPr>
            <a:r>
              <a:rPr lang="en-US" sz="16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575786" y="1920240"/>
            <a:ext cx="131211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0110 +</a:t>
            </a:r>
            <a:endParaRPr lang="en-US" sz="1600" dirty="0"/>
          </a:p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1000 =</a:t>
            </a:r>
            <a:endParaRPr lang="en-US" sz="1600" dirty="0"/>
          </a:p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1110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044952"/>
            <a:ext cx="22021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 in quattro bit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390824" y="1463040"/>
            <a:ext cx="2567864" cy="2057400"/>
          </a:xfrm>
          <a:prstGeom prst="roundRect">
            <a:avLst>
              <a:gd name="adj" fmla="val 355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73704" y="1554480"/>
            <a:ext cx="22021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 con overflow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573704" y="1920240"/>
            <a:ext cx="87307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+</a:t>
            </a:r>
            <a:endParaRPr lang="en-US" sz="1600" dirty="0"/>
          </a:p>
          <a:p>
            <a:pPr algn="r" indent="0" marL="0">
              <a:buNone/>
            </a:pPr>
            <a:r>
              <a:rPr lang="en-US" sz="16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=</a:t>
            </a:r>
            <a:endParaRPr lang="en-US" sz="1600" dirty="0"/>
          </a:p>
          <a:p>
            <a:pPr algn="r" indent="0" marL="0">
              <a:buNone/>
            </a:pPr>
            <a:r>
              <a:rPr lang="en-US" sz="16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417969" y="1920240"/>
            <a:ext cx="131211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1110 +</a:t>
            </a:r>
            <a:endParaRPr lang="en-US" sz="1600" dirty="0"/>
          </a:p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0011 =</a:t>
            </a:r>
            <a:endParaRPr lang="en-US" sz="1600" dirty="0"/>
          </a:p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1 0001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573704" y="3044952"/>
            <a:ext cx="22021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 un quinto bit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33008" y="1463040"/>
            <a:ext cx="2567864" cy="2057400"/>
          </a:xfrm>
          <a:prstGeom prst="roundRect">
            <a:avLst>
              <a:gd name="adj" fmla="val 355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15888" y="1554480"/>
            <a:ext cx="22021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Differenza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415888" y="1920240"/>
            <a:ext cx="87307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11 -</a:t>
            </a:r>
            <a:endParaRPr lang="en-US" sz="1600" dirty="0"/>
          </a:p>
          <a:p>
            <a:pPr algn="r" indent="0" marL="0">
              <a:buNone/>
            </a:pPr>
            <a:r>
              <a:rPr lang="en-US" sz="16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=</a:t>
            </a:r>
            <a:endParaRPr lang="en-US" sz="1600" dirty="0"/>
          </a:p>
          <a:p>
            <a:pPr algn="r" indent="0" marL="0">
              <a:buNone/>
            </a:pPr>
            <a:r>
              <a:rPr lang="en-US" sz="16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7260153" y="1920240"/>
            <a:ext cx="131211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1011 -</a:t>
            </a:r>
            <a:endParaRPr lang="en-US" sz="1600" dirty="0"/>
          </a:p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0101 =</a:t>
            </a:r>
            <a:endParaRPr lang="en-US" sz="1600" dirty="0"/>
          </a:p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0110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15888" y="3044952"/>
            <a:ext cx="22021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prestito come in decimale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9075191" y="1463040"/>
            <a:ext cx="2567864" cy="2057400"/>
          </a:xfrm>
          <a:prstGeom prst="roundRect">
            <a:avLst>
              <a:gd name="adj" fmla="val 355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258071" y="1554480"/>
            <a:ext cx="22021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Prodotto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9258071" y="1920240"/>
            <a:ext cx="87307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x</a:t>
            </a:r>
            <a:endParaRPr lang="en-US" sz="1600" dirty="0"/>
          </a:p>
          <a:p>
            <a:pPr algn="r" indent="0" marL="0">
              <a:buNone/>
            </a:pPr>
            <a:r>
              <a:rPr lang="en-US" sz="16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=</a:t>
            </a:r>
            <a:endParaRPr lang="en-US" sz="1600" dirty="0"/>
          </a:p>
          <a:p>
            <a:pPr algn="r" indent="0" marL="0">
              <a:buNone/>
            </a:pPr>
            <a:r>
              <a:rPr lang="en-US" sz="16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0102337" y="1920240"/>
            <a:ext cx="131211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0101 x</a:t>
            </a:r>
            <a:endParaRPr lang="en-US" sz="1600" dirty="0"/>
          </a:p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0011 =</a:t>
            </a:r>
            <a:endParaRPr lang="en-US" sz="1600" dirty="0"/>
          </a:p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000 1111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258071" y="3044952"/>
            <a:ext cx="22021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x n bit danno fino a 2n bit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48640" y="390118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32688" y="3794760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L'aritmetica binaria segue le stesse regole colonna per colonna di quella decimale: 1 + 1 = 0 con riporto di 1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548640" y="474903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32688" y="4642612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processore segnala un riporto perduto in modi diversi: molti hanno un flag di carry, RISC-V lo fa calcolare con un confronto</a:t>
            </a:r>
            <a:endParaRPr lang="en-US" sz="2200" dirty="0"/>
          </a:p>
        </p:txBody>
      </p:sp>
      <p:sp>
        <p:nvSpPr>
          <p:cNvPr id="27" name="Shape 25"/>
          <p:cNvSpPr/>
          <p:nvPr/>
        </p:nvSpPr>
        <p:spPr>
          <a:xfrm>
            <a:off x="548640" y="559689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32688" y="5490464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prodotto richiede il doppio dei bit: su RV32 mul dà i 32 bit bassi e mulhu i 32 alti</a:t>
            </a:r>
            <a:endParaRPr lang="en-US" sz="2200" dirty="0"/>
          </a:p>
        </p:txBody>
      </p:sp>
      <p:sp>
        <p:nvSpPr>
          <p:cNvPr id="29" name="Shape 27"/>
          <p:cNvSpPr/>
          <p:nvPr/>
        </p:nvSpPr>
        <p:spPr>
          <a:xfrm>
            <a:off x="7985963" y="91440"/>
            <a:ext cx="3657092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85963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3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13979" y="128016"/>
            <a:ext cx="201168" cy="201168"/>
          </a:xfrm>
          <a:prstGeom prst="rect">
            <a:avLst/>
          </a:prstGeom>
        </p:spPr>
      </p:pic>
      <p:sp>
        <p:nvSpPr>
          <p:cNvPr id="32" name="Text 29"/>
          <p:cNvSpPr txBox="1"/>
          <p:nvPr/>
        </p:nvSpPr>
        <p:spPr>
          <a:xfrm>
            <a:off x="8370011" y="91440"/>
            <a:ext cx="32364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naturali e overflow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Segno e modulo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237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bit più significativo è il segno (1 = negativo); gli altri n - 1 bit sono il modulo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57818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471759"/>
            <a:ext cx="6565392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Intervallo: da -(2^(n-1) - 1) a +(2^(n-1) - 1)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329175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185329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zero ha due rappresentazioni, +0 e -0: si rappresentano solo 2^n - 1 numeri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4346194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239768"/>
            <a:ext cx="6565392" cy="1932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L'aritmetica deve lavorare separatamente su segno e modulo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per sommare due numeri di segno opposto si trova il modulo maggiore e gli si sottrae il minore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il risultato prende il segno dell'operando di modulo maggiore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7863840" y="1417320"/>
            <a:ext cx="3779215" cy="4754880"/>
          </a:xfrm>
          <a:prstGeom prst="roundRect">
            <a:avLst>
              <a:gd name="adj" fmla="val 1936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046720" y="2148840"/>
            <a:ext cx="341345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 = |x| + 2^(n-1) s</a:t>
            </a:r>
            <a:endParaRPr lang="en-US" sz="5300" dirty="0"/>
          </a:p>
        </p:txBody>
      </p:sp>
      <p:sp>
        <p:nvSpPr>
          <p:cNvPr id="13" name="Text 11"/>
          <p:cNvSpPr txBox="1"/>
          <p:nvPr/>
        </p:nvSpPr>
        <p:spPr>
          <a:xfrm>
            <a:off x="8138160" y="4160520"/>
            <a:ext cx="32305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legge di codifica, con s = 1 se x è negativo e 0 altrimenti. Su quattro bit: X = |x| + 8 s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8314258" y="91440"/>
            <a:ext cx="3328797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14258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274" y="128016"/>
            <a:ext cx="201168" cy="201168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8698306" y="91440"/>
            <a:ext cx="290817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segno e modulo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Complemento a due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237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numeri non negativi, 0 &lt;= x &lt; 2^(n-1), sono rappresentati da se stessi: X = x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54203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435606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numeri negativi, -2^(n-1) &lt;= x &lt; 0, sono rappresentati da X = 2^n - |x|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356031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453892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Intervallo: da -2^(n-1) a +2^(n-1) - 1; lo zero ha una sola rappresentazione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4578604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472178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bit più significativo vale 1 se e solo se il numero è negativo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48640" y="559689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490464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È la rappresentazione usata da ogni processore moderno, RISC-V compreso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7863840" y="1417320"/>
            <a:ext cx="3779215" cy="4754880"/>
          </a:xfrm>
          <a:prstGeom prst="roundRect">
            <a:avLst>
              <a:gd name="adj" fmla="val 1936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46720" y="2148840"/>
            <a:ext cx="341345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-2^31 ... 2^31 - 1</a:t>
            </a:r>
            <a:endParaRPr lang="en-US" sz="5300" dirty="0"/>
          </a:p>
        </p:txBody>
      </p:sp>
      <p:sp>
        <p:nvSpPr>
          <p:cNvPr id="15" name="Text 13"/>
          <p:cNvSpPr txBox="1"/>
          <p:nvPr/>
        </p:nvSpPr>
        <p:spPr>
          <a:xfrm>
            <a:off x="8138160" y="4160520"/>
            <a:ext cx="32305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l'intervallo di un registro RISC-V a 32 bit letto come intero con segno: da circa meno due miliardi a più due miliardi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7920304" y="91440"/>
            <a:ext cx="3722751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920304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8320" y="128016"/>
            <a:ext cx="201168" cy="201168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8304352" y="91440"/>
            <a:ext cx="33021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complemento a due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Quattro bit, tre letture</a:t>
            </a:r>
            <a:endParaRPr lang="en-US" sz="3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530352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1143000"/>
                <a:gridCol w="1554480"/>
                <a:gridCol w="155448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Senza segno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Segno e modulo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Compl. a due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0000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0001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0010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0011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0100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0101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0110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0111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39535" y="1417320"/>
          <a:ext cx="530352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1143000"/>
                <a:gridCol w="1554480"/>
                <a:gridCol w="155448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Senza segno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Segno e modulo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Compl. a due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1000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1001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1010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1011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1100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1101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1110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1111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502920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negativi: le tre letture coincidono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6339535" y="502920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 più significativo a 1: le letture differiscono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548640" y="548640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D8ECEE"/>
          </a:solidFill>
          <a:ln w="12700">
            <a:solidFill>
              <a:srgbClr val="D8ECEE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822960" y="548640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bit non dicono quale colonna è quella giusta. Lo dice il programma, scegliendo le istruzioni.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7920304" y="91440"/>
            <a:ext cx="3722751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920304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8320" y="128016"/>
            <a:ext cx="201168" cy="201168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304352" y="91440"/>
            <a:ext cx="33021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complemento a due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ruota dei numeri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920304" y="91440"/>
            <a:ext cx="3722751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920304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8320" y="128016"/>
            <a:ext cx="201168" cy="2011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304352" y="91440"/>
            <a:ext cx="33021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complemento a due</a:t>
            </a:r>
            <a:endParaRPr lang="en-US" sz="11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34440"/>
            <a:ext cx="5074920" cy="507492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5943600" y="150825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6327648" y="1417320"/>
            <a:ext cx="531540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n bit l'aritmetica è modulo 2^n: la retta dei numeri si chiude in un cerchio</a:t>
            </a:r>
            <a:endParaRPr lang="en-US" sz="2000" dirty="0"/>
          </a:p>
        </p:txBody>
      </p:sp>
      <p:sp>
        <p:nvSpPr>
          <p:cNvPr id="11" name="Shape 6"/>
          <p:cNvSpPr/>
          <p:nvPr/>
        </p:nvSpPr>
        <p:spPr>
          <a:xfrm>
            <a:off x="5943600" y="2260346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6327648" y="2169414"/>
            <a:ext cx="531540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Sommare 1 sposta di un passo in senso orario, qualunque sia la lettura</a:t>
            </a:r>
            <a:endParaRPr lang="en-US" sz="2000" dirty="0"/>
          </a:p>
        </p:txBody>
      </p:sp>
      <p:sp>
        <p:nvSpPr>
          <p:cNvPr id="13" name="Shape 8"/>
          <p:cNvSpPr/>
          <p:nvPr/>
        </p:nvSpPr>
        <p:spPr>
          <a:xfrm>
            <a:off x="5943600" y="301244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327648" y="2921508"/>
            <a:ext cx="5315407" cy="118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Lettura senza segno: la ruota si spezza tra 1111 e 0000</a:t>
            </a:r>
            <a:endParaRPr lang="en-US" sz="2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attraversare quel punto è un riporto: 15 + 1 = 0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5943600" y="4327906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327648" y="4236974"/>
            <a:ext cx="5315407" cy="118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Lettura in complemento a due: la ruota si spezza tra 0111 e 1000</a:t>
            </a:r>
            <a:endParaRPr lang="en-US" sz="2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attraversare quel punto è un overflow con segno: 7 + 1 = -8</a:t>
            </a:r>
            <a:endParaRPr lang="en-US" sz="2000" dirty="0"/>
          </a:p>
        </p:txBody>
      </p:sp>
      <p:sp>
        <p:nvSpPr>
          <p:cNvPr id="17" name="Shape 12"/>
          <p:cNvSpPr/>
          <p:nvPr/>
        </p:nvSpPr>
        <p:spPr>
          <a:xfrm>
            <a:off x="5943600" y="564337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6327648" y="5552440"/>
            <a:ext cx="531540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passo indietro da 0000 porta a 1111: ecco perché 0 - 1 dà tutti uni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Aritmetica in complemento a due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515258" cy="2057400"/>
          </a:xfrm>
          <a:prstGeom prst="roundRect">
            <a:avLst>
              <a:gd name="adj" fmla="val 355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554480"/>
            <a:ext cx="31494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Segni opposti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920240"/>
            <a:ext cx="11951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+</a:t>
            </a:r>
            <a:endParaRPr lang="en-US" sz="1600" dirty="0"/>
          </a:p>
          <a:p>
            <a:pPr algn="r" indent="0" marL="0">
              <a:buNone/>
            </a:pPr>
            <a:r>
              <a:rPr lang="en-US" sz="16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-6 =</a:t>
            </a:r>
            <a:endParaRPr lang="en-US" sz="1600" dirty="0"/>
          </a:p>
          <a:p>
            <a:pPr algn="r" indent="0" marL="0">
              <a:buNone/>
            </a:pPr>
            <a:r>
              <a:rPr lang="en-US" sz="16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-4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954743" y="1920240"/>
            <a:ext cx="18805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0010 +</a:t>
            </a:r>
            <a:endParaRPr lang="en-US" sz="1600" dirty="0"/>
          </a:p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1010 =</a:t>
            </a:r>
            <a:endParaRPr lang="en-US" sz="1600" dirty="0"/>
          </a:p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1100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044952"/>
            <a:ext cx="31494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basta sommare le configurazioni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38218" y="1463040"/>
            <a:ext cx="3515258" cy="2057400"/>
          </a:xfrm>
          <a:prstGeom prst="roundRect">
            <a:avLst>
              <a:gd name="adj" fmla="val 355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21098" y="1554480"/>
            <a:ext cx="31494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negativi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521098" y="1920240"/>
            <a:ext cx="11951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-2 +</a:t>
            </a:r>
            <a:endParaRPr lang="en-US" sz="1600" dirty="0"/>
          </a:p>
          <a:p>
            <a:pPr algn="r" indent="0" marL="0">
              <a:buNone/>
            </a:pPr>
            <a:r>
              <a:rPr lang="en-US" sz="16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-3 =</a:t>
            </a:r>
            <a:endParaRPr lang="en-US" sz="1600" dirty="0"/>
          </a:p>
          <a:p>
            <a:pPr algn="r" indent="0" marL="0">
              <a:buNone/>
            </a:pPr>
            <a:r>
              <a:rPr lang="en-US" sz="16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-5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744322" y="1920240"/>
            <a:ext cx="18805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1110 +</a:t>
            </a:r>
            <a:endParaRPr lang="en-US" sz="1600" dirty="0"/>
          </a:p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1101 =</a:t>
            </a:r>
            <a:endParaRPr lang="en-US" sz="1600" dirty="0"/>
          </a:p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1 1011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521098" y="3044952"/>
            <a:ext cx="31494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riporto uscente si ignora (somma modulo 16)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127797" y="1463040"/>
            <a:ext cx="3515258" cy="2057400"/>
          </a:xfrm>
          <a:prstGeom prst="roundRect">
            <a:avLst>
              <a:gd name="adj" fmla="val 355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10677" y="1554480"/>
            <a:ext cx="31494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Prodotto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310677" y="1920240"/>
            <a:ext cx="11951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x</a:t>
            </a:r>
            <a:endParaRPr lang="en-US" sz="1600" dirty="0"/>
          </a:p>
          <a:p>
            <a:pPr algn="r" indent="0" marL="0">
              <a:buNone/>
            </a:pPr>
            <a:r>
              <a:rPr lang="en-US" sz="16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-3 =</a:t>
            </a:r>
            <a:endParaRPr lang="en-US" sz="1600" dirty="0"/>
          </a:p>
          <a:p>
            <a:pPr algn="r" indent="0" marL="0">
              <a:buNone/>
            </a:pPr>
            <a:r>
              <a:rPr lang="en-US" sz="16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-6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9533900" y="1920240"/>
            <a:ext cx="18805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0010 x</a:t>
            </a:r>
            <a:endParaRPr lang="en-US" sz="1600" dirty="0"/>
          </a:p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1101 =</a:t>
            </a:r>
            <a:endParaRPr lang="en-US" sz="1600" dirty="0"/>
          </a:p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001 1010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310677" y="3044952"/>
            <a:ext cx="31494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tengono i quattro bit bassi: 1010 = -6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48640" y="3908933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32688" y="3794760"/>
            <a:ext cx="10710367" cy="7127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somma non ha bisogno di conoscere i segni: l'addizionatore dei numeri naturali dà già la risposta giusta</a:t>
            </a:r>
            <a:endParaRPr lang="en-US" sz="2300" dirty="0"/>
          </a:p>
        </p:txBody>
      </p:sp>
      <p:sp>
        <p:nvSpPr>
          <p:cNvPr id="20" name="Shape 18"/>
          <p:cNvSpPr/>
          <p:nvPr/>
        </p:nvSpPr>
        <p:spPr>
          <a:xfrm>
            <a:off x="548640" y="491947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32688" y="4805299"/>
            <a:ext cx="10710367" cy="3563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riporto uscente dal bit più significativo viene semplicemente scartato</a:t>
            </a:r>
            <a:endParaRPr lang="en-US" sz="2300" dirty="0"/>
          </a:p>
        </p:txBody>
      </p:sp>
      <p:sp>
        <p:nvSpPr>
          <p:cNvPr id="22" name="Shape 20"/>
          <p:cNvSpPr/>
          <p:nvPr/>
        </p:nvSpPr>
        <p:spPr>
          <a:xfrm>
            <a:off x="548640" y="557364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32688" y="5459476"/>
            <a:ext cx="10710367" cy="7127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Anche gli n bit bassi di un prodotto sono corretti, quali che siano i segni</a:t>
            </a:r>
            <a:endParaRPr lang="en-US" sz="2300" dirty="0"/>
          </a:p>
        </p:txBody>
      </p:sp>
      <p:sp>
        <p:nvSpPr>
          <p:cNvPr id="24" name="Shape 22"/>
          <p:cNvSpPr/>
          <p:nvPr/>
        </p:nvSpPr>
        <p:spPr>
          <a:xfrm>
            <a:off x="7920304" y="91440"/>
            <a:ext cx="3722751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20304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8320" y="128016"/>
            <a:ext cx="201168" cy="201168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8304352" y="91440"/>
            <a:ext cx="33021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complemento a due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Rilevare l'overflow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2057400"/>
          </a:xfrm>
          <a:prstGeom prst="roundRect">
            <a:avLst>
              <a:gd name="adj" fmla="val 355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554480"/>
            <a:ext cx="49985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B4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Senza segno, 8 bit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920240"/>
            <a:ext cx="1823871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128 +</a:t>
            </a:r>
            <a:endParaRPr lang="en-US" sz="1600" dirty="0"/>
          </a:p>
          <a:p>
            <a:pPr algn="r" indent="0" marL="0">
              <a:buNone/>
            </a:pPr>
            <a:r>
              <a:rPr lang="en-US" sz="16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130 =</a:t>
            </a:r>
            <a:endParaRPr lang="en-US" sz="1600" dirty="0"/>
          </a:p>
          <a:p>
            <a:pPr algn="r" indent="0" marL="0">
              <a:buNone/>
            </a:pPr>
            <a:r>
              <a:rPr lang="en-US" sz="16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258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2694371" y="1920240"/>
            <a:ext cx="2989997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1000 0000 +</a:t>
            </a:r>
            <a:endParaRPr lang="en-US" sz="1600" dirty="0"/>
          </a:p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1000 0010 =</a:t>
            </a:r>
            <a:endParaRPr lang="en-US" sz="1600" dirty="0"/>
          </a:p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1 0000 0010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044952"/>
            <a:ext cx="49985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4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riporto uscente: il registro contiene 2, la somma modulo 256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78728" y="1463040"/>
            <a:ext cx="5364328" cy="2057400"/>
          </a:xfrm>
          <a:prstGeom prst="roundRect">
            <a:avLst>
              <a:gd name="adj" fmla="val 355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61608" y="1554480"/>
            <a:ext cx="49985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segno, 8 bit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461608" y="1920240"/>
            <a:ext cx="1823871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127 +</a:t>
            </a:r>
            <a:endParaRPr lang="en-US" sz="1600" dirty="0"/>
          </a:p>
          <a:p>
            <a:pPr algn="r" indent="0" marL="0">
              <a:buNone/>
            </a:pPr>
            <a:r>
              <a:rPr lang="en-US" sz="16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127 =</a:t>
            </a:r>
            <a:endParaRPr lang="en-US" sz="1600" dirty="0"/>
          </a:p>
          <a:p>
            <a:pPr algn="r" indent="0" marL="0">
              <a:buNone/>
            </a:pPr>
            <a:r>
              <a:rPr lang="en-US" sz="16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254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8424459" y="1920240"/>
            <a:ext cx="2989997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0111 1111 +</a:t>
            </a:r>
            <a:endParaRPr lang="en-US" sz="1600" dirty="0"/>
          </a:p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0111 1111 =</a:t>
            </a:r>
            <a:endParaRPr lang="en-US" sz="1600" dirty="0"/>
          </a:p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1111 1110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461608" y="3044952"/>
            <a:ext cx="49985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nessun riporto uscente, ma il risultato si legge -2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87019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32688" y="3794760"/>
            <a:ext cx="10710367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Overflow senza segno: c'è un riporto uscente dal bit più significativo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4297426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32688" y="4221988"/>
            <a:ext cx="10710367" cy="816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Overflow con segno in complemento a due</a:t>
            </a:r>
            <a:endParaRPr lang="en-US" sz="1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due operandi positivi danno una somma negativa</a:t>
            </a:r>
            <a:endParaRPr lang="en-US" sz="1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due operandi negativi danno una somma positiva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548640" y="526262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32688" y="5187188"/>
            <a:ext cx="10710367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somma di due numeri di segno opposto non può mai dare overflow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48640" y="5689854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32688" y="5614416"/>
            <a:ext cx="10710367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due condizioni sono indipendenti: la stessa somma può farne scattare una, entrambe o nessuna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7920304" y="91440"/>
            <a:ext cx="3722751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920304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8320" y="128016"/>
            <a:ext cx="201168" cy="201168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8304352" y="91440"/>
            <a:ext cx="33021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complemento a due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Estensione del segno: lo stesso numero su più bit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4480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 su 4 bit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4206240" y="1554480"/>
            <a:ext cx="868680" cy="566928"/>
          </a:xfrm>
          <a:prstGeom prst="rect">
            <a:avLst/>
          </a:prstGeom>
          <a:solidFill>
            <a:srgbClr val="C7791B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1111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5303520" y="155448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-1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331720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 su 8 bit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4206240" y="2331720"/>
            <a:ext cx="868680" cy="566928"/>
          </a:xfrm>
          <a:prstGeom prst="rect">
            <a:avLst/>
          </a:prstGeom>
          <a:solidFill>
            <a:srgbClr val="B23A48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1111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5074920" y="2331720"/>
            <a:ext cx="868680" cy="566928"/>
          </a:xfrm>
          <a:prstGeom prst="rect">
            <a:avLst/>
          </a:prstGeom>
          <a:solidFill>
            <a:srgbClr val="C7791B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1111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6172200" y="233172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-1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108960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 su 4 bit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206240" y="3108960"/>
            <a:ext cx="868680" cy="566928"/>
          </a:xfrm>
          <a:prstGeom prst="rect">
            <a:avLst/>
          </a:prstGeom>
          <a:solidFill>
            <a:srgbClr val="0E7C86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0101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0" y="310896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+5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886200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 su 8 bit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206240" y="3886200"/>
            <a:ext cx="868680" cy="566928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0000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5074920" y="3886200"/>
            <a:ext cx="868680" cy="566928"/>
          </a:xfrm>
          <a:prstGeom prst="rect">
            <a:avLst/>
          </a:prstGeom>
          <a:solidFill>
            <a:srgbClr val="0E7C86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0101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6172200" y="388620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+5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548640" y="466991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32688" y="4617720"/>
            <a:ext cx="10710367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allargare un numero in complemento a due si copia il suo bit di segno in tutte le nuove posizioni a sinistra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48640" y="533095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32688" y="5278755"/>
            <a:ext cx="10710367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 t2, t2, -1 memorizza -1 in dodici bit; il processore ne estende il segno a trentadue prima di sommare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548640" y="599198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32688" y="5939790"/>
            <a:ext cx="10710367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 estende il segno del byte che carica; lbu riempie di zeri: si sceglie in base a ciò che il byte significa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7788986" y="91440"/>
            <a:ext cx="3854069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788986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17002" y="128016"/>
            <a:ext cx="201168" cy="201168"/>
          </a:xfrm>
          <a:prstGeom prst="rect">
            <a:avLst/>
          </a:prstGeom>
        </p:spPr>
      </p:pic>
      <p:sp>
        <p:nvSpPr>
          <p:cNvPr id="26" name="Text 23"/>
          <p:cNvSpPr txBox="1"/>
          <p:nvPr/>
        </p:nvSpPr>
        <p:spPr>
          <a:xfrm>
            <a:off x="8173034" y="91440"/>
            <a:ext cx="343344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l'estensione del segno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636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141732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Quale numero rappresenta in complemento a due la configurazione di 8 bit 1111 1100?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70432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252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33008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70168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854800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70432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233008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70168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854800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-124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009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86334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 8 bit, quale somma produce un overflow con segno?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+ 27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233008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70168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+ 28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170432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-100 + 28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6233008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70168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854800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 + 1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636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141732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t0 contiene 0xFFFFFFFF e t1 contiene 1. Dopo slt t2, t0, t1 e sltu t3, t0, t1: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70432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t2 = 1, t3 = 1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33008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70168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854800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t2 = 0, t3 = 0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70432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t2 = 1, t3 = 0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233008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70168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854800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t2 = 0, t3 = 1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009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86334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Come si scrive 0,625 in binario?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0,101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233008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70168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0,110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170432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0,625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6233008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70168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854800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0,011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Glossario: inglese e italiano</a:t>
            </a:r>
            <a:endParaRPr lang="en-US" sz="3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773604"/>
                <a:gridCol w="2946954"/>
                <a:gridCol w="2426903"/>
                <a:gridCol w="294695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Inglese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Italiano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Inglese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Italiano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(radix)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two's complement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complemento a due (alla base)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natural number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numero naturale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 and magnitude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segno e modulo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signed integer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numero relativo (intero con segno)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overflow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overflow (traboccamento)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most significant bit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 più significativo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carry / borrow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riporto / prestito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remainder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 extension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estensione del segno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shift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scorrimento (shift)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clamp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limitare a un intervallo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Conclusioni e letture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050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1071036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base ha i suoi vantaggi: la base 2 per i circuiti, la base 16 per le persone che leggono i bit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2348967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265782"/>
            <a:ext cx="10710367" cy="294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bit rappresentano 2^n numeri: quali, dipende dalla legge di codifica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548640" y="290304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2819857"/>
            <a:ext cx="10710367" cy="294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complemento a due trasforma la sottrazione in addizione: un addizionatore fa tutto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548640" y="345711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3373933"/>
            <a:ext cx="1071036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L'overflow è il prezzo dei registri finiti: lo si rileva, oppure lo si esclude per progetto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548640" y="430557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4222394"/>
            <a:ext cx="10710367" cy="294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RISC-V i bit non hanno tipo: è l'istruzione a scegliere tra con segno e senza segno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548640" y="485965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32688" y="4776470"/>
            <a:ext cx="10710367" cy="139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Letture</a:t>
            </a:r>
            <a:endParaRPr lang="en-US" sz="1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Patterson, Hennessy: Struttura e progetto dei calcolatori, edizione RISC-V, paragrafi 2.4 e 3.1-3.2</a:t>
            </a:r>
            <a:endParaRPr lang="en-US" sz="1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Playing with RISC-V, capitolo 6: State and Input</a:t>
            </a:r>
            <a:endParaRPr lang="en-US" sz="1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Stallings: Computer Organization and Architecture, i capitoli sui sistemi di numerazione e sull'aritmetica del calcolatore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Rappresentazione dei numeri: gli interi</dc:title>
  <dc:subject>Lezione 05</dc:subject>
  <dc:creator>Raffaele Montella</dc:creator>
  <cp:lastModifiedBy>Raffaele Montella</cp:lastModifiedBy>
  <cp:revision>1</cp:revision>
  <dcterms:created xsi:type="dcterms:W3CDTF">2026-10-16T20:22:25Z</dcterms:created>
  <dcterms:modified xsi:type="dcterms:W3CDTF">2026-10-16T20:22:25Z</dcterms:modified>
</cp:coreProperties>
</file>