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d3e6c8c-9e38-f9e2-5487-6918c267ce7b}">
          <p14:sldIdLst>
            <p14:sldId id="256"/>
            <p14:sldId id="257"/>
          </p14:sldIdLst>
        </p14:section>
        <p14:section name="Riscaldamento sulla macchina" id="{269cc931-e7db-32b8-28ea-2f9245cbe1a5}">
          <p14:sldIdLst>
            <p14:sldId id="258"/>
            <p14:sldId id="259"/>
          </p14:sldIdLst>
        </p14:section>
        <p14:section name="Basi e conversioni" id="{4d651d25-3a1d-4abb-3d7f-012a9ff602f7}">
          <p14:sldIdLst>
            <p14:sldId id="260"/>
            <p14:sldId id="261"/>
            <p14:sldId id="262"/>
            <p14:sldId id="263"/>
            <p14:sldId id="264"/>
          </p14:sldIdLst>
        </p14:section>
        <p14:section name="Numeri naturali e overflow" id="{ed68d0a2-a7c4-1c48-1ea8-6f754c338ddc}">
          <p14:sldIdLst>
            <p14:sldId id="265"/>
            <p14:sldId id="266"/>
            <p14:sldId id="267"/>
            <p14:sldId id="268"/>
            <p14:sldId id="269"/>
            <p14:sldId id="270"/>
          </p14:sldIdLst>
        </p14:section>
        <p14:section name="Interi con segno" id="{2ea55e96-442b-b1ca-2000-26cf2b30270c}">
          <p14:sldIdLst>
            <p14:sldId id="271"/>
            <p14:sldId id="272"/>
            <p14:sldId id="273"/>
            <p14:sldId id="274"/>
            <p14:sldId id="275"/>
            <p14:sldId id="276"/>
            <p14:sldId id="277"/>
            <p14:sldId id="278"/>
            <p14:sldId id="279"/>
          </p14:sldIdLst>
        </p14:section>
        <p14:section name="Ritorno alla macchina" id="{e4603e22-aaab-c270-ca1f-daac084f1a2b}">
          <p14:sldIdLst>
            <p14:sldId id="280"/>
            <p14:sldId id="281"/>
            <p14:sldId id="282"/>
            <p14:sldId id="283"/>
            <p14:sldId id="284"/>
            <p14:sldId id="285"/>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lezione avvia la trattazione formale dei numeri. Si apre con una piccola sorpresa sulla macchina, un segnalino che va a sinistra oltre lo zero e mostra FFFFFFFF, e si chiude spiegando esattamente perché accade. In mezzo imparate a convertire tra basi, a dire quali numeri stanno in un dato numero di bit, e a scrivere i numeri negativi. La citazione di Trilussa, l'Uno che discute con lo Zero, ricorda che in un sistema posizionale anche uno zero ha il suo peso.
Per il docente: Spirale: la lezione si apre con il segnalino del laboratorio 06 del libro di PRG32 che va a sinistra oltre lo zero, e si chiude spiegandolo.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obiettivi. I primi tre sono abilità su carta: convertire tra le basi 2, 8, 10 e 16, dire quali naturali stanno in n bit, e codificare in due modi gli interi con segno. Il quarto è aritmetica: sommare, sottrarre e cambiare segno in complemento a due, e riconoscere un overflow. Gli ultimi due tornano alla macchina: spiegare l'FFFFFFFF del riscaldamento, e scegliere l'istruzione RISC-V che legge gli stessi bit come numero con segno o senza segno.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sempre, la lezione comincia sulla macchina. Poche righe spostano un segnalino a sinistra quando tenete premuto un pulsante, e ne stampano la posizione. Eseguitele prima di proseguire, e scrivete che cosa vi aspettate di vedere quando la posizione supera lo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codice legge i pulsanti, carica marker_x dalla memoria, sottrae 1 se LEFT è premuto e riscrive il valore: il load, modify, store della Lezione 02. Tenete premuto LEFT e il valore stampato fa 00000002, 00000001, 00000000, e poi FFFFFFFF. È un bug? FFFFFFFF è il numero 4.294.967.295, oppure è meno uno? La quarta nota anticipa la risposta: entrambi, a seconda di come si leggono i bit. Il resto della lezione è l'insieme di regole che sta dietro a quella frase.
Per il docente: Adattato dal laboratorio 06-asm-state-and-input del libro di PRG32 (step2_move.S) con SPEED 1 e una stampa sulla console. Dove guardare: sulla scheda e in QEMU la console è disegnata sullo schermo, come 0x00000002 ... 0xffffffff; PRG32-QT non disegna la console, la raccoglie nel suo log, come 00000002 ... FFFFFFFF. Eseguirlo dal vivo prima di ogni teoria, e scrivere alla lavagna le ipotesi degli studenti.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parte riguarda le basi: che cos'è in generale un sistema posizionale, perché le basi 2, 8 e 16 sono parenti, e due algoritmi, uno per convertire la parte intera di un numero e uno per la parte frazionaria.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sistema posizionale in base b usa b cifre, da 0 a b meno 1, e il valore di un numero è la somma di ogni cifra per la potenza di b che corrisponde alla sua posizione: la formula della didascalia. La tabella mostra il tredici in quattro basi: 1101 in binario, 15 in ottale, 13 in decimale, D in esadecimale. È sempre lo stesso numero: cambia solo la scrittura. Per una macchina la base 10 non ha alcuno statuto speciale; è la base di chi ha dieci dita.
Per il docente: Un numero N è una stringa di cifre d(n-1) ... d(1) d(0), ciascuna minore della base b. Il valore è la somma di ogni cifra per la potenza della base corrispondente alla sua posizione.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basi che sono potenze di due condividono gli stessi bit. La slide prende 127, lo scrive in binario, e raggruppa i bit da destra: a quattro a quattro, ogni gruppo è una cifra esadecimale, e si ottiene 7F; a tre a tre, ogni gruppo è una cifra ottale, e si ottiene 177. Non serve alcuna divisione, solo una ricerca in tabella. Due dettagli: si raggruppa sempre da destra, dal lato meno significativo, e il gruppo più a sinistra, se incompleto, si completa con zeri.
Per il docente: Si raggruppa da destra (dal lato meno significativo) e si completa con zeri a sinistra.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convertire un intero dalla base 10 alla base r si divide ripetutamente per r: ogni resto è una cifra, e il quoziente si divide di nuovo finché non diventa zero. Le tre tabelle lo fanno per 127 con r uguale a 8, 16 e 2. Il riquadro giallo contiene il dettaglio che si sbaglia più spesso: il primo resto è la cifra meno significativa, quindi i resti si leggono dal basso verso l'alto. Verifica: 177 in ottale è 64 + 56 + 7 = 127.
Per il docente: N = Q(n) r^(n+1) + R(n) r^n + ... + R(1) r + R(0). In C le due operazioni sono / e %; in RISC-V (estensione M) sono divu e remu.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un numero tra 0 e 1 il procedimento è speculare: si moltiplica ripetutamente per r; ogni volta la parte intera del prodotto è una cifra, a partire dalla più significativa, e la parte frazionaria si moltiplica di nuovo. 0,875 dà 0,111 e si ferma, perché la frazione diventa zero. 0,8 non si ferma mai: tornano le stesse frazioni, e le cifre 1100 si ripetono all'infinito. Un numero finito in base dieci può essere periodico in base due, e con un numero finito di bit va troncato. È l'origine degli errori di arrotondamento della Lezione 06.
Per il docente: N = R(1) r^-1 + R(2) r^-2 + ... Le slide originali rimandavano a due convertitori online (fermimn.edu.it e fauser.edu); qualunque calcolatrice moderna in modalità programmatore fa lo stesso.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seconda parte risponde alla domanda «quali numeri ci stanno?». Definisce che cos'è una rappresentazione, tratta i numeri naturali, enuncia tre proprietà utili delle stringhe di bit, e introduce l'overflow, l'idea centrale della lezione.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rappresentazione è una legge, X = R(x), che associa a un numero x una stringa di bit X. Tenete distinte le due lettere per tutta la lezione: x minuscola è il numero che intendiamo, X maiuscola è la configurazione memorizzata nel registro. Tipi diversi di numeri richiedono leggi diverse, e una buona legge è quella che rende somma e confronto facili da realizzare come circuiti. Questo criterio, la semplicità del circuito, deciderà il vincitore tra le rappresentazioni dei numeri con segno.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i numeri naturali la legge è la più semplice possibile: X è x scritto in binario. Con n bit ci sono 2 alla n configurazioni, quindi i numeri vanno da 0 a 2 alla n meno 1: con quattro bit, da 0 a 15, come mostra la striscia. La tabella dà i casi che si incontrano su RISC-V: un byte arriva a 255, una halfword a 65.535, una parola a 4.294.967.295. Quest'ultimo è la lettura senza segno di FFFFFFFF: metà della risposta al riscaldamento.
Per il docente: 4.294.967.295 è la lettura senza segno di 0xFFFFFFFF: la prima metà della risposta al riscaldamento.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proprietà delle stringhe binarie, ciascuna con un uso. Aggiungere zeri a sinistra non cambia il valore. Scorrere a sinistra di k posizioni moltiplica per 2 alla k: 00101, cinque, diventa 01010, dieci. Scorrere a destra di k divide per 2 alla k e scarta il resto. Per un circuito uno scorrimento costa molto meno di una moltiplicazione, e il codice a destra mostra il trucco usato dai compilatori: dieci volte x è otto volte x più due volte x, due scorrimenti e una somma.
Per il docente: Nella Lezione 04 avete usato slli t1, t1, 2 per moltiplicare per quattro l'indice di un vettore. Gli scorrimenti sono anche la base dell'aritmetica in virgola fissa (Lezione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definizione da ricordare. Un registro ha un numero finito di bit, quindi rappresenta un sottoinsieme finito di un insieme infinito di numeri. Le operazioni aritmetiche sono chiuse sull'insieme intero, non sul sottoinsieme: la somma di due numeri rappresentabili può cadere fuori. Quando accade si ha un overflow. L'esempio usa sette bit, che coprono da 0 a 127: 100 e 38 sono entrambi rappresentabili, e la loro somma, 138, no. L'overflow non è un difetto della macchina: è una conseguenza della finitezza.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calcoli su quattro bit, svolti colonna per colonna come in decimale: 1 più 1 fa 0 con riporto di 1. Sei più otto ci sta. Quattordici più tre fa diciassette, che richiede un quinto bit: un overflow. La differenza usa il prestito come in decimale. Il prodotto di due numeri di n bit può richiedere 2n bit, ed è per questo che RISC-V ha due istruzioni: mul per la metà bassa del prodotto e mulhu per la metà alta. Rifate a mano i quattro calcoli, coprendo i risultati.
Per il docente: La slide originale diceva che l'overflow «si può rilevare mediante il bit di overflow»: vero per i processori con registro dei flag, non per RISC-V. Si veda l'ultima sezione.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Finora i numeri non avevano segno. La terza parte presenta i modi di scrivere con i bit i numeri negativi, li confronta, e mostra perché uno di essi, il complemento a due, è usato da ogni processore.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L'idea più naturale: usare il bit più a sinistra per il segno e i bit restanti per il modulo. È facile da leggere per una persona, e ha due difetti. Lo zero ha due rappresentazioni, più zero e meno zero. E l'aritmetica è scomoda: per sommare due numeri di segno opposto il circuito deve confrontare i moduli, sottrarre il minore dal maggiore e scegliere il segno. Una rappresentazione che complica la somma è una legge scadente nel senso della sezione precedente.
Per il docente: Semplice per le persone, scomodo per i circuiti. Sopravvive nella mantissa dei numeri in virgola mobile IEEE 754 (Lezione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complemento a due. I numeri non negativi sono rappresentati da se stessi. Un numero negativo x è rappresentato da 2 alla n meno il suo modulo: su quattro bit, meno 3 è 16 meno 3, cioè 13, 1101. L'intervallo non è simmetrico: da meno 2 alla n meno 1 fino a 2 alla n meno 1, meno 1, quindi su quattro bit da meno 8 a più 7. Lo zero ha una sola rappresentazione, e il bit più a sinistra vale 1 esattamente quando il numero è negativo. Per un registro a 32 bit l'intervallo va da circa meno due miliardi a più due miliardi.
Per il docente: Detto anche complemento alla base. L'asimmetria dell'intervallo (un negativo in più) ha una conseguenza: cambiare segno al numero più negativo dà overflow.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stesse sedici configurazioni lette in tre modi. Nella tabella di sinistra, dove il bit più a sinistra è 0, le tre letture coincidono. Nella tabella di destra differiscono: 1000 vale 8 senza segno, meno zero in segno e modulo, e meno 8 in complemento a due; 1111 vale 15, meno 7 oppure meno 1. La frase in fondo è la chiave di tutta la lezione: i bit non dicono quale colonna è quella giusta. Lo dice il programma, attraverso le istruzioni che sceglie.
Per il docente: Evidenziati: 1000 è meno zero in segno e modulo ma -8 in complemento a due; 1111 è -7 oppure -1. Complemento a uno ed eccesso 8 si aggiungono a questa tabella nella Lezione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n bit i numeri formano un cerchio: dopo l'ultima configurazione viene la prima. Sommare 1 sposta di un passo in senso orario. L'anello interno dà il valore senza segno, i dischi esterni il valore in complemento a due. La ruota «si spezza» in due punti diversi. Per la lettura senza segno la rottura è in alto, tra 1111 e 0000: attraversarla è un riporto. Per il complemento a due è in basso, tra 0111 e 1000: attraversarla è un overflow con segno. E un passo indietro da 0000 porta a 1111: è l'FFFFFFFF del riscaldamento.
Per il docente: Anello interno: valore senza segno. In mezzo: i bit. Dischi esterni: valore in complemento a due. Lo stesso addizionatore serve entrambe le letture: cambia solo il punto in cui la ruota «si spezza».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calcoli che mostrano il vantaggio del complemento a due. Per sommare 2 e meno 6 basta sommare le due configurazioni: 0010 più 1010 fa 1100, che si legge meno 4. Per sommare due negativi si sommano le configurazioni e si scarta il riporto uscente dalla posizione più a sinistra. Perfino il prodotto funziona sui quattro bit bassi. La prima riga dell'elenco è il punto: all'addizionatore non serve conoscere i segni. Il circuito che somma i numeri naturali dà già la risposta giusta per quelli con segno.
Per il docente: Verifica del prodotto: 2 x 13 = 26 = 1 1010; i quattro bit bassi sono 1010, che si legge -6. Per questo RISC-V ha una sola mul per operandi con e senza segno.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cambiare segno a un numero ci sono due metodi. Il primo: si complementa ogni bit, poi si somma 1; sei, 0110, diventa 1001 e poi 1010, meno sei. Il secondo, più rapido a mano: partendo da destra si copiano i bit fino al primo 1 compreso, e si complementano tutti gli altri. Il codice mostra che a RISC-V non serve nemmeno un'istruzione apposita: neg è una pseudo-istruzione per sub dal registro zero. Un'eccezione: il numero più negativo non ha un compagno positivo, e cambiandogli segno si riottiene il numero stesso.
Per il docente: Perché il metodo 1 funziona: il complemento di x è (2^n - 1) - x, quindi sommando 1 si ottiene 2^n - x. La slide originale descriveva il metodo 2 «da sinistra»; la regola scorre da destra.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conseguenza che conta per l'hardware. Per calcolare y meno x si somma a y il complemento a due di x. Quindi non serve un sottrattore: bastano un addizionatore e un circuito che complementa i bit, e dall'addizione discendono moltiplicazione e divisione. È la ragione ingegneristica della scelta del complemento a due, e l'addizionatore lo vedrete nelle lezioni sulla logica.
Per il docente: È la ragione ingegneristica del complemento a due: un solo circuito, l'addizionatore della Lezione 09, fa tutto il lavoro. Nel datapath di RISC-V, sub è add con il secondo operando complementato e un riporto entrante pari 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overflow sono due, e sono indipendenti. Per i numeri senza segno l'overflow è un riporto uscente dal bit più a sinistra: 128 più 130 su otto bit lascia 2 nel registro. Per i numeri con segno l'overflow è un risultato con il segno sbagliato: 127 più 127 non produce riporto uscente, ma la configurazione si legge meno 2. La regola: due operandi positivi che danno una somma negativa, o due negativi che danno una somma positiva. Due operandi di segno opposto non possono mai dare overflow, perché il risultato sta tra i due.
Per il docente: Regola circuitale equivalente per l'overflow con segno: il riporto entrante nel bit più significativo è diverso da quello uscente.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L'ultima parte torna a RISC-V. Spiega il riscaldamento, mostra come il processore distingue con segno e senza segno, corregge il programma del segnalino, rileva un overflow senza flag, e finisce con l'estensione del segno.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 il riscaldamento si può spiegare per intero. Il segnalino era a 0, e addi con meno 1 ha fatto un passo indietro su una ruota di 2 alla 32 posizioni: il registro contiene ora trentadue uni. Letti senza segno valgono 4.294.967.295; in complemento a due valgono meno 1. La funzione che stampa mostra la configurazione e non prende posizione. Il segnalino scompare perché in entrambe le letture viene disegnato fuori schermo. Non è mai stato un bug del processore: al programma mancava una decisione.
Per il docente: Non è un bug del processore: è una decisione che manca nel programma. La correzione è nelle prossime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registri RISC-V non hanno tipo: trentadue bit sono con segno o senza segno solo per l'istruzione che li legge. La tabella mostra dove le due letture richiedono istruzioni diverse. Somma, sottrazione e parte bassa del prodotto sono le stesse. Confronti, salti condizionati, scorrimenti a destra, caricamenti di un byte e divisioni vanno a coppie: slt e sltu, blt e bltu, sra e srl, lb e lbu, div e divu. La lettera u nel nome significa sempre unsigned, senza segno. Scegliere il membro sbagliato della coppia è un errore classico.
Per il docente: I registri RISC-V non hanno tipo. Gli stessi 32 bit sono con segno o senza segno solo agli occhi dell'istruzione che li legge.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programma corretto tiene il segnalino sullo schermo. Dopo i due possibili passi, bgez chiede se la posizione è maggiore o uguale a zero, leggendola come numero con segno: se no, la posizione viene posta a 0. Poi ble la confronta con il massimo, 304, sempre con segno, e la limita. Si chiama clamping. Notate il metodo: un gioco non rileva l'overflow a cose fatte; tiene i valori in un intervallo in cui l'overflow non può avvenire. Una sola sw alla fine memorizza il valore corretto.
Per il docente: Sorgente: laboratorio 06-asm-state-and-input del libro di PRG32, step3_clamp.S. Chiedere che cosa accade con bgeu o bltu al loro posto: un bug istruttivo da provare.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Molti processori hanno un flag di riporto e uno di overflow; RISC-V non ha né l'uno né l'altro, e un overflow si rileva con un confronto. Senza segno: dopo add, se la somma è minore di uno degli operandi, la somma ha fatto il giro; sltu lo verifica con una sola istruzione. Con segno: sommare un numero negativo deve rendere la somma minore, sommarne uno non negativo no; se i due fatti non concordano, c'è stato overflow. Confrontate con la ruota: il primo test rileva l'attraversamento in alto, il secondo quello in basso.
Per il docente: Entrambi gli idiomi sono quelli suggeriti nella specifica RISC-V. Confrontare con la ruota: sltu rileva l'attraversamento in alto, il test con segno quello in basso.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porta un numero su più bit senza cambiarne il valore? In complemento a due si copia il bit di segno in tutte le nuove posizioni: meno 1 su quattro bit, 1111, diventa 1111 1111 su otto; più 5, 0101, diventa 0000 0101. È l'estensione del segno. Il processore la esegue ogni volta che un valore corto ne incontra uno lungo: la costante a dodici bit di addi viene estesa con segno a trentadue bit, e lb estende il segno del byte che carica, mentre lbu riempie di zeri.
Per il docente: Estendere con zeri trasformerebbe 1111 (-1) in 0000 1111 (+15). L'estensione del segno è la controparte con segno della proprietà di «estensione a sinistra» vista per i naturali.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bit più a sinistra vale 1, quindi il numero è negativo: scartate 252, che è la lettura senza segno. Per trovare il modulo si cambia segno: complemento, 0000 0011, e si somma uno, 0000 0100, cioè 4. La configurazione vale meno 4.
Per il docente: Risposta: B. Si complementa e si somma uno: 0000 0011 + 1 = 0000 0100 = 4, quindi la configurazione vale -4. (252 è la sua lettura senza segno.)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otto bit in complemento a due l'intervallo va da meno 128 a più 127. Calcolate ogni somma e guardate se cade nell'intervallo. Ricordate che operandi di segno opposto non possono dare overflow, e questo esclude due opzioni in un colpo.
Per il docente: Risposta: B. L'intervallo è [-128, 127]. 100 + 27 = 127 ci sta; 100 + 28 = 128 no: due positivi danno una configurazione negativa (1000 0000 =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stessi due registri, due istruzioni che differiscono per una lettera. slt legge FFFFFFFF come meno 1, che è minore di 1. sltu lo legge come più di quattro miliardi, che non lo è. Questa domanda è l'intera lezione in una riga.
Per il docente: Risposta: C. Con segno: -1 &lt; 1 è vero, quindi t2 = 1. Senza segno: 4.294.967.295 &lt; 1 è falso, quindi t3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Usate le moltiplicazioni successive: 0,625 per 2 fa 1,25, cifra 1; 0,25 per 2 fa 0,5, cifra 0; 0,5 per 2 fa 1,0, cifra 1. Verifica con i pesi: un mezzo più un ottavo fa 0,625.
Per il docente: Risposta: A. 0,625 x 2 = 1,25 (1); 0,25 x 2 = 0,5 (0); 0,5 x 2 = 1,0 (1): 0,101 = 1/2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tre su carta e due sulla macchina. Convertite 2026 e la frazione 0,1; scrivete meno 100 in due rappresentazioni; calcolate tre somme su otto bit e dite quali danno overflow. Poi, nel codice del clamp, sostituite i salti con segno con quelli senza segno e prevedete il comportamento prima di eseguire: è un bug istruttivo. Infine scrivete una update che somma 0x10000000 a ogni frame e segnala l'overflow con segno. I risultati attesi sono nel riquadro verde: copritelo finché non avete i vostri.
Per il docente: 2026 = 3752 ottale. -100: segno e modulo 1110 0100, complemento a due 1001 1100. 90 + 60 = 150 dà overflow; -90 - 60 = -150 dà overflow; 90 - 60 = 30 no. 0,1 = 0,00011001(1001...).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Dodici termini. Signed integer è il numero relativo, o intero con segno. Carry e borrow sono il riporto di un'addizione e il prestito di una sottrazione. Sign extension, estensione del segno, è l'operazione che allarga un numero con segno. To clamp non ha un'unica parola italiana: significa limitare un valore a un intervallo.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conclusioni. Ogni base ha il suo uso: la due per i circuiti, la sedici per le persone che leggono i bit. Con n bit ci sono 2 alla n numeri, e la legge di codifica dice quali. Il complemento a due trasforma la sottrazione in addizione. L'overflow è il prezzo dei registri finiti: lo si rileva, oppure lo si esclude per progetto come con il clamp. E in RISC-V i bit non hanno tipo: sceglie l'istruzione. La prossima lezione completa il quadro con i numeri reali.
Per il docente: Prossima lezione: complemento a uno, eccesso k, virgola fissa e virgola mobile IEEE 754.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05: Rappresentazione dei numeri (interi)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05</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Rappresentazione dei numeri: gli interi</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200" dirty="0">
                <a:solidFill>
                  <a:srgbClr val="CFE3EA"/>
                </a:solidFill>
                <a:latin typeface="Calibri" pitchFamily="34" charset="0"/>
                <a:ea typeface="Calibri" pitchFamily="34" charset="-122"/>
                <a:cs typeface="Calibri" pitchFamily="34" charset="-120"/>
              </a:rPr>
              <a:t>Basi, numeri naturali, complemento a due e overflow</a:t>
            </a:r>
            <a:endParaRPr lang="en-US" sz="22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“Conterò poco, è vero: - diceva l'Uno ar Zero - ma tu che vali? Gnente: propio gnente.”</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Trilussa, Nummeri, 1944</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2_step2_move.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Convertire interi e frazioni tra le basi 2, 8, 10 e 16</a:t>
            </a:r>
            <a:endParaRPr lang="en-US" sz="2200" dirty="0"/>
          </a:p>
        </p:txBody>
      </p:sp>
      <p:sp>
        <p:nvSpPr>
          <p:cNvPr id="5" name="Text 3"/>
          <p:cNvSpPr txBox="1"/>
          <p:nvPr/>
        </p:nvSpPr>
        <p:spPr>
          <a:xfrm>
            <a:off x="548640" y="220167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18338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Dire quali numeri naturali stanno in n bit e riconoscere un overflow</a:t>
            </a:r>
            <a:endParaRPr lang="en-US" sz="2200" dirty="0"/>
          </a:p>
        </p:txBody>
      </p:sp>
      <p:sp>
        <p:nvSpPr>
          <p:cNvPr id="7" name="Text 5"/>
          <p:cNvSpPr txBox="1"/>
          <p:nvPr/>
        </p:nvSpPr>
        <p:spPr>
          <a:xfrm>
            <a:off x="548640" y="29677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94944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Codificare e decodificare interi con segno in segno e modulo e in complemento a due</a:t>
            </a:r>
            <a:endParaRPr lang="en-US" sz="2200" dirty="0"/>
          </a:p>
        </p:txBody>
      </p:sp>
      <p:sp>
        <p:nvSpPr>
          <p:cNvPr id="9" name="Text 7"/>
          <p:cNvSpPr txBox="1"/>
          <p:nvPr/>
        </p:nvSpPr>
        <p:spPr>
          <a:xfrm>
            <a:off x="548640" y="39766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95833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Sommare, sottrarre e cambiare segno in complemento a due, e rilevare l'overflow</a:t>
            </a:r>
            <a:endParaRPr lang="en-US" sz="2200" dirty="0"/>
          </a:p>
        </p:txBody>
      </p:sp>
      <p:sp>
        <p:nvSpPr>
          <p:cNvPr id="11" name="Text 9"/>
          <p:cNvSpPr txBox="1"/>
          <p:nvPr/>
        </p:nvSpPr>
        <p:spPr>
          <a:xfrm>
            <a:off x="548640" y="4985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9672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perché 0 - 1 compare come 0xFFFFFFFF in un registro RISC-V</a:t>
            </a:r>
            <a:endParaRPr lang="en-US" sz="2200" dirty="0"/>
          </a:p>
        </p:txBody>
      </p:sp>
      <p:sp>
        <p:nvSpPr>
          <p:cNvPr id="13" name="Text 11"/>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Scegliere l'istruzione RISC-V giusta per dati con segno e senza segno</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Riscaldamento sulla macchina</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Un segnalino che esce dal bordo sinistro della retta dei numeri.</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Tenete premuto LEFT e guardate il numero</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steer_update: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500" dirty="0">
                <a:solidFill>
                  <a:srgbClr val="8FB3A0"/>
                </a:solidFill>
                <a:latin typeface="Courier New" pitchFamily="34" charset="0"/>
                <a:ea typeface="Courier New" pitchFamily="34" charset="-122"/>
                <a:cs typeface="Courier New" pitchFamily="34" charset="-120"/>
              </a:rPr>
              <a:t># a0 = button mask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mv   t0, 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t1, marker_x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t2, 0(t1)             </a:t>
            </a:r>
            <a:pPr indent="0" marL="0">
              <a:buNone/>
            </a:pPr>
            <a:r>
              <a:rPr lang="en-US" sz="1500" dirty="0">
                <a:solidFill>
                  <a:srgbClr val="8FB3A0"/>
                </a:solidFill>
                <a:latin typeface="Courier New" pitchFamily="34" charset="0"/>
                <a:ea typeface="Courier New" pitchFamily="34" charset="-122"/>
                <a:cs typeface="Courier New" pitchFamily="34" charset="-120"/>
              </a:rPr>
              <a:t># t2 = marker_x, starts at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andi t3, t0, BTN_LEFT      </a:t>
            </a:r>
            <a:pPr indent="0" marL="0">
              <a:buNone/>
            </a:pPr>
            <a:r>
              <a:rPr lang="en-US" sz="1500" dirty="0">
                <a:solidFill>
                  <a:srgbClr val="8FB3A0"/>
                </a:solidFill>
                <a:latin typeface="Courier New" pitchFamily="34" charset="0"/>
                <a:ea typeface="Courier New" pitchFamily="34" charset="-122"/>
                <a:cs typeface="Courier New" pitchFamily="34" charset="-120"/>
              </a:rPr>
              <a:t># is LEFT pressed?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1f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t2, t2, -1            </a:t>
            </a:r>
            <a:pPr indent="0" marL="0">
              <a:buNone/>
            </a:pPr>
            <a:r>
              <a:rPr lang="en-US" sz="1500" dirty="0">
                <a:solidFill>
                  <a:srgbClr val="8FB3A0"/>
                </a:solidFill>
                <a:latin typeface="Courier New" pitchFamily="34" charset="0"/>
                <a:ea typeface="Courier New" pitchFamily="34" charset="-122"/>
                <a:cs typeface="Courier New" pitchFamily="34" charset="-120"/>
              </a:rPr>
              <a:t># one step to the left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sw   t2, 0(t1)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draw prints marker_x with prg32_console_hex32</a:t>
            </a:r>
            <a:endParaRPr lang="en-US" sz="15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Tenete premuto LEFT: il valore mostrato fa 00000002, 00000001, 00000000 ...</a:t>
            </a:r>
            <a:endParaRPr lang="en-US" sz="14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 e poi FFFFFFFF. È un bug?</a:t>
            </a:r>
            <a:endParaRPr lang="en-US" sz="14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0xFFFFFFFF è il numero 4.294.967.295 oppure il numero -1?</a:t>
            </a:r>
            <a:endParaRPr lang="en-US" sz="14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Entrambi. Dipende da come si leggono i bit: questa lezione dà le regole</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Basi e conversioni</a:t>
            </a:r>
            <a:endParaRPr lang="en-US" sz="4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Sistemi posizionali: basi 2, 8, 10 e 16</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530264"/>
                <a:gridCol w="3443094"/>
                <a:gridCol w="2869245"/>
                <a:gridCol w="3251811"/>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Base b</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Cifre</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Nome</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Tredici si scrive</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200" b="1" dirty="0">
                          <a:solidFill>
                            <a:srgbClr val="1B2530"/>
                          </a:solidFill>
                          <a:latin typeface="Calibri" pitchFamily="34" charset="0"/>
                          <a:ea typeface="Calibri" pitchFamily="34" charset="-122"/>
                          <a:cs typeface="Calibri" pitchFamily="34" charset="-120"/>
                        </a:rPr>
                        <a:t>2</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0, 1</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binaria</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1101</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200" b="1" dirty="0">
                          <a:solidFill>
                            <a:srgbClr val="1B2530"/>
                          </a:solidFill>
                          <a:latin typeface="Calibri" pitchFamily="34" charset="0"/>
                          <a:ea typeface="Calibri" pitchFamily="34" charset="-122"/>
                          <a:cs typeface="Calibri" pitchFamily="34" charset="-120"/>
                        </a:rPr>
                        <a:t>8</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0, 1, ..., 7</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ottale</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15</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1B2530"/>
                          </a:solidFill>
                          <a:latin typeface="Calibri" pitchFamily="34" charset="0"/>
                          <a:ea typeface="Calibri" pitchFamily="34" charset="-122"/>
                          <a:cs typeface="Calibri" pitchFamily="34" charset="-120"/>
                        </a:rPr>
                        <a:t>10</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0, 1, ..., 9</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decimale</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13</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200" b="1" dirty="0">
                          <a:solidFill>
                            <a:srgbClr val="1B2530"/>
                          </a:solidFill>
                          <a:latin typeface="Calibri" pitchFamily="34" charset="0"/>
                          <a:ea typeface="Calibri" pitchFamily="34" charset="-122"/>
                          <a:cs typeface="Calibri" pitchFamily="34" charset="-120"/>
                        </a:rPr>
                        <a:t>16</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0, ..., 9, A, ..., F</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alibri" pitchFamily="34" charset="0"/>
                          <a:ea typeface="Calibri" pitchFamily="34" charset="-122"/>
                          <a:cs typeface="Calibri" pitchFamily="34" charset="-120"/>
                        </a:rPr>
                        <a:t>esadecimale</a:t>
                      </a:r>
                      <a:endParaRPr lang="en-US" sz="22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B2530"/>
                          </a:solidFill>
                          <a:latin typeface="Courier New" pitchFamily="34" charset="0"/>
                          <a:ea typeface="Courier New" pitchFamily="34" charset="-122"/>
                          <a:cs typeface="Courier New" pitchFamily="34" charset="-120"/>
                        </a:rPr>
                        <a:t>D</a:t>
                      </a:r>
                      <a:endParaRPr lang="en-US" sz="22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N = d(n-1) x b^(n-1) + ... + d(1) x b + d(0), con ogni cifra compresa tra 0 e b - 1.</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 basi potenze di due condividono gli stessi bit</a:t>
            </a:r>
            <a:endParaRPr lang="en-US" sz="3200" dirty="0"/>
          </a:p>
        </p:txBody>
      </p:sp>
      <p:sp>
        <p:nvSpPr>
          <p:cNvPr id="3" name="Text 1"/>
          <p:cNvSpPr txBox="1"/>
          <p:nvPr/>
        </p:nvSpPr>
        <p:spPr>
          <a:xfrm>
            <a:off x="548640" y="1691640"/>
            <a:ext cx="3474720" cy="640080"/>
          </a:xfrm>
          <a:prstGeom prst="rect">
            <a:avLst/>
          </a:prstGeom>
          <a:noFill/>
          <a:ln/>
        </p:spPr>
        <p:txBody>
          <a:bodyPr wrap="square" lIns="0" tIns="0" rIns="0" bIns="0" rtlCol="0" anchor="ctr"/>
          <a:lstStyle/>
          <a:p>
            <a:pPr algn="r" indent="0" marL="0">
              <a:buNone/>
            </a:pPr>
            <a:r>
              <a:rPr lang="en-US" sz="1800" b="1" dirty="0">
                <a:solidFill>
                  <a:srgbClr val="1B2530"/>
                </a:solidFill>
                <a:latin typeface="Calibri" pitchFamily="34" charset="0"/>
                <a:ea typeface="Calibri" pitchFamily="34" charset="-122"/>
                <a:cs typeface="Calibri" pitchFamily="34" charset="-120"/>
              </a:rPr>
              <a:t>127 in base 10</a:t>
            </a:r>
            <a:endParaRPr lang="en-US" sz="1800" dirty="0"/>
          </a:p>
        </p:txBody>
      </p:sp>
      <p:sp>
        <p:nvSpPr>
          <p:cNvPr id="4" name="Text 2"/>
          <p:cNvSpPr txBox="1"/>
          <p:nvPr/>
        </p:nvSpPr>
        <p:spPr>
          <a:xfrm>
            <a:off x="4297680"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0</a:t>
            </a:r>
            <a:endParaRPr lang="en-US" sz="2200" dirty="0"/>
          </a:p>
        </p:txBody>
      </p:sp>
      <p:sp>
        <p:nvSpPr>
          <p:cNvPr id="5" name="Text 3"/>
          <p:cNvSpPr txBox="1"/>
          <p:nvPr/>
        </p:nvSpPr>
        <p:spPr>
          <a:xfrm>
            <a:off x="4864608"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6" name="Text 4"/>
          <p:cNvSpPr txBox="1"/>
          <p:nvPr/>
        </p:nvSpPr>
        <p:spPr>
          <a:xfrm>
            <a:off x="5431536"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7" name="Text 5"/>
          <p:cNvSpPr txBox="1"/>
          <p:nvPr/>
        </p:nvSpPr>
        <p:spPr>
          <a:xfrm>
            <a:off x="5998464"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8" name="Text 6"/>
          <p:cNvSpPr txBox="1"/>
          <p:nvPr/>
        </p:nvSpPr>
        <p:spPr>
          <a:xfrm>
            <a:off x="6565392"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9" name="Text 7"/>
          <p:cNvSpPr txBox="1"/>
          <p:nvPr/>
        </p:nvSpPr>
        <p:spPr>
          <a:xfrm>
            <a:off x="7132320"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10" name="Text 8"/>
          <p:cNvSpPr txBox="1"/>
          <p:nvPr/>
        </p:nvSpPr>
        <p:spPr>
          <a:xfrm>
            <a:off x="7699248"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11" name="Text 9"/>
          <p:cNvSpPr txBox="1"/>
          <p:nvPr/>
        </p:nvSpPr>
        <p:spPr>
          <a:xfrm>
            <a:off x="8266176" y="1737360"/>
            <a:ext cx="566928"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1</a:t>
            </a:r>
            <a:endParaRPr lang="en-US" sz="2200" dirty="0"/>
          </a:p>
        </p:txBody>
      </p:sp>
      <p:sp>
        <p:nvSpPr>
          <p:cNvPr id="12" name="Text 10"/>
          <p:cNvSpPr txBox="1"/>
          <p:nvPr/>
        </p:nvSpPr>
        <p:spPr>
          <a:xfrm>
            <a:off x="548640" y="2926080"/>
            <a:ext cx="3474720" cy="640080"/>
          </a:xfrm>
          <a:prstGeom prst="rect">
            <a:avLst/>
          </a:prstGeom>
          <a:noFill/>
          <a:ln/>
        </p:spPr>
        <p:txBody>
          <a:bodyPr wrap="square" lIns="0" tIns="0" rIns="0" bIns="0" rtlCol="0" anchor="ctr"/>
          <a:lstStyle/>
          <a:p>
            <a:pPr algn="r" indent="0" marL="0">
              <a:buNone/>
            </a:pPr>
            <a:r>
              <a:rPr lang="en-US" sz="1800" b="1" dirty="0">
                <a:solidFill>
                  <a:srgbClr val="1B2530"/>
                </a:solidFill>
                <a:latin typeface="Calibri" pitchFamily="34" charset="0"/>
                <a:ea typeface="Calibri" pitchFamily="34" charset="-122"/>
                <a:cs typeface="Calibri" pitchFamily="34" charset="-120"/>
              </a:rPr>
              <a:t>gruppi di 4: esadecimale</a:t>
            </a:r>
            <a:endParaRPr lang="en-US" sz="1800" dirty="0"/>
          </a:p>
        </p:txBody>
      </p:sp>
      <p:sp>
        <p:nvSpPr>
          <p:cNvPr id="13" name="Text 11"/>
          <p:cNvSpPr txBox="1"/>
          <p:nvPr/>
        </p:nvSpPr>
        <p:spPr>
          <a:xfrm>
            <a:off x="4297680" y="2926080"/>
            <a:ext cx="2267712" cy="64008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0111 = 7</a:t>
            </a:r>
            <a:endParaRPr lang="en-US" sz="2000" dirty="0"/>
          </a:p>
        </p:txBody>
      </p:sp>
      <p:sp>
        <p:nvSpPr>
          <p:cNvPr id="14" name="Text 12"/>
          <p:cNvSpPr txBox="1"/>
          <p:nvPr/>
        </p:nvSpPr>
        <p:spPr>
          <a:xfrm>
            <a:off x="6565392" y="2926080"/>
            <a:ext cx="2267712" cy="64008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1111 = F</a:t>
            </a:r>
            <a:endParaRPr lang="en-US" sz="2000" dirty="0"/>
          </a:p>
        </p:txBody>
      </p:sp>
      <p:sp>
        <p:nvSpPr>
          <p:cNvPr id="15" name="Text 13"/>
          <p:cNvSpPr txBox="1"/>
          <p:nvPr/>
        </p:nvSpPr>
        <p:spPr>
          <a:xfrm>
            <a:off x="8961120" y="2926080"/>
            <a:ext cx="2011680" cy="640080"/>
          </a:xfrm>
          <a:prstGeom prst="rect">
            <a:avLst/>
          </a:prstGeom>
          <a:noFill/>
          <a:ln/>
        </p:spPr>
        <p:txBody>
          <a:bodyPr wrap="square" lIns="0" tIns="0" rIns="0" bIns="0" rtlCol="0" anchor="ctr"/>
          <a:lstStyle/>
          <a:p>
            <a:pPr indent="0" marL="0">
              <a:buNone/>
            </a:pPr>
            <a:r>
              <a:rPr lang="en-US" sz="2400" b="1" dirty="0">
                <a:solidFill>
                  <a:srgbClr val="1B2530"/>
                </a:solidFill>
                <a:latin typeface="Courier New" pitchFamily="34" charset="0"/>
                <a:ea typeface="Courier New" pitchFamily="34" charset="-122"/>
                <a:cs typeface="Courier New" pitchFamily="34" charset="-120"/>
              </a:rPr>
              <a:t>= 0x7F</a:t>
            </a:r>
            <a:endParaRPr lang="en-US" sz="2400" dirty="0"/>
          </a:p>
        </p:txBody>
      </p:sp>
      <p:sp>
        <p:nvSpPr>
          <p:cNvPr id="16" name="Text 14"/>
          <p:cNvSpPr txBox="1"/>
          <p:nvPr/>
        </p:nvSpPr>
        <p:spPr>
          <a:xfrm>
            <a:off x="548640" y="4114800"/>
            <a:ext cx="3474720" cy="640080"/>
          </a:xfrm>
          <a:prstGeom prst="rect">
            <a:avLst/>
          </a:prstGeom>
          <a:noFill/>
          <a:ln/>
        </p:spPr>
        <p:txBody>
          <a:bodyPr wrap="square" lIns="0" tIns="0" rIns="0" bIns="0" rtlCol="0" anchor="ctr"/>
          <a:lstStyle/>
          <a:p>
            <a:pPr algn="r" indent="0" marL="0">
              <a:buNone/>
            </a:pPr>
            <a:r>
              <a:rPr lang="en-US" sz="1800" b="1" dirty="0">
                <a:solidFill>
                  <a:srgbClr val="1B2530"/>
                </a:solidFill>
                <a:latin typeface="Calibri" pitchFamily="34" charset="0"/>
                <a:ea typeface="Calibri" pitchFamily="34" charset="-122"/>
                <a:cs typeface="Calibri" pitchFamily="34" charset="-120"/>
              </a:rPr>
              <a:t>gruppi di 3: ottale</a:t>
            </a:r>
            <a:endParaRPr lang="en-US" sz="1800" dirty="0"/>
          </a:p>
        </p:txBody>
      </p:sp>
      <p:sp>
        <p:nvSpPr>
          <p:cNvPr id="17" name="Text 15"/>
          <p:cNvSpPr txBox="1"/>
          <p:nvPr/>
        </p:nvSpPr>
        <p:spPr>
          <a:xfrm>
            <a:off x="4297680" y="4114800"/>
            <a:ext cx="1133856" cy="640080"/>
          </a:xfrm>
          <a:prstGeom prst="rect">
            <a:avLst/>
          </a:prstGeom>
          <a:solidFill>
            <a:srgbClr val="6B4FA0"/>
          </a:solidFill>
          <a:ln w="12700">
            <a:solidFill>
              <a:srgbClr val="2E4A62"/>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01 = 1</a:t>
            </a:r>
            <a:endParaRPr lang="en-US" sz="1800" dirty="0"/>
          </a:p>
        </p:txBody>
      </p:sp>
      <p:sp>
        <p:nvSpPr>
          <p:cNvPr id="18" name="Text 16"/>
          <p:cNvSpPr txBox="1"/>
          <p:nvPr/>
        </p:nvSpPr>
        <p:spPr>
          <a:xfrm>
            <a:off x="5431536" y="4114800"/>
            <a:ext cx="1700784" cy="64008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111 = 7</a:t>
            </a:r>
            <a:endParaRPr lang="en-US" sz="2000" dirty="0"/>
          </a:p>
        </p:txBody>
      </p:sp>
      <p:sp>
        <p:nvSpPr>
          <p:cNvPr id="19" name="Text 17"/>
          <p:cNvSpPr txBox="1"/>
          <p:nvPr/>
        </p:nvSpPr>
        <p:spPr>
          <a:xfrm>
            <a:off x="7132320" y="4114800"/>
            <a:ext cx="1700784" cy="640080"/>
          </a:xfrm>
          <a:prstGeom prst="rect">
            <a:avLst/>
          </a:prstGeom>
          <a:solidFill>
            <a:srgbClr val="B23A48"/>
          </a:solidFill>
          <a:ln w="12700">
            <a:solidFill>
              <a:srgbClr val="2E4A62"/>
            </a:solid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111 = 7</a:t>
            </a:r>
            <a:endParaRPr lang="en-US" sz="2000" dirty="0"/>
          </a:p>
        </p:txBody>
      </p:sp>
      <p:sp>
        <p:nvSpPr>
          <p:cNvPr id="20" name="Text 18"/>
          <p:cNvSpPr txBox="1"/>
          <p:nvPr/>
        </p:nvSpPr>
        <p:spPr>
          <a:xfrm>
            <a:off x="8961120" y="4114800"/>
            <a:ext cx="2743200" cy="640080"/>
          </a:xfrm>
          <a:prstGeom prst="rect">
            <a:avLst/>
          </a:prstGeom>
          <a:noFill/>
          <a:ln/>
        </p:spPr>
        <p:txBody>
          <a:bodyPr wrap="square" lIns="0" tIns="0" rIns="0" bIns="0" rtlCol="0" anchor="ctr"/>
          <a:lstStyle/>
          <a:p>
            <a:pPr indent="0" marL="0">
              <a:buNone/>
            </a:pPr>
            <a:r>
              <a:rPr lang="en-US" sz="2400" b="1" dirty="0">
                <a:solidFill>
                  <a:srgbClr val="1B2530"/>
                </a:solidFill>
                <a:latin typeface="Courier New" pitchFamily="34" charset="0"/>
                <a:ea typeface="Courier New" pitchFamily="34" charset="-122"/>
                <a:cs typeface="Courier New" pitchFamily="34" charset="-120"/>
              </a:rPr>
              <a:t>= 177 ottale</a:t>
            </a:r>
            <a:endParaRPr lang="en-US" sz="2400" dirty="0"/>
          </a:p>
        </p:txBody>
      </p:sp>
      <p:sp>
        <p:nvSpPr>
          <p:cNvPr id="21" name="Shape 19"/>
          <p:cNvSpPr/>
          <p:nvPr/>
        </p:nvSpPr>
        <p:spPr>
          <a:xfrm>
            <a:off x="548640" y="5120640"/>
            <a:ext cx="11094415" cy="1051560"/>
          </a:xfrm>
          <a:prstGeom prst="roundRect">
            <a:avLst>
              <a:gd name="adj" fmla="val 6957"/>
            </a:avLst>
          </a:prstGeom>
          <a:solidFill>
            <a:srgbClr val="D8ECEE"/>
          </a:solidFill>
          <a:ln w="12700">
            <a:solidFill>
              <a:srgbClr val="D8ECEE"/>
            </a:solidFill>
            <a:prstDash val="solid"/>
          </a:ln>
        </p:spPr>
      </p:sp>
      <p:sp>
        <p:nvSpPr>
          <p:cNvPr id="22" name="Text 20"/>
          <p:cNvSpPr txBox="1"/>
          <p:nvPr/>
        </p:nvSpPr>
        <p:spPr>
          <a:xfrm>
            <a:off x="822960" y="5166360"/>
            <a:ext cx="10545775" cy="960120"/>
          </a:xfrm>
          <a:prstGeom prst="rect">
            <a:avLst/>
          </a:prstGeom>
          <a:noFill/>
          <a:ln/>
        </p:spPr>
        <p:txBody>
          <a:bodyPr wrap="square" lIns="0" tIns="0" rIns="0" bIns="0" rtlCol="0" anchor="ctr"/>
          <a:lstStyle/>
          <a:p>
            <a:pPr indent="0" marL="0">
              <a:buNone/>
            </a:pPr>
            <a:r>
              <a:rPr lang="en-US" sz="1650" dirty="0">
                <a:solidFill>
                  <a:srgbClr val="1B2530"/>
                </a:solidFill>
                <a:latin typeface="Calibri" pitchFamily="34" charset="0"/>
                <a:ea typeface="Calibri" pitchFamily="34" charset="-122"/>
                <a:cs typeface="Calibri" pitchFamily="34" charset="-120"/>
              </a:rPr>
              <a:t>Se ogni cifra è scritta in binario puro, i bit di un numero sono gli stessi in ogni base b = 2^k: si raggruppano da destra, k alla volta. Esempio: 13 = 1101 in binario = 15 in ottale = D in esadecimale.</a:t>
            </a:r>
            <a:endParaRPr lang="en-US" sz="16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Convertire un intero: divisioni successive</a:t>
            </a:r>
            <a:endParaRPr lang="en-US" sz="3200" dirty="0"/>
          </a:p>
        </p:txBody>
      </p:sp>
      <p:sp>
        <p:nvSpPr>
          <p:cNvPr id="3" name="Text 1"/>
          <p:cNvSpPr txBox="1"/>
          <p:nvPr/>
        </p:nvSpPr>
        <p:spPr>
          <a:xfrm>
            <a:off x="548640" y="1371600"/>
            <a:ext cx="11094415" cy="64008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Si divide N per la base r; il resto è la cifra successiva, a partire dalla meno significativa. Si ripete sul quoziente finché non diventa zero.</a:t>
            </a:r>
            <a:endParaRPr lang="en-US" sz="1700" dirty="0"/>
          </a:p>
        </p:txBody>
      </p:sp>
      <p:sp>
        <p:nvSpPr>
          <p:cNvPr id="4" name="Text 2"/>
          <p:cNvSpPr txBox="1"/>
          <p:nvPr/>
        </p:nvSpPr>
        <p:spPr>
          <a:xfrm>
            <a:off x="548640" y="2029968"/>
            <a:ext cx="3017520" cy="310896"/>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r = 8</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3017520" cy="914400"/>
        </p:xfrm>
        <a:graphic>
          <a:graphicData uri="http://schemas.openxmlformats.org/drawingml/2006/table">
            <a:tbl>
              <a:tblPr/>
              <a:tblGrid>
                <a:gridCol w="1005840"/>
                <a:gridCol w="1005840"/>
                <a:gridCol w="1005840"/>
              </a:tblGrid>
              <a:tr h="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 8</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mod 8</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127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6" name="Text 3"/>
          <p:cNvSpPr txBox="1"/>
          <p:nvPr/>
        </p:nvSpPr>
        <p:spPr>
          <a:xfrm>
            <a:off x="548640" y="3803904"/>
            <a:ext cx="3566160" cy="36576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127 = 177 ottale</a:t>
            </a:r>
            <a:endParaRPr lang="en-US" sz="1800" dirty="0"/>
          </a:p>
        </p:txBody>
      </p:sp>
      <p:sp>
        <p:nvSpPr>
          <p:cNvPr id="7" name="Text 4"/>
          <p:cNvSpPr txBox="1"/>
          <p:nvPr/>
        </p:nvSpPr>
        <p:spPr>
          <a:xfrm>
            <a:off x="4389120" y="2029968"/>
            <a:ext cx="3154680" cy="310896"/>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r = 16</a:t>
            </a:r>
            <a:endParaRPr lang="en-US" sz="15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389120" y="2377440"/>
          <a:ext cx="3154680" cy="914400"/>
        </p:xfrm>
        <a:graphic>
          <a:graphicData uri="http://schemas.openxmlformats.org/drawingml/2006/table">
            <a:tbl>
              <a:tblPr/>
              <a:tblGrid>
                <a:gridCol w="1051560"/>
                <a:gridCol w="1051560"/>
                <a:gridCol w="1051560"/>
              </a:tblGrid>
              <a:tr h="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 16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mod 16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127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15 = F</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4389120" y="3474720"/>
            <a:ext cx="3703320" cy="36576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127 = 0x7F</a:t>
            </a:r>
            <a:endParaRPr lang="en-US" sz="1800" dirty="0"/>
          </a:p>
        </p:txBody>
      </p:sp>
      <p:sp>
        <p:nvSpPr>
          <p:cNvPr id="10" name="Text 6"/>
          <p:cNvSpPr txBox="1"/>
          <p:nvPr/>
        </p:nvSpPr>
        <p:spPr>
          <a:xfrm>
            <a:off x="8275320" y="2029968"/>
            <a:ext cx="3017520" cy="310896"/>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r = 2</a:t>
            </a:r>
            <a:endParaRPr lang="en-US" sz="15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8275320" y="2377440"/>
          <a:ext cx="3017520" cy="914400"/>
        </p:xfrm>
        <a:graphic>
          <a:graphicData uri="http://schemas.openxmlformats.org/drawingml/2006/table">
            <a:tbl>
              <a:tblPr/>
              <a:tblGrid>
                <a:gridCol w="1005840"/>
                <a:gridCol w="1005840"/>
                <a:gridCol w="1005840"/>
              </a:tblGrid>
              <a:tr h="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 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N mod 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127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63</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63</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31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31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12" name="Text 7"/>
          <p:cNvSpPr txBox="1"/>
          <p:nvPr/>
        </p:nvSpPr>
        <p:spPr>
          <a:xfrm>
            <a:off x="8275320" y="5120640"/>
            <a:ext cx="3566160" cy="36576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127 = 1111111</a:t>
            </a:r>
            <a:endParaRPr lang="en-US" sz="1800" dirty="0"/>
          </a:p>
        </p:txBody>
      </p:sp>
      <p:sp>
        <p:nvSpPr>
          <p:cNvPr id="13" name="Shape 8"/>
          <p:cNvSpPr/>
          <p:nvPr/>
        </p:nvSpPr>
        <p:spPr>
          <a:xfrm>
            <a:off x="548640" y="4846320"/>
            <a:ext cx="7223760" cy="1325880"/>
          </a:xfrm>
          <a:prstGeom prst="roundRect">
            <a:avLst>
              <a:gd name="adj" fmla="val 5517"/>
            </a:avLst>
          </a:prstGeom>
          <a:solidFill>
            <a:srgbClr val="F6E7D2"/>
          </a:solidFill>
          <a:ln w="12700">
            <a:solidFill>
              <a:srgbClr val="F6E7D2"/>
            </a:solidFill>
            <a:prstDash val="solid"/>
          </a:ln>
        </p:spPr>
      </p:sp>
      <p:sp>
        <p:nvSpPr>
          <p:cNvPr id="14" name="Text 9"/>
          <p:cNvSpPr txBox="1"/>
          <p:nvPr/>
        </p:nvSpPr>
        <p:spPr>
          <a:xfrm>
            <a:off x="777240" y="4892040"/>
            <a:ext cx="6766560" cy="1234440"/>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I resti si leggono dal basso verso l'alto: l'ultimo resto è la cifra più significativa. Il metodo discende da N = Q x r + R, applicata più volte al quoziente.</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Convertire una frazione: moltiplicazioni successive</a:t>
            </a:r>
            <a:endParaRPr lang="en-US" sz="3200" dirty="0"/>
          </a:p>
        </p:txBody>
      </p:sp>
      <p:sp>
        <p:nvSpPr>
          <p:cNvPr id="3" name="Text 1"/>
          <p:cNvSpPr txBox="1"/>
          <p:nvPr/>
        </p:nvSpPr>
        <p:spPr>
          <a:xfrm>
            <a:off x="548640" y="1371600"/>
            <a:ext cx="11094415" cy="64008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 0 &lt;= N &lt; 1 si moltiplica per la base r: la parte intera del prodotto è la cifra successiva, a partire dalla più significativa. Si ripete sulla parte frazionaria.</a:t>
            </a:r>
            <a:endParaRPr lang="en-US" sz="1700" dirty="0"/>
          </a:p>
        </p:txBody>
      </p:sp>
      <p:sp>
        <p:nvSpPr>
          <p:cNvPr id="4" name="Text 2"/>
          <p:cNvSpPr txBox="1"/>
          <p:nvPr/>
        </p:nvSpPr>
        <p:spPr>
          <a:xfrm>
            <a:off x="548640" y="2075688"/>
            <a:ext cx="5029200" cy="310896"/>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0,875 in base 2: esatto</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5029200" cy="914400"/>
        </p:xfrm>
        <a:graphic>
          <a:graphicData uri="http://schemas.openxmlformats.org/drawingml/2006/table">
            <a:tbl>
              <a:tblPr/>
              <a:tblGrid>
                <a:gridCol w="1920240"/>
                <a:gridCol w="1554480"/>
                <a:gridCol w="1554480"/>
              </a:tblGrid>
              <a:tr h="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Prodotto</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Frazione</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Cifra</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0,875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0,75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0,75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0,5</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0,5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6" name="Text 3"/>
          <p:cNvSpPr txBox="1"/>
          <p:nvPr/>
        </p:nvSpPr>
        <p:spPr>
          <a:xfrm>
            <a:off x="548640" y="3931920"/>
            <a:ext cx="5029200" cy="36576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0,875 = 0,111 in binario</a:t>
            </a:r>
            <a:endParaRPr lang="en-US" sz="1800" dirty="0"/>
          </a:p>
        </p:txBody>
      </p:sp>
      <p:sp>
        <p:nvSpPr>
          <p:cNvPr id="7" name="Text 4"/>
          <p:cNvSpPr txBox="1"/>
          <p:nvPr/>
        </p:nvSpPr>
        <p:spPr>
          <a:xfrm>
            <a:off x="6583680" y="2075688"/>
            <a:ext cx="5029200" cy="310896"/>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0,8 in base 2: periodico</a:t>
            </a:r>
            <a:endParaRPr lang="en-US" sz="15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583680" y="2423160"/>
          <a:ext cx="5029200" cy="914400"/>
        </p:xfrm>
        <a:graphic>
          <a:graphicData uri="http://schemas.openxmlformats.org/drawingml/2006/table">
            <a:tbl>
              <a:tblPr/>
              <a:tblGrid>
                <a:gridCol w="1920240"/>
                <a:gridCol w="1554480"/>
                <a:gridCol w="1554480"/>
              </a:tblGrid>
              <a:tr h="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Prodotto</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Frazione</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Cifra</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0,8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0,6</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0,6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0,2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0,4</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0,4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0,8</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0,8 x 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0,6</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1 ...</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bl>
          </a:graphicData>
        </a:graphic>
      </p:graphicFrame>
      <p:sp>
        <p:nvSpPr>
          <p:cNvPr id="9" name="Text 5"/>
          <p:cNvSpPr txBox="1"/>
          <p:nvPr/>
        </p:nvSpPr>
        <p:spPr>
          <a:xfrm>
            <a:off x="6583680" y="4599432"/>
            <a:ext cx="5029200" cy="36576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0,8 = 0,1100 1100 1100 ...</a:t>
            </a:r>
            <a:endParaRPr lang="en-US" sz="1800" dirty="0"/>
          </a:p>
        </p:txBody>
      </p:sp>
      <p:sp>
        <p:nvSpPr>
          <p:cNvPr id="10" name="Shape 6"/>
          <p:cNvSpPr/>
          <p:nvPr/>
        </p:nvSpPr>
        <p:spPr>
          <a:xfrm>
            <a:off x="548640" y="5074920"/>
            <a:ext cx="11094415" cy="1097280"/>
          </a:xfrm>
          <a:prstGeom prst="roundRect">
            <a:avLst>
              <a:gd name="adj" fmla="val 6667"/>
            </a:avLst>
          </a:prstGeom>
          <a:solidFill>
            <a:srgbClr val="F3DDE0"/>
          </a:solidFill>
          <a:ln w="12700">
            <a:solidFill>
              <a:srgbClr val="F3DDE0"/>
            </a:solidFill>
            <a:prstDash val="solid"/>
          </a:ln>
        </p:spPr>
      </p:sp>
      <p:sp>
        <p:nvSpPr>
          <p:cNvPr id="11" name="Text 7"/>
          <p:cNvSpPr txBox="1"/>
          <p:nvPr/>
        </p:nvSpPr>
        <p:spPr>
          <a:xfrm>
            <a:off x="822960" y="5120640"/>
            <a:ext cx="10545775" cy="1005840"/>
          </a:xfrm>
          <a:prstGeom prst="rect">
            <a:avLst/>
          </a:prstGeom>
          <a:noFill/>
          <a:ln/>
        </p:spPr>
        <p:txBody>
          <a:bodyPr wrap="square" lIns="0" tIns="0" rIns="0" bIns="0" rtlCol="0" anchor="ctr"/>
          <a:lstStyle/>
          <a:p>
            <a:pPr indent="0" marL="0">
              <a:buNone/>
            </a:pPr>
            <a:r>
              <a:rPr lang="en-US" sz="1650" dirty="0">
                <a:solidFill>
                  <a:srgbClr val="1B2530"/>
                </a:solidFill>
                <a:latin typeface="Calibri" pitchFamily="34" charset="0"/>
                <a:ea typeface="Calibri" pitchFamily="34" charset="-122"/>
                <a:cs typeface="Calibri" pitchFamily="34" charset="-120"/>
              </a:rPr>
              <a:t>Una frazione finita in base 10 può essere periodica in base 2. Con un numero finito di bit va troncata: da qui nascono gli errori di approssimazione dei numeri reali (Lezione 06).</a:t>
            </a:r>
            <a:endParaRPr lang="en-US" sz="16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03</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Numeri naturali e overflow</a:t>
            </a:r>
            <a:endParaRPr lang="en-US" sz="4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Strategie di codifica</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Una rappresentazione è una legge X = R(x) che associa a un numero x una stringa di bit X</a:t>
            </a:r>
            <a:endParaRPr lang="en-US" sz="2400" dirty="0"/>
          </a:p>
        </p:txBody>
      </p:sp>
      <p:sp>
        <p:nvSpPr>
          <p:cNvPr id="5" name="Shape 3"/>
          <p:cNvSpPr/>
          <p:nvPr/>
        </p:nvSpPr>
        <p:spPr>
          <a:xfrm>
            <a:off x="548640" y="28762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754376"/>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Il numero di bit dipende da quanti numeri si vogliono rappresentare: di solito un multiplo di 8, tipicamente 16, 32 o 64</a:t>
            </a:r>
            <a:endParaRPr lang="en-US" sz="2400" dirty="0"/>
          </a:p>
        </p:txBody>
      </p:sp>
      <p:sp>
        <p:nvSpPr>
          <p:cNvPr id="7" name="Shape 5"/>
          <p:cNvSpPr/>
          <p:nvPr/>
        </p:nvSpPr>
        <p:spPr>
          <a:xfrm>
            <a:off x="548640" y="42133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091432"/>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R si sceglie in base al tipo di numeri: naturali, interi con segno, razionali</a:t>
            </a:r>
            <a:endParaRPr lang="en-US" sz="2400" dirty="0"/>
          </a:p>
        </p:txBody>
      </p:sp>
      <p:sp>
        <p:nvSpPr>
          <p:cNvPr id="9" name="Shape 7"/>
          <p:cNvSpPr/>
          <p:nvPr/>
        </p:nvSpPr>
        <p:spPr>
          <a:xfrm>
            <a:off x="548640" y="517855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056632"/>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Una buona R rende operazioni aritmetiche e confronti semplici da realizzare come circuiti</a:t>
            </a:r>
            <a:endParaRPr lang="en-US" sz="24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X = R(x)</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x è il numero che intendiamo; X è la configurazione di bit memorizzata nel registro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Numeri naturali su n bit</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56362"/>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Con n bit ci sono 2^n configurazioni: i naturali da 0 a 2^n - 1</a:t>
            </a:r>
            <a:endParaRPr lang="en-US" sz="2300" dirty="0"/>
          </a:p>
        </p:txBody>
      </p:sp>
      <p:sp>
        <p:nvSpPr>
          <p:cNvPr id="5" name="Shape 3"/>
          <p:cNvSpPr/>
          <p:nvPr/>
        </p:nvSpPr>
        <p:spPr>
          <a:xfrm>
            <a:off x="548640" y="205320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939036"/>
            <a:ext cx="10710367"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A ogni numero è associata la stringa di bit che lo rappresenta nel sistema posizionale binario</a:t>
            </a:r>
            <a:endParaRPr lang="en-US" sz="2300" dirty="0"/>
          </a:p>
        </p:txBody>
      </p:sp>
      <p:sp>
        <p:nvSpPr>
          <p:cNvPr id="7" name="Text 5"/>
          <p:cNvSpPr txBox="1"/>
          <p:nvPr/>
        </p:nvSpPr>
        <p:spPr>
          <a:xfrm>
            <a:off x="548640" y="2834640"/>
            <a:ext cx="11094415" cy="320040"/>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Esempio: n = 4, intervallo [0, 15]</a:t>
            </a:r>
            <a:endParaRPr lang="en-US" sz="1500" dirty="0"/>
          </a:p>
        </p:txBody>
      </p:sp>
      <p:sp>
        <p:nvSpPr>
          <p:cNvPr id="8" name="Text 6"/>
          <p:cNvSpPr txBox="1"/>
          <p:nvPr/>
        </p:nvSpPr>
        <p:spPr>
          <a:xfrm>
            <a:off x="548640"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0000</a:t>
            </a:r>
            <a:endParaRPr lang="en-US" sz="1350" dirty="0"/>
          </a:p>
        </p:txBody>
      </p:sp>
      <p:sp>
        <p:nvSpPr>
          <p:cNvPr id="9" name="Text 7"/>
          <p:cNvSpPr txBox="1"/>
          <p:nvPr/>
        </p:nvSpPr>
        <p:spPr>
          <a:xfrm>
            <a:off x="548640"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0</a:t>
            </a:r>
            <a:endParaRPr lang="en-US" sz="1600" dirty="0"/>
          </a:p>
        </p:txBody>
      </p:sp>
      <p:sp>
        <p:nvSpPr>
          <p:cNvPr id="10" name="Text 8"/>
          <p:cNvSpPr txBox="1"/>
          <p:nvPr/>
        </p:nvSpPr>
        <p:spPr>
          <a:xfrm>
            <a:off x="1242041"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0001</a:t>
            </a:r>
            <a:endParaRPr lang="en-US" sz="1350" dirty="0"/>
          </a:p>
        </p:txBody>
      </p:sp>
      <p:sp>
        <p:nvSpPr>
          <p:cNvPr id="11" name="Text 9"/>
          <p:cNvSpPr txBox="1"/>
          <p:nvPr/>
        </p:nvSpPr>
        <p:spPr>
          <a:xfrm>
            <a:off x="1242041"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p>
        </p:txBody>
      </p:sp>
      <p:sp>
        <p:nvSpPr>
          <p:cNvPr id="12" name="Text 10"/>
          <p:cNvSpPr txBox="1"/>
          <p:nvPr/>
        </p:nvSpPr>
        <p:spPr>
          <a:xfrm>
            <a:off x="1935442"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0010</a:t>
            </a:r>
            <a:endParaRPr lang="en-US" sz="1350" dirty="0"/>
          </a:p>
        </p:txBody>
      </p:sp>
      <p:sp>
        <p:nvSpPr>
          <p:cNvPr id="13" name="Text 11"/>
          <p:cNvSpPr txBox="1"/>
          <p:nvPr/>
        </p:nvSpPr>
        <p:spPr>
          <a:xfrm>
            <a:off x="1935442"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2628843"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0011</a:t>
            </a:r>
            <a:endParaRPr lang="en-US" sz="1350" dirty="0"/>
          </a:p>
        </p:txBody>
      </p:sp>
      <p:sp>
        <p:nvSpPr>
          <p:cNvPr id="15" name="Text 13"/>
          <p:cNvSpPr txBox="1"/>
          <p:nvPr/>
        </p:nvSpPr>
        <p:spPr>
          <a:xfrm>
            <a:off x="2628843"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3322244"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0100</a:t>
            </a:r>
            <a:endParaRPr lang="en-US" sz="1350" dirty="0"/>
          </a:p>
        </p:txBody>
      </p:sp>
      <p:sp>
        <p:nvSpPr>
          <p:cNvPr id="17" name="Text 15"/>
          <p:cNvSpPr txBox="1"/>
          <p:nvPr/>
        </p:nvSpPr>
        <p:spPr>
          <a:xfrm>
            <a:off x="3322244"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4015645"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0101</a:t>
            </a:r>
            <a:endParaRPr lang="en-US" sz="1350" dirty="0"/>
          </a:p>
        </p:txBody>
      </p:sp>
      <p:sp>
        <p:nvSpPr>
          <p:cNvPr id="19" name="Text 17"/>
          <p:cNvSpPr txBox="1"/>
          <p:nvPr/>
        </p:nvSpPr>
        <p:spPr>
          <a:xfrm>
            <a:off x="4015645"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p>
        </p:txBody>
      </p:sp>
      <p:sp>
        <p:nvSpPr>
          <p:cNvPr id="20" name="Text 18"/>
          <p:cNvSpPr txBox="1"/>
          <p:nvPr/>
        </p:nvSpPr>
        <p:spPr>
          <a:xfrm>
            <a:off x="4709046"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0110</a:t>
            </a:r>
            <a:endParaRPr lang="en-US" sz="1350" dirty="0"/>
          </a:p>
        </p:txBody>
      </p:sp>
      <p:sp>
        <p:nvSpPr>
          <p:cNvPr id="21" name="Text 19"/>
          <p:cNvSpPr txBox="1"/>
          <p:nvPr/>
        </p:nvSpPr>
        <p:spPr>
          <a:xfrm>
            <a:off x="4709046"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p>
        </p:txBody>
      </p:sp>
      <p:sp>
        <p:nvSpPr>
          <p:cNvPr id="22" name="Text 20"/>
          <p:cNvSpPr txBox="1"/>
          <p:nvPr/>
        </p:nvSpPr>
        <p:spPr>
          <a:xfrm>
            <a:off x="5402447"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0111</a:t>
            </a:r>
            <a:endParaRPr lang="en-US" sz="1350" dirty="0"/>
          </a:p>
        </p:txBody>
      </p:sp>
      <p:sp>
        <p:nvSpPr>
          <p:cNvPr id="23" name="Text 21"/>
          <p:cNvSpPr txBox="1"/>
          <p:nvPr/>
        </p:nvSpPr>
        <p:spPr>
          <a:xfrm>
            <a:off x="5402447"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p>
        </p:txBody>
      </p:sp>
      <p:sp>
        <p:nvSpPr>
          <p:cNvPr id="24" name="Text 22"/>
          <p:cNvSpPr txBox="1"/>
          <p:nvPr/>
        </p:nvSpPr>
        <p:spPr>
          <a:xfrm>
            <a:off x="6095848"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1000</a:t>
            </a:r>
            <a:endParaRPr lang="en-US" sz="1350" dirty="0"/>
          </a:p>
        </p:txBody>
      </p:sp>
      <p:sp>
        <p:nvSpPr>
          <p:cNvPr id="25" name="Text 23"/>
          <p:cNvSpPr txBox="1"/>
          <p:nvPr/>
        </p:nvSpPr>
        <p:spPr>
          <a:xfrm>
            <a:off x="6095848"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8</a:t>
            </a:r>
            <a:endParaRPr lang="en-US" sz="1600" dirty="0"/>
          </a:p>
        </p:txBody>
      </p:sp>
      <p:sp>
        <p:nvSpPr>
          <p:cNvPr id="26" name="Text 24"/>
          <p:cNvSpPr txBox="1"/>
          <p:nvPr/>
        </p:nvSpPr>
        <p:spPr>
          <a:xfrm>
            <a:off x="6789249"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1001</a:t>
            </a:r>
            <a:endParaRPr lang="en-US" sz="1350" dirty="0"/>
          </a:p>
        </p:txBody>
      </p:sp>
      <p:sp>
        <p:nvSpPr>
          <p:cNvPr id="27" name="Text 25"/>
          <p:cNvSpPr txBox="1"/>
          <p:nvPr/>
        </p:nvSpPr>
        <p:spPr>
          <a:xfrm>
            <a:off x="6789249"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9</a:t>
            </a:r>
            <a:endParaRPr lang="en-US" sz="1600" dirty="0"/>
          </a:p>
        </p:txBody>
      </p:sp>
      <p:sp>
        <p:nvSpPr>
          <p:cNvPr id="28" name="Text 26"/>
          <p:cNvSpPr txBox="1"/>
          <p:nvPr/>
        </p:nvSpPr>
        <p:spPr>
          <a:xfrm>
            <a:off x="7482650"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1010</a:t>
            </a:r>
            <a:endParaRPr lang="en-US" sz="1350" dirty="0"/>
          </a:p>
        </p:txBody>
      </p:sp>
      <p:sp>
        <p:nvSpPr>
          <p:cNvPr id="29" name="Text 27"/>
          <p:cNvSpPr txBox="1"/>
          <p:nvPr/>
        </p:nvSpPr>
        <p:spPr>
          <a:xfrm>
            <a:off x="7482650"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10</a:t>
            </a:r>
            <a:endParaRPr lang="en-US" sz="1600" dirty="0"/>
          </a:p>
        </p:txBody>
      </p:sp>
      <p:sp>
        <p:nvSpPr>
          <p:cNvPr id="30" name="Text 28"/>
          <p:cNvSpPr txBox="1"/>
          <p:nvPr/>
        </p:nvSpPr>
        <p:spPr>
          <a:xfrm>
            <a:off x="8176050"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1011</a:t>
            </a:r>
            <a:endParaRPr lang="en-US" sz="1350" dirty="0"/>
          </a:p>
        </p:txBody>
      </p:sp>
      <p:sp>
        <p:nvSpPr>
          <p:cNvPr id="31" name="Text 29"/>
          <p:cNvSpPr txBox="1"/>
          <p:nvPr/>
        </p:nvSpPr>
        <p:spPr>
          <a:xfrm>
            <a:off x="8176050"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11</a:t>
            </a:r>
            <a:endParaRPr lang="en-US" sz="1600" dirty="0"/>
          </a:p>
        </p:txBody>
      </p:sp>
      <p:sp>
        <p:nvSpPr>
          <p:cNvPr id="32" name="Text 30"/>
          <p:cNvSpPr txBox="1"/>
          <p:nvPr/>
        </p:nvSpPr>
        <p:spPr>
          <a:xfrm>
            <a:off x="8869451"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1100</a:t>
            </a:r>
            <a:endParaRPr lang="en-US" sz="1350" dirty="0"/>
          </a:p>
        </p:txBody>
      </p:sp>
      <p:sp>
        <p:nvSpPr>
          <p:cNvPr id="33" name="Text 31"/>
          <p:cNvSpPr txBox="1"/>
          <p:nvPr/>
        </p:nvSpPr>
        <p:spPr>
          <a:xfrm>
            <a:off x="8869451"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12</a:t>
            </a:r>
            <a:endParaRPr lang="en-US" sz="1600" dirty="0"/>
          </a:p>
        </p:txBody>
      </p:sp>
      <p:sp>
        <p:nvSpPr>
          <p:cNvPr id="34" name="Text 32"/>
          <p:cNvSpPr txBox="1"/>
          <p:nvPr/>
        </p:nvSpPr>
        <p:spPr>
          <a:xfrm>
            <a:off x="9562852"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1101</a:t>
            </a:r>
            <a:endParaRPr lang="en-US" sz="1350" dirty="0"/>
          </a:p>
        </p:txBody>
      </p:sp>
      <p:sp>
        <p:nvSpPr>
          <p:cNvPr id="35" name="Text 33"/>
          <p:cNvSpPr txBox="1"/>
          <p:nvPr/>
        </p:nvSpPr>
        <p:spPr>
          <a:xfrm>
            <a:off x="9562852"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13</a:t>
            </a:r>
            <a:endParaRPr lang="en-US" sz="1600" dirty="0"/>
          </a:p>
        </p:txBody>
      </p:sp>
      <p:sp>
        <p:nvSpPr>
          <p:cNvPr id="36" name="Text 34"/>
          <p:cNvSpPr txBox="1"/>
          <p:nvPr/>
        </p:nvSpPr>
        <p:spPr>
          <a:xfrm>
            <a:off x="10256253"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1110</a:t>
            </a:r>
            <a:endParaRPr lang="en-US" sz="1350" dirty="0"/>
          </a:p>
        </p:txBody>
      </p:sp>
      <p:sp>
        <p:nvSpPr>
          <p:cNvPr id="37" name="Text 35"/>
          <p:cNvSpPr txBox="1"/>
          <p:nvPr/>
        </p:nvSpPr>
        <p:spPr>
          <a:xfrm>
            <a:off x="10256253"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14</a:t>
            </a:r>
            <a:endParaRPr lang="en-US" sz="1600" dirty="0"/>
          </a:p>
        </p:txBody>
      </p:sp>
      <p:sp>
        <p:nvSpPr>
          <p:cNvPr id="38" name="Text 36"/>
          <p:cNvSpPr txBox="1"/>
          <p:nvPr/>
        </p:nvSpPr>
        <p:spPr>
          <a:xfrm>
            <a:off x="10949654" y="3520440"/>
            <a:ext cx="693401" cy="64008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350" b="1" dirty="0">
                <a:solidFill>
                  <a:srgbClr val="1B2530"/>
                </a:solidFill>
                <a:latin typeface="Courier New" pitchFamily="34" charset="0"/>
                <a:ea typeface="Courier New" pitchFamily="34" charset="-122"/>
                <a:cs typeface="Courier New" pitchFamily="34" charset="-120"/>
              </a:rPr>
              <a:t>1111</a:t>
            </a:r>
            <a:endParaRPr lang="en-US" sz="1350" dirty="0"/>
          </a:p>
        </p:txBody>
      </p:sp>
      <p:sp>
        <p:nvSpPr>
          <p:cNvPr id="39" name="Text 37"/>
          <p:cNvSpPr txBox="1"/>
          <p:nvPr/>
        </p:nvSpPr>
        <p:spPr>
          <a:xfrm>
            <a:off x="10949654" y="4197096"/>
            <a:ext cx="693401" cy="274320"/>
          </a:xfrm>
          <a:prstGeom prst="rect">
            <a:avLst/>
          </a:prstGeom>
          <a:noFill/>
          <a:ln/>
        </p:spPr>
        <p:txBody>
          <a:bodyPr wrap="square" lIns="0" tIns="0" rIns="0" bIns="0" rtlCol="0" anchor="t"/>
          <a:lstStyle/>
          <a:p>
            <a:pPr algn="ctr" indent="0" marL="0">
              <a:buNone/>
            </a:pPr>
            <a:r>
              <a:rPr lang="en-US" sz="1600" dirty="0">
                <a:solidFill>
                  <a:srgbClr val="1B2530"/>
                </a:solidFill>
                <a:latin typeface="Calibri" pitchFamily="34" charset="0"/>
                <a:ea typeface="Calibri" pitchFamily="34" charset="-122"/>
                <a:cs typeface="Calibri" pitchFamily="34" charset="-120"/>
              </a:rPr>
              <a:t>15</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754880"/>
          <a:ext cx="11094415" cy="914400"/>
        </p:xfrm>
        <a:graphic>
          <a:graphicData uri="http://schemas.openxmlformats.org/drawingml/2006/table">
            <a:tbl>
              <a:tblPr/>
              <a:tblGrid>
                <a:gridCol w="2743200"/>
                <a:gridCol w="2743200"/>
                <a:gridCol w="2743200"/>
                <a:gridCol w="2864815"/>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Bit</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Intervallo</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RISC-V</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Massimo</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 ... 2^8 - 1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byte (lbu)</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255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 ... 2^16 - 1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halfword (lhu)</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65.535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0 ... 2^32 - 1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word, registro</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4.294.967.295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Proprietà delle stringhe binarie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L'estensione a sinistra con zeri non cambia il valore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5 = 101 = 00101</a:t>
            </a:r>
            <a:endParaRPr lang="en-US" sz="2200" dirty="0"/>
          </a:p>
        </p:txBody>
      </p:sp>
      <p:sp>
        <p:nvSpPr>
          <p:cNvPr id="5" name="Shape 3"/>
          <p:cNvSpPr/>
          <p:nvPr/>
        </p:nvSpPr>
        <p:spPr>
          <a:xfrm>
            <a:off x="548640" y="266970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63283"/>
            <a:ext cx="546811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Moltiplicare per 2^k è uno scorrimento a sinistra di k posizioni</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00101 x 2 = 01010: cinque diventa dieci</a:t>
            </a:r>
            <a:endParaRPr lang="en-US" sz="2200" dirty="0"/>
          </a:p>
        </p:txBody>
      </p:sp>
      <p:sp>
        <p:nvSpPr>
          <p:cNvPr id="7" name="Shape 5"/>
          <p:cNvSpPr/>
          <p:nvPr/>
        </p:nvSpPr>
        <p:spPr>
          <a:xfrm>
            <a:off x="548640" y="381567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09247"/>
            <a:ext cx="546811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 divisione intera per 2^k è uno scorrimento a destra di k posizioni</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00101 / 2 = 00010: cinque diventa due, il resto si perde</a:t>
            </a:r>
            <a:endParaRPr lang="en-US" sz="2200" dirty="0"/>
          </a:p>
        </p:txBody>
      </p:sp>
      <p:sp>
        <p:nvSpPr>
          <p:cNvPr id="9" name="Shape 7"/>
          <p:cNvSpPr/>
          <p:nvPr/>
        </p:nvSpPr>
        <p:spPr>
          <a:xfrm>
            <a:off x="548640" y="52560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49596"/>
            <a:ext cx="546811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scorrimenti costano molto meno delle moltiplicazioni: i compilatori li usano ogni volta che possono</a:t>
            </a:r>
            <a:endParaRPr lang="en-US" sz="2200" dirty="0"/>
          </a:p>
        </p:txBody>
      </p:sp>
      <p:sp>
        <p:nvSpPr>
          <p:cNvPr id="11" name="Shape 9"/>
          <p:cNvSpPr/>
          <p:nvPr/>
        </p:nvSpPr>
        <p:spPr>
          <a:xfrm>
            <a:off x="6766560" y="1417320"/>
            <a:ext cx="4876495" cy="3566160"/>
          </a:xfrm>
          <a:prstGeom prst="roundRect">
            <a:avLst>
              <a:gd name="adj" fmla="val 2051"/>
            </a:avLst>
          </a:prstGeom>
          <a:solidFill>
            <a:srgbClr val="12202B"/>
          </a:solidFill>
          <a:ln w="12700">
            <a:solidFill>
              <a:srgbClr val="12202B"/>
            </a:solidFill>
            <a:prstDash val="solid"/>
          </a:ln>
        </p:spPr>
      </p:sp>
      <p:sp>
        <p:nvSpPr>
          <p:cNvPr id="12" name="Text 10"/>
          <p:cNvSpPr txBox="1"/>
          <p:nvPr/>
        </p:nvSpPr>
        <p:spPr>
          <a:xfrm>
            <a:off x="6995160" y="1600200"/>
            <a:ext cx="4419295" cy="320040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multiply by 4</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t0, t0, 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divide by 2 (unsigned)</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srli t0, t0, 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x * 10 = x*8 + x*2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t1, t0, 3</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slli t2, t0, 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  t0, t1, t2</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Overflow</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Definizione</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200" i="1" dirty="0">
                <a:solidFill>
                  <a:srgbClr val="1B2530"/>
                </a:solidFill>
                <a:latin typeface="Cambria" pitchFamily="34" charset="0"/>
                <a:ea typeface="Cambria" pitchFamily="34" charset="-122"/>
                <a:cs typeface="Cambria" pitchFamily="34" charset="-120"/>
              </a:rPr>
              <a:t>Si ha overflow quando il risultato di un'operazione non è contenuto nel sottoinsieme finito di numeri che i bit disponibili possono rappresentare.</a:t>
            </a:r>
            <a:endParaRPr lang="en-US" sz="2200" dirty="0"/>
          </a:p>
        </p:txBody>
      </p:sp>
      <p:sp>
        <p:nvSpPr>
          <p:cNvPr id="6" name="Shape 4"/>
          <p:cNvSpPr/>
          <p:nvPr/>
        </p:nvSpPr>
        <p:spPr>
          <a:xfrm>
            <a:off x="548640" y="3439922"/>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33496"/>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registri hanno dimensione finita e sono in numero finito</a:t>
            </a:r>
            <a:endParaRPr lang="en-US" sz="2200" dirty="0"/>
          </a:p>
        </p:txBody>
      </p:sp>
      <p:sp>
        <p:nvSpPr>
          <p:cNvPr id="8" name="Shape 6"/>
          <p:cNvSpPr/>
          <p:nvPr/>
        </p:nvSpPr>
        <p:spPr>
          <a:xfrm>
            <a:off x="548640" y="3931666"/>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382524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insiemi numerici sono infiniti: se ne può rappresentare solo un sottoinsieme finito</a:t>
            </a:r>
            <a:endParaRPr lang="en-US" sz="2200" dirty="0"/>
          </a:p>
        </p:txBody>
      </p:sp>
      <p:sp>
        <p:nvSpPr>
          <p:cNvPr id="10" name="Shape 8"/>
          <p:cNvSpPr/>
          <p:nvPr/>
        </p:nvSpPr>
        <p:spPr>
          <a:xfrm>
            <a:off x="548640" y="4764278"/>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465785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operatori aritmetici sono chiusi sull'insieme intero, non sul sottoinsieme finito</a:t>
            </a:r>
            <a:endParaRPr lang="en-US" sz="2200" dirty="0"/>
          </a:p>
        </p:txBody>
      </p:sp>
      <p:sp>
        <p:nvSpPr>
          <p:cNvPr id="12" name="Shape 10"/>
          <p:cNvSpPr/>
          <p:nvPr/>
        </p:nvSpPr>
        <p:spPr>
          <a:xfrm>
            <a:off x="548640" y="5596890"/>
            <a:ext cx="146304" cy="146304"/>
          </a:xfrm>
          <a:prstGeom prst="rect">
            <a:avLst/>
          </a:prstGeom>
          <a:solidFill>
            <a:srgbClr val="C7791B"/>
          </a:solidFill>
          <a:ln w="12700">
            <a:solidFill>
              <a:srgbClr val="C7791B"/>
            </a:solidFill>
            <a:prstDash val="solid"/>
          </a:ln>
        </p:spPr>
      </p:sp>
      <p:sp>
        <p:nvSpPr>
          <p:cNvPr id="13" name="Text 11"/>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Con 7 bit si codifica [0, 127]: 100 e 38 sono rappresentabili, la loro somma 138 no</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Aritmetica su quattro bit</a:t>
            </a:r>
            <a:endParaRPr lang="en-US" sz="3200" dirty="0"/>
          </a:p>
        </p:txBody>
      </p:sp>
      <p:sp>
        <p:nvSpPr>
          <p:cNvPr id="3" name="Shape 1"/>
          <p:cNvSpPr/>
          <p:nvPr/>
        </p:nvSpPr>
        <p:spPr>
          <a:xfrm>
            <a:off x="548640" y="1463040"/>
            <a:ext cx="2567864" cy="2057400"/>
          </a:xfrm>
          <a:prstGeom prst="roundRect">
            <a:avLst>
              <a:gd name="adj" fmla="val 3556"/>
            </a:avLst>
          </a:prstGeom>
          <a:solidFill>
            <a:srgbClr val="EEF2F4"/>
          </a:solidFill>
          <a:ln w="12700">
            <a:solidFill>
              <a:srgbClr val="EEF2F4"/>
            </a:solidFill>
            <a:prstDash val="solid"/>
          </a:ln>
        </p:spPr>
      </p:sp>
      <p:sp>
        <p:nvSpPr>
          <p:cNvPr id="4" name="Text 2"/>
          <p:cNvSpPr txBox="1"/>
          <p:nvPr/>
        </p:nvSpPr>
        <p:spPr>
          <a:xfrm>
            <a:off x="731520" y="1554480"/>
            <a:ext cx="2202104"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Somma</a:t>
            </a:r>
            <a:endParaRPr lang="en-US" sz="1400" dirty="0"/>
          </a:p>
        </p:txBody>
      </p:sp>
      <p:sp>
        <p:nvSpPr>
          <p:cNvPr id="5" name="Text 3"/>
          <p:cNvSpPr txBox="1"/>
          <p:nvPr/>
        </p:nvSpPr>
        <p:spPr>
          <a:xfrm>
            <a:off x="731520" y="1920240"/>
            <a:ext cx="873074"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6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8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14</a:t>
            </a:r>
            <a:endParaRPr lang="en-US" sz="1600" dirty="0"/>
          </a:p>
        </p:txBody>
      </p:sp>
      <p:sp>
        <p:nvSpPr>
          <p:cNvPr id="6" name="Text 4"/>
          <p:cNvSpPr txBox="1"/>
          <p:nvPr/>
        </p:nvSpPr>
        <p:spPr>
          <a:xfrm>
            <a:off x="1575786" y="1920240"/>
            <a:ext cx="1312118"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0110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1000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1110</a:t>
            </a:r>
            <a:endParaRPr lang="en-US" sz="1600" dirty="0"/>
          </a:p>
        </p:txBody>
      </p:sp>
      <p:sp>
        <p:nvSpPr>
          <p:cNvPr id="7" name="Text 5"/>
          <p:cNvSpPr txBox="1"/>
          <p:nvPr/>
        </p:nvSpPr>
        <p:spPr>
          <a:xfrm>
            <a:off x="731520" y="3044952"/>
            <a:ext cx="2202104"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sta in quattro bit</a:t>
            </a:r>
            <a:endParaRPr lang="en-US" sz="1250" dirty="0"/>
          </a:p>
        </p:txBody>
      </p:sp>
      <p:sp>
        <p:nvSpPr>
          <p:cNvPr id="8" name="Shape 6"/>
          <p:cNvSpPr/>
          <p:nvPr/>
        </p:nvSpPr>
        <p:spPr>
          <a:xfrm>
            <a:off x="3390824" y="1463040"/>
            <a:ext cx="2567864" cy="2057400"/>
          </a:xfrm>
          <a:prstGeom prst="roundRect">
            <a:avLst>
              <a:gd name="adj" fmla="val 3556"/>
            </a:avLst>
          </a:prstGeom>
          <a:solidFill>
            <a:srgbClr val="EEF2F4"/>
          </a:solidFill>
          <a:ln w="12700">
            <a:solidFill>
              <a:srgbClr val="EEF2F4"/>
            </a:solidFill>
            <a:prstDash val="solid"/>
          </a:ln>
        </p:spPr>
      </p:sp>
      <p:sp>
        <p:nvSpPr>
          <p:cNvPr id="9" name="Text 7"/>
          <p:cNvSpPr txBox="1"/>
          <p:nvPr/>
        </p:nvSpPr>
        <p:spPr>
          <a:xfrm>
            <a:off x="3573704" y="1554480"/>
            <a:ext cx="2202104" cy="32004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Somma con overflow</a:t>
            </a:r>
            <a:endParaRPr lang="en-US" sz="1400" dirty="0"/>
          </a:p>
        </p:txBody>
      </p:sp>
      <p:sp>
        <p:nvSpPr>
          <p:cNvPr id="10" name="Text 8"/>
          <p:cNvSpPr txBox="1"/>
          <p:nvPr/>
        </p:nvSpPr>
        <p:spPr>
          <a:xfrm>
            <a:off x="3573704" y="1920240"/>
            <a:ext cx="873074"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14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3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17</a:t>
            </a:r>
            <a:endParaRPr lang="en-US" sz="1600" dirty="0"/>
          </a:p>
        </p:txBody>
      </p:sp>
      <p:sp>
        <p:nvSpPr>
          <p:cNvPr id="11" name="Text 9"/>
          <p:cNvSpPr txBox="1"/>
          <p:nvPr/>
        </p:nvSpPr>
        <p:spPr>
          <a:xfrm>
            <a:off x="4417969" y="1920240"/>
            <a:ext cx="1312118"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1110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0011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1 0001</a:t>
            </a:r>
            <a:endParaRPr lang="en-US" sz="1600" dirty="0"/>
          </a:p>
        </p:txBody>
      </p:sp>
      <p:sp>
        <p:nvSpPr>
          <p:cNvPr id="12" name="Text 10"/>
          <p:cNvSpPr txBox="1"/>
          <p:nvPr/>
        </p:nvSpPr>
        <p:spPr>
          <a:xfrm>
            <a:off x="3573704" y="3044952"/>
            <a:ext cx="2202104" cy="411480"/>
          </a:xfrm>
          <a:prstGeom prst="rect">
            <a:avLst/>
          </a:prstGeom>
          <a:noFill/>
          <a:ln/>
        </p:spPr>
        <p:txBody>
          <a:bodyPr wrap="square" lIns="0" tIns="0" rIns="0" bIns="0" rtlCol="0" anchor="ctr"/>
          <a:lstStyle/>
          <a:p>
            <a:pPr indent="0" marL="0">
              <a:buNone/>
            </a:pPr>
            <a:r>
              <a:rPr lang="en-US" sz="1250" i="1" dirty="0">
                <a:solidFill>
                  <a:srgbClr val="B23A48"/>
                </a:solidFill>
                <a:latin typeface="Calibri" pitchFamily="34" charset="0"/>
                <a:ea typeface="Calibri" pitchFamily="34" charset="-122"/>
                <a:cs typeface="Calibri" pitchFamily="34" charset="-120"/>
              </a:rPr>
              <a:t>serve un quinto bit</a:t>
            </a:r>
            <a:endParaRPr lang="en-US" sz="1250" dirty="0"/>
          </a:p>
        </p:txBody>
      </p:sp>
      <p:sp>
        <p:nvSpPr>
          <p:cNvPr id="13" name="Shape 11"/>
          <p:cNvSpPr/>
          <p:nvPr/>
        </p:nvSpPr>
        <p:spPr>
          <a:xfrm>
            <a:off x="6233008" y="1463040"/>
            <a:ext cx="2567864" cy="2057400"/>
          </a:xfrm>
          <a:prstGeom prst="roundRect">
            <a:avLst>
              <a:gd name="adj" fmla="val 3556"/>
            </a:avLst>
          </a:prstGeom>
          <a:solidFill>
            <a:srgbClr val="EEF2F4"/>
          </a:solidFill>
          <a:ln w="12700">
            <a:solidFill>
              <a:srgbClr val="EEF2F4"/>
            </a:solidFill>
            <a:prstDash val="solid"/>
          </a:ln>
        </p:spPr>
      </p:sp>
      <p:sp>
        <p:nvSpPr>
          <p:cNvPr id="14" name="Text 12"/>
          <p:cNvSpPr txBox="1"/>
          <p:nvPr/>
        </p:nvSpPr>
        <p:spPr>
          <a:xfrm>
            <a:off x="6415888" y="1554480"/>
            <a:ext cx="2202104"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Differenza</a:t>
            </a:r>
            <a:endParaRPr lang="en-US" sz="1400" dirty="0"/>
          </a:p>
        </p:txBody>
      </p:sp>
      <p:sp>
        <p:nvSpPr>
          <p:cNvPr id="15" name="Text 13"/>
          <p:cNvSpPr txBox="1"/>
          <p:nvPr/>
        </p:nvSpPr>
        <p:spPr>
          <a:xfrm>
            <a:off x="6415888" y="1920240"/>
            <a:ext cx="873074"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11 -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5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6</a:t>
            </a:r>
            <a:endParaRPr lang="en-US" sz="1600" dirty="0"/>
          </a:p>
        </p:txBody>
      </p:sp>
      <p:sp>
        <p:nvSpPr>
          <p:cNvPr id="16" name="Text 14"/>
          <p:cNvSpPr txBox="1"/>
          <p:nvPr/>
        </p:nvSpPr>
        <p:spPr>
          <a:xfrm>
            <a:off x="7260153" y="1920240"/>
            <a:ext cx="1312118"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1011 -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0101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0110</a:t>
            </a:r>
            <a:endParaRPr lang="en-US" sz="1600" dirty="0"/>
          </a:p>
        </p:txBody>
      </p:sp>
      <p:sp>
        <p:nvSpPr>
          <p:cNvPr id="17" name="Text 15"/>
          <p:cNvSpPr txBox="1"/>
          <p:nvPr/>
        </p:nvSpPr>
        <p:spPr>
          <a:xfrm>
            <a:off x="6415888" y="3044952"/>
            <a:ext cx="2202104"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prestito come in decimale</a:t>
            </a:r>
            <a:endParaRPr lang="en-US" sz="1250" dirty="0"/>
          </a:p>
        </p:txBody>
      </p:sp>
      <p:sp>
        <p:nvSpPr>
          <p:cNvPr id="18" name="Shape 16"/>
          <p:cNvSpPr/>
          <p:nvPr/>
        </p:nvSpPr>
        <p:spPr>
          <a:xfrm>
            <a:off x="9075191" y="1463040"/>
            <a:ext cx="2567864" cy="2057400"/>
          </a:xfrm>
          <a:prstGeom prst="roundRect">
            <a:avLst>
              <a:gd name="adj" fmla="val 3556"/>
            </a:avLst>
          </a:prstGeom>
          <a:solidFill>
            <a:srgbClr val="EEF2F4"/>
          </a:solidFill>
          <a:ln w="12700">
            <a:solidFill>
              <a:srgbClr val="EEF2F4"/>
            </a:solidFill>
            <a:prstDash val="solid"/>
          </a:ln>
        </p:spPr>
      </p:sp>
      <p:sp>
        <p:nvSpPr>
          <p:cNvPr id="19" name="Text 17"/>
          <p:cNvSpPr txBox="1"/>
          <p:nvPr/>
        </p:nvSpPr>
        <p:spPr>
          <a:xfrm>
            <a:off x="9258071" y="1554480"/>
            <a:ext cx="2202104"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Prodotto</a:t>
            </a:r>
            <a:endParaRPr lang="en-US" sz="1400" dirty="0"/>
          </a:p>
        </p:txBody>
      </p:sp>
      <p:sp>
        <p:nvSpPr>
          <p:cNvPr id="20" name="Text 18"/>
          <p:cNvSpPr txBox="1"/>
          <p:nvPr/>
        </p:nvSpPr>
        <p:spPr>
          <a:xfrm>
            <a:off x="9258071" y="1920240"/>
            <a:ext cx="873074"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5 x</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3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15</a:t>
            </a:r>
            <a:endParaRPr lang="en-US" sz="1600" dirty="0"/>
          </a:p>
        </p:txBody>
      </p:sp>
      <p:sp>
        <p:nvSpPr>
          <p:cNvPr id="21" name="Text 19"/>
          <p:cNvSpPr txBox="1"/>
          <p:nvPr/>
        </p:nvSpPr>
        <p:spPr>
          <a:xfrm>
            <a:off x="10102337" y="1920240"/>
            <a:ext cx="1312118"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0101 x</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0011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000 1111</a:t>
            </a:r>
            <a:endParaRPr lang="en-US" sz="1600" dirty="0"/>
          </a:p>
        </p:txBody>
      </p:sp>
      <p:sp>
        <p:nvSpPr>
          <p:cNvPr id="22" name="Text 20"/>
          <p:cNvSpPr txBox="1"/>
          <p:nvPr/>
        </p:nvSpPr>
        <p:spPr>
          <a:xfrm>
            <a:off x="9258071" y="3044952"/>
            <a:ext cx="2202104"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n x n bit danno fino a 2n bit</a:t>
            </a:r>
            <a:endParaRPr lang="en-US" sz="1250" dirty="0"/>
          </a:p>
        </p:txBody>
      </p:sp>
      <p:sp>
        <p:nvSpPr>
          <p:cNvPr id="23" name="Shape 21"/>
          <p:cNvSpPr/>
          <p:nvPr/>
        </p:nvSpPr>
        <p:spPr>
          <a:xfrm>
            <a:off x="548640" y="3901186"/>
            <a:ext cx="146304" cy="146304"/>
          </a:xfrm>
          <a:prstGeom prst="rect">
            <a:avLst/>
          </a:prstGeom>
          <a:solidFill>
            <a:srgbClr val="0E7C86"/>
          </a:solidFill>
          <a:ln w="12700">
            <a:solidFill>
              <a:srgbClr val="0E7C86"/>
            </a:solidFill>
            <a:prstDash val="solid"/>
          </a:ln>
        </p:spPr>
      </p:sp>
      <p:sp>
        <p:nvSpPr>
          <p:cNvPr id="24" name="Text 22"/>
          <p:cNvSpPr txBox="1"/>
          <p:nvPr/>
        </p:nvSpPr>
        <p:spPr>
          <a:xfrm>
            <a:off x="932688" y="379476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L'aritmetica binaria segue le stesse regole colonna per colonna di quella decimale: 1 + 1 = 0 con riporto di 1</a:t>
            </a:r>
            <a:endParaRPr lang="en-US" sz="2200" dirty="0"/>
          </a:p>
        </p:txBody>
      </p:sp>
      <p:sp>
        <p:nvSpPr>
          <p:cNvPr id="25" name="Shape 23"/>
          <p:cNvSpPr/>
          <p:nvPr/>
        </p:nvSpPr>
        <p:spPr>
          <a:xfrm>
            <a:off x="548640" y="4749038"/>
            <a:ext cx="146304" cy="146304"/>
          </a:xfrm>
          <a:prstGeom prst="rect">
            <a:avLst/>
          </a:prstGeom>
          <a:solidFill>
            <a:srgbClr val="C7791B"/>
          </a:solidFill>
          <a:ln w="12700">
            <a:solidFill>
              <a:srgbClr val="C7791B"/>
            </a:solidFill>
            <a:prstDash val="solid"/>
          </a:ln>
        </p:spPr>
      </p:sp>
      <p:sp>
        <p:nvSpPr>
          <p:cNvPr id="26" name="Text 24"/>
          <p:cNvSpPr txBox="1"/>
          <p:nvPr/>
        </p:nvSpPr>
        <p:spPr>
          <a:xfrm>
            <a:off x="932688" y="464261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 processore segnala un riporto perduto in modi diversi: molti hanno un flag di carry, RISC-V lo fa calcolare con un confronto</a:t>
            </a:r>
            <a:endParaRPr lang="en-US" sz="2200" dirty="0"/>
          </a:p>
        </p:txBody>
      </p:sp>
      <p:sp>
        <p:nvSpPr>
          <p:cNvPr id="27" name="Shape 25"/>
          <p:cNvSpPr/>
          <p:nvPr/>
        </p:nvSpPr>
        <p:spPr>
          <a:xfrm>
            <a:off x="548640" y="5596890"/>
            <a:ext cx="146304" cy="146304"/>
          </a:xfrm>
          <a:prstGeom prst="rect">
            <a:avLst/>
          </a:prstGeom>
          <a:solidFill>
            <a:srgbClr val="0E7C86"/>
          </a:solidFill>
          <a:ln w="12700">
            <a:solidFill>
              <a:srgbClr val="0E7C86"/>
            </a:solidFill>
            <a:prstDash val="solid"/>
          </a:ln>
        </p:spPr>
      </p:sp>
      <p:sp>
        <p:nvSpPr>
          <p:cNvPr id="28" name="Text 26"/>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 prodotto richiede il doppio dei bit: su RV32 mul dà i 32 bit bassi e mulhu i 32 alti</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04</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Interi con segno</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Tre modi di scrivere un segno meno con i bit.</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Segno e modulo</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bit più significativo è il segno (1 = negativo); gli altri n - 1 bit sono il modulo</a:t>
            </a:r>
            <a:endParaRPr lang="en-US" sz="2200" dirty="0"/>
          </a:p>
        </p:txBody>
      </p:sp>
      <p:sp>
        <p:nvSpPr>
          <p:cNvPr id="5" name="Shape 3"/>
          <p:cNvSpPr/>
          <p:nvPr/>
        </p:nvSpPr>
        <p:spPr>
          <a:xfrm>
            <a:off x="548640" y="257818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71759"/>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Intervallo: da -(2^(n-1) - 1) a +(2^(n-1) - 1)</a:t>
            </a:r>
            <a:endParaRPr lang="en-US" sz="2200" dirty="0"/>
          </a:p>
        </p:txBody>
      </p:sp>
      <p:sp>
        <p:nvSpPr>
          <p:cNvPr id="7" name="Shape 5"/>
          <p:cNvSpPr/>
          <p:nvPr/>
        </p:nvSpPr>
        <p:spPr>
          <a:xfrm>
            <a:off x="548640" y="329175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8532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Lo zero ha due rappresentazioni, +0 e -0: si rappresentano solo 2^n - 1 numeri</a:t>
            </a:r>
            <a:endParaRPr lang="en-US" sz="2200" dirty="0"/>
          </a:p>
        </p:txBody>
      </p:sp>
      <p:sp>
        <p:nvSpPr>
          <p:cNvPr id="9" name="Shape 7"/>
          <p:cNvSpPr/>
          <p:nvPr/>
        </p:nvSpPr>
        <p:spPr>
          <a:xfrm>
            <a:off x="548640" y="434619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39768"/>
            <a:ext cx="6565392" cy="193243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L'aritmetica deve lavorare separatamente su segno e modulo</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per sommare due numeri di segno opposto si trova il modulo maggiore e gli si sottrae il minore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il risultato prende il segno dell'operando di modulo maggiore</a:t>
            </a:r>
            <a:endParaRPr lang="en-US" sz="22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300" b="1" dirty="0">
                <a:solidFill>
                  <a:srgbClr val="FFFFFF"/>
                </a:solidFill>
                <a:latin typeface="Cambria" pitchFamily="34" charset="0"/>
                <a:ea typeface="Cambria" pitchFamily="34" charset="-122"/>
                <a:cs typeface="Cambria" pitchFamily="34" charset="-120"/>
              </a:rPr>
              <a:t>X = |x| + 2^(n-1) s</a:t>
            </a:r>
            <a:endParaRPr lang="en-US" sz="53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la legge di codifica, con s = 1 se x è negativo e 0 altrimenti. Su quattro bit: X = |x| + 8 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Complemento a due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numeri non negativi, 0 &lt;= x &lt; 2^(n-1), sono rappresentati da se stessi: X = x</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numeri negativi, -2^(n-1) &lt;= x &lt; 0, sono rappresentati da X = 2^n - |x|</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Intervallo: da -2^(n-1) a +2^(n-1) - 1; lo zero ha una sola rappresentazione</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bit più significativo vale 1 se e solo se il numero è negativo</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È la rappresentazione usata da ogni processore moderno, RISC-V compreso</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300" b="1" dirty="0">
                <a:solidFill>
                  <a:srgbClr val="FFFFFF"/>
                </a:solidFill>
                <a:latin typeface="Cambria" pitchFamily="34" charset="0"/>
                <a:ea typeface="Cambria" pitchFamily="34" charset="-122"/>
                <a:cs typeface="Cambria" pitchFamily="34" charset="-120"/>
              </a:rPr>
              <a:t>-2^31 ... 2^31 - 1</a:t>
            </a:r>
            <a:endParaRPr lang="en-US" sz="53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800" dirty="0">
                <a:solidFill>
                  <a:srgbClr val="CFE3EA"/>
                </a:solidFill>
                <a:latin typeface="Calibri" pitchFamily="34" charset="0"/>
                <a:ea typeface="Calibri" pitchFamily="34" charset="-122"/>
                <a:cs typeface="Calibri" pitchFamily="34" charset="-120"/>
              </a:rPr>
              <a:t>l'intervallo di un registro RISC-V a 32 bit letto come intero con segno: da circa meno due miliardi a più due miliardi</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Quattro bit, tre letture</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03520" cy="914400"/>
        </p:xfrm>
        <a:graphic>
          <a:graphicData uri="http://schemas.openxmlformats.org/drawingml/2006/table">
            <a:tbl>
              <a:tblPr/>
              <a:tblGrid>
                <a:gridCol w="1051560"/>
                <a:gridCol w="1143000"/>
                <a:gridCol w="1554480"/>
                <a:gridCol w="1554480"/>
              </a:tblGrid>
              <a:tr h="38404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Bit</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Senza segno</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Segno e modulo</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Compl. a due</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0000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0001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0010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0011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0100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0101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0110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0111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339535" y="1417320"/>
          <a:ext cx="5303520" cy="914400"/>
        </p:xfrm>
        <a:graphic>
          <a:graphicData uri="http://schemas.openxmlformats.org/drawingml/2006/table">
            <a:tbl>
              <a:tblPr/>
              <a:tblGrid>
                <a:gridCol w="1051560"/>
                <a:gridCol w="1143000"/>
                <a:gridCol w="1554480"/>
                <a:gridCol w="1554480"/>
              </a:tblGrid>
              <a:tr h="38404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Bit</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Senza segno</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Segno e modulo</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Compl. a due</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1000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1001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1010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1011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1100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1101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1110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14</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1111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600" dirty="0">
                          <a:solidFill>
                            <a:srgbClr val="1B2530"/>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bl>
          </a:graphicData>
        </a:graphic>
      </p:graphicFrame>
      <p:sp>
        <p:nvSpPr>
          <p:cNvPr id="5" name="Text 1"/>
          <p:cNvSpPr txBox="1"/>
          <p:nvPr/>
        </p:nvSpPr>
        <p:spPr>
          <a:xfrm>
            <a:off x="548640" y="5029200"/>
            <a:ext cx="5303520" cy="320040"/>
          </a:xfrm>
          <a:prstGeom prst="rect">
            <a:avLst/>
          </a:prstGeom>
          <a:noFill/>
          <a:ln/>
        </p:spPr>
        <p:txBody>
          <a:bodyPr wrap="square" lIns="0" tIns="0" rIns="0" bIns="0" rtlCol="0" anchor="t"/>
          <a:lstStyle/>
          <a:p>
            <a:pPr algn="ctr" indent="0" marL="0">
              <a:buNone/>
            </a:pPr>
            <a:r>
              <a:rPr lang="en-US" sz="1400" i="1" dirty="0">
                <a:solidFill>
                  <a:srgbClr val="0E7C86"/>
                </a:solidFill>
                <a:latin typeface="Calibri" pitchFamily="34" charset="0"/>
                <a:ea typeface="Calibri" pitchFamily="34" charset="-122"/>
                <a:cs typeface="Calibri" pitchFamily="34" charset="-120"/>
              </a:rPr>
              <a:t>non negativi: le tre letture coincidono</a:t>
            </a:r>
            <a:endParaRPr lang="en-US" sz="1400" dirty="0"/>
          </a:p>
        </p:txBody>
      </p:sp>
      <p:sp>
        <p:nvSpPr>
          <p:cNvPr id="6" name="Text 2"/>
          <p:cNvSpPr txBox="1"/>
          <p:nvPr/>
        </p:nvSpPr>
        <p:spPr>
          <a:xfrm>
            <a:off x="6339535" y="5029200"/>
            <a:ext cx="5303520" cy="320040"/>
          </a:xfrm>
          <a:prstGeom prst="rect">
            <a:avLst/>
          </a:prstGeom>
          <a:noFill/>
          <a:ln/>
        </p:spPr>
        <p:txBody>
          <a:bodyPr wrap="square" lIns="0" tIns="0" rIns="0" bIns="0" rtlCol="0" anchor="t"/>
          <a:lstStyle/>
          <a:p>
            <a:pPr algn="ctr" indent="0" marL="0">
              <a:buNone/>
            </a:pPr>
            <a:r>
              <a:rPr lang="en-US" sz="1400" i="1" dirty="0">
                <a:solidFill>
                  <a:srgbClr val="C7791B"/>
                </a:solidFill>
                <a:latin typeface="Calibri" pitchFamily="34" charset="0"/>
                <a:ea typeface="Calibri" pitchFamily="34" charset="-122"/>
                <a:cs typeface="Calibri" pitchFamily="34" charset="-120"/>
              </a:rPr>
              <a:t>bit più significativo a 1: le letture differiscono</a:t>
            </a:r>
            <a:endParaRPr lang="en-US" sz="1400" dirty="0"/>
          </a:p>
        </p:txBody>
      </p:sp>
      <p:sp>
        <p:nvSpPr>
          <p:cNvPr id="7" name="Shape 3"/>
          <p:cNvSpPr/>
          <p:nvPr/>
        </p:nvSpPr>
        <p:spPr>
          <a:xfrm>
            <a:off x="548640" y="5486400"/>
            <a:ext cx="11094415" cy="685800"/>
          </a:xfrm>
          <a:prstGeom prst="roundRect">
            <a:avLst>
              <a:gd name="adj" fmla="val 10667"/>
            </a:avLst>
          </a:prstGeom>
          <a:solidFill>
            <a:srgbClr val="D8ECEE"/>
          </a:solidFill>
          <a:ln w="12700">
            <a:solidFill>
              <a:srgbClr val="D8ECEE"/>
            </a:solidFill>
            <a:prstDash val="solid"/>
          </a:ln>
        </p:spPr>
      </p:sp>
      <p:sp>
        <p:nvSpPr>
          <p:cNvPr id="8" name="Text 4"/>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 bit non dicono quale colonna è quella giusta. Lo dice il programma, scegliendo le istruzioni.</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ruota dei numeri</a:t>
            </a:r>
            <a:endParaRPr lang="en-US" sz="3200" dirty="0"/>
          </a:p>
        </p:txBody>
      </p:sp>
      <p:pic>
        <p:nvPicPr>
          <p:cNvPr id="4" name="Image 0" descr="preencoded.png">    </p:cNvPr>
          <p:cNvPicPr>
            <a:picLocks noChangeAspect="1"/>
          </p:cNvPicPr>
          <p:nvPr/>
        </p:nvPicPr>
        <p:blipFill>
          <a:blip r:embed="rId1"/>
          <a:stretch>
            <a:fillRect/>
          </a:stretch>
        </p:blipFill>
        <p:spPr>
          <a:xfrm>
            <a:off x="502920" y="1234440"/>
            <a:ext cx="5074920" cy="5074920"/>
          </a:xfrm>
          <a:prstGeom prst="rect">
            <a:avLst/>
          </a:prstGeom>
        </p:spPr>
      </p:pic>
      <p:sp>
        <p:nvSpPr>
          <p:cNvPr id="5" name="Shape 1"/>
          <p:cNvSpPr/>
          <p:nvPr/>
        </p:nvSpPr>
        <p:spPr>
          <a:xfrm>
            <a:off x="5943600" y="1508252"/>
            <a:ext cx="146304" cy="146304"/>
          </a:xfrm>
          <a:prstGeom prst="rect">
            <a:avLst/>
          </a:prstGeom>
          <a:solidFill>
            <a:srgbClr val="0E7C86"/>
          </a:solidFill>
          <a:ln w="12700">
            <a:solidFill>
              <a:srgbClr val="0E7C86"/>
            </a:solidFill>
            <a:prstDash val="solid"/>
          </a:ln>
        </p:spPr>
      </p:sp>
      <p:sp>
        <p:nvSpPr>
          <p:cNvPr id="6" name="Text 2"/>
          <p:cNvSpPr txBox="1"/>
          <p:nvPr/>
        </p:nvSpPr>
        <p:spPr>
          <a:xfrm>
            <a:off x="6327648" y="1417320"/>
            <a:ext cx="531540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Con n bit l'aritmetica è modulo 2^n: la retta dei numeri si chiude in un cerchio</a:t>
            </a:r>
            <a:endParaRPr lang="en-US" sz="2000" dirty="0"/>
          </a:p>
        </p:txBody>
      </p:sp>
      <p:sp>
        <p:nvSpPr>
          <p:cNvPr id="7" name="Shape 3"/>
          <p:cNvSpPr/>
          <p:nvPr/>
        </p:nvSpPr>
        <p:spPr>
          <a:xfrm>
            <a:off x="5943600" y="2260346"/>
            <a:ext cx="146304" cy="146304"/>
          </a:xfrm>
          <a:prstGeom prst="rect">
            <a:avLst/>
          </a:prstGeom>
          <a:solidFill>
            <a:srgbClr val="C7791B"/>
          </a:solidFill>
          <a:ln w="12700">
            <a:solidFill>
              <a:srgbClr val="C7791B"/>
            </a:solidFill>
            <a:prstDash val="solid"/>
          </a:ln>
        </p:spPr>
      </p:sp>
      <p:sp>
        <p:nvSpPr>
          <p:cNvPr id="8" name="Text 4"/>
          <p:cNvSpPr txBox="1"/>
          <p:nvPr/>
        </p:nvSpPr>
        <p:spPr>
          <a:xfrm>
            <a:off x="6327648" y="2169414"/>
            <a:ext cx="531540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Sommare 1 sposta di un passo in senso orario, qualunque sia la lettura</a:t>
            </a:r>
            <a:endParaRPr lang="en-US" sz="2000" dirty="0"/>
          </a:p>
        </p:txBody>
      </p:sp>
      <p:sp>
        <p:nvSpPr>
          <p:cNvPr id="9" name="Shape 5"/>
          <p:cNvSpPr/>
          <p:nvPr/>
        </p:nvSpPr>
        <p:spPr>
          <a:xfrm>
            <a:off x="5943600" y="3012440"/>
            <a:ext cx="146304" cy="146304"/>
          </a:xfrm>
          <a:prstGeom prst="rect">
            <a:avLst/>
          </a:prstGeom>
          <a:solidFill>
            <a:srgbClr val="0E7C86"/>
          </a:solidFill>
          <a:ln w="12700">
            <a:solidFill>
              <a:srgbClr val="0E7C86"/>
            </a:solidFill>
            <a:prstDash val="solid"/>
          </a:ln>
        </p:spPr>
      </p:sp>
      <p:sp>
        <p:nvSpPr>
          <p:cNvPr id="10" name="Text 6"/>
          <p:cNvSpPr txBox="1"/>
          <p:nvPr/>
        </p:nvSpPr>
        <p:spPr>
          <a:xfrm>
            <a:off x="6327648" y="2921508"/>
            <a:ext cx="5315407" cy="118313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Lettura senza segno: la ruota si spezza tra 1111 e 0000</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attraversare quel punto è un riporto: 15 + 1 = 0</a:t>
            </a:r>
            <a:endParaRPr lang="en-US" sz="2000" dirty="0"/>
          </a:p>
        </p:txBody>
      </p:sp>
      <p:sp>
        <p:nvSpPr>
          <p:cNvPr id="11" name="Shape 7"/>
          <p:cNvSpPr/>
          <p:nvPr/>
        </p:nvSpPr>
        <p:spPr>
          <a:xfrm>
            <a:off x="5943600" y="4327906"/>
            <a:ext cx="146304" cy="146304"/>
          </a:xfrm>
          <a:prstGeom prst="rect">
            <a:avLst/>
          </a:prstGeom>
          <a:solidFill>
            <a:srgbClr val="C7791B"/>
          </a:solidFill>
          <a:ln w="12700">
            <a:solidFill>
              <a:srgbClr val="C7791B"/>
            </a:solidFill>
            <a:prstDash val="solid"/>
          </a:ln>
        </p:spPr>
      </p:sp>
      <p:sp>
        <p:nvSpPr>
          <p:cNvPr id="12" name="Text 8"/>
          <p:cNvSpPr txBox="1"/>
          <p:nvPr/>
        </p:nvSpPr>
        <p:spPr>
          <a:xfrm>
            <a:off x="6327648" y="4236974"/>
            <a:ext cx="5315407" cy="118313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Lettura in complemento a due: la ruota si spezza tra 0111 e 1000</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attraversare quel punto è un overflow con segno: 7 + 1 = -8</a:t>
            </a:r>
            <a:endParaRPr lang="en-US" sz="2000" dirty="0"/>
          </a:p>
        </p:txBody>
      </p:sp>
      <p:sp>
        <p:nvSpPr>
          <p:cNvPr id="13" name="Shape 9"/>
          <p:cNvSpPr/>
          <p:nvPr/>
        </p:nvSpPr>
        <p:spPr>
          <a:xfrm>
            <a:off x="5943600" y="5643372"/>
            <a:ext cx="146304" cy="146304"/>
          </a:xfrm>
          <a:prstGeom prst="rect">
            <a:avLst/>
          </a:prstGeom>
          <a:solidFill>
            <a:srgbClr val="0E7C86"/>
          </a:solidFill>
          <a:ln w="12700">
            <a:solidFill>
              <a:srgbClr val="0E7C86"/>
            </a:solidFill>
            <a:prstDash val="solid"/>
          </a:ln>
        </p:spPr>
      </p:sp>
      <p:sp>
        <p:nvSpPr>
          <p:cNvPr id="14" name="Text 10"/>
          <p:cNvSpPr txBox="1"/>
          <p:nvPr/>
        </p:nvSpPr>
        <p:spPr>
          <a:xfrm>
            <a:off x="6327648" y="5552440"/>
            <a:ext cx="531540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passo indietro da 0000 porta a 1111: ecco perché 0 - 1 dà tutti uni</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Aritmetica in complemento a due</a:t>
            </a:r>
            <a:endParaRPr lang="en-US" sz="3200" dirty="0"/>
          </a:p>
        </p:txBody>
      </p:sp>
      <p:sp>
        <p:nvSpPr>
          <p:cNvPr id="3" name="Shape 1"/>
          <p:cNvSpPr/>
          <p:nvPr/>
        </p:nvSpPr>
        <p:spPr>
          <a:xfrm>
            <a:off x="548640" y="1463040"/>
            <a:ext cx="3515258" cy="2057400"/>
          </a:xfrm>
          <a:prstGeom prst="roundRect">
            <a:avLst>
              <a:gd name="adj" fmla="val 3556"/>
            </a:avLst>
          </a:prstGeom>
          <a:solidFill>
            <a:srgbClr val="EEF2F4"/>
          </a:solidFill>
          <a:ln w="12700">
            <a:solidFill>
              <a:srgbClr val="EEF2F4"/>
            </a:solidFill>
            <a:prstDash val="solid"/>
          </a:ln>
        </p:spPr>
      </p:sp>
      <p:sp>
        <p:nvSpPr>
          <p:cNvPr id="4" name="Text 2"/>
          <p:cNvSpPr txBox="1"/>
          <p:nvPr/>
        </p:nvSpPr>
        <p:spPr>
          <a:xfrm>
            <a:off x="731520" y="1554480"/>
            <a:ext cx="3149498"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Segni opposti</a:t>
            </a:r>
            <a:endParaRPr lang="en-US" sz="1400" dirty="0"/>
          </a:p>
        </p:txBody>
      </p:sp>
      <p:sp>
        <p:nvSpPr>
          <p:cNvPr id="5" name="Text 3"/>
          <p:cNvSpPr txBox="1"/>
          <p:nvPr/>
        </p:nvSpPr>
        <p:spPr>
          <a:xfrm>
            <a:off x="731520" y="1920240"/>
            <a:ext cx="1195188"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2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-6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-4</a:t>
            </a:r>
            <a:endParaRPr lang="en-US" sz="1600" dirty="0"/>
          </a:p>
        </p:txBody>
      </p:sp>
      <p:sp>
        <p:nvSpPr>
          <p:cNvPr id="6" name="Text 4"/>
          <p:cNvSpPr txBox="1"/>
          <p:nvPr/>
        </p:nvSpPr>
        <p:spPr>
          <a:xfrm>
            <a:off x="1954743" y="1920240"/>
            <a:ext cx="1880555"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0010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1010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1100</a:t>
            </a:r>
            <a:endParaRPr lang="en-US" sz="1600" dirty="0"/>
          </a:p>
        </p:txBody>
      </p:sp>
      <p:sp>
        <p:nvSpPr>
          <p:cNvPr id="7" name="Text 5"/>
          <p:cNvSpPr txBox="1"/>
          <p:nvPr/>
        </p:nvSpPr>
        <p:spPr>
          <a:xfrm>
            <a:off x="731520" y="3044952"/>
            <a:ext cx="3149498"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basta sommare le configurazioni</a:t>
            </a:r>
            <a:endParaRPr lang="en-US" sz="1250" dirty="0"/>
          </a:p>
        </p:txBody>
      </p:sp>
      <p:sp>
        <p:nvSpPr>
          <p:cNvPr id="8" name="Shape 6"/>
          <p:cNvSpPr/>
          <p:nvPr/>
        </p:nvSpPr>
        <p:spPr>
          <a:xfrm>
            <a:off x="4338218" y="1463040"/>
            <a:ext cx="3515258" cy="2057400"/>
          </a:xfrm>
          <a:prstGeom prst="roundRect">
            <a:avLst>
              <a:gd name="adj" fmla="val 3556"/>
            </a:avLst>
          </a:prstGeom>
          <a:solidFill>
            <a:srgbClr val="EEF2F4"/>
          </a:solidFill>
          <a:ln w="12700">
            <a:solidFill>
              <a:srgbClr val="EEF2F4"/>
            </a:solidFill>
            <a:prstDash val="solid"/>
          </a:ln>
        </p:spPr>
      </p:sp>
      <p:sp>
        <p:nvSpPr>
          <p:cNvPr id="9" name="Text 7"/>
          <p:cNvSpPr txBox="1"/>
          <p:nvPr/>
        </p:nvSpPr>
        <p:spPr>
          <a:xfrm>
            <a:off x="4521098" y="1554480"/>
            <a:ext cx="3149498"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Due negativi</a:t>
            </a:r>
            <a:endParaRPr lang="en-US" sz="1400" dirty="0"/>
          </a:p>
        </p:txBody>
      </p:sp>
      <p:sp>
        <p:nvSpPr>
          <p:cNvPr id="10" name="Text 8"/>
          <p:cNvSpPr txBox="1"/>
          <p:nvPr/>
        </p:nvSpPr>
        <p:spPr>
          <a:xfrm>
            <a:off x="4521098" y="1920240"/>
            <a:ext cx="1195188"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-2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-3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-5</a:t>
            </a:r>
            <a:endParaRPr lang="en-US" sz="1600" dirty="0"/>
          </a:p>
        </p:txBody>
      </p:sp>
      <p:sp>
        <p:nvSpPr>
          <p:cNvPr id="11" name="Text 9"/>
          <p:cNvSpPr txBox="1"/>
          <p:nvPr/>
        </p:nvSpPr>
        <p:spPr>
          <a:xfrm>
            <a:off x="5744322" y="1920240"/>
            <a:ext cx="1880555"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1110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1101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1 1011</a:t>
            </a:r>
            <a:endParaRPr lang="en-US" sz="1600" dirty="0"/>
          </a:p>
        </p:txBody>
      </p:sp>
      <p:sp>
        <p:nvSpPr>
          <p:cNvPr id="12" name="Text 10"/>
          <p:cNvSpPr txBox="1"/>
          <p:nvPr/>
        </p:nvSpPr>
        <p:spPr>
          <a:xfrm>
            <a:off x="4521098" y="3044952"/>
            <a:ext cx="3149498"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il riporto uscente si ignora (somma modulo 16)</a:t>
            </a:r>
            <a:endParaRPr lang="en-US" sz="1250" dirty="0"/>
          </a:p>
        </p:txBody>
      </p:sp>
      <p:sp>
        <p:nvSpPr>
          <p:cNvPr id="13" name="Shape 11"/>
          <p:cNvSpPr/>
          <p:nvPr/>
        </p:nvSpPr>
        <p:spPr>
          <a:xfrm>
            <a:off x="8127797" y="1463040"/>
            <a:ext cx="3515258" cy="2057400"/>
          </a:xfrm>
          <a:prstGeom prst="roundRect">
            <a:avLst>
              <a:gd name="adj" fmla="val 3556"/>
            </a:avLst>
          </a:prstGeom>
          <a:solidFill>
            <a:srgbClr val="EEF2F4"/>
          </a:solidFill>
          <a:ln w="12700">
            <a:solidFill>
              <a:srgbClr val="EEF2F4"/>
            </a:solidFill>
            <a:prstDash val="solid"/>
          </a:ln>
        </p:spPr>
      </p:sp>
      <p:sp>
        <p:nvSpPr>
          <p:cNvPr id="14" name="Text 12"/>
          <p:cNvSpPr txBox="1"/>
          <p:nvPr/>
        </p:nvSpPr>
        <p:spPr>
          <a:xfrm>
            <a:off x="8310677" y="1554480"/>
            <a:ext cx="3149498"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Prodotto</a:t>
            </a:r>
            <a:endParaRPr lang="en-US" sz="1400" dirty="0"/>
          </a:p>
        </p:txBody>
      </p:sp>
      <p:sp>
        <p:nvSpPr>
          <p:cNvPr id="15" name="Text 13"/>
          <p:cNvSpPr txBox="1"/>
          <p:nvPr/>
        </p:nvSpPr>
        <p:spPr>
          <a:xfrm>
            <a:off x="8310677" y="1920240"/>
            <a:ext cx="1195188"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2 x</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-3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-6</a:t>
            </a:r>
            <a:endParaRPr lang="en-US" sz="1600" dirty="0"/>
          </a:p>
        </p:txBody>
      </p:sp>
      <p:sp>
        <p:nvSpPr>
          <p:cNvPr id="16" name="Text 14"/>
          <p:cNvSpPr txBox="1"/>
          <p:nvPr/>
        </p:nvSpPr>
        <p:spPr>
          <a:xfrm>
            <a:off x="9533900" y="1920240"/>
            <a:ext cx="1880555"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0010 x</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1101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001 1010</a:t>
            </a:r>
            <a:endParaRPr lang="en-US" sz="1600" dirty="0"/>
          </a:p>
        </p:txBody>
      </p:sp>
      <p:sp>
        <p:nvSpPr>
          <p:cNvPr id="17" name="Text 15"/>
          <p:cNvSpPr txBox="1"/>
          <p:nvPr/>
        </p:nvSpPr>
        <p:spPr>
          <a:xfrm>
            <a:off x="8310677" y="3044952"/>
            <a:ext cx="3149498"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si tengono i quattro bit bassi: 1010 = -6</a:t>
            </a:r>
            <a:endParaRPr lang="en-US" sz="1250" dirty="0"/>
          </a:p>
        </p:txBody>
      </p:sp>
      <p:sp>
        <p:nvSpPr>
          <p:cNvPr id="18" name="Shape 16"/>
          <p:cNvSpPr/>
          <p:nvPr/>
        </p:nvSpPr>
        <p:spPr>
          <a:xfrm>
            <a:off x="548640" y="3908933"/>
            <a:ext cx="146304" cy="146304"/>
          </a:xfrm>
          <a:prstGeom prst="rect">
            <a:avLst/>
          </a:prstGeom>
          <a:solidFill>
            <a:srgbClr val="0E7C86"/>
          </a:solidFill>
          <a:ln w="12700">
            <a:solidFill>
              <a:srgbClr val="0E7C86"/>
            </a:solidFill>
            <a:prstDash val="solid"/>
          </a:ln>
        </p:spPr>
      </p:sp>
      <p:sp>
        <p:nvSpPr>
          <p:cNvPr id="19" name="Text 17"/>
          <p:cNvSpPr txBox="1"/>
          <p:nvPr/>
        </p:nvSpPr>
        <p:spPr>
          <a:xfrm>
            <a:off x="932688" y="3794760"/>
            <a:ext cx="10710367"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La somma non ha bisogno di conoscere i segni: l'addizionatore dei numeri naturali dà già la risposta giusta</a:t>
            </a:r>
            <a:endParaRPr lang="en-US" sz="2300" dirty="0"/>
          </a:p>
        </p:txBody>
      </p:sp>
      <p:sp>
        <p:nvSpPr>
          <p:cNvPr id="20" name="Shape 18"/>
          <p:cNvSpPr/>
          <p:nvPr/>
        </p:nvSpPr>
        <p:spPr>
          <a:xfrm>
            <a:off x="548640" y="4919472"/>
            <a:ext cx="146304" cy="146304"/>
          </a:xfrm>
          <a:prstGeom prst="rect">
            <a:avLst/>
          </a:prstGeom>
          <a:solidFill>
            <a:srgbClr val="C7791B"/>
          </a:solidFill>
          <a:ln w="12700">
            <a:solidFill>
              <a:srgbClr val="C7791B"/>
            </a:solidFill>
            <a:prstDash val="solid"/>
          </a:ln>
        </p:spPr>
      </p:sp>
      <p:sp>
        <p:nvSpPr>
          <p:cNvPr id="21" name="Text 19"/>
          <p:cNvSpPr txBox="1"/>
          <p:nvPr/>
        </p:nvSpPr>
        <p:spPr>
          <a:xfrm>
            <a:off x="932688" y="4805299"/>
            <a:ext cx="10710367" cy="356362"/>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Il riporto uscente dal bit più significativo viene semplicemente scartato</a:t>
            </a:r>
            <a:endParaRPr lang="en-US" sz="2300" dirty="0"/>
          </a:p>
        </p:txBody>
      </p:sp>
      <p:sp>
        <p:nvSpPr>
          <p:cNvPr id="22" name="Shape 20"/>
          <p:cNvSpPr/>
          <p:nvPr/>
        </p:nvSpPr>
        <p:spPr>
          <a:xfrm>
            <a:off x="548640" y="5573649"/>
            <a:ext cx="146304" cy="146304"/>
          </a:xfrm>
          <a:prstGeom prst="rect">
            <a:avLst/>
          </a:prstGeom>
          <a:solidFill>
            <a:srgbClr val="0E7C86"/>
          </a:solidFill>
          <a:ln w="12700">
            <a:solidFill>
              <a:srgbClr val="0E7C86"/>
            </a:solidFill>
            <a:prstDash val="solid"/>
          </a:ln>
        </p:spPr>
      </p:sp>
      <p:sp>
        <p:nvSpPr>
          <p:cNvPr id="23" name="Text 21"/>
          <p:cNvSpPr txBox="1"/>
          <p:nvPr/>
        </p:nvSpPr>
        <p:spPr>
          <a:xfrm>
            <a:off x="932688" y="5459476"/>
            <a:ext cx="10710367"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Anche gli n bit bassi di un prodotto sono corretti, quali che siano i segni</a:t>
            </a:r>
            <a:endParaRPr lang="en-US" sz="2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Cambiare segno a un numero</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Per definizione -x è rappresentato da 2^n - x</a:t>
            </a:r>
            <a:endParaRPr lang="en-US" sz="2000" dirty="0"/>
          </a:p>
        </p:txBody>
      </p:sp>
      <p:sp>
        <p:nvSpPr>
          <p:cNvPr id="5" name="Shape 3"/>
          <p:cNvSpPr/>
          <p:nvPr/>
        </p:nvSpPr>
        <p:spPr>
          <a:xfrm>
            <a:off x="548640" y="237676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5831"/>
            <a:ext cx="5468112" cy="91973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Metodo 1: si complementa ogni bit, poi si somma 1</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6 = 0110, complemento 1001, più uno: 1010 = -6</a:t>
            </a:r>
            <a:endParaRPr lang="en-US" sz="2000" dirty="0"/>
          </a:p>
        </p:txBody>
      </p:sp>
      <p:sp>
        <p:nvSpPr>
          <p:cNvPr id="7" name="Shape 5"/>
          <p:cNvSpPr/>
          <p:nvPr/>
        </p:nvSpPr>
        <p:spPr>
          <a:xfrm>
            <a:off x="548640" y="354524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4315"/>
            <a:ext cx="5468112" cy="122961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Metodo 2: da destra, si copiano i bit fino al primo 1 compreso e si complementano tutti gli altri</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5 = 0101 dà 1011 = -5; 1 = 0001 dà 1111 = -1</a:t>
            </a:r>
            <a:endParaRPr lang="en-US" sz="2000" dirty="0"/>
          </a:p>
        </p:txBody>
      </p:sp>
      <p:sp>
        <p:nvSpPr>
          <p:cNvPr id="9" name="Shape 7"/>
          <p:cNvSpPr/>
          <p:nvPr/>
        </p:nvSpPr>
        <p:spPr>
          <a:xfrm>
            <a:off x="548640" y="502361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932680"/>
            <a:ext cx="5468112" cy="123952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Cambiando segno due volte si torna al numero di partenza, con un'eccezione: il numero più negativo non ha un compagno positivo</a:t>
            </a:r>
            <a:endParaRPr lang="en-US" sz="2000" dirty="0"/>
          </a:p>
        </p:txBody>
      </p:sp>
      <p:sp>
        <p:nvSpPr>
          <p:cNvPr id="11" name="Shape 9"/>
          <p:cNvSpPr/>
          <p:nvPr/>
        </p:nvSpPr>
        <p:spPr>
          <a:xfrm>
            <a:off x="6766560" y="1417320"/>
            <a:ext cx="4876495" cy="2468880"/>
          </a:xfrm>
          <a:prstGeom prst="roundRect">
            <a:avLst>
              <a:gd name="adj" fmla="val 2963"/>
            </a:avLst>
          </a:prstGeom>
          <a:solidFill>
            <a:srgbClr val="12202B"/>
          </a:solidFill>
          <a:ln w="12700">
            <a:solidFill>
              <a:srgbClr val="12202B"/>
            </a:solidFill>
            <a:prstDash val="solid"/>
          </a:ln>
        </p:spPr>
      </p:sp>
      <p:sp>
        <p:nvSpPr>
          <p:cNvPr id="12" name="Text 10"/>
          <p:cNvSpPr txBox="1"/>
          <p:nvPr/>
        </p:nvSpPr>
        <p:spPr>
          <a:xfrm>
            <a:off x="6995160" y="1600200"/>
            <a:ext cx="4419295" cy="2103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neg t0, t1 is a pseudo-instruction: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sub  t0, zero,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the same thing by hand: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not  t0, t1        </a:t>
            </a:r>
            <a:pPr indent="0" marL="0">
              <a:buNone/>
            </a:pPr>
            <a:r>
              <a:rPr lang="en-US" sz="1500" dirty="0">
                <a:solidFill>
                  <a:srgbClr val="8FB3A0"/>
                </a:solidFill>
                <a:latin typeface="Courier New" pitchFamily="34" charset="0"/>
                <a:ea typeface="Courier New" pitchFamily="34" charset="-122"/>
                <a:cs typeface="Courier New" pitchFamily="34" charset="-120"/>
              </a:rPr>
              <a:t># complement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addi t0, t0, 1     </a:t>
            </a:r>
            <a:pPr indent="0" marL="0">
              <a:buNone/>
            </a:pPr>
            <a:r>
              <a:rPr lang="en-US" sz="1500" dirty="0">
                <a:solidFill>
                  <a:srgbClr val="8FB3A0"/>
                </a:solidFill>
                <a:latin typeface="Courier New" pitchFamily="34" charset="0"/>
                <a:ea typeface="Courier New" pitchFamily="34" charset="-122"/>
                <a:cs typeface="Courier New" pitchFamily="34" charset="-120"/>
              </a:rPr>
              <a:t># plus one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554480"/>
            <a:ext cx="11094415" cy="27432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La sottrazione è un'addizione.</a:t>
            </a:r>
            <a:endParaRPr lang="en-US" sz="4400" dirty="0"/>
          </a:p>
        </p:txBody>
      </p:sp>
      <p:sp>
        <p:nvSpPr>
          <p:cNvPr id="6" name="Text 4"/>
          <p:cNvSpPr txBox="1"/>
          <p:nvPr/>
        </p:nvSpPr>
        <p:spPr>
          <a:xfrm>
            <a:off x="548640" y="4480560"/>
            <a:ext cx="11094415" cy="137160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y - x = y + (2^n - x), modulo 2^n. Un addizionatore e un complementatore sono gli unici componenti necessari per realizzare addizione, sottrazione, moltiplicazione e divisione.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Rilevare l'overflow</a:t>
            </a:r>
            <a:endParaRPr lang="en-US" sz="3200" dirty="0"/>
          </a:p>
        </p:txBody>
      </p:sp>
      <p:sp>
        <p:nvSpPr>
          <p:cNvPr id="3" name="Shape 1"/>
          <p:cNvSpPr/>
          <p:nvPr/>
        </p:nvSpPr>
        <p:spPr>
          <a:xfrm>
            <a:off x="548640" y="1463040"/>
            <a:ext cx="5364328" cy="2057400"/>
          </a:xfrm>
          <a:prstGeom prst="roundRect">
            <a:avLst>
              <a:gd name="adj" fmla="val 3556"/>
            </a:avLst>
          </a:prstGeom>
          <a:solidFill>
            <a:srgbClr val="EEF2F4"/>
          </a:solidFill>
          <a:ln w="12700">
            <a:solidFill>
              <a:srgbClr val="EEF2F4"/>
            </a:solidFill>
            <a:prstDash val="solid"/>
          </a:ln>
        </p:spPr>
      </p:sp>
      <p:sp>
        <p:nvSpPr>
          <p:cNvPr id="4" name="Text 2"/>
          <p:cNvSpPr txBox="1"/>
          <p:nvPr/>
        </p:nvSpPr>
        <p:spPr>
          <a:xfrm>
            <a:off x="731520" y="1554480"/>
            <a:ext cx="4998568" cy="320040"/>
          </a:xfrm>
          <a:prstGeom prst="rect">
            <a:avLst/>
          </a:prstGeom>
          <a:noFill/>
          <a:ln/>
        </p:spPr>
        <p:txBody>
          <a:bodyPr wrap="square" lIns="0" tIns="0" rIns="0" bIns="0" rtlCol="0" anchor="t"/>
          <a:lstStyle/>
          <a:p>
            <a:pPr indent="0" marL="0">
              <a:buNone/>
            </a:pPr>
            <a:r>
              <a:rPr lang="en-US" sz="1400" b="1" dirty="0">
                <a:solidFill>
                  <a:srgbClr val="6B4FA0"/>
                </a:solidFill>
                <a:latin typeface="Calibri" pitchFamily="34" charset="0"/>
                <a:ea typeface="Calibri" pitchFamily="34" charset="-122"/>
                <a:cs typeface="Calibri" pitchFamily="34" charset="-120"/>
              </a:rPr>
              <a:t>Senza segno, 8 bit</a:t>
            </a:r>
            <a:endParaRPr lang="en-US" sz="1400" dirty="0"/>
          </a:p>
        </p:txBody>
      </p:sp>
      <p:sp>
        <p:nvSpPr>
          <p:cNvPr id="5" name="Text 3"/>
          <p:cNvSpPr txBox="1"/>
          <p:nvPr/>
        </p:nvSpPr>
        <p:spPr>
          <a:xfrm>
            <a:off x="731520" y="1920240"/>
            <a:ext cx="1823871"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128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130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258</a:t>
            </a:r>
            <a:endParaRPr lang="en-US" sz="1600" dirty="0"/>
          </a:p>
        </p:txBody>
      </p:sp>
      <p:sp>
        <p:nvSpPr>
          <p:cNvPr id="6" name="Text 4"/>
          <p:cNvSpPr txBox="1"/>
          <p:nvPr/>
        </p:nvSpPr>
        <p:spPr>
          <a:xfrm>
            <a:off x="2694371" y="1920240"/>
            <a:ext cx="2989997"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1000 0000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1000 0010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1 0000 0010</a:t>
            </a:r>
            <a:endParaRPr lang="en-US" sz="1600" dirty="0"/>
          </a:p>
        </p:txBody>
      </p:sp>
      <p:sp>
        <p:nvSpPr>
          <p:cNvPr id="7" name="Text 5"/>
          <p:cNvSpPr txBox="1"/>
          <p:nvPr/>
        </p:nvSpPr>
        <p:spPr>
          <a:xfrm>
            <a:off x="731520" y="3044952"/>
            <a:ext cx="4998568" cy="411480"/>
          </a:xfrm>
          <a:prstGeom prst="rect">
            <a:avLst/>
          </a:prstGeom>
          <a:noFill/>
          <a:ln/>
        </p:spPr>
        <p:txBody>
          <a:bodyPr wrap="square" lIns="0" tIns="0" rIns="0" bIns="0" rtlCol="0" anchor="ctr"/>
          <a:lstStyle/>
          <a:p>
            <a:pPr indent="0" marL="0">
              <a:buNone/>
            </a:pPr>
            <a:r>
              <a:rPr lang="en-US" sz="1250" i="1" dirty="0">
                <a:solidFill>
                  <a:srgbClr val="6B4FA0"/>
                </a:solidFill>
                <a:latin typeface="Calibri" pitchFamily="34" charset="0"/>
                <a:ea typeface="Calibri" pitchFamily="34" charset="-122"/>
                <a:cs typeface="Calibri" pitchFamily="34" charset="-120"/>
              </a:rPr>
              <a:t>riporto uscente: il registro contiene 2, la somma modulo 256</a:t>
            </a:r>
            <a:endParaRPr lang="en-US" sz="1250" dirty="0"/>
          </a:p>
        </p:txBody>
      </p:sp>
      <p:sp>
        <p:nvSpPr>
          <p:cNvPr id="8" name="Shape 6"/>
          <p:cNvSpPr/>
          <p:nvPr/>
        </p:nvSpPr>
        <p:spPr>
          <a:xfrm>
            <a:off x="6278728" y="1463040"/>
            <a:ext cx="5364328" cy="2057400"/>
          </a:xfrm>
          <a:prstGeom prst="roundRect">
            <a:avLst>
              <a:gd name="adj" fmla="val 3556"/>
            </a:avLst>
          </a:prstGeom>
          <a:solidFill>
            <a:srgbClr val="EEF2F4"/>
          </a:solidFill>
          <a:ln w="12700">
            <a:solidFill>
              <a:srgbClr val="EEF2F4"/>
            </a:solidFill>
            <a:prstDash val="solid"/>
          </a:ln>
        </p:spPr>
      </p:sp>
      <p:sp>
        <p:nvSpPr>
          <p:cNvPr id="9" name="Text 7"/>
          <p:cNvSpPr txBox="1"/>
          <p:nvPr/>
        </p:nvSpPr>
        <p:spPr>
          <a:xfrm>
            <a:off x="6461608" y="1554480"/>
            <a:ext cx="4998568" cy="32004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Con segno, 8 bit</a:t>
            </a:r>
            <a:endParaRPr lang="en-US" sz="1400" dirty="0"/>
          </a:p>
        </p:txBody>
      </p:sp>
      <p:sp>
        <p:nvSpPr>
          <p:cNvPr id="10" name="Text 8"/>
          <p:cNvSpPr txBox="1"/>
          <p:nvPr/>
        </p:nvSpPr>
        <p:spPr>
          <a:xfrm>
            <a:off x="6461608" y="1920240"/>
            <a:ext cx="1823871" cy="1097280"/>
          </a:xfrm>
          <a:prstGeom prst="rect">
            <a:avLst/>
          </a:prstGeom>
          <a:noFill/>
          <a:ln/>
        </p:spPr>
        <p:txBody>
          <a:bodyPr wrap="square" lIns="0" tIns="0" rIns="0" bIns="0" rtlCol="0" anchor="t"/>
          <a:lstStyle/>
          <a:p>
            <a:pPr algn="r" indent="0" marL="0">
              <a:buNone/>
            </a:pPr>
            <a:r>
              <a:rPr lang="en-US" sz="1600" dirty="0">
                <a:solidFill>
                  <a:srgbClr val="5B6B78"/>
                </a:solidFill>
                <a:latin typeface="Courier New" pitchFamily="34" charset="0"/>
                <a:ea typeface="Courier New" pitchFamily="34" charset="-122"/>
                <a:cs typeface="Courier New" pitchFamily="34" charset="-120"/>
              </a:rPr>
              <a:t>127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127 =</a:t>
            </a:r>
            <a:endParaRPr lang="en-US" sz="1600" dirty="0"/>
          </a:p>
          <a:p>
            <a:pPr algn="r" indent="0" marL="0">
              <a:buNone/>
            </a:pPr>
            <a:r>
              <a:rPr lang="en-US" sz="1600" dirty="0">
                <a:solidFill>
                  <a:srgbClr val="5B6B78"/>
                </a:solidFill>
                <a:latin typeface="Courier New" pitchFamily="34" charset="0"/>
                <a:ea typeface="Courier New" pitchFamily="34" charset="-122"/>
                <a:cs typeface="Courier New" pitchFamily="34" charset="-120"/>
              </a:rPr>
              <a:t>254</a:t>
            </a:r>
            <a:endParaRPr lang="en-US" sz="1600" dirty="0"/>
          </a:p>
        </p:txBody>
      </p:sp>
      <p:sp>
        <p:nvSpPr>
          <p:cNvPr id="11" name="Text 9"/>
          <p:cNvSpPr txBox="1"/>
          <p:nvPr/>
        </p:nvSpPr>
        <p:spPr>
          <a:xfrm>
            <a:off x="8424459" y="1920240"/>
            <a:ext cx="2989997" cy="1097280"/>
          </a:xfrm>
          <a:prstGeom prst="rect">
            <a:avLst/>
          </a:prstGeom>
          <a:noFill/>
          <a:ln/>
        </p:spPr>
        <p:txBody>
          <a:bodyPr wrap="square" lIns="0" tIns="0" rIns="0" bIns="0" rtlCol="0" anchor="t"/>
          <a:lstStyle/>
          <a:p>
            <a:pPr algn="r" indent="0" marL="0">
              <a:buNone/>
            </a:pPr>
            <a:r>
              <a:rPr lang="en-US" sz="1600" b="1" dirty="0">
                <a:solidFill>
                  <a:srgbClr val="1B2530"/>
                </a:solidFill>
                <a:latin typeface="Courier New" pitchFamily="34" charset="0"/>
                <a:ea typeface="Courier New" pitchFamily="34" charset="-122"/>
                <a:cs typeface="Courier New" pitchFamily="34" charset="-120"/>
              </a:rPr>
              <a:t>0111 1111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0111 1111 =</a:t>
            </a:r>
            <a:endParaRPr lang="en-US" sz="1600" dirty="0"/>
          </a:p>
          <a:p>
            <a:pPr algn="r" indent="0" marL="0">
              <a:buNone/>
            </a:pPr>
            <a:r>
              <a:rPr lang="en-US" sz="1600" b="1" dirty="0">
                <a:solidFill>
                  <a:srgbClr val="1B2530"/>
                </a:solidFill>
                <a:latin typeface="Courier New" pitchFamily="34" charset="0"/>
                <a:ea typeface="Courier New" pitchFamily="34" charset="-122"/>
                <a:cs typeface="Courier New" pitchFamily="34" charset="-120"/>
              </a:rPr>
              <a:t>1111 1110</a:t>
            </a:r>
            <a:endParaRPr lang="en-US" sz="1600" dirty="0"/>
          </a:p>
        </p:txBody>
      </p:sp>
      <p:sp>
        <p:nvSpPr>
          <p:cNvPr id="12" name="Text 10"/>
          <p:cNvSpPr txBox="1"/>
          <p:nvPr/>
        </p:nvSpPr>
        <p:spPr>
          <a:xfrm>
            <a:off x="6461608" y="3044952"/>
            <a:ext cx="4998568" cy="411480"/>
          </a:xfrm>
          <a:prstGeom prst="rect">
            <a:avLst/>
          </a:prstGeom>
          <a:noFill/>
          <a:ln/>
        </p:spPr>
        <p:txBody>
          <a:bodyPr wrap="square" lIns="0" tIns="0" rIns="0" bIns="0" rtlCol="0" anchor="ctr"/>
          <a:lstStyle/>
          <a:p>
            <a:pPr indent="0" marL="0">
              <a:buNone/>
            </a:pPr>
            <a:r>
              <a:rPr lang="en-US" sz="1250" i="1" dirty="0">
                <a:solidFill>
                  <a:srgbClr val="B23A48"/>
                </a:solidFill>
                <a:latin typeface="Calibri" pitchFamily="34" charset="0"/>
                <a:ea typeface="Calibri" pitchFamily="34" charset="-122"/>
                <a:cs typeface="Calibri" pitchFamily="34" charset="-120"/>
              </a:rPr>
              <a:t>nessun riporto uscente, ma il risultato si legge -2</a:t>
            </a:r>
            <a:endParaRPr lang="en-US" sz="1250" dirty="0"/>
          </a:p>
        </p:txBody>
      </p:sp>
      <p:sp>
        <p:nvSpPr>
          <p:cNvPr id="13" name="Shape 11"/>
          <p:cNvSpPr/>
          <p:nvPr/>
        </p:nvSpPr>
        <p:spPr>
          <a:xfrm>
            <a:off x="548640" y="3870198"/>
            <a:ext cx="146304" cy="146304"/>
          </a:xfrm>
          <a:prstGeom prst="rect">
            <a:avLst/>
          </a:prstGeom>
          <a:solidFill>
            <a:srgbClr val="0E7C86"/>
          </a:solidFill>
          <a:ln w="12700">
            <a:solidFill>
              <a:srgbClr val="0E7C86"/>
            </a:solidFill>
            <a:prstDash val="solid"/>
          </a:ln>
        </p:spPr>
      </p:sp>
      <p:sp>
        <p:nvSpPr>
          <p:cNvPr id="14" name="Text 12"/>
          <p:cNvSpPr txBox="1"/>
          <p:nvPr/>
        </p:nvSpPr>
        <p:spPr>
          <a:xfrm>
            <a:off x="932688" y="3794760"/>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Overflow senza segno: c'è un riporto uscente dal bit più significativo</a:t>
            </a:r>
            <a:endParaRPr lang="en-US" sz="1800" dirty="0"/>
          </a:p>
        </p:txBody>
      </p:sp>
      <p:sp>
        <p:nvSpPr>
          <p:cNvPr id="15" name="Shape 13"/>
          <p:cNvSpPr/>
          <p:nvPr/>
        </p:nvSpPr>
        <p:spPr>
          <a:xfrm>
            <a:off x="548640" y="4297426"/>
            <a:ext cx="146304" cy="146304"/>
          </a:xfrm>
          <a:prstGeom prst="rect">
            <a:avLst/>
          </a:prstGeom>
          <a:solidFill>
            <a:srgbClr val="C7791B"/>
          </a:solidFill>
          <a:ln w="12700">
            <a:solidFill>
              <a:srgbClr val="C7791B"/>
            </a:solidFill>
            <a:prstDash val="solid"/>
          </a:ln>
        </p:spPr>
      </p:sp>
      <p:sp>
        <p:nvSpPr>
          <p:cNvPr id="16" name="Text 14"/>
          <p:cNvSpPr txBox="1"/>
          <p:nvPr/>
        </p:nvSpPr>
        <p:spPr>
          <a:xfrm>
            <a:off x="932688" y="4221988"/>
            <a:ext cx="10710367" cy="81686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Overflow con segno in complemento a due</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due operandi positivi danno una somma negativa</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due operandi negativi danno una somma positiva</a:t>
            </a:r>
            <a:endParaRPr lang="en-US" sz="1800" dirty="0"/>
          </a:p>
        </p:txBody>
      </p:sp>
      <p:sp>
        <p:nvSpPr>
          <p:cNvPr id="17" name="Shape 15"/>
          <p:cNvSpPr/>
          <p:nvPr/>
        </p:nvSpPr>
        <p:spPr>
          <a:xfrm>
            <a:off x="548640" y="5262626"/>
            <a:ext cx="146304" cy="146304"/>
          </a:xfrm>
          <a:prstGeom prst="rect">
            <a:avLst/>
          </a:prstGeom>
          <a:solidFill>
            <a:srgbClr val="0E7C86"/>
          </a:solidFill>
          <a:ln w="12700">
            <a:solidFill>
              <a:srgbClr val="0E7C86"/>
            </a:solidFill>
            <a:prstDash val="solid"/>
          </a:ln>
        </p:spPr>
      </p:sp>
      <p:sp>
        <p:nvSpPr>
          <p:cNvPr id="18" name="Text 16"/>
          <p:cNvSpPr txBox="1"/>
          <p:nvPr/>
        </p:nvSpPr>
        <p:spPr>
          <a:xfrm>
            <a:off x="932688" y="5187188"/>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La somma di due numeri di segno opposto non può mai dare overflow</a:t>
            </a:r>
            <a:endParaRPr lang="en-US" sz="1800" dirty="0"/>
          </a:p>
        </p:txBody>
      </p:sp>
      <p:sp>
        <p:nvSpPr>
          <p:cNvPr id="19" name="Shape 17"/>
          <p:cNvSpPr/>
          <p:nvPr/>
        </p:nvSpPr>
        <p:spPr>
          <a:xfrm>
            <a:off x="548640" y="5689854"/>
            <a:ext cx="146304" cy="146304"/>
          </a:xfrm>
          <a:prstGeom prst="rect">
            <a:avLst/>
          </a:prstGeom>
          <a:solidFill>
            <a:srgbClr val="C7791B"/>
          </a:solidFill>
          <a:ln w="12700">
            <a:solidFill>
              <a:srgbClr val="C7791B"/>
            </a:solidFill>
            <a:prstDash val="solid"/>
          </a:ln>
        </p:spPr>
      </p:sp>
      <p:sp>
        <p:nvSpPr>
          <p:cNvPr id="20" name="Text 18"/>
          <p:cNvSpPr txBox="1"/>
          <p:nvPr/>
        </p:nvSpPr>
        <p:spPr>
          <a:xfrm>
            <a:off x="932688" y="5614416"/>
            <a:ext cx="107103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Le due condizioni sono indipendenti: la stessa somma può farne scattare una, entrambe o nessuna</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05</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Ritorno alla macchina</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Le stesse regole, come le realizza RISC-V.</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riscaldamento, spiegato</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marker_x valeva 0; addi t2, t2, -1 ha fatto un passo indietro su una ruota con 2^32 posizioni</a:t>
            </a:r>
            <a:endParaRPr lang="en-US" sz="2100" dirty="0"/>
          </a:p>
        </p:txBody>
      </p:sp>
      <p:sp>
        <p:nvSpPr>
          <p:cNvPr id="5" name="Shape 3"/>
          <p:cNvSpPr/>
          <p:nvPr/>
        </p:nvSpPr>
        <p:spPr>
          <a:xfrm>
            <a:off x="548640" y="23818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3143"/>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Il registro contiene ora trentadue uni: 0xFFFFFFFF</a:t>
            </a:r>
            <a:endParaRPr lang="en-US" sz="2100" dirty="0"/>
          </a:p>
        </p:txBody>
      </p:sp>
      <p:sp>
        <p:nvSpPr>
          <p:cNvPr id="7" name="Shape 5"/>
          <p:cNvSpPr/>
          <p:nvPr/>
        </p:nvSpPr>
        <p:spPr>
          <a:xfrm>
            <a:off x="548640" y="324764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48965"/>
            <a:ext cx="6565392" cy="96621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Letto senza segno vale 4.294.967.295; letto in complemento a due vale -1</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l'addizionatore ha fatto la stessa cosa nei due casi</a:t>
            </a:r>
            <a:endParaRPr lang="en-US" sz="2100" dirty="0"/>
          </a:p>
        </p:txBody>
      </p:sp>
      <p:sp>
        <p:nvSpPr>
          <p:cNvPr id="9" name="Shape 7"/>
          <p:cNvSpPr/>
          <p:nvPr/>
        </p:nvSpPr>
        <p:spPr>
          <a:xfrm>
            <a:off x="548640" y="442893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3025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prg32_console_hex32 stampa la configurazione, non un'interpretazione: non è né giusta né sbagliata</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Il segnalino scompare perché a prg32_gfx_rect si chiede di disegnare a una x enorme, oppure a -1: in ogni caso fuori schermo</a:t>
            </a:r>
            <a:endParaRPr lang="en-US" sz="2100" dirty="0"/>
          </a:p>
        </p:txBody>
      </p:sp>
      <p:pic>
        <p:nvPicPr>
          <p:cNvPr id="13" name="Image 0" descr="/Users/raffaelemontella/devel/riscv-prg32/computer-architecture-with-prg32/tools/assets/lab2_step2_move.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Laboratorio 06, passo 2: sette lampade per i bit dei pulsanti e un segnalino</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 segno o senza? Si sceglie con l'istruzione</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64384"/>
                <a:gridCol w="2182508"/>
                <a:gridCol w="2182508"/>
                <a:gridCol w="4365016"/>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Operazione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Con segno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Senza segno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Perché differiscono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somma, sottrazione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add, addi, sub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le stesse</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complemento a due: un addizionatore per entrambe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prodotto (parola bassa)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mul</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la stessa</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 32 bit bassi non dipendono dal segno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confronto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slt, slti</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sltu, sltiu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0xFFFFFFFF è minore di 0? sì, se con segno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salto condizionato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blt, bge</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bltu, bgeu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la stessa domanda, come salto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scorrimento a destra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sra, srai</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srl, srli</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copia il bit di segno, oppure inserisce zeri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caricamento di un byte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lb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lbu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estensione del segno o estensione con zeri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divisione, resto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div, rem</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divu, remu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 moduli si leggono in modo diverso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Tenere il segnalino sullo schermo</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andi t3, t0, BTN_LEFT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t3, 1f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t2, t2, -SPEED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1:  andi t3, t0, BTN_RIGHT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beqz t3, 2f</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t2, t2, SPEED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bgez t2, 3f            </a:t>
            </a:r>
            <a:pPr indent="0" marL="0">
              <a:buNone/>
            </a:pPr>
            <a:r>
              <a:rPr lang="en-US" sz="1450" dirty="0">
                <a:solidFill>
                  <a:srgbClr val="8FB3A0"/>
                </a:solidFill>
                <a:latin typeface="Courier New" pitchFamily="34" charset="0"/>
                <a:ea typeface="Courier New" pitchFamily="34" charset="-122"/>
                <a:cs typeface="Courier New" pitchFamily="34" charset="-120"/>
              </a:rPr>
              <a:t># x &lt; 0 ?  clamp to 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t2, 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3:  li   t3, MAX_X         </a:t>
            </a:r>
            <a:pPr indent="0" marL="0">
              <a:buNone/>
            </a:pPr>
            <a:r>
              <a:rPr lang="en-US" sz="1450" dirty="0">
                <a:solidFill>
                  <a:srgbClr val="8FB3A0"/>
                </a:solidFill>
                <a:latin typeface="Courier New" pitchFamily="34" charset="0"/>
                <a:ea typeface="Courier New" pitchFamily="34" charset="-122"/>
                <a:cs typeface="Courier New" pitchFamily="34" charset="-120"/>
              </a:rPr>
              <a:t># .equ MAX_X, 304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ble  t2, t3, 4f        </a:t>
            </a:r>
            <a:pPr indent="0" marL="0">
              <a:buNone/>
            </a:pPr>
            <a:r>
              <a:rPr lang="en-US" sz="1450" dirty="0">
                <a:solidFill>
                  <a:srgbClr val="8FB3A0"/>
                </a:solidFill>
                <a:latin typeface="Courier New" pitchFamily="34" charset="0"/>
                <a:ea typeface="Courier New" pitchFamily="34" charset="-122"/>
                <a:cs typeface="Courier New" pitchFamily="34" charset="-120"/>
              </a:rPr>
              <a:t># x &gt; 304 ?  clamp to 304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t2, t3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4:</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t2, 0(t1)         </a:t>
            </a:r>
            <a:pPr indent="0" marL="0">
              <a:buNone/>
            </a:pPr>
            <a:r>
              <a:rPr lang="en-US" sz="1450" dirty="0">
                <a:solidFill>
                  <a:srgbClr val="8FB3A0"/>
                </a:solidFill>
                <a:latin typeface="Courier New" pitchFamily="34" charset="0"/>
                <a:ea typeface="Courier New" pitchFamily="34" charset="-122"/>
                <a:cs typeface="Courier New" pitchFamily="34" charset="-120"/>
              </a:rPr>
              <a:t># one store, after all adjustments</a:t>
            </a:r>
            <a:endParaRPr lang="en-US" sz="14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bgez legge t2 come numero con segno: ne esamina il bit di segno</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Anche ble è un confronto con segno: -1 è minore di 304. Con bleu, 0xFFFFFFFF sarebbe molto maggiore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Un gioco non rileva l'overflow a cose fatte: tiene i valori in un intervallo in cui l'overflow non può avvenire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-SPEED è un immediato: dodici bit in complemento a due, da -2048 a +2047</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Rilevare l'overflow senza flag</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unsigned: did the sum wrap around?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t0, t1        </a:t>
            </a:r>
            <a:pPr indent="0" marL="0">
              <a:buNone/>
            </a:pPr>
            <a:r>
              <a:rPr lang="en-US" sz="1350" dirty="0">
                <a:solidFill>
                  <a:srgbClr val="8FB3A0"/>
                </a:solidFill>
                <a:latin typeface="Courier New" pitchFamily="34" charset="0"/>
                <a:ea typeface="Courier New" pitchFamily="34" charset="-122"/>
                <a:cs typeface="Courier New" pitchFamily="34" charset="-120"/>
              </a:rPr>
              <a:t># t2 = t0 + t1   (modulo 2^32)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sltu t3, t2, t0        </a:t>
            </a:r>
            <a:pPr indent="0" marL="0">
              <a:buNone/>
            </a:pPr>
            <a:r>
              <a:rPr lang="en-US" sz="1350" dirty="0">
                <a:solidFill>
                  <a:srgbClr val="8FB3A0"/>
                </a:solidFill>
                <a:latin typeface="Courier New" pitchFamily="34" charset="0"/>
                <a:ea typeface="Courier New" pitchFamily="34" charset="-122"/>
                <a:cs typeface="Courier New" pitchFamily="34" charset="-120"/>
              </a:rPr>
              <a:t># t3 = 1 if the sum is smaller than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pPr indent="0" marL="0">
              <a:buNone/>
            </a:pPr>
            <a:r>
              <a:rPr lang="en-US" sz="1350" dirty="0">
                <a:solidFill>
                  <a:srgbClr val="8FB3A0"/>
                </a:solidFill>
                <a:latin typeface="Courier New" pitchFamily="34" charset="0"/>
                <a:ea typeface="Courier New" pitchFamily="34" charset="-122"/>
                <a:cs typeface="Courier New" pitchFamily="34" charset="-120"/>
              </a:rPr>
              <a:t>#        an operand: a carry was lost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signed: did the sign come out wrong?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  t2, t0, 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slti t3, t1, 0         </a:t>
            </a:r>
            <a:pPr indent="0" marL="0">
              <a:buNone/>
            </a:pPr>
            <a:r>
              <a:rPr lang="en-US" sz="1350" dirty="0">
                <a:solidFill>
                  <a:srgbClr val="8FB3A0"/>
                </a:solidFill>
                <a:latin typeface="Courier New" pitchFamily="34" charset="0"/>
                <a:ea typeface="Courier New" pitchFamily="34" charset="-122"/>
                <a:cs typeface="Courier New" pitchFamily="34" charset="-120"/>
              </a:rPr>
              <a:t># t3 = 1 if t1 is negative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slt  t4, t2, t0        </a:t>
            </a:r>
            <a:pPr indent="0" marL="0">
              <a:buNone/>
            </a:pPr>
            <a:r>
              <a:rPr lang="en-US" sz="1350" dirty="0">
                <a:solidFill>
                  <a:srgbClr val="8FB3A0"/>
                </a:solidFill>
                <a:latin typeface="Courier New" pitchFamily="34" charset="0"/>
                <a:ea typeface="Courier New" pitchFamily="34" charset="-122"/>
                <a:cs typeface="Courier New" pitchFamily="34" charset="-120"/>
              </a:rPr>
              <a:t># t4 = 1 if the sum is less than 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bne  t3, t4, overflow  </a:t>
            </a:r>
            <a:pPr indent="0" marL="0">
              <a:buNone/>
            </a:pPr>
            <a:r>
              <a:rPr lang="en-US" sz="1350" dirty="0">
                <a:solidFill>
                  <a:srgbClr val="8FB3A0"/>
                </a:solidFill>
                <a:latin typeface="Courier New" pitchFamily="34" charset="0"/>
                <a:ea typeface="Courier New" pitchFamily="34" charset="-122"/>
                <a:cs typeface="Courier New" pitchFamily="34" charset="-120"/>
              </a:rPr>
              <a:t># they must agree</a:t>
            </a:r>
            <a:endParaRPr lang="en-US" sz="1350" dirty="0"/>
          </a:p>
        </p:txBody>
      </p:sp>
      <p:sp>
        <p:nvSpPr>
          <p:cNvPr id="5" name="Shape 3"/>
          <p:cNvSpPr/>
          <p:nvPr/>
        </p:nvSpPr>
        <p:spPr>
          <a:xfrm>
            <a:off x="8229600" y="1417320"/>
            <a:ext cx="341345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RISC-V non ha flag di carry né di overflow: meno stati nascosti, un processore più semplice</a:t>
            </a:r>
            <a:endParaRPr lang="en-US" sz="1600" dirty="0"/>
          </a:p>
        </p:txBody>
      </p:sp>
      <p:sp>
        <p:nvSpPr>
          <p:cNvPr id="8" name="Shape 6"/>
          <p:cNvSpPr/>
          <p:nvPr/>
        </p:nvSpPr>
        <p:spPr>
          <a:xfrm>
            <a:off x="8229600" y="3069336"/>
            <a:ext cx="341345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839419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3206496"/>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Senza segno: una somma che ha fatto il giro è sempre minore di ciascun operando</a:t>
            </a:r>
            <a:endParaRPr lang="en-US" sz="1600" dirty="0"/>
          </a:p>
        </p:txBody>
      </p:sp>
      <p:sp>
        <p:nvSpPr>
          <p:cNvPr id="11" name="Shape 9"/>
          <p:cNvSpPr/>
          <p:nvPr/>
        </p:nvSpPr>
        <p:spPr>
          <a:xfrm>
            <a:off x="8229600" y="4721352"/>
            <a:ext cx="341345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839419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858512"/>
            <a:ext cx="254477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Con segno: sommare un negativo deve rendere la somma minore; sommare un non negativo no</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Estensione del segno: lo stesso numero su più bit</a:t>
            </a:r>
            <a:endParaRPr lang="en-US" sz="3200" dirty="0"/>
          </a:p>
        </p:txBody>
      </p:sp>
      <p:sp>
        <p:nvSpPr>
          <p:cNvPr id="3" name="Text 1"/>
          <p:cNvSpPr txBox="1"/>
          <p:nvPr/>
        </p:nvSpPr>
        <p:spPr>
          <a:xfrm>
            <a:off x="548640" y="1554480"/>
            <a:ext cx="3383280" cy="566928"/>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-1 su 4 bit</a:t>
            </a:r>
            <a:endParaRPr lang="en-US" sz="1600" dirty="0"/>
          </a:p>
        </p:txBody>
      </p:sp>
      <p:sp>
        <p:nvSpPr>
          <p:cNvPr id="4" name="Text 2"/>
          <p:cNvSpPr txBox="1"/>
          <p:nvPr/>
        </p:nvSpPr>
        <p:spPr>
          <a:xfrm>
            <a:off x="4206240" y="1554480"/>
            <a:ext cx="868680" cy="566928"/>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1111</a:t>
            </a:r>
            <a:endParaRPr lang="en-US" sz="1700" dirty="0"/>
          </a:p>
        </p:txBody>
      </p:sp>
      <p:sp>
        <p:nvSpPr>
          <p:cNvPr id="5" name="Text 3"/>
          <p:cNvSpPr txBox="1"/>
          <p:nvPr/>
        </p:nvSpPr>
        <p:spPr>
          <a:xfrm>
            <a:off x="5303520" y="1554480"/>
            <a:ext cx="2743200" cy="566928"/>
          </a:xfrm>
          <a:prstGeom prst="rect">
            <a:avLst/>
          </a:prstGeom>
          <a:noFill/>
          <a:ln/>
        </p:spPr>
        <p:txBody>
          <a:bodyPr wrap="square" lIns="0" tIns="0" rIns="0" bIns="0" rtlCol="0" anchor="ctr"/>
          <a:lstStyle/>
          <a:p>
            <a:pPr indent="0" marL="0">
              <a:buNone/>
            </a:pPr>
            <a:r>
              <a:rPr lang="en-US" sz="1800" b="1" dirty="0">
                <a:solidFill>
                  <a:srgbClr val="1B2530"/>
                </a:solidFill>
                <a:latin typeface="Courier New" pitchFamily="34" charset="0"/>
                <a:ea typeface="Courier New" pitchFamily="34" charset="-122"/>
                <a:cs typeface="Courier New" pitchFamily="34" charset="-120"/>
              </a:rPr>
              <a:t>= -1</a:t>
            </a:r>
            <a:endParaRPr lang="en-US" sz="1800" dirty="0"/>
          </a:p>
        </p:txBody>
      </p:sp>
      <p:sp>
        <p:nvSpPr>
          <p:cNvPr id="6" name="Text 4"/>
          <p:cNvSpPr txBox="1"/>
          <p:nvPr/>
        </p:nvSpPr>
        <p:spPr>
          <a:xfrm>
            <a:off x="548640" y="2331720"/>
            <a:ext cx="3383280" cy="566928"/>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-1 su 8 bit</a:t>
            </a:r>
            <a:endParaRPr lang="en-US" sz="1600" dirty="0"/>
          </a:p>
        </p:txBody>
      </p:sp>
      <p:sp>
        <p:nvSpPr>
          <p:cNvPr id="7" name="Text 5"/>
          <p:cNvSpPr txBox="1"/>
          <p:nvPr/>
        </p:nvSpPr>
        <p:spPr>
          <a:xfrm>
            <a:off x="4206240" y="2331720"/>
            <a:ext cx="868680" cy="566928"/>
          </a:xfrm>
          <a:prstGeom prst="rect">
            <a:avLst/>
          </a:prstGeom>
          <a:solidFill>
            <a:srgbClr val="B23A48"/>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1111</a:t>
            </a:r>
            <a:endParaRPr lang="en-US" sz="1700" dirty="0"/>
          </a:p>
        </p:txBody>
      </p:sp>
      <p:sp>
        <p:nvSpPr>
          <p:cNvPr id="8" name="Text 6"/>
          <p:cNvSpPr txBox="1"/>
          <p:nvPr/>
        </p:nvSpPr>
        <p:spPr>
          <a:xfrm>
            <a:off x="5074920" y="2331720"/>
            <a:ext cx="868680" cy="566928"/>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1111</a:t>
            </a:r>
            <a:endParaRPr lang="en-US" sz="1700" dirty="0"/>
          </a:p>
        </p:txBody>
      </p:sp>
      <p:sp>
        <p:nvSpPr>
          <p:cNvPr id="9" name="Text 7"/>
          <p:cNvSpPr txBox="1"/>
          <p:nvPr/>
        </p:nvSpPr>
        <p:spPr>
          <a:xfrm>
            <a:off x="6172200" y="2331720"/>
            <a:ext cx="2743200" cy="566928"/>
          </a:xfrm>
          <a:prstGeom prst="rect">
            <a:avLst/>
          </a:prstGeom>
          <a:noFill/>
          <a:ln/>
        </p:spPr>
        <p:txBody>
          <a:bodyPr wrap="square" lIns="0" tIns="0" rIns="0" bIns="0" rtlCol="0" anchor="ctr"/>
          <a:lstStyle/>
          <a:p>
            <a:pPr indent="0" marL="0">
              <a:buNone/>
            </a:pPr>
            <a:r>
              <a:rPr lang="en-US" sz="1800" b="1" dirty="0">
                <a:solidFill>
                  <a:srgbClr val="1B2530"/>
                </a:solidFill>
                <a:latin typeface="Courier New" pitchFamily="34" charset="0"/>
                <a:ea typeface="Courier New" pitchFamily="34" charset="-122"/>
                <a:cs typeface="Courier New" pitchFamily="34" charset="-120"/>
              </a:rPr>
              <a:t>= -1</a:t>
            </a:r>
            <a:endParaRPr lang="en-US" sz="1800" dirty="0"/>
          </a:p>
        </p:txBody>
      </p:sp>
      <p:sp>
        <p:nvSpPr>
          <p:cNvPr id="10" name="Text 8"/>
          <p:cNvSpPr txBox="1"/>
          <p:nvPr/>
        </p:nvSpPr>
        <p:spPr>
          <a:xfrm>
            <a:off x="548640" y="3108960"/>
            <a:ext cx="3383280" cy="566928"/>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+5 su 4 bit</a:t>
            </a:r>
            <a:endParaRPr lang="en-US" sz="1600" dirty="0"/>
          </a:p>
        </p:txBody>
      </p:sp>
      <p:sp>
        <p:nvSpPr>
          <p:cNvPr id="11" name="Text 9"/>
          <p:cNvSpPr txBox="1"/>
          <p:nvPr/>
        </p:nvSpPr>
        <p:spPr>
          <a:xfrm>
            <a:off x="4206240" y="3108960"/>
            <a:ext cx="868680" cy="566928"/>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0101</a:t>
            </a:r>
            <a:endParaRPr lang="en-US" sz="1700" dirty="0"/>
          </a:p>
        </p:txBody>
      </p:sp>
      <p:sp>
        <p:nvSpPr>
          <p:cNvPr id="12" name="Text 10"/>
          <p:cNvSpPr txBox="1"/>
          <p:nvPr/>
        </p:nvSpPr>
        <p:spPr>
          <a:xfrm>
            <a:off x="5303520" y="3108960"/>
            <a:ext cx="2743200" cy="566928"/>
          </a:xfrm>
          <a:prstGeom prst="rect">
            <a:avLst/>
          </a:prstGeom>
          <a:noFill/>
          <a:ln/>
        </p:spPr>
        <p:txBody>
          <a:bodyPr wrap="square" lIns="0" tIns="0" rIns="0" bIns="0" rtlCol="0" anchor="ctr"/>
          <a:lstStyle/>
          <a:p>
            <a:pPr indent="0" marL="0">
              <a:buNone/>
            </a:pPr>
            <a:r>
              <a:rPr lang="en-US" sz="1800" b="1" dirty="0">
                <a:solidFill>
                  <a:srgbClr val="1B2530"/>
                </a:solidFill>
                <a:latin typeface="Courier New" pitchFamily="34" charset="0"/>
                <a:ea typeface="Courier New" pitchFamily="34" charset="-122"/>
                <a:cs typeface="Courier New" pitchFamily="34" charset="-120"/>
              </a:rPr>
              <a:t>= +5</a:t>
            </a:r>
            <a:endParaRPr lang="en-US" sz="1800" dirty="0"/>
          </a:p>
        </p:txBody>
      </p:sp>
      <p:sp>
        <p:nvSpPr>
          <p:cNvPr id="13" name="Text 11"/>
          <p:cNvSpPr txBox="1"/>
          <p:nvPr/>
        </p:nvSpPr>
        <p:spPr>
          <a:xfrm>
            <a:off x="548640" y="3886200"/>
            <a:ext cx="3383280" cy="566928"/>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+5 su 8 bit</a:t>
            </a:r>
            <a:endParaRPr lang="en-US" sz="1600" dirty="0"/>
          </a:p>
        </p:txBody>
      </p:sp>
      <p:sp>
        <p:nvSpPr>
          <p:cNvPr id="14" name="Text 12"/>
          <p:cNvSpPr txBox="1"/>
          <p:nvPr/>
        </p:nvSpPr>
        <p:spPr>
          <a:xfrm>
            <a:off x="4206240" y="3886200"/>
            <a:ext cx="868680" cy="566928"/>
          </a:xfrm>
          <a:prstGeom prst="rect">
            <a:avLst/>
          </a:prstGeom>
          <a:solidFill>
            <a:srgbClr val="2E4A62"/>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0000</a:t>
            </a:r>
            <a:endParaRPr lang="en-US" sz="1700" dirty="0"/>
          </a:p>
        </p:txBody>
      </p:sp>
      <p:sp>
        <p:nvSpPr>
          <p:cNvPr id="15" name="Text 13"/>
          <p:cNvSpPr txBox="1"/>
          <p:nvPr/>
        </p:nvSpPr>
        <p:spPr>
          <a:xfrm>
            <a:off x="5074920" y="3886200"/>
            <a:ext cx="868680" cy="566928"/>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0101</a:t>
            </a:r>
            <a:endParaRPr lang="en-US" sz="1700" dirty="0"/>
          </a:p>
        </p:txBody>
      </p:sp>
      <p:sp>
        <p:nvSpPr>
          <p:cNvPr id="16" name="Text 14"/>
          <p:cNvSpPr txBox="1"/>
          <p:nvPr/>
        </p:nvSpPr>
        <p:spPr>
          <a:xfrm>
            <a:off x="6172200" y="3886200"/>
            <a:ext cx="2743200" cy="566928"/>
          </a:xfrm>
          <a:prstGeom prst="rect">
            <a:avLst/>
          </a:prstGeom>
          <a:noFill/>
          <a:ln/>
        </p:spPr>
        <p:txBody>
          <a:bodyPr wrap="square" lIns="0" tIns="0" rIns="0" bIns="0" rtlCol="0" anchor="ctr"/>
          <a:lstStyle/>
          <a:p>
            <a:pPr indent="0" marL="0">
              <a:buNone/>
            </a:pPr>
            <a:r>
              <a:rPr lang="en-US" sz="1800" b="1" dirty="0">
                <a:solidFill>
                  <a:srgbClr val="1B2530"/>
                </a:solidFill>
                <a:latin typeface="Courier New" pitchFamily="34" charset="0"/>
                <a:ea typeface="Courier New" pitchFamily="34" charset="-122"/>
                <a:cs typeface="Courier New" pitchFamily="34" charset="-120"/>
              </a:rPr>
              <a:t>= +5</a:t>
            </a:r>
            <a:endParaRPr lang="en-US" sz="1800" dirty="0"/>
          </a:p>
        </p:txBody>
      </p:sp>
      <p:sp>
        <p:nvSpPr>
          <p:cNvPr id="17" name="Shape 15"/>
          <p:cNvSpPr/>
          <p:nvPr/>
        </p:nvSpPr>
        <p:spPr>
          <a:xfrm>
            <a:off x="548640" y="4669917"/>
            <a:ext cx="146304" cy="146304"/>
          </a:xfrm>
          <a:prstGeom prst="rect">
            <a:avLst/>
          </a:prstGeom>
          <a:solidFill>
            <a:srgbClr val="0E7C86"/>
          </a:solidFill>
          <a:ln w="12700">
            <a:solidFill>
              <a:srgbClr val="0E7C86"/>
            </a:solidFill>
            <a:prstDash val="solid"/>
          </a:ln>
        </p:spPr>
      </p:sp>
      <p:sp>
        <p:nvSpPr>
          <p:cNvPr id="18" name="Text 16"/>
          <p:cNvSpPr txBox="1"/>
          <p:nvPr/>
        </p:nvSpPr>
        <p:spPr>
          <a:xfrm>
            <a:off x="932688" y="4617720"/>
            <a:ext cx="10710367" cy="23241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Per allargare un numero in complemento a due si copia il suo bit di segno in tutte le nuove posizioni a sinistra</a:t>
            </a:r>
            <a:endParaRPr lang="en-US" sz="1500" dirty="0"/>
          </a:p>
        </p:txBody>
      </p:sp>
      <p:sp>
        <p:nvSpPr>
          <p:cNvPr id="19" name="Shape 17"/>
          <p:cNvSpPr/>
          <p:nvPr/>
        </p:nvSpPr>
        <p:spPr>
          <a:xfrm>
            <a:off x="548640" y="5330952"/>
            <a:ext cx="146304" cy="146304"/>
          </a:xfrm>
          <a:prstGeom prst="rect">
            <a:avLst/>
          </a:prstGeom>
          <a:solidFill>
            <a:srgbClr val="C7791B"/>
          </a:solidFill>
          <a:ln w="12700">
            <a:solidFill>
              <a:srgbClr val="C7791B"/>
            </a:solidFill>
            <a:prstDash val="solid"/>
          </a:ln>
        </p:spPr>
      </p:sp>
      <p:sp>
        <p:nvSpPr>
          <p:cNvPr id="20" name="Text 18"/>
          <p:cNvSpPr txBox="1"/>
          <p:nvPr/>
        </p:nvSpPr>
        <p:spPr>
          <a:xfrm>
            <a:off x="932688" y="5278755"/>
            <a:ext cx="10710367" cy="23241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addi t2, t2, -1 memorizza -1 in dodici bit; il processore ne estende il segno a trentadue prima di sommare</a:t>
            </a:r>
            <a:endParaRPr lang="en-US" sz="1500" dirty="0"/>
          </a:p>
        </p:txBody>
      </p:sp>
      <p:sp>
        <p:nvSpPr>
          <p:cNvPr id="21" name="Shape 19"/>
          <p:cNvSpPr/>
          <p:nvPr/>
        </p:nvSpPr>
        <p:spPr>
          <a:xfrm>
            <a:off x="548640" y="5991987"/>
            <a:ext cx="146304" cy="146304"/>
          </a:xfrm>
          <a:prstGeom prst="rect">
            <a:avLst/>
          </a:prstGeom>
          <a:solidFill>
            <a:srgbClr val="0E7C86"/>
          </a:solidFill>
          <a:ln w="12700">
            <a:solidFill>
              <a:srgbClr val="0E7C86"/>
            </a:solidFill>
            <a:prstDash val="solid"/>
          </a:ln>
        </p:spPr>
      </p:sp>
      <p:sp>
        <p:nvSpPr>
          <p:cNvPr id="22" name="Text 20"/>
          <p:cNvSpPr txBox="1"/>
          <p:nvPr/>
        </p:nvSpPr>
        <p:spPr>
          <a:xfrm>
            <a:off x="932688" y="5939790"/>
            <a:ext cx="10710367" cy="23241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lb estende il segno del byte che carica; lbu riempie di zeri: si sceglie in base a ciò che il byte significa</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Quale numero rappresenta in complemento a due la configurazione di 8 bit 1111 1100?</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252</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-4</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-3</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-124</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Su 8 bit, quale somma produce un overflow con segno?</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100 + 27</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100 + 28</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-100 + 28</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 + 1</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t0 contiene 0xFFFFFFFF e t1 contiene 1. Dopo slt t2, t0, t1 e sltu t3, t0, t1:</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t2 = 1, t3 = 1</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t2 = 0, t3 = 0</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t2 = 1, t3 = 0</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t2 = 0, t3 = 1</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Come si scrive 0,625 in binario?</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0.101</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0.110</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0.625</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0.011</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prima su carta, poi su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Convertite 2026 in binario, ottale ed esadecimale; convertite 0,1 in binario fino a otto bit frazionari</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Scrivete -100 su 8 bit in segno e modulo e in complemento a due</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Calcolate su 8 bit in complemento a due: 90 + 60, -90 - 60, 90 - 60. Quali danno overflow?</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Nel codice del clamp sostituite bgez e ble con le versioni senza segno, prevedete il comportamento, poi eseguite</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Scrivete una update che somma 0x10000000 a un contatore a ogni frame e accende un rettangolo rosso quando la somma con segno dà overflow</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Su carta: 2026 = 0x7EA = 111 1110 1010. Su PRG32: il rettangolo rosso lampeggia una volta ogni sedici frame, quando il contatore passa da 0x7... a 0x8...</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73604"/>
                <a:gridCol w="2946954"/>
                <a:gridCol w="2426903"/>
                <a:gridCol w="2946954"/>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Inglese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Italiano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Inglese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Italiano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base (radix)</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base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two's complement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complemento a due (alla base)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natural number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numero naturale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sign and magnitude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segno e modulo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signed integer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numero relativo (intero con segno)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overflow</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overflow (traboccamento)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most significant bit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bit più significativo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carry / borrow</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riporto / prestito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remainder</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resto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sign extension</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estensione del segno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shift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scorrimento (shift)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to clamp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limitare a un intervallo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Ogni base ha i suoi vantaggi: la base 2 per i circuiti, la base 16 per le persone che leggono i bit</a:t>
            </a:r>
            <a:endParaRPr lang="en-US" sz="1900" dirty="0"/>
          </a:p>
        </p:txBody>
      </p:sp>
      <p:sp>
        <p:nvSpPr>
          <p:cNvPr id="5" name="Shape 3"/>
          <p:cNvSpPr/>
          <p:nvPr/>
        </p:nvSpPr>
        <p:spPr>
          <a:xfrm>
            <a:off x="548640" y="2348967"/>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5782"/>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n bit rappresentano 2^n numeri: quali, dipende dalla legge di codifica</a:t>
            </a:r>
            <a:endParaRPr lang="en-US" sz="1900" dirty="0"/>
          </a:p>
        </p:txBody>
      </p:sp>
      <p:sp>
        <p:nvSpPr>
          <p:cNvPr id="7" name="Shape 5"/>
          <p:cNvSpPr/>
          <p:nvPr/>
        </p:nvSpPr>
        <p:spPr>
          <a:xfrm>
            <a:off x="548640" y="290304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819857"/>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Il complemento a due trasforma la sottrazione in addizione: un addizionatore fa tutto</a:t>
            </a:r>
            <a:endParaRPr lang="en-US" sz="1900" dirty="0"/>
          </a:p>
        </p:txBody>
      </p:sp>
      <p:sp>
        <p:nvSpPr>
          <p:cNvPr id="9" name="Shape 7"/>
          <p:cNvSpPr/>
          <p:nvPr/>
        </p:nvSpPr>
        <p:spPr>
          <a:xfrm>
            <a:off x="548640" y="345711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373933"/>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L'overflow è il prezzo dei registri finiti: lo si rileva, oppure lo si esclude per progetto</a:t>
            </a:r>
            <a:endParaRPr lang="en-US" sz="1900" dirty="0"/>
          </a:p>
        </p:txBody>
      </p:sp>
      <p:sp>
        <p:nvSpPr>
          <p:cNvPr id="11" name="Shape 9"/>
          <p:cNvSpPr/>
          <p:nvPr/>
        </p:nvSpPr>
        <p:spPr>
          <a:xfrm>
            <a:off x="548640" y="4305579"/>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222394"/>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 RISC-V i bit non hanno tipo: è l'istruzione a scegliere tra con segno e senza segno</a:t>
            </a:r>
            <a:endParaRPr lang="en-US" sz="1900" dirty="0"/>
          </a:p>
        </p:txBody>
      </p:sp>
      <p:sp>
        <p:nvSpPr>
          <p:cNvPr id="13" name="Shape 11"/>
          <p:cNvSpPr/>
          <p:nvPr/>
        </p:nvSpPr>
        <p:spPr>
          <a:xfrm>
            <a:off x="548640" y="4859655"/>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776470"/>
            <a:ext cx="10710367" cy="139573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Letture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Patterson, Hennessy: Struttura e progetto dei calcolatori, edizione RISC-V, paragrafi 2.4 e 3.1-3.2</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Playing with RISC-V, capitolo 6: State and Input</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Stallings: Computer Organization and Architecture, i capitoli sui sistemi di numerazione e sull'aritmetica del calcolatore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Rappresentazione dei numeri: gli interi</dc:title>
  <dc:subject>Lezione 05</dc:subject>
  <dc:creator>Raffaele Montella</dc:creator>
  <cp:lastModifiedBy>Raffaele Montella</cp:lastModifiedBy>
  <cp:revision>1</cp:revision>
  <dcterms:created xsi:type="dcterms:W3CDTF">2026-10-12T11:28:40Z</dcterms:created>
  <dcterms:modified xsi:type="dcterms:W3CDTF">2026-10-12T11:28:40Z</dcterms:modified>
</cp:coreProperties>
</file>