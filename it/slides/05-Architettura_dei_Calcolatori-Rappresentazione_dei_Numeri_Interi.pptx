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bc3e772-cb38-f524-5e08-562e6c55121e}">
          <p14:sldIdLst>
            <p14:sldId id="256"/>
            <p14:sldId id="257"/>
          </p14:sldIdLst>
        </p14:section>
        <p14:section name="Basi e conversioni" id="{fe8e6ad0-23a0-0a6d-45ff-f569f103c446}">
          <p14:sldIdLst>
            <p14:sldId id="258"/>
            <p14:sldId id="259"/>
            <p14:sldId id="260"/>
            <p14:sldId id="261"/>
          </p14:sldIdLst>
        </p14:section>
        <p14:section name="Numeri naturali e overflow" id="{885f8c19-a482-a82b-c56c-4f46ffb4df54}">
          <p14:sldIdLst>
            <p14:sldId id="262"/>
            <p14:sldId id="263"/>
            <p14:sldId id="264"/>
          </p14:sldIdLst>
        </p14:section>
        <p14:section name="Interi con segno" id="{59a5cd45-2f13-cab0-8ce9-03199f6431df}">
          <p14:sldIdLst>
            <p14:sldId id="265"/>
            <p14:sldId id="266"/>
            <p14:sldId id="267"/>
            <p14:sldId id="268"/>
            <p14:sldId id="269"/>
            <p14:sldId id="270"/>
          </p14:sldIdLst>
        </p14:section>
        <p14:section name="Ritorno alla macchina" id="{5eec7969-0e48-6111-a1e6-318206d73575}">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lezione avvia la trattazione formale dei numeri. Si apre con una piccola sorpresa sulla macchina, un segnalino che va a sinistra oltre lo zero e mostra FFFFFFFF, e si chiude spiegando esattamente perché accade. In mezzo imparate a convertire tra basi, a dire quali numeri stanno in un dato numero di bit, e a scrivere i numeri negativi. La citazione di Trilussa, l'Uno che discute con lo Zero, ricorda che in un sistema posizionale anche uno zero ha il suo peso.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complemento a due; i cambi di base; naturali e overflow; shift come moltiplicazione; segno e modulo; istruzioni con o senza segno; l'estensione del segno. DA UTILIZZARE OGGI: le chiamate del runtime PRG32, il programma completo, gli strumenti di PRG32 (si usa, non si studia, in questo corso). DA COMPRENDERE PIÙ AVANTI: niente. Una slide senza etichetta è contesto: una storia, un esempio, una domanda, un esercizio.
Per il docente: Spirale: la lezione si apre con il segnalino del laboratorio 06 del libro di PRG32 che va a sinistra oltre lo zero, e si chiude spiegandolo.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I primi tre sono abilità su carta: convertire tra le basi 2, 8, 10 e 16, dire quali naturali stanno in n bit, e codificare in due modi gli interi con segno. Il quarto è aritmetica: sommare, sottrarre e cambiare segno in complemento a due, e riconoscere un overflow. Gli ultimi due tornano alla macchina: spiegare l'FFFFFFFF del riscaldamento, e scegliere l'istruzione RISC-V che legge gli stessi bit come numero con segno o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sistema posizionale in base b usa b cifre, da 0 a b meno 1, e il valore di un numero è la somma di ogni cifra per la potenza di b che corrisponde alla sua posizione: la formula della didascalia. La tabella mostra il tredici in quattro basi: 1101 in binario, 15 in ottale, 13 in decimale, D in esadecimale. È sempre lo stesso numero: cambia solo la scrittura. Per una macchina la base 10 non ha alcuno statuto speciale; è la base di chi ha dieci dita.
DA COMPRENDERE OGGI: i cambi di base.
Per il docente: Un numero N è una stringa di cifre d(n-1) ... d(1) d(0), ciascuna minore della base b. Il valore è la somma di ogni cifra per la potenza della base corrispondente alla sua posizione.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basi che sono potenze di due condividono gli stessi bit. La slide prende 127, lo scrive in binario, e raggruppa i bit da destra: a quattro a quattro, ogni gruppo è una cifra esadecimale, e si ottiene 7F; a tre a tre, ogni gruppo è una cifra ottale, e si ottiene 177. Non serve alcuna divisione, solo una ricerca in tabella. Due dettagli: si raggruppa sempre da destra, dal lato meno significativo, e il gruppo più a sinistra, se incompleto, si completa con zeri.
DA COMPRENDERE OGGI: i cambi di base.
Per il docente: Si raggruppa da destra (dal lato meno significativo) e si completa con zeri a sinistra.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convertire un intero dalla base 10 alla base r si divide ripetutamente per r: ogni resto è una cifra, e il quoziente si divide di nuovo finché non diventa zero. Le tre tabelle lo fanno per 127 con r uguale a 8, 16 e 2. Il riquadro giallo contiene il dettaglio che si sbaglia più spesso: il primo resto è la cifra meno significativa, quindi i resti si leggono dal basso verso l'alto. Verifica: 177 in ottale è 64 + 56 + 7 = 127.
DA COMPRENDERE OGGI: i cambi di base.
Per il docente: N = Q(n) r^(n+1) + R(n) r^n + ... + R(1) r + R(0). In C le due operazioni sono / e %; in RISC-V (estensione M) sono divu e remu.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un numero tra 0 e 1 il procedimento è speculare: si moltiplica ripetutamente per r; ogni volta la parte intera del prodotto è una cifra, a partire dalla più significativa, e la parte frazionaria si moltiplica di nuovo. 0,875 dà 0,111 e si ferma, perché la frazione diventa zero. 0,8 non si ferma mai: tornano le stesse frazioni, e le cifre 1100 si ripetono all'infinito. Un numero finito in base dieci può essere periodico in base due, e con un numero finito di bit va troncato. È l'origine degli errori di arrotondamento della Lezione 06.
DA COMPRENDERE OGGI: i cambi di base.
Per il docente: N = R(1) r^-1 + R(2) r^-2 + ... Le slide originali rimandavano a due convertitori online (fermimn.edu.it e fauser.edu); qualunque calcolatrice moderna in modalità programmatore fa lo stesso.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i numeri naturali la legge è la più semplice possibile: X è x scritto in binario. Con n bit ci sono 2 alla n configurazioni, quindi i numeri vanno da 0 a 2 alla n meno 1: con quattro bit, da 0 a 15, come mostra la striscia. La tabella dà i casi che si incontrano su RISC-V: un byte arriva a 255, una halfword a 65.535, una parola a 4.294.967.295. Quest'ultimo è la lettura senza segno di FFFFFFFF: metà della risposta al riscaldamento.
DA COMPRENDERE OGGI: naturali e overflow.
Per il docente: 4.294.967.295 è la lettura senza segno di 0xFFFFFFFF: la prima metà della risposta al riscaldamento.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da ricordare. Un registro ha un numero finito di bit, quindi rappresenta un sottoinsieme finito di un insieme infinito di numeri. Le operazioni aritmetiche sono chiuse sull'insieme intero, non sul sottoinsieme: la somma di due numeri rappresentabili può cadere fuori. Quando accade si ha un overflow. L'esempio usa sette bit, che coprono da 0 a 127: 100 e 38 sono entrambi rappresentabili, e la loro somma, 138, no. L'overflow non è un difetto della macchina: è una conseguenza della finitezza.
DA COMPRENDERE OGGI: naturali e overflow.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calcoli su quattro bit, svolti colonna per colonna come in decimale: 1 più 1 fa 0 con riporto di 1. Sei più otto ci sta. Quattordici più tre fa diciassette, che richiede un quinto bit: un overflow. La differenza usa il prestito come in decimale. Il prodotto di due numeri di n bit può richiedere 2n bit, ed è per questo che RISC-V ha due istruzioni: mul per la metà bassa del prodotto e mulhu per la metà alta. Rifate a mano i quattro calcoli, coprendo i risultati.
DA COMPRENDERE OGGI: naturali e overflow.
Per il docente: La slide originale diceva che l'overflow «si può rilevare mediante il bit di overflow»: vero per i processori con registro dei flag, non per RISC-V. Si veda l'ultima sezione.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L'idea più naturale: usare il bit più a sinistra per il segno e i bit restanti per il modulo. È facile da leggere per una persona, e ha due difetti. Lo zero ha due rappresentazioni, più zero e meno zero. E l'aritmetica è scomoda: per sommare due numeri di segno opposto il circuito deve confrontare i moduli, sottrarre il minore dal maggiore e scegliere il segno. Una rappresentazione che complica la somma è una legge scadente nel senso della sezione precedente.
DA COMPRENDERE OGGI: segno e modulo.
Per il docente: Semplice per le persone, scomodo per i circuiti. Sopravvive nella mantissa dei numeri in virgola mobile IEEE 754 (Lezione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complemento a due. I numeri non negativi sono rappresentati da se stessi. Un numero negativo x è rappresentato da 2 alla n meno il suo modulo: su quattro bit, meno 3 è 16 meno 3, cioè 13, 1101. L'intervallo non è simmetrico: da meno 2 alla n meno 1 fino a 2 alla n meno 1, meno 1, quindi su quattro bit da meno 8 a più 7. Lo zero ha una sola rappresentazione, e il bit più a sinistra vale 1 esattamente quando il numero è negativo. Per un registro a 32 bit l'intervallo va da circa meno due miliardi a più due miliardi.
DA COMPRENDERE OGGI: il complemento a due.
Per il docente: Detto anche complemento alla base. L'asimmetria dell'intervallo (un negativo in più) ha una conseguenza: cambiare segno al numero più negativo dà overflow.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stesse sedici configurazioni lette in tre modi. Nella tabella di sinistra, dove il bit più a sinistra è 0, le tre letture coincidono. Nella tabella di destra differiscono: 1000 vale 8 senza segno, meno zero in segno e modulo, e meno 8 in complemento a due; 1111 vale 15, meno 7 oppure meno 1. La frase in fondo è la chiave di tutta la lezione: i bit non dicono quale colonna è quella giusta. Lo dice il programma, attraverso le istruzioni che sceglie.
DA COMPRENDERE OGGI: il complemento a due.
Per il docente: Evidenziati: 1000 è meno zero in segno e modulo ma -8 in complemento a due; 1111 è -7 oppure -1. Complemento a uno ed eccesso 8 si aggiungono a questa tabella nella Lezione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n bit i numeri formano un cerchio: dopo l'ultima configurazione viene la prima. Sommare 1 sposta di un passo in senso orario. L'anello interno dà il valore senza segno, i dischi esterni il valore in complemento a due. La ruota «si spezza» in due punti diversi. Per la lettura senza segno la rottura è in alto, tra 1111 e 0000: attraversarla è un riporto. Per il complemento a due è in basso, tra 0111 e 1000: attraversarla è un overflow con segno. E un passo indietro da 0000 porta a 1111: è l'FFFFFFFF del riscaldamento.
DA COMPRENDERE OGGI: il complemento a due.
Per il docente: Anello interno: valore senza segno. In mezzo: i bit. Dischi esterni: valore in complemento a due. Lo stesso addizionatore serve entrambe le letture: cambia solo il punto in cui la ruota «si spezza».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calcoli che mostrano il vantaggio del complemento a due. Per sommare 2 e meno 6 basta sommare le due configurazioni: 0010 più 1010 fa 1100, che si legge meno 4. Per sommare due negativi si sommano le configurazioni e si scarta il riporto uscente dalla posizione più a sinistra. Perfino il prodotto funziona sui quattro bit bassi. La prima riga dell'elenco è il punto: all'addizionatore non serve conoscere i segni. Il circuito che somma i numeri naturali dà già la risposta giusta per quelli con segno.
DA COMPRENDERE OGGI: il complemento a due.
Per il docente: Verifica del prodotto: 2 x 13 = 26 = 1 1010; i quattro bit bassi sono 1010, che si legge -6. Per questo RISC-V ha una sola mul per operandi con e senza segno.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overflow sono due, e sono indipendenti. Per i numeri senza segno l'overflow è un riporto uscente dal bit più a sinistra: 128 più 130 su otto bit lascia 2 nel registro. Per i numeri con segno l'overflow è un risultato con il segno sbagliato: 127 più 127 non produce riporto uscente, ma la configurazione si legge meno 2. La regola: due operandi positivi che danno una somma negativa, o due negativi che danno una somma positiva. Due operandi di segno opposto non possono mai dare overflow, perché il risultato sta tra i due.
DA COMPRENDERE OGGI: il complemento a due.
Per il docente: Regola circuitale equivalente per l'overflow con segno: il riporto entrante nel bit più significativo è diverso da quello uscente.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porta un numero su più bit senza cambiarne il valore? In complemento a due si copia il bit di segno in tutte le nuove posizioni: meno 1 su quattro bit, 1111, diventa 1111 1111 su otto; più 5, 0101, diventa 0000 0101. È l'estensione del segno. Il processore la esegue ogni volta che un valore corto ne incontra uno lungo: la costante a dodici bit di addi viene estesa con segno a trentadue bit, e lb estende il segno del byte che carica, mentre lbu riempie di zeri.
DA COMPRENDERE OGGI: l'estensione del segno.
Per il docente: Estendere con zeri trasformerebbe 1111 (-1) in 0000 1111 (+15). L'estensione del segno è la controparte con segno della proprietà di «estensione a sinistra» vista per i naturali.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bit più a sinistra vale 1, quindi il numero è negativo: scartate 252, che è la lettura senza segno. Per trovare il modulo si cambia segno: complemento, 0000 0011, e si somma uno, 0000 0100, cioè 4. La configurazione vale meno 4.
Su otto bit in complemento a due l'intervallo va da meno 128 a più 127. Calcolate ogni somma e guardate se cade nell'intervallo. Ricordate che operandi di segno opposto non possono dare overflow, e questo esclude due opzioni in un colpo.
Per il docente: 1. Risposta: B. Si complementa e si somma uno: 0000 0011 + 1 = 0000 0100 = 4, quindi la configurazione vale -4. (252 è la sua lettura senza segno.)
2. Risposta: B. L'intervallo è [-128, 127]. 100 + 27 = 127 ci sta; 100 + 28 = 128 no: due positivi danno una configurazione negativa (1000 0000 =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stessi due registri, due istruzioni che differiscono per una lettera. slt legge FFFFFFFF come meno 1, che è minore di 1. sltu lo legge come più di quattro miliardi, che non lo è. Questa domanda è l'intera lezione in una riga.
Usate le moltiplicazioni successive: 0,625 per 2 fa 1,25, cifra 1; 0,25 per 2 fa 0,5, cifra 0; 0,5 per 2 fa 1,0, cifra 1. Verifica con i pesi: un mezzo più un ottavo fa 0,625.
Per il docente: 1. Risposta: C. Con segno: -1 &lt; 1 è vero, quindi t2 = 1. Senza segno: 4.294.967.295 &lt; 1 è falso, quindi t3 = 0.
2. Risposta: A. 0,625 x 2 = 1,25 (1); 0,25 x 2 = 0,5 (0); 0,5 x 2 = 1,0 (1): 0,101 = 1/2 + 1/8.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Signed integer è il numero relativo, o intero con segno. Carry e borrow sono il riporto di un'addizione e il prestito di una sottrazione. Sign extension, estensione del segno, è l'operazione che allarga un numero con segno. To clamp non ha un'unica parola italiana: significa limitare un valore a un intervallo.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Ogni base ha il suo uso: la due per i circuiti, la sedici per le persone che leggono i bit. Con n bit ci sono 2 alla n numeri, e la legge di codifica dice quali. Il complemento a due trasforma la sottrazione in addizione. L'overflow è il prezzo dei registri finiti: lo si rileva, oppure lo si esclude per progetto come con il clamp. E in RISC-V i bit non hanno tipo: sceglie l'istruzione. La prossima lezione completa il quadro con i numeri reali.
Stato di apprendimento, riepilogo. DA COMPRENDERE OGGI: il complemento a due; i cambi di base; naturali e overflow; shift come moltiplicazione; segno e modulo; istruzioni con o senza segno; l'estensione del segno. DA UTILIZZARE OGGI: le chiamate del runtime PRG32, il programma completo, gli strumenti di PRG32 (si usa, non si studia, in questo corso). DA COMPRENDERE PIÙ AVANTI: niente. Una slide senza etichetta è contesto: una storia, un esempio, una domanda, un esercizio.
Per il docente: Prossima lezione: complemento a uno, eccesso k, virgola fissa e virgola mobile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05: Rappresentazione dei numeri (interi)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Rappresentazione dei numeri: gli interi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Basi, numeri naturali, complemento a due e overflow</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“Conterò poco, è vero: - diceva l'Uno ar Zero - ma tu che vali? Gnente: propio gnente.”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05-Architettura_dei_Calcolatori-Rappresentazione_dei_Numeri_Interi-Codice.pptx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Convertire interi e frazioni tra le basi 2, 8, 10 e 16</a:t>
            </a:r>
            <a:endParaRPr lang="en-US" sz="2200" dirty="0"/>
          </a:p>
        </p:txBody>
      </p:sp>
      <p:sp>
        <p:nvSpPr>
          <p:cNvPr id="5" name="Text 3"/>
          <p:cNvSpPr txBox="1"/>
          <p:nvPr/>
        </p:nvSpPr>
        <p:spPr>
          <a:xfrm>
            <a:off x="548640" y="22016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833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quali numeri naturali stanno in n bit e riconoscere un overflow</a:t>
            </a:r>
            <a:endParaRPr lang="en-US" sz="2200" dirty="0"/>
          </a:p>
        </p:txBody>
      </p:sp>
      <p:sp>
        <p:nvSpPr>
          <p:cNvPr id="7" name="Text 5"/>
          <p:cNvSpPr txBox="1"/>
          <p:nvPr/>
        </p:nvSpPr>
        <p:spPr>
          <a:xfrm>
            <a:off x="548640" y="29677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4944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Codificare e decodificare interi con segno in segno e modulo e in complemento a due</a:t>
            </a:r>
            <a:endParaRPr lang="en-US" sz="2200" dirty="0"/>
          </a:p>
        </p:txBody>
      </p:sp>
      <p:sp>
        <p:nvSpPr>
          <p:cNvPr id="9" name="Text 7"/>
          <p:cNvSpPr txBox="1"/>
          <p:nvPr/>
        </p:nvSpPr>
        <p:spPr>
          <a:xfrm>
            <a:off x="548640" y="39766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5833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Sommare, sottrarre e cambiare segno in complemento a due, e rilevare l'overflow</a:t>
            </a:r>
            <a:endParaRPr lang="en-US" sz="2200" dirty="0"/>
          </a:p>
        </p:txBody>
      </p:sp>
      <p:sp>
        <p:nvSpPr>
          <p:cNvPr id="11" name="Text 9"/>
          <p:cNvSpPr txBox="1"/>
          <p:nvPr/>
        </p:nvSpPr>
        <p:spPr>
          <a:xfrm>
            <a:off x="548640" y="4985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67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0 - 1 compare come 0xFFFFFFFF in un registro RISC-V</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Scegliere l'istruzione RISC-V giusta per dati con segno e senza segno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Sistemi posizionali: basi 2, 8, 10 e 16</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0264"/>
                <a:gridCol w="3443094"/>
                <a:gridCol w="2869245"/>
                <a:gridCol w="325181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Base b</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Cifre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Nome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Tredici si scrive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2</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binaria</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1101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8</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0, 1, ..., 7</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ottale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15</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10</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0, 1, ..., 9</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decimale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13</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16</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 9, A, ..., F</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esadecimale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D</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 d(n-1) x b^(n-1) + ... + d(1) x b + d(0), con ogni cifra compresa tra 0 e b - 1.</a:t>
            </a:r>
            <a:endParaRPr lang="en-US" sz="1500" dirty="0"/>
          </a:p>
        </p:txBody>
      </p:sp>
      <p:sp>
        <p:nvSpPr>
          <p:cNvPr id="5" name="Shape 2"/>
          <p:cNvSpPr/>
          <p:nvPr/>
        </p:nvSpPr>
        <p:spPr>
          <a:xfrm>
            <a:off x="8248599" y="91440"/>
            <a:ext cx="3394456" cy="274320"/>
          </a:xfrm>
          <a:prstGeom prst="rect">
            <a:avLst/>
          </a:prstGeom>
          <a:solidFill>
            <a:srgbClr val="E0F2FE"/>
          </a:solidFill>
          <a:ln w="12700">
            <a:solidFill>
              <a:srgbClr val="0369A1"/>
            </a:solidFill>
            <a:prstDash val="solid"/>
          </a:ln>
        </p:spPr>
      </p:sp>
      <p:sp>
        <p:nvSpPr>
          <p:cNvPr id="6" name="Shape 3"/>
          <p:cNvSpPr/>
          <p:nvPr/>
        </p:nvSpPr>
        <p:spPr>
          <a:xfrm>
            <a:off x="824859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8" name="Text 4"/>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cambi di base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basi potenze di due condividono gli stessi bit</a:t>
            </a:r>
            <a:endParaRPr lang="en-US" sz="3200" dirty="0"/>
          </a:p>
        </p:txBody>
      </p:sp>
      <p:sp>
        <p:nvSpPr>
          <p:cNvPr id="3" name="Text 1"/>
          <p:cNvSpPr txBox="1"/>
          <p:nvPr/>
        </p:nvSpPr>
        <p:spPr>
          <a:xfrm>
            <a:off x="548640" y="169164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127 in base 10</a:t>
            </a:r>
            <a:endParaRPr lang="en-US" sz="1800" dirty="0"/>
          </a:p>
        </p:txBody>
      </p:sp>
      <p:sp>
        <p:nvSpPr>
          <p:cNvPr id="4" name="Text 2"/>
          <p:cNvSpPr txBox="1"/>
          <p:nvPr/>
        </p:nvSpPr>
        <p:spPr>
          <a:xfrm>
            <a:off x="429768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0</a:t>
            </a:r>
            <a:endParaRPr lang="en-US" sz="2200" dirty="0"/>
          </a:p>
        </p:txBody>
      </p:sp>
      <p:sp>
        <p:nvSpPr>
          <p:cNvPr id="5" name="Text 3"/>
          <p:cNvSpPr txBox="1"/>
          <p:nvPr/>
        </p:nvSpPr>
        <p:spPr>
          <a:xfrm>
            <a:off x="486460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6" name="Text 4"/>
          <p:cNvSpPr txBox="1"/>
          <p:nvPr/>
        </p:nvSpPr>
        <p:spPr>
          <a:xfrm>
            <a:off x="543153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7" name="Text 5"/>
          <p:cNvSpPr txBox="1"/>
          <p:nvPr/>
        </p:nvSpPr>
        <p:spPr>
          <a:xfrm>
            <a:off x="5998464"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8" name="Text 6"/>
          <p:cNvSpPr txBox="1"/>
          <p:nvPr/>
        </p:nvSpPr>
        <p:spPr>
          <a:xfrm>
            <a:off x="6565392"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9" name="Text 7"/>
          <p:cNvSpPr txBox="1"/>
          <p:nvPr/>
        </p:nvSpPr>
        <p:spPr>
          <a:xfrm>
            <a:off x="713232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0" name="Text 8"/>
          <p:cNvSpPr txBox="1"/>
          <p:nvPr/>
        </p:nvSpPr>
        <p:spPr>
          <a:xfrm>
            <a:off x="769924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1" name="Text 9"/>
          <p:cNvSpPr txBox="1"/>
          <p:nvPr/>
        </p:nvSpPr>
        <p:spPr>
          <a:xfrm>
            <a:off x="826617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2" name="Text 10"/>
          <p:cNvSpPr txBox="1"/>
          <p:nvPr/>
        </p:nvSpPr>
        <p:spPr>
          <a:xfrm>
            <a:off x="548640" y="292608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gruppi di 4: esadecimale</a:t>
            </a:r>
            <a:endParaRPr lang="en-US" sz="1800" dirty="0"/>
          </a:p>
        </p:txBody>
      </p:sp>
      <p:sp>
        <p:nvSpPr>
          <p:cNvPr id="13" name="Text 11"/>
          <p:cNvSpPr txBox="1"/>
          <p:nvPr/>
        </p:nvSpPr>
        <p:spPr>
          <a:xfrm>
            <a:off x="4297680" y="2926080"/>
            <a:ext cx="2267712" cy="64008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0111 = 7</a:t>
            </a:r>
            <a:endParaRPr lang="en-US" sz="2000" dirty="0"/>
          </a:p>
        </p:txBody>
      </p:sp>
      <p:sp>
        <p:nvSpPr>
          <p:cNvPr id="14" name="Text 12"/>
          <p:cNvSpPr txBox="1"/>
          <p:nvPr/>
        </p:nvSpPr>
        <p:spPr>
          <a:xfrm>
            <a:off x="6565392" y="2926080"/>
            <a:ext cx="2267712" cy="64008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1111 = F</a:t>
            </a:r>
            <a:endParaRPr lang="en-US" sz="2000" dirty="0"/>
          </a:p>
        </p:txBody>
      </p:sp>
      <p:sp>
        <p:nvSpPr>
          <p:cNvPr id="15" name="Text 13"/>
          <p:cNvSpPr txBox="1"/>
          <p:nvPr/>
        </p:nvSpPr>
        <p:spPr>
          <a:xfrm>
            <a:off x="8961120" y="2926080"/>
            <a:ext cx="201168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0x7F</a:t>
            </a:r>
            <a:endParaRPr lang="en-US" sz="2400" dirty="0"/>
          </a:p>
        </p:txBody>
      </p:sp>
      <p:sp>
        <p:nvSpPr>
          <p:cNvPr id="16" name="Text 14"/>
          <p:cNvSpPr txBox="1"/>
          <p:nvPr/>
        </p:nvSpPr>
        <p:spPr>
          <a:xfrm>
            <a:off x="548640" y="411480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gruppi di 3: ottale</a:t>
            </a:r>
            <a:endParaRPr lang="en-US" sz="1800" dirty="0"/>
          </a:p>
        </p:txBody>
      </p:sp>
      <p:sp>
        <p:nvSpPr>
          <p:cNvPr id="17" name="Text 15"/>
          <p:cNvSpPr txBox="1"/>
          <p:nvPr/>
        </p:nvSpPr>
        <p:spPr>
          <a:xfrm>
            <a:off x="4297680" y="4114800"/>
            <a:ext cx="1133856" cy="64008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 = 1</a:t>
            </a:r>
            <a:endParaRPr lang="en-US" sz="1800" dirty="0"/>
          </a:p>
        </p:txBody>
      </p:sp>
      <p:sp>
        <p:nvSpPr>
          <p:cNvPr id="18" name="Text 16"/>
          <p:cNvSpPr txBox="1"/>
          <p:nvPr/>
        </p:nvSpPr>
        <p:spPr>
          <a:xfrm>
            <a:off x="5431536" y="4114800"/>
            <a:ext cx="1700784" cy="64008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19" name="Text 17"/>
          <p:cNvSpPr txBox="1"/>
          <p:nvPr/>
        </p:nvSpPr>
        <p:spPr>
          <a:xfrm>
            <a:off x="7132320" y="4114800"/>
            <a:ext cx="1700784" cy="640080"/>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20" name="Text 18"/>
          <p:cNvSpPr txBox="1"/>
          <p:nvPr/>
        </p:nvSpPr>
        <p:spPr>
          <a:xfrm>
            <a:off x="8961120" y="4114800"/>
            <a:ext cx="274320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177 ottale</a:t>
            </a:r>
            <a:endParaRPr lang="en-US" sz="2400" dirty="0"/>
          </a:p>
        </p:txBody>
      </p:sp>
      <p:sp>
        <p:nvSpPr>
          <p:cNvPr id="21" name="Shape 19"/>
          <p:cNvSpPr/>
          <p:nvPr/>
        </p:nvSpPr>
        <p:spPr>
          <a:xfrm>
            <a:off x="548640" y="5120640"/>
            <a:ext cx="11094415" cy="1051560"/>
          </a:xfrm>
          <a:prstGeom prst="roundRect">
            <a:avLst>
              <a:gd name="adj" fmla="val 6957"/>
            </a:avLst>
          </a:prstGeom>
          <a:solidFill>
            <a:srgbClr val="D8ECEE"/>
          </a:solidFill>
          <a:ln w="12700">
            <a:solidFill>
              <a:srgbClr val="D8ECEE"/>
            </a:solidFill>
            <a:prstDash val="solid"/>
          </a:ln>
        </p:spPr>
      </p:sp>
      <p:sp>
        <p:nvSpPr>
          <p:cNvPr id="22" name="Text 20"/>
          <p:cNvSpPr txBox="1"/>
          <p:nvPr/>
        </p:nvSpPr>
        <p:spPr>
          <a:xfrm>
            <a:off x="822960" y="5166360"/>
            <a:ext cx="10545775" cy="96012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Se ogni cifra è scritta in binario puro, i bit di un numero sono gli stessi in ogni base b = 2^k: si raggruppano da destra, k alla volta. Esempio: 13 = 1101 in binario = 15 in ottale = D in esadecimale.</a:t>
            </a:r>
            <a:endParaRPr lang="en-US" sz="1650" dirty="0"/>
          </a:p>
        </p:txBody>
      </p:sp>
      <p:sp>
        <p:nvSpPr>
          <p:cNvPr id="23" name="Shape 21"/>
          <p:cNvSpPr/>
          <p:nvPr/>
        </p:nvSpPr>
        <p:spPr>
          <a:xfrm>
            <a:off x="8248599" y="91440"/>
            <a:ext cx="3394456" cy="274320"/>
          </a:xfrm>
          <a:prstGeom prst="rect">
            <a:avLst/>
          </a:prstGeom>
          <a:solidFill>
            <a:srgbClr val="E0F2FE"/>
          </a:solidFill>
          <a:ln w="12700">
            <a:solidFill>
              <a:srgbClr val="0369A1"/>
            </a:solidFill>
            <a:prstDash val="solid"/>
          </a:ln>
        </p:spPr>
      </p:sp>
      <p:sp>
        <p:nvSpPr>
          <p:cNvPr id="24" name="Shape 22"/>
          <p:cNvSpPr/>
          <p:nvPr/>
        </p:nvSpPr>
        <p:spPr>
          <a:xfrm>
            <a:off x="8248599"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26" name="Text 2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cambi di base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Convertire un intero: divisioni successive</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 divide N per la base r; il resto è la cifra successiva, a partire dalla meno significativa. Si ripete sul quoziente finché non diventa zero.</a:t>
            </a:r>
            <a:endParaRPr lang="en-US" sz="1700" dirty="0"/>
          </a:p>
        </p:txBody>
      </p:sp>
      <p:sp>
        <p:nvSpPr>
          <p:cNvPr id="4" name="Text 2"/>
          <p:cNvSpPr txBox="1"/>
          <p:nvPr/>
        </p:nvSpPr>
        <p:spPr>
          <a:xfrm>
            <a:off x="54864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8</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803904"/>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177 ottale</a:t>
            </a:r>
            <a:endParaRPr lang="en-US" sz="1800" dirty="0"/>
          </a:p>
        </p:txBody>
      </p:sp>
      <p:sp>
        <p:nvSpPr>
          <p:cNvPr id="7" name="Text 4"/>
          <p:cNvSpPr txBox="1"/>
          <p:nvPr/>
        </p:nvSpPr>
        <p:spPr>
          <a:xfrm>
            <a:off x="4389120" y="2029968"/>
            <a:ext cx="315468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16</a:t>
            </a:r>
            <a:endParaRPr lang="en-US" sz="15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9120" y="2377440"/>
          <a:ext cx="3154680" cy="914400"/>
        </p:xfrm>
        <a:graphic>
          <a:graphicData uri="http://schemas.openxmlformats.org/drawingml/2006/table">
            <a:tbl>
              <a:tblPr/>
              <a:tblGrid>
                <a:gridCol w="1051560"/>
                <a:gridCol w="1051560"/>
                <a:gridCol w="105156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 = F</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389120" y="3474720"/>
            <a:ext cx="370332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0x7F</a:t>
            </a:r>
            <a:endParaRPr lang="en-US" sz="1800" dirty="0"/>
          </a:p>
        </p:txBody>
      </p:sp>
      <p:sp>
        <p:nvSpPr>
          <p:cNvPr id="10" name="Text 6"/>
          <p:cNvSpPr txBox="1"/>
          <p:nvPr/>
        </p:nvSpPr>
        <p:spPr>
          <a:xfrm>
            <a:off x="827532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2</a:t>
            </a:r>
            <a:endParaRPr lang="en-US" sz="15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827532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2" name="Text 7"/>
          <p:cNvSpPr txBox="1"/>
          <p:nvPr/>
        </p:nvSpPr>
        <p:spPr>
          <a:xfrm>
            <a:off x="8275320" y="5120640"/>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1111111</a:t>
            </a:r>
            <a:endParaRPr lang="en-US" sz="1800" dirty="0"/>
          </a:p>
        </p:txBody>
      </p:sp>
      <p:sp>
        <p:nvSpPr>
          <p:cNvPr id="13" name="Shape 8"/>
          <p:cNvSpPr/>
          <p:nvPr/>
        </p:nvSpPr>
        <p:spPr>
          <a:xfrm>
            <a:off x="548640" y="4846320"/>
            <a:ext cx="7223760" cy="1325880"/>
          </a:xfrm>
          <a:prstGeom prst="roundRect">
            <a:avLst>
              <a:gd name="adj" fmla="val 5517"/>
            </a:avLst>
          </a:prstGeom>
          <a:solidFill>
            <a:srgbClr val="F6E7D2"/>
          </a:solidFill>
          <a:ln w="12700">
            <a:solidFill>
              <a:srgbClr val="F6E7D2"/>
            </a:solidFill>
            <a:prstDash val="solid"/>
          </a:ln>
        </p:spPr>
      </p:sp>
      <p:sp>
        <p:nvSpPr>
          <p:cNvPr id="14" name="Text 9"/>
          <p:cNvSpPr txBox="1"/>
          <p:nvPr/>
        </p:nvSpPr>
        <p:spPr>
          <a:xfrm>
            <a:off x="777240" y="4892040"/>
            <a:ext cx="6766560" cy="1234440"/>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 resti si leggono dal basso verso l'alto: l'ultimo resto è la cifra più significativa. Il metodo discende da N = Q x r + R, applicata più volte al quoziente.</a:t>
            </a:r>
            <a:endParaRPr lang="en-US" sz="1600" dirty="0"/>
          </a:p>
        </p:txBody>
      </p:sp>
      <p:sp>
        <p:nvSpPr>
          <p:cNvPr id="15" name="Shape 10"/>
          <p:cNvSpPr/>
          <p:nvPr/>
        </p:nvSpPr>
        <p:spPr>
          <a:xfrm>
            <a:off x="8248599" y="91440"/>
            <a:ext cx="3394456" cy="274320"/>
          </a:xfrm>
          <a:prstGeom prst="rect">
            <a:avLst/>
          </a:prstGeom>
          <a:solidFill>
            <a:srgbClr val="E0F2FE"/>
          </a:solidFill>
          <a:ln w="12700">
            <a:solidFill>
              <a:srgbClr val="0369A1"/>
            </a:solidFill>
            <a:prstDash val="solid"/>
          </a:ln>
        </p:spPr>
      </p:sp>
      <p:sp>
        <p:nvSpPr>
          <p:cNvPr id="16" name="Shape 11"/>
          <p:cNvSpPr/>
          <p:nvPr/>
        </p:nvSpPr>
        <p:spPr>
          <a:xfrm>
            <a:off x="8248599"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8" name="Text 12"/>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cambi di base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Convertire una frazione: moltiplicazioni successive</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0 &lt;= N &lt; 1 si moltiplica per la base r: la parte intera del prodotto è la cifra successiva, a partire dalla più significativa. Si ripete sulla parte frazionaria.</a:t>
            </a:r>
            <a:endParaRPr lang="en-US" sz="1700" dirty="0"/>
          </a:p>
        </p:txBody>
      </p:sp>
      <p:sp>
        <p:nvSpPr>
          <p:cNvPr id="4" name="Text 2"/>
          <p:cNvSpPr txBox="1"/>
          <p:nvPr/>
        </p:nvSpPr>
        <p:spPr>
          <a:xfrm>
            <a:off x="54864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0,875 in base 2: esatto</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Prodotto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Frazione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Cifra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931920"/>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0,875 = 0,111 in binario</a:t>
            </a:r>
            <a:endParaRPr lang="en-US" sz="1800" dirty="0"/>
          </a:p>
        </p:txBody>
      </p:sp>
      <p:sp>
        <p:nvSpPr>
          <p:cNvPr id="7" name="Text 4"/>
          <p:cNvSpPr txBox="1"/>
          <p:nvPr/>
        </p:nvSpPr>
        <p:spPr>
          <a:xfrm>
            <a:off x="658368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 in base 2: periodico</a:t>
            </a:r>
            <a:endParaRPr lang="en-US" sz="15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8368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Prodotto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Frazione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Cifra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9" name="Text 5"/>
          <p:cNvSpPr txBox="1"/>
          <p:nvPr/>
        </p:nvSpPr>
        <p:spPr>
          <a:xfrm>
            <a:off x="6583680" y="4599432"/>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 = 0,1100 1100 1100 ...</a:t>
            </a:r>
            <a:endParaRPr lang="en-US" sz="1800" dirty="0"/>
          </a:p>
        </p:txBody>
      </p:sp>
      <p:sp>
        <p:nvSpPr>
          <p:cNvPr id="10" name="Shape 6"/>
          <p:cNvSpPr/>
          <p:nvPr/>
        </p:nvSpPr>
        <p:spPr>
          <a:xfrm>
            <a:off x="548640" y="5074920"/>
            <a:ext cx="11094415" cy="1097280"/>
          </a:xfrm>
          <a:prstGeom prst="roundRect">
            <a:avLst>
              <a:gd name="adj" fmla="val 6667"/>
            </a:avLst>
          </a:prstGeom>
          <a:solidFill>
            <a:srgbClr val="F3DDE0"/>
          </a:solidFill>
          <a:ln w="12700">
            <a:solidFill>
              <a:srgbClr val="F3DDE0"/>
            </a:solidFill>
            <a:prstDash val="solid"/>
          </a:ln>
        </p:spPr>
      </p:sp>
      <p:sp>
        <p:nvSpPr>
          <p:cNvPr id="11" name="Text 7"/>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Una frazione finita in base 10 può essere periodica in base 2. Con un numero finito di bit va troncata: da qui nascono gli errori di approssimazione dei numeri reali (Lezione 06).</a:t>
            </a:r>
            <a:endParaRPr lang="en-US" sz="1650" dirty="0"/>
          </a:p>
        </p:txBody>
      </p:sp>
      <p:sp>
        <p:nvSpPr>
          <p:cNvPr id="12" name="Shape 8"/>
          <p:cNvSpPr/>
          <p:nvPr/>
        </p:nvSpPr>
        <p:spPr>
          <a:xfrm>
            <a:off x="8248599" y="91440"/>
            <a:ext cx="3394456" cy="274320"/>
          </a:xfrm>
          <a:prstGeom prst="rect">
            <a:avLst/>
          </a:prstGeom>
          <a:solidFill>
            <a:srgbClr val="E0F2FE"/>
          </a:solidFill>
          <a:ln w="12700">
            <a:solidFill>
              <a:srgbClr val="0369A1"/>
            </a:solidFill>
            <a:prstDash val="solid"/>
          </a:ln>
        </p:spPr>
      </p:sp>
      <p:sp>
        <p:nvSpPr>
          <p:cNvPr id="13" name="Shape 9"/>
          <p:cNvSpPr/>
          <p:nvPr/>
        </p:nvSpPr>
        <p:spPr>
          <a:xfrm>
            <a:off x="824859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5" name="Text 10"/>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cambi di base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Numeri naturali su n bit</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Con n bit ci sono 2^n configurazioni: i naturali da 0 a 2^n - 1</a:t>
            </a:r>
            <a:endParaRPr lang="en-US" sz="2300" dirty="0"/>
          </a:p>
        </p:txBody>
      </p:sp>
      <p:sp>
        <p:nvSpPr>
          <p:cNvPr id="5" name="Shape 3"/>
          <p:cNvSpPr/>
          <p:nvPr/>
        </p:nvSpPr>
        <p:spPr>
          <a:xfrm>
            <a:off x="548640" y="20532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3903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ogni numero è associata la stringa di bit che lo rappresenta nel sistema posizionale binario</a:t>
            </a:r>
            <a:endParaRPr lang="en-US" sz="2300" dirty="0"/>
          </a:p>
        </p:txBody>
      </p:sp>
      <p:sp>
        <p:nvSpPr>
          <p:cNvPr id="7" name="Text 5"/>
          <p:cNvSpPr txBox="1"/>
          <p:nvPr/>
        </p:nvSpPr>
        <p:spPr>
          <a:xfrm>
            <a:off x="548640" y="2834640"/>
            <a:ext cx="11094415"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Esempio: n = 4, intervallo [0, 15]</a:t>
            </a:r>
            <a:endParaRPr lang="en-US" sz="1500" dirty="0"/>
          </a:p>
        </p:txBody>
      </p:sp>
      <p:sp>
        <p:nvSpPr>
          <p:cNvPr id="8" name="Text 6"/>
          <p:cNvSpPr txBox="1"/>
          <p:nvPr/>
        </p:nvSpPr>
        <p:spPr>
          <a:xfrm>
            <a:off x="54864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0000</a:t>
            </a:r>
            <a:endParaRPr lang="en-US" sz="1350" dirty="0"/>
          </a:p>
        </p:txBody>
      </p:sp>
      <p:sp>
        <p:nvSpPr>
          <p:cNvPr id="9" name="Text 7"/>
          <p:cNvSpPr txBox="1"/>
          <p:nvPr/>
        </p:nvSpPr>
        <p:spPr>
          <a:xfrm>
            <a:off x="54864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p>
        </p:txBody>
      </p:sp>
      <p:sp>
        <p:nvSpPr>
          <p:cNvPr id="10" name="Text 8"/>
          <p:cNvSpPr txBox="1"/>
          <p:nvPr/>
        </p:nvSpPr>
        <p:spPr>
          <a:xfrm>
            <a:off x="124204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0001</a:t>
            </a:r>
            <a:endParaRPr lang="en-US" sz="1350" dirty="0"/>
          </a:p>
        </p:txBody>
      </p:sp>
      <p:sp>
        <p:nvSpPr>
          <p:cNvPr id="11" name="Text 9"/>
          <p:cNvSpPr txBox="1"/>
          <p:nvPr/>
        </p:nvSpPr>
        <p:spPr>
          <a:xfrm>
            <a:off x="124204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p>
        </p:txBody>
      </p:sp>
      <p:sp>
        <p:nvSpPr>
          <p:cNvPr id="12" name="Text 10"/>
          <p:cNvSpPr txBox="1"/>
          <p:nvPr/>
        </p:nvSpPr>
        <p:spPr>
          <a:xfrm>
            <a:off x="193544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0010</a:t>
            </a:r>
            <a:endParaRPr lang="en-US" sz="1350" dirty="0"/>
          </a:p>
        </p:txBody>
      </p:sp>
      <p:sp>
        <p:nvSpPr>
          <p:cNvPr id="13" name="Text 11"/>
          <p:cNvSpPr txBox="1"/>
          <p:nvPr/>
        </p:nvSpPr>
        <p:spPr>
          <a:xfrm>
            <a:off x="193544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262884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0011</a:t>
            </a:r>
            <a:endParaRPr lang="en-US" sz="1350" dirty="0"/>
          </a:p>
        </p:txBody>
      </p:sp>
      <p:sp>
        <p:nvSpPr>
          <p:cNvPr id="15" name="Text 13"/>
          <p:cNvSpPr txBox="1"/>
          <p:nvPr/>
        </p:nvSpPr>
        <p:spPr>
          <a:xfrm>
            <a:off x="262884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332224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0100</a:t>
            </a:r>
            <a:endParaRPr lang="en-US" sz="1350" dirty="0"/>
          </a:p>
        </p:txBody>
      </p:sp>
      <p:sp>
        <p:nvSpPr>
          <p:cNvPr id="17" name="Text 15"/>
          <p:cNvSpPr txBox="1"/>
          <p:nvPr/>
        </p:nvSpPr>
        <p:spPr>
          <a:xfrm>
            <a:off x="332224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4015645"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0101</a:t>
            </a:r>
            <a:endParaRPr lang="en-US" sz="1350" dirty="0"/>
          </a:p>
        </p:txBody>
      </p:sp>
      <p:sp>
        <p:nvSpPr>
          <p:cNvPr id="19" name="Text 17"/>
          <p:cNvSpPr txBox="1"/>
          <p:nvPr/>
        </p:nvSpPr>
        <p:spPr>
          <a:xfrm>
            <a:off x="4015645"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p>
        </p:txBody>
      </p:sp>
      <p:sp>
        <p:nvSpPr>
          <p:cNvPr id="20" name="Text 18"/>
          <p:cNvSpPr txBox="1"/>
          <p:nvPr/>
        </p:nvSpPr>
        <p:spPr>
          <a:xfrm>
            <a:off x="4709046"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0110</a:t>
            </a:r>
            <a:endParaRPr lang="en-US" sz="1350" dirty="0"/>
          </a:p>
        </p:txBody>
      </p:sp>
      <p:sp>
        <p:nvSpPr>
          <p:cNvPr id="21" name="Text 19"/>
          <p:cNvSpPr txBox="1"/>
          <p:nvPr/>
        </p:nvSpPr>
        <p:spPr>
          <a:xfrm>
            <a:off x="4709046"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p>
        </p:txBody>
      </p:sp>
      <p:sp>
        <p:nvSpPr>
          <p:cNvPr id="22" name="Text 20"/>
          <p:cNvSpPr txBox="1"/>
          <p:nvPr/>
        </p:nvSpPr>
        <p:spPr>
          <a:xfrm>
            <a:off x="5402447"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0111</a:t>
            </a:r>
            <a:endParaRPr lang="en-US" sz="1350" dirty="0"/>
          </a:p>
        </p:txBody>
      </p:sp>
      <p:sp>
        <p:nvSpPr>
          <p:cNvPr id="23" name="Text 21"/>
          <p:cNvSpPr txBox="1"/>
          <p:nvPr/>
        </p:nvSpPr>
        <p:spPr>
          <a:xfrm>
            <a:off x="5402447"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p>
        </p:txBody>
      </p:sp>
      <p:sp>
        <p:nvSpPr>
          <p:cNvPr id="24" name="Text 22"/>
          <p:cNvSpPr txBox="1"/>
          <p:nvPr/>
        </p:nvSpPr>
        <p:spPr>
          <a:xfrm>
            <a:off x="6095848"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1000</a:t>
            </a:r>
            <a:endParaRPr lang="en-US" sz="1350" dirty="0"/>
          </a:p>
        </p:txBody>
      </p:sp>
      <p:sp>
        <p:nvSpPr>
          <p:cNvPr id="25" name="Text 23"/>
          <p:cNvSpPr txBox="1"/>
          <p:nvPr/>
        </p:nvSpPr>
        <p:spPr>
          <a:xfrm>
            <a:off x="6095848"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p>
        </p:txBody>
      </p:sp>
      <p:sp>
        <p:nvSpPr>
          <p:cNvPr id="26" name="Text 24"/>
          <p:cNvSpPr txBox="1"/>
          <p:nvPr/>
        </p:nvSpPr>
        <p:spPr>
          <a:xfrm>
            <a:off x="6789249"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1001</a:t>
            </a:r>
            <a:endParaRPr lang="en-US" sz="1350" dirty="0"/>
          </a:p>
        </p:txBody>
      </p:sp>
      <p:sp>
        <p:nvSpPr>
          <p:cNvPr id="27" name="Text 25"/>
          <p:cNvSpPr txBox="1"/>
          <p:nvPr/>
        </p:nvSpPr>
        <p:spPr>
          <a:xfrm>
            <a:off x="6789249"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p>
        </p:txBody>
      </p:sp>
      <p:sp>
        <p:nvSpPr>
          <p:cNvPr id="28" name="Text 26"/>
          <p:cNvSpPr txBox="1"/>
          <p:nvPr/>
        </p:nvSpPr>
        <p:spPr>
          <a:xfrm>
            <a:off x="74826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1010</a:t>
            </a:r>
            <a:endParaRPr lang="en-US" sz="1350" dirty="0"/>
          </a:p>
        </p:txBody>
      </p:sp>
      <p:sp>
        <p:nvSpPr>
          <p:cNvPr id="29" name="Text 27"/>
          <p:cNvSpPr txBox="1"/>
          <p:nvPr/>
        </p:nvSpPr>
        <p:spPr>
          <a:xfrm>
            <a:off x="74826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p>
        </p:txBody>
      </p:sp>
      <p:sp>
        <p:nvSpPr>
          <p:cNvPr id="30" name="Text 28"/>
          <p:cNvSpPr txBox="1"/>
          <p:nvPr/>
        </p:nvSpPr>
        <p:spPr>
          <a:xfrm>
            <a:off x="81760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1011</a:t>
            </a:r>
            <a:endParaRPr lang="en-US" sz="1350" dirty="0"/>
          </a:p>
        </p:txBody>
      </p:sp>
      <p:sp>
        <p:nvSpPr>
          <p:cNvPr id="31" name="Text 29"/>
          <p:cNvSpPr txBox="1"/>
          <p:nvPr/>
        </p:nvSpPr>
        <p:spPr>
          <a:xfrm>
            <a:off x="81760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p>
        </p:txBody>
      </p:sp>
      <p:sp>
        <p:nvSpPr>
          <p:cNvPr id="32" name="Text 30"/>
          <p:cNvSpPr txBox="1"/>
          <p:nvPr/>
        </p:nvSpPr>
        <p:spPr>
          <a:xfrm>
            <a:off x="886945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1100</a:t>
            </a:r>
            <a:endParaRPr lang="en-US" sz="1350" dirty="0"/>
          </a:p>
        </p:txBody>
      </p:sp>
      <p:sp>
        <p:nvSpPr>
          <p:cNvPr id="33" name="Text 31"/>
          <p:cNvSpPr txBox="1"/>
          <p:nvPr/>
        </p:nvSpPr>
        <p:spPr>
          <a:xfrm>
            <a:off x="886945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p>
        </p:txBody>
      </p:sp>
      <p:sp>
        <p:nvSpPr>
          <p:cNvPr id="34" name="Text 32"/>
          <p:cNvSpPr txBox="1"/>
          <p:nvPr/>
        </p:nvSpPr>
        <p:spPr>
          <a:xfrm>
            <a:off x="956285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1101</a:t>
            </a:r>
            <a:endParaRPr lang="en-US" sz="1350" dirty="0"/>
          </a:p>
        </p:txBody>
      </p:sp>
      <p:sp>
        <p:nvSpPr>
          <p:cNvPr id="35" name="Text 33"/>
          <p:cNvSpPr txBox="1"/>
          <p:nvPr/>
        </p:nvSpPr>
        <p:spPr>
          <a:xfrm>
            <a:off x="956285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p>
        </p:txBody>
      </p:sp>
      <p:sp>
        <p:nvSpPr>
          <p:cNvPr id="36" name="Text 34"/>
          <p:cNvSpPr txBox="1"/>
          <p:nvPr/>
        </p:nvSpPr>
        <p:spPr>
          <a:xfrm>
            <a:off x="1025625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1110</a:t>
            </a:r>
            <a:endParaRPr lang="en-US" sz="1350" dirty="0"/>
          </a:p>
        </p:txBody>
      </p:sp>
      <p:sp>
        <p:nvSpPr>
          <p:cNvPr id="37" name="Text 35"/>
          <p:cNvSpPr txBox="1"/>
          <p:nvPr/>
        </p:nvSpPr>
        <p:spPr>
          <a:xfrm>
            <a:off x="1025625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p>
        </p:txBody>
      </p:sp>
      <p:sp>
        <p:nvSpPr>
          <p:cNvPr id="38" name="Text 36"/>
          <p:cNvSpPr txBox="1"/>
          <p:nvPr/>
        </p:nvSpPr>
        <p:spPr>
          <a:xfrm>
            <a:off x="1094965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1111</a:t>
            </a:r>
            <a:endParaRPr lang="en-US" sz="1350" dirty="0"/>
          </a:p>
        </p:txBody>
      </p:sp>
      <p:sp>
        <p:nvSpPr>
          <p:cNvPr id="39" name="Text 37"/>
          <p:cNvSpPr txBox="1"/>
          <p:nvPr/>
        </p:nvSpPr>
        <p:spPr>
          <a:xfrm>
            <a:off x="1094965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094415" cy="914400"/>
        </p:xfrm>
        <a:graphic>
          <a:graphicData uri="http://schemas.openxmlformats.org/drawingml/2006/table">
            <a:tbl>
              <a:tblPr/>
              <a:tblGrid>
                <a:gridCol w="2743200"/>
                <a:gridCol w="2743200"/>
                <a:gridCol w="2743200"/>
                <a:gridCol w="286481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Bit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Intervallo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Massimo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2^8 - 1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byte (lbu)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255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2^16 - 1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halfword (lhu)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65.535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2^32 - 1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word, registro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4.294.967.295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1" name="Shape 38"/>
          <p:cNvSpPr/>
          <p:nvPr/>
        </p:nvSpPr>
        <p:spPr>
          <a:xfrm>
            <a:off x="7985963" y="91440"/>
            <a:ext cx="3657092" cy="274320"/>
          </a:xfrm>
          <a:prstGeom prst="rect">
            <a:avLst/>
          </a:prstGeom>
          <a:solidFill>
            <a:srgbClr val="E0F2FE"/>
          </a:solidFill>
          <a:ln w="12700">
            <a:solidFill>
              <a:srgbClr val="0369A1"/>
            </a:solidFill>
            <a:prstDash val="solid"/>
          </a:ln>
        </p:spPr>
      </p:sp>
      <p:sp>
        <p:nvSpPr>
          <p:cNvPr id="42" name="Shape 39"/>
          <p:cNvSpPr/>
          <p:nvPr/>
        </p:nvSpPr>
        <p:spPr>
          <a:xfrm>
            <a:off x="7985963"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44" name="Text 40"/>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naturali e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Overflow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Si ha overflow quando il risultato di un'operazione non è contenuto nel sottoinsieme finito di numeri che i bit disponibili possono rappresentare.</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registri hanno dimensione finita e sono in numero finito</a:t>
            </a:r>
            <a:endParaRPr lang="en-US" sz="2200" dirty="0"/>
          </a:p>
        </p:txBody>
      </p:sp>
      <p:sp>
        <p:nvSpPr>
          <p:cNvPr id="8" name="Shape 6"/>
          <p:cNvSpPr/>
          <p:nvPr/>
        </p:nvSpPr>
        <p:spPr>
          <a:xfrm>
            <a:off x="548640" y="3931666"/>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38252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insiemi numerici sono infiniti: se ne può rappresentare solo un sottoinsieme finito</a:t>
            </a:r>
            <a:endParaRPr lang="en-US" sz="2200" dirty="0"/>
          </a:p>
        </p:txBody>
      </p:sp>
      <p:sp>
        <p:nvSpPr>
          <p:cNvPr id="10" name="Shape 8"/>
          <p:cNvSpPr/>
          <p:nvPr/>
        </p:nvSpPr>
        <p:spPr>
          <a:xfrm>
            <a:off x="548640" y="476427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65785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operatori aritmetici sono chiusi sull'insieme intero, non sul sottoinsieme finito</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7 bit si codifica [0, 127]: 100 e 38 sono rappresentabili, la loro somma 138 no</a:t>
            </a:r>
            <a:endParaRPr lang="en-US" sz="2200" dirty="0"/>
          </a:p>
        </p:txBody>
      </p:sp>
      <p:sp>
        <p:nvSpPr>
          <p:cNvPr id="14" name="Shape 12"/>
          <p:cNvSpPr/>
          <p:nvPr/>
        </p:nvSpPr>
        <p:spPr>
          <a:xfrm>
            <a:off x="7985963" y="91440"/>
            <a:ext cx="3657092" cy="274320"/>
          </a:xfrm>
          <a:prstGeom prst="rect">
            <a:avLst/>
          </a:prstGeom>
          <a:solidFill>
            <a:srgbClr val="E0F2FE"/>
          </a:solidFill>
          <a:ln w="12700">
            <a:solidFill>
              <a:srgbClr val="0369A1"/>
            </a:solidFill>
            <a:prstDash val="solid"/>
          </a:ln>
        </p:spPr>
      </p:sp>
      <p:sp>
        <p:nvSpPr>
          <p:cNvPr id="15" name="Shape 13"/>
          <p:cNvSpPr/>
          <p:nvPr/>
        </p:nvSpPr>
        <p:spPr>
          <a:xfrm>
            <a:off x="798596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7" name="Text 14"/>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naturali e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su quattro bit</a:t>
            </a:r>
            <a:endParaRPr lang="en-US" sz="3200" dirty="0"/>
          </a:p>
        </p:txBody>
      </p:sp>
      <p:sp>
        <p:nvSpPr>
          <p:cNvPr id="3" name="Shape 1"/>
          <p:cNvSpPr/>
          <p:nvPr/>
        </p:nvSpPr>
        <p:spPr>
          <a:xfrm>
            <a:off x="548640" y="1463040"/>
            <a:ext cx="2567864"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Somma</a:t>
            </a:r>
            <a:endParaRPr lang="en-US" sz="1400" dirty="0"/>
          </a:p>
        </p:txBody>
      </p:sp>
      <p:sp>
        <p:nvSpPr>
          <p:cNvPr id="5" name="Text 3"/>
          <p:cNvSpPr txBox="1"/>
          <p:nvPr/>
        </p:nvSpPr>
        <p:spPr>
          <a:xfrm>
            <a:off x="731520"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14</a:t>
            </a:r>
            <a:endParaRPr lang="en-US" sz="1600" dirty="0"/>
          </a:p>
        </p:txBody>
      </p:sp>
      <p:sp>
        <p:nvSpPr>
          <p:cNvPr id="6" name="Text 4"/>
          <p:cNvSpPr txBox="1"/>
          <p:nvPr/>
        </p:nvSpPr>
        <p:spPr>
          <a:xfrm>
            <a:off x="1575786"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1110</a:t>
            </a:r>
            <a:endParaRPr lang="en-US" sz="1600" dirty="0"/>
          </a:p>
        </p:txBody>
      </p:sp>
      <p:sp>
        <p:nvSpPr>
          <p:cNvPr id="7" name="Text 5"/>
          <p:cNvSpPr txBox="1"/>
          <p:nvPr/>
        </p:nvSpPr>
        <p:spPr>
          <a:xfrm>
            <a:off x="731520"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sta in quattro bit</a:t>
            </a:r>
            <a:endParaRPr lang="en-US" sz="1250" dirty="0"/>
          </a:p>
        </p:txBody>
      </p:sp>
      <p:sp>
        <p:nvSpPr>
          <p:cNvPr id="8" name="Shape 6"/>
          <p:cNvSpPr/>
          <p:nvPr/>
        </p:nvSpPr>
        <p:spPr>
          <a:xfrm>
            <a:off x="3390824" y="1463040"/>
            <a:ext cx="2567864"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3573704" y="1554480"/>
            <a:ext cx="2202104"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Somma con overflow</a:t>
            </a:r>
            <a:endParaRPr lang="en-US" sz="1400" dirty="0"/>
          </a:p>
        </p:txBody>
      </p:sp>
      <p:sp>
        <p:nvSpPr>
          <p:cNvPr id="10" name="Text 8"/>
          <p:cNvSpPr txBox="1"/>
          <p:nvPr/>
        </p:nvSpPr>
        <p:spPr>
          <a:xfrm>
            <a:off x="3573704"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14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17</a:t>
            </a:r>
            <a:endParaRPr lang="en-US" sz="1600" dirty="0"/>
          </a:p>
        </p:txBody>
      </p:sp>
      <p:sp>
        <p:nvSpPr>
          <p:cNvPr id="11" name="Text 9"/>
          <p:cNvSpPr txBox="1"/>
          <p:nvPr/>
        </p:nvSpPr>
        <p:spPr>
          <a:xfrm>
            <a:off x="4417969"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1 0001</a:t>
            </a:r>
            <a:endParaRPr lang="en-US" sz="1600" dirty="0"/>
          </a:p>
        </p:txBody>
      </p:sp>
      <p:sp>
        <p:nvSpPr>
          <p:cNvPr id="12" name="Text 10"/>
          <p:cNvSpPr txBox="1"/>
          <p:nvPr/>
        </p:nvSpPr>
        <p:spPr>
          <a:xfrm>
            <a:off x="3573704" y="3044952"/>
            <a:ext cx="2202104"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serve un quinto bit</a:t>
            </a:r>
            <a:endParaRPr lang="en-US" sz="1250" dirty="0"/>
          </a:p>
        </p:txBody>
      </p:sp>
      <p:sp>
        <p:nvSpPr>
          <p:cNvPr id="13" name="Shape 11"/>
          <p:cNvSpPr/>
          <p:nvPr/>
        </p:nvSpPr>
        <p:spPr>
          <a:xfrm>
            <a:off x="6233008" y="1463040"/>
            <a:ext cx="2567864"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6415888"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Differenza</a:t>
            </a:r>
            <a:endParaRPr lang="en-US" sz="1400" dirty="0"/>
          </a:p>
        </p:txBody>
      </p:sp>
      <p:sp>
        <p:nvSpPr>
          <p:cNvPr id="15" name="Text 13"/>
          <p:cNvSpPr txBox="1"/>
          <p:nvPr/>
        </p:nvSpPr>
        <p:spPr>
          <a:xfrm>
            <a:off x="6415888"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11 -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7260153"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0110</a:t>
            </a:r>
            <a:endParaRPr lang="en-US" sz="1600" dirty="0"/>
          </a:p>
        </p:txBody>
      </p:sp>
      <p:sp>
        <p:nvSpPr>
          <p:cNvPr id="17" name="Text 15"/>
          <p:cNvSpPr txBox="1"/>
          <p:nvPr/>
        </p:nvSpPr>
        <p:spPr>
          <a:xfrm>
            <a:off x="6415888"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prestito come in decimale</a:t>
            </a:r>
            <a:endParaRPr lang="en-US" sz="1250" dirty="0"/>
          </a:p>
        </p:txBody>
      </p:sp>
      <p:sp>
        <p:nvSpPr>
          <p:cNvPr id="18" name="Shape 16"/>
          <p:cNvSpPr/>
          <p:nvPr/>
        </p:nvSpPr>
        <p:spPr>
          <a:xfrm>
            <a:off x="9075191" y="1463040"/>
            <a:ext cx="2567864" cy="2057400"/>
          </a:xfrm>
          <a:prstGeom prst="roundRect">
            <a:avLst>
              <a:gd name="adj" fmla="val 3556"/>
            </a:avLst>
          </a:prstGeom>
          <a:solidFill>
            <a:srgbClr val="EEF2F4"/>
          </a:solidFill>
          <a:ln w="12700">
            <a:solidFill>
              <a:srgbClr val="EEF2F4"/>
            </a:solidFill>
            <a:prstDash val="solid"/>
          </a:ln>
        </p:spPr>
      </p:sp>
      <p:sp>
        <p:nvSpPr>
          <p:cNvPr id="19" name="Text 17"/>
          <p:cNvSpPr txBox="1"/>
          <p:nvPr/>
        </p:nvSpPr>
        <p:spPr>
          <a:xfrm>
            <a:off x="9258071"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Prodotto</a:t>
            </a:r>
            <a:endParaRPr lang="en-US" sz="1400" dirty="0"/>
          </a:p>
        </p:txBody>
      </p:sp>
      <p:sp>
        <p:nvSpPr>
          <p:cNvPr id="20" name="Text 18"/>
          <p:cNvSpPr txBox="1"/>
          <p:nvPr/>
        </p:nvSpPr>
        <p:spPr>
          <a:xfrm>
            <a:off x="9258071"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5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15</a:t>
            </a:r>
            <a:endParaRPr lang="en-US" sz="1600" dirty="0"/>
          </a:p>
        </p:txBody>
      </p:sp>
      <p:sp>
        <p:nvSpPr>
          <p:cNvPr id="21" name="Text 19"/>
          <p:cNvSpPr txBox="1"/>
          <p:nvPr/>
        </p:nvSpPr>
        <p:spPr>
          <a:xfrm>
            <a:off x="10102337"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0101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000 1111</a:t>
            </a:r>
            <a:endParaRPr lang="en-US" sz="1600" dirty="0"/>
          </a:p>
        </p:txBody>
      </p:sp>
      <p:sp>
        <p:nvSpPr>
          <p:cNvPr id="22" name="Text 20"/>
          <p:cNvSpPr txBox="1"/>
          <p:nvPr/>
        </p:nvSpPr>
        <p:spPr>
          <a:xfrm>
            <a:off x="9258071"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 x n bit danno fino a 2n bit</a:t>
            </a:r>
            <a:endParaRPr lang="en-US" sz="1250" dirty="0"/>
          </a:p>
        </p:txBody>
      </p:sp>
      <p:sp>
        <p:nvSpPr>
          <p:cNvPr id="23" name="Shape 21"/>
          <p:cNvSpPr/>
          <p:nvPr/>
        </p:nvSpPr>
        <p:spPr>
          <a:xfrm>
            <a:off x="548640" y="3901186"/>
            <a:ext cx="146304" cy="146304"/>
          </a:xfrm>
          <a:prstGeom prst="rect">
            <a:avLst/>
          </a:prstGeom>
          <a:solidFill>
            <a:srgbClr val="0E7C86"/>
          </a:solidFill>
          <a:ln w="12700">
            <a:solidFill>
              <a:srgbClr val="0E7C86"/>
            </a:solidFill>
            <a:prstDash val="solid"/>
          </a:ln>
        </p:spPr>
      </p:sp>
      <p:sp>
        <p:nvSpPr>
          <p:cNvPr id="24" name="Text 22"/>
          <p:cNvSpPr txBox="1"/>
          <p:nvPr/>
        </p:nvSpPr>
        <p:spPr>
          <a:xfrm>
            <a:off x="932688" y="379476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L'aritmetica binaria segue le stesse regole colonna per colonna di quella decimale: 1 + 1 = 0 con riporto di 1</a:t>
            </a:r>
            <a:endParaRPr lang="en-US" sz="2200" dirty="0"/>
          </a:p>
        </p:txBody>
      </p:sp>
      <p:sp>
        <p:nvSpPr>
          <p:cNvPr id="25" name="Shape 23"/>
          <p:cNvSpPr/>
          <p:nvPr/>
        </p:nvSpPr>
        <p:spPr>
          <a:xfrm>
            <a:off x="548640" y="4749038"/>
            <a:ext cx="146304" cy="146304"/>
          </a:xfrm>
          <a:prstGeom prst="rect">
            <a:avLst/>
          </a:prstGeom>
          <a:solidFill>
            <a:srgbClr val="C7791B"/>
          </a:solidFill>
          <a:ln w="12700">
            <a:solidFill>
              <a:srgbClr val="C7791B"/>
            </a:solidFill>
            <a:prstDash val="solid"/>
          </a:ln>
        </p:spPr>
      </p:sp>
      <p:sp>
        <p:nvSpPr>
          <p:cNvPr id="26" name="Text 24"/>
          <p:cNvSpPr txBox="1"/>
          <p:nvPr/>
        </p:nvSpPr>
        <p:spPr>
          <a:xfrm>
            <a:off x="932688" y="464261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processore segnala un riporto perduto in modi diversi: molti hanno un flag di carry, RISC-V lo fa calcolare con un confronto</a:t>
            </a:r>
            <a:endParaRPr lang="en-US" sz="2200" dirty="0"/>
          </a:p>
        </p:txBody>
      </p:sp>
      <p:sp>
        <p:nvSpPr>
          <p:cNvPr id="27" name="Shape 25"/>
          <p:cNvSpPr/>
          <p:nvPr/>
        </p:nvSpPr>
        <p:spPr>
          <a:xfrm>
            <a:off x="548640" y="5596890"/>
            <a:ext cx="146304" cy="146304"/>
          </a:xfrm>
          <a:prstGeom prst="rect">
            <a:avLst/>
          </a:prstGeom>
          <a:solidFill>
            <a:srgbClr val="0E7C86"/>
          </a:solidFill>
          <a:ln w="12700">
            <a:solidFill>
              <a:srgbClr val="0E7C86"/>
            </a:solidFill>
            <a:prstDash val="solid"/>
          </a:ln>
        </p:spPr>
      </p:sp>
      <p:sp>
        <p:nvSpPr>
          <p:cNvPr id="28" name="Text 2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prodotto richiede il doppio dei bit: su RV32 mul dà i 32 bit bassi e mulhu i 32 alti</a:t>
            </a:r>
            <a:endParaRPr lang="en-US" sz="2200" dirty="0"/>
          </a:p>
        </p:txBody>
      </p:sp>
      <p:sp>
        <p:nvSpPr>
          <p:cNvPr id="29" name="Shape 27"/>
          <p:cNvSpPr/>
          <p:nvPr/>
        </p:nvSpPr>
        <p:spPr>
          <a:xfrm>
            <a:off x="7985963" y="91440"/>
            <a:ext cx="3657092" cy="274320"/>
          </a:xfrm>
          <a:prstGeom prst="rect">
            <a:avLst/>
          </a:prstGeom>
          <a:solidFill>
            <a:srgbClr val="E0F2FE"/>
          </a:solidFill>
          <a:ln w="12700">
            <a:solidFill>
              <a:srgbClr val="0369A1"/>
            </a:solidFill>
            <a:prstDash val="solid"/>
          </a:ln>
        </p:spPr>
      </p:sp>
      <p:sp>
        <p:nvSpPr>
          <p:cNvPr id="30" name="Shape 28"/>
          <p:cNvSpPr/>
          <p:nvPr/>
        </p:nvSpPr>
        <p:spPr>
          <a:xfrm>
            <a:off x="7985963" y="91440"/>
            <a:ext cx="73152" cy="274320"/>
          </a:xfrm>
          <a:prstGeom prst="rect">
            <a:avLst/>
          </a:prstGeom>
          <a:solidFill>
            <a:srgbClr val="0369A1"/>
          </a:solidFill>
          <a:ln w="12700">
            <a:solidFill>
              <a:srgbClr val="0369A1"/>
            </a:solidFill>
            <a:prstDash val="solid"/>
          </a:ln>
        </p:spPr>
      </p:sp>
      <p:pic>
        <p:nvPicPr>
          <p:cNvPr id="31"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32" name="Text 29"/>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naturali e overflow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Segno e modulo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bit più significativo è il segno (1 = negativo); gli altri n - 1 bit sono il modulo</a:t>
            </a:r>
            <a:endParaRPr lang="en-US" sz="2200" dirty="0"/>
          </a:p>
        </p:txBody>
      </p:sp>
      <p:sp>
        <p:nvSpPr>
          <p:cNvPr id="5" name="Shape 3"/>
          <p:cNvSpPr/>
          <p:nvPr/>
        </p:nvSpPr>
        <p:spPr>
          <a:xfrm>
            <a:off x="548640" y="257818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1759"/>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- 1) a +(2^(n-1) - 1)</a:t>
            </a:r>
            <a:endParaRPr lang="en-US" sz="2200" dirty="0"/>
          </a:p>
        </p:txBody>
      </p:sp>
      <p:sp>
        <p:nvSpPr>
          <p:cNvPr id="7" name="Shape 5"/>
          <p:cNvSpPr/>
          <p:nvPr/>
        </p:nvSpPr>
        <p:spPr>
          <a:xfrm>
            <a:off x="548640" y="32917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8532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zero ha due rappresentazioni, +0 e -0: si rappresentano solo 2^n - 1 numeri</a:t>
            </a:r>
            <a:endParaRPr lang="en-US" sz="2200" dirty="0"/>
          </a:p>
        </p:txBody>
      </p:sp>
      <p:sp>
        <p:nvSpPr>
          <p:cNvPr id="9" name="Shape 7"/>
          <p:cNvSpPr/>
          <p:nvPr/>
        </p:nvSpPr>
        <p:spPr>
          <a:xfrm>
            <a:off x="548640" y="434619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39768"/>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L'aritmetica deve lavorare separatamente su segno e modulo</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per sommare due numeri di segno opposto si trova il modulo maggiore e gli si sottrae il minore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il risultato prende il segno dell'operando di modulo maggiore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X = |x| + 2^(n-1) s</a:t>
            </a:r>
            <a:endParaRPr lang="en-US" sz="53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legge di codifica, con s = 1 se x è negativo e 0 altrimenti. Su quattro bit: X = |x| + 8 s</a:t>
            </a:r>
            <a:endParaRPr lang="en-US" sz="1900" dirty="0"/>
          </a:p>
        </p:txBody>
      </p:sp>
      <p:sp>
        <p:nvSpPr>
          <p:cNvPr id="14" name="Shape 12"/>
          <p:cNvSpPr/>
          <p:nvPr/>
        </p:nvSpPr>
        <p:spPr>
          <a:xfrm>
            <a:off x="8314258" y="91440"/>
            <a:ext cx="3328797" cy="274320"/>
          </a:xfrm>
          <a:prstGeom prst="rect">
            <a:avLst/>
          </a:prstGeom>
          <a:solidFill>
            <a:srgbClr val="E0F2FE"/>
          </a:solidFill>
          <a:ln w="12700">
            <a:solidFill>
              <a:srgbClr val="0369A1"/>
            </a:solidFill>
            <a:prstDash val="solid"/>
          </a:ln>
        </p:spPr>
      </p:sp>
      <p:sp>
        <p:nvSpPr>
          <p:cNvPr id="15" name="Shape 13"/>
          <p:cNvSpPr/>
          <p:nvPr/>
        </p:nvSpPr>
        <p:spPr>
          <a:xfrm>
            <a:off x="8314258"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42274" y="128016"/>
            <a:ext cx="201168" cy="201168"/>
          </a:xfrm>
          <a:prstGeom prst="rect">
            <a:avLst/>
          </a:prstGeom>
        </p:spPr>
      </p:pic>
      <p:sp>
        <p:nvSpPr>
          <p:cNvPr id="17" name="Text 14"/>
          <p:cNvSpPr txBox="1"/>
          <p:nvPr/>
        </p:nvSpPr>
        <p:spPr>
          <a:xfrm>
            <a:off x="8698306" y="91440"/>
            <a:ext cx="290817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segno e modulo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Complemento a due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non negativi, 0 &lt;= x &lt; 2^(n-1), sono rappresentati da se stessi: X = x</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numeri negativi, -2^(n-1) &lt;= x &lt; 0, sono rappresentati da X = 2^n - |x|</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Intervallo: da -2^(n-1) a +2^(n-1) - 1; lo zero ha una sola rappresentazione</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bit più significativo vale 1 se e solo se il numero è negativo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la rappresentazione usata da ogni processore moderno, RISC-V compreso</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-2^31 ... 2^31 - 1</a:t>
            </a:r>
            <a:endParaRPr lang="en-US" sz="53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800" dirty="0">
                <a:solidFill>
                  <a:srgbClr val="CFE3EA"/>
                </a:solidFill>
                <a:latin typeface="Calibri" pitchFamily="34" charset="0"/>
                <a:ea typeface="Calibri" pitchFamily="34" charset="-122"/>
                <a:cs typeface="Calibri" pitchFamily="34" charset="-120"/>
              </a:rPr>
              <a:t>l'intervallo di un registro RISC-V a 32 bit letto come intero con segno: da circa meno due miliardi a più due miliardi</a:t>
            </a:r>
            <a:endParaRPr lang="en-US" sz="1800" dirty="0"/>
          </a:p>
        </p:txBody>
      </p:sp>
      <p:sp>
        <p:nvSpPr>
          <p:cNvPr id="16" name="Shape 14"/>
          <p:cNvSpPr/>
          <p:nvPr/>
        </p:nvSpPr>
        <p:spPr>
          <a:xfrm>
            <a:off x="7920304" y="91440"/>
            <a:ext cx="3722751" cy="274320"/>
          </a:xfrm>
          <a:prstGeom prst="rect">
            <a:avLst/>
          </a:prstGeom>
          <a:solidFill>
            <a:srgbClr val="E0F2FE"/>
          </a:solidFill>
          <a:ln w="12700">
            <a:solidFill>
              <a:srgbClr val="0369A1"/>
            </a:solidFill>
            <a:prstDash val="solid"/>
          </a:ln>
        </p:spPr>
      </p:sp>
      <p:sp>
        <p:nvSpPr>
          <p:cNvPr id="17" name="Shape 15"/>
          <p:cNvSpPr/>
          <p:nvPr/>
        </p:nvSpPr>
        <p:spPr>
          <a:xfrm>
            <a:off x="7920304"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9" name="Text 16"/>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complemento a due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bit, tre letture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Senza segno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Segno e modulo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Compl. a due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339535"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Senza segno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Segno e modulo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Compl. a due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5" name="Text 1"/>
          <p:cNvSpPr txBox="1"/>
          <p:nvPr/>
        </p:nvSpPr>
        <p:spPr>
          <a:xfrm>
            <a:off x="548640" y="5029200"/>
            <a:ext cx="5303520" cy="320040"/>
          </a:xfrm>
          <a:prstGeom prst="rect">
            <a:avLst/>
          </a:prstGeom>
          <a:noFill/>
          <a:ln/>
        </p:spPr>
        <p:txBody>
          <a:bodyPr wrap="square" lIns="0" tIns="0" rIns="0" bIns="0" rtlCol="0" anchor="t"/>
          <a:lstStyle/>
          <a:p>
            <a:pPr algn="ctr" indent="0" marL="0">
              <a:buNone/>
            </a:pPr>
            <a:r>
              <a:rPr lang="en-US" sz="1400" i="1" dirty="0">
                <a:solidFill>
                  <a:srgbClr val="0E7C86"/>
                </a:solidFill>
                <a:latin typeface="Calibri" pitchFamily="34" charset="0"/>
                <a:ea typeface="Calibri" pitchFamily="34" charset="-122"/>
                <a:cs typeface="Calibri" pitchFamily="34" charset="-120"/>
              </a:rPr>
              <a:t>non negativi: le tre letture coincidono</a:t>
            </a:r>
            <a:endParaRPr lang="en-US" sz="1400" dirty="0"/>
          </a:p>
        </p:txBody>
      </p:sp>
      <p:sp>
        <p:nvSpPr>
          <p:cNvPr id="6" name="Text 2"/>
          <p:cNvSpPr txBox="1"/>
          <p:nvPr/>
        </p:nvSpPr>
        <p:spPr>
          <a:xfrm>
            <a:off x="6339535" y="5029200"/>
            <a:ext cx="5303520" cy="320040"/>
          </a:xfrm>
          <a:prstGeom prst="rect">
            <a:avLst/>
          </a:prstGeom>
          <a:noFill/>
          <a:ln/>
        </p:spPr>
        <p:txBody>
          <a:bodyPr wrap="square" lIns="0" tIns="0" rIns="0" bIns="0" rtlCol="0" anchor="t"/>
          <a:lstStyle/>
          <a:p>
            <a:pPr algn="ctr" indent="0" marL="0">
              <a:buNone/>
            </a:pPr>
            <a:r>
              <a:rPr lang="en-US" sz="1400" i="1" dirty="0">
                <a:solidFill>
                  <a:srgbClr val="C7791B"/>
                </a:solidFill>
                <a:latin typeface="Calibri" pitchFamily="34" charset="0"/>
                <a:ea typeface="Calibri" pitchFamily="34" charset="-122"/>
                <a:cs typeface="Calibri" pitchFamily="34" charset="-120"/>
              </a:rPr>
              <a:t>bit più significativo a 1: le letture differiscono</a:t>
            </a:r>
            <a:endParaRPr lang="en-US" sz="1400" dirty="0"/>
          </a:p>
        </p:txBody>
      </p:sp>
      <p:sp>
        <p:nvSpPr>
          <p:cNvPr id="7" name="Shape 3"/>
          <p:cNvSpPr/>
          <p:nvPr/>
        </p:nvSpPr>
        <p:spPr>
          <a:xfrm>
            <a:off x="548640" y="5486400"/>
            <a:ext cx="11094415" cy="685800"/>
          </a:xfrm>
          <a:prstGeom prst="roundRect">
            <a:avLst>
              <a:gd name="adj" fmla="val 10667"/>
            </a:avLst>
          </a:prstGeom>
          <a:solidFill>
            <a:srgbClr val="D8ECEE"/>
          </a:solidFill>
          <a:ln w="12700">
            <a:solidFill>
              <a:srgbClr val="D8ECEE"/>
            </a:solidFill>
            <a:prstDash val="solid"/>
          </a:ln>
        </p:spPr>
      </p:sp>
      <p:sp>
        <p:nvSpPr>
          <p:cNvPr id="8" name="Text 4"/>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bit non dicono quale colonna è quella giusta. Lo dice il programma, scegliendo le istruzioni.</a:t>
            </a:r>
            <a:endParaRPr lang="en-US" sz="1700" dirty="0"/>
          </a:p>
        </p:txBody>
      </p:sp>
      <p:sp>
        <p:nvSpPr>
          <p:cNvPr id="9" name="Shape 5"/>
          <p:cNvSpPr/>
          <p:nvPr/>
        </p:nvSpPr>
        <p:spPr>
          <a:xfrm>
            <a:off x="7920304" y="91440"/>
            <a:ext cx="3722751" cy="274320"/>
          </a:xfrm>
          <a:prstGeom prst="rect">
            <a:avLst/>
          </a:prstGeom>
          <a:solidFill>
            <a:srgbClr val="E0F2FE"/>
          </a:solidFill>
          <a:ln w="12700">
            <a:solidFill>
              <a:srgbClr val="0369A1"/>
            </a:solidFill>
            <a:prstDash val="solid"/>
          </a:ln>
        </p:spPr>
      </p:sp>
      <p:sp>
        <p:nvSpPr>
          <p:cNvPr id="10" name="Shape 6"/>
          <p:cNvSpPr/>
          <p:nvPr/>
        </p:nvSpPr>
        <p:spPr>
          <a:xfrm>
            <a:off x="7920304"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2" name="Text 7"/>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complemento a due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ruota dei numeri</a:t>
            </a:r>
            <a:endParaRPr lang="en-US" sz="3200" dirty="0"/>
          </a:p>
        </p:txBody>
      </p:sp>
      <p:sp>
        <p:nvSpPr>
          <p:cNvPr id="3"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4"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6"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complemento a due</a:t>
            </a:r>
            <a:endParaRPr lang="en-US" sz="1100" dirty="0"/>
          </a:p>
        </p:txBody>
      </p:sp>
      <p:pic>
        <p:nvPicPr>
          <p:cNvPr id="8" name="Image 1" descr="preencoded.png">    </p:cNvPr>
          <p:cNvPicPr>
            <a:picLocks noChangeAspect="1"/>
          </p:cNvPicPr>
          <p:nvPr/>
        </p:nvPicPr>
        <p:blipFill>
          <a:blip r:embed="rId2"/>
          <a:stretch>
            <a:fillRect/>
          </a:stretch>
        </p:blipFill>
        <p:spPr>
          <a:xfrm>
            <a:off x="502920" y="1234440"/>
            <a:ext cx="5074920" cy="5074920"/>
          </a:xfrm>
          <a:prstGeom prst="rect">
            <a:avLst/>
          </a:prstGeom>
        </p:spPr>
      </p:pic>
      <p:sp>
        <p:nvSpPr>
          <p:cNvPr id="9" name="Shape 4"/>
          <p:cNvSpPr/>
          <p:nvPr/>
        </p:nvSpPr>
        <p:spPr>
          <a:xfrm>
            <a:off x="5943600" y="1508252"/>
            <a:ext cx="146304" cy="146304"/>
          </a:xfrm>
          <a:prstGeom prst="rect">
            <a:avLst/>
          </a:prstGeom>
          <a:solidFill>
            <a:srgbClr val="0E7C86"/>
          </a:solidFill>
          <a:ln w="12700">
            <a:solidFill>
              <a:srgbClr val="0E7C86"/>
            </a:solidFill>
            <a:prstDash val="solid"/>
          </a:ln>
        </p:spPr>
      </p:sp>
      <p:sp>
        <p:nvSpPr>
          <p:cNvPr id="10" name="Text 5"/>
          <p:cNvSpPr txBox="1"/>
          <p:nvPr/>
        </p:nvSpPr>
        <p:spPr>
          <a:xfrm>
            <a:off x="6327648" y="1417320"/>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 n bit l'aritmetica è modulo 2^n: la retta dei numeri si chiude in un cerchio</a:t>
            </a:r>
            <a:endParaRPr lang="en-US" sz="2000" dirty="0"/>
          </a:p>
        </p:txBody>
      </p:sp>
      <p:sp>
        <p:nvSpPr>
          <p:cNvPr id="11" name="Shape 6"/>
          <p:cNvSpPr/>
          <p:nvPr/>
        </p:nvSpPr>
        <p:spPr>
          <a:xfrm>
            <a:off x="5943600" y="2260346"/>
            <a:ext cx="146304" cy="146304"/>
          </a:xfrm>
          <a:prstGeom prst="rect">
            <a:avLst/>
          </a:prstGeom>
          <a:solidFill>
            <a:srgbClr val="C7791B"/>
          </a:solidFill>
          <a:ln w="12700">
            <a:solidFill>
              <a:srgbClr val="C7791B"/>
            </a:solidFill>
            <a:prstDash val="solid"/>
          </a:ln>
        </p:spPr>
      </p:sp>
      <p:sp>
        <p:nvSpPr>
          <p:cNvPr id="12" name="Text 7"/>
          <p:cNvSpPr txBox="1"/>
          <p:nvPr/>
        </p:nvSpPr>
        <p:spPr>
          <a:xfrm>
            <a:off x="6327648" y="2169414"/>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Sommare 1 sposta di un passo in senso orario, qualunque sia la lettura</a:t>
            </a:r>
            <a:endParaRPr lang="en-US" sz="2000" dirty="0"/>
          </a:p>
        </p:txBody>
      </p:sp>
      <p:sp>
        <p:nvSpPr>
          <p:cNvPr id="13" name="Shape 8"/>
          <p:cNvSpPr/>
          <p:nvPr/>
        </p:nvSpPr>
        <p:spPr>
          <a:xfrm>
            <a:off x="5943600" y="3012440"/>
            <a:ext cx="146304" cy="146304"/>
          </a:xfrm>
          <a:prstGeom prst="rect">
            <a:avLst/>
          </a:prstGeom>
          <a:solidFill>
            <a:srgbClr val="0E7C86"/>
          </a:solidFill>
          <a:ln w="12700">
            <a:solidFill>
              <a:srgbClr val="0E7C86"/>
            </a:solidFill>
            <a:prstDash val="solid"/>
          </a:ln>
        </p:spPr>
      </p:sp>
      <p:sp>
        <p:nvSpPr>
          <p:cNvPr id="14" name="Text 9"/>
          <p:cNvSpPr txBox="1"/>
          <p:nvPr/>
        </p:nvSpPr>
        <p:spPr>
          <a:xfrm>
            <a:off x="6327648" y="2921508"/>
            <a:ext cx="5315407"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Lettura senza segno: la ruota si spezza tra 1111 e 0000</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attraversare quel punto è un riporto: 15 + 1 = 0</a:t>
            </a:r>
            <a:endParaRPr lang="en-US" sz="2000" dirty="0"/>
          </a:p>
        </p:txBody>
      </p:sp>
      <p:sp>
        <p:nvSpPr>
          <p:cNvPr id="15" name="Shape 10"/>
          <p:cNvSpPr/>
          <p:nvPr/>
        </p:nvSpPr>
        <p:spPr>
          <a:xfrm>
            <a:off x="5943600" y="4327906"/>
            <a:ext cx="146304" cy="146304"/>
          </a:xfrm>
          <a:prstGeom prst="rect">
            <a:avLst/>
          </a:prstGeom>
          <a:solidFill>
            <a:srgbClr val="C7791B"/>
          </a:solidFill>
          <a:ln w="12700">
            <a:solidFill>
              <a:srgbClr val="C7791B"/>
            </a:solidFill>
            <a:prstDash val="solid"/>
          </a:ln>
        </p:spPr>
      </p:sp>
      <p:sp>
        <p:nvSpPr>
          <p:cNvPr id="16" name="Text 11"/>
          <p:cNvSpPr txBox="1"/>
          <p:nvPr/>
        </p:nvSpPr>
        <p:spPr>
          <a:xfrm>
            <a:off x="6327648" y="4236974"/>
            <a:ext cx="5315407"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Lettura in complemento a due: la ruota si spezza tra 0111 e 1000</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attraversare quel punto è un overflow con segno: 7 + 1 = -8</a:t>
            </a:r>
            <a:endParaRPr lang="en-US" sz="2000" dirty="0"/>
          </a:p>
        </p:txBody>
      </p:sp>
      <p:sp>
        <p:nvSpPr>
          <p:cNvPr id="17" name="Shape 12"/>
          <p:cNvSpPr/>
          <p:nvPr/>
        </p:nvSpPr>
        <p:spPr>
          <a:xfrm>
            <a:off x="5943600" y="5643372"/>
            <a:ext cx="146304" cy="146304"/>
          </a:xfrm>
          <a:prstGeom prst="rect">
            <a:avLst/>
          </a:prstGeom>
          <a:solidFill>
            <a:srgbClr val="0E7C86"/>
          </a:solidFill>
          <a:ln w="12700">
            <a:solidFill>
              <a:srgbClr val="0E7C86"/>
            </a:solidFill>
            <a:prstDash val="solid"/>
          </a:ln>
        </p:spPr>
      </p:sp>
      <p:sp>
        <p:nvSpPr>
          <p:cNvPr id="18" name="Text 13"/>
          <p:cNvSpPr txBox="1"/>
          <p:nvPr/>
        </p:nvSpPr>
        <p:spPr>
          <a:xfrm>
            <a:off x="6327648" y="5552440"/>
            <a:ext cx="531540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passo indietro da 0000 porta a 1111: ecco perché 0 - 1 dà tutti uni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Aritmetica in complemento a due</a:t>
            </a:r>
            <a:endParaRPr lang="en-US" sz="3200" dirty="0"/>
          </a:p>
        </p:txBody>
      </p:sp>
      <p:sp>
        <p:nvSpPr>
          <p:cNvPr id="3" name="Shape 1"/>
          <p:cNvSpPr/>
          <p:nvPr/>
        </p:nvSpPr>
        <p:spPr>
          <a:xfrm>
            <a:off x="548640" y="1463040"/>
            <a:ext cx="351525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Segni opposti</a:t>
            </a:r>
            <a:endParaRPr lang="en-US" sz="1400" dirty="0"/>
          </a:p>
        </p:txBody>
      </p:sp>
      <p:sp>
        <p:nvSpPr>
          <p:cNvPr id="5" name="Text 3"/>
          <p:cNvSpPr txBox="1"/>
          <p:nvPr/>
        </p:nvSpPr>
        <p:spPr>
          <a:xfrm>
            <a:off x="731520"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-4</a:t>
            </a:r>
            <a:endParaRPr lang="en-US" sz="1600" dirty="0"/>
          </a:p>
        </p:txBody>
      </p:sp>
      <p:sp>
        <p:nvSpPr>
          <p:cNvPr id="6" name="Text 4"/>
          <p:cNvSpPr txBox="1"/>
          <p:nvPr/>
        </p:nvSpPr>
        <p:spPr>
          <a:xfrm>
            <a:off x="1954743"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1100</a:t>
            </a:r>
            <a:endParaRPr lang="en-US" sz="1600" dirty="0"/>
          </a:p>
        </p:txBody>
      </p:sp>
      <p:sp>
        <p:nvSpPr>
          <p:cNvPr id="7" name="Text 5"/>
          <p:cNvSpPr txBox="1"/>
          <p:nvPr/>
        </p:nvSpPr>
        <p:spPr>
          <a:xfrm>
            <a:off x="731520"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basta sommare le configurazioni</a:t>
            </a:r>
            <a:endParaRPr lang="en-US" sz="1250" dirty="0"/>
          </a:p>
        </p:txBody>
      </p:sp>
      <p:sp>
        <p:nvSpPr>
          <p:cNvPr id="8" name="Shape 6"/>
          <p:cNvSpPr/>
          <p:nvPr/>
        </p:nvSpPr>
        <p:spPr>
          <a:xfrm>
            <a:off x="4338218" y="1463040"/>
            <a:ext cx="351525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Due negativi</a:t>
            </a:r>
            <a:endParaRPr lang="en-US" sz="1400" dirty="0"/>
          </a:p>
        </p:txBody>
      </p:sp>
      <p:sp>
        <p:nvSpPr>
          <p:cNvPr id="10" name="Text 8"/>
          <p:cNvSpPr txBox="1"/>
          <p:nvPr/>
        </p:nvSpPr>
        <p:spPr>
          <a:xfrm>
            <a:off x="4521098"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a:t>
            </a:r>
            <a:endParaRPr lang="en-US" sz="1600" dirty="0"/>
          </a:p>
        </p:txBody>
      </p:sp>
      <p:sp>
        <p:nvSpPr>
          <p:cNvPr id="11" name="Text 9"/>
          <p:cNvSpPr txBox="1"/>
          <p:nvPr/>
        </p:nvSpPr>
        <p:spPr>
          <a:xfrm>
            <a:off x="5744322"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1 1011</a:t>
            </a:r>
            <a:endParaRPr lang="en-US" sz="1600" dirty="0"/>
          </a:p>
        </p:txBody>
      </p:sp>
      <p:sp>
        <p:nvSpPr>
          <p:cNvPr id="12" name="Text 10"/>
          <p:cNvSpPr txBox="1"/>
          <p:nvPr/>
        </p:nvSpPr>
        <p:spPr>
          <a:xfrm>
            <a:off x="4521098"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il riporto uscente si ignora (somma modulo 16)</a:t>
            </a:r>
            <a:endParaRPr lang="en-US" sz="1250" dirty="0"/>
          </a:p>
        </p:txBody>
      </p:sp>
      <p:sp>
        <p:nvSpPr>
          <p:cNvPr id="13" name="Shape 11"/>
          <p:cNvSpPr/>
          <p:nvPr/>
        </p:nvSpPr>
        <p:spPr>
          <a:xfrm>
            <a:off x="8127797" y="1463040"/>
            <a:ext cx="3515258"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Prodotto</a:t>
            </a:r>
            <a:endParaRPr lang="en-US" sz="1400" dirty="0"/>
          </a:p>
        </p:txBody>
      </p:sp>
      <p:sp>
        <p:nvSpPr>
          <p:cNvPr id="15" name="Text 13"/>
          <p:cNvSpPr txBox="1"/>
          <p:nvPr/>
        </p:nvSpPr>
        <p:spPr>
          <a:xfrm>
            <a:off x="8310677"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9533900"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001 1010</a:t>
            </a:r>
            <a:endParaRPr lang="en-US" sz="1600" dirty="0"/>
          </a:p>
        </p:txBody>
      </p:sp>
      <p:sp>
        <p:nvSpPr>
          <p:cNvPr id="17" name="Text 15"/>
          <p:cNvSpPr txBox="1"/>
          <p:nvPr/>
        </p:nvSpPr>
        <p:spPr>
          <a:xfrm>
            <a:off x="8310677"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si tengono i quattro bit bassi: 1010 = -6</a:t>
            </a:r>
            <a:endParaRPr lang="en-US" sz="1250" dirty="0"/>
          </a:p>
        </p:txBody>
      </p:sp>
      <p:sp>
        <p:nvSpPr>
          <p:cNvPr id="18" name="Shape 16"/>
          <p:cNvSpPr/>
          <p:nvPr/>
        </p:nvSpPr>
        <p:spPr>
          <a:xfrm>
            <a:off x="548640" y="3908933"/>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794760"/>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somma non ha bisogno di conoscere i segni: l'addizionatore dei numeri naturali dà già la risposta giusta</a:t>
            </a:r>
            <a:endParaRPr lang="en-US" sz="2300" dirty="0"/>
          </a:p>
        </p:txBody>
      </p:sp>
      <p:sp>
        <p:nvSpPr>
          <p:cNvPr id="20" name="Shape 18"/>
          <p:cNvSpPr/>
          <p:nvPr/>
        </p:nvSpPr>
        <p:spPr>
          <a:xfrm>
            <a:off x="548640" y="4919472"/>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805299"/>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Il riporto uscente dal bit più significativo viene semplicemente scartato</a:t>
            </a:r>
            <a:endParaRPr lang="en-US" sz="2300" dirty="0"/>
          </a:p>
        </p:txBody>
      </p:sp>
      <p:sp>
        <p:nvSpPr>
          <p:cNvPr id="22" name="Shape 20"/>
          <p:cNvSpPr/>
          <p:nvPr/>
        </p:nvSpPr>
        <p:spPr>
          <a:xfrm>
            <a:off x="548640" y="5573649"/>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45947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Anche gli n bit bassi di un prodotto sono corretti, quali che siano i segni</a:t>
            </a:r>
            <a:endParaRPr lang="en-US" sz="2300" dirty="0"/>
          </a:p>
        </p:txBody>
      </p:sp>
      <p:sp>
        <p:nvSpPr>
          <p:cNvPr id="24" name="Shape 22"/>
          <p:cNvSpPr/>
          <p:nvPr/>
        </p:nvSpPr>
        <p:spPr>
          <a:xfrm>
            <a:off x="7920304" y="91440"/>
            <a:ext cx="3722751" cy="274320"/>
          </a:xfrm>
          <a:prstGeom prst="rect">
            <a:avLst/>
          </a:prstGeom>
          <a:solidFill>
            <a:srgbClr val="E0F2FE"/>
          </a:solidFill>
          <a:ln w="12700">
            <a:solidFill>
              <a:srgbClr val="0369A1"/>
            </a:solidFill>
            <a:prstDash val="solid"/>
          </a:ln>
        </p:spPr>
      </p:sp>
      <p:sp>
        <p:nvSpPr>
          <p:cNvPr id="25" name="Shape 23"/>
          <p:cNvSpPr/>
          <p:nvPr/>
        </p:nvSpPr>
        <p:spPr>
          <a:xfrm>
            <a:off x="7920304"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27" name="Text 2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complemento a due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Rilevare l'overflow</a:t>
            </a:r>
            <a:endParaRPr lang="en-US" sz="3200" dirty="0"/>
          </a:p>
        </p:txBody>
      </p:sp>
      <p:sp>
        <p:nvSpPr>
          <p:cNvPr id="3" name="Shape 1"/>
          <p:cNvSpPr/>
          <p:nvPr/>
        </p:nvSpPr>
        <p:spPr>
          <a:xfrm>
            <a:off x="548640" y="1463040"/>
            <a:ext cx="536432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4998568" cy="320040"/>
          </a:xfrm>
          <a:prstGeom prst="rect">
            <a:avLst/>
          </a:prstGeom>
          <a:noFill/>
          <a:ln/>
        </p:spPr>
        <p:txBody>
          <a:bodyPr wrap="square" lIns="0" tIns="0" rIns="0" bIns="0" rtlCol="0" anchor="t"/>
          <a:lstStyle/>
          <a:p>
            <a:pPr indent="0" marL="0">
              <a:buNone/>
            </a:pPr>
            <a:r>
              <a:rPr lang="en-US" sz="1400" b="1" dirty="0">
                <a:solidFill>
                  <a:srgbClr val="6B4FA0"/>
                </a:solidFill>
                <a:latin typeface="Calibri" pitchFamily="34" charset="0"/>
                <a:ea typeface="Calibri" pitchFamily="34" charset="-122"/>
                <a:cs typeface="Calibri" pitchFamily="34" charset="-120"/>
              </a:rPr>
              <a:t>Senza segno, 8 bit</a:t>
            </a:r>
            <a:endParaRPr lang="en-US" sz="1400" dirty="0"/>
          </a:p>
        </p:txBody>
      </p:sp>
      <p:sp>
        <p:nvSpPr>
          <p:cNvPr id="5" name="Text 3"/>
          <p:cNvSpPr txBox="1"/>
          <p:nvPr/>
        </p:nvSpPr>
        <p:spPr>
          <a:xfrm>
            <a:off x="731520"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130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258</a:t>
            </a:r>
            <a:endParaRPr lang="en-US" sz="1600" dirty="0"/>
          </a:p>
        </p:txBody>
      </p:sp>
      <p:sp>
        <p:nvSpPr>
          <p:cNvPr id="6" name="Text 4"/>
          <p:cNvSpPr txBox="1"/>
          <p:nvPr/>
        </p:nvSpPr>
        <p:spPr>
          <a:xfrm>
            <a:off x="2694371"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1000 0000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1 0000 0010</a:t>
            </a:r>
            <a:endParaRPr lang="en-US" sz="1600" dirty="0"/>
          </a:p>
        </p:txBody>
      </p:sp>
      <p:sp>
        <p:nvSpPr>
          <p:cNvPr id="7" name="Text 5"/>
          <p:cNvSpPr txBox="1"/>
          <p:nvPr/>
        </p:nvSpPr>
        <p:spPr>
          <a:xfrm>
            <a:off x="731520" y="3044952"/>
            <a:ext cx="4998568" cy="411480"/>
          </a:xfrm>
          <a:prstGeom prst="rect">
            <a:avLst/>
          </a:prstGeom>
          <a:noFill/>
          <a:ln/>
        </p:spPr>
        <p:txBody>
          <a:bodyPr wrap="square" lIns="0" tIns="0" rIns="0" bIns="0" rtlCol="0" anchor="ctr"/>
          <a:lstStyle/>
          <a:p>
            <a:pPr indent="0" marL="0">
              <a:buNone/>
            </a:pPr>
            <a:r>
              <a:rPr lang="en-US" sz="1250" i="1" dirty="0">
                <a:solidFill>
                  <a:srgbClr val="6B4FA0"/>
                </a:solidFill>
                <a:latin typeface="Calibri" pitchFamily="34" charset="0"/>
                <a:ea typeface="Calibri" pitchFamily="34" charset="-122"/>
                <a:cs typeface="Calibri" pitchFamily="34" charset="-120"/>
              </a:rPr>
              <a:t>riporto uscente: il registro contiene 2, la somma modulo 256</a:t>
            </a:r>
            <a:endParaRPr lang="en-US" sz="1250" dirty="0"/>
          </a:p>
        </p:txBody>
      </p:sp>
      <p:sp>
        <p:nvSpPr>
          <p:cNvPr id="8" name="Shape 6"/>
          <p:cNvSpPr/>
          <p:nvPr/>
        </p:nvSpPr>
        <p:spPr>
          <a:xfrm>
            <a:off x="6278728" y="1463040"/>
            <a:ext cx="536432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6461608" y="1554480"/>
            <a:ext cx="499856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Con segno, 8 bit</a:t>
            </a:r>
            <a:endParaRPr lang="en-US" sz="1400" dirty="0"/>
          </a:p>
        </p:txBody>
      </p:sp>
      <p:sp>
        <p:nvSpPr>
          <p:cNvPr id="10" name="Text 8"/>
          <p:cNvSpPr txBox="1"/>
          <p:nvPr/>
        </p:nvSpPr>
        <p:spPr>
          <a:xfrm>
            <a:off x="6461608"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254</a:t>
            </a:r>
            <a:endParaRPr lang="en-US" sz="1600" dirty="0"/>
          </a:p>
        </p:txBody>
      </p:sp>
      <p:sp>
        <p:nvSpPr>
          <p:cNvPr id="11" name="Text 9"/>
          <p:cNvSpPr txBox="1"/>
          <p:nvPr/>
        </p:nvSpPr>
        <p:spPr>
          <a:xfrm>
            <a:off x="8424459"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1111 1110</a:t>
            </a:r>
            <a:endParaRPr lang="en-US" sz="1600" dirty="0"/>
          </a:p>
        </p:txBody>
      </p:sp>
      <p:sp>
        <p:nvSpPr>
          <p:cNvPr id="12" name="Text 10"/>
          <p:cNvSpPr txBox="1"/>
          <p:nvPr/>
        </p:nvSpPr>
        <p:spPr>
          <a:xfrm>
            <a:off x="6461608" y="3044952"/>
            <a:ext cx="499856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nessun riporto uscente, ma il risultato si legge -2</a:t>
            </a:r>
            <a:endParaRPr lang="en-US" sz="1250" dirty="0"/>
          </a:p>
        </p:txBody>
      </p:sp>
      <p:sp>
        <p:nvSpPr>
          <p:cNvPr id="13" name="Shape 11"/>
          <p:cNvSpPr/>
          <p:nvPr/>
        </p:nvSpPr>
        <p:spPr>
          <a:xfrm>
            <a:off x="548640" y="3870198"/>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379476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Overflow senza segno: c'è un riporto uscente dal bit più significativo</a:t>
            </a:r>
            <a:endParaRPr lang="en-US" sz="1800" dirty="0"/>
          </a:p>
        </p:txBody>
      </p:sp>
      <p:sp>
        <p:nvSpPr>
          <p:cNvPr id="15" name="Shape 13"/>
          <p:cNvSpPr/>
          <p:nvPr/>
        </p:nvSpPr>
        <p:spPr>
          <a:xfrm>
            <a:off x="548640" y="4297426"/>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4221988"/>
            <a:ext cx="10710367" cy="81686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Overflow con segno in complemento a due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due operandi positivi danno una somma negativa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due operandi negativi danno una somma positiva</a:t>
            </a:r>
            <a:endParaRPr lang="en-US" sz="1800" dirty="0"/>
          </a:p>
        </p:txBody>
      </p:sp>
      <p:sp>
        <p:nvSpPr>
          <p:cNvPr id="17" name="Shape 15"/>
          <p:cNvSpPr/>
          <p:nvPr/>
        </p:nvSpPr>
        <p:spPr>
          <a:xfrm>
            <a:off x="548640" y="5262626"/>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518718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somma di due numeri di segno opposto non può mai dare overflow</a:t>
            </a:r>
            <a:endParaRPr lang="en-US" sz="1800" dirty="0"/>
          </a:p>
        </p:txBody>
      </p:sp>
      <p:sp>
        <p:nvSpPr>
          <p:cNvPr id="19" name="Shape 17"/>
          <p:cNvSpPr/>
          <p:nvPr/>
        </p:nvSpPr>
        <p:spPr>
          <a:xfrm>
            <a:off x="548640" y="5689854"/>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6144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due condizioni sono indipendenti: la stessa somma può farne scattare una, entrambe o nessuna</a:t>
            </a:r>
            <a:endParaRPr lang="en-US" sz="1800" dirty="0"/>
          </a:p>
        </p:txBody>
      </p:sp>
      <p:sp>
        <p:nvSpPr>
          <p:cNvPr id="21" name="Shape 19"/>
          <p:cNvSpPr/>
          <p:nvPr/>
        </p:nvSpPr>
        <p:spPr>
          <a:xfrm>
            <a:off x="7920304" y="91440"/>
            <a:ext cx="3722751" cy="274320"/>
          </a:xfrm>
          <a:prstGeom prst="rect">
            <a:avLst/>
          </a:prstGeom>
          <a:solidFill>
            <a:srgbClr val="E0F2FE"/>
          </a:solidFill>
          <a:ln w="12700">
            <a:solidFill>
              <a:srgbClr val="0369A1"/>
            </a:solidFill>
            <a:prstDash val="solid"/>
          </a:ln>
        </p:spPr>
      </p:sp>
      <p:sp>
        <p:nvSpPr>
          <p:cNvPr id="22" name="Shape 20"/>
          <p:cNvSpPr/>
          <p:nvPr/>
        </p:nvSpPr>
        <p:spPr>
          <a:xfrm>
            <a:off x="7920304" y="91440"/>
            <a:ext cx="73152" cy="274320"/>
          </a:xfrm>
          <a:prstGeom prst="rect">
            <a:avLst/>
          </a:prstGeom>
          <a:solidFill>
            <a:srgbClr val="0369A1"/>
          </a:solidFill>
          <a:ln w="12700">
            <a:solidFill>
              <a:srgbClr val="0369A1"/>
            </a:solidFill>
            <a:prstDash val="solid"/>
          </a:ln>
        </p:spPr>
      </p:sp>
      <p:pic>
        <p:nvPicPr>
          <p:cNvPr id="23"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24" name="Text 21"/>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complemento a due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Estensione del segno: lo stesso numero su più bit</a:t>
            </a:r>
            <a:endParaRPr lang="en-US" sz="3200" dirty="0"/>
          </a:p>
        </p:txBody>
      </p:sp>
      <p:sp>
        <p:nvSpPr>
          <p:cNvPr id="3" name="Text 1"/>
          <p:cNvSpPr txBox="1"/>
          <p:nvPr/>
        </p:nvSpPr>
        <p:spPr>
          <a:xfrm>
            <a:off x="548640" y="155448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su 4 bit</a:t>
            </a:r>
            <a:endParaRPr lang="en-US" sz="1600" dirty="0"/>
          </a:p>
        </p:txBody>
      </p:sp>
      <p:sp>
        <p:nvSpPr>
          <p:cNvPr id="4" name="Text 2"/>
          <p:cNvSpPr txBox="1"/>
          <p:nvPr/>
        </p:nvSpPr>
        <p:spPr>
          <a:xfrm>
            <a:off x="4206240" y="155448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5" name="Text 3"/>
          <p:cNvSpPr txBox="1"/>
          <p:nvPr/>
        </p:nvSpPr>
        <p:spPr>
          <a:xfrm>
            <a:off x="5303520" y="155448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6" name="Text 4"/>
          <p:cNvSpPr txBox="1"/>
          <p:nvPr/>
        </p:nvSpPr>
        <p:spPr>
          <a:xfrm>
            <a:off x="548640" y="233172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su 8 bit</a:t>
            </a:r>
            <a:endParaRPr lang="en-US" sz="1600" dirty="0"/>
          </a:p>
        </p:txBody>
      </p:sp>
      <p:sp>
        <p:nvSpPr>
          <p:cNvPr id="7" name="Text 5"/>
          <p:cNvSpPr txBox="1"/>
          <p:nvPr/>
        </p:nvSpPr>
        <p:spPr>
          <a:xfrm>
            <a:off x="4206240" y="2331720"/>
            <a:ext cx="868680"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8" name="Text 6"/>
          <p:cNvSpPr txBox="1"/>
          <p:nvPr/>
        </p:nvSpPr>
        <p:spPr>
          <a:xfrm>
            <a:off x="5074920" y="233172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9" name="Text 7"/>
          <p:cNvSpPr txBox="1"/>
          <p:nvPr/>
        </p:nvSpPr>
        <p:spPr>
          <a:xfrm>
            <a:off x="6172200" y="233172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10" name="Text 8"/>
          <p:cNvSpPr txBox="1"/>
          <p:nvPr/>
        </p:nvSpPr>
        <p:spPr>
          <a:xfrm>
            <a:off x="548640" y="310896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su 4 bit</a:t>
            </a:r>
            <a:endParaRPr lang="en-US" sz="1600" dirty="0"/>
          </a:p>
        </p:txBody>
      </p:sp>
      <p:sp>
        <p:nvSpPr>
          <p:cNvPr id="11" name="Text 9"/>
          <p:cNvSpPr txBox="1"/>
          <p:nvPr/>
        </p:nvSpPr>
        <p:spPr>
          <a:xfrm>
            <a:off x="4206240" y="310896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2" name="Text 10"/>
          <p:cNvSpPr txBox="1"/>
          <p:nvPr/>
        </p:nvSpPr>
        <p:spPr>
          <a:xfrm>
            <a:off x="5303520" y="310896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3" name="Text 11"/>
          <p:cNvSpPr txBox="1"/>
          <p:nvPr/>
        </p:nvSpPr>
        <p:spPr>
          <a:xfrm>
            <a:off x="548640" y="388620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su 8 bit</a:t>
            </a:r>
            <a:endParaRPr lang="en-US" sz="1600" dirty="0"/>
          </a:p>
        </p:txBody>
      </p:sp>
      <p:sp>
        <p:nvSpPr>
          <p:cNvPr id="14" name="Text 12"/>
          <p:cNvSpPr txBox="1"/>
          <p:nvPr/>
        </p:nvSpPr>
        <p:spPr>
          <a:xfrm>
            <a:off x="4206240" y="3886200"/>
            <a:ext cx="868680" cy="566928"/>
          </a:xfrm>
          <a:prstGeom prst="rect">
            <a:avLst/>
          </a:prstGeom>
          <a:solidFill>
            <a:srgbClr val="2E4A62"/>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a:t>
            </a:r>
            <a:endParaRPr lang="en-US" sz="1700" dirty="0"/>
          </a:p>
        </p:txBody>
      </p:sp>
      <p:sp>
        <p:nvSpPr>
          <p:cNvPr id="15" name="Text 13"/>
          <p:cNvSpPr txBox="1"/>
          <p:nvPr/>
        </p:nvSpPr>
        <p:spPr>
          <a:xfrm>
            <a:off x="5074920" y="388620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6" name="Text 14"/>
          <p:cNvSpPr txBox="1"/>
          <p:nvPr/>
        </p:nvSpPr>
        <p:spPr>
          <a:xfrm>
            <a:off x="6172200" y="388620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7" name="Shape 15"/>
          <p:cNvSpPr/>
          <p:nvPr/>
        </p:nvSpPr>
        <p:spPr>
          <a:xfrm>
            <a:off x="548640" y="4669917"/>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4617720"/>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Per allargare un numero in complemento a due si copia il suo bit di segno in tutte le nuove posizioni a sinistra</a:t>
            </a:r>
            <a:endParaRPr lang="en-US" sz="1500" dirty="0"/>
          </a:p>
        </p:txBody>
      </p:sp>
      <p:sp>
        <p:nvSpPr>
          <p:cNvPr id="19" name="Shape 17"/>
          <p:cNvSpPr/>
          <p:nvPr/>
        </p:nvSpPr>
        <p:spPr>
          <a:xfrm>
            <a:off x="548640" y="5330952"/>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278755"/>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addi t2, t2, -1 memorizza -1 in dodici bit; il processore ne estende il segno a trentadue prima di sommare</a:t>
            </a:r>
            <a:endParaRPr lang="en-US" sz="1500" dirty="0"/>
          </a:p>
        </p:txBody>
      </p:sp>
      <p:sp>
        <p:nvSpPr>
          <p:cNvPr id="21" name="Shape 19"/>
          <p:cNvSpPr/>
          <p:nvPr/>
        </p:nvSpPr>
        <p:spPr>
          <a:xfrm>
            <a:off x="548640" y="5991987"/>
            <a:ext cx="146304" cy="146304"/>
          </a:xfrm>
          <a:prstGeom prst="rect">
            <a:avLst/>
          </a:prstGeom>
          <a:solidFill>
            <a:srgbClr val="0E7C86"/>
          </a:solidFill>
          <a:ln w="12700">
            <a:solidFill>
              <a:srgbClr val="0E7C86"/>
            </a:solidFill>
            <a:prstDash val="solid"/>
          </a:ln>
        </p:spPr>
      </p:sp>
      <p:sp>
        <p:nvSpPr>
          <p:cNvPr id="22" name="Text 20"/>
          <p:cNvSpPr txBox="1"/>
          <p:nvPr/>
        </p:nvSpPr>
        <p:spPr>
          <a:xfrm>
            <a:off x="932688" y="5939790"/>
            <a:ext cx="10710367" cy="23241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lb estende il segno del byte che carica; lbu riempie di zeri: si sceglie in base a ciò che il byte significa</a:t>
            </a:r>
            <a:endParaRPr lang="en-US" sz="1500" dirty="0"/>
          </a:p>
        </p:txBody>
      </p:sp>
      <p:sp>
        <p:nvSpPr>
          <p:cNvPr id="23" name="Shape 21"/>
          <p:cNvSpPr/>
          <p:nvPr/>
        </p:nvSpPr>
        <p:spPr>
          <a:xfrm>
            <a:off x="7788986" y="91440"/>
            <a:ext cx="3854069" cy="274320"/>
          </a:xfrm>
          <a:prstGeom prst="rect">
            <a:avLst/>
          </a:prstGeom>
          <a:solidFill>
            <a:srgbClr val="E0F2FE"/>
          </a:solidFill>
          <a:ln w="12700">
            <a:solidFill>
              <a:srgbClr val="0369A1"/>
            </a:solidFill>
            <a:prstDash val="solid"/>
          </a:ln>
        </p:spPr>
      </p:sp>
      <p:sp>
        <p:nvSpPr>
          <p:cNvPr id="24" name="Shape 22"/>
          <p:cNvSpPr/>
          <p:nvPr/>
        </p:nvSpPr>
        <p:spPr>
          <a:xfrm>
            <a:off x="7788986"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7917002" y="128016"/>
            <a:ext cx="201168" cy="201168"/>
          </a:xfrm>
          <a:prstGeom prst="rect">
            <a:avLst/>
          </a:prstGeom>
        </p:spPr>
      </p:pic>
      <p:sp>
        <p:nvSpPr>
          <p:cNvPr id="26" name="Text 23"/>
          <p:cNvSpPr txBox="1"/>
          <p:nvPr/>
        </p:nvSpPr>
        <p:spPr>
          <a:xfrm>
            <a:off x="8173034" y="91440"/>
            <a:ext cx="343344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l'estensione del segno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numero rappresenta in complemento a due la configurazione di 8 bit 1111 1100?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-124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Su 8 bit, quale somma produce un overflow con segno?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contiene 0xFFFFFFFF e t1 contiene 1. Dopo slt t2, t0, t1 e sltu t3, t0, t1:</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1</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Come si scrive 0,625 in binario?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0,101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0,110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0,625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0,011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946954"/>
                <a:gridCol w="2426903"/>
                <a:gridCol w="2946954"/>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base (radix)</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two's 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a due (alla 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natural number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naturale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and magnitude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segno e modulo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signed integer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relativo (intero con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 (traboccamento)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most significant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bit più significativo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carry / borrow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riporto / prestito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remainder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extension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estensione del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scorrimento (shift)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clamp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limitare a un intervallo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Ogni base ha i suoi vantaggi: la base 2 per i circuiti, la base 16 per le persone che leggono i bit</a:t>
            </a:r>
            <a:endParaRPr lang="en-US" sz="1900" dirty="0"/>
          </a:p>
        </p:txBody>
      </p:sp>
      <p:sp>
        <p:nvSpPr>
          <p:cNvPr id="5" name="Shape 3"/>
          <p:cNvSpPr/>
          <p:nvPr/>
        </p:nvSpPr>
        <p:spPr>
          <a:xfrm>
            <a:off x="548640" y="234896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782"/>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n bit rappresentano 2^n numeri: quali, dipende dalla legge di codifica</a:t>
            </a:r>
            <a:endParaRPr lang="en-US" sz="1900" dirty="0"/>
          </a:p>
        </p:txBody>
      </p:sp>
      <p:sp>
        <p:nvSpPr>
          <p:cNvPr id="7" name="Shape 5"/>
          <p:cNvSpPr/>
          <p:nvPr/>
        </p:nvSpPr>
        <p:spPr>
          <a:xfrm>
            <a:off x="548640" y="290304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1985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Il complemento a due trasforma la sottrazione in addizione: un addizionatore fa tutto</a:t>
            </a:r>
            <a:endParaRPr lang="en-US" sz="1900" dirty="0"/>
          </a:p>
        </p:txBody>
      </p:sp>
      <p:sp>
        <p:nvSpPr>
          <p:cNvPr id="9" name="Shape 7"/>
          <p:cNvSpPr/>
          <p:nvPr/>
        </p:nvSpPr>
        <p:spPr>
          <a:xfrm>
            <a:off x="548640" y="34571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7393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L'overflow è il prezzo dei registri finiti: lo si rileva, oppure lo si esclude per progetto</a:t>
            </a:r>
            <a:endParaRPr lang="en-US" sz="1900" dirty="0"/>
          </a:p>
        </p:txBody>
      </p:sp>
      <p:sp>
        <p:nvSpPr>
          <p:cNvPr id="11" name="Shape 9"/>
          <p:cNvSpPr/>
          <p:nvPr/>
        </p:nvSpPr>
        <p:spPr>
          <a:xfrm>
            <a:off x="548640" y="430557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22239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RISC-V i bit non hanno tipo: è l'istruzione a scegliere tra con segno e senza segno</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Letture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Struttura e progetto dei calcolatori, edizione RISC-V, paragrafi 2.4 e 3.1-3.2</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capitolo 6: State and Input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i capitoli sui sistemi di numerazione e sull'aritmetica del calcolatore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Rappresentazione dei numeri: gli interi</dc:title>
  <dc:subject>Lezione 05</dc:subject>
  <dc:creator>Raffaele Montella</dc:creator>
  <cp:lastModifiedBy>Raffaele Montella</cp:lastModifiedBy>
  <cp:revision>1</cp:revision>
  <dcterms:created xsi:type="dcterms:W3CDTF">2026-10-16T16:46:57Z</dcterms:created>
  <dcterms:modified xsi:type="dcterms:W3CDTF">2026-10-16T16:46:57Z</dcterms:modified>
</cp:coreProperties>
</file>