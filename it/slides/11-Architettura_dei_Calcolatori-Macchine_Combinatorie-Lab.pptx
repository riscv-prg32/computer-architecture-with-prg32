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4836a441-51a0-e12a-b32d-7588c2e13801}">
          <p14:sldIdLst>
            <p14:sldId id="256"/>
            <p14:sldId id="257"/>
          </p14:sldIdLst>
        </p14:section>
        <p14:section name="Riscaldamento sulla macchina" id="{1e09ec9f-e36e-2270-1e7b-90db197defbd}">
          <p14:sldIdLst>
            <p14:sldId id="258"/>
          </p14:sldIdLst>
        </p14:section>
        <p14:section name="Decodificatori e codificatori" id="{58259bd9-1e23-2d41-3f3f-f78570897c19}">
          <p14:sldIdLst>
            <p14:sldId id="259"/>
          </p14:sldIdLst>
        </p14:section>
        <p14:section name="Multiplexer e demultiplexer" id="{d17ef533-b501-f762-0762-56e810685219}">
          <p14:sldIdLst>
            <p14:sldId id="260"/>
          </p14:sldIdLst>
        </p14:section>
        <p14:section name="Confrontare e controllare" id="{ab0a81c3-a29b-b025-8022-3eecb7428808}">
          <p14:sldIdLst>
            <p14:sldId id="261"/>
          </p14:sldIdLst>
        </p14:section>
        <p14:section name="L'unità aritmetico-logica" id="{1a5569d2-6026-366d-e823-0a93f25e5e39}">
          <p14:sldIdLst>
            <p14:sldId id="262"/>
          </p14:sldIdLst>
        </p14:section>
        <p14:section name="Il programma completo" id="{e441ae35-0c4e-9051-aab2-c28813f1c239}">
          <p14:sldIdLst>
            <p14:sldId id="263"/>
            <p14:sldId id="264"/>
            <p14:sldId id="265"/>
          </p14:sldIdLst>
        </p14:section>
        <p14:section name="Eseguire e provare" id="{cf85a1a1-08b5-1c96-57f7-5ed658176ee6}">
          <p14:sldIdLst>
            <p14:sldId id="266"/>
            <p14:sldId id="267"/>
            <p14:sldId id="268"/>
            <p14:sldId id="269"/>
            <p14:sldId id="270"/>
          </p14:sldIdLst>
        </p14:section>
        <p14:section name="Esercizi" id="{f902277c-f945-5d6e-a1d5-6731cc64f174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11. Mentre la presentazione della lezione sviluppa i concetti, questa raccoglie tutto ciò che si scrive e si esegue: ogni listato con il suo commento, il programma completo della lezione, il risultato che deve produrre, e la procedura per provarlo su ciascuno dei tre host. Le due presentazioni vanno lette insieme: i concetti spiegano il codice, e il codice dà ai concetti una conseguenza osservabile.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i multiplexer; le reti combinatorie; i codici; decoder ed encoder; comparatori e parità; l'ALU. DA UTILIZZARE OGGI: il programma completo, gli strumenti di PRG32 (si usa, non si studia, in questo corso). DA COMPRENDERE PIÙ AVANTI: macchine a stati finiti (Lezione 13).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della presentazione, nell'ordine delle slide. Il programma della lezione è un file sorgente completo, che si può compilare ed eseguire così com'è. Il percorso consigliato è eseguirlo per primo, osservarne il comportamento, e poi tornare ai singoli listati per capire come ciascuna parte contribuisce a quel comportamento. Il programma di questa lezione è ~/arc12/code/l11.S;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~/arc12/code/l11.S;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riscaldamento. a0 contiene un selettore da 0 a 3, e le quattro istruzioni sono l'accesso a un array della Lezione 04: si carica l'indirizzo della tabella, si moltiplica il selettore per 4, si somma, e si carica la parola selezionata. Lo stesso selettore dà sempre lo stesso colore, e nulla persiste da un uso al successivo. Questo comportamento, uscite determinate solo dagli ingressi presenti, definisce le macchine studiate oggi. In hardware questa macchina particolare è un multiplexer: quattro ingressi di dato, due bit di selezione, un'uscita. Il software impiega quattro istruzioni; l'hardware risponde in una frazione di nanosecondo.
DA COMPRENDERE OGGI: i multiplexer.
Per il docente: L'accesso al vettore della Lezione 04, letto come circuito. Nel processore la selezione è fatta da porte in molto meno di un nanosecondo; qui richiede quattro istruzioni.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decoder al lavoro nel processore. L'istruzione addi t1, t1, 1 contiene un campo di 5 bit, rd, con il numero del registro destinazione: 00110, cioè 6, il registro t1. Un decoder da 5 a 32 trasforma quei cinque bit in trentadue linee di abilitazione alla scrittura, di cui è attiva solo la sesta, così che solo quel registro riceva il risultato. La stessa istruzione contiene altri due numeri di registro, che selezionano i registri da leggere per mezzo di multiplexer.
DA COMPRENDERE OGGI: decoder ed encoder.
Per il docente: L'istruzione della Lezione 02. I campi grigi non sono coinvolti. L'abilitazione alla scrittura di x0 semplicemente non è collegata: x0 si legge sempre zero. La lettura usa multiplexer, mostrati tra qualche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multiplexer al lavoro nel processore. add t2, t0, t1 somma due registri; addi t2, t0, 5 somma un registro e una costante presa dall'istruzione. Entrambe usano lo stesso sommatore. Un multiplexer davanti al secondo ingresso della ALU sceglie tra il valore di un registro e la costante, con la linea di selezione a 0 per add e a 1 per addi. È un multiplexer su parole intere, trentadue multiplexer a un bit che condividono la linea di selezione. Anche leggere un registro dal banco dei registri è un multiplexer, con il numero del registro come selettore.
DA COMPRENDERE OGGI: i multiplexer.
Per il docente: Nel datapath del libro di Patterson e Hennessy il segnale di selezione si chiama ALUSrc. Una porta applicata a ogni bit di una parola con un controllo comune è una porta di parola.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rete di parità in software, per un byte. Ogni coppia di istruzioni fa scorrere il valore a destra e lo combina con sé stesso con XOR: la prima piega riduce otto bit a quattro, la seconda quattro a due, la terza due a uno. L'ultima istruzione conserva solo il bit più basso, che è la parità. In hardware gli stessi tre livelli costituiscono un albero di sette porte XOR, la cui profondità, logaritmica nel numero dei bit, ne determina il ritardo. Il listato va seguito a mano con 0x53, che ha quattro 1, e con 0x13, che ne ha tre.
DA COMPRENDERE OGGI: comparatori e parità.
Per il docente: Scritto per questa lezione. Tracciarlo con 0x53 = 0101 0011 (quattro 1, risultato 0) e con 0x13 = 0001 0011 (tre 1, risultato 1). In hardware i tre livelli sono un albero di sette porte XOR.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un'istruzione sceglie l'operazione. Il campo di 3 bit funct3 dell'istruzione è un codice compatto: 000 per somma o differenza, 001 per scorrimento a sinistra, 100 per XOR, 110 per OR, 111 per AND. Un piccolo decoder lo trasforma nelle linee di selezione del multiplexer della ALU. Dove due istruzioni condividono un codice, come add e sub, un bit aggiuntivo altrove nell'istruzione le distingue. Un codice, un decoder, un multiplexer: l'intera lezione compare in una sola tabella, incorporata nel processore.
DA COMPRENDERE OGGI: l'ALU.
Per il docente: funct3 è il campo di 3 bit dell'istruzione visto nella Lezione 02 (bit da 14 a 12). Tre bit, otto parole codice: un codice compatto che un piccolo decodificatore trasforma nelle linee di selezione del multiplexer della ALU.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code/l11.S,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code/l11.S,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code/l11.S,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atteso del programma, e l'ingresso che richiede. Il risultato va previsto prima di eseguire: ogni differenza tra la previsione e lo schermo è un'informazione sul proprio modello della macchina, e conviene spiegarla prima di correggerla. L'immagine è stata prodotta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diretta: PRG32-QT sul proprio computer, in quattro passi, ciascuno con il suo comando. Per gli strumenti PRG32-QT si presenta come una scheda in ascolto sulla porta 8080, ed è per questo che il comando di caricamento nomina l'esp32c6. Con la modalità debug attiva si può fermare l'esecuzione su qualsiasi istruzione e ispezionare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 e caricata mentre QEMU non è in esecuzione. Il firmware si avvia sul menu Setup, da cui si scelgono Run Cartridge e lo slot. La tastiera è letta dal terminale da cui QEMU è stato avviato, non dalla finestra che mostra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 fisico. Il firmware si scrive una volta, via USB; da quel momento le cartucce viaggiano sul Wi-Fi con lo stesso comando di caricamento usato per PRG32-QT, indirizzato alla scheda. È l'unico host non esercitato dai test automatici, quindi le osservazioni fatte sulla scheda sono particolarmente preziose e vanno riferite.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frequenti, il loro significato e il rimedio. Il messaggio di errore va letto per intero prima di cambiare qualsiasi cosa: quasi sempre nomina la causa. Quando si chiede aiuto, vanno riportati alla lettera il comando e il messaggio completo.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Sintetizzare il segmento g con una mappa di Karnaugh, sfruttando le condizioni di indifferenza. Costruire un decoder da 3 a 8 con due decoder da 2 a 4 dotati di enable e un invertitore. Realizzare una funzione con un solo multiplexer ponendo la sua tavola di verità sugli ingressi di dato, e riconoscere la funzione. Scrivere un comparatore in assembly usando solo xor e sltiu. E disegnare una cifra a sette segmenti su PRG32: una tabella di dieci byte, uno per cifra, e sette rettangoli accesi verificandone i bit, che è un transcodificatore realizzato in software.
Per il docente: Esercizio 3: si mettono 0, 1, 1, 0, 1, 0, 0, 1 sugli ingressi dati: è lo XOR a tre ingressi, il bit di somma del sommatore completo. Esercizio 4: xor a0, a0, a1 e poi sltiu a0, a0, 1 (la pseudo-istruzione seqz). L'esercizio 5 è un transcodificatore software seguito da sette test di bit: la tabella è la tabella di verità di questa lezione, una riga per byte.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11: Macchine combinatorie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Macchine combinatorie: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11-Architettura_dei_Calcolatori-Macchine_Combinatorie.pptx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game_break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095" y="4251960"/>
            <a:ext cx="2438400" cy="1828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2 listati della Lezione 11,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code/l11.S, 50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Scegliere uno di quattro colori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selector, 0 to 3      result: a4 = the selected colour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palette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four words: the data inputs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a0, 2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selector * 4 bytes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the selected word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a4, 0(t0)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selected input reaches the output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red, green, blue, yellow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palette: .word 0xf800, 0x07e0, 0x001f, 0xffe0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selettore dà sempre lo stesso colore: il risultato dipende solo dagli ingressi presenti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 viene ricordato da un uso al successivo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hardware è un multiplexer: quattro ingressi dati, due bit di selezione, un'uscita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processore ne contiene decine. Come sono fatti?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79917" y="91440"/>
            <a:ext cx="326313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991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7933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763965" y="91440"/>
            <a:ext cx="284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multiplexer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Nel processore: quale registro viene scritto?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t1, t1, 1     =     0x00130313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194560"/>
            <a:ext cx="3806308" cy="548640"/>
          </a:xfrm>
          <a:prstGeom prst="rect">
            <a:avLst/>
          </a:prstGeom>
          <a:solidFill>
            <a:srgbClr val="5B6B78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50976" y="1956816"/>
            <a:ext cx="1903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817554" y="1956816"/>
            <a:ext cx="1866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720708" y="2194560"/>
            <a:ext cx="1585962" cy="548640"/>
          </a:xfrm>
          <a:prstGeom prst="rect">
            <a:avLst/>
          </a:prstGeom>
          <a:solidFill>
            <a:srgbClr val="5B6B78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7284" y="1956816"/>
            <a:ext cx="7929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513689" y="1956816"/>
            <a:ext cx="7564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306670" y="2194560"/>
            <a:ext cx="1164317" cy="548640"/>
          </a:xfrm>
          <a:prstGeom prst="rect">
            <a:avLst/>
          </a:prstGeom>
          <a:solidFill>
            <a:srgbClr val="5B6B78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43246" y="1956816"/>
            <a:ext cx="5821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88828" y="1956816"/>
            <a:ext cx="5455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470987" y="2194560"/>
            <a:ext cx="1585962" cy="548640"/>
          </a:xfrm>
          <a:prstGeom prst="rect">
            <a:avLst/>
          </a:prstGeom>
          <a:solidFill>
            <a:srgbClr val="2F7D4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70987" y="2798064"/>
            <a:ext cx="15859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= 6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07563" y="1956816"/>
            <a:ext cx="7929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63968" y="1956816"/>
            <a:ext cx="7564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056949" y="2194560"/>
            <a:ext cx="2220347" cy="548640"/>
          </a:xfrm>
          <a:prstGeom prst="rect">
            <a:avLst/>
          </a:prstGeom>
          <a:solidFill>
            <a:srgbClr val="5B6B78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0010011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93525" y="1956816"/>
            <a:ext cx="11101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167122" y="1956816"/>
            <a:ext cx="10735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33756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decodificatore 5-a-32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63840" y="3081528"/>
            <a:ext cx="0" cy="237744"/>
          </a:xfrm>
          <a:prstGeom prst="line">
            <a:avLst/>
          </a:prstGeom>
          <a:noFill/>
          <a:ln w="28575">
            <a:solidFill>
              <a:srgbClr val="2F7D4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863840" y="3858768"/>
            <a:ext cx="0" cy="466344"/>
          </a:xfrm>
          <a:prstGeom prst="line">
            <a:avLst/>
          </a:prstGeom>
          <a:noFill/>
          <a:ln w="28575">
            <a:solidFill>
              <a:srgbClr val="2F7D4F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48640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95340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5340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242041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242041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588741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588741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935442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935442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282142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282142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x5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2628843" y="4343400"/>
            <a:ext cx="346700" cy="457200"/>
          </a:xfrm>
          <a:prstGeom prst="rect">
            <a:avLst/>
          </a:prstGeom>
          <a:solidFill>
            <a:srgbClr val="2F7D4F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628843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x6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975543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975543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x7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3322244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322244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3668944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668944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x9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015645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015645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x10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4362345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362345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x11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709046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4709046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x12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5055746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055746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x13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5402447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5402447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x14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5749147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5749147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x15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6095848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095848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x16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6442548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6442548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x17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6789249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789249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x18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7135949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7135949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x19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7482650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7482650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x20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7829350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7829350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x21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8176050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8176050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x22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8522751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8522751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x23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8869451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8869451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x24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9216152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9216152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9562852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9562852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x26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9909553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9909553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x27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10256253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10256253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x28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10602954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10602954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x29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10949654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10949654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x30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11296355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11296355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x31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48640" y="527481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32688" y="5230368"/>
            <a:ext cx="10710367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cinque bit di rd sono una parola codice: 32 registri, ceil(log2 32) = 5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548640" y="563727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932688" y="5592826"/>
            <a:ext cx="10710367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decodificatore 5-a-32 ne ricava 32 linee di abilitazione alla scrittura: solo x6, cioè t1, riceve il risultato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548640" y="5999734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932688" y="5955284"/>
            <a:ext cx="10710367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Altre due selezioni, su rs1 e rs2, scelgono i registri da leggere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9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96" name="Text 93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decoder ed encoder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Nel processore: registro o costante?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dei registri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 di rs1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dei registri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 di rs2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immediato dell'istruzione,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segno esteso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3017520"/>
            <a:ext cx="1005840" cy="1874520"/>
          </a:xfrm>
          <a:prstGeom prst="roundRect">
            <a:avLst>
              <a:gd name="adj" fmla="val 5455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91640"/>
            <a:ext cx="1737360" cy="2743200"/>
          </a:xfrm>
          <a:prstGeom prst="roundRect">
            <a:avLst>
              <a:gd name="adj" fmla="val 315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53512" y="2011680"/>
            <a:ext cx="3419856" cy="0"/>
          </a:xfrm>
          <a:prstGeom prst="line">
            <a:avLst/>
          </a:prstGeom>
          <a:noFill/>
          <a:ln w="2857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852160" y="1673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53512" y="3383280"/>
            <a:ext cx="1225296" cy="0"/>
          </a:xfrm>
          <a:prstGeom prst="line">
            <a:avLst/>
          </a:prstGeom>
          <a:noFill/>
          <a:ln w="2857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3794760" y="3044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53512" y="4526280"/>
            <a:ext cx="1225296" cy="0"/>
          </a:xfrm>
          <a:prstGeom prst="line">
            <a:avLst/>
          </a:prstGeom>
          <a:noFill/>
          <a:ln w="2857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794760" y="4187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39512" y="3931920"/>
            <a:ext cx="1133856" cy="0"/>
          </a:xfrm>
          <a:prstGeom prst="line">
            <a:avLst/>
          </a:prstGeom>
          <a:noFill/>
          <a:ln w="2857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852160" y="3593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 flipV="1">
            <a:off x="4709160" y="4919472"/>
            <a:ext cx="0" cy="612648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017520" y="5550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selezione: 0 per add, 1 per addi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65592" y="3063240"/>
            <a:ext cx="704088" cy="0"/>
          </a:xfrm>
          <a:prstGeom prst="line">
            <a:avLst/>
          </a:prstGeom>
          <a:noFill/>
          <a:ln w="2857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822960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52560" y="146951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36608" y="1417320"/>
            <a:ext cx="2206447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t2, t0, t1 e addi t2, t0, 5 usano lo stesso addizionatore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52560" y="2357247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36608" y="2305050"/>
            <a:ext cx="220644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multiplexer davanti alla ALU sceglie il secondo operando: un registro o la costante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052560" y="347738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36608" y="3425190"/>
            <a:ext cx="2206447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un multiplexer su parole: trentadue multiplexer a un bit con una linea di selezione comune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052560" y="4829937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36608" y="4777740"/>
            <a:ext cx="2206447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 leggere un registro è un multiplexer: 32 parole in ingresso, 5 bit di selezione (rs1), una parola in uscita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379917" y="91440"/>
            <a:ext cx="326313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7991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7933" y="128016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763965" y="91440"/>
            <a:ext cx="284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multiplexer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rete di parità in sette istruzioni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one byte        result: a0 = 1 if the number of 1 bits is odd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t0, a0,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a0, a0, t0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fold eight bits onto four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t0, a0,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a0, a0, t0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fold four bits onto two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t0, a0,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a0, a0, t0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fold two bits onto 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a0, a0, 1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the parity bit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xor combina la metà alta dei bit con la metà bassa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06933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0649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livelli per otto bit: la versione software di un albero di porte XOR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2135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85851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valore accodato al byte ne rende pari la parità totale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comparatori e parità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istruzioni RISC-V e la ALU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818757"/>
                <a:gridCol w="1455005"/>
                <a:gridCol w="2728135"/>
                <a:gridCol w="509251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Istruzione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Operazione della ALU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Unità che produce il risultato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add, sub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somma o differenza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addizionatore / sottrattore (sceglie un altro bit, in funct7)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sll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scorrimento a sinistra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slt, sltu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010, 011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pone a 1 se minore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sottrattore, poi le regole di segno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xor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 bit a bit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 XOR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srl, sra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scorrimento a destra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shifter (funct7 sceglie logico o aritmetico)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bit a bit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 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bit a bit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 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funct3 è un codice di 3 bit dentro l'istruzione: decodificandolo si pilota il multiplexer della ALU.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905189" y="91440"/>
            <a:ext cx="2737866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05189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3205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89237" y="91440"/>
            <a:ext cx="23172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l'ALU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l11.S (1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11: Combinational Machines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l11.S: a multiplexer in software: a selector chooses one of four colours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four horizontal bars, red, green, blue and yellow from the top: bar 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 drawn in the colour that the selector k chooses in the table.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l11.S --portable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l11 --name l11 --out l11.prg32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l11_init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l11_update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l11_draw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l11_init: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l11_update: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l11.S (2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l11_draw: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selector, 0 to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a0, s0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selector, 0 to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palette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four words: the data inputs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a0, 2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selector * 4 bytes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the selected word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a4, 0(t0)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selected input reaches the output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a1, s0,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a1, a1, 20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20 + 32 * selector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200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s0, t0, bars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l11.S (3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red, green, blue, yellow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palette: .word 0xf800, 0x07e0, 0x001f, 0xffe0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quattro barre orizzontali, rossa, verde, blu e gialla dall'alto: la barra k è disegnata nel colore che il selettore k sceglie nella tabella.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924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767328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l11 --name l11 --out l11.prg32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l11.prg32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l11 --name l11 --architecture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l11-qemu.prg32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l11 --name l11 --architecture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l11-esp32c6.prg32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l11-esp32c6.prg32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l11;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Sintetizzate con una mappa di Karnaugh il segmento g del transcodificatore a sette segmenti, usando le indifferenze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76272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Costruite un decodificatore 3-a-8 con due decodificatori 2-a-4 con abilitazione e un invertitore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535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93522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Realizzate F = somma di m(1, 2, 4, 7) con un multiplexer a 8 ingressi. Che funzione è?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626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44316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un comparatore in assembly: a0 = 1 se a0 e a1 sono uguali, usando solo xor e sltiu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215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303268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Disegnate su PRG32 una cifra a sette segmenti: una tabella di dieci byte, uno per cifra, e sette rettangoli accesi esaminandone i bit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PRG32: una grande cifra che conta da 0 a 9, un passo al secondo, disegnata con sette rettangoli.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Macchine combinatorie: il codice</dc:title>
  <dc:subject>Lezione 11</dc:subject>
  <dc:creator>Raffaele Montella</dc:creator>
  <cp:lastModifiedBy>Raffaele Montella</cp:lastModifiedBy>
  <cp:revision>1</cp:revision>
  <dcterms:created xsi:type="dcterms:W3CDTF">2026-10-16T23:36:45Z</dcterms:created>
  <dcterms:modified xsi:type="dcterms:W3CDTF">2026-10-16T23:36:45Z</dcterms:modified>
</cp:coreProperties>
</file>