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2df87ccf-9dad-3d0e-38ea-e50876986a76}">
          <p14:sldIdLst>
            <p14:sldId id="256"/>
            <p14:sldId id="257"/>
          </p14:sldIdLst>
        </p14:section>
        <p14:section name="Riscaldamento sulla macchina" id="{5bd0508a-02bb-0a9b-dd30-31d9a78f2e21}">
          <p14:sldIdLst>
            <p14:sldId id="258"/>
          </p14:sldIdLst>
        </p14:section>
        <p14:section name="Numeri naturali e overflow" id="{be235d12-1f88-182d-dc00-0b2216d085d7}">
          <p14:sldIdLst>
            <p14:sldId id="259"/>
          </p14:sldIdLst>
        </p14:section>
        <p14:section name="Interi con segno" id="{f2c5477e-0029-2007-bdf7-20be35133b0f}">
          <p14:sldIdLst>
            <p14:sldId id="260"/>
          </p14:sldIdLst>
        </p14:section>
        <p14:section name="Ritorno alla macchina" id="{72c6e2ec-20f0-68d9-4565-308236e65e79}">
          <p14:sldIdLst>
            <p14:sldId id="261"/>
            <p14:sldId id="262"/>
            <p14:sldId id="263"/>
            <p14:sldId id="264"/>
          </p14:sldIdLst>
        </p14:section>
        <p14:section name="Il programma completo" id="{3684b7b6-2855-da4f-6b23-07ad884ea7f4}">
          <p14:sldIdLst>
            <p14:sldId id="265"/>
            <p14:sldId id="266"/>
            <p14:sldId id="267"/>
            <p14:sldId id="268"/>
            <p14:sldId id="269"/>
          </p14:sldIdLst>
        </p14:section>
        <p14:section name="Eseguire e provare" id="{c380aefa-ef8d-d4f9-d7ed-d6ebe41fd046}">
          <p14:sldIdLst>
            <p14:sldId id="270"/>
            <p14:sldId id="271"/>
            <p14:sldId id="272"/>
            <p14:sldId id="273"/>
            <p14:sldId id="274"/>
          </p14:sldIdLst>
        </p14:section>
        <p14:section name="Esercizi" id="{28f94bad-b02f-6b58-1a67-15fbc256c40e}">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05.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il complemento a due; i cambi di base; naturali e overflow; shift come moltiplicazione; segno e modulo; istruzioni con o senza segno; l'estensione del segno. DA UTILIZZARE OGGI: le chiamate del runtime PRG32, il programma completo, gli strumenti di PRG32 (si usa, non si studia, in questo corso). DA COMPRENDERE PIÙ AVANTI: niente. Una slide senza etichetta è contesto: una storia, un esempio, una domanda, un esercizio.
Percorso. I risultati di oggi: (1) convertire tra basi e leggere una configurazione di n bit come naturale e in complemento a due; (2) riconoscere il trabocco nella somma di naturali e di interi; (3) scegliere tra istruzioni con e senza segno, comprese lb e lbu. Si appoggia su: solo ciò che ha preparato la Lezione 01. Prossimo passo: Lezione 06, Rappresentazione dei numeri: i reali.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questa lezione è ~/arc12/code/l05.S; tools/tests/cartridges/run.py lo compila, lo esegue su PRG32-QT con ingressi programmati e controlla i pixel del frame.
Per il docente: Procurarsi il codice una volta: git clone https://github.com/riscv-prg32/computer-architecture-with-prg32 ~/arc12. Il programma di questa lezione è ~/arc12/code/l05.S;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riscaldamento. Il codice legge i pulsanti, carica marker_x dalla memoria, sottrae 1 se LEFT è premuto e riscrive il risultato: l'idioma carica-modifica-memorizza della Lezione 02. Tenendo premuto LEFT, il valore stampato va da 00000002 a 00000001, a 00000000, e poi a FFFFFFFF. È un errore? FFFFFFFF è il numero 4.294.967.295, o meno uno? Il quarto richiamo anticipa la risposta: entrambi, a seconda di come si interpretano i bit. Il resto della lezione sviluppa le regole che stanno dietro questa frase, e alla sua fine il fenomeno dovrebbe essere pienamente spiegabile.
DA COMPRENDERE OGGI: il complemento a due. DA UTILIZZARE OGGI: le chiamate del runtime PRG32 (si usa, non si studia, in questo corso).
Per il docente: Adattato dal laboratorio 06-asm-state-and-input del libro di PRG32 (step2_move.S) con SPEED 1 e una stampa sulla console. Dove guardare: sulla scheda e in QEMU la console è disegnata sullo schermo, come 0x00000002 ... 0xffffffff; PRG32-QT non disegna la console, la raccoglie nel suo log, come 00000002 ... FFFFFFFF. Eseguirlo dal vivo prima di ogni teoria, e scrivere alla lavagna le ipotesi degli studenti.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proprietà delle stringhe binarie, ciascuna con un uso pratico. Estendere un numero a sinistra con zeri ne lascia invariato il valore. Uno scorrimento a sinistra di k posizioni moltiplica per 2^k: 00101, cinque, diventa 01010, dieci. Uno scorrimento a destra di k posizioni divide per 2^k e scarta il resto. Uno scorrimento costa in hardware molto meno di una moltiplicazione generale, e il codice a destra mostra la scomposizione che i compilatori applicano di routine: dieci per x è uguale a otto per x più due per x, cioè due scorrimenti e una somma. Gli scorrimenti sono anche alla base dell'aritmetica in virgola fissa della Lezione 06.
DA COMPRENDERE OGGI: shift come moltiplicazione.
Per il docente: Nella Lezione 04 avete usato slli t1, t1, 2 per moltiplicare per quattro l'indice di un vettore. Gli scorrimenti sono anche la base dell'aritmetica in virgola fissa (Lezione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metodi cambiano il segno di un numero in complemento a due. Il primo complementa ogni bit e somma 1: sei, 0110, diventa 1001 e poi 1010, meno sei. Il secondo, più rapido a mano, scorre da destra, copia i bit fino al primo 1 compreso e complementa tutti gli altri. La giustificazione del primo metodo è algebrica: il complemento di x vale (2^n - 1) - x, quindi sommando 1 si ottiene 2^n - x, la rappresentazione di -x. RISC-V non ha bisogno di un'istruzione dedicata: neg è una pseudo-istruzione per sub dal registro zero. Resta un'eccezione: il numero più negativo non ha controparte positiva, e cambiarne il segno restituisce la stessa configurazione.
DA COMPRENDERE OGGI: il complemento a due.
Per il docente: Perché il metodo 1 funziona: il complemento di x è (2^n - 1) - x, quindi sommando 1 si ottiene 2^n - x. La slide originale descriveva il metodo 2 «da sinistra»; la regola scorre da destra.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riscaldamento si può ora spiegare per intero. Il segnalino stava a 0, e addi con -1 lo ha fatto arretrare di un passo su un cerchio di 2^32 posizioni, lasciando trentadue uni nel registro. Letti senza segno, indicano 4.294.967.295; letti in complemento a due, -1. La routine di stampa mostra la configurazione e non prende posizione sul suo significato. Il segnalino scompare perché viene disegnato fuori dallo schermo con l'una e con l'altra interpretazione. Il processore non ha sbagliato: al programma mancava una decisione su come interpretare e vincolare il suo valore.
DA COMPRENDERE OGGI: istruzioni con o senza segno.
Per il docente: Non è un bug del processore: è una decisione che manca nel programma. La correzione è nelle prossime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registri RISC-V non hanno tipo: trentadue bit sono con segno o senza segno solo per l'istruzione che li legge. La tabella individua dove le due interpretazioni richiedono istruzioni diverse. Somma, sottrazione e metà bassa di un prodotto sono identiche per entrambe. Confronti, salti condizionati, scorrimenti a destra, caricamenti di byte e divisione vengono in coppia: slt e sltu, blt e bltu, sra e srl, lb e lbu, div e divu. La lettera u nel nome indica sempre la variante senza segno. Scegliere il membro sbagliato di una coppia è un errore classico e istruttivo.
DA COMPRENDERE OGGI: istruzioni con o senza segno.
Per il docente: I registri RISC-V non hanno tipo. Gli stessi 32 bit sono con segno o senza segno solo agli occhi dell'istruzione che li legge.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programma corretto tiene il segnalino sullo schermo. Dopo i due possibili spostamenti, bgez verifica se la posizione è maggiore o uguale a zero, interpretandola come numero con segno, e se non lo è la porta a 0. ble la confronta poi con il massimo, 304, ancora come numero con segno, e la limita di conseguenza. Questa tecnica si chiama clamping. Il metodo merita attenzione: un gioco non rileva l'overflow a posteriori, ma mantiene i suoi valori in un intervallo in cui l'overflow non può verificarsi. Un solo sw alla fine memorizza il valore corretto.
DA COMPRENDERE OGGI: istruzioni con o senza segno.
Per il docente: Sorgente: laboratorio 06-asm-state-and-input del libro di PRG32, step3_clamp.S. Chiedere che cosa accade con bgeu o bltu al loro posto: un bug istruttivo da provare.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Molti processori forniscono un flag di riporto e un flag di overflow; RISC-V non ne fornisce nessuno, e l'overflow si rileva con un confronto. Nel caso senza segno, se dopo add la somma è minore di uno degli operandi, il risultato ha fatto il giro, una condizione che sltu verifica con una sola istruzione. Nel caso con segno, sommare un numero negativo deve diminuire la somma e sommarne uno non negativo no; se i due fatti sono in disaccordo, c'è stato overflow. In termini della ruota dei numeri, il primo test rileva l'attraversamento in alto e il secondo quello in basso. L'assenza di flag è una scelta di progetto deliberata, discussa nella Lezione 18.
DA COMPRENDERE OGGI: istruzioni con o senza segno.
Per il docente: Entrambi gli idiomi sono quelli suggeriti nella specifica RISC-V. Confrontare con la ruota: sltu rileva l'attraversamento in alto, il test con segno quello in basso.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code/l05.S,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code/l05.S,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code/l05.S,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code/l05.S,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code/l05.S,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tre su carta e due sulla macchina. Convertire 2026 e la frazione 0,1; scrivere -100 in due rappresentazioni; calcolare tre somme a otto bit e stabilire quali danno overflow. Poi, nel codice del clamping, sostituire i salti con segno con le loro controparti senza segno e prevedere il comportamento prima di eseguire: l'errore che ne risulta è istruttivo proprio perché prevedibile. Infine scrivere un update che aggiunge 0x10000000 a ogni frame e segnala l'overflow con segno. I risultati attesi sono nel riquadro verde, che va tenuto coperto finché non si sono ottenute le proprie risposte.
Per il docente: 2026 = 3752 ottale. -100: segno e modulo 1110 0100, complemento a due 1001 1100. 90 + 60 = 150 dà overflow; -90 - 60 = -150 dà overflow; 90 - 60 = 30 no. 0,1 = 0,00011001(1001...).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05: Rappresentazione dei numeri (interi)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05</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Rappresentazione dei numeri: gli interi: il codice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05-Architettura_dei_Calcolatori-Rappresentazione_dei_Numeri_Interi.pptx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8910777" y="91440"/>
            <a:ext cx="2732278" cy="274320"/>
          </a:xfrm>
          <a:prstGeom prst="rect">
            <a:avLst/>
          </a:prstGeom>
          <a:solidFill>
            <a:srgbClr val="F3E8FF"/>
          </a:solidFill>
          <a:ln w="12700">
            <a:solidFill>
              <a:srgbClr val="7E22CE"/>
            </a:solidFill>
            <a:prstDash val="dash"/>
          </a:ln>
        </p:spPr>
      </p:sp>
      <p:sp>
        <p:nvSpPr>
          <p:cNvPr id="15" name="Shape 12"/>
          <p:cNvSpPr/>
          <p:nvPr/>
        </p:nvSpPr>
        <p:spPr>
          <a:xfrm>
            <a:off x="8938209" y="128016"/>
            <a:ext cx="45720" cy="45720"/>
          </a:xfrm>
          <a:prstGeom prst="rect">
            <a:avLst/>
          </a:prstGeom>
          <a:solidFill>
            <a:srgbClr val="7E22CE"/>
          </a:solidFill>
          <a:ln w="12700">
            <a:solidFill>
              <a:srgbClr val="7E22CE"/>
            </a:solidFill>
            <a:prstDash val="solid"/>
          </a:ln>
        </p:spPr>
      </p:sp>
      <p:sp>
        <p:nvSpPr>
          <p:cNvPr id="16" name="Shape 13"/>
          <p:cNvSpPr/>
          <p:nvPr/>
        </p:nvSpPr>
        <p:spPr>
          <a:xfrm>
            <a:off x="8938209" y="205740"/>
            <a:ext cx="45720" cy="45720"/>
          </a:xfrm>
          <a:prstGeom prst="rect">
            <a:avLst/>
          </a:prstGeom>
          <a:solidFill>
            <a:srgbClr val="7E22CE"/>
          </a:solidFill>
          <a:ln w="12700">
            <a:solidFill>
              <a:srgbClr val="7E22CE"/>
            </a:solidFill>
            <a:prstDash val="solid"/>
          </a:ln>
        </p:spPr>
      </p:sp>
      <p:sp>
        <p:nvSpPr>
          <p:cNvPr id="17" name="Shape 14"/>
          <p:cNvSpPr/>
          <p:nvPr/>
        </p:nvSpPr>
        <p:spPr>
          <a:xfrm>
            <a:off x="8938209"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19" name="Text 15"/>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0" name="Shape 16"/>
          <p:cNvSpPr/>
          <p:nvPr/>
        </p:nvSpPr>
        <p:spPr>
          <a:xfrm>
            <a:off x="6675069" y="91440"/>
            <a:ext cx="2125980" cy="274320"/>
          </a:xfrm>
          <a:prstGeom prst="rect">
            <a:avLst/>
          </a:prstGeom>
          <a:solidFill>
            <a:srgbClr val="FEF3C7"/>
          </a:solidFill>
          <a:ln w="12700">
            <a:solidFill>
              <a:srgbClr val="B45309"/>
            </a:solidFill>
            <a:prstDash val="solid"/>
          </a:ln>
        </p:spPr>
      </p:sp>
      <p:sp>
        <p:nvSpPr>
          <p:cNvPr id="21" name="Shape 17"/>
          <p:cNvSpPr/>
          <p:nvPr/>
        </p:nvSpPr>
        <p:spPr>
          <a:xfrm>
            <a:off x="6675069" y="91440"/>
            <a:ext cx="27432" cy="274320"/>
          </a:xfrm>
          <a:prstGeom prst="rect">
            <a:avLst/>
          </a:prstGeom>
          <a:solidFill>
            <a:srgbClr val="B45309"/>
          </a:solidFill>
          <a:ln w="12700">
            <a:solidFill>
              <a:srgbClr val="B45309"/>
            </a:solidFill>
            <a:prstDash val="solid"/>
          </a:ln>
        </p:spPr>
      </p:sp>
      <p:sp>
        <p:nvSpPr>
          <p:cNvPr id="22" name="Shape 18"/>
          <p:cNvSpPr/>
          <p:nvPr/>
        </p:nvSpPr>
        <p:spPr>
          <a:xfrm>
            <a:off x="672993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4" name="Text 19"/>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5" name="Shape 20"/>
          <p:cNvSpPr/>
          <p:nvPr/>
        </p:nvSpPr>
        <p:spPr>
          <a:xfrm>
            <a:off x="4352747" y="91440"/>
            <a:ext cx="2212594" cy="274320"/>
          </a:xfrm>
          <a:prstGeom prst="rect">
            <a:avLst/>
          </a:prstGeom>
          <a:solidFill>
            <a:srgbClr val="E0F2FE"/>
          </a:solidFill>
          <a:ln w="12700">
            <a:solidFill>
              <a:srgbClr val="0369A1"/>
            </a:solidFill>
            <a:prstDash val="solid"/>
          </a:ln>
        </p:spPr>
      </p:sp>
      <p:sp>
        <p:nvSpPr>
          <p:cNvPr id="26" name="Shape 21"/>
          <p:cNvSpPr/>
          <p:nvPr/>
        </p:nvSpPr>
        <p:spPr>
          <a:xfrm>
            <a:off x="435274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8" name="Text 22"/>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5 listati della Lezione 05,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code/l05.S, 93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Tenete premuto LEFT e guardate il numero</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steer_update: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500" dirty="0">
                <a:solidFill>
                  <a:srgbClr val="8FB3A0"/>
                </a:solidFill>
                <a:latin typeface="Courier New" pitchFamily="34" charset="0"/>
                <a:ea typeface="Courier New" pitchFamily="34" charset="-122"/>
                <a:cs typeface="Courier New" pitchFamily="34" charset="-120"/>
              </a:rPr>
              <a:t># a0 = button mask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t0, 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t1, marker_x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t2, 0(t1)             </a:t>
            </a:r>
            <a:pPr indent="0" marL="0">
              <a:buNone/>
            </a:pPr>
            <a:r>
              <a:rPr lang="en-US" sz="1500" dirty="0">
                <a:solidFill>
                  <a:srgbClr val="8FB3A0"/>
                </a:solidFill>
                <a:latin typeface="Courier New" pitchFamily="34" charset="0"/>
                <a:ea typeface="Courier New" pitchFamily="34" charset="-122"/>
                <a:cs typeface="Courier New" pitchFamily="34" charset="-120"/>
              </a:rPr>
              <a:t># t2 = marker_x, starts at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t3, t0, BTN_LEFT      </a:t>
            </a:r>
            <a:pPr indent="0" marL="0">
              <a:buNone/>
            </a:pPr>
            <a:r>
              <a:rPr lang="en-US" sz="1500" dirty="0">
                <a:solidFill>
                  <a:srgbClr val="8FB3A0"/>
                </a:solidFill>
                <a:latin typeface="Courier New" pitchFamily="34" charset="0"/>
                <a:ea typeface="Courier New" pitchFamily="34" charset="-122"/>
                <a:cs typeface="Courier New" pitchFamily="34" charset="-120"/>
              </a:rPr>
              <a:t># is LEFT pressed?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1f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t2, t2, -1            </a:t>
            </a:r>
            <a:pPr indent="0" marL="0">
              <a:buNone/>
            </a:pPr>
            <a:r>
              <a:rPr lang="en-US" sz="1500" dirty="0">
                <a:solidFill>
                  <a:srgbClr val="8FB3A0"/>
                </a:solidFill>
                <a:latin typeface="Courier New" pitchFamily="34" charset="0"/>
                <a:ea typeface="Courier New" pitchFamily="34" charset="-122"/>
                <a:cs typeface="Courier New" pitchFamily="34" charset="-120"/>
              </a:rPr>
              <a:t># one step to the left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sw   t2, 0(t1)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draw prints marker_x with prg32_console_hex32</a:t>
            </a:r>
            <a:endParaRPr lang="en-US" sz="15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Tenete premuto LEFT: il valore mostrato fa 00000002, 00000001, 00000000 ...</a:t>
            </a:r>
            <a:endParaRPr lang="en-US" sz="14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 e poi FFFFFFFF. È un bug?</a:t>
            </a:r>
            <a:endParaRPr lang="en-US" sz="14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0xFFFFFFFF è il numero 4.294.967.295 oppure il numero -1?</a:t>
            </a:r>
            <a:endParaRPr lang="en-US" sz="14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Entrambi. Dipende da come si leggono i bit: questa lezione dà le regole</a:t>
            </a:r>
            <a:endParaRPr lang="en-US" sz="1400" dirty="0"/>
          </a:p>
        </p:txBody>
      </p:sp>
      <p:sp>
        <p:nvSpPr>
          <p:cNvPr id="17" name="Shape 15"/>
          <p:cNvSpPr/>
          <p:nvPr/>
        </p:nvSpPr>
        <p:spPr>
          <a:xfrm>
            <a:off x="7415987" y="91440"/>
            <a:ext cx="4227068" cy="274320"/>
          </a:xfrm>
          <a:prstGeom prst="rect">
            <a:avLst/>
          </a:prstGeom>
          <a:solidFill>
            <a:srgbClr val="FEF3C7"/>
          </a:solidFill>
          <a:ln w="12700">
            <a:solidFill>
              <a:srgbClr val="B45309"/>
            </a:solidFill>
            <a:prstDash val="solid"/>
          </a:ln>
        </p:spPr>
      </p:sp>
      <p:sp>
        <p:nvSpPr>
          <p:cNvPr id="18" name="Shape 16"/>
          <p:cNvSpPr/>
          <p:nvPr/>
        </p:nvSpPr>
        <p:spPr>
          <a:xfrm>
            <a:off x="7415987" y="91440"/>
            <a:ext cx="27432" cy="274320"/>
          </a:xfrm>
          <a:prstGeom prst="rect">
            <a:avLst/>
          </a:prstGeom>
          <a:solidFill>
            <a:srgbClr val="B45309"/>
          </a:solidFill>
          <a:ln w="12700">
            <a:solidFill>
              <a:srgbClr val="B45309"/>
            </a:solidFill>
            <a:prstDash val="solid"/>
          </a:ln>
        </p:spPr>
      </p:sp>
      <p:sp>
        <p:nvSpPr>
          <p:cNvPr id="19" name="Shape 17"/>
          <p:cNvSpPr/>
          <p:nvPr/>
        </p:nvSpPr>
        <p:spPr>
          <a:xfrm>
            <a:off x="747085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544003" y="128016"/>
            <a:ext cx="201168" cy="201168"/>
          </a:xfrm>
          <a:prstGeom prst="rect">
            <a:avLst/>
          </a:prstGeom>
        </p:spPr>
      </p:pic>
      <p:sp>
        <p:nvSpPr>
          <p:cNvPr id="21" name="Text 18"/>
          <p:cNvSpPr txBox="1"/>
          <p:nvPr/>
        </p:nvSpPr>
        <p:spPr>
          <a:xfrm>
            <a:off x="7800035" y="91440"/>
            <a:ext cx="380644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chiamate del runtime PRG32</a:t>
            </a:r>
            <a:endParaRPr lang="en-US" sz="1100" dirty="0"/>
          </a:p>
        </p:txBody>
      </p:sp>
      <p:sp>
        <p:nvSpPr>
          <p:cNvPr id="22" name="Shape 19"/>
          <p:cNvSpPr/>
          <p:nvPr/>
        </p:nvSpPr>
        <p:spPr>
          <a:xfrm>
            <a:off x="3583508" y="91440"/>
            <a:ext cx="3722751" cy="274320"/>
          </a:xfrm>
          <a:prstGeom prst="rect">
            <a:avLst/>
          </a:prstGeom>
          <a:solidFill>
            <a:srgbClr val="E0F2FE"/>
          </a:solidFill>
          <a:ln w="12700">
            <a:solidFill>
              <a:srgbClr val="0369A1"/>
            </a:solidFill>
            <a:prstDash val="solid"/>
          </a:ln>
        </p:spPr>
      </p:sp>
      <p:sp>
        <p:nvSpPr>
          <p:cNvPr id="23" name="Shape 20"/>
          <p:cNvSpPr/>
          <p:nvPr/>
        </p:nvSpPr>
        <p:spPr>
          <a:xfrm>
            <a:off x="3583508"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3711524" y="128016"/>
            <a:ext cx="201168" cy="201168"/>
          </a:xfrm>
          <a:prstGeom prst="rect">
            <a:avLst/>
          </a:prstGeom>
        </p:spPr>
      </p:pic>
      <p:sp>
        <p:nvSpPr>
          <p:cNvPr id="25" name="Text 21"/>
          <p:cNvSpPr txBox="1"/>
          <p:nvPr/>
        </p:nvSpPr>
        <p:spPr>
          <a:xfrm>
            <a:off x="3967556"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complemento a due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Proprietà delle stringhe binarie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L'estensione a sinistra con zeri non cambia il valore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5 = 101 = 00101</a:t>
            </a:r>
            <a:endParaRPr lang="en-US" sz="2200" dirty="0"/>
          </a:p>
        </p:txBody>
      </p:sp>
      <p:sp>
        <p:nvSpPr>
          <p:cNvPr id="5" name="Shape 3"/>
          <p:cNvSpPr/>
          <p:nvPr/>
        </p:nvSpPr>
        <p:spPr>
          <a:xfrm>
            <a:off x="548640" y="266970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63283"/>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Moltiplicare per 2^k è uno scorrimento a sinistra di k posizioni</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x 2 = 01010: cinque diventa dieci</a:t>
            </a:r>
            <a:endParaRPr lang="en-US" sz="2200" dirty="0"/>
          </a:p>
        </p:txBody>
      </p:sp>
      <p:sp>
        <p:nvSpPr>
          <p:cNvPr id="7" name="Shape 5"/>
          <p:cNvSpPr/>
          <p:nvPr/>
        </p:nvSpPr>
        <p:spPr>
          <a:xfrm>
            <a:off x="548640" y="381567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09247"/>
            <a:ext cx="546811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divisione intera per 2^k è uno scorrimento a destra di k posizioni</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 2 = 00010: cinque diventa due, il resto si perde</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scorrimenti costano molto meno delle moltiplicazioni: i compilatori li usano ogni volta che possono</a:t>
            </a:r>
            <a:endParaRPr lang="en-US" sz="2200" dirty="0"/>
          </a:p>
        </p:txBody>
      </p:sp>
      <p:sp>
        <p:nvSpPr>
          <p:cNvPr id="11" name="Shape 9"/>
          <p:cNvSpPr/>
          <p:nvPr/>
        </p:nvSpPr>
        <p:spPr>
          <a:xfrm>
            <a:off x="6766560" y="1417320"/>
            <a:ext cx="4876495" cy="3566160"/>
          </a:xfrm>
          <a:prstGeom prst="roundRect">
            <a:avLst>
              <a:gd name="adj" fmla="val 2051"/>
            </a:avLst>
          </a:prstGeom>
          <a:solidFill>
            <a:srgbClr val="12202B"/>
          </a:solidFill>
          <a:ln w="12700">
            <a:solidFill>
              <a:srgbClr val="12202B"/>
            </a:solidFill>
            <a:prstDash val="solid"/>
          </a:ln>
        </p:spPr>
      </p:sp>
      <p:sp>
        <p:nvSpPr>
          <p:cNvPr id="12" name="Text 10"/>
          <p:cNvSpPr txBox="1"/>
          <p:nvPr/>
        </p:nvSpPr>
        <p:spPr>
          <a:xfrm>
            <a:off x="6995160" y="1600200"/>
            <a:ext cx="4419295" cy="32004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multiply by 4</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t0, t0, 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divide by 2 (unsigned)</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t0,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x * 10 = x*8 + x*2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t1, t0, 3</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t2,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  t0, t1, t2</a:t>
            </a:r>
            <a:endParaRPr lang="en-US" sz="1600" dirty="0"/>
          </a:p>
        </p:txBody>
      </p:sp>
      <p:sp>
        <p:nvSpPr>
          <p:cNvPr id="13" name="Shape 11"/>
          <p:cNvSpPr/>
          <p:nvPr/>
        </p:nvSpPr>
        <p:spPr>
          <a:xfrm>
            <a:off x="7526350" y="91440"/>
            <a:ext cx="4116705" cy="274320"/>
          </a:xfrm>
          <a:prstGeom prst="rect">
            <a:avLst/>
          </a:prstGeom>
          <a:solidFill>
            <a:srgbClr val="E0F2FE"/>
          </a:solidFill>
          <a:ln w="12700">
            <a:solidFill>
              <a:srgbClr val="0369A1"/>
            </a:solidFill>
            <a:prstDash val="solid"/>
          </a:ln>
        </p:spPr>
      </p:sp>
      <p:sp>
        <p:nvSpPr>
          <p:cNvPr id="14" name="Shape 12"/>
          <p:cNvSpPr/>
          <p:nvPr/>
        </p:nvSpPr>
        <p:spPr>
          <a:xfrm>
            <a:off x="7526350"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7654366" y="128016"/>
            <a:ext cx="201168" cy="201168"/>
          </a:xfrm>
          <a:prstGeom prst="rect">
            <a:avLst/>
          </a:prstGeom>
        </p:spPr>
      </p:pic>
      <p:sp>
        <p:nvSpPr>
          <p:cNvPr id="16" name="Text 13"/>
          <p:cNvSpPr txBox="1"/>
          <p:nvPr/>
        </p:nvSpPr>
        <p:spPr>
          <a:xfrm>
            <a:off x="7910398"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shift come moltiplicazione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Cambiare segno a un numero</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Per definizione -x è rappresentato da 2^n - x</a:t>
            </a:r>
            <a:endParaRPr lang="en-US" sz="2000" dirty="0"/>
          </a:p>
        </p:txBody>
      </p:sp>
      <p:sp>
        <p:nvSpPr>
          <p:cNvPr id="5" name="Shape 3"/>
          <p:cNvSpPr/>
          <p:nvPr/>
        </p:nvSpPr>
        <p:spPr>
          <a:xfrm>
            <a:off x="548640" y="237676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5831"/>
            <a:ext cx="5468112" cy="91973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Metodo 1: si complementa ogni bit, poi si somma 1</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6 = 0110, complemento 1001, più uno: 1010 = -6</a:t>
            </a:r>
            <a:endParaRPr lang="en-US" sz="2000" dirty="0"/>
          </a:p>
        </p:txBody>
      </p:sp>
      <p:sp>
        <p:nvSpPr>
          <p:cNvPr id="7" name="Shape 5"/>
          <p:cNvSpPr/>
          <p:nvPr/>
        </p:nvSpPr>
        <p:spPr>
          <a:xfrm>
            <a:off x="548640" y="354524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4315"/>
            <a:ext cx="5468112" cy="122961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Metodo 2: da destra, si copiano i bit fino al primo 1 compreso e si complementano tutti gli altri</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5 = 0101 dà 1011 = -5; 1 = 0001 dà 1111 = -1</a:t>
            </a:r>
            <a:endParaRPr lang="en-US" sz="2000" dirty="0"/>
          </a:p>
        </p:txBody>
      </p:sp>
      <p:sp>
        <p:nvSpPr>
          <p:cNvPr id="9" name="Shape 7"/>
          <p:cNvSpPr/>
          <p:nvPr/>
        </p:nvSpPr>
        <p:spPr>
          <a:xfrm>
            <a:off x="548640" y="502361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932680"/>
            <a:ext cx="5468112" cy="123952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Cambiando segno due volte si torna al numero di partenza, con un'eccezione: il numero più negativo non ha un compagno positivo</a:t>
            </a:r>
            <a:endParaRPr lang="en-US" sz="2000" dirty="0"/>
          </a:p>
        </p:txBody>
      </p:sp>
      <p:sp>
        <p:nvSpPr>
          <p:cNvPr id="11" name="Shape 9"/>
          <p:cNvSpPr/>
          <p:nvPr/>
        </p:nvSpPr>
        <p:spPr>
          <a:xfrm>
            <a:off x="6766560" y="1417320"/>
            <a:ext cx="4876495" cy="2468880"/>
          </a:xfrm>
          <a:prstGeom prst="roundRect">
            <a:avLst>
              <a:gd name="adj" fmla="val 2963"/>
            </a:avLst>
          </a:prstGeom>
          <a:solidFill>
            <a:srgbClr val="12202B"/>
          </a:solidFill>
          <a:ln w="12700">
            <a:solidFill>
              <a:srgbClr val="12202B"/>
            </a:solidFill>
            <a:prstDash val="solid"/>
          </a:ln>
        </p:spPr>
      </p:sp>
      <p:sp>
        <p:nvSpPr>
          <p:cNvPr id="12" name="Text 10"/>
          <p:cNvSpPr txBox="1"/>
          <p:nvPr/>
        </p:nvSpPr>
        <p:spPr>
          <a:xfrm>
            <a:off x="6995160" y="1600200"/>
            <a:ext cx="4419295" cy="2103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neg t0, t1 is a pseudo-instruction: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sub  t0, zero,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thing by hand: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not  t0, t1        </a:t>
            </a:r>
            <a:pPr indent="0" marL="0">
              <a:buNone/>
            </a:pPr>
            <a:r>
              <a:rPr lang="en-US" sz="1500" dirty="0">
                <a:solidFill>
                  <a:srgbClr val="8FB3A0"/>
                </a:solidFill>
                <a:latin typeface="Courier New" pitchFamily="34" charset="0"/>
                <a:ea typeface="Courier New" pitchFamily="34" charset="-122"/>
                <a:cs typeface="Courier New" pitchFamily="34" charset="-120"/>
              </a:rPr>
              <a:t># complement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addi t0, t0, 1     </a:t>
            </a:r>
            <a:pPr indent="0" marL="0">
              <a:buNone/>
            </a:pPr>
            <a:r>
              <a:rPr lang="en-US" sz="1500" dirty="0">
                <a:solidFill>
                  <a:srgbClr val="8FB3A0"/>
                </a:solidFill>
                <a:latin typeface="Courier New" pitchFamily="34" charset="0"/>
                <a:ea typeface="Courier New" pitchFamily="34" charset="-122"/>
                <a:cs typeface="Courier New" pitchFamily="34" charset="-120"/>
              </a:rPr>
              <a:t># plus one</a:t>
            </a:r>
            <a:endParaRPr lang="en-US" sz="1500" dirty="0"/>
          </a:p>
        </p:txBody>
      </p:sp>
      <p:sp>
        <p:nvSpPr>
          <p:cNvPr id="13" name="Shape 11"/>
          <p:cNvSpPr/>
          <p:nvPr/>
        </p:nvSpPr>
        <p:spPr>
          <a:xfrm>
            <a:off x="7920304" y="91440"/>
            <a:ext cx="3722751" cy="274320"/>
          </a:xfrm>
          <a:prstGeom prst="rect">
            <a:avLst/>
          </a:prstGeom>
          <a:solidFill>
            <a:srgbClr val="E0F2FE"/>
          </a:solidFill>
          <a:ln w="12700">
            <a:solidFill>
              <a:srgbClr val="0369A1"/>
            </a:solidFill>
            <a:prstDash val="solid"/>
          </a:ln>
        </p:spPr>
      </p:sp>
      <p:sp>
        <p:nvSpPr>
          <p:cNvPr id="14" name="Shape 12"/>
          <p:cNvSpPr/>
          <p:nvPr/>
        </p:nvSpPr>
        <p:spPr>
          <a:xfrm>
            <a:off x="7920304"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6" name="Text 13"/>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il complemento a due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riscaldamento, spiegato</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marker_x valeva 0; addi t2, t2, -1 ha fatto un passo indietro su una ruota con 2^32 posizioni</a:t>
            </a:r>
            <a:endParaRPr lang="en-US" sz="2100" dirty="0"/>
          </a:p>
        </p:txBody>
      </p:sp>
      <p:sp>
        <p:nvSpPr>
          <p:cNvPr id="5" name="Shape 3"/>
          <p:cNvSpPr/>
          <p:nvPr/>
        </p:nvSpPr>
        <p:spPr>
          <a:xfrm>
            <a:off x="548640" y="23818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314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registro contiene ora trentadue uni: 0xFFFFFFFF</a:t>
            </a:r>
            <a:endParaRPr lang="en-US" sz="2100" dirty="0"/>
          </a:p>
        </p:txBody>
      </p:sp>
      <p:sp>
        <p:nvSpPr>
          <p:cNvPr id="7" name="Shape 5"/>
          <p:cNvSpPr/>
          <p:nvPr/>
        </p:nvSpPr>
        <p:spPr>
          <a:xfrm>
            <a:off x="548640" y="32476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8965"/>
            <a:ext cx="6565392" cy="96621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Letto senza segno vale 4.294.967.295; letto in complemento a due vale -1</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l'addizionatore ha fatto la stessa cosa nei due casi</a:t>
            </a:r>
            <a:endParaRPr lang="en-US" sz="2100" dirty="0"/>
          </a:p>
        </p:txBody>
      </p:sp>
      <p:sp>
        <p:nvSpPr>
          <p:cNvPr id="9" name="Shape 7"/>
          <p:cNvSpPr/>
          <p:nvPr/>
        </p:nvSpPr>
        <p:spPr>
          <a:xfrm>
            <a:off x="548640" y="44289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3025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prg32_console_hex32 stampa la configurazione, non un'interpretazione: non è né giusta né sbagliata</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segnalino scompare perché a prg32_gfx_rect si chiede di disegnare a una x enorme, oppure a -1: in ogni caso fuori schermo</a:t>
            </a:r>
            <a:endParaRPr lang="en-US" sz="2100" dirty="0"/>
          </a:p>
        </p:txBody>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Laboratorio 06, passo 2: sette lampade per i bit dei pulsanti e un segnalino</a:t>
            </a:r>
            <a:endParaRPr lang="en-US" sz="1200" dirty="0"/>
          </a:p>
        </p:txBody>
      </p:sp>
      <p:sp>
        <p:nvSpPr>
          <p:cNvPr id="15" name="Shape 12"/>
          <p:cNvSpPr/>
          <p:nvPr/>
        </p:nvSpPr>
        <p:spPr>
          <a:xfrm>
            <a:off x="7395032" y="91440"/>
            <a:ext cx="4248023" cy="274320"/>
          </a:xfrm>
          <a:prstGeom prst="rect">
            <a:avLst/>
          </a:prstGeom>
          <a:solidFill>
            <a:srgbClr val="E0F2FE"/>
          </a:solidFill>
          <a:ln w="12700">
            <a:solidFill>
              <a:srgbClr val="0369A1"/>
            </a:solidFill>
            <a:prstDash val="solid"/>
          </a:ln>
        </p:spPr>
      </p:sp>
      <p:sp>
        <p:nvSpPr>
          <p:cNvPr id="16" name="Shape 13"/>
          <p:cNvSpPr/>
          <p:nvPr/>
        </p:nvSpPr>
        <p:spPr>
          <a:xfrm>
            <a:off x="7395032"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7523048" y="128016"/>
            <a:ext cx="201168" cy="201168"/>
          </a:xfrm>
          <a:prstGeom prst="rect">
            <a:avLst/>
          </a:prstGeom>
        </p:spPr>
      </p:pic>
      <p:sp>
        <p:nvSpPr>
          <p:cNvPr id="18" name="Text 14"/>
          <p:cNvSpPr txBox="1"/>
          <p:nvPr/>
        </p:nvSpPr>
        <p:spPr>
          <a:xfrm>
            <a:off x="7779080" y="91440"/>
            <a:ext cx="382739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istruzioni con o senza segno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 segno o senza? Si sceglie con l'istruzione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64384"/>
                <a:gridCol w="2182508"/>
                <a:gridCol w="2182508"/>
                <a:gridCol w="4365016"/>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Operazione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Con 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Senza 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Perché differiscono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somma, sottrazione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add, addi, sub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le stesse</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complemento a due: un addizionatore per entrambe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prodotto (parola bassa)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mul</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la stessa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 32 bit bassi non dipendono dal 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confronto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slt, slti</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sltu, sltiu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0xFFFFFFFF è minore di 0? sì, se con 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salto condizionato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blt, bge</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bltu, bgeu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la stessa domanda, come salto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scorrimento a destra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sra, srai</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srl, srli</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copia il bit di segno, oppure inserisce zeri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caricamento di un byte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lb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lbu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estensione del segno o estensione con zeri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divisione, resto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div, rem</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divu, remu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 moduli si leggono in modo diverso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395032" y="91440"/>
            <a:ext cx="4248023" cy="274320"/>
          </a:xfrm>
          <a:prstGeom prst="rect">
            <a:avLst/>
          </a:prstGeom>
          <a:solidFill>
            <a:srgbClr val="E0F2FE"/>
          </a:solidFill>
          <a:ln w="12700">
            <a:solidFill>
              <a:srgbClr val="0369A1"/>
            </a:solidFill>
            <a:prstDash val="solid"/>
          </a:ln>
        </p:spPr>
      </p:sp>
      <p:sp>
        <p:nvSpPr>
          <p:cNvPr id="5" name="Shape 2"/>
          <p:cNvSpPr/>
          <p:nvPr/>
        </p:nvSpPr>
        <p:spPr>
          <a:xfrm>
            <a:off x="7395032"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523048" y="128016"/>
            <a:ext cx="201168" cy="201168"/>
          </a:xfrm>
          <a:prstGeom prst="rect">
            <a:avLst/>
          </a:prstGeom>
        </p:spPr>
      </p:pic>
      <p:sp>
        <p:nvSpPr>
          <p:cNvPr id="7" name="Text 3"/>
          <p:cNvSpPr txBox="1"/>
          <p:nvPr/>
        </p:nvSpPr>
        <p:spPr>
          <a:xfrm>
            <a:off x="7779080" y="91440"/>
            <a:ext cx="382739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istruzioni con o senza segno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Tenere il segnalino sullo schermo</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andi t3, t0, BTN_LEFT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1f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1:  andi t3, t0, BTN_RIGHT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2f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bgez t2, 3f            </a:t>
            </a:r>
            <a:pPr indent="0" marL="0">
              <a:buNone/>
            </a:pPr>
            <a:r>
              <a:rPr lang="en-US" sz="1450" dirty="0">
                <a:solidFill>
                  <a:srgbClr val="8FB3A0"/>
                </a:solidFill>
                <a:latin typeface="Courier New" pitchFamily="34" charset="0"/>
                <a:ea typeface="Courier New" pitchFamily="34" charset="-122"/>
                <a:cs typeface="Courier New" pitchFamily="34" charset="-120"/>
              </a:rPr>
              <a:t># x &lt; 0 ?  clamp to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t2,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3:  li   t3, MAX_X         </a:t>
            </a:r>
            <a:pPr indent="0" marL="0">
              <a:buNone/>
            </a:pPr>
            <a:r>
              <a:rPr lang="en-US" sz="1450" dirty="0">
                <a:solidFill>
                  <a:srgbClr val="8FB3A0"/>
                </a:solidFill>
                <a:latin typeface="Courier New" pitchFamily="34" charset="0"/>
                <a:ea typeface="Courier New" pitchFamily="34" charset="-122"/>
                <a:cs typeface="Courier New" pitchFamily="34" charset="-120"/>
              </a:rPr>
              <a:t># .equ MAX_X,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ble  t2, t3, 4f        </a:t>
            </a:r>
            <a:pPr indent="0" marL="0">
              <a:buNone/>
            </a:pPr>
            <a:r>
              <a:rPr lang="en-US" sz="1450" dirty="0">
                <a:solidFill>
                  <a:srgbClr val="8FB3A0"/>
                </a:solidFill>
                <a:latin typeface="Courier New" pitchFamily="34" charset="0"/>
                <a:ea typeface="Courier New" pitchFamily="34" charset="-122"/>
                <a:cs typeface="Courier New" pitchFamily="34" charset="-120"/>
              </a:rPr>
              <a:t># x &gt; 304 ?  clamp to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t2, t3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t2, 0(t1)         </a:t>
            </a:r>
            <a:pPr indent="0" marL="0">
              <a:buNone/>
            </a:pPr>
            <a:r>
              <a:rPr lang="en-US" sz="1450" dirty="0">
                <a:solidFill>
                  <a:srgbClr val="8FB3A0"/>
                </a:solidFill>
                <a:latin typeface="Courier New" pitchFamily="34" charset="0"/>
                <a:ea typeface="Courier New" pitchFamily="34" charset="-122"/>
                <a:cs typeface="Courier New" pitchFamily="34" charset="-120"/>
              </a:rPr>
              <a:t># one store, after all adjustments</a:t>
            </a:r>
            <a:endParaRPr lang="en-US" sz="14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bgez legge t2 come numero con segno: ne esamina il bit di segno</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Anche ble è un confronto con segno: -1 è minore di 304. Con bleu, 0xFFFFFFFF sarebbe molto maggiore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Un gioco non rileva l'overflow a cose fatte: tiene i valori in un intervallo in cui l'overflow non può avvenire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-SPEED è un immediato: dodici bit in complemento a due, da -2048 a +2047</a:t>
            </a:r>
            <a:endParaRPr lang="en-US" sz="1200" dirty="0"/>
          </a:p>
        </p:txBody>
      </p:sp>
      <p:sp>
        <p:nvSpPr>
          <p:cNvPr id="17" name="Shape 15"/>
          <p:cNvSpPr/>
          <p:nvPr/>
        </p:nvSpPr>
        <p:spPr>
          <a:xfrm>
            <a:off x="7395032" y="91440"/>
            <a:ext cx="4248023" cy="274320"/>
          </a:xfrm>
          <a:prstGeom prst="rect">
            <a:avLst/>
          </a:prstGeom>
          <a:solidFill>
            <a:srgbClr val="E0F2FE"/>
          </a:solidFill>
          <a:ln w="12700">
            <a:solidFill>
              <a:srgbClr val="0369A1"/>
            </a:solidFill>
            <a:prstDash val="solid"/>
          </a:ln>
        </p:spPr>
      </p:sp>
      <p:sp>
        <p:nvSpPr>
          <p:cNvPr id="18" name="Shape 16"/>
          <p:cNvSpPr/>
          <p:nvPr/>
        </p:nvSpPr>
        <p:spPr>
          <a:xfrm>
            <a:off x="7395032"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523048" y="128016"/>
            <a:ext cx="201168" cy="201168"/>
          </a:xfrm>
          <a:prstGeom prst="rect">
            <a:avLst/>
          </a:prstGeom>
        </p:spPr>
      </p:pic>
      <p:sp>
        <p:nvSpPr>
          <p:cNvPr id="20" name="Text 17"/>
          <p:cNvSpPr txBox="1"/>
          <p:nvPr/>
        </p:nvSpPr>
        <p:spPr>
          <a:xfrm>
            <a:off x="7779080" y="91440"/>
            <a:ext cx="382739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istruzioni con o senza segno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Rilevare l'overflow senza flag</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unsigned: did the sum wrap around?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        </a:t>
            </a:r>
            <a:pPr indent="0" marL="0">
              <a:buNone/>
            </a:pPr>
            <a:r>
              <a:rPr lang="en-US" sz="1350" dirty="0">
                <a:solidFill>
                  <a:srgbClr val="8FB3A0"/>
                </a:solidFill>
                <a:latin typeface="Courier New" pitchFamily="34" charset="0"/>
                <a:ea typeface="Courier New" pitchFamily="34" charset="-122"/>
                <a:cs typeface="Courier New" pitchFamily="34" charset="-120"/>
              </a:rPr>
              <a:t># t2 = t0 + t1   (modulo 2^32)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sltu t3, t2, t0        </a:t>
            </a:r>
            <a:pPr indent="0" marL="0">
              <a:buNone/>
            </a:pPr>
            <a:r>
              <a:rPr lang="en-US" sz="1350" dirty="0">
                <a:solidFill>
                  <a:srgbClr val="8FB3A0"/>
                </a:solidFill>
                <a:latin typeface="Courier New" pitchFamily="34" charset="0"/>
                <a:ea typeface="Courier New" pitchFamily="34" charset="-122"/>
                <a:cs typeface="Courier New" pitchFamily="34" charset="-120"/>
              </a:rPr>
              <a:t># t3 = 1 if the sum is smaller than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pPr indent="0" marL="0">
              <a:buNone/>
            </a:pPr>
            <a:r>
              <a:rPr lang="en-US" sz="1350" dirty="0">
                <a:solidFill>
                  <a:srgbClr val="8FB3A0"/>
                </a:solidFill>
                <a:latin typeface="Courier New" pitchFamily="34" charset="0"/>
                <a:ea typeface="Courier New" pitchFamily="34" charset="-122"/>
                <a:cs typeface="Courier New" pitchFamily="34" charset="-120"/>
              </a:rPr>
              <a:t>#        an operand: a carry was lost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signed: did the sign come out wrong?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slti t3, t1, 0         </a:t>
            </a:r>
            <a:pPr indent="0" marL="0">
              <a:buNone/>
            </a:pPr>
            <a:r>
              <a:rPr lang="en-US" sz="1350" dirty="0">
                <a:solidFill>
                  <a:srgbClr val="8FB3A0"/>
                </a:solidFill>
                <a:latin typeface="Courier New" pitchFamily="34" charset="0"/>
                <a:ea typeface="Courier New" pitchFamily="34" charset="-122"/>
                <a:cs typeface="Courier New" pitchFamily="34" charset="-120"/>
              </a:rPr>
              <a:t># t3 = 1 if t1 is negative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  t4, t2, t0        </a:t>
            </a:r>
            <a:pPr indent="0" marL="0">
              <a:buNone/>
            </a:pPr>
            <a:r>
              <a:rPr lang="en-US" sz="1350" dirty="0">
                <a:solidFill>
                  <a:srgbClr val="8FB3A0"/>
                </a:solidFill>
                <a:latin typeface="Courier New" pitchFamily="34" charset="0"/>
                <a:ea typeface="Courier New" pitchFamily="34" charset="-122"/>
                <a:cs typeface="Courier New" pitchFamily="34" charset="-120"/>
              </a:rPr>
              <a:t># t4 = 1 if the sum is less than 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  t3, t4, overflow  </a:t>
            </a:r>
            <a:pPr indent="0" marL="0">
              <a:buNone/>
            </a:pPr>
            <a:r>
              <a:rPr lang="en-US" sz="1350" dirty="0">
                <a:solidFill>
                  <a:srgbClr val="8FB3A0"/>
                </a:solidFill>
                <a:latin typeface="Courier New" pitchFamily="34" charset="0"/>
                <a:ea typeface="Courier New" pitchFamily="34" charset="-122"/>
                <a:cs typeface="Courier New" pitchFamily="34" charset="-120"/>
              </a:rPr>
              <a:t># they must agree</a:t>
            </a:r>
            <a:endParaRPr lang="en-US" sz="135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RISC-V non ha flag di carry né di overflow: meno stati nascosti, un processore più semplice</a:t>
            </a:r>
            <a:endParaRPr lang="en-US" sz="16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Senza segno: una somma che ha fatto il giro è sempre minore di ciascun operando</a:t>
            </a:r>
            <a:endParaRPr lang="en-US" sz="16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Con segno: sommare un negativo deve rendere la somma minore; sommare un non negativo no</a:t>
            </a:r>
            <a:endParaRPr lang="en-US" sz="1600" dirty="0"/>
          </a:p>
        </p:txBody>
      </p:sp>
      <p:sp>
        <p:nvSpPr>
          <p:cNvPr id="14" name="Shape 12"/>
          <p:cNvSpPr/>
          <p:nvPr/>
        </p:nvSpPr>
        <p:spPr>
          <a:xfrm>
            <a:off x="7395032" y="91440"/>
            <a:ext cx="4248023" cy="274320"/>
          </a:xfrm>
          <a:prstGeom prst="rect">
            <a:avLst/>
          </a:prstGeom>
          <a:solidFill>
            <a:srgbClr val="E0F2FE"/>
          </a:solidFill>
          <a:ln w="12700">
            <a:solidFill>
              <a:srgbClr val="0369A1"/>
            </a:solidFill>
            <a:prstDash val="solid"/>
          </a:ln>
        </p:spPr>
      </p:sp>
      <p:sp>
        <p:nvSpPr>
          <p:cNvPr id="15" name="Shape 13"/>
          <p:cNvSpPr/>
          <p:nvPr/>
        </p:nvSpPr>
        <p:spPr>
          <a:xfrm>
            <a:off x="7395032"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7523048" y="128016"/>
            <a:ext cx="201168" cy="201168"/>
          </a:xfrm>
          <a:prstGeom prst="rect">
            <a:avLst/>
          </a:prstGeom>
        </p:spPr>
      </p:pic>
      <p:sp>
        <p:nvSpPr>
          <p:cNvPr id="17" name="Text 14"/>
          <p:cNvSpPr txBox="1"/>
          <p:nvPr/>
        </p:nvSpPr>
        <p:spPr>
          <a:xfrm>
            <a:off x="7779080" y="91440"/>
            <a:ext cx="382739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istruzioni con o senza segno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l05.S (1 di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05: Number Representation: Integers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l05.S: hold LEFT and watch a number go below zero</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the 32 bits of marker_x as lamps. It starts at 2 (one lamp); each</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frame with LEFT held subtracts 1: after 2, 1 and 0 every lamp lights up, 0xFFFFFFFF,</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which is -1.</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l05.S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l05 --name l05 --out l05.prg32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BTN_LEFT,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l05_draw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l05_init: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l05.S (2 di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l05_update: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800" dirty="0">
                <a:solidFill>
                  <a:srgbClr val="8FB3A0"/>
                </a:solidFill>
                <a:latin typeface="Courier New" pitchFamily="34" charset="0"/>
                <a:ea typeface="Courier New" pitchFamily="34" charset="-122"/>
                <a:cs typeface="Courier New" pitchFamily="34" charset="-120"/>
              </a:rPr>
              <a:t># a0 = button mask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mv   t0, a0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t1, marker_x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t2, 0(t1)             </a:t>
            </a:r>
            <a:pPr indent="0" marL="0">
              <a:buNone/>
            </a:pPr>
            <a:r>
              <a:rPr lang="en-US" sz="1800" dirty="0">
                <a:solidFill>
                  <a:srgbClr val="8FB3A0"/>
                </a:solidFill>
                <a:latin typeface="Courier New" pitchFamily="34" charset="0"/>
                <a:ea typeface="Courier New" pitchFamily="34" charset="-122"/>
                <a:cs typeface="Courier New" pitchFamily="34" charset="-120"/>
              </a:rPr>
              <a:t># t2 = marker_x, starts at 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t3, t0, BTN_LEFT      </a:t>
            </a:r>
            <a:pPr indent="0" marL="0">
              <a:buNone/>
            </a:pPr>
            <a:r>
              <a:rPr lang="en-US" sz="1800" dirty="0">
                <a:solidFill>
                  <a:srgbClr val="8FB3A0"/>
                </a:solidFill>
                <a:latin typeface="Courier New" pitchFamily="34" charset="0"/>
                <a:ea typeface="Courier New" pitchFamily="34" charset="-122"/>
                <a:cs typeface="Courier New" pitchFamily="34" charset="-120"/>
              </a:rPr>
              <a:t># is LEFT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beqz t3, 1f</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t2, t2, -1            </a:t>
            </a:r>
            <a:pPr indent="0" marL="0">
              <a:buNone/>
            </a:pPr>
            <a:r>
              <a:rPr lang="en-US" sz="1800" dirty="0">
                <a:solidFill>
                  <a:srgbClr val="8FB3A0"/>
                </a:solidFill>
                <a:latin typeface="Courier New" pitchFamily="34" charset="0"/>
                <a:ea typeface="Courier New" pitchFamily="34" charset="-122"/>
                <a:cs typeface="Courier New" pitchFamily="34" charset="-120"/>
              </a:rPr>
              <a:t># one step to the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1:  sw   t2, 0(t1)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l05.S (3 di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l05_draw: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BLACK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prg32_gfx_clear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prg32_console_clear   </a:t>
            </a:r>
            <a:pPr indent="0" marL="0">
              <a:buNone/>
            </a:pPr>
            <a:r>
              <a:rPr lang="en-US" sz="1800" dirty="0">
                <a:solidFill>
                  <a:srgbClr val="8FB3A0"/>
                </a:solidFill>
                <a:latin typeface="Courier New" pitchFamily="34" charset="0"/>
                <a:ea typeface="Courier New" pitchFamily="34" charset="-122"/>
                <a:cs typeface="Courier New" pitchFamily="34" charset="-120"/>
              </a:rPr>
              <a:t># the number in hexadecimal, on the console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marker_x          </a:t>
            </a:r>
            <a:pPr indent="0" marL="0">
              <a:buNone/>
            </a:pPr>
            <a:r>
              <a:rPr lang="en-US" sz="1800" dirty="0">
                <a:solidFill>
                  <a:srgbClr val="8FB3A0"/>
                </a:solidFill>
                <a:latin typeface="Courier New" pitchFamily="34" charset="0"/>
                <a:ea typeface="Courier New" pitchFamily="34" charset="-122"/>
                <a:cs typeface="Courier New" pitchFamily="34" charset="-120"/>
              </a:rPr>
              <a:t># (the board and QEMU show it on the screen,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             </a:t>
            </a:r>
            <a:pPr indent="0" marL="0">
              <a:buNone/>
            </a:pPr>
            <a:r>
              <a:rPr lang="en-US" sz="1800" dirty="0">
                <a:solidFill>
                  <a:srgbClr val="8FB3A0"/>
                </a:solidFill>
                <a:latin typeface="Courier New" pitchFamily="34" charset="0"/>
                <a:ea typeface="Courier New" pitchFamily="34" charset="-122"/>
                <a:cs typeface="Courier New" pitchFamily="34" charset="-120"/>
              </a:rPr>
              <a:t>#  PRG32-QT in its log)</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prg32_console_hex32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marker_x          </a:t>
            </a:r>
            <a:pPr indent="0" marL="0">
              <a:buNone/>
            </a:pPr>
            <a:r>
              <a:rPr lang="en-US" sz="1800" dirty="0">
                <a:solidFill>
                  <a:srgbClr val="8FB3A0"/>
                </a:solidFill>
                <a:latin typeface="Courier New" pitchFamily="34" charset="0"/>
                <a:ea typeface="Courier New" pitchFamily="34" charset="-122"/>
                <a:cs typeface="Courier New" pitchFamily="34" charset="-120"/>
              </a:rPr>
              <a:t># and the same number, bit by bit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96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lamps32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l05.S (4 di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l05.S (5 di 5)</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marker_x: .word 2</a:t>
            </a:r>
            <a:endParaRPr lang="en-US" sz="18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i 32 bit di marker_x come lampade. Parte da 2 (una lampada); ogni frame con LEFT premuto sottrae 1: dopo 2, 1 e 0 si accendono tutte le lampade, 0xFFFFFFFF, cioè -1.</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tenete premuto LEFT per qualche frame</a:t>
            </a:r>
            <a:endParaRPr lang="en-US" sz="2400" dirty="0"/>
          </a:p>
        </p:txBody>
      </p:sp>
      <p:pic>
        <p:nvPicPr>
          <p:cNvPr id="7" name="Image 0" descr="/Users/raffaelemontella/devel/riscv-prg32/computer-architecture-with-prg32/tools/assets/lab_l05.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l05 --out l05.prg32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l05.prg32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l05-qemu.prg32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~/arc12/code/l05.S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l05 --name l05 --architecture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l05-esp32c6.prg32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l05-esp32c6.prg32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l05;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Convertite 2026 in binario, ottale ed esadecimale; convertite 0,1 in binario fino a otto bit frazionari</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-100 su 8 bit in segno e modulo e in complemento a due</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Calcolate su 8 bit in complemento a due: 90 + 60, -90 - 60, 90 - 60. Quali danno overflow?</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Nel codice del clamp sostituite bgez e ble con le versioni senza segno, prevedete il comportamento, poi eseguite</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una update che somma 0x10000000 a un contatore a ogni frame e accende un rettangolo rosso quando la somma con segno dà overflow</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Su carta: 2026 = 0x7EA = 111 1110 1010. Su PRG32: il rettangolo rosso lampeggia una volta ogni sedici frame, quando il contatore passa da 0x7... a 0x8...</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Rappresentazione dei numeri: gli interi: il codice</dc:title>
  <dc:subject>Lezione 05</dc:subject>
  <dc:creator>Raffaele Montella</dc:creator>
  <cp:lastModifiedBy>Raffaele Montella</cp:lastModifiedBy>
  <cp:revision>1</cp:revision>
  <dcterms:created xsi:type="dcterms:W3CDTF">2026-10-17T07:16:49Z</dcterms:created>
  <dcterms:modified xsi:type="dcterms:W3CDTF">2026-10-17T07:16:49Z</dcterms:modified>
</cp:coreProperties>
</file>