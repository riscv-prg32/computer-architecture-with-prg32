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7bfb96e-17d2-1519-54f8-1028c4b1afb7}">
          <p14:sldIdLst>
            <p14:sldId id="256"/>
            <p14:sldId id="257"/>
          </p14:sldIdLst>
        </p14:section>
        <p14:section name="L'elettricità in quattro grandezze" id="{fa75bde0-b428-8072-7c21-870e7f32902b}">
          <p14:sldIdLst>
            <p14:sldId id="258"/>
            <p14:sldId id="259"/>
            <p14:sldId id="260"/>
            <p14:sldId id="261"/>
          </p14:sldIdLst>
        </p14:section>
        <p14:section name="Semiconduttori" id="{94e1a22f-f956-3682-bbad-e1c0da9822d7}">
          <p14:sldIdLst>
            <p14:sldId id="262"/>
            <p14:sldId id="263"/>
            <p14:sldId id="264"/>
          </p14:sldIdLst>
        </p14:section>
        <p14:section name="Dai volt ai bit" id="{216ef01e-e2d5-415b-2709-6d9ee3f7305c}">
          <p14:sldIdLst>
            <p14:sldId id="265"/>
            <p14:sldId id="266"/>
            <p14:sldId id="267"/>
            <p14:sldId id="268"/>
            <p14:sldId id="269"/>
            <p14:sldId id="270"/>
          </p14:sldIdLst>
        </p14:section>
        <p14:section name="Ritorno alla macchina" id="{ebdabd81-f120-e01d-592c-74edfac346c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tavola di verità; questa lezione le dà un corpo fisico. Segue un solo bit, quello di un pulsante del kit, dal dito che lo preme al registro che il programma legge, spiegando lungo il percorso che cos'è un volt, che cosa fa un transistor e come due transistor formano una porta NOT. Non si presuppone alcuna conoscenza di fisica. La citazione di Arthur C. Clarke nomina l'impressione che la lezione si propone di dissipare: un chip sembra magia solo finché non si vede di che cosa è fatto.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Applicare le quattro grandezze elettriche e la legge di Ohm a un circuito semplice. Dimensionare la resistenza di un LED e calcolare un partitore di tensione. Spiegare che cos'è un transistor e come un transistor MOS funziona da interruttore. Dire come una tensione diventa un valore logico, e che cos'è un margine di rumore. Disegnare l'invertitore, il NAND e il NOR CMOS e contarne i transistor. E spiegare le resistenze di pull-up, gli ingressi flottanti, e perché la commutazione di una porta costa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introdotte con l'analogia dell'acqua nei tubi. La tensione è la pressione che spinge il flusso; si misura in volt ed è sempre definita tra due punti. La corrente è il flusso, in ampere. La resistenza è l'opposizione al flusso, in ohm. La potenza è il lavoro compiuto al secondo, in watt. L'ultima colonna lega ciascuna al kit: un'alimentazione di 3,3 V, circa 10 mA in un LED acceso, 45 kΩ dentro ogni piedino di ingresso. La didascalia fissa una convenzione: dire che un piedino "è a 3,3 V" significa 3,3 V rispetto alla massa, il riferimento comune.
DA COMPRENDERE OGGI: tensione, corrente, legge di Ohm.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una resistenza è uguale alla resistenza moltiplicata per la corrente che la attraversa. Un circuito è un anello chiuso, e il disegno mostra il più semplice di quelli utili: un'alimentazione, una resistenza e un LED. Il LED trattiene ai suoi capi circa 2 V; la resistenza prende gli 1,3 V restanti e determina così la corrente. Per 10 mA la resistenza deve valere 1,3 / 0,010 = 130 Ω, e il valore standard più vicino è 150 Ω, che sbaglia nel senso di una corrente minore. Senza resistenza la corrente sarebbe limitata solo dall'alimentazione e il LED si distruggerebbe.
DA COMPRENDERE OGGI: tensione, corrente, legge di Ohm.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combinare le resistenze. In serie la stessa corrente attraversa entrambe e le resistenze si sommano. In parallelo la stessa tensione è applicata a entrambe e la resistenza complessiva è minore di ciascuna. Due resistenze in serie formano un partitore di tensione: l'uscita, presa nel loro punto di unione, è uguale all'alimentazione moltiplicata per R2/(R1 + R2). Con resistenze uguali è metà dell'alimentazione; se R2 è molto minore di R1, l'uscita si avvicina alla massa. Il partitore va tenuto a mente, perché spiega il circuito del pulsante alla fine della lezione.
DA COMPRENDERE OGGI: tensione, corrente, legge di Ohm.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immagazzina acqua, e la sua tensione non può cambiare istantaneamente: deve essere caricato o scaricato attraverso una resistenza. Il tempo necessario è dell'ordine di R per C, la costante di tempo; dopo una costante di tempo la tensione ha percorso circa il 63% della sua escursione. Per un piedino di ingresso del kit, 45 kΩ per 2 pF danno 90 nanosecondi. Ogni filo e ogni ingresso di transistor si comporta come un piccolo condensatore, ed è questa l'origine fisica del ritardo delle porte. Un condensatore carico o scarico è anche un modo per memorizzare un bit, come mostra la cella DRAM della Lezione 15.
DA COMPRENDERE OGGI: tensione, corrente, legge di Ohm.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permettono il flusso della carica; gli isolanti lo impediscono. I semiconduttori stanno tra i due, e la loro conducibilità si può controllare. Il controllo si ottiene con il drogaggio: l'introduzione di un piccolo numero di atomi di un altro elemento. Nel silicio di tipo n c'è un eccesso di elettroni, che fanno da portatori negativi; nel silicio di tipo p c'è un difetto di elettroni, detti lacune, che si comportano come portatori positivi. Dove una regione p incontra una regione n si forma una giunzione. Un chip è una fetta di silicio con miliardi di tali regioni, interconnesse da strati di metallo.
DA COMPRENDERE OGGI: il transistor come interruttore.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in movimento, in sei date. Il transistor del 1947 sostituisce la valvola termoionica. Il circuito integrato del 1958 colloca più transistor su un solo pezzo di semiconduttore. Il transistor MOS del 1960 è piccolo, semplice da fabbricare e non richiede quasi corrente di comando. Il CMOS, nel 1963, combina due tipi complementari così che la potenza si consumi sostanzialmente solo durante la commutazione. Nel 1971 un processore completo sta su un chip con 2.300 transistor; un chip contemporaneo ne contiene decine di miliardi.
DA COMPRENDERE OGGI: il transistor come interruttore.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il source e il drain. Esistono due tipi, e la tabella contiene tutto ciò che serve: un nMOS conduce quando il suo gate è alto, un pMOS quando il suo gate è basso. Sono complementari, perché la tensione che chiude l'uno apre l'altro. Il gate è isolato e non assorbe praticamente corrente. Servirà tra poco un fatto ulteriore: un nMOS è efficace nel collegare un nodo alla massa, un pMOS nel collegarlo all'alimentazione.
DA COMPRENDERE OGGI: il transistor come interruttore.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ma due intervalli, mostrati nella figura per il kit. Un'uscita garantisce livelli puliti: sopra 2,64 V per un 1, sotto 0,33 V per uno 0. Un ingresso è più tollerante: legge 1 sopra 2,475 V e 0 sotto 0,825 V. La differenza tra ciò che un'uscita garantisce e ciò che un ingresso richiede è il margine di rumore: un disturbo minore del margine non può alterare il bit. Tra le due soglie di ingresso il valore logico non è definito, e i segnali devono attraversare quella fascia rapidamente.
DA COMPRENDERE OGGI: dai volt ai bit.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il valore esatto è l'informazione, quindi ogni stadio aggiunge un po' di rumore e il rumore si accumula: ogni copia è peggiore della precedente. In un circuito digitale conta solo l'intervallo, e ogni porta rigenera un livello nuovo e pulito: il rumore non si accumula, le copie sono perfette, e gli errori si possono persino rilevare e correggere, come mostra la Lezione 11 con la parità. I circuiti analogici restano indispensabili ai confini di un sistema, dove esso incontra il mondo fisico: sensori, radio, suono.
DA COMPRENDERE OGGI: dai volt ai bit.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alla massa, ed entrambi i gate sono pilotati dallo stesso ingresso. Con l'ingresso a 0 il pMOS conduce e l'uscita vale 1; con l'ingresso a 1 conduce l'nMOS e l'uscita vale 0. Il circuito è un NOT. Con un ingresso stabile conduce esattamente uno dei due transistor, quindi a riposo non scorre corrente dall'alimentazione alla massa: è per questo che il CMOS consuma una potenza statica quasi nulla, e la ragione della sua adozione universale.
DA COMPRENDERE OGGI: le porte CMOS.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è collegata alla massa solo se A e B valgono entrambi 1. I due pMOS sono in parallelo: l'uscita è collegata all'alimentazione se uno qualsiasi degli ingressi vale 0. La serie realizza l'AND, il parallelo l'OR. Il NOR è il circuito duale, con serie e parallelo scambiati, esattamente come le leggi di De Morgan scambiano AND e OR. Entrambi i disegni vanno verificati per le quattro combinazioni degli ingressi, segnando in ciascun caso quali transistor conducono.
DA COMPRENDERE OGGI: le porte CMOS.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misurato in transistor. Un NOT costa 2, un NAND o un NOR 4, un AND o un OR 6, perché ciascuno è un NAND o un NOR seguito da un invertitore. Questo rovescia l'intuizione suggerita dall'algebra: in CMOS le porte invertenti sono quelle primitive, e un AND costa più di un NAND. Un sommatore completo richiede circa 28 transistor, una cella di memoria 6, un flip-flop circa 20. Lo scopo della minimizzazione diventa ora concreto: meno letterali significano meno transistor, e quindi meno area, meno energia e meno ritardo.
DA COMPRENDERE OGGI: le porte CMOS.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il che richiede tempo, il ritardo di propagazione, ed energia, a ogni transizione. La potenza dinamica è approssimativamente C per V^2 per f: capacità, quadrato della tensione di alimentazione e frequenza di commutazione. Ridurre la tensione dà il risparmio maggiore, ed è per questo che le tensioni di alimentazione interne sono scese da 5 V a circa 1 V. La velocità si paga in calore. Il ritardo di propagazione ricompare nella Lezione 11 come cammino critico e nella Lezione 13 come ragione del clock.
DA COMPRENDERE OGGI: le porte CMOS. DA COMPRENDERE PIÙ AVANTI: il clock (si studia nella Lezione 13).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in modo imprevedibile. Il rimedio è una resistenza di pull-up che lega il piedino a 3,3 V. Con il pulsante rilasciato non scorre corrente, e il piedino legge un 1 pulito. Con il pulsante premuto l'interruttore collega il piedino alla massa: 0 V, uno 0 pulito, mentre nella resistenza scorre una corrente trascurabile di 73 microampere. Il circuito è un partitore di tensione la cui resistenza inferiore è o infinita o nulla. Il firmware poi inverte il bit, così che nel programma "premuto" si legge 1. Il riscaldamento è così spiegato per intero.
DA COMPRENDERE OGGI: gli ingressi con pull-up.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legge di Ohm si applica alla sola resistenza, non all'intero circuito. La resistenza vede l'alimentazione meno ciò che il LED trattiene, 3,3 - 2 V, e quella tensione si divide per la corrente espressa in ampere: 5 mA è 0,005 A.
Per la seconda ci si chiede quale dei due transistor ha il gate al livello che lo fa condurre quando l'ingresso vale 0. Un pMOS conduce con il gate basso, ed è quello collegato all'alimentazione. I due transistor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 CMOS un AND non si costruisce direttamente ma come un NAND seguito da un invertitore, quindi si sommano i transistor dei due.
Per la seconda si considera il pulsante rilasciato: il piedino è allora collegato a nulla. Che cosa leggerebbe? Il pull-up non ha a che fare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Due falsi amici meritano attenzione: voltage in italiano è tensione, e ground è massa. Un capacitor è un condensatore. Gate, source e drain non si traducono. Il noise margin è il margine di rumore, e un floating input è un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si oppone, e la legge di Ohm copre gran parte di ciò che serve a un progettista digitale. Un transistor MOS è un interruttore comandato in tensione, disponibile in due tipi complementari. Un bit è un intervallo di tensioni, reso affidabile dai margini di rumore e dalla rigenerazione dei livelli a ogni porta. Le porte CMOS sono coppie di reti di interruttori complementari, e le porte invertenti sono le più economiche. La commutazione costa tempo ed energia. La prossima lezione costruisce con queste porte delle macchine funzionali.
Stato di apprendimento, riepilogo.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10-Architettura_dei_Calcolatori-Elettronica-Lab.pptx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5"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6"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8"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5"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7"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23465"/>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13" name="Shape 8"/>
          <p:cNvSpPr/>
          <p:nvPr/>
        </p:nvSpPr>
        <p:spPr>
          <a:xfrm>
            <a:off x="5120640" y="3260386"/>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5" name="Shape 10"/>
          <p:cNvSpPr/>
          <p:nvPr/>
        </p:nvSpPr>
        <p:spPr>
          <a:xfrm>
            <a:off x="5120640" y="4197308"/>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7" name="Shape 12"/>
          <p:cNvSpPr/>
          <p:nvPr/>
        </p:nvSpPr>
        <p:spPr>
          <a:xfrm>
            <a:off x="5120640" y="5428615"/>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132396" y="91440"/>
            <a:ext cx="4510659" cy="274320"/>
          </a:xfrm>
          <a:prstGeom prst="rect">
            <a:avLst/>
          </a:prstGeom>
          <a:solidFill>
            <a:srgbClr val="E0F2FE"/>
          </a:solidFill>
          <a:ln w="12700">
            <a:solidFill>
              <a:srgbClr val="0369A1"/>
            </a:solidFill>
            <a:prstDash val="solid"/>
          </a:ln>
        </p:spPr>
      </p:sp>
      <p:sp>
        <p:nvSpPr>
          <p:cNvPr id="15" name="Shape 13"/>
          <p:cNvSpPr/>
          <p:nvPr/>
        </p:nvSpPr>
        <p:spPr>
          <a:xfrm>
            <a:off x="713239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7" name="Text 1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16" name="Shape 14"/>
          <p:cNvSpPr/>
          <p:nvPr/>
        </p:nvSpPr>
        <p:spPr>
          <a:xfrm>
            <a:off x="7132396" y="91440"/>
            <a:ext cx="4510659" cy="274320"/>
          </a:xfrm>
          <a:prstGeom prst="rect">
            <a:avLst/>
          </a:prstGeom>
          <a:solidFill>
            <a:srgbClr val="E0F2FE"/>
          </a:solidFill>
          <a:ln w="12700">
            <a:solidFill>
              <a:srgbClr val="0369A1"/>
            </a:solidFill>
            <a:prstDash val="solid"/>
          </a:ln>
        </p:spPr>
      </p:sp>
      <p:sp>
        <p:nvSpPr>
          <p:cNvPr id="17" name="Shape 15"/>
          <p:cNvSpPr/>
          <p:nvPr/>
        </p:nvSpPr>
        <p:spPr>
          <a:xfrm>
            <a:off x="713239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9" name="Text 16"/>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16" name="Shape 14"/>
          <p:cNvSpPr/>
          <p:nvPr/>
        </p:nvSpPr>
        <p:spPr>
          <a:xfrm>
            <a:off x="7198055" y="91440"/>
            <a:ext cx="4445000" cy="274320"/>
          </a:xfrm>
          <a:prstGeom prst="rect">
            <a:avLst/>
          </a:prstGeom>
          <a:solidFill>
            <a:srgbClr val="E0F2FE"/>
          </a:solidFill>
          <a:ln w="12700">
            <a:solidFill>
              <a:srgbClr val="0369A1"/>
            </a:solidFill>
            <a:prstDash val="solid"/>
          </a:ln>
        </p:spPr>
      </p:sp>
      <p:sp>
        <p:nvSpPr>
          <p:cNvPr id="17" name="Shape 15"/>
          <p:cNvSpPr/>
          <p:nvPr/>
        </p:nvSpPr>
        <p:spPr>
          <a:xfrm>
            <a:off x="719805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9" name="Text 16"/>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198055" y="91440"/>
            <a:ext cx="4445000" cy="274320"/>
          </a:xfrm>
          <a:prstGeom prst="rect">
            <a:avLst/>
          </a:prstGeom>
          <a:solidFill>
            <a:srgbClr val="E0F2FE"/>
          </a:solidFill>
          <a:ln w="12700">
            <a:solidFill>
              <a:srgbClr val="0369A1"/>
            </a:solidFill>
            <a:prstDash val="solid"/>
          </a:ln>
        </p:spPr>
      </p:sp>
      <p:sp>
        <p:nvSpPr>
          <p:cNvPr id="5" name="Shape 2"/>
          <p:cNvSpPr/>
          <p:nvPr/>
        </p:nvSpPr>
        <p:spPr>
          <a:xfrm>
            <a:off x="719805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7" name="Text 3"/>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198055" y="91440"/>
            <a:ext cx="4445000" cy="274320"/>
          </a:xfrm>
          <a:prstGeom prst="rect">
            <a:avLst/>
          </a:prstGeom>
          <a:solidFill>
            <a:srgbClr val="E0F2FE"/>
          </a:solidFill>
          <a:ln w="12700">
            <a:solidFill>
              <a:srgbClr val="0369A1"/>
            </a:solidFill>
            <a:prstDash val="solid"/>
          </a:ln>
        </p:spPr>
      </p:sp>
      <p:sp>
        <p:nvSpPr>
          <p:cNvPr id="6" name="Shape 4"/>
          <p:cNvSpPr/>
          <p:nvPr/>
        </p:nvSpPr>
        <p:spPr>
          <a:xfrm>
            <a:off x="719805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8" name="Text 5"/>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12" name="Shape 7"/>
          <p:cNvSpPr/>
          <p:nvPr/>
        </p:nvSpPr>
        <p:spPr>
          <a:xfrm>
            <a:off x="6766560" y="2291334"/>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4" name="Shape 9"/>
          <p:cNvSpPr/>
          <p:nvPr/>
        </p:nvSpPr>
        <p:spPr>
          <a:xfrm>
            <a:off x="676656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6" name="Shape 11"/>
          <p:cNvSpPr/>
          <p:nvPr/>
        </p:nvSpPr>
        <p:spPr>
          <a:xfrm>
            <a:off x="6766560" y="4333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8" name="Shape 13"/>
          <p:cNvSpPr/>
          <p:nvPr/>
        </p:nvSpPr>
        <p:spPr>
          <a:xfrm>
            <a:off x="676656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0931"/>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13" name="Shape 7"/>
          <p:cNvSpPr/>
          <p:nvPr/>
        </p:nvSpPr>
        <p:spPr>
          <a:xfrm>
            <a:off x="5486400" y="3816054"/>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5" name="Shape 9"/>
          <p:cNvSpPr/>
          <p:nvPr/>
        </p:nvSpPr>
        <p:spPr>
          <a:xfrm>
            <a:off x="5486400" y="4501176"/>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7" name="Shape 11"/>
          <p:cNvSpPr/>
          <p:nvPr/>
        </p:nvSpPr>
        <p:spPr>
          <a:xfrm>
            <a:off x="5486400" y="5449697"/>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8379917" y="91440"/>
            <a:ext cx="3263138" cy="274320"/>
          </a:xfrm>
          <a:prstGeom prst="rect">
            <a:avLst/>
          </a:prstGeom>
          <a:solidFill>
            <a:srgbClr val="E0F2FE"/>
          </a:solidFill>
          <a:ln w="12700">
            <a:solidFill>
              <a:srgbClr val="0369A1"/>
            </a:solidFill>
            <a:prstDash val="solid"/>
          </a:ln>
        </p:spPr>
      </p:sp>
      <p:sp>
        <p:nvSpPr>
          <p:cNvPr id="8" name="Shape 6"/>
          <p:cNvSpPr/>
          <p:nvPr/>
        </p:nvSpPr>
        <p:spPr>
          <a:xfrm>
            <a:off x="837991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0" name="Text 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500624"/>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6" name="Shape 10"/>
          <p:cNvSpPr/>
          <p:nvPr/>
        </p:nvSpPr>
        <p:spPr>
          <a:xfrm>
            <a:off x="548640" y="5984240"/>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5"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6"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8"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16" name="Shape 14"/>
          <p:cNvSpPr/>
          <p:nvPr/>
        </p:nvSpPr>
        <p:spPr>
          <a:xfrm>
            <a:off x="7225995" y="91440"/>
            <a:ext cx="4417060" cy="274320"/>
          </a:xfrm>
          <a:prstGeom prst="rect">
            <a:avLst/>
          </a:prstGeom>
          <a:solidFill>
            <a:srgbClr val="F3E8FF"/>
          </a:solidFill>
          <a:ln w="12700">
            <a:solidFill>
              <a:srgbClr val="7E22CE"/>
            </a:solidFill>
            <a:prstDash val="dash"/>
          </a:ln>
        </p:spPr>
      </p:sp>
      <p:sp>
        <p:nvSpPr>
          <p:cNvPr id="17" name="Shape 15"/>
          <p:cNvSpPr/>
          <p:nvPr/>
        </p:nvSpPr>
        <p:spPr>
          <a:xfrm>
            <a:off x="7253427" y="128016"/>
            <a:ext cx="45720" cy="45720"/>
          </a:xfrm>
          <a:prstGeom prst="rect">
            <a:avLst/>
          </a:prstGeom>
          <a:solidFill>
            <a:srgbClr val="7E22CE"/>
          </a:solidFill>
          <a:ln w="12700">
            <a:solidFill>
              <a:srgbClr val="7E22CE"/>
            </a:solidFill>
            <a:prstDash val="solid"/>
          </a:ln>
        </p:spPr>
      </p:sp>
      <p:sp>
        <p:nvSpPr>
          <p:cNvPr id="18" name="Shape 16"/>
          <p:cNvSpPr/>
          <p:nvPr/>
        </p:nvSpPr>
        <p:spPr>
          <a:xfrm>
            <a:off x="7253427" y="205740"/>
            <a:ext cx="45720" cy="45720"/>
          </a:xfrm>
          <a:prstGeom prst="rect">
            <a:avLst/>
          </a:prstGeom>
          <a:solidFill>
            <a:srgbClr val="7E22CE"/>
          </a:solidFill>
          <a:ln w="12700">
            <a:solidFill>
              <a:srgbClr val="7E22CE"/>
            </a:solidFill>
            <a:prstDash val="solid"/>
          </a:ln>
        </p:spPr>
      </p:sp>
      <p:sp>
        <p:nvSpPr>
          <p:cNvPr id="19" name="Shape 17"/>
          <p:cNvSpPr/>
          <p:nvPr/>
        </p:nvSpPr>
        <p:spPr>
          <a:xfrm>
            <a:off x="7253427"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7354011" y="128016"/>
            <a:ext cx="201168" cy="201168"/>
          </a:xfrm>
          <a:prstGeom prst="rect">
            <a:avLst/>
          </a:prstGeom>
        </p:spPr>
      </p:pic>
      <p:sp>
        <p:nvSpPr>
          <p:cNvPr id="21" name="Text 18"/>
          <p:cNvSpPr txBox="1"/>
          <p:nvPr/>
        </p:nvSpPr>
        <p:spPr>
          <a:xfrm>
            <a:off x="7610043" y="91440"/>
            <a:ext cx="39964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clock</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22" name="Shape 19"/>
          <p:cNvSpPr/>
          <p:nvPr/>
        </p:nvSpPr>
        <p:spPr>
          <a:xfrm>
            <a:off x="3853129" y="91440"/>
            <a:ext cx="3263138" cy="274320"/>
          </a:xfrm>
          <a:prstGeom prst="rect">
            <a:avLst/>
          </a:prstGeom>
          <a:solidFill>
            <a:srgbClr val="E0F2FE"/>
          </a:solidFill>
          <a:ln w="12700">
            <a:solidFill>
              <a:srgbClr val="0369A1"/>
            </a:solidFill>
            <a:prstDash val="solid"/>
          </a:ln>
        </p:spPr>
      </p:sp>
      <p:sp>
        <p:nvSpPr>
          <p:cNvPr id="23" name="Shape 20"/>
          <p:cNvSpPr/>
          <p:nvPr/>
        </p:nvSpPr>
        <p:spPr>
          <a:xfrm>
            <a:off x="3853129"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981145" y="128016"/>
            <a:ext cx="201168" cy="201168"/>
          </a:xfrm>
          <a:prstGeom prst="rect">
            <a:avLst/>
          </a:prstGeom>
        </p:spPr>
      </p:pic>
      <p:sp>
        <p:nvSpPr>
          <p:cNvPr id="25" name="Text 21"/>
          <p:cNvSpPr txBox="1"/>
          <p:nvPr/>
        </p:nvSpPr>
        <p:spPr>
          <a:xfrm>
            <a:off x="4237177"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7657668" y="91440"/>
            <a:ext cx="3985387" cy="274320"/>
          </a:xfrm>
          <a:prstGeom prst="rect">
            <a:avLst/>
          </a:prstGeom>
          <a:solidFill>
            <a:srgbClr val="E0F2FE"/>
          </a:solidFill>
          <a:ln w="12700">
            <a:solidFill>
              <a:srgbClr val="0369A1"/>
            </a:solidFill>
            <a:prstDash val="solid"/>
          </a:ln>
        </p:spPr>
      </p:sp>
      <p:sp>
        <p:nvSpPr>
          <p:cNvPr id="6" name="Shape 4"/>
          <p:cNvSpPr/>
          <p:nvPr/>
        </p:nvSpPr>
        <p:spPr>
          <a:xfrm>
            <a:off x="765766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8" name="Text 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492758"/>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6" name="Shape 10"/>
          <p:cNvSpPr/>
          <p:nvPr/>
        </p:nvSpPr>
        <p:spPr>
          <a:xfrm>
            <a:off x="6583680" y="3619500"/>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20" name="Shape 14"/>
          <p:cNvSpPr/>
          <p:nvPr/>
        </p:nvSpPr>
        <p:spPr>
          <a:xfrm>
            <a:off x="6583680" y="5689854"/>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2026-10-16T20:22:26Z</dcterms:created>
  <dcterms:modified xsi:type="dcterms:W3CDTF">2026-10-16T20:22:26Z</dcterms:modified>
</cp:coreProperties>
</file>