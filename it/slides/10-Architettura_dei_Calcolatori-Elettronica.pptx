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8041d6f0-d53c-8d00-3e63-2c0f071f480c}">
          <p14:sldIdLst>
            <p14:sldId id="256"/>
            <p14:sldId id="257"/>
          </p14:sldIdLst>
        </p14:section>
        <p14:section name="L'elettricità in quattro grandezze" id="{024e9793-3bb0-d16c-a287-f787fb4e9f21}">
          <p14:sldIdLst>
            <p14:sldId id="258"/>
            <p14:sldId id="259"/>
            <p14:sldId id="260"/>
            <p14:sldId id="261"/>
          </p14:sldIdLst>
        </p14:section>
        <p14:section name="Semiconduttori" id="{7081e45e-4385-ec22-2315-53dea4b97fe0}">
          <p14:sldIdLst>
            <p14:sldId id="262"/>
            <p14:sldId id="263"/>
            <p14:sldId id="264"/>
          </p14:sldIdLst>
        </p14:section>
        <p14:section name="Dai volt ai bit" id="{6408b04c-22de-acb0-9cee-de08c0778ce0}">
          <p14:sldIdLst>
            <p14:sldId id="265"/>
            <p14:sldId id="266"/>
            <p14:sldId id="267"/>
            <p14:sldId id="268"/>
            <p14:sldId id="269"/>
            <p14:sldId id="270"/>
          </p14:sldIdLst>
        </p14:section>
        <p14:section name="Ritorno alla macchina" id="{4535d49d-42a2-2c74-b8b6-4c01a4dc9d30}">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Finora una porta è stata un simbolo e una tavola di verità; questa lezione le dà un corpo fisico. Segue un solo bit, quello di un pulsante del kit, dal dito che lo preme al registro che il programma legge, spiegando lungo il percorso che cos'è un volt, che cosa fa un transistor e come due transistor formano una porta NOT. Non si presuppone alcuna conoscenza di fisica. La citazione di Arthur C. Clarke nomina l'impressione che la lezione si propone di dissipare: un chip sembra magia solo finché non si vede di che cosa è fatto.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gli ingressi con pull-up; tensione, corrente, legge di Ohm; il transistor come interruttore; dai volt ai bit; le porte CMOS. DA UTILIZZARE OGGI: il programma completo, gli strumenti di PRG32 (si usa, non si studia, in questo corso). DA COMPRENDERE PIÙ AVANTI: il clock (Lezione 13). Una slide senza etichetta è contesto: una storia, un esempio, una domanda, un esercizio.
Percorso. I risultati di oggi: (1) spiegare come un transistor MOS funziona da interruttore e come CMOS costruisce una porta; (2) leggere livelli logici e margini di rumore dalle tensioni; (3) dimensionare la resistenza di un LED e spiegare il pull-up di un pulsante. Si appoggia su: solo ciò che ha preparato la Lezione 01. Prossimo passo: Lezione 11, Macchine combinatorie.
Ponte. Nella Lezione 02 il contatore sopravviveva da un frame all'altro in memoria, non in un registro. Oggi una cella di memoria costa circa 6 transistor e un flip-flop circa 20: ricordare un bit è un circuito. La Lezione 13 mostra come latch e flip-flop conservano un bit. Richiamo: Dove abitava il contatore della Lezione 02 tra due frame, e perché non in t1?
Per il docente: Lezione nuova del 2026/27, collocata tra l'algebra di Boole e le macchine combinatorie. Dà un corpo fisico alle porte delle Lezioni 08 e 09 prima che la Lezione 11 le componga in macchine. Spirale: il pulsante del kit, letto fin dai primi laboratori, viene seguito dal dito al bit. Non si presuppongono conoscenze di fisica; i numeri del kit vengono dal datasheet dell'ESP32-C6 (tabella 5-4) e dalla documentazione hardware di PRG32.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risultati di apprendimento. Applicare le quattro grandezze elettriche e la legge di Ohm a un circuito semplice. Dimensionare la resistenza di un LED e calcolare un partitore di tensione. Spiegare che cos'è un transistor e come un transistor MOS funziona da interruttore. Dire come una tensione diventa un valore logico, e che cos'è un margine di rumore. Disegnare l'invertitore, il NAND e il NOR CMOS e contarne i transistor. E spiegare le resistenze di pull-up, gli ingressi flottanti, e perché la commutazione di una porta costa tempo ed energia.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grandezze, introdotte con l'analogia dell'acqua nei tubi. La tensione è la pressione che spinge il flusso; si misura in volt ed è sempre definita tra due punti. La corrente è il flusso, in ampere. La resistenza è l'opposizione al flusso, in ohm. La potenza è il lavoro compiuto al secondo, in watt. L'ultima colonna lega ciascuna al kit: un'alimentazione di 3,3 V, circa 10 mA in un LED acceso, 45 kΩ dentro ogni piedino di ingresso. La didascalia fissa una convenzione: dire che un piedino "è a 3,3 V" significa 3,3 V rispetto alla massa, il riferimento comune.
DA COMPRENDERE OGGI: tensione, corrente, legge di Ohm.
Per il docente: La carica elettrica è trasportata dagli elettroni; la corrente è carica al secondo. Una tensione è sempre tra due punti: dicendo «il piedino sta a 3,3 V» si intende rispetto a massa, il riferimento comune dell'intero circuito. Prefissi: milli (m) 10^-3, micro (µ) 10^-6, kilo (k) 10^3, mega (M)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legge di Ohm: la tensione ai capi di una resistenza è uguale alla resistenza moltiplicata per la corrente che la attraversa. Un circuito è un anello chiuso, e il disegno mostra il più semplice di quelli utili: un'alimentazione, una resistenza e un LED. Il LED trattiene ai suoi capi circa 2 V; la resistenza prende gli 1,3 V restanti e determina così la corrente. Per 10 mA la resistenza deve valere 1,3 / 0,010 = 130 Ω, e il valore standard più vicino è 150 Ω, che sbaglia nel senso di una corrente minore. Senza resistenza la corrente sarebbe limitata solo dall'alimentazione e il LED si distruggerebbe.
DA COMPRENDERE OGGI: tensione, corrente, legge di Ohm.
Per il docente: Georg Ohm, 1827. La tensione diretta di un LED dipende dal colore: circa 1,8-2,2 V per il rosso, circa 3 V per blu e bianco. Con 150 Ω la corrente è 1,3 / 150 = 8,7 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combinare le resistenze. In serie la stessa corrente attraversa entrambe e le resistenze si sommano. In parallelo la stessa tensione è applicata a entrambe e la resistenza complessiva è minore di ciascuna. Due resistenze in serie formano un partitore di tensione: l'uscita, presa nel loro punto di unione, è uguale all'alimentazione moltiplicata per R2/(R1 + R2). Con resistenze uguali è metà dell'alimentazione; se R2 è molto minore di R1, l'uscita si avvicina alla massa. Il partitore va tenuto a mente, perché spiega il circuito del pulsante alla fine della lezione.
DA COMPRENDERE OGGI: tensione, corrente, legge di Ohm.
Per il docente: Il partitore è la chiave del circuito di pull-up alla fine della lezione: un pulsante è un resistore che è o infinito (aperto) o quasi zero (chiuso). Parallelo: 1/R = 1/R1 + 1/R2.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condensatore immagazzina carica come un serbatoio immagazzina acqua, e la sua tensione non può cambiare istantaneamente: deve essere caricato o scaricato attraverso una resistenza. Il tempo necessario è dell'ordine di R per C, la costante di tempo; dopo una costante di tempo la tensione ha percorso circa il 63% della sua escursione. Per un piedino di ingresso del kit, 45 kΩ per 2 pF danno 90 nanosecondi. Ogni filo e ogni ingresso di transistor si comporta come un piccolo condensatore, ed è questa l'origine fisica del ritardo delle porte. Un condensatore carico o scarico è anche un modo per memorizzare un bit, come mostra la cella DRAM della Lezione 15.
DA COMPRENDERE OGGI: tensione, corrente, legge di Ohm.
Per il docente: RC è la costante di tempo: dopo RC la tensione ha percorso circa il 63% della strada. Capacità di un piedino dell'ESP32-C6: 2 pF tipici (datasheet). Fili e pulsante ne aggiungono altra, quindi il valore reale è maggiore.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conduttori permettono il flusso della carica; gli isolanti lo impediscono. I semiconduttori stanno tra i due, e la loro conducibilità si può controllare. Il controllo si ottiene con il drogaggio: l'introduzione di un piccolo numero di atomi di un altro elemento. Nel silicio di tipo n c'è un eccesso di elettroni, che fanno da portatori negativi; nel silicio di tipo p c'è un difetto di elettroni, detti lacune, che si comportano come portatori positivi. Dove una regione p incontra una regione n si forma una giunzione. Un chip è una fetta di silicio con miliardi di tali regioni, interconnesse da strati di metallo.
DA COMPRENDERE OGGI: il transistor come interruttore.
Per il docente: Il silicio è il secondo elemento più abbondante della crosta terrestre: sabbia. L'intera industria si regge sul purificarlo e drogarlo con estrema precisione.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storia dell'interruttore senza parti in movimento, in sei date. Il transistor del 1947 sostituisce la valvola termoionica. Il circuito integrato del 1958 colloca più transistor su un solo pezzo di semiconduttore. Il transistor MOS del 1960 è piccolo, semplice da fabbricare e non richiede quasi corrente di comando. Il CMOS, nel 1963, combina due tipi complementari così che la potenza si consumi sostanzialmente solo durante la commutazione. Nel 1971 un processore completo sta su un chip con 2.300 transistor; un chip contemporaneo ne contiene decine di miliardi.
DA COMPRENDERE OGGI: il transistor come interruttore.
Per il docente: Un transistor è un dispositivo a tre terminali in cui un piccolo segnale su uno controlla la corrente tra gli altri due. Usato come amplificatore ha reso portatile la radio; usato come interruttore ha reso possibile il calcolatore. Valvole e relè facevano lo stesso lavoro nei primi calcolatori della Lezione 03, un milione di volte più grandi e più lenti.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transistor MOS ha tre terminali: il gate controlla se la corrente può passare tra gli altri due, il source e il drain. Esistono due tipi, e la tabella contiene tutto ciò che serve: un nMOS conduce quando il suo gate è alto, un pMOS quando il suo gate è basso. Sono complementari, perché la tensione che chiude l'uno apre l'altro. Il gate è isolato e non assorbe praticamente corrente. Servirà tra poco un fatto ulteriore: un nMOS è efficace nel collegare un nodo alla massa, un pMOS nel collegarlo all'alimentazione.
DA COMPRENDERE OGGI: il transistor come interruttore.
Per il docente: MOS: metallo, ossido, semiconduttore, i tre strati del gate. Il cerchietto sul gate del pMOS significa, come nei simboli logici, «attivo quando è basso». Corrente di ingresso di un piedino dell'ESP32-C6: al più 50 nA (datasheet).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circuito digitale non usa tensioni esatte ma due intervalli, mostrati nella figura per il kit. Un'uscita garantisce livelli puliti: sopra 2,64 V per un 1, sotto 0,33 V per uno 0. Un ingresso è più tollerante: legge 1 sopra 2,475 V e 0 sotto 0,825 V. La differenza tra ciò che un'uscita garantisce e ciò che un ingresso richiede è il margine di rumore: un disturbo minore del margine non può alterare il bit. Tra le due soglie di ingresso il valore logico non è definito, e i segnali devono attraversare quella fascia rapidamente.
DA COMPRENDERE OGGI: dai volt ai bit.
Per il docente: Datasheet dell'ESP32-C6, tabella 5-4, con VDD = 3,3 V: VOH min 0,8 VDD, VOL max 0,1 VDD, VIH min 0,75 VDD, VIL max 0,25 VDD. Margini di rumore: 2,64 - 2,475 = 0,165 V in alto, 0,825 - 0,33 = 0,495 V in basso. È la soglia «metà della tensione di alimentazione» della Lezione 13, resa precisa.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rinunciare alla ricchezza dei segnali analogici? In un circuito analogico il valore esatto è l'informazione, quindi ogni stadio aggiunge un po' di rumore e il rumore si accumula: ogni copia è peggiore della precedente. In un circuito digitale conta solo l'intervallo, e ogni porta rigenera un livello nuovo e pulito: il rumore non si accumula, le copie sono perfette, e gli errori si possono persino rilevare e correggere, come mostra la Lezione 11 con la parità. I circuiti analogici restano indispensabili ai confini di un sistema, dove esso incontra il mondo fisico: sensori, radio, suono.
DA COMPRENDERE OGGI: dai volt ai bit.
Per il docente: La storia analogico-digitale della Lezione 04, vista dal filo. L'amplificatore audio e la radio del kit sono i bordi analogici di un sistema per il resto digitale.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porta. Un pMOS collega l'uscita all'alimentazione, un nMOS la collega alla massa, ed entrambi i gate sono pilotati dallo stesso ingresso. Con l'ingresso a 0 il pMOS conduce e l'uscita vale 1; con l'ingresso a 1 conduce l'nMOS e l'uscita vale 0. Il circuito è un NOT. Con un ingresso stabile conduce esattamente uno dei due transistor, quindi a riposo non scorre corrente dall'alimentazione alla massa: è per questo che il CMOS consuma una potenza statica quasi nulla, e la ragione della sua adozione universale.
DA COMPRENDERE OGGI: le porte CMOS.
Per il docente: CMOS: MOS complementare. Y = A'. La rete di pull-up (pMOS) e la rete di pull-down (nMOS) sono l'una la duale dell'altra, come nel principio di dualità della Lezione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ingressi, quattro transistor. Nel NAND i due nMOS sono in serie: l'uscita è collegata alla massa solo se A e B valgono entrambi 1. I due pMOS sono in parallelo: l'uscita è collegata all'alimentazione se uno qualsiasi degli ingressi vale 0. La serie realizza l'AND, il parallelo l'OR. Il NOR è il circuito duale, con serie e parallelo scambiati, esattamente come le leggi di De Morgan scambiano AND e OR. Entrambi i disegni vanno verificati per le quattro combinazioni degli ingressi, segnando in ciascun caso quali transistor conducono.
DA COMPRENDERE OGGI: le porte CMOS.
Per il docente: Serie è AND, parallelo è OR: l'idea dei circuiti a commutazione di Nakajima e Shannon (Lezione 03). Quattro transistor ciascuna. Chiedere all'aula di verificare sul disegno le quattro combinazioni di ingresso.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costo dei circuiti misurato in transistor. Un NOT costa 2, un NAND o un NOR 4, un AND o un OR 6, perché ciascuno è un NAND o un NOR seguito da un invertitore. Questo rovescia l'intuizione suggerita dall'algebra: in CMOS le porte invertenti sono quelle primitive, e un AND costa più di un NAND. Un sommatore completo richiede circa 28 transistor, una cella di memoria 6, un flip-flop, l'elemento di memoria da un bit della Lezione 13, circa 20. Lo scopo della minimizzazione diventa ora concreto: meno letterali significano meno transistor, e quindi meno area, meno energia e meno ritardo.
DA COMPRENDERE OGGI: le porte CMOS.
Per il docente: Ecco perché NAND è la porta universale della Lezione 09 in pratica oltre che in teoria: un AND costa più di un NAND. I conteggi valgono per il CMOS statico convenzionale e variano con lo stile di progetto. Trentadue sommatori completi: circa 900 transistor per l'addizionatore che sta dietro l'istruzione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L'uscita di una porta pilota gli ingressi di altre porte, che sono piccoli condensatori. Per cambiare livello deve caricarli o scaricarli attraverso la resistenza dei propri transistor, il che richiede tempo, il ritardo di propagazione, ed energia, a ogni transizione. La potenza dinamica è approssimativamente C per V^2 per f: capacità, quadrato della tensione di alimentazione e frequenza di commutazione. Ridurre la tensione dà il risparmio maggiore, ed è per questo che le tensioni di alimentazione interne sono scese da 5 V a circa 1 V. La velocità si paga in calore. Il ritardo di propagazione ricompare nella Lezione 11 come cammino critico e nella Lezione 13 come ragione del clock.
DA COMPRENDERE OGGI: le porte CMOS. DA COMPRENDERE PIÙ AVANTI: il clock (si studia nella Lezione 13).
Per il docente: C la capacità commutata, V l'alimentazione, f la frequenza di commutazione. Il ritardo di propagazione ritorna nella Lezione 11 come percorso critico, e nella Lezione 13 come ragione del clock. L'ESP32-C6 ha un'alimentazione a 3,3 V per i piedini e una tensione interna più bassa per la logica.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ingresso collegato a nulla è flottante: raccoglie rumore e legge 0 o 1 in modo imprevedibile. Il rimedio è una resistenza di pull-up che lega il piedino a 3,3 V. Con il pulsante rilasciato non scorre corrente, e il piedino legge un 1 pulito. Con il pulsante premuto l'interruttore collega il piedino alla massa: 0 V, uno 0 pulito, mentre nella resistenza scorre una corrente trascurabile di 73 microampere. Il circuito è un partitore di tensione la cui resistenza inferiore è o infinita o nulla. Il firmware poi inverte il bit, così che nel programma "premuto" si legge 1. Il riscaldamento è così spiegato per intero.
DA COMPRENDERE OGGI: gli ingressi con pull-up.
Per il docente: Pull-up debole interno dell'ESP32-C6: 45 kΩ tipici (datasheet). Il firmware lo attiva su ogni piedino dei pulsanti (prg32_input.c) e legge i piedini invertiti (prg32_controller.c). Il triangolo è il buffer di ingresso del piedino. Si chiama logica attiva bassa.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la legge di Ohm si applica alla sola resistenza, non all'intero circuito. La resistenza vede l'alimentazione meno ciò che il LED trattiene, 3,3 - 2 V, e quella tensione si divide per la corrente espressa in ampere: 5 mA è 0,005 A.
Per la seconda ci si chiede quale dei due transistor ha il gate al livello che lo fa condurre quando l'ingresso vale 0. Un pMOS conduce con il gate basso, ed è quello collegato all'alimentazione. I due transistor non conducono mai insieme, e l'uscita non resta mai scollegata.
Per il docente: 1. Risposta: B. R = (3,3 - 2) / 0,005 = 260 Ω.
2. Risposta: B. Un gate basso chiude il pMOS, che collega l'uscita all'alimentazione; l'nMOS è aperto.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in CMOS un AND non si costruisce direttamente ma come un NAND seguito da un invertitore, quindi si sommano i transistor dei due.
Per la seconda si considera il pulsante rilasciato: il piedino è allora collegato a nulla. Che cosa leggerebbe? Il pull-up non ha a che fare con il LED, con la velocità o con la protezione: dà all'ingresso un livello definito quando l'interruttore è aperto.
Per il docente: 1. Risposta: C. Un NAND (4) seguito da un invertitore (2).
2. Risposta: B. Senza, il piedino rilasciato sarebbe flottante; il pull-up lo lega a 3,3 V, e l'interruttore premuto prevale portandolo a massa.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Quattordici termini. Due falsi amici meritano attenzione: voltage in italiano è tensione, e ground è massa. Un capacitor è un condensatore. Gate, source e drain non si traducono. Il noise margin è il margine di rumore, e un floating input è un ingresso flottante.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La tensione spinge, la corrente scorre, la resistenza si oppone, e la legge di Ohm copre gran parte di ciò che serve a un progettista digitale. Un transistor MOS è un interruttore comandato in tensione, disponibile in due tipi complementari. Un bit è un intervallo di tensioni, reso affidabile dai margini di rumore e dalla rigenerazione dei livelli a ogni porta. Le porte CMOS sono coppie di reti di interruttori complementari, e le porte invertenti sono le più economiche. La commutazione costa tempo ed energia. La prossima lezione costruisce con queste porte delle macchine funzionali.
Stato di apprendimento, riepilogo. DA COMPRENDERE OGGI: gli ingressi con pull-up; tensione, corrente, legge di Ohm; il transistor come interruttore; dai volt ai bit; le porte CMOS. DA UTILIZZARE OGGI: il programma completo, gli strumenti di PRG32 (si usa, non si studia, in questo corso). DA COMPRENDERE PIÙ AVANTI: il clock (Lezione 13). Una slide senza etichetta è contesto: una storia, un esempio, una domanda, un esercizio. Il filo della lezione: Un bit è una tensione dentro un intervallo garantito, e una porta è qualche interruttore: il pulsante del kit è ora un circuito che capite. Prossimo passo: le macchine costruite con le porte. Biglietto d'uscita (da due a quattro minuti, da soli, su carta): 1. In due frasi: come funziona da interruttore un transistor MOS, e perché un invertitore CMOS non assorbe quasi corrente quando il suo ingresso è stabile? 2. Sul kit un ingresso legge 1 sopra 2,475 V e 0 sotto 0,825 V; un'uscita dà un 1 sopra 2,64 V. Un filo aggiunge 0,1 V di rumore verso il basso. Un 1 può essere letto male? Che cosa legge un ingresso a 1,6 V?
Per il docente: Prossima lezione: le macchine combinatorie, costruite con queste porte.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10: Elettronica ed elettronica digitale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Introduzione all'elettronica e all'elettronica digitale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000" dirty="0">
                <a:solidFill>
                  <a:srgbClr val="CFE3EA"/>
                </a:solidFill>
                <a:latin typeface="Calibri" pitchFamily="34" charset="0"/>
                <a:ea typeface="Calibri" pitchFamily="34" charset="-122"/>
                <a:cs typeface="Calibri" pitchFamily="34" charset="-120"/>
              </a:rPr>
              <a:t>Da volt e transistor alle porte logiche: di che cosa sono fatti uno 0 e un 1</a:t>
            </a:r>
            <a:endParaRPr lang="en-US" sz="20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“Ogni tecnologia sufficientemente avanzata è indistinguibile dalla magia.”</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Arthur C. Clarke, Profiles of the Future, 1973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10-Architettura_dei_Calcolatori-Elettronica-Lab.pptx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kit_breadboard.png">    </p:cNvPr>
          <p:cNvPicPr>
            <a:picLocks noChangeAspect="1"/>
          </p:cNvPicPr>
          <p:nvPr/>
        </p:nvPicPr>
        <p:blipFill>
          <a:blip r:embed="rId1"/>
          <a:stretch>
            <a:fillRect/>
          </a:stretch>
        </p:blipFill>
        <p:spPr>
          <a:xfrm>
            <a:off x="8716975" y="4254756"/>
            <a:ext cx="2834640" cy="1823209"/>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Usare tensione, corrente, resistenza e potenza, e applicare la legge di Ohm a un circuito semplice</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Dimensionare la resistenza di un LED e calcolare un partitore di tensione</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cos'è un transistor e come un transistor MOS funziona da interruttore</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come le tensioni diventano valori logici, e che cos'è un margine di rumore</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Disegnare in CMOS invertitore, NAND e NOR, e contarne i transistor</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le resistenze di pull-up, gli ingressi flottanti e perché una porta richiede tempo ed energia per commutare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grandezze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000632"/>
                <a:gridCol w="3637513"/>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Grandezza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Simbolo, unità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Analogia idraulica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Sul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tensione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 volt (V)</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pressione che spinge l'acqua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3,3 V tra la linea di alimentazione e la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corrente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 ampere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portata: litri al secondo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circa 10 mA in un LED acceso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resistenza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 ohm (Ω)</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tubo stretto che ostacola il flusso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45 kΩ: il pull-up dentro ogni piedino di ingresso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 watt (W)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lavoro che il flusso può compiere ogni secondo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 più 2,5 W da una porta USB 2.0 (5 V, 0,5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Una tensione si misura sempre tra due punti. La massa (GND) è il riferimento comune: 0 V per definizione.</a:t>
            </a:r>
            <a:endParaRPr lang="en-US" sz="1500" dirty="0"/>
          </a:p>
        </p:txBody>
      </p:sp>
      <p:sp>
        <p:nvSpPr>
          <p:cNvPr id="5" name="Shape 2"/>
          <p:cNvSpPr/>
          <p:nvPr/>
        </p:nvSpPr>
        <p:spPr>
          <a:xfrm>
            <a:off x="7132396" y="91440"/>
            <a:ext cx="4510659" cy="274320"/>
          </a:xfrm>
          <a:prstGeom prst="rect">
            <a:avLst/>
          </a:prstGeom>
          <a:solidFill>
            <a:srgbClr val="E0F2FE"/>
          </a:solidFill>
          <a:ln w="12700">
            <a:solidFill>
              <a:srgbClr val="0369A1"/>
            </a:solidFill>
            <a:prstDash val="solid"/>
          </a:ln>
        </p:spPr>
      </p:sp>
      <p:sp>
        <p:nvSpPr>
          <p:cNvPr id="6" name="Shape 3"/>
          <p:cNvSpPr/>
          <p:nvPr/>
        </p:nvSpPr>
        <p:spPr>
          <a:xfrm>
            <a:off x="7132396"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260412" y="128016"/>
            <a:ext cx="201168" cy="201168"/>
          </a:xfrm>
          <a:prstGeom prst="rect">
            <a:avLst/>
          </a:prstGeom>
        </p:spPr>
      </p:pic>
      <p:sp>
        <p:nvSpPr>
          <p:cNvPr id="8" name="Text 4"/>
          <p:cNvSpPr txBox="1"/>
          <p:nvPr/>
        </p:nvSpPr>
        <p:spPr>
          <a:xfrm>
            <a:off x="7516444" y="91440"/>
            <a:ext cx="409003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tensione, corrente, legge di Ohm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legge di Ohm, e la resistenza di un LED</a:t>
            </a:r>
            <a:endParaRPr lang="en-US" sz="3200" dirty="0"/>
          </a:p>
        </p:txBody>
      </p:sp>
      <p:sp>
        <p:nvSpPr>
          <p:cNvPr id="3" name="Shape 1"/>
          <p:cNvSpPr/>
          <p:nvPr/>
        </p:nvSpPr>
        <p:spPr>
          <a:xfrm>
            <a:off x="548640" y="1417320"/>
            <a:ext cx="4206240" cy="4754880"/>
          </a:xfrm>
          <a:prstGeom prst="roundRect">
            <a:avLst>
              <a:gd name="adj" fmla="val 1739"/>
            </a:avLst>
          </a:prstGeom>
          <a:solidFill>
            <a:srgbClr val="EEF2F4"/>
          </a:solidFill>
          <a:ln w="12700">
            <a:solidFill>
              <a:srgbClr val="EEF2F4"/>
            </a:solidFill>
            <a:prstDash val="solid"/>
          </a:ln>
        </p:spPr>
      </p:sp>
      <p:sp>
        <p:nvSpPr>
          <p:cNvPr id="4" name="Shape 2"/>
          <p:cNvSpPr/>
          <p:nvPr/>
        </p:nvSpPr>
        <p:spPr>
          <a:xfrm>
            <a:off x="7132396" y="91440"/>
            <a:ext cx="4510659" cy="274320"/>
          </a:xfrm>
          <a:prstGeom prst="rect">
            <a:avLst/>
          </a:prstGeom>
          <a:solidFill>
            <a:srgbClr val="E0F2FE"/>
          </a:solidFill>
          <a:ln w="12700">
            <a:solidFill>
              <a:srgbClr val="0369A1"/>
            </a:solidFill>
            <a:prstDash val="solid"/>
          </a:ln>
        </p:spPr>
      </p:sp>
      <p:sp>
        <p:nvSpPr>
          <p:cNvPr id="5" name="Shape 3"/>
          <p:cNvSpPr/>
          <p:nvPr/>
        </p:nvSpPr>
        <p:spPr>
          <a:xfrm>
            <a:off x="713239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260412" y="128016"/>
            <a:ext cx="201168" cy="201168"/>
          </a:xfrm>
          <a:prstGeom prst="rect">
            <a:avLst/>
          </a:prstGeom>
        </p:spPr>
      </p:pic>
      <p:sp>
        <p:nvSpPr>
          <p:cNvPr id="7" name="Text 4"/>
          <p:cNvSpPr txBox="1"/>
          <p:nvPr/>
        </p:nvSpPr>
        <p:spPr>
          <a:xfrm>
            <a:off x="7516444" y="91440"/>
            <a:ext cx="409003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tensione, corrente, legge di Ohm</a:t>
            </a:r>
            <a:endParaRPr lang="en-US" sz="1100" dirty="0"/>
          </a:p>
        </p:txBody>
      </p:sp>
      <p:pic>
        <p:nvPicPr>
          <p:cNvPr id="9" name="Image 1" descr="preencoded.png">    </p:cNvPr>
          <p:cNvPicPr>
            <a:picLocks noChangeAspect="1"/>
          </p:cNvPicPr>
          <p:nvPr/>
        </p:nvPicPr>
        <p:blipFill>
          <a:blip r:embed="rId2"/>
          <a:stretch>
            <a:fillRect/>
          </a:stretch>
        </p:blipFill>
        <p:spPr>
          <a:xfrm>
            <a:off x="731520" y="2193978"/>
            <a:ext cx="3840480" cy="3201564"/>
          </a:xfrm>
          <a:prstGeom prst="rect">
            <a:avLst/>
          </a:prstGeom>
        </p:spPr>
      </p:pic>
      <p:sp>
        <p:nvSpPr>
          <p:cNvPr id="10" name="Text 5"/>
          <p:cNvSpPr txBox="1"/>
          <p:nvPr/>
        </p:nvSpPr>
        <p:spPr>
          <a:xfrm>
            <a:off x="5120640" y="1417320"/>
            <a:ext cx="6522415" cy="640080"/>
          </a:xfrm>
          <a:prstGeom prst="rect">
            <a:avLst/>
          </a:prstGeom>
          <a:noFill/>
          <a:ln/>
        </p:spPr>
        <p:txBody>
          <a:bodyPr wrap="square" lIns="0" tIns="0" rIns="0" bIns="0" rtlCol="0" anchor="ctr"/>
          <a:lstStyle/>
          <a:p>
            <a:pPr indent="0" marL="0">
              <a:buNone/>
            </a:pPr>
            <a:r>
              <a:rPr lang="en-US" sz="3200" b="1" dirty="0">
                <a:solidFill>
                  <a:srgbClr val="2E4A62"/>
                </a:solidFill>
                <a:latin typeface="Courier New" pitchFamily="34" charset="0"/>
                <a:ea typeface="Courier New" pitchFamily="34" charset="-122"/>
                <a:cs typeface="Courier New" pitchFamily="34" charset="-120"/>
              </a:rPr>
              <a:t>V = R x I</a:t>
            </a:r>
            <a:endParaRPr lang="en-US" sz="3200" dirty="0"/>
          </a:p>
        </p:txBody>
      </p:sp>
      <p:sp>
        <p:nvSpPr>
          <p:cNvPr id="11" name="Shape 6"/>
          <p:cNvSpPr/>
          <p:nvPr/>
        </p:nvSpPr>
        <p:spPr>
          <a:xfrm>
            <a:off x="5120640" y="2323465"/>
            <a:ext cx="146304" cy="146304"/>
          </a:xfrm>
          <a:prstGeom prst="rect">
            <a:avLst/>
          </a:prstGeom>
          <a:solidFill>
            <a:srgbClr val="0E7C86"/>
          </a:solidFill>
          <a:ln w="12700">
            <a:solidFill>
              <a:srgbClr val="0E7C86"/>
            </a:solidFill>
            <a:prstDash val="solid"/>
          </a:ln>
        </p:spPr>
      </p:sp>
      <p:sp>
        <p:nvSpPr>
          <p:cNvPr id="12" name="Text 7"/>
          <p:cNvSpPr txBox="1"/>
          <p:nvPr/>
        </p:nvSpPr>
        <p:spPr>
          <a:xfrm>
            <a:off x="5504688" y="2240280"/>
            <a:ext cx="6138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corrente in un resistore è proporzionale alla tensione ai suoi capi</a:t>
            </a:r>
            <a:endParaRPr lang="en-US" sz="1900" dirty="0"/>
          </a:p>
        </p:txBody>
      </p:sp>
      <p:sp>
        <p:nvSpPr>
          <p:cNvPr id="13" name="Shape 8"/>
          <p:cNvSpPr/>
          <p:nvPr/>
        </p:nvSpPr>
        <p:spPr>
          <a:xfrm>
            <a:off x="5120640" y="3260386"/>
            <a:ext cx="146304" cy="146304"/>
          </a:xfrm>
          <a:prstGeom prst="rect">
            <a:avLst/>
          </a:prstGeom>
          <a:solidFill>
            <a:srgbClr val="C7791B"/>
          </a:solidFill>
          <a:ln w="12700">
            <a:solidFill>
              <a:srgbClr val="C7791B"/>
            </a:solidFill>
            <a:prstDash val="solid"/>
          </a:ln>
        </p:spPr>
      </p:sp>
      <p:sp>
        <p:nvSpPr>
          <p:cNvPr id="14" name="Text 9"/>
          <p:cNvSpPr txBox="1"/>
          <p:nvPr/>
        </p:nvSpPr>
        <p:spPr>
          <a:xfrm>
            <a:off x="5504688" y="3177201"/>
            <a:ext cx="6138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circuito è un anello chiuso: la corrente esce dalla sorgente, attraversa i componenti e ritorna</a:t>
            </a:r>
            <a:endParaRPr lang="en-US" sz="1900" dirty="0"/>
          </a:p>
        </p:txBody>
      </p:sp>
      <p:sp>
        <p:nvSpPr>
          <p:cNvPr id="15" name="Shape 10"/>
          <p:cNvSpPr/>
          <p:nvPr/>
        </p:nvSpPr>
        <p:spPr>
          <a:xfrm>
            <a:off x="5120640" y="4197308"/>
            <a:ext cx="146304" cy="146304"/>
          </a:xfrm>
          <a:prstGeom prst="rect">
            <a:avLst/>
          </a:prstGeom>
          <a:solidFill>
            <a:srgbClr val="0E7C86"/>
          </a:solidFill>
          <a:ln w="12700">
            <a:solidFill>
              <a:srgbClr val="0E7C86"/>
            </a:solidFill>
            <a:prstDash val="solid"/>
          </a:ln>
        </p:spPr>
      </p:sp>
      <p:sp>
        <p:nvSpPr>
          <p:cNvPr id="16" name="Text 11"/>
          <p:cNvSpPr txBox="1"/>
          <p:nvPr/>
        </p:nvSpPr>
        <p:spPr>
          <a:xfrm>
            <a:off x="5504688" y="4114123"/>
            <a:ext cx="613836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LED si accende quando lo attraversa corrente, e fa cadere circa 2 V; senza resistenza la corrente sarebbe di gran lunga troppa</a:t>
            </a:r>
            <a:endParaRPr lang="en-US" sz="1900" dirty="0"/>
          </a:p>
        </p:txBody>
      </p:sp>
      <p:sp>
        <p:nvSpPr>
          <p:cNvPr id="17" name="Shape 12"/>
          <p:cNvSpPr/>
          <p:nvPr/>
        </p:nvSpPr>
        <p:spPr>
          <a:xfrm>
            <a:off x="5120640" y="5428615"/>
            <a:ext cx="146304" cy="146304"/>
          </a:xfrm>
          <a:prstGeom prst="rect">
            <a:avLst/>
          </a:prstGeom>
          <a:solidFill>
            <a:srgbClr val="C7791B"/>
          </a:solidFill>
          <a:ln w="12700">
            <a:solidFill>
              <a:srgbClr val="C7791B"/>
            </a:solidFill>
            <a:prstDash val="solid"/>
          </a:ln>
        </p:spPr>
      </p:sp>
      <p:sp>
        <p:nvSpPr>
          <p:cNvPr id="18" name="Text 13"/>
          <p:cNvSpPr txBox="1"/>
          <p:nvPr/>
        </p:nvSpPr>
        <p:spPr>
          <a:xfrm>
            <a:off x="5504688" y="5345430"/>
            <a:ext cx="6138367"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Alla resistenza va ciò che resta: 3,3 - 2 = 1,3 V</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per 10 mA: R = 1,3 / 0,010 = 130 Ω; il valore commerciale più vicino è 150 Ω</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Serie, parallelo e partitore di tensione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382512" cy="87325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Serie: la stessa corrente attraversa entrambi i resistori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le resistenze si sommano: R = R1 + R2</a:t>
            </a:r>
            <a:endParaRPr lang="en-US" sz="1900" dirty="0"/>
          </a:p>
        </p:txBody>
      </p:sp>
      <p:sp>
        <p:nvSpPr>
          <p:cNvPr id="5" name="Shape 3"/>
          <p:cNvSpPr/>
          <p:nvPr/>
        </p:nvSpPr>
        <p:spPr>
          <a:xfrm>
            <a:off x="548640" y="262477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1588"/>
            <a:ext cx="638251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Parallelo: la stessa tensione è ai capi di entrambi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la corrente si divide; la resistenza totale è minore di ciascuna</a:t>
            </a:r>
            <a:endParaRPr lang="en-US" sz="1900" dirty="0"/>
          </a:p>
        </p:txBody>
      </p:sp>
      <p:sp>
        <p:nvSpPr>
          <p:cNvPr id="7" name="Shape 5"/>
          <p:cNvSpPr/>
          <p:nvPr/>
        </p:nvSpPr>
        <p:spPr>
          <a:xfrm>
            <a:off x="548640" y="370255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19373"/>
            <a:ext cx="6382512" cy="57886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Due resistori in serie dividono la tensione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Vout = Vdd x R2 / (R1 + R2)</a:t>
            </a:r>
            <a:endParaRPr lang="en-US" sz="1900" dirty="0"/>
          </a:p>
        </p:txBody>
      </p:sp>
      <p:sp>
        <p:nvSpPr>
          <p:cNvPr id="9" name="Shape 7"/>
          <p:cNvSpPr/>
          <p:nvPr/>
        </p:nvSpPr>
        <p:spPr>
          <a:xfrm>
            <a:off x="548640" y="453244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49255"/>
            <a:ext cx="63825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Resistori uguali danno metà dell'alimentazione; una R2 molto più piccola porta Vout vicino a massa</a:t>
            </a:r>
            <a:endParaRPr lang="en-US" sz="1900" dirty="0"/>
          </a:p>
        </p:txBody>
      </p:sp>
      <p:sp>
        <p:nvSpPr>
          <p:cNvPr id="11" name="Shape 9"/>
          <p:cNvSpPr/>
          <p:nvPr/>
        </p:nvSpPr>
        <p:spPr>
          <a:xfrm>
            <a:off x="548640" y="537222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89042"/>
            <a:ext cx="63825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Leggi di Kirchhoff: le correnti entranti in un nodo sommano a quelle uscenti; le tensioni lungo una maglia sommano a zero</a:t>
            </a:r>
            <a:endParaRPr lang="en-US" sz="1900" dirty="0"/>
          </a:p>
        </p:txBody>
      </p:sp>
      <p:sp>
        <p:nvSpPr>
          <p:cNvPr id="13" name="Shape 11"/>
          <p:cNvSpPr/>
          <p:nvPr/>
        </p:nvSpPr>
        <p:spPr>
          <a:xfrm>
            <a:off x="7772400" y="1417320"/>
            <a:ext cx="3870655" cy="4754880"/>
          </a:xfrm>
          <a:prstGeom prst="roundRect">
            <a:avLst>
              <a:gd name="adj" fmla="val 1890"/>
            </a:avLst>
          </a:prstGeom>
          <a:solidFill>
            <a:srgbClr val="EEF2F4"/>
          </a:solidFill>
          <a:ln w="12700">
            <a:solidFill>
              <a:srgbClr val="EEF2F4"/>
            </a:solidFill>
            <a:prstDash val="solid"/>
          </a:ln>
        </p:spPr>
      </p:sp>
      <p:sp>
        <p:nvSpPr>
          <p:cNvPr id="14" name="Shape 12"/>
          <p:cNvSpPr/>
          <p:nvPr/>
        </p:nvSpPr>
        <p:spPr>
          <a:xfrm>
            <a:off x="7132396" y="91440"/>
            <a:ext cx="4510659" cy="274320"/>
          </a:xfrm>
          <a:prstGeom prst="rect">
            <a:avLst/>
          </a:prstGeom>
          <a:solidFill>
            <a:srgbClr val="E0F2FE"/>
          </a:solidFill>
          <a:ln w="12700">
            <a:solidFill>
              <a:srgbClr val="0369A1"/>
            </a:solidFill>
            <a:prstDash val="solid"/>
          </a:ln>
        </p:spPr>
      </p:sp>
      <p:sp>
        <p:nvSpPr>
          <p:cNvPr id="15" name="Shape 13"/>
          <p:cNvSpPr/>
          <p:nvPr/>
        </p:nvSpPr>
        <p:spPr>
          <a:xfrm>
            <a:off x="713239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260412" y="128016"/>
            <a:ext cx="201168" cy="201168"/>
          </a:xfrm>
          <a:prstGeom prst="rect">
            <a:avLst/>
          </a:prstGeom>
        </p:spPr>
      </p:pic>
      <p:sp>
        <p:nvSpPr>
          <p:cNvPr id="17" name="Text 14"/>
          <p:cNvSpPr txBox="1"/>
          <p:nvPr/>
        </p:nvSpPr>
        <p:spPr>
          <a:xfrm>
            <a:off x="7516444" y="91440"/>
            <a:ext cx="409003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tensione, corrente, legge di Ohm</a:t>
            </a:r>
            <a:endParaRPr lang="en-US" sz="1100" dirty="0"/>
          </a:p>
        </p:txBody>
      </p:sp>
      <p:pic>
        <p:nvPicPr>
          <p:cNvPr id="19" name="Image 1" descr="preencoded.png">    </p:cNvPr>
          <p:cNvPicPr>
            <a:picLocks noChangeAspect="1"/>
          </p:cNvPicPr>
          <p:nvPr/>
        </p:nvPicPr>
        <p:blipFill>
          <a:blip r:embed="rId2"/>
          <a:stretch>
            <a:fillRect/>
          </a:stretch>
        </p:blipFill>
        <p:spPr>
          <a:xfrm>
            <a:off x="7955280" y="1925737"/>
            <a:ext cx="3504895" cy="3738045"/>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condensatore: perché i segnali richiedono tempo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condensatore immagazzina carica elettrica, come un serbatoio l'acqua; la capacità si misura in farad (F)</a:t>
            </a:r>
            <a:endParaRPr lang="en-US" sz="2000" dirty="0"/>
          </a:p>
        </p:txBody>
      </p:sp>
      <p:sp>
        <p:nvSpPr>
          <p:cNvPr id="5" name="Shape 3"/>
          <p:cNvSpPr/>
          <p:nvPr/>
        </p:nvSpPr>
        <p:spPr>
          <a:xfrm>
            <a:off x="548640" y="26335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266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sua tensione non può saltare: va riempito, o svuotato, attraverso una resistenza</a:t>
            </a:r>
            <a:endParaRPr lang="en-US" sz="2000" dirty="0"/>
          </a:p>
        </p:txBody>
      </p:sp>
      <p:sp>
        <p:nvSpPr>
          <p:cNvPr id="7" name="Shape 5"/>
          <p:cNvSpPr/>
          <p:nvPr/>
        </p:nvSpPr>
        <p:spPr>
          <a:xfrm>
            <a:off x="548640" y="344906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tempo necessario è dell'ordine di R x C</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45 kΩ x 2 pF = 90 ns: il tempo che serve a un piedino di ingresso del kit per salire attraverso il suo pull-up</a:t>
            </a:r>
            <a:endParaRPr lang="en-US" sz="2000" dirty="0"/>
          </a:p>
        </p:txBody>
      </p:sp>
      <p:sp>
        <p:nvSpPr>
          <p:cNvPr id="9" name="Shape 7"/>
          <p:cNvSpPr/>
          <p:nvPr/>
        </p:nvSpPr>
        <p:spPr>
          <a:xfrm>
            <a:off x="548640" y="45180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7093"/>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Ogni filo e ogni ingresso di transistor è un piccolo condensatore: da qui nasce il ritardo di propagazione di una porta</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condensatore carico o scarico è anche un modo di memorizzare un bit: la cella DRAM della Lezione 15</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 x C</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resistenza per capacità è un tempo: la ragione per cui in un circuito nulla è istantaneo</a:t>
            </a:r>
            <a:endParaRPr lang="en-US" sz="1900" dirty="0"/>
          </a:p>
        </p:txBody>
      </p:sp>
      <p:sp>
        <p:nvSpPr>
          <p:cNvPr id="16" name="Shape 14"/>
          <p:cNvSpPr/>
          <p:nvPr/>
        </p:nvSpPr>
        <p:spPr>
          <a:xfrm>
            <a:off x="7132396" y="91440"/>
            <a:ext cx="4510659" cy="274320"/>
          </a:xfrm>
          <a:prstGeom prst="rect">
            <a:avLst/>
          </a:prstGeom>
          <a:solidFill>
            <a:srgbClr val="E0F2FE"/>
          </a:solidFill>
          <a:ln w="12700">
            <a:solidFill>
              <a:srgbClr val="0369A1"/>
            </a:solidFill>
            <a:prstDash val="solid"/>
          </a:ln>
        </p:spPr>
      </p:sp>
      <p:sp>
        <p:nvSpPr>
          <p:cNvPr id="17" name="Shape 15"/>
          <p:cNvSpPr/>
          <p:nvPr/>
        </p:nvSpPr>
        <p:spPr>
          <a:xfrm>
            <a:off x="713239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260412" y="128016"/>
            <a:ext cx="201168" cy="201168"/>
          </a:xfrm>
          <a:prstGeom prst="rect">
            <a:avLst/>
          </a:prstGeom>
        </p:spPr>
      </p:pic>
      <p:sp>
        <p:nvSpPr>
          <p:cNvPr id="19" name="Text 16"/>
          <p:cNvSpPr txBox="1"/>
          <p:nvPr/>
        </p:nvSpPr>
        <p:spPr>
          <a:xfrm>
            <a:off x="7516444" y="91440"/>
            <a:ext cx="409003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tensione, corrente, legge di Ohm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Conduttori, isolanti, semiconduttori</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conduttori, come il rame, lasciano scorrere liberamente la carica; gli isolanti, come il vetro, no</a:t>
            </a:r>
            <a:endParaRPr lang="en-US" sz="1900" dirty="0"/>
          </a:p>
        </p:txBody>
      </p:sp>
      <p:sp>
        <p:nvSpPr>
          <p:cNvPr id="5" name="Shape 3"/>
          <p:cNvSpPr/>
          <p:nvPr/>
        </p:nvSpPr>
        <p:spPr>
          <a:xfrm>
            <a:off x="548640" y="241141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82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semiconduttori, primo fra tutti il silicio, stanno in mezzo, e la loro conduzione si può controllare</a:t>
            </a:r>
            <a:endParaRPr lang="en-US" sz="1900" dirty="0"/>
          </a:p>
        </p:txBody>
      </p:sp>
      <p:sp>
        <p:nvSpPr>
          <p:cNvPr id="7" name="Shape 5"/>
          <p:cNvSpPr/>
          <p:nvPr/>
        </p:nvSpPr>
        <p:spPr>
          <a:xfrm>
            <a:off x="548640" y="332232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9135"/>
            <a:ext cx="6565392" cy="111125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Drogaggio: aggiungere pochi atomi di un altro elemento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silicio di tipo n ha elettroni in più, portatori negativi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silicio di tipo p ha elettroni mancanti, le lacune, che si comportano da portatori positivi</a:t>
            </a:r>
            <a:endParaRPr lang="en-US" sz="1900" dirty="0"/>
          </a:p>
        </p:txBody>
      </p:sp>
      <p:sp>
        <p:nvSpPr>
          <p:cNvPr id="9" name="Shape 7"/>
          <p:cNvSpPr/>
          <p:nvPr/>
        </p:nvSpPr>
        <p:spPr>
          <a:xfrm>
            <a:off x="548640" y="475570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72521"/>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Dove una regione p incontra una regione n c'è una giunzione: il mattone di ogni dispositivo</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chip è una fetta di silicio con miliardi di regioni drogate, collegate da strati di metallo</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Si</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silicio: elemento 14, un semiconduttore, la materia prima di quasi tutti i chip</a:t>
            </a:r>
            <a:endParaRPr lang="en-US" sz="1900" dirty="0"/>
          </a:p>
        </p:txBody>
      </p:sp>
      <p:sp>
        <p:nvSpPr>
          <p:cNvPr id="16" name="Shape 14"/>
          <p:cNvSpPr/>
          <p:nvPr/>
        </p:nvSpPr>
        <p:spPr>
          <a:xfrm>
            <a:off x="7198055" y="91440"/>
            <a:ext cx="4445000" cy="274320"/>
          </a:xfrm>
          <a:prstGeom prst="rect">
            <a:avLst/>
          </a:prstGeom>
          <a:solidFill>
            <a:srgbClr val="E0F2FE"/>
          </a:solidFill>
          <a:ln w="12700">
            <a:solidFill>
              <a:srgbClr val="0369A1"/>
            </a:solidFill>
            <a:prstDash val="solid"/>
          </a:ln>
        </p:spPr>
      </p:sp>
      <p:sp>
        <p:nvSpPr>
          <p:cNvPr id="17" name="Shape 15"/>
          <p:cNvSpPr/>
          <p:nvPr/>
        </p:nvSpPr>
        <p:spPr>
          <a:xfrm>
            <a:off x="719805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19" name="Text 16"/>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transistor come interruttore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transistor: un interruttore senza parti mobili</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4183140"/>
                <a:gridCol w="5638145"/>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Anno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Chi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Che cosa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1947</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Bardeen, Brattain e Shockley, Bell Labs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primo transistor: sostituisce la valvola termoionica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1958-59</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Jack Kilby; Robert Noyce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circuito integrato: più transistor su un solo pezzo di semiconduttore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1959-60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Atalla e Kahng, Bell Labs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transistor MOS: piccolo, semplice da costruire, quasi nessuna corrente di controllo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1963</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Wanlass e Sah, Fairchild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CMOS: coppie di transistor MOS complementari che assorbono potenza solo quando commutano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1971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Intel 4004</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2300 transistor MOS: un processore su un chip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oggi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l'intera industria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decine di miliardi di transistor CMOS su un chip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198055" y="91440"/>
            <a:ext cx="4445000" cy="274320"/>
          </a:xfrm>
          <a:prstGeom prst="rect">
            <a:avLst/>
          </a:prstGeom>
          <a:solidFill>
            <a:srgbClr val="E0F2FE"/>
          </a:solidFill>
          <a:ln w="12700">
            <a:solidFill>
              <a:srgbClr val="0369A1"/>
            </a:solidFill>
            <a:prstDash val="solid"/>
          </a:ln>
        </p:spPr>
      </p:sp>
      <p:sp>
        <p:nvSpPr>
          <p:cNvPr id="5" name="Shape 2"/>
          <p:cNvSpPr/>
          <p:nvPr/>
        </p:nvSpPr>
        <p:spPr>
          <a:xfrm>
            <a:off x="719805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7" name="Text 3"/>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transistor come interruttore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transistor MOS come interruttore</a:t>
            </a:r>
            <a:endParaRPr lang="en-US" sz="3200" dirty="0"/>
          </a:p>
        </p:txBody>
      </p:sp>
      <p:sp>
        <p:nvSpPr>
          <p:cNvPr id="3" name="Shape 1"/>
          <p:cNvSpPr/>
          <p:nvPr/>
        </p:nvSpPr>
        <p:spPr>
          <a:xfrm>
            <a:off x="548640" y="1417320"/>
            <a:ext cx="3017520" cy="2286000"/>
          </a:xfrm>
          <a:prstGeom prst="roundRect">
            <a:avLst>
              <a:gd name="adj" fmla="val 3200"/>
            </a:avLst>
          </a:prstGeom>
          <a:solidFill>
            <a:srgbClr val="EEF2F4"/>
          </a:solidFill>
          <a:ln w="12700">
            <a:solidFill>
              <a:srgbClr val="EEF2F4"/>
            </a:solidFill>
            <a:prstDash val="solid"/>
          </a:ln>
        </p:spPr>
      </p:sp>
      <p:sp>
        <p:nvSpPr>
          <p:cNvPr id="4" name="Shape 2"/>
          <p:cNvSpPr/>
          <p:nvPr/>
        </p:nvSpPr>
        <p:spPr>
          <a:xfrm>
            <a:off x="548640" y="3886200"/>
            <a:ext cx="3017520" cy="2286000"/>
          </a:xfrm>
          <a:prstGeom prst="roundRect">
            <a:avLst>
              <a:gd name="adj" fmla="val 3200"/>
            </a:avLst>
          </a:prstGeom>
          <a:solidFill>
            <a:srgbClr val="EEF2F4"/>
          </a:solidFill>
          <a:ln w="12700">
            <a:solidFill>
              <a:srgbClr val="EEF2F4"/>
            </a:solidFill>
            <a:prstDash val="solid"/>
          </a:ln>
        </p:spPr>
      </p:sp>
      <p:sp>
        <p:nvSpPr>
          <p:cNvPr id="5" name="Shape 3"/>
          <p:cNvSpPr/>
          <p:nvPr/>
        </p:nvSpPr>
        <p:spPr>
          <a:xfrm>
            <a:off x="7198055" y="91440"/>
            <a:ext cx="4445000" cy="274320"/>
          </a:xfrm>
          <a:prstGeom prst="rect">
            <a:avLst/>
          </a:prstGeom>
          <a:solidFill>
            <a:srgbClr val="E0F2FE"/>
          </a:solidFill>
          <a:ln w="12700">
            <a:solidFill>
              <a:srgbClr val="0369A1"/>
            </a:solidFill>
            <a:prstDash val="solid"/>
          </a:ln>
        </p:spPr>
      </p:sp>
      <p:sp>
        <p:nvSpPr>
          <p:cNvPr id="6" name="Shape 4"/>
          <p:cNvSpPr/>
          <p:nvPr/>
        </p:nvSpPr>
        <p:spPr>
          <a:xfrm>
            <a:off x="7198055"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8" name="Text 5"/>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transistor come interruttore</a:t>
            </a:r>
            <a:endParaRPr lang="en-US" sz="1100" dirty="0"/>
          </a:p>
        </p:txBody>
      </p:sp>
      <p:pic>
        <p:nvPicPr>
          <p:cNvPr id="10" name="Image 1" descr="preencoded.png">    </p:cNvPr>
          <p:cNvPicPr>
            <a:picLocks noChangeAspect="1"/>
          </p:cNvPicPr>
          <p:nvPr/>
        </p:nvPicPr>
        <p:blipFill>
          <a:blip r:embed="rId2"/>
          <a:stretch>
            <a:fillRect/>
          </a:stretch>
        </p:blipFill>
        <p:spPr>
          <a:xfrm>
            <a:off x="973325" y="1828800"/>
            <a:ext cx="2168150" cy="1737360"/>
          </a:xfrm>
          <a:prstGeom prst="rect">
            <a:avLst/>
          </a:prstGeom>
        </p:spPr>
      </p:pic>
      <p:pic>
        <p:nvPicPr>
          <p:cNvPr id="11" name="Image 2" descr="preencoded.png">    </p:cNvPr>
          <p:cNvPicPr>
            <a:picLocks noChangeAspect="1"/>
          </p:cNvPicPr>
          <p:nvPr/>
        </p:nvPicPr>
        <p:blipFill>
          <a:blip r:embed="rId3"/>
          <a:stretch>
            <a:fillRect/>
          </a:stretch>
        </p:blipFill>
        <p:spPr>
          <a:xfrm>
            <a:off x="973325" y="4297680"/>
            <a:ext cx="2168150" cy="1737360"/>
          </a:xfrm>
          <a:prstGeom prst="rect">
            <a:avLst/>
          </a:prstGeom>
        </p:spPr>
      </p:pic>
      <p:sp>
        <p:nvSpPr>
          <p:cNvPr id="12" name="Text 6"/>
          <p:cNvSpPr txBox="1"/>
          <p:nvPr/>
        </p:nvSpPr>
        <p:spPr>
          <a:xfrm>
            <a:off x="731520" y="1490472"/>
            <a:ext cx="1828800" cy="320040"/>
          </a:xfrm>
          <a:prstGeom prst="rect">
            <a:avLst/>
          </a:prstGeom>
          <a:noFill/>
          <a:ln/>
        </p:spPr>
        <p:txBody>
          <a:bodyPr wrap="square" lIns="0" tIns="0" rIns="0" bIns="0" rtlCol="0" anchor="t"/>
          <a:lstStyle/>
          <a:p>
            <a:pPr indent="0" marL="0">
              <a:buNone/>
            </a:pPr>
            <a:r>
              <a:rPr lang="en-US" sz="1600" b="1" dirty="0">
                <a:solidFill>
                  <a:srgbClr val="0E7C86"/>
                </a:solidFill>
                <a:latin typeface="Calibri" pitchFamily="34" charset="0"/>
                <a:ea typeface="Calibri" pitchFamily="34" charset="-122"/>
                <a:cs typeface="Calibri" pitchFamily="34" charset="-120"/>
              </a:rPr>
              <a:t>nMOS</a:t>
            </a:r>
            <a:endParaRPr lang="en-US" sz="1600" dirty="0"/>
          </a:p>
        </p:txBody>
      </p:sp>
      <p:sp>
        <p:nvSpPr>
          <p:cNvPr id="13" name="Text 7"/>
          <p:cNvSpPr txBox="1"/>
          <p:nvPr/>
        </p:nvSpPr>
        <p:spPr>
          <a:xfrm>
            <a:off x="731520" y="3959352"/>
            <a:ext cx="1828800" cy="320040"/>
          </a:xfrm>
          <a:prstGeom prst="rect">
            <a:avLst/>
          </a:prstGeom>
          <a:noFill/>
          <a:ln/>
        </p:spPr>
        <p:txBody>
          <a:bodyPr wrap="square" lIns="0" tIns="0" rIns="0" bIns="0" rtlCol="0" anchor="t"/>
          <a:lstStyle/>
          <a:p>
            <a:pPr indent="0" marL="0">
              <a:buNone/>
            </a:pPr>
            <a:r>
              <a:rPr lang="en-US" sz="1600" b="1" dirty="0">
                <a:solidFill>
                  <a:srgbClr val="C7791B"/>
                </a:solidFill>
                <a:latin typeface="Calibri" pitchFamily="34" charset="0"/>
                <a:ea typeface="Calibri" pitchFamily="34" charset="-122"/>
                <a:cs typeface="Calibri" pitchFamily="34" charset="-120"/>
              </a:rPr>
              <a:t>pMOS</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023360" y="1417320"/>
          <a:ext cx="7616952" cy="914400"/>
        </p:xfrm>
        <a:graphic>
          <a:graphicData uri="http://schemas.openxmlformats.org/drawingml/2006/table">
            <a:tbl>
              <a:tblPr/>
              <a:tblGrid>
                <a:gridCol w="2011680"/>
                <a:gridCol w="2834640"/>
                <a:gridCol w="2770632"/>
              </a:tblGrid>
              <a:tr h="50292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Tensione di gate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alta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conduce: interruttore chiuso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blocca: interruttore aperto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bassa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blocca: interruttore aperto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conduce: interruttore chiuso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r>
            </a:tbl>
          </a:graphicData>
        </a:graphic>
      </p:graphicFrame>
      <p:sp>
        <p:nvSpPr>
          <p:cNvPr id="15" name="Shape 8"/>
          <p:cNvSpPr/>
          <p:nvPr/>
        </p:nvSpPr>
        <p:spPr>
          <a:xfrm>
            <a:off x="4023360" y="3253359"/>
            <a:ext cx="146304" cy="146304"/>
          </a:xfrm>
          <a:prstGeom prst="rect">
            <a:avLst/>
          </a:prstGeom>
          <a:solidFill>
            <a:srgbClr val="0E7C86"/>
          </a:solidFill>
          <a:ln w="12700">
            <a:solidFill>
              <a:srgbClr val="0E7C86"/>
            </a:solidFill>
            <a:prstDash val="solid"/>
          </a:ln>
        </p:spPr>
      </p:sp>
      <p:sp>
        <p:nvSpPr>
          <p:cNvPr id="16" name="Text 9"/>
          <p:cNvSpPr txBox="1"/>
          <p:nvPr/>
        </p:nvSpPr>
        <p:spPr>
          <a:xfrm>
            <a:off x="4407408" y="3154680"/>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Tre terminali: il gate controlla se la corrente può passare tra gli altri due, source e drain</a:t>
            </a:r>
            <a:endParaRPr lang="en-US" sz="2100" dirty="0"/>
          </a:p>
        </p:txBody>
      </p:sp>
      <p:sp>
        <p:nvSpPr>
          <p:cNvPr id="17" name="Shape 10"/>
          <p:cNvSpPr/>
          <p:nvPr/>
        </p:nvSpPr>
        <p:spPr>
          <a:xfrm>
            <a:off x="4023360" y="4042283"/>
            <a:ext cx="146304" cy="146304"/>
          </a:xfrm>
          <a:prstGeom prst="rect">
            <a:avLst/>
          </a:prstGeom>
          <a:solidFill>
            <a:srgbClr val="C7791B"/>
          </a:solidFill>
          <a:ln w="12700">
            <a:solidFill>
              <a:srgbClr val="C7791B"/>
            </a:solidFill>
            <a:prstDash val="solid"/>
          </a:ln>
        </p:spPr>
      </p:sp>
      <p:sp>
        <p:nvSpPr>
          <p:cNvPr id="18" name="Text 11"/>
          <p:cNvSpPr txBox="1"/>
          <p:nvPr/>
        </p:nvSpPr>
        <p:spPr>
          <a:xfrm>
            <a:off x="4407408" y="3943604"/>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gate è isolato: non assorbe praticamente corrente, solo la minuscola carica della sua capacità</a:t>
            </a:r>
            <a:endParaRPr lang="en-US" sz="2100" dirty="0"/>
          </a:p>
        </p:txBody>
      </p:sp>
      <p:sp>
        <p:nvSpPr>
          <p:cNvPr id="19" name="Shape 12"/>
          <p:cNvSpPr/>
          <p:nvPr/>
        </p:nvSpPr>
        <p:spPr>
          <a:xfrm>
            <a:off x="4023360" y="4831207"/>
            <a:ext cx="146304" cy="146304"/>
          </a:xfrm>
          <a:prstGeom prst="rect">
            <a:avLst/>
          </a:prstGeom>
          <a:solidFill>
            <a:srgbClr val="0E7C86"/>
          </a:solidFill>
          <a:ln w="12700">
            <a:solidFill>
              <a:srgbClr val="0E7C86"/>
            </a:solidFill>
            <a:prstDash val="solid"/>
          </a:ln>
        </p:spPr>
      </p:sp>
      <p:sp>
        <p:nvSpPr>
          <p:cNvPr id="20" name="Text 13"/>
          <p:cNvSpPr txBox="1"/>
          <p:nvPr/>
        </p:nvSpPr>
        <p:spPr>
          <a:xfrm>
            <a:off x="4407408" y="4732528"/>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due tipi sono complementari: ciò che chiude l'uno apre l'altro</a:t>
            </a:r>
            <a:endParaRPr lang="en-US" sz="2100" dirty="0"/>
          </a:p>
        </p:txBody>
      </p:sp>
      <p:sp>
        <p:nvSpPr>
          <p:cNvPr id="21" name="Shape 14"/>
          <p:cNvSpPr/>
          <p:nvPr/>
        </p:nvSpPr>
        <p:spPr>
          <a:xfrm>
            <a:off x="4023360" y="5620131"/>
            <a:ext cx="146304" cy="146304"/>
          </a:xfrm>
          <a:prstGeom prst="rect">
            <a:avLst/>
          </a:prstGeom>
          <a:solidFill>
            <a:srgbClr val="C7791B"/>
          </a:solidFill>
          <a:ln w="12700">
            <a:solidFill>
              <a:srgbClr val="C7791B"/>
            </a:solidFill>
            <a:prstDash val="solid"/>
          </a:ln>
        </p:spPr>
      </p:sp>
      <p:sp>
        <p:nvSpPr>
          <p:cNvPr id="22" name="Text 15"/>
          <p:cNvSpPr txBox="1"/>
          <p:nvPr/>
        </p:nvSpPr>
        <p:spPr>
          <a:xfrm>
            <a:off x="4407408" y="5521452"/>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L'nMOS passa bene lo 0 (collega a massa); il pMOS passa bene l'1 (collega all'alimentazione)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Livelli logici: quando una tensione è un 1?</a:t>
            </a:r>
            <a:endParaRPr lang="en-US" sz="3200" dirty="0"/>
          </a:p>
        </p:txBody>
      </p:sp>
      <p:sp>
        <p:nvSpPr>
          <p:cNvPr id="3" name="Shape 1"/>
          <p:cNvSpPr/>
          <p:nvPr/>
        </p:nvSpPr>
        <p:spPr>
          <a:xfrm>
            <a:off x="548640" y="1417320"/>
            <a:ext cx="5760720"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8248599" y="91440"/>
            <a:ext cx="3394456" cy="274320"/>
          </a:xfrm>
          <a:prstGeom prst="rect">
            <a:avLst/>
          </a:prstGeom>
          <a:solidFill>
            <a:srgbClr val="E0F2FE"/>
          </a:solidFill>
          <a:ln w="12700">
            <a:solidFill>
              <a:srgbClr val="0369A1"/>
            </a:solidFill>
            <a:prstDash val="solid"/>
          </a:ln>
        </p:spPr>
      </p:sp>
      <p:sp>
        <p:nvSpPr>
          <p:cNvPr id="5" name="Shape 3"/>
          <p:cNvSpPr/>
          <p:nvPr/>
        </p:nvSpPr>
        <p:spPr>
          <a:xfrm>
            <a:off x="824859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7" name="Text 4"/>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dai volt ai bit</a:t>
            </a:r>
            <a:endParaRPr lang="en-US" sz="1100" dirty="0"/>
          </a:p>
        </p:txBody>
      </p:sp>
      <p:pic>
        <p:nvPicPr>
          <p:cNvPr id="9" name="Image 1" descr="preencoded.png">    </p:cNvPr>
          <p:cNvPicPr>
            <a:picLocks noChangeAspect="1"/>
          </p:cNvPicPr>
          <p:nvPr/>
        </p:nvPicPr>
        <p:blipFill>
          <a:blip r:embed="rId2"/>
          <a:stretch>
            <a:fillRect/>
          </a:stretch>
        </p:blipFill>
        <p:spPr>
          <a:xfrm>
            <a:off x="685800" y="2159889"/>
            <a:ext cx="5486400" cy="3269742"/>
          </a:xfrm>
          <a:prstGeom prst="rect">
            <a:avLst/>
          </a:prstGeom>
        </p:spPr>
      </p:pic>
      <p:sp>
        <p:nvSpPr>
          <p:cNvPr id="10" name="Shape 5"/>
          <p:cNvSpPr/>
          <p:nvPr/>
        </p:nvSpPr>
        <p:spPr>
          <a:xfrm>
            <a:off x="6766560" y="1492758"/>
            <a:ext cx="146304" cy="146304"/>
          </a:xfrm>
          <a:prstGeom prst="rect">
            <a:avLst/>
          </a:prstGeom>
          <a:solidFill>
            <a:srgbClr val="0E7C86"/>
          </a:solidFill>
          <a:ln w="12700">
            <a:solidFill>
              <a:srgbClr val="0E7C86"/>
            </a:solidFill>
            <a:prstDash val="solid"/>
          </a:ln>
        </p:spPr>
      </p:sp>
      <p:sp>
        <p:nvSpPr>
          <p:cNvPr id="11" name="Text 6"/>
          <p:cNvSpPr txBox="1"/>
          <p:nvPr/>
        </p:nvSpPr>
        <p:spPr>
          <a:xfrm>
            <a:off x="7150608" y="1417320"/>
            <a:ext cx="449244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circuito digitale usa due intervalli di tensione: basso è 0, alto è 1</a:t>
            </a:r>
            <a:endParaRPr lang="en-US" sz="1800" dirty="0"/>
          </a:p>
        </p:txBody>
      </p:sp>
      <p:sp>
        <p:nvSpPr>
          <p:cNvPr id="12" name="Shape 7"/>
          <p:cNvSpPr/>
          <p:nvPr/>
        </p:nvSpPr>
        <p:spPr>
          <a:xfrm>
            <a:off x="6766560" y="2291334"/>
            <a:ext cx="146304" cy="146304"/>
          </a:xfrm>
          <a:prstGeom prst="rect">
            <a:avLst/>
          </a:prstGeom>
          <a:solidFill>
            <a:srgbClr val="C7791B"/>
          </a:solidFill>
          <a:ln w="12700">
            <a:solidFill>
              <a:srgbClr val="C7791B"/>
            </a:solidFill>
            <a:prstDash val="solid"/>
          </a:ln>
        </p:spPr>
      </p:sp>
      <p:sp>
        <p:nvSpPr>
          <p:cNvPr id="13" name="Text 8"/>
          <p:cNvSpPr txBox="1"/>
          <p:nvPr/>
        </p:nvSpPr>
        <p:spPr>
          <a:xfrm>
            <a:off x="7150608" y="2215896"/>
            <a:ext cx="44924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Un'uscita garantisce livelli puliti</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sul kit: sopra 2,64 V per un 1, sotto 0,33 V per uno 0</a:t>
            </a:r>
            <a:endParaRPr lang="en-US" sz="1800" dirty="0"/>
          </a:p>
        </p:txBody>
      </p:sp>
      <p:sp>
        <p:nvSpPr>
          <p:cNvPr id="14" name="Shape 9"/>
          <p:cNvSpPr/>
          <p:nvPr/>
        </p:nvSpPr>
        <p:spPr>
          <a:xfrm>
            <a:off x="6766560" y="3312414"/>
            <a:ext cx="146304" cy="146304"/>
          </a:xfrm>
          <a:prstGeom prst="rect">
            <a:avLst/>
          </a:prstGeom>
          <a:solidFill>
            <a:srgbClr val="0E7C86"/>
          </a:solidFill>
          <a:ln w="12700">
            <a:solidFill>
              <a:srgbClr val="0E7C86"/>
            </a:solidFill>
            <a:prstDash val="solid"/>
          </a:ln>
        </p:spPr>
      </p:sp>
      <p:sp>
        <p:nvSpPr>
          <p:cNvPr id="15" name="Text 10"/>
          <p:cNvSpPr txBox="1"/>
          <p:nvPr/>
        </p:nvSpPr>
        <p:spPr>
          <a:xfrm>
            <a:off x="7150608" y="3236976"/>
            <a:ext cx="44924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ingresso accetta intervalli più ampi</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sopra 2,475 V legge 1, sotto 0,825 V legge 0</a:t>
            </a:r>
            <a:endParaRPr lang="en-US" sz="1800" dirty="0"/>
          </a:p>
        </p:txBody>
      </p:sp>
      <p:sp>
        <p:nvSpPr>
          <p:cNvPr id="16" name="Shape 11"/>
          <p:cNvSpPr/>
          <p:nvPr/>
        </p:nvSpPr>
        <p:spPr>
          <a:xfrm>
            <a:off x="6766560" y="4333494"/>
            <a:ext cx="146304" cy="146304"/>
          </a:xfrm>
          <a:prstGeom prst="rect">
            <a:avLst/>
          </a:prstGeom>
          <a:solidFill>
            <a:srgbClr val="C7791B"/>
          </a:solidFill>
          <a:ln w="12700">
            <a:solidFill>
              <a:srgbClr val="C7791B"/>
            </a:solidFill>
            <a:prstDash val="solid"/>
          </a:ln>
        </p:spPr>
      </p:sp>
      <p:sp>
        <p:nvSpPr>
          <p:cNvPr id="17" name="Text 12"/>
          <p:cNvSpPr txBox="1"/>
          <p:nvPr/>
        </p:nvSpPr>
        <p:spPr>
          <a:xfrm>
            <a:off x="7150608" y="4258056"/>
            <a:ext cx="449244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differenza è il margine di rumore: un disturbo più piccolo non può cambiare il bit</a:t>
            </a:r>
            <a:endParaRPr lang="en-US" sz="1800" dirty="0"/>
          </a:p>
        </p:txBody>
      </p:sp>
      <p:sp>
        <p:nvSpPr>
          <p:cNvPr id="18" name="Shape 13"/>
          <p:cNvSpPr/>
          <p:nvPr/>
        </p:nvSpPr>
        <p:spPr>
          <a:xfrm>
            <a:off x="6766560" y="5410962"/>
            <a:ext cx="146304" cy="146304"/>
          </a:xfrm>
          <a:prstGeom prst="rect">
            <a:avLst/>
          </a:prstGeom>
          <a:solidFill>
            <a:srgbClr val="0E7C86"/>
          </a:solidFill>
          <a:ln w="12700">
            <a:solidFill>
              <a:srgbClr val="0E7C86"/>
            </a:solidFill>
            <a:prstDash val="solid"/>
          </a:ln>
        </p:spPr>
      </p:sp>
      <p:sp>
        <p:nvSpPr>
          <p:cNvPr id="19" name="Text 14"/>
          <p:cNvSpPr txBox="1"/>
          <p:nvPr/>
        </p:nvSpPr>
        <p:spPr>
          <a:xfrm>
            <a:off x="7150608" y="5335524"/>
            <a:ext cx="449244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In mezzo il valore è indefinito: i segnali devono attraversare quella fascia in fretta e non restarci mai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digitale?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analogici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L'informazione è il valore esatto della tensione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stadio aggiunge un po' di rumore e distorsione, e si accumulano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Le copie peggiorano a ogni generazione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Ancora indispensabili ai bordi: sensori, radio, suono</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digitali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Conta solo l'intervallo: alto o basso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porta ripristina i livelli: il rumore non si accumula</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Le copie sono perfette, e gli errori si possono rilevare e correggere (Lezione 11)</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Due livelli si distinguono facilmente con transistor veloci, minuscoli ed economici</a:t>
            </a:r>
            <a:endParaRPr lang="en-US" sz="1900" dirty="0"/>
          </a:p>
        </p:txBody>
      </p:sp>
      <p:sp>
        <p:nvSpPr>
          <p:cNvPr id="9" name="Shape 7"/>
          <p:cNvSpPr/>
          <p:nvPr/>
        </p:nvSpPr>
        <p:spPr>
          <a:xfrm>
            <a:off x="8248599" y="91440"/>
            <a:ext cx="3394456" cy="274320"/>
          </a:xfrm>
          <a:prstGeom prst="rect">
            <a:avLst/>
          </a:prstGeom>
          <a:solidFill>
            <a:srgbClr val="E0F2FE"/>
          </a:solidFill>
          <a:ln w="12700">
            <a:solidFill>
              <a:srgbClr val="0369A1"/>
            </a:solidFill>
            <a:prstDash val="solid"/>
          </a:ln>
        </p:spPr>
      </p:sp>
      <p:sp>
        <p:nvSpPr>
          <p:cNvPr id="10" name="Shape 8"/>
          <p:cNvSpPr/>
          <p:nvPr/>
        </p:nvSpPr>
        <p:spPr>
          <a:xfrm>
            <a:off x="8248599"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2" name="Text 9"/>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dai volt ai bit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L'invertitore CMOS: una porta NOT con due transistor</a:t>
            </a:r>
            <a:endParaRPr lang="en-US" sz="3200" dirty="0"/>
          </a:p>
        </p:txBody>
      </p:sp>
      <p:sp>
        <p:nvSpPr>
          <p:cNvPr id="3" name="Shape 1"/>
          <p:cNvSpPr/>
          <p:nvPr/>
        </p:nvSpPr>
        <p:spPr>
          <a:xfrm>
            <a:off x="548640" y="1417320"/>
            <a:ext cx="4480560" cy="4754880"/>
          </a:xfrm>
          <a:prstGeom prst="roundRect">
            <a:avLst>
              <a:gd name="adj" fmla="val 1633"/>
            </a:avLst>
          </a:prstGeom>
          <a:solidFill>
            <a:srgbClr val="EEF2F4"/>
          </a:solidFill>
          <a:ln w="12700">
            <a:solidFill>
              <a:srgbClr val="EEF2F4"/>
            </a:solidFill>
            <a:prstDash val="solid"/>
          </a:ln>
        </p:spPr>
      </p:sp>
      <p:sp>
        <p:nvSpPr>
          <p:cNvPr id="4" name="Shape 2"/>
          <p:cNvSpPr/>
          <p:nvPr/>
        </p:nvSpPr>
        <p:spPr>
          <a:xfrm>
            <a:off x="8379917" y="91440"/>
            <a:ext cx="3263138" cy="274320"/>
          </a:xfrm>
          <a:prstGeom prst="rect">
            <a:avLst/>
          </a:prstGeom>
          <a:solidFill>
            <a:srgbClr val="E0F2FE"/>
          </a:solidFill>
          <a:ln w="12700">
            <a:solidFill>
              <a:srgbClr val="0369A1"/>
            </a:solidFill>
            <a:prstDash val="solid"/>
          </a:ln>
        </p:spPr>
      </p:sp>
      <p:sp>
        <p:nvSpPr>
          <p:cNvPr id="5" name="Shape 3"/>
          <p:cNvSpPr/>
          <p:nvPr/>
        </p:nvSpPr>
        <p:spPr>
          <a:xfrm>
            <a:off x="837991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7" name="Text 4"/>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CMOS</a:t>
            </a:r>
            <a:endParaRPr lang="en-US" sz="1100" dirty="0"/>
          </a:p>
        </p:txBody>
      </p:sp>
      <p:pic>
        <p:nvPicPr>
          <p:cNvPr id="9" name="Image 1" descr="preencoded.png">    </p:cNvPr>
          <p:cNvPicPr>
            <a:picLocks noChangeAspect="1"/>
          </p:cNvPicPr>
          <p:nvPr/>
        </p:nvPicPr>
        <p:blipFill>
          <a:blip r:embed="rId2"/>
          <a:stretch>
            <a:fillRect/>
          </a:stretch>
        </p:blipFill>
        <p:spPr>
          <a:xfrm>
            <a:off x="731520" y="1670051"/>
            <a:ext cx="4114800" cy="4249417"/>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0" y="1417320"/>
          <a:ext cx="6153912" cy="914400"/>
        </p:xfrm>
        <a:graphic>
          <a:graphicData uri="http://schemas.openxmlformats.org/drawingml/2006/table">
            <a:tbl>
              <a:tblPr/>
              <a:tblGrid>
                <a:gridCol w="731520"/>
                <a:gridCol w="1371600"/>
                <a:gridCol w="1371600"/>
                <a:gridCol w="2679192"/>
              </a:tblGrid>
              <a:tr h="45720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acceso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spento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 collegata a 3,3 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spento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acceso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 collegata a massa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5"/>
          <p:cNvSpPr/>
          <p:nvPr/>
        </p:nvSpPr>
        <p:spPr>
          <a:xfrm>
            <a:off x="5486400" y="3130931"/>
            <a:ext cx="146304" cy="146304"/>
          </a:xfrm>
          <a:prstGeom prst="rect">
            <a:avLst/>
          </a:prstGeom>
          <a:solidFill>
            <a:srgbClr val="0E7C86"/>
          </a:solidFill>
          <a:ln w="12700">
            <a:solidFill>
              <a:srgbClr val="0E7C86"/>
            </a:solidFill>
            <a:prstDash val="solid"/>
          </a:ln>
        </p:spPr>
      </p:sp>
      <p:sp>
        <p:nvSpPr>
          <p:cNvPr id="12" name="Text 6"/>
          <p:cNvSpPr txBox="1"/>
          <p:nvPr/>
        </p:nvSpPr>
        <p:spPr>
          <a:xfrm>
            <a:off x="5870448" y="3063240"/>
            <a:ext cx="577260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 pMOS verso l'alimentazione, un nMOS verso massa, pilotati dallo stesso ingresso</a:t>
            </a:r>
            <a:endParaRPr lang="en-US" sz="1700" dirty="0"/>
          </a:p>
        </p:txBody>
      </p:sp>
      <p:sp>
        <p:nvSpPr>
          <p:cNvPr id="13" name="Shape 7"/>
          <p:cNvSpPr/>
          <p:nvPr/>
        </p:nvSpPr>
        <p:spPr>
          <a:xfrm>
            <a:off x="5486400" y="3816054"/>
            <a:ext cx="146304" cy="146304"/>
          </a:xfrm>
          <a:prstGeom prst="rect">
            <a:avLst/>
          </a:prstGeom>
          <a:solidFill>
            <a:srgbClr val="C7791B"/>
          </a:solidFill>
          <a:ln w="12700">
            <a:solidFill>
              <a:srgbClr val="C7791B"/>
            </a:solidFill>
            <a:prstDash val="solid"/>
          </a:ln>
        </p:spPr>
      </p:sp>
      <p:sp>
        <p:nvSpPr>
          <p:cNvPr id="14" name="Text 8"/>
          <p:cNvSpPr txBox="1"/>
          <p:nvPr/>
        </p:nvSpPr>
        <p:spPr>
          <a:xfrm>
            <a:off x="5870448" y="3748363"/>
            <a:ext cx="577260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Conduce esattamente uno dei due: l'uscita è sempre collegata a una linea, mai a entrambe</a:t>
            </a:r>
            <a:endParaRPr lang="en-US" sz="1700" dirty="0"/>
          </a:p>
        </p:txBody>
      </p:sp>
      <p:sp>
        <p:nvSpPr>
          <p:cNvPr id="15" name="Shape 9"/>
          <p:cNvSpPr/>
          <p:nvPr/>
        </p:nvSpPr>
        <p:spPr>
          <a:xfrm>
            <a:off x="5486400" y="4501176"/>
            <a:ext cx="146304" cy="146304"/>
          </a:xfrm>
          <a:prstGeom prst="rect">
            <a:avLst/>
          </a:prstGeom>
          <a:solidFill>
            <a:srgbClr val="0E7C86"/>
          </a:solidFill>
          <a:ln w="12700">
            <a:solidFill>
              <a:srgbClr val="0E7C86"/>
            </a:solidFill>
            <a:prstDash val="solid"/>
          </a:ln>
        </p:spPr>
      </p:sp>
      <p:sp>
        <p:nvSpPr>
          <p:cNvPr id="16" name="Text 10"/>
          <p:cNvSpPr txBox="1"/>
          <p:nvPr/>
        </p:nvSpPr>
        <p:spPr>
          <a:xfrm>
            <a:off x="5870448" y="4433485"/>
            <a:ext cx="577260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 ingresso fermo non scorre corrente dall'alimentazione a massa: a riposo il CMOS non consuma quasi nulla</a:t>
            </a:r>
            <a:endParaRPr lang="en-US" sz="1700" dirty="0"/>
          </a:p>
        </p:txBody>
      </p:sp>
      <p:sp>
        <p:nvSpPr>
          <p:cNvPr id="17" name="Shape 11"/>
          <p:cNvSpPr/>
          <p:nvPr/>
        </p:nvSpPr>
        <p:spPr>
          <a:xfrm>
            <a:off x="5486400" y="5449697"/>
            <a:ext cx="146304" cy="146304"/>
          </a:xfrm>
          <a:prstGeom prst="rect">
            <a:avLst/>
          </a:prstGeom>
          <a:solidFill>
            <a:srgbClr val="C7791B"/>
          </a:solidFill>
          <a:ln w="12700">
            <a:solidFill>
              <a:srgbClr val="C7791B"/>
            </a:solidFill>
            <a:prstDash val="solid"/>
          </a:ln>
        </p:spPr>
      </p:sp>
      <p:sp>
        <p:nvSpPr>
          <p:cNvPr id="18" name="Text 12"/>
          <p:cNvSpPr txBox="1"/>
          <p:nvPr/>
        </p:nvSpPr>
        <p:spPr>
          <a:xfrm>
            <a:off x="5870448" y="5382006"/>
            <a:ext cx="577260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L'uscita è un livello fresco e pulito, qualunque sia la qualità dell'ingresso: la porta rigenera il segnale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NAND e NOR in CMOS</a:t>
            </a:r>
            <a:endParaRPr lang="en-US" sz="3200" dirty="0"/>
          </a:p>
        </p:txBody>
      </p:sp>
      <p:sp>
        <p:nvSpPr>
          <p:cNvPr id="3" name="Shape 1"/>
          <p:cNvSpPr/>
          <p:nvPr/>
        </p:nvSpPr>
        <p:spPr>
          <a:xfrm>
            <a:off x="548640" y="1417320"/>
            <a:ext cx="5364328" cy="3886200"/>
          </a:xfrm>
          <a:prstGeom prst="roundRect">
            <a:avLst>
              <a:gd name="adj" fmla="val 1882"/>
            </a:avLst>
          </a:prstGeom>
          <a:solidFill>
            <a:srgbClr val="EEF2F4"/>
          </a:solidFill>
          <a:ln w="12700">
            <a:solidFill>
              <a:srgbClr val="EEF2F4"/>
            </a:solidFill>
            <a:prstDash val="solid"/>
          </a:ln>
        </p:spPr>
      </p:sp>
      <p:sp>
        <p:nvSpPr>
          <p:cNvPr id="4" name="Shape 2"/>
          <p:cNvSpPr/>
          <p:nvPr/>
        </p:nvSpPr>
        <p:spPr>
          <a:xfrm>
            <a:off x="6278728" y="1417320"/>
            <a:ext cx="5364328" cy="3886200"/>
          </a:xfrm>
          <a:prstGeom prst="roundRect">
            <a:avLst>
              <a:gd name="adj" fmla="val 1882"/>
            </a:avLst>
          </a:prstGeom>
          <a:solidFill>
            <a:srgbClr val="EEF2F4"/>
          </a:solidFill>
          <a:ln w="12700">
            <a:solidFill>
              <a:srgbClr val="EEF2F4"/>
            </a:solidFill>
            <a:prstDash val="solid"/>
          </a:ln>
        </p:spPr>
      </p:sp>
      <p:sp>
        <p:nvSpPr>
          <p:cNvPr id="5" name="Text 3"/>
          <p:cNvSpPr txBox="1"/>
          <p:nvPr/>
        </p:nvSpPr>
        <p:spPr>
          <a:xfrm>
            <a:off x="777240" y="1508760"/>
            <a:ext cx="4907128" cy="365760"/>
          </a:xfrm>
          <a:prstGeom prst="rect">
            <a:avLst/>
          </a:prstGeom>
          <a:noFill/>
          <a:ln/>
        </p:spPr>
        <p:txBody>
          <a:bodyPr wrap="square" lIns="0" tIns="0" rIns="0" bIns="0" rtlCol="0" anchor="t"/>
          <a:lstStyle/>
          <a:p>
            <a:pPr indent="0" marL="0">
              <a:buNone/>
            </a:pPr>
            <a:r>
              <a:rPr lang="en-US" sz="1600" b="1" dirty="0">
                <a:solidFill>
                  <a:srgbClr val="0E7C86"/>
                </a:solidFill>
                <a:latin typeface="Courier New" pitchFamily="34" charset="0"/>
                <a:ea typeface="Courier New" pitchFamily="34" charset="-122"/>
                <a:cs typeface="Courier New" pitchFamily="34" charset="-120"/>
              </a:rPr>
              <a:t>NAND:  Y = (A . B)'</a:t>
            </a:r>
            <a:endParaRPr lang="en-US" sz="1600" dirty="0"/>
          </a:p>
        </p:txBody>
      </p:sp>
      <p:sp>
        <p:nvSpPr>
          <p:cNvPr id="6" name="Text 4"/>
          <p:cNvSpPr txBox="1"/>
          <p:nvPr/>
        </p:nvSpPr>
        <p:spPr>
          <a:xfrm>
            <a:off x="6507328" y="1508760"/>
            <a:ext cx="4907128" cy="365760"/>
          </a:xfrm>
          <a:prstGeom prst="rect">
            <a:avLst/>
          </a:prstGeom>
          <a:noFill/>
          <a:ln/>
        </p:spPr>
        <p:txBody>
          <a:bodyPr wrap="square" lIns="0" tIns="0" rIns="0" bIns="0" rtlCol="0" anchor="t"/>
          <a:lstStyle/>
          <a:p>
            <a:pPr indent="0" marL="0">
              <a:buNone/>
            </a:pPr>
            <a:r>
              <a:rPr lang="en-US" sz="1600" b="1" dirty="0">
                <a:solidFill>
                  <a:srgbClr val="C7791B"/>
                </a:solidFill>
                <a:latin typeface="Courier New" pitchFamily="34" charset="0"/>
                <a:ea typeface="Courier New" pitchFamily="34" charset="-122"/>
                <a:cs typeface="Courier New" pitchFamily="34" charset="-120"/>
              </a:rPr>
              <a:t>NOR:  Y = (A + B)'</a:t>
            </a:r>
            <a:endParaRPr lang="en-US" sz="1600" dirty="0"/>
          </a:p>
        </p:txBody>
      </p:sp>
      <p:sp>
        <p:nvSpPr>
          <p:cNvPr id="7" name="Shape 5"/>
          <p:cNvSpPr/>
          <p:nvPr/>
        </p:nvSpPr>
        <p:spPr>
          <a:xfrm>
            <a:off x="8379917" y="91440"/>
            <a:ext cx="3263138" cy="274320"/>
          </a:xfrm>
          <a:prstGeom prst="rect">
            <a:avLst/>
          </a:prstGeom>
          <a:solidFill>
            <a:srgbClr val="E0F2FE"/>
          </a:solidFill>
          <a:ln w="12700">
            <a:solidFill>
              <a:srgbClr val="0369A1"/>
            </a:solidFill>
            <a:prstDash val="solid"/>
          </a:ln>
        </p:spPr>
      </p:sp>
      <p:sp>
        <p:nvSpPr>
          <p:cNvPr id="8" name="Shape 6"/>
          <p:cNvSpPr/>
          <p:nvPr/>
        </p:nvSpPr>
        <p:spPr>
          <a:xfrm>
            <a:off x="8379917"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10" name="Text 7"/>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CMOS</a:t>
            </a:r>
            <a:endParaRPr lang="en-US" sz="1100" dirty="0"/>
          </a:p>
        </p:txBody>
      </p:sp>
      <p:pic>
        <p:nvPicPr>
          <p:cNvPr id="12" name="Image 1" descr="preencoded.png">    </p:cNvPr>
          <p:cNvPicPr>
            <a:picLocks noChangeAspect="1"/>
          </p:cNvPicPr>
          <p:nvPr/>
        </p:nvPicPr>
        <p:blipFill>
          <a:blip r:embed="rId2"/>
          <a:stretch>
            <a:fillRect/>
          </a:stretch>
        </p:blipFill>
        <p:spPr>
          <a:xfrm>
            <a:off x="1447926" y="1874520"/>
            <a:ext cx="3565756" cy="3383280"/>
          </a:xfrm>
          <a:prstGeom prst="rect">
            <a:avLst/>
          </a:prstGeom>
        </p:spPr>
      </p:pic>
      <p:pic>
        <p:nvPicPr>
          <p:cNvPr id="13" name="Image 2" descr="preencoded.png">    </p:cNvPr>
          <p:cNvPicPr>
            <a:picLocks noChangeAspect="1"/>
          </p:cNvPicPr>
          <p:nvPr/>
        </p:nvPicPr>
        <p:blipFill>
          <a:blip r:embed="rId3"/>
          <a:stretch>
            <a:fillRect/>
          </a:stretch>
        </p:blipFill>
        <p:spPr>
          <a:xfrm>
            <a:off x="7178014" y="1874520"/>
            <a:ext cx="3565756" cy="3383280"/>
          </a:xfrm>
          <a:prstGeom prst="rect">
            <a:avLst/>
          </a:prstGeom>
        </p:spPr>
      </p:pic>
      <p:sp>
        <p:nvSpPr>
          <p:cNvPr id="14" name="Shape 8"/>
          <p:cNvSpPr/>
          <p:nvPr/>
        </p:nvSpPr>
        <p:spPr>
          <a:xfrm>
            <a:off x="548640" y="5500624"/>
            <a:ext cx="146304" cy="146304"/>
          </a:xfrm>
          <a:prstGeom prst="rect">
            <a:avLst/>
          </a:prstGeom>
          <a:solidFill>
            <a:srgbClr val="0E7C86"/>
          </a:solidFill>
          <a:ln w="12700">
            <a:solidFill>
              <a:srgbClr val="0E7C86"/>
            </a:solidFill>
            <a:prstDash val="solid"/>
          </a:ln>
        </p:spPr>
      </p:sp>
      <p:sp>
        <p:nvSpPr>
          <p:cNvPr id="15" name="Text 9"/>
          <p:cNvSpPr txBox="1"/>
          <p:nvPr/>
        </p:nvSpPr>
        <p:spPr>
          <a:xfrm>
            <a:off x="932688" y="5440680"/>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NAND: due nMOS in serie, a massa solo se A AND B valgono 1; due pMOS in parallelo, a 3,3 V se uno vale 0</a:t>
            </a:r>
            <a:endParaRPr lang="en-US" sz="1600" dirty="0"/>
          </a:p>
        </p:txBody>
      </p:sp>
      <p:sp>
        <p:nvSpPr>
          <p:cNvPr id="16" name="Shape 10"/>
          <p:cNvSpPr/>
          <p:nvPr/>
        </p:nvSpPr>
        <p:spPr>
          <a:xfrm>
            <a:off x="548640" y="5984240"/>
            <a:ext cx="146304" cy="146304"/>
          </a:xfrm>
          <a:prstGeom prst="rect">
            <a:avLst/>
          </a:prstGeom>
          <a:solidFill>
            <a:srgbClr val="C7791B"/>
          </a:solidFill>
          <a:ln w="12700">
            <a:solidFill>
              <a:srgbClr val="C7791B"/>
            </a:solidFill>
            <a:prstDash val="solid"/>
          </a:ln>
        </p:spPr>
      </p:sp>
      <p:sp>
        <p:nvSpPr>
          <p:cNvPr id="17" name="Text 11"/>
          <p:cNvSpPr txBox="1"/>
          <p:nvPr/>
        </p:nvSpPr>
        <p:spPr>
          <a:xfrm>
            <a:off x="932688" y="5924296"/>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NOR: il duale. Parallelo e serie si scambiano, come De Morgan scambia AND e OR</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Quanto costano le porte, in transistor</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2182508"/>
                <a:gridCol w="5820021"/>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Circuito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Transistor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Osservazione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NOT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l'invertitore CMOS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NAND, NOR (2 ingressi)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le porte naturali del CMOS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AND, OR (2 ingressi)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 NAND o un NOR seguito da un invertitore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XOR (2 ingressi)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da 8 a 12 circa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secondo il progetto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sommatore completo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circa 28</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il classico sommatore CMOS statico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cella SRAM, un 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due invertitori ad anello e due transistor di accesso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flip-flop 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circa 20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due latch, master e slave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AND costa più di NAND: in CMOS vengono prima le porte invertenti. Minimizzare una funzione significa risparmiare transistor, area, energia e tempo.</a:t>
            </a:r>
            <a:endParaRPr lang="en-US" sz="1300" dirty="0"/>
          </a:p>
        </p:txBody>
      </p:sp>
      <p:sp>
        <p:nvSpPr>
          <p:cNvPr id="5" name="Shape 2"/>
          <p:cNvSpPr/>
          <p:nvPr/>
        </p:nvSpPr>
        <p:spPr>
          <a:xfrm>
            <a:off x="8379917" y="91440"/>
            <a:ext cx="3263138" cy="274320"/>
          </a:xfrm>
          <a:prstGeom prst="rect">
            <a:avLst/>
          </a:prstGeom>
          <a:solidFill>
            <a:srgbClr val="E0F2FE"/>
          </a:solidFill>
          <a:ln w="12700">
            <a:solidFill>
              <a:srgbClr val="0369A1"/>
            </a:solidFill>
            <a:prstDash val="solid"/>
          </a:ln>
        </p:spPr>
      </p:sp>
      <p:sp>
        <p:nvSpPr>
          <p:cNvPr id="6" name="Shape 3"/>
          <p:cNvSpPr/>
          <p:nvPr/>
        </p:nvSpPr>
        <p:spPr>
          <a:xfrm>
            <a:off x="8379917"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8" name="Text 4"/>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CMOS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Commutare costa tempo ed energia</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L'uscita di una porta pilota gli ingressi delle porte successive, che sono piccoli condensatori</a:t>
            </a:r>
            <a:endParaRPr lang="en-US" sz="2100" dirty="0"/>
          </a:p>
        </p:txBody>
      </p:sp>
      <p:sp>
        <p:nvSpPr>
          <p:cNvPr id="5" name="Shape 3"/>
          <p:cNvSpPr/>
          <p:nvPr/>
        </p:nvSpPr>
        <p:spPr>
          <a:xfrm>
            <a:off x="548640" y="23818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3143"/>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 cambiare livello l'uscita deve caricarli o scaricarli attraverso la resistenza dei suoi transistor: è il ritardo di propagazione</a:t>
            </a:r>
            <a:endParaRPr lang="en-US" sz="2100" dirty="0"/>
          </a:p>
        </p:txBody>
      </p:sp>
      <p:sp>
        <p:nvSpPr>
          <p:cNvPr id="7" name="Shape 5"/>
          <p:cNvSpPr/>
          <p:nvPr/>
        </p:nvSpPr>
        <p:spPr>
          <a:xfrm>
            <a:off x="548640" y="35730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74339"/>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Ogni cambio di livello costa energia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potenza spesa nel commutare è circa C x V^2 x f</a:t>
            </a:r>
            <a:endParaRPr lang="en-US" sz="2100" dirty="0"/>
          </a:p>
        </p:txBody>
      </p:sp>
      <p:sp>
        <p:nvSpPr>
          <p:cNvPr id="9" name="Shape 7"/>
          <p:cNvSpPr/>
          <p:nvPr/>
        </p:nvSpPr>
        <p:spPr>
          <a:xfrm>
            <a:off x="548640" y="4428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025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Abbassare la tensione di alimentazione è ciò che fa risparmiare di più: per questo i chip sono passati da 5 V a 3,3 V a circa 1 V all'interno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Alzare la frequenza di clock alza il consumo in proporzione: la velocità si paga in calore</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C x V^2 x 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potenza dinamica: capacità, quadrato della tensione, e quanto spesso si commuta</a:t>
            </a:r>
            <a:endParaRPr lang="en-US" sz="1900" dirty="0"/>
          </a:p>
        </p:txBody>
      </p:sp>
      <p:sp>
        <p:nvSpPr>
          <p:cNvPr id="16" name="Shape 14"/>
          <p:cNvSpPr/>
          <p:nvPr/>
        </p:nvSpPr>
        <p:spPr>
          <a:xfrm>
            <a:off x="7225995" y="91440"/>
            <a:ext cx="4417060" cy="274320"/>
          </a:xfrm>
          <a:prstGeom prst="rect">
            <a:avLst/>
          </a:prstGeom>
          <a:solidFill>
            <a:srgbClr val="F3E8FF"/>
          </a:solidFill>
          <a:ln w="12700">
            <a:solidFill>
              <a:srgbClr val="7E22CE"/>
            </a:solidFill>
            <a:prstDash val="dash"/>
          </a:ln>
        </p:spPr>
      </p:sp>
      <p:sp>
        <p:nvSpPr>
          <p:cNvPr id="17" name="Shape 15"/>
          <p:cNvSpPr/>
          <p:nvPr/>
        </p:nvSpPr>
        <p:spPr>
          <a:xfrm>
            <a:off x="7253427" y="128016"/>
            <a:ext cx="45720" cy="45720"/>
          </a:xfrm>
          <a:prstGeom prst="rect">
            <a:avLst/>
          </a:prstGeom>
          <a:solidFill>
            <a:srgbClr val="7E22CE"/>
          </a:solidFill>
          <a:ln w="12700">
            <a:solidFill>
              <a:srgbClr val="7E22CE"/>
            </a:solidFill>
            <a:prstDash val="solid"/>
          </a:ln>
        </p:spPr>
      </p:sp>
      <p:sp>
        <p:nvSpPr>
          <p:cNvPr id="18" name="Shape 16"/>
          <p:cNvSpPr/>
          <p:nvPr/>
        </p:nvSpPr>
        <p:spPr>
          <a:xfrm>
            <a:off x="7253427" y="205740"/>
            <a:ext cx="45720" cy="45720"/>
          </a:xfrm>
          <a:prstGeom prst="rect">
            <a:avLst/>
          </a:prstGeom>
          <a:solidFill>
            <a:srgbClr val="7E22CE"/>
          </a:solidFill>
          <a:ln w="12700">
            <a:solidFill>
              <a:srgbClr val="7E22CE"/>
            </a:solidFill>
            <a:prstDash val="solid"/>
          </a:ln>
        </p:spPr>
      </p:sp>
      <p:sp>
        <p:nvSpPr>
          <p:cNvPr id="19" name="Shape 17"/>
          <p:cNvSpPr/>
          <p:nvPr/>
        </p:nvSpPr>
        <p:spPr>
          <a:xfrm>
            <a:off x="7253427" y="283464"/>
            <a:ext cx="45720" cy="45720"/>
          </a:xfrm>
          <a:prstGeom prst="rect">
            <a:avLst/>
          </a:prstGeom>
          <a:solidFill>
            <a:srgbClr val="7E22CE"/>
          </a:solidFill>
          <a:ln w="12700">
            <a:solidFill>
              <a:srgbClr val="7E22CE"/>
            </a:solidFill>
            <a:prstDash val="solid"/>
          </a:ln>
        </p:spPr>
      </p:sp>
      <p:pic>
        <p:nvPicPr>
          <p:cNvPr id="20" name="Image 0" descr="preencoded.png">    </p:cNvPr>
          <p:cNvPicPr>
            <a:picLocks noChangeAspect="1"/>
          </p:cNvPicPr>
          <p:nvPr/>
        </p:nvPicPr>
        <p:blipFill>
          <a:blip r:embed="rId1"/>
          <a:stretch>
            <a:fillRect/>
          </a:stretch>
        </p:blipFill>
        <p:spPr>
          <a:xfrm>
            <a:off x="7354011" y="128016"/>
            <a:ext cx="201168" cy="201168"/>
          </a:xfrm>
          <a:prstGeom prst="rect">
            <a:avLst/>
          </a:prstGeom>
        </p:spPr>
      </p:pic>
      <p:sp>
        <p:nvSpPr>
          <p:cNvPr id="21" name="Text 18"/>
          <p:cNvSpPr txBox="1"/>
          <p:nvPr/>
        </p:nvSpPr>
        <p:spPr>
          <a:xfrm>
            <a:off x="7610043" y="91440"/>
            <a:ext cx="3996436"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il clock</a:t>
            </a:r>
            <a:pPr indent="0" marL="0">
              <a:buNone/>
            </a:pPr>
            <a:r>
              <a:rPr lang="en-US" sz="1100" b="1" dirty="0">
                <a:solidFill>
                  <a:srgbClr val="6B21A8"/>
                </a:solidFill>
                <a:latin typeface="Calibri" pitchFamily="34" charset="0"/>
                <a:ea typeface="Calibri" pitchFamily="34" charset="-122"/>
                <a:cs typeface="Calibri" pitchFamily="34" charset="-120"/>
              </a:rPr>
              <a:t> → Lezione 13</a:t>
            </a:r>
            <a:endParaRPr lang="en-US" sz="1100" dirty="0"/>
          </a:p>
        </p:txBody>
      </p:sp>
      <p:sp>
        <p:nvSpPr>
          <p:cNvPr id="22" name="Shape 19"/>
          <p:cNvSpPr/>
          <p:nvPr/>
        </p:nvSpPr>
        <p:spPr>
          <a:xfrm>
            <a:off x="3853129" y="91440"/>
            <a:ext cx="3263138" cy="274320"/>
          </a:xfrm>
          <a:prstGeom prst="rect">
            <a:avLst/>
          </a:prstGeom>
          <a:solidFill>
            <a:srgbClr val="E0F2FE"/>
          </a:solidFill>
          <a:ln w="12700">
            <a:solidFill>
              <a:srgbClr val="0369A1"/>
            </a:solidFill>
            <a:prstDash val="solid"/>
          </a:ln>
        </p:spPr>
      </p:sp>
      <p:sp>
        <p:nvSpPr>
          <p:cNvPr id="23" name="Shape 20"/>
          <p:cNvSpPr/>
          <p:nvPr/>
        </p:nvSpPr>
        <p:spPr>
          <a:xfrm>
            <a:off x="3853129" y="91440"/>
            <a:ext cx="73152" cy="274320"/>
          </a:xfrm>
          <a:prstGeom prst="rect">
            <a:avLst/>
          </a:prstGeom>
          <a:solidFill>
            <a:srgbClr val="0369A1"/>
          </a:solidFill>
          <a:ln w="12700">
            <a:solidFill>
              <a:srgbClr val="0369A1"/>
            </a:solidFill>
            <a:prstDash val="solid"/>
          </a:ln>
        </p:spPr>
      </p:sp>
      <p:pic>
        <p:nvPicPr>
          <p:cNvPr id="24" name="Image 1" descr="preencoded.png">    </p:cNvPr>
          <p:cNvPicPr>
            <a:picLocks noChangeAspect="1"/>
          </p:cNvPicPr>
          <p:nvPr/>
        </p:nvPicPr>
        <p:blipFill>
          <a:blip r:embed="rId2"/>
          <a:stretch>
            <a:fillRect/>
          </a:stretch>
        </p:blipFill>
        <p:spPr>
          <a:xfrm>
            <a:off x="3981145" y="128016"/>
            <a:ext cx="201168" cy="201168"/>
          </a:xfrm>
          <a:prstGeom prst="rect">
            <a:avLst/>
          </a:prstGeom>
        </p:spPr>
      </p:pic>
      <p:sp>
        <p:nvSpPr>
          <p:cNvPr id="25" name="Text 21"/>
          <p:cNvSpPr txBox="1"/>
          <p:nvPr/>
        </p:nvSpPr>
        <p:spPr>
          <a:xfrm>
            <a:off x="4237177"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CMOS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Pull-up: un ingresso mai lasciato flottante</a:t>
            </a:r>
            <a:endParaRPr lang="en-US" sz="3200" dirty="0"/>
          </a:p>
        </p:txBody>
      </p:sp>
      <p:sp>
        <p:nvSpPr>
          <p:cNvPr id="3" name="Shape 1"/>
          <p:cNvSpPr/>
          <p:nvPr/>
        </p:nvSpPr>
        <p:spPr>
          <a:xfrm>
            <a:off x="548640" y="1417320"/>
            <a:ext cx="2743200" cy="4754880"/>
          </a:xfrm>
          <a:prstGeom prst="roundRect">
            <a:avLst>
              <a:gd name="adj" fmla="val 2667"/>
            </a:avLst>
          </a:prstGeom>
          <a:solidFill>
            <a:srgbClr val="EEF2F4"/>
          </a:solidFill>
          <a:ln w="12700">
            <a:solidFill>
              <a:srgbClr val="EEF2F4"/>
            </a:solidFill>
            <a:prstDash val="solid"/>
          </a:ln>
        </p:spPr>
      </p:sp>
      <p:sp>
        <p:nvSpPr>
          <p:cNvPr id="4" name="Shape 2"/>
          <p:cNvSpPr/>
          <p:nvPr/>
        </p:nvSpPr>
        <p:spPr>
          <a:xfrm>
            <a:off x="3520440" y="1417320"/>
            <a:ext cx="2743200" cy="4754880"/>
          </a:xfrm>
          <a:prstGeom prst="roundRect">
            <a:avLst>
              <a:gd name="adj" fmla="val 2667"/>
            </a:avLst>
          </a:prstGeom>
          <a:solidFill>
            <a:srgbClr val="EEF2F4"/>
          </a:solidFill>
          <a:ln w="12700">
            <a:solidFill>
              <a:srgbClr val="EEF2F4"/>
            </a:solidFill>
            <a:prstDash val="solid"/>
          </a:ln>
        </p:spPr>
      </p:sp>
      <p:sp>
        <p:nvSpPr>
          <p:cNvPr id="5" name="Shape 3"/>
          <p:cNvSpPr/>
          <p:nvPr/>
        </p:nvSpPr>
        <p:spPr>
          <a:xfrm>
            <a:off x="7657668" y="91440"/>
            <a:ext cx="3985387" cy="274320"/>
          </a:xfrm>
          <a:prstGeom prst="rect">
            <a:avLst/>
          </a:prstGeom>
          <a:solidFill>
            <a:srgbClr val="E0F2FE"/>
          </a:solidFill>
          <a:ln w="12700">
            <a:solidFill>
              <a:srgbClr val="0369A1"/>
            </a:solidFill>
            <a:prstDash val="solid"/>
          </a:ln>
        </p:spPr>
      </p:sp>
      <p:sp>
        <p:nvSpPr>
          <p:cNvPr id="6" name="Shape 4"/>
          <p:cNvSpPr/>
          <p:nvPr/>
        </p:nvSpPr>
        <p:spPr>
          <a:xfrm>
            <a:off x="7657668"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8" name="Text 5"/>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ingressi con pull-up</a:t>
            </a:r>
            <a:endParaRPr lang="en-US" sz="1100" dirty="0"/>
          </a:p>
        </p:txBody>
      </p:sp>
      <p:pic>
        <p:nvPicPr>
          <p:cNvPr id="10" name="Image 1" descr="preencoded.png">    </p:cNvPr>
          <p:cNvPicPr>
            <a:picLocks noChangeAspect="1"/>
          </p:cNvPicPr>
          <p:nvPr/>
        </p:nvPicPr>
        <p:blipFill>
          <a:blip r:embed="rId2"/>
          <a:stretch>
            <a:fillRect/>
          </a:stretch>
        </p:blipFill>
        <p:spPr>
          <a:xfrm>
            <a:off x="640080" y="2105753"/>
            <a:ext cx="2560320" cy="3378014"/>
          </a:xfrm>
          <a:prstGeom prst="rect">
            <a:avLst/>
          </a:prstGeom>
        </p:spPr>
      </p:pic>
      <p:pic>
        <p:nvPicPr>
          <p:cNvPr id="11" name="Image 2" descr="preencoded.png">    </p:cNvPr>
          <p:cNvPicPr>
            <a:picLocks noChangeAspect="1"/>
          </p:cNvPicPr>
          <p:nvPr/>
        </p:nvPicPr>
        <p:blipFill>
          <a:blip r:embed="rId3"/>
          <a:stretch>
            <a:fillRect/>
          </a:stretch>
        </p:blipFill>
        <p:spPr>
          <a:xfrm>
            <a:off x="3611880" y="2105753"/>
            <a:ext cx="2560320" cy="3378014"/>
          </a:xfrm>
          <a:prstGeom prst="rect">
            <a:avLst/>
          </a:prstGeom>
        </p:spPr>
      </p:pic>
      <p:sp>
        <p:nvSpPr>
          <p:cNvPr id="12" name="Shape 6"/>
          <p:cNvSpPr/>
          <p:nvPr/>
        </p:nvSpPr>
        <p:spPr>
          <a:xfrm>
            <a:off x="6583680" y="1492758"/>
            <a:ext cx="146304" cy="146304"/>
          </a:xfrm>
          <a:prstGeom prst="rect">
            <a:avLst/>
          </a:prstGeom>
          <a:solidFill>
            <a:srgbClr val="0E7C86"/>
          </a:solidFill>
          <a:ln w="12700">
            <a:solidFill>
              <a:srgbClr val="0E7C86"/>
            </a:solidFill>
            <a:prstDash val="solid"/>
          </a:ln>
        </p:spPr>
      </p:sp>
      <p:sp>
        <p:nvSpPr>
          <p:cNvPr id="13" name="Text 7"/>
          <p:cNvSpPr txBox="1"/>
          <p:nvPr/>
        </p:nvSpPr>
        <p:spPr>
          <a:xfrm>
            <a:off x="6967728" y="1417320"/>
            <a:ext cx="467532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ingresso collegato a nulla è flottante: raccoglie rumore e legge 0 o 1 a caso</a:t>
            </a:r>
            <a:endParaRPr lang="en-US" sz="1800" dirty="0"/>
          </a:p>
        </p:txBody>
      </p:sp>
      <p:sp>
        <p:nvSpPr>
          <p:cNvPr id="14" name="Shape 8"/>
          <p:cNvSpPr/>
          <p:nvPr/>
        </p:nvSpPr>
        <p:spPr>
          <a:xfrm>
            <a:off x="6583680" y="2556129"/>
            <a:ext cx="146304" cy="146304"/>
          </a:xfrm>
          <a:prstGeom prst="rect">
            <a:avLst/>
          </a:prstGeom>
          <a:solidFill>
            <a:srgbClr val="C7791B"/>
          </a:solidFill>
          <a:ln w="12700">
            <a:solidFill>
              <a:srgbClr val="C7791B"/>
            </a:solidFill>
            <a:prstDash val="solid"/>
          </a:ln>
        </p:spPr>
      </p:sp>
      <p:sp>
        <p:nvSpPr>
          <p:cNvPr id="15" name="Text 9"/>
          <p:cNvSpPr txBox="1"/>
          <p:nvPr/>
        </p:nvSpPr>
        <p:spPr>
          <a:xfrm>
            <a:off x="6967728" y="2480691"/>
            <a:ext cx="467532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resistenza di pull-up lega il piedino a 3,3 V: rilasciato, non scorre corrente, e il piedino legge un 1 pulito</a:t>
            </a:r>
            <a:endParaRPr lang="en-US" sz="1800" dirty="0"/>
          </a:p>
        </p:txBody>
      </p:sp>
      <p:sp>
        <p:nvSpPr>
          <p:cNvPr id="16" name="Shape 10"/>
          <p:cNvSpPr/>
          <p:nvPr/>
        </p:nvSpPr>
        <p:spPr>
          <a:xfrm>
            <a:off x="6583680" y="3619500"/>
            <a:ext cx="146304" cy="146304"/>
          </a:xfrm>
          <a:prstGeom prst="rect">
            <a:avLst/>
          </a:prstGeom>
          <a:solidFill>
            <a:srgbClr val="0E7C86"/>
          </a:solidFill>
          <a:ln w="12700">
            <a:solidFill>
              <a:srgbClr val="0E7C86"/>
            </a:solidFill>
            <a:prstDash val="solid"/>
          </a:ln>
        </p:spPr>
      </p:sp>
      <p:sp>
        <p:nvSpPr>
          <p:cNvPr id="17" name="Text 11"/>
          <p:cNvSpPr txBox="1"/>
          <p:nvPr/>
        </p:nvSpPr>
        <p:spPr>
          <a:xfrm>
            <a:off x="6967728" y="3544062"/>
            <a:ext cx="4675327" cy="105918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Premuto, l'interruttore collega il piedino a massa: 0 V, uno 0 pulito</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scorre una corrente di 3,3 V / 45 kΩ = 73 µA, troppo piccola per contare</a:t>
            </a:r>
            <a:endParaRPr lang="en-US" sz="1800" dirty="0"/>
          </a:p>
        </p:txBody>
      </p:sp>
      <p:sp>
        <p:nvSpPr>
          <p:cNvPr id="18" name="Shape 12"/>
          <p:cNvSpPr/>
          <p:nvPr/>
        </p:nvSpPr>
        <p:spPr>
          <a:xfrm>
            <a:off x="6583680" y="4905375"/>
            <a:ext cx="146304" cy="146304"/>
          </a:xfrm>
          <a:prstGeom prst="rect">
            <a:avLst/>
          </a:prstGeom>
          <a:solidFill>
            <a:srgbClr val="C7791B"/>
          </a:solidFill>
          <a:ln w="12700">
            <a:solidFill>
              <a:srgbClr val="C7791B"/>
            </a:solidFill>
            <a:prstDash val="solid"/>
          </a:ln>
        </p:spPr>
      </p:sp>
      <p:sp>
        <p:nvSpPr>
          <p:cNvPr id="19" name="Text 13"/>
          <p:cNvSpPr txBox="1"/>
          <p:nvPr/>
        </p:nvSpPr>
        <p:spPr>
          <a:xfrm>
            <a:off x="6967728" y="4829937"/>
            <a:ext cx="46753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È un partitore di tensione il cui resistore inferiore è o infinito o zero</a:t>
            </a:r>
            <a:endParaRPr lang="en-US" sz="1800" dirty="0"/>
          </a:p>
        </p:txBody>
      </p:sp>
      <p:sp>
        <p:nvSpPr>
          <p:cNvPr id="20" name="Shape 14"/>
          <p:cNvSpPr/>
          <p:nvPr/>
        </p:nvSpPr>
        <p:spPr>
          <a:xfrm>
            <a:off x="6583680" y="5689854"/>
            <a:ext cx="146304" cy="146304"/>
          </a:xfrm>
          <a:prstGeom prst="rect">
            <a:avLst/>
          </a:prstGeom>
          <a:solidFill>
            <a:srgbClr val="0E7C86"/>
          </a:solidFill>
          <a:ln w="12700">
            <a:solidFill>
              <a:srgbClr val="0E7C86"/>
            </a:solidFill>
            <a:prstDash val="solid"/>
          </a:ln>
        </p:spPr>
      </p:sp>
      <p:sp>
        <p:nvSpPr>
          <p:cNvPr id="21" name="Text 15"/>
          <p:cNvSpPr txBox="1"/>
          <p:nvPr/>
        </p:nvSpPr>
        <p:spPr>
          <a:xfrm>
            <a:off x="6967728" y="5614416"/>
            <a:ext cx="46753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firmware inverte il bit, così nel vostro programma premuto vale 1</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LED fa cadere 2 V e deve portare 5 mA da un piedino a 3,3 V. Quale resistenza serve?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 Ω</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260 Ω</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400 Ω</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660 Ω</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 invertitore CMOS con l'ingresso a 0:</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entrambi i transistor conducono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pMOS conduce e l'uscita vale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l'nMOS conduce e l'uscita vale 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nessuno conduce e l'uscita è flottante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transistor richiede un AND a due ingressi in CMOS statico?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l'ingresso del pulsante del kit ha bisogno di una resistenza di pull-up?</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limitare la corrente del LED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Perché il piedino legga un 1 definito quando il pulsante è rilasciato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rendere il pulsante più veloce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proteggere il chip dai 5 V</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600254"/>
                <a:gridCol w="3120304"/>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Inglese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Inglese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voltage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tensione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logic level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livello logico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current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corrente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noise margin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margine di rumore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resistor / resistance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resistore / resistenza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pull-up resistor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resistenza di pull-up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capacitor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condensatore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floating input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ingresso flottante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ground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massa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propagation delay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ritardo di propagazione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semiconductor, doping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semiconduttore, drogaggio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integrated circuit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circuito integrato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basetta sperimentale (breadboard)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tensione spinge, la corrente scorre, la resistenza ostacola: V = R x I descrive quasi tutto ciò che serve a un progettista digitale</a:t>
            </a:r>
            <a:endParaRPr lang="en-US" sz="1800" dirty="0"/>
          </a:p>
        </p:txBody>
      </p:sp>
      <p:sp>
        <p:nvSpPr>
          <p:cNvPr id="5" name="Shape 3"/>
          <p:cNvSpPr/>
          <p:nvPr/>
        </p:nvSpPr>
        <p:spPr>
          <a:xfrm>
            <a:off x="548640" y="233812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2683"/>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transistor MOS è un interruttore comandato da una tensione; nMOS e pMOS sono complementari</a:t>
            </a:r>
            <a:endParaRPr lang="en-US" sz="1800" dirty="0"/>
          </a:p>
        </p:txBody>
      </p:sp>
      <p:sp>
        <p:nvSpPr>
          <p:cNvPr id="7" name="Shape 5"/>
          <p:cNvSpPr/>
          <p:nvPr/>
        </p:nvSpPr>
        <p:spPr>
          <a:xfrm>
            <a:off x="548640" y="29045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29154"/>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bit è un intervallo di tensioni; margini di rumore e rigenerazione rendono affidabili i circuiti digitali</a:t>
            </a:r>
            <a:endParaRPr lang="en-US" sz="1800" dirty="0"/>
          </a:p>
        </p:txBody>
      </p:sp>
      <p:sp>
        <p:nvSpPr>
          <p:cNvPr id="9" name="Shape 7"/>
          <p:cNvSpPr/>
          <p:nvPr/>
        </p:nvSpPr>
        <p:spPr>
          <a:xfrm>
            <a:off x="548640" y="37499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74516"/>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porte CMOS sono coppie di reti di interruttori; le porte invertenti NAND e NOR sono le più economiche</a:t>
            </a:r>
            <a:endParaRPr lang="en-US" sz="1800" dirty="0"/>
          </a:p>
        </p:txBody>
      </p:sp>
      <p:sp>
        <p:nvSpPr>
          <p:cNvPr id="11" name="Shape 9"/>
          <p:cNvSpPr/>
          <p:nvPr/>
        </p:nvSpPr>
        <p:spPr>
          <a:xfrm>
            <a:off x="548640" y="459531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19879"/>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Commutare costa tempo (R x C) ed energia (C x V^2 x f): i limiti fisici dietro ogni clock</a:t>
            </a:r>
            <a:endParaRPr lang="en-US" sz="1800" dirty="0"/>
          </a:p>
        </p:txBody>
      </p:sp>
      <p:sp>
        <p:nvSpPr>
          <p:cNvPr id="13" name="Shape 11"/>
          <p:cNvSpPr/>
          <p:nvPr/>
        </p:nvSpPr>
        <p:spPr>
          <a:xfrm>
            <a:off x="548640" y="5161788"/>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86350"/>
            <a:ext cx="10710367" cy="108585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Letture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Charles Petzold: Code, i capitoli dalla torcia elettrica alle porte logiche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Patterson, Hennessy: Struttura e progetto dei calcolatori, edizione RISC-V, paragrafi 1.5, 1.7 e appendice 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Repository di PRG32: docs/hardware/hardware.md</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Introduzione all'elettronica e all'elettronica digitale</dc:title>
  <dc:subject>Lezione 10</dc:subject>
  <dc:creator>Raffaele Montella</dc:creator>
  <cp:lastModifiedBy>Raffaele Montella</cp:lastModifiedBy>
  <cp:revision>1</cp:revision>
  <dcterms:created xsi:type="dcterms:W3CDTF">2026-10-17T07:16:50Z</dcterms:created>
  <dcterms:modified xsi:type="dcterms:W3CDTF">2026-10-17T07:16:50Z</dcterms:modified>
</cp:coreProperties>
</file>