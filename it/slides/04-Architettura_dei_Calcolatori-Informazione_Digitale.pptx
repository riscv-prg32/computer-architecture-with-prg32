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eea4372-7909-1902-15bd-eb0b9d451d95}">
          <p14:sldIdLst>
            <p14:sldId id="256"/>
            <p14:sldId id="257"/>
          </p14:sldIdLst>
        </p14:section>
        <p14:section name="Informazione" id="{b0cf88dd-6dbb-59d1-32a4-4eb7000dfda1}">
          <p14:sldIdLst>
            <p14:sldId id="258"/>
            <p14:sldId id="259"/>
            <p14:sldId id="260"/>
            <p14:sldId id="261"/>
            <p14:sldId id="262"/>
            <p14:sldId id="263"/>
          </p14:sldIdLst>
        </p14:section>
        <p14:section name="Testo" id="{366d337a-a36a-4635-7c9a-441d6ff708b4}">
          <p14:sldIdLst>
            <p14:sldId id="264"/>
            <p14:sldId id="265"/>
            <p14:sldId id="266"/>
            <p14:sldId id="267"/>
          </p14:sldIdLst>
        </p14:section>
        <p14:section name="Strutture dati" id="{925f74ec-a307-dca8-d541-07afa5674cee}">
          <p14:sldIdLst>
            <p14:sldId id="268"/>
          </p14:sldIdLst>
        </p14:section>
        <p14:section name="Dati e algoritmi" id="{45792abd-bcc6-2176-da47-e211aa828eb0}">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02 avete battuto 0x07e0, 255, .asciz e .word senza sapere esattamente che cosa fossero. Questa lezione dà loro un nome. La tesi sta nel sottotitolo: dentro la macchina tutto è una configurazione di bit, che si tratti di un numero, di un colore, di una lettera o di un elenco. La lezione è ampia più che profonda: i numeri sono trattati formalmente nelle due lezioni successive; qui imparate a leggere i bit e a vedere che il loro significato è questione di accordi.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Per il docente: Spirale: gli studenti hanno già visto 0x07e0, 255, .asciz e .word nella Lezione 02. Questa lezione dà un nome a quelle cose. Le due lezioni successive (05, 06) trattano 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dal generale al particolare e ritorno. Saprete distinguere analogico e digitale, leggere un byte in binario e in esadecimale, scomporre un colore PRG32 nei suoi tre campi, dire come si memorizza il testo, e descrivere come un vettore sta in memoria e come l'assembly ne raggiunge un elemento. L'ultimo obiettivo guarda oltre la macchina: che cos'è un algoritmo, quando è deterministico, e dove si colloca il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grandezza analogica varia con continuità, come una tensione o le lancette di un orologio. Una grandezza digitale è una sequenza di simboli presi da un alfabeto finito, come le cifre di un display. Nella figura la curva liscia è il segnale analogico; la scalinata è la sua versione digitale, ottenuta campionando a istanti regolari e quantizzando ogni campione su uno di pochi livelli. Qualcosa si perde, e qualcosa si guadagna: un numero finito di livelli si può contare, copiare senza errori e controllare. Con due soli livelli il simbolo è il bit.
DA COMPRENDERE OGGI: analogico e digitale.
Per il docente: Due livelli si realizzano in modo affidabile con i transistor (spento o acceso): per questo i calcolatori sono binari. L'algebra di Boole (Lezione 08) è la matematica dei due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unità dell'informazione, ciascuna legata a qualcosa che avete usato. Un bit è un pulsante. Un nibble, quattro bit, è una cifra esadecimale. Un byte, otto bit, è un carattere ASCII, ed è la ragione per cui la barra della Lezione 02 era larga al massimo 255. Una halfword, sedici bit, è un colore. Una word, o parola, trentadue bit, è un registro e un'istruzione. La regola da ricordare: n bit danno 2 alla n configurazioni. E la didascalia: che cosa significa una configurazione non è scritto nei bit.
DA COMPRENDERE OGGI: bit, byte, parola.
Per il docente: n bit danno 2^n configurazioni distinte. Che cosa significa una configurazione non è scritto nei bit: è una convenzione tra chi li scrive e chi li legge. Su RV32 una parola è di 32 bit per definizione dell'architettura.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Sedici righe da imparare a memoria, come un tempo le tabelline. Ogni riga dà lo stesso numero in decimale, in binario su quattro bit e in esadecimale con una cifra. Le quattro colonne binarie pesano 8, 4, 2 e 1: 1011 è 8 + 2 + 1 = 11, che l'esadecimale scrive B. Dopo il 9 le cifre esadecimali proseguono con le lettere da A a F per i valori da dieci a quindici. Coprite due colonne e ricostruitele dalla terza finché non vi serve più pensarci.
DA COMPRENDERE OGGI: l'esadecimale.
Per il docente: Le colonne del numero binario pesano 8, 4, 2, 1. Questa tabella va imparata a memoria: è la tavola pitagorica di questo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sistema posizionale una cifra vale il suo valore per il peso della sua posizione, e i pesi sono le potenze della base. La slide legge così il byte 11011001: le posizioni pesano 128, 64, 32, 16, 8, 4, 2 e 1; dove il bit è 1 il peso si somma, dove è 0 no. La somma è 128 + 64 + 16 + 8 + 1 = 217. È esattamente ciò che fate in base dieci senza accorgervene: 217 sono 2 centinaia, 1 decina e 7 unità.
DA COMPRENDERE OGGI: la notazione posizionale.
Per il docente: La Lezione 05 dà la formula generale e gli algoritmi di conversione. Qui lo scopo è soltanto leggere un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Sedici è due alla quarta, quindi una cifra esadecimale corrisponde esattamente a quattro bit. Per convertire si taglia il numero binario in gruppi di quattro a partire da destra e si sostituisce ogni gruppo usando la tabella: 0000 0111 1110 0000 diventa 0, 7, E, 0. Non serve alcun calcolo. Per questo i programmatori usano l'esadecimale: è il binario scritto in modo compatto. Un registro sono otto cifre esadecimali invece di trentadue bit. Il prefisso 0x annuncia che un numero è esadecimale.
DA COMPRENDERE OGGI: l'esadecimale.
Per il docente: 0x07E0 = 7 x 256 + 14 x 16 = 1792 + 224 = 2016. Il valore decimale qui è inutile: conta la configurazione di bit, come mostra la slide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si apre il verde della Lezione 02. Un colore PRG32 sono sedici bit divisi in tre campi: cinque bit di rosso, sei di verde, cinque di blu. Il formato si chiama RGB565. In 0x07E0 il campo rosso è 00000, il campo verde è 111111 e il campo blu è 00000: verde al massimo e nient'altro. Gli otto campioni mostrano altre combinazioni: il giallo è rosso più verde, il bianco è tutto. La frase in fondo è la lezione dell'intera lezione: gli stessi sedici bit potrebbero essere tutt'altro.
DA COMPRENDERE OGGI: un colore è un numero.
Per il docente: L'occhio è più sensibile al verde: per questo al verde spetta il bit in più. Esercizio: che colore è 0xF81F? (rosso e blu al massimo: magenta). Le costanti dei colori sono quelle di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assegna un numero a ogni carattere e lo fa stare in un byte. Tre osservazioni dalla tabella. La A maiuscola è 65 e la a minuscola è 97: differiscono di 32, cioè di un solo bit. Il carattere «0» è 48, non zero: una cifra battuta sulla tastiera non è ancora un numero. E ci sono caratteri che non si stampano: l'a capo, 10, e NUL, 0, che incontrerete nella prossima slide come fine di una stringa.
DA COMPRENDERE OGGI: caratteri e stringhe.
Per il docente: L'ASCII (1963) usa 7 bit: 128 caratteri, solo per l'inglese. Maiuscole e minuscole differiscono solo nel bit 5: xori con 0x20 scambia maiuscolo e minuscolo, un primo assaggio di algebra di Boole sul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stringa è una sequenza di codici di carattere in byte consecutivi. Il problema è sapere dove finisce. La convenzione del C segna la fine con un byte a zero; quella del Pascal scrive prima la lunghezza. La terza riga è la vostra stringa della Lezione 02: .asciz memorizza gli undici caratteri di HELLO PRG32 seguiti da uno zero, dodici byte in tutto. La funzione che disegna il testo riceve solo l'indirizzo del primo byte e legge finché non trova lo zero. Se lo zero mancasse, proseguirebbe con ciò che segue in memoria.
DA COMPRENDERE OGGI: caratteri e stringhe.
Per il docente: I numeri sotto le celle sono i codici ASCII in esadecimale. È la stringa della Lezione 02, passo 2. Che cosa accade se lo zero manca? La funzione continua a leggere ciò che segue in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ha 128 caratteri, sufficienti solo per l'inglese. Unicode assegna un numero, detto code point, a ogni carattere di ogni sistema di scrittura. UTF-8 memorizza quel numero in uno-quattro byte: i caratteri dell'ASCII conservano il loro unico byte, una lettera accentata ne prende due, il simbolo dell'euro tre, un'emoji quattro. Due conseguenze. Il testo ASCII puro è già UTF-8 valido. E la lunghezza di una stringa in byte non è più la sua lunghezza in caratteri.
DA COMPRENDERE OGGI: caratteri e stringhe.
Per il docente: Unicode assegna un numero (code point) a ogni carattere di ogni scrittura; UTF-8 codifica quel numero in uno-quattro byte ed è compatibile con l'ASCII. È la codifica del web e dei vostri file sorgente. Conseguenza: la lunghezza in byte di una stringa non è la sua lunghezza in caratteri.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sono quattro byte, e la memoria ha un indirizzo per ogni byte: in che ordine si memorizzano i quattro byte? RISC-V è little-endian: il byte meno significativo va all'indirizzo più basso, quindi 0x12345678 si memorizza come 78, 56, 34, 12. L'ordine opposto, big-endian, è quello dei protocolli di rete. Di solito non ci si accorge di nulla, perché lw e sw sono coerenti tra loro. Ci si accorge quando si guarda la memoria byte per byte in un debugger, o si scambiano dati con una macchina diversa.
DA COMPRENDERE OGGI: l'ordine little-endian.
Per il docente: I nomi vengono dai Viaggi di Gulliver: da quale estremità rompere l'uovo. In PRG32-QT aprite la vista della memoria su una .word e leggete i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strutture. Un vettore tiene elementi dello stesso tipo uno dopo l'altro e li raggiunge per indice. Una lista collega ogni elemento al successivo: facile da modificare, lenta da percorrere fino a una posizione. Una pila restituisce per primo ciò che è stato messo per ultimo; ne avete usata una nella Lezione 02 per salvare ra. Un dizionario associa chiavi a valori. Un albero è una gerarchia. Il sesto riquadro è quello che conta per questo corso: nella macchina sono tutti byte in memoria, più una regola per trovare l'elemento successivo.
DA COMPRENDERE OGGI: le strutture dati.
Per il docente: Una pila l'avete già usata: il frame che salvava ra nella Lezione 02. Gli esempi sono quelli disegnati sulla slide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problema è calcolabile se un algoritmo può risolverlo. La macchina di Turing è il modello matematico di un calcolatore con un programma; la macchina di von Neumann è l'architettura che la realizza in hardware. L'ultima riga è quella sorprendente: esistono problemi che nessun algoritmo può risolvere, e quindi che nessun calcolatore risolverà mai, per quanto veloce. L'esempio classico è decidere, per un programma qualsiasi, se si fermerà.
DA COMPRENDERE OGGI: gli algoritmi.
Per il docente: L'ultima riga è la tesi di Church-Turing, enunciata in modo informale. Il problema della fermata è l'esempio classico di problema non calcolabile.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algoritmo deterministico lo stesso ingresso produce sempre la stessa sequenza di passi e lo stesso risultato: first_update somma sempre uno. Un algoritmo non deterministico può comportarsi in modo diverso a ogni esecuzione con lo stesso ingresso. Le ragioni comuni sono due: usa di proposito numeri casuali, come un gioco che piazza un nemico a caso, oppure dipende dai tempi di più cose che accadono insieme. Il primo tipo è utile; il secondo è una fonte frequente di bug.
DA COMPRENDERE OGGI: gli algoritmi.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programma classico è una funzione scritta da una persona: y = f(x). Nel machine learning la funzione non viene scritta: è costruita automaticamente a partire da esempi. I modelli generativi di oggi sono questa idea su scala enorme, con miliardi di numeri appresi. Due osservazioni la collegano a questo corso. Quei numeri sono bit in memoria, moltiplicati e sommati da processori. E un modello può sbagliare con grande sicurezza: solo chi conosce i fondamenti può controllare ciò che dice.
Per il docente: L'ultimo punto si collega alla regola #nogpt del corso: l'esame verifica che i fondamenti stiano nella testa dello studente.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Applicate la regola per cui n bit danno 2 alla n configurazioni. Un byte ha otto bit. Attenzione ai due quasi-giusti: 8 è il numero dei bit, e 255 è il più grande numero naturale che un byte può contenere, non il numero dei valori, perché conta anche lo zero.
Scrivete in binario le quattro cifre esadecimali: F è 1111, 8 è 1000, 1 è 0001, F è 1111. Poi tagliate i sedici bit in 5, 6 e 5: rosso 11111, verde 000000, blu 11111. Rosso e blu al massimo, niente verde.
Per il docente: 1. Risposta: D. Un byte sono 8 bit: 2^8 = 256 configurazioni, per esempio i naturali da 0 a 255.
2. Risposta: B. 0xF81F = 11111 000000 11111: rosso e blu al massimo, verde a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Contate i caratteri e ricordate che cosa aggiunge la z di .asciz. La direttiva memorizza la stringa terminata da zero: un byte in più dei caratteri visibili.
RISC-V è little-endian. Scrivete la parola come quattro byte, 00 00 AB CD, dal più al meno significativo, e chiedetevi quale va all'indirizzo più basso. La trappola è 0x00, che sarebbe giusta su una macchina big-endian.
Per il docente: 1. Risposta: C. Quattro caratteri più il byte di terminazione a zero.
2. Risposta: C. RISC-V è little-endian: il byte meno significativo, 0xCD, va all'indirizzo più 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Word è la parola, e su RV32 significa trentadue bit. Sampling e quantisation, campionamento e quantizzazione, sono le due operazioni della digitalizzazione. Byte order, o endianness, è l'ordine dei byte di una parola in memoria. Notate che stack è la pila, mentre array spesso non si traduce, oppure si rende con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frasi da tenere. L'informazione digitale è una configurazione di bit più una convenzione per leggerla. Gli stessi bit possono essere un numero, un colore o due caratteri: decide il programma. L'esadecimale è il binario scritto in modo compatto, quattro bit per cifra. Il testo è fatto di numeri, e le strutture sono byte più una regola. Gli algoritmi trasformano i dati in informazione su cui fondare decisioni. La prossima lezione tratta formalmente la rappresentazione dei numeri, partendo da un segnalino che esce dal bordo sinistro dello schermo.
Stato di apprendimento, riepilogo.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Per il docente: Prossima lezione: la rappresentazione dei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04: Informazione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Rappresentare l'informazione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 numeri, testo, strutture: nella macchina tutto è una configurazione di bit</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04-Architettura_dei_Calcolatori-Informazione_Digitale-Codice.pptx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la differenza tra informazione analogica e digitale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una configurazione di bit come numero naturale, in binario e in esadecimale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Scomporre un colore PRG32 come 0x07E0 nei campi rosso, verde e blu</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caratteri e stringhe sono memorizzati, in ASCII e in UTF-8</a:t>
            </a:r>
            <a:endParaRPr lang="en-US" sz="2200" dirty="0"/>
          </a:p>
        </p:txBody>
      </p:sp>
      <p:sp>
        <p:nvSpPr>
          <p:cNvPr id="11" name="Text 9"/>
          <p:cNvSpPr txBox="1"/>
          <p:nvPr/>
        </p:nvSpPr>
        <p:spPr>
          <a:xfrm>
            <a:off x="548640" y="454842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3014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come un vettore sta in memoria e come l'assembly ne raggiunge un elemento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 algoritmo deterministico da uno probabilistico, e collocare tra essi il machine learning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Informazione analogica e digitale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Analogica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grandezza che varia con continuità: una tensione, una pressione sonora, le lancette di un orologio</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sequenza di simboli presi da un alfabeto finito: le cifre di un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Digitalizzare significa campionare nel tempo e quantizzare nel valore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numero finito di livelli si può contare, copiare esattamente e controllare contro gli errori</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due livelli il simbolo è il bit: 0 oppure 1</a:t>
            </a:r>
            <a:endParaRPr lang="en-US" sz="20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analogico e digitale</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parola</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Unità</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Dimensione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Configurazioni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Dove l'avete incontrata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 cifra binaria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pulsante del joystick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nibble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cifra esadecimale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carattere ASCII; la larghezza della barra (andi 255)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halfword (mezza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65.536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colore RGB565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word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4.294.967.296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registro RISC-V; un'istruzione; .word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KiB, MiB, GiB</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 2^20, 2^30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dimensioni di memoria: 1 KiB = 1024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 danno 2^n configurazioni. Il significato di una configurazione è una convenzione, non una proprietà dei bit.</a:t>
            </a:r>
            <a:endParaRPr lang="en-US" sz="1500" dirty="0"/>
          </a:p>
        </p:txBody>
      </p:sp>
      <p:sp>
        <p:nvSpPr>
          <p:cNvPr id="5"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6"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8"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bit, byte, parola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Contare in base 2 e in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2"/>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Notazione posizionale: che cosa significa 11011001</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peso</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contributo</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un sistema posizionale il valore di una cifra dipende dalla sua posizione: ogni posizione pesa una potenza della base. La base 10 usa le potenze di dieci, la base 2 le potenze di due, la base 16 le potenze di sedici. La regola è la stessa; cambia solo la base.</a:t>
            </a:r>
            <a:endParaRPr lang="en-US" sz="1700" dirty="0"/>
          </a:p>
        </p:txBody>
      </p:sp>
      <p:sp>
        <p:nvSpPr>
          <p:cNvPr id="32" name="Shape 30"/>
          <p:cNvSpPr/>
          <p:nvPr/>
        </p:nvSpPr>
        <p:spPr>
          <a:xfrm>
            <a:off x="7657668" y="91440"/>
            <a:ext cx="3985387" cy="274320"/>
          </a:xfrm>
          <a:prstGeom prst="rect">
            <a:avLst/>
          </a:prstGeom>
          <a:solidFill>
            <a:srgbClr val="E0F2FE"/>
          </a:solidFill>
          <a:ln w="12700">
            <a:solidFill>
              <a:srgbClr val="0369A1"/>
            </a:solidFill>
            <a:prstDash val="solid"/>
          </a:ln>
        </p:spPr>
      </p:sp>
      <p:sp>
        <p:nvSpPr>
          <p:cNvPr id="33" name="Shape 31"/>
          <p:cNvSpPr/>
          <p:nvPr/>
        </p:nvSpPr>
        <p:spPr>
          <a:xfrm>
            <a:off x="7657668"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5" name="Text 3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notazione posizionale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i programmatori scrivono in esadecimale</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binario</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esadecimale</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decimale</a:t>
            </a:r>
            <a:endParaRPr lang="en-US" sz="2400" dirty="0"/>
          </a:p>
        </p:txBody>
      </p:sp>
      <p:sp>
        <p:nvSpPr>
          <p:cNvPr id="18" name="Shape 16"/>
          <p:cNvSpPr/>
          <p:nvPr/>
        </p:nvSpPr>
        <p:spPr>
          <a:xfrm>
            <a:off x="548640" y="4593971"/>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Una cifra esadecimale vale esattamente quattro bit, perché 16 = 2^4: la conversione è una ricerca in tabella, cifra per cifra</a:t>
            </a:r>
            <a:endParaRPr lang="en-US" sz="1700" dirty="0"/>
          </a:p>
        </p:txBody>
      </p:sp>
      <p:sp>
        <p:nvSpPr>
          <p:cNvPr id="20" name="Shape 18"/>
          <p:cNvSpPr/>
          <p:nvPr/>
        </p:nvSpPr>
        <p:spPr>
          <a:xfrm>
            <a:off x="548640" y="528523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21754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registro a 32 bit sono otto cifre esadecimali: 0x00130313 si legge, trentadue zeri e uni no</a:t>
            </a:r>
            <a:endParaRPr lang="en-US" sz="1700" dirty="0"/>
          </a:p>
        </p:txBody>
      </p:sp>
      <p:sp>
        <p:nvSpPr>
          <p:cNvPr id="22" name="Shape 20"/>
          <p:cNvSpPr/>
          <p:nvPr/>
        </p:nvSpPr>
        <p:spPr>
          <a:xfrm>
            <a:off x="548640" y="571309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prefisso 0x indica l'esadecimale in assembly e in C; il debugger di PRG32-QT mostra così i registri</a:t>
            </a:r>
            <a:endParaRPr lang="en-US" sz="1700" dirty="0"/>
          </a:p>
        </p:txBody>
      </p:sp>
      <p:sp>
        <p:nvSpPr>
          <p:cNvPr id="24" name="Shape 22"/>
          <p:cNvSpPr/>
          <p:nvPr/>
        </p:nvSpPr>
        <p:spPr>
          <a:xfrm>
            <a:off x="8379917" y="91440"/>
            <a:ext cx="3263138" cy="274320"/>
          </a:xfrm>
          <a:prstGeom prst="rect">
            <a:avLst/>
          </a:prstGeom>
          <a:solidFill>
            <a:srgbClr val="E0F2FE"/>
          </a:solidFill>
          <a:ln w="12700">
            <a:solidFill>
              <a:srgbClr val="0369A1"/>
            </a:solidFill>
            <a:prstDash val="solid"/>
          </a:ln>
        </p:spPr>
      </p:sp>
      <p:sp>
        <p:nvSpPr>
          <p:cNvPr id="25" name="Shape 23"/>
          <p:cNvSpPr/>
          <p:nvPr/>
        </p:nvSpPr>
        <p:spPr>
          <a:xfrm>
            <a:off x="8379917"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27" name="Text 2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colore è un numero: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rosso: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verde: 6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su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Sedici bit, tre campi. Gli stessi sedici bit potrebbero essere un numero, due caratteri o mezza istruzione: il significato sta in come il programma li usa.</a:t>
            </a:r>
            <a:endParaRPr lang="en-US" sz="1600" dirty="0"/>
          </a:p>
        </p:txBody>
      </p:sp>
      <p:sp>
        <p:nvSpPr>
          <p:cNvPr id="41" name="Shape 39"/>
          <p:cNvSpPr/>
          <p:nvPr/>
        </p:nvSpPr>
        <p:spPr>
          <a:xfrm>
            <a:off x="7854645" y="91440"/>
            <a:ext cx="3788410" cy="274320"/>
          </a:xfrm>
          <a:prstGeom prst="rect">
            <a:avLst/>
          </a:prstGeom>
          <a:solidFill>
            <a:srgbClr val="E0F2FE"/>
          </a:solidFill>
          <a:ln w="12700">
            <a:solidFill>
              <a:srgbClr val="0369A1"/>
            </a:solidFill>
            <a:prstDash val="solid"/>
          </a:ln>
        </p:spPr>
      </p:sp>
      <p:sp>
        <p:nvSpPr>
          <p:cNvPr id="42" name="Shape 40"/>
          <p:cNvSpPr/>
          <p:nvPr/>
        </p:nvSpPr>
        <p:spPr>
          <a:xfrm>
            <a:off x="785464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44" name="Text 41"/>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 colore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un carattere, un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maiuscole cominciano da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come A con un bit in più: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carattere zero non è il numero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spazio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come gli altri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capo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segna la fine di una stringa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Stringhe: una sequenza di caratteri in memoria</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C</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fine è segnata da un byte a zero</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Pascal</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lunghezza viene prima</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z di .asciz significa terminata da zero: l'assemblatore memorizza dodici byte per undici caratteri. prg32_gfx_text8 riceve in a2 solo l'indirizzo del primo byte, e legge finché non trova lo zero.</a:t>
            </a:r>
            <a:endParaRPr lang="en-US" sz="1700" dirty="0"/>
          </a:p>
        </p:txBody>
      </p:sp>
      <p:sp>
        <p:nvSpPr>
          <p:cNvPr id="54" name="Shape 52"/>
          <p:cNvSpPr/>
          <p:nvPr/>
        </p:nvSpPr>
        <p:spPr>
          <a:xfrm>
            <a:off x="7920304" y="91440"/>
            <a:ext cx="3722751" cy="274320"/>
          </a:xfrm>
          <a:prstGeom prst="rect">
            <a:avLst/>
          </a:prstGeom>
          <a:solidFill>
            <a:srgbClr val="E0F2FE"/>
          </a:solidFill>
          <a:ln w="12700">
            <a:solidFill>
              <a:srgbClr val="0369A1"/>
            </a:solidFill>
            <a:prstDash val="solid"/>
          </a:ln>
        </p:spPr>
      </p:sp>
      <p:sp>
        <p:nvSpPr>
          <p:cNvPr id="55" name="Shape 53"/>
          <p:cNvSpPr/>
          <p:nvPr/>
        </p:nvSpPr>
        <p:spPr>
          <a:xfrm>
            <a:off x="7920304"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57" name="Text 5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e UTF-8: ogni sistema di scrittura</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UTF-8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Lunghezza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identico all'ASCII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dà un numero a ogni carattere; UTF-8 lo memorizza in uno-quattro byte, e il testo ASCII puro è già UTF-8 valido.</a:t>
            </a:r>
            <a:endParaRPr lang="en-US" sz="1400" dirty="0"/>
          </a:p>
        </p:txBody>
      </p:sp>
      <p:sp>
        <p:nvSpPr>
          <p:cNvPr id="5" name="Shape 2"/>
          <p:cNvSpPr/>
          <p:nvPr/>
        </p:nvSpPr>
        <p:spPr>
          <a:xfrm>
            <a:off x="7920304" y="91440"/>
            <a:ext cx="3722751" cy="274320"/>
          </a:xfrm>
          <a:prstGeom prst="rect">
            <a:avLst/>
          </a:prstGeom>
          <a:solidFill>
            <a:srgbClr val="E0F2FE"/>
          </a:solidFill>
          <a:ln w="12700">
            <a:solidFill>
              <a:srgbClr val="0369A1"/>
            </a:solidFill>
            <a:prstDash val="solid"/>
          </a:ln>
        </p:spPr>
      </p:sp>
      <p:sp>
        <p:nvSpPr>
          <p:cNvPr id="6" name="Shape 3"/>
          <p:cNvSpPr/>
          <p:nvPr/>
        </p:nvSpPr>
        <p:spPr>
          <a:xfrm>
            <a:off x="792030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8" name="Text 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Ordine dei byte: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(protocolli di rete)</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parola sono quattro byte, e la memoria si indirizza byte per byte: in che ordine vanno?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il byte meno significativo all'indirizzo più basso. È ciò che fanno lw e sw su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Ve ne accorgete guardando la memoria in un debugger, o scambiando dati con un'altra macchina</a:t>
            </a:r>
            <a:endParaRPr lang="en-US" sz="1800" dirty="0"/>
          </a:p>
        </p:txBody>
      </p:sp>
      <p:sp>
        <p:nvSpPr>
          <p:cNvPr id="28" name="Shape 26"/>
          <p:cNvSpPr/>
          <p:nvPr/>
        </p:nvSpPr>
        <p:spPr>
          <a:xfrm>
            <a:off x="7788986" y="91440"/>
            <a:ext cx="3854069" cy="274320"/>
          </a:xfrm>
          <a:prstGeom prst="rect">
            <a:avLst/>
          </a:prstGeom>
          <a:solidFill>
            <a:srgbClr val="E0F2FE"/>
          </a:solidFill>
          <a:ln w="12700">
            <a:solidFill>
              <a:srgbClr val="0369A1"/>
            </a:solidFill>
            <a:prstDash val="solid"/>
          </a:ln>
        </p:spPr>
      </p:sp>
      <p:sp>
        <p:nvSpPr>
          <p:cNvPr id="29" name="Shape 27"/>
          <p:cNvSpPr/>
          <p:nvPr/>
        </p:nvSpPr>
        <p:spPr>
          <a:xfrm>
            <a:off x="778898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7917002" y="128016"/>
            <a:ext cx="201168" cy="201168"/>
          </a:xfrm>
          <a:prstGeom prst="rect">
            <a:avLst/>
          </a:prstGeom>
        </p:spPr>
      </p:pic>
      <p:sp>
        <p:nvSpPr>
          <p:cNvPr id="31" name="Text 28"/>
          <p:cNvSpPr txBox="1"/>
          <p:nvPr/>
        </p:nvSpPr>
        <p:spPr>
          <a:xfrm>
            <a:off x="8173034" y="91440"/>
            <a:ext cx="343344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l'ordine little-endian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Cinque modi di organizzare i dati</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Vettore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dello stesso tipo, uno dopo l'altro, raggiunti per indice: 32, 11, 34, 22.</a:t>
            </a:r>
            <a:endParaRPr lang="en-US" sz="17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collegati l'uno al successivo: economico inserire e togliere, lento raggiungere una posizione.</a:t>
            </a:r>
            <a:endParaRPr lang="en-US" sz="17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Pila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L'ultimo a entrare è il primo a uscire: push aggiunge in cima, pop toglie dalla cima.</a:t>
            </a:r>
            <a:endParaRPr lang="en-US" sz="17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Dizionario</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Coppie chiave-valore: NA dà NAPOLI, PA dà PALERMO, MI dà MILANO.</a:t>
            </a:r>
            <a:endParaRPr lang="en-US" sz="17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Albero</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Una gerarchia: un animale cammina o nuota, ha polmoni o branchie, due zampe o quattro.</a:t>
            </a:r>
            <a:endParaRPr lang="en-US" sz="17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Nella macchina</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Sono tutti byte in memoria più una regola per trovare l'elemento successivo.</a:t>
            </a:r>
            <a:endParaRPr lang="en-US" sz="1700" dirty="0"/>
          </a:p>
        </p:txBody>
      </p:sp>
      <p:sp>
        <p:nvSpPr>
          <p:cNvPr id="27" name="Shape 25"/>
          <p:cNvSpPr/>
          <p:nvPr/>
        </p:nvSpPr>
        <p:spPr>
          <a:xfrm>
            <a:off x="8117281" y="91440"/>
            <a:ext cx="3525774" cy="274320"/>
          </a:xfrm>
          <a:prstGeom prst="rect">
            <a:avLst/>
          </a:prstGeom>
          <a:solidFill>
            <a:srgbClr val="E0F2FE"/>
          </a:solidFill>
          <a:ln w="12700">
            <a:solidFill>
              <a:srgbClr val="0369A1"/>
            </a:solidFill>
            <a:prstDash val="solid"/>
          </a:ln>
        </p:spPr>
      </p:sp>
      <p:sp>
        <p:nvSpPr>
          <p:cNvPr id="28" name="Shape 26"/>
          <p:cNvSpPr/>
          <p:nvPr/>
        </p:nvSpPr>
        <p:spPr>
          <a:xfrm>
            <a:off x="8117281"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30" name="Text 27"/>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strutture dati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e calcolabilità</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è calcolabile se si può risolvere con un algoritmo</a:t>
            </a:r>
            <a:endParaRPr lang="en-US" sz="2200" dirty="0"/>
          </a:p>
        </p:txBody>
      </p:sp>
      <p:sp>
        <p:nvSpPr>
          <p:cNvPr id="5" name="Shape 3"/>
          <p:cNvSpPr/>
          <p:nvPr/>
        </p:nvSpPr>
        <p:spPr>
          <a:xfrm>
            <a:off x="548640" y="238192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5501"/>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Turing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calcolatore ideale dotato di programma, espresso matematicamente con insiemi, relazioni e funzioni</a:t>
            </a:r>
            <a:endParaRPr lang="en-US" sz="2200" dirty="0"/>
          </a:p>
        </p:txBody>
      </p:sp>
      <p:sp>
        <p:nvSpPr>
          <p:cNvPr id="7" name="Shape 5"/>
          <p:cNvSpPr/>
          <p:nvPr/>
        </p:nvSpPr>
        <p:spPr>
          <a:xfrm>
            <a:off x="548640" y="38189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549"/>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von Neumann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l'architettura di calcolo capace di eseguire un programma che realizza un algoritmo per la macchina di Turing</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che nessun algoritmo su una macchina di Turing può risolvere non può essere risolto da alcun calcolatore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Non ogni problema ha un algoritmo: ad alcune domande nessun calcolatore risponderà mai</a:t>
            </a:r>
            <a:endParaRPr lang="en-US" sz="1900" dirty="0"/>
          </a:p>
        </p:txBody>
      </p:sp>
      <p:sp>
        <p:nvSpPr>
          <p:cNvPr id="14"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5"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7"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deterministici e non deterministici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Per ogni istruzione esiste, a parità di ingresso, un solo passo successivo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percorso dell'algoritmo esiste ed è unico: y = f(x)</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la conversione di un'unità di misura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first_update, che somma sempre uno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 deterministici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parità di ingresso possono comportarsi in modo diverso a ogni esecuzione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probabilistici usano un generatore di numeri casuali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concorrenti possono dipendere dai tempi (race condition)</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un gioco che piazza il nemico con prg32_random_number</a:t>
            </a:r>
            <a:endParaRPr lang="en-US" sz="1900" dirty="0"/>
          </a:p>
        </p:txBody>
      </p:sp>
      <p:sp>
        <p:nvSpPr>
          <p:cNvPr id="9" name="Shape 7"/>
          <p:cNvSpPr/>
          <p:nvPr/>
        </p:nvSpPr>
        <p:spPr>
          <a:xfrm>
            <a:off x="8379917" y="91440"/>
            <a:ext cx="3263138" cy="274320"/>
          </a:xfrm>
          <a:prstGeom prst="rect">
            <a:avLst/>
          </a:prstGeom>
          <a:solidFill>
            <a:srgbClr val="E0F2FE"/>
          </a:solidFill>
          <a:ln w="12700">
            <a:solidFill>
              <a:srgbClr val="0369A1"/>
            </a:solidFill>
            <a:prstDash val="solid"/>
          </a:ln>
        </p:spPr>
      </p:sp>
      <p:sp>
        <p:nvSpPr>
          <p:cNvPr id="10" name="Shape 8"/>
          <p:cNvSpPr/>
          <p:nvPr/>
        </p:nvSpPr>
        <p:spPr>
          <a:xfrm>
            <a:off x="837991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2" name="Text 9"/>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metodo di analisi dei dati che automatizza la costruzione di un modello analitico</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calcolatore trova schemi nascosti senza essere programmato esplicitamente su dove cercare</a:t>
            </a:r>
            <a:endParaRPr lang="en-US" sz="20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3194"/>
            <a:ext cx="6565392"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modelli generativi di oggi sono la stessa idea su scala enorme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grande modello linguistico prevede il prossimo frammento di testo a partire da miliardi di numeri appresi</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Quei numeri sono bit in memoria, moltiplicati e sommati da processori: l'argomento di questo corso</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modello può sbagliare con grande sicurezza: per controllarlo servono i fondamenti</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programma classico è scritto da una persona. Nel machine learning, f si impara dagli esempi.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valori diversi può rappresentare un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colore PRG32 0xF81F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rosso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ciano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giallo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byte occupa in memoria .asciz "CIAO"?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RISC-V, .word 0x0000ABCD è memorizzata all'indirizzo A. Quale byte si trova all'indirizzo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digitale è una configurazione di bit più una convenzione per leggerla</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stessi sedici bit possono essere un numero, un colore o due caratteri: decide il programma</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L'esadecimale è una scrittura compatta del binario, quattro bit per cifra</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testo è fatto di numeri (ASCII, UTF-8); le strutture sono byte più una regola per trovare l'elemento successivo</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dati sono la moneta di questo regno; gli algoritmi trasformano i dati in informazione utile alle decisioni</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i capitoli su bit, byte e testo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(suggerito nel corso originale)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Rappresentare l'informazione digitale</dc:title>
  <dc:subject>Lezione 04</dc:subject>
  <dc:creator>Raffaele Montella</dc:creator>
  <cp:lastModifiedBy>Raffaele Montella</cp:lastModifiedBy>
  <cp:revision>1</cp:revision>
  <dcterms:created xsi:type="dcterms:W3CDTF">2026-10-16T15:51:38Z</dcterms:created>
  <dcterms:modified xsi:type="dcterms:W3CDTF">2026-10-16T15:51:38Z</dcterms:modified>
</cp:coreProperties>
</file>