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caceba2-d7e3-99ba-93f6-50c640a08805}">
          <p14:sldIdLst>
            <p14:sldId id="256"/>
            <p14:sldId id="257"/>
          </p14:sldIdLst>
        </p14:section>
        <p14:section name="Informazione" id="{1443ba1b-fe83-a848-220c-dba3445ce54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esto" id="{b45be683-6bcf-299a-b752-5650fb58893a}">
          <p14:sldIdLst>
            <p14:sldId id="265"/>
            <p14:sldId id="266"/>
            <p14:sldId id="267"/>
            <p14:sldId id="268"/>
          </p14:sldIdLst>
        </p14:section>
        <p14:section name="Strutture dati" id="{4bf3e15c-de57-f076-34b8-a14a0b586683}">
          <p14:sldIdLst>
            <p14:sldId id="269"/>
          </p14:sldIdLst>
        </p14:section>
        <p14:section name="Dati e algoritmi" id="{432c6022-7bd6-bdf5-305d-24d8db157f82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Lezione 02 avete battuto 0x07e0, 255, .asciz e .word senza sapere esattamente che cosa fossero. Questa lezione dà loro un nome. La tesi sta nel sottotitolo: dentro la macchina tutto è una configurazione di bit, che si tratti di un numero, di un colore, di una lettera o di un elenco. La lezione è ampia più che profonda: i numeri sono trattati formalmente nelle due lezioni successive; qui imparate a leggere i bit e a vedere che il loro significato è questione di accordi.
Per il docente: Spirale: gli studenti hanno già visto 0x07e0, 255, .asciz e .word nella Lezione 02. Questa lezione dà un nome a quelle cose. Le due lezioni successive (05, 06) trattano i numeri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obiettivi, dal generale al particolare e ritorno. Saprete distinguere analogico e digitale, leggere un byte in binario e in esadecimale, scomporre un colore PRG32 nei suoi tre campi, dire come si memorizza il testo, e descrivere come un vettore sta in memoria e come l'assembly ne raggiunge un elemento. L'ultimo obiettivo guarda oltre la macchina: che cos'è un algoritmo, quando è deterministico, e dove si colloca il machine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calcolo ha la stessa forma. I dati entrano dal mondo; un programma, che è un algoritmo reso concreto, li trasforma; i risultati escono; e qualcuno li usa, ed è questo a trasformare l'informazione in conoscenza. Su PRG32 conoscete già per nome i quattro riquadri: i pulsanti sono letti da prg32_input_read, la vostra funzione update elabora, la vostra funzione draw produce l'uscita, e il giocatore reagisce. Tenete questa figura: ogni programma che scriverete ne è un caso particolare.
Per il docente: Su PRG32 i quattro riquadri sono prg32_input_read, la vostra funzione update, la vostra funzione draw, e il giocatore che reagisce allo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grandezza analogica varia con continuità, come una tensione o le lancette di un orologio. Una grandezza digitale è una sequenza di simboli presi da un alfabeto finito, come le cifre di un display. Nella figura la curva liscia è il segnale analogico; la scalinata è la sua versione digitale, ottenuta campionando a istanti regolari e quantizzando ogni campione su uno di pochi livelli. Qualcosa si perde, e qualcosa si guadagna: un numero finito di livelli si può contare, copiare senza errori e controllare. Con due soli livelli il simbolo è il bit.
Per il docente: Due livelli si realizzano in modo affidabile con i transistor (spento o acceso): per questo i calcolatori sono binari. L'algebra di Boole (Lezione 08) è la matematica dei due livelli.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unità dell'informazione, ciascuna legata a qualcosa che avete usato. Un bit è un pulsante. Un nibble, quattro bit, è una cifra esadecimale. Un byte, otto bit, è un carattere ASCII, ed è la ragione per cui la barra della Lezione 02 era larga al massimo 255. Una halfword, sedici bit, è un colore. Una word, o parola, trentadue bit, è un registro e un'istruzione. La regola da ricordare: n bit danno 2 alla n configurazioni. E la didascalia: che cosa significa una configurazione non è scritto nei bit.
Per il docente: n bit danno 2^n configurazioni distinte. Che cosa significa una configurazione non è scritto nei bit: è una convenzione tra chi li scrive e chi li legge. Su RV32 una parola è di 32 bit per definizione dell'architettura.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righe da imparare a memoria, come un tempo le tabelline. Ogni riga dà lo stesso numero in decimale, in binario su quattro bit e in esadecimale con una cifra. Le quattro colonne binarie pesano 8, 4, 2 e 1: 1011 è 8 + 2 + 1 = 11, che l'esadecimale scrive B. Dopo il 9 le cifre esadecimali proseguono con le lettere da A a F per i valori da dieci a quindici. Coprite due colonne e ricostruitele dalla terza finché non vi serve più pensarci.
Per il docente: Le colonne del numero binario pesano 8, 4, 2, 1. Questa tabella va imparata a memoria: è la tavola pitagorica di questo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sistema posizionale una cifra vale il suo valore per il peso della sua posizione, e i pesi sono le potenze della base. La slide legge così il byte 11011001: le posizioni pesano 128, 64, 32, 16, 8, 4, 2 e 1; dove il bit è 1 il peso si somma, dove è 0 no. La somma è 128 + 64 + 16 + 8 + 1 = 217. È esattamente ciò che fate in base dieci senza accorgervene: 217 sono 2 centinaia, 1 decina e 7 unità.
Per il docente: La Lezione 05 dà la formula generale e gli algoritmi di conversione. Qui lo scopo è soltanto leggere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è due alla quarta, quindi una cifra esadecimale corrisponde esattamente a quattro bit. Per convertire si taglia il numero binario in gruppi di quattro a partire da destra e si sostituisce ogni gruppo usando la tabella: 0000 0111 1110 0000 diventa 0, 7, E, 0. Non serve alcun calcolo. Per questo i programmatori usano l'esadecimale: è il binario scritto in modo compatto. Un registro sono otto cifre esadecimali invece di trentadue bit. Il prefisso 0x annuncia che un numero è esadecimale.
Per il docente: 0x07E0 = 7 x 256 + 14 x 16 = 1792 + 224 = 2016. Il valore decimale qui è inutile: conta la configurazione di bit, come mostra la slide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si apre il verde della Lezione 02. Un colore PRG32 sono sedici bit divisi in tre campi: cinque bit di rosso, sei di verde, cinque di blu. Il formato si chiama RGB565. In 0x07E0 il campo rosso è 00000, il campo verde è 111111 e il campo blu è 00000: verde al massimo e nient'altro. Gli otto campioni mostrano altre combinazioni: il giallo è rosso più verde, il bianco è tutto. La frase in fondo è la lezione dell'intera lezione: gli stessi sedici bit potrebbero essere tutt'altro.
Per il docente: L'occhio è più sensibile al verde: per questo al verde spetta il bit in più. Esercizio: che colore è 0xF81F? (rosso e blu al massimo: magenta). Le costanti dei colori sono quelle di prg32.h.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assegna un numero a ogni carattere e lo fa stare in un byte. Tre osservazioni dalla tabella. La A maiuscola è 65 e la a minuscola è 97: differiscono di 32, cioè di un solo bit. Il carattere «0» è 48, non zero: una cifra battuta sulla tastiera non è ancora un numero. E ci sono caratteri che non si stampano: l'a capo, 10, e NUL, 0, che incontrerete nella prossima slide come fine di una stringa.
Per il docente: L'ASCII (1963) usa 7 bit: 128 caratteri, solo per l'inglese. Maiuscole e minuscole differiscono solo nel bit 5: xori con 0x20 scambia maiuscolo e minuscolo, un primo assaggio di algebra di Boole sul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stringa è una sequenza di codici di carattere in byte consecutivi. Il problema è sapere dove finisce. La convenzione del C segna la fine con un byte a zero; quella del Pascal scrive prima la lunghezza. La terza riga è la vostra stringa della Lezione 02: .asciz memorizza gli undici caratteri di HELLO PRG32 seguiti da uno zero, dodici byte in tutto. La funzione che disegna il testo riceve solo l'indirizzo del primo byte e legge finché non trova lo zero. Se lo zero mancasse, proseguirebbe con ciò che segue in memoria.
Per il docente: I numeri sotto le celle sono i codici ASCII in esadecimale. È la stringa della Lezione 02, passo 2. Che cosa accade se lo zero manca? La funzione continua a leggere ciò che segue in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ha 128 caratteri, sufficienti solo per l'inglese. Unicode assegna un numero, detto code point, a ogni carattere di ogni sistema di scrittura. UTF-8 memorizza quel numero in uno-quattro byte: i caratteri dell'ASCII conservano il loro unico byte, una lettera accentata ne prende due, il simbolo dell'euro tre, un'emoji quattro. Due conseguenze. Il testo ASCII puro è già UTF-8 valido. E la lunghezza di una stringa in byte non è più la sua lunghezza in caratteri.
Per il docente: Unicode assegna un numero (code point) a ogni carattere di ogni scrittura; UTF-8 codifica quel numero in uno-quattro byte ed è compatibile con l'ASCII. È la codifica del web e dei vostri file sorgente. Conseguenza: la lunghezza in byte di una stringa non è la sua lunghezza in caratteri.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sono quattro byte, e la memoria ha un indirizzo per ogni byte: in che ordine si memorizzano i quattro byte? RISC-V è little-endian: il byte meno significativo va all'indirizzo più basso, quindi 0x12345678 si memorizza come 78, 56, 34, 12. L'ordine opposto, big-endian, è quello dei protocolli di rete. Di solito non ci si accorge di nulla, perché lw e sw sono coerenti tra loro. Ci si accorge quando si guarda la memoria byte per byte in un debugger, o si scambiano dati con una macchina diversa.
Per il docente: I nomi vengono dai Viaggi di Gulliver: da quale estremità rompere l'uovo. In PRG32-QT aprite la vista della memoria su una .word e leggete i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strutture. Un vettore tiene elementi dello stesso tipo uno dopo l'altro e li raggiunge per indice. Una lista collega ogni elemento al successivo: facile da modificare, lenta da percorrere fino a una posizione. Una pila restituisce per primo ciò che è stato messo per ultimo; ne avete usata una nella Lezione 02 per salvare ra. Un dizionario associa chiavi a valori. Un albero è una gerarchia. Il sesto riquadro è quello che conta per questo corso: nella macchina sono tutti byte in memoria, più una regola per trovare l'elemento successivo.
Per il docente: Una pila l'avete già usata: il frame che salvava ra nella Lezione 02. Gli esempi sono quelli disegnati sulla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problema è calcolabile se un algoritmo può risolverlo. La macchina di Turing è il modello matematico di un calcolatore con un programma; la macchina di von Neumann è l'architettura che la realizza in hardware. L'ultima riga è quella sorprendente: esistono problemi che nessun algoritmo può risolvere, e quindi che nessun calcolatore risolverà mai, per quanto veloce. L'esempio classico è decidere, per un programma qualsiasi, se si fermerà.
Per il docente: L'ultima riga è la tesi di Church-Turing, enunciata in modo informale. Il problema della fermata è l'esempio classico di problema non calcolabile.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proprietà fanno di una procedura un algoritmo. I suoi passi sono atomici: non si possono scomporre oltre. Sono non ambigui: l'esecutore può interpretarli in un solo modo. L'algoritmo è finito nei passi e nei dati, termina in un tempo finito, ed è efficace: porta a un risultato unico e ben definito. Un'istruzione RISC-V è un buon modello di passo atomico e non ambiguo: il suo significato è fissato dalla specifica, bit per bit.
Per il docente: Un'istruzione RISC-V è il modello di un passo atomico e non ambiguo: il suo significato è fissato dalla specifica, bit per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regola per cui n bit danno 2 alla n configurazioni. Un byte ha otto bit. Attenzione ai due quasi-giusti: 8 è il numero dei bit, e 255 è il più grande numero naturale che un byte può contenere, non il numero dei valori, perché conta anche lo zero.
Scrivete in binario le quattro cifre esadecimali: F è 1111, 8 è 1000, 1 è 0001, F è 1111. Poi tagliate i sedici bit in 5, 6 e 5: rosso 11111, verde 000000, blu 11111. Rosso e blu al massimo, niente verde.
Per il docente: 1. Risposta: D. Un byte sono 8 bit: 2^8 = 256 configurazioni, per esempio i naturali da 0 a 255.
2. Risposta: B. 0xF81F = 11111 000000 11111: rosso e blu al massimo, verde a zero: magenta.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Contate i caratteri e ricordate che cosa aggiunge la z di .asciz. La direttiva memorizza la stringa terminata da zero: un byte in più dei caratteri visibili.
RISC-V è little-endian. Scrivete la parola come quattro byte, 00 00 AB CD, dal più al meno significativo, e chiedetevi quale va all'indirizzo più basso. La trappola è 0x00, che sarebbe giusta su una macchina big-endian.
Per il docente: 1. Risposta: C. Quattro caratteri più il byte di terminazione a zero.
2. Risposta: C. RISC-V è little-endian: il byte meno significativo, 0xCD, va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Word è la parola, e su RV32 significa trentadue bit. Sampling e quantisation, campionamento e quantizzazione, sono le due operazioni della digitalizzazione. Byte order, o endianness, è l'ordine dei byte di una parola in memoria. Notate che stack è la pila, mentre array spesso non si traduce, oppure si rende con vettore.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frasi da tenere. L'informazione digitale è una configurazione di bit più una convenzione per leggerla. Gli stessi bit possono essere un numero, un colore o due caratteri: decide il programma. L'esadecimale è il binario scritto in modo compatto, quattro bit per cifra. Il testo è fatto di numeri, e le strutture sono byte più una regola. Gli algoritmi trasformano i dati in informazione su cui fondare decisioni. La prossima lezione tratta formalmente la rappresentazione dei numeri, partendo da un segnalino che esce dal bordo sinistro dello schermo.
Per il docente: Prossima lezione: la rappresentazione dei numeri,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Bit, numeri, testo, strutture: nella macchina tutto è una configurazione di bit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“printf("Hello, world!");”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Brian Kernighan e Dennis Ritchie, The C Programming Language, 1978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informazione analogica e digitale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una configurazione di bit come numero naturale, in binario e in esadecimale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Scomporre un colore PRG32 come 0x07E0 nei campi rosso, verde e blu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come caratteri e stringhe sono memorizzati, in ASCII e in UTF-8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484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53014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un vettore sta in memoria e come l'assembly ne raggiunge un elemento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un algoritmo deterministico da uno probabilistico, e collocare tra essi il machine learning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Concetti fondamentali: il flusso dei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entrano dal mondo: un tasto, un sensore, un file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Elaborazione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programma, incarnazione di un algoritmo, li trasforma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risultati escono: un'immagine, un suono, un numero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informazione su cui qualcuno può agire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L'intelligenza artificiale è un'intelligenza di tipo proprio: potente riconoscimento di schemi, senza autocoscienza e senza esperienza soggettiva.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Informazione analogica e digitale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010912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Analogica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grandezza che varia con continuità: una tensione, una pressione sonora, le lancette di un orologio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888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925"/>
            <a:ext cx="50109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sequenza di simboli presi da un alfabeto finito: le cifre di un display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8060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5131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Digitalizzare significa campionare nel tempo e quantizzare nel valore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697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50109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finito di livelli si può contare, copiare esattamente e controllare contro gli errori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due livelli il simbolo è il bit: 0 oppure 1</a:t>
            </a:r>
            <a:endParaRPr lang="en-US" sz="2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544505"/>
            <a:ext cx="5333695" cy="25005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Bit, byte, parola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3502"/>
                <a:gridCol w="2600254"/>
                <a:gridCol w="2080203"/>
                <a:gridCol w="46804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Configurazioni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l'avete incontrata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cifra binaria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del joystick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nibble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cifra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ASCII; la larghezza della barra (andi 255)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(mezza 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colore RGB565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(parola)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RISC-V; un'istruzione; .word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KiB, MiB, GiB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2^10, 2^20, 2^30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dimensioni di memoria: 1 KiB = 1024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danno 2^n configurazioni. Il significato di una configurazione è una convenzione, non una proprietà dei bit.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Contare in base 2 e in base 16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40891"/>
                <a:gridCol w="2465426"/>
                <a:gridCol w="1540891"/>
                <a:gridCol w="1540891"/>
                <a:gridCol w="2465426"/>
                <a:gridCol w="1540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Notazione posizionale: che cosa significa 11011001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27632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70672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067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2^7 = 128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067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80400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040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2^6 = 64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8040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90128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9012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2^5 = 32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012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99856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99856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2^4 = 16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99856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2^3 = 8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19312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2^2 =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931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9040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2904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2^1 = 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904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8768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876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2^0 = 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3876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063240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794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+ 64 + 16 + 8 + 1 = 217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548640" y="48006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484632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sistema posizionale il valore di una cifra dipende dalla sua posizione: ogni posizione pesa una potenza della base. La base 10 usa le potenze di dieci, la base 2 le potenze di due, la base 16 le potenze di sedici. La regola è la stessa; cambia solo la base.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 programmatori scrivono in esadecimale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072488" y="1600200"/>
            <a:ext cx="201168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084168" y="1600200"/>
            <a:ext cx="201168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600200"/>
            <a:ext cx="201168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107528" y="1600200"/>
            <a:ext cx="201168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07832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9000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0168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1336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esadecimale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7248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08416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10752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94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  =  2016 in decimale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452628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cifra esadecimale vale esattamente quattro bit, perché 16 = 2^4: la conversione è una ricerca in tabella, cifra per cifra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5217541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a 32 bit sono otto cifre esadecimali: 0x00130313 si legge, trentadue zeri e uni no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prefisso 0x indica l'esadecimale in assembly e in C; il debugger di PRG32-QT mostra così i registri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è un numero: RGB565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2331720"/>
            <a:ext cx="2781205" cy="77724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8249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036522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427125" y="2331720"/>
            <a:ext cx="3337446" cy="7772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27125" y="3163824"/>
            <a:ext cx="33374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6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su 63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3701" y="2093976"/>
            <a:ext cx="16687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2093976"/>
            <a:ext cx="16321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64570" y="2331720"/>
            <a:ext cx="2781205" cy="777240"/>
          </a:xfrm>
          <a:prstGeom prst="rect">
            <a:avLst/>
          </a:prstGeom>
          <a:solidFill>
            <a:srgbClr val="2B5DA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76457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0114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155173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1167346" cy="731520"/>
          </a:xfrm>
          <a:prstGeom prst="rect">
            <a:avLst/>
          </a:prstGeom>
          <a:solidFill>
            <a:srgbClr val="00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045170" y="3977640"/>
            <a:ext cx="1167346" cy="731520"/>
          </a:xfrm>
          <a:prstGeom prst="rect">
            <a:avLst/>
          </a:prstGeom>
          <a:solidFill>
            <a:srgbClr val="F8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35442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935442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0xF800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31972" y="3977640"/>
            <a:ext cx="1167346" cy="731520"/>
          </a:xfrm>
          <a:prstGeom prst="rect">
            <a:avLst/>
          </a:prstGeom>
          <a:solidFill>
            <a:srgbClr val="00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2244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22244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18774" y="3977640"/>
            <a:ext cx="1167346" cy="731520"/>
          </a:xfrm>
          <a:prstGeom prst="rect">
            <a:avLst/>
          </a:prstGeom>
          <a:solidFill>
            <a:srgbClr val="00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09046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709046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0x001F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05576" y="3977640"/>
            <a:ext cx="1167346" cy="731520"/>
          </a:xfrm>
          <a:prstGeom prst="rect">
            <a:avLst/>
          </a:prstGeom>
          <a:solidFill>
            <a:srgbClr val="F8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95848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095848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0xFFE0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592378" y="3977640"/>
            <a:ext cx="1167346" cy="731520"/>
          </a:xfrm>
          <a:prstGeom prst="rect">
            <a:avLst/>
          </a:prstGeom>
          <a:solidFill>
            <a:srgbClr val="00FC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8265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8265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0x07FF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979179" y="3977640"/>
            <a:ext cx="1167346" cy="731520"/>
          </a:xfrm>
          <a:prstGeom prst="rect">
            <a:avLst/>
          </a:prstGeom>
          <a:solidFill>
            <a:srgbClr val="F8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69451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869451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0xF81F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0365981" y="3977640"/>
            <a:ext cx="1167346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256253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256253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Sedici bit, tre campi. Gli stessi sedici bit potrebbero essere un numero, due caratteri o mezza istruzione: il significato sta in come il programma li usa.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ASCII: un carattere, un byte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1364067"/>
                <a:gridCol w="1273130"/>
                <a:gridCol w="2182508"/>
                <a:gridCol w="4637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maiuscole cominciano da 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A con un bit in più: 97 - 65 = 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0x30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carattere zero non è il numero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spazio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come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capo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NUL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segna la fine di una stringa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Stringhe: una sequenza di caratteri in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39312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39312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352544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52544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65776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79008" y="150876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779008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508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è segnata da un byte a zero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651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Pascal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651760"/>
            <a:ext cx="713232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9312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52544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65776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065776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79008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2651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viene prima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931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.asciz "HELLO PRG32"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63931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363931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5254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435254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06577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506577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7900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77900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20547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720547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1870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91870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63193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863193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34516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934516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1005840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771632" y="393192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1077163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48640" y="484632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489204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 di .asciz significa terminata da zero: l'assemblatore memorizza dodici byte per undici caratteri. prg32_gfx_text8 riceve in a2 solo l'indirizzo del primo byte, e legge finché non trova lo zero.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Unicode e UTF-8: ogni sistema di scrittura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2364384"/>
                <a:gridCol w="30918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UTF-8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byte: identico all'ASCII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U+00E8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C3 A8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U+20AC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 82 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U+65E5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E6 97 A5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😀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U+1F600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 9F 98 80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dà un numero a ogni carattere; UTF-8 lo memorizza in uno-quattro byte, e il testo ASCII puro è già UTF-8 valido.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Ordine dei byte: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(RISC-V, x86, ARM)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23317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3317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3317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317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(protocolli di rete)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033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7033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7033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033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474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7200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quattro byte, e la memoria si indirizza byte per byte: in che ordine vanno?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51686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509320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È ciò che fanno lw e sw su RISC-V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968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89330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ne accorgete guardando la memoria in un debugger, o scambiando dati con un'altra macchina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Cinque modi di organizzare 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dello stesso tipo, uno dopo l'altro, raggiunti per indice: 32, 11, 34, 22.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collegati l'uno al successivo: economico inserire e togliere, lento raggiungere una posizione.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a entrare è il primo a uscire: push aggiunge in cima, pop toglie dalla cima.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Dizionario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chiave-valore: NA dà NAPOLI, PA dà PALERMO, MI dà MILANO.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gerarchia: un animale cammina o nuota, ha polmoni o branchie, due zampe o quattro.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macchina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tutti byte in memoria più una regola per trovare l'elemento successivo.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Algoritmi e calcolabilità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è calcolabile se si può risolvere con un algoritmo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819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5501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Turing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calcolatore ideale dotato di programma, espresso matematicamente con insiemi, relazioni e funzioni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897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2549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von Neumann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l'architettura di calcolo capace di eseguire un programma che realizza un algoritmo per la macchina di Turing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che nessun algoritmo su una macchina di Turing può risolvere non può essere risolto da alcun calcolatore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ogni problema ha un algoritmo: ad alcune domande nessun calcolatore risponderà mai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Cinque proprietà di un algoritmo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sono elementari: non si possono scomporre ulteriormente.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ambiguo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passo è interpretato in un solo modo, diretto, dall'esecutore, umano o macchina.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finito di passi e una quantità finita di dati in ingresso.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Terminante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L'esecuzione finisce dopo un tempo finito.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Efficace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L'esecuzione porta a un risultato unico e ben definito.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valori diversi può rappresentare un byte?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colore PRG32 0xF81F è: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giallo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byte occupa in memoria .asciz "CIAO"?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.word 0x0000ABCD è memorizzata all'indirizzo A. Quale byte si trova all'indirizzo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0xAB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0xCD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0xDC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93731"/>
                <a:gridCol w="2641527"/>
                <a:gridCol w="2641527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 notation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(array)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hexadecimal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 list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concatenata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quantisation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quantizzazione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 (endianness)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apprendimento automatico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L'informazione digitale è una configurazione di bit più una convenzione per leggerla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313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40408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stessi sedici bit possono essere un numero, un colore o due caratteri: decide il programma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643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7337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L'esadecimale è una scrittura compatta del binario, quattro bit per cifra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387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29646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è fatto di numeri (ASCII, UTF-8); le strutture sono byte più una regola per trovare l'elemento successivo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203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2943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sono la moneta di questo regno; gli algoritmi trasformano i dati in informazione utile alle decisioni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2.9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 bit, byte e testo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Sebastian Raschka: Machine Learning with Python (suggerito nel corso originale)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</dc:title>
  <dc:subject>Lezione 04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