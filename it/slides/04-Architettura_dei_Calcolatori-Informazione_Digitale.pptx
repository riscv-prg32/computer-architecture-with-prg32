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36b78c6a-18ff-023d-6089-54637b98b978}">
          <p14:sldIdLst>
            <p14:sldId id="256"/>
            <p14:sldId id="257"/>
          </p14:sldIdLst>
        </p14:section>
        <p14:section name="Informazione" id="{8b6bd4c4-480b-3b4e-2178-3c7dc6c5c127}">
          <p14:sldIdLst>
            <p14:sldId id="258"/>
            <p14:sldId id="259"/>
            <p14:sldId id="260"/>
            <p14:sldId id="261"/>
            <p14:sldId id="262"/>
            <p14:sldId id="263"/>
          </p14:sldIdLst>
        </p14:section>
        <p14:section name="Testo" id="{43d4f3bd-ac2d-f988-c218-48d7fcae94f3}">
          <p14:sldIdLst>
            <p14:sldId id="264"/>
            <p14:sldId id="265"/>
            <p14:sldId id="266"/>
            <p14:sldId id="267"/>
          </p14:sldIdLst>
        </p14:section>
        <p14:section name="Strutture dati" id="{c229c3db-5b16-77bb-ea1a-c00e68098768}">
          <p14:sldIdLst>
            <p14:sldId id="268"/>
          </p14:sldIdLst>
        </p14:section>
        <p14:section name="Dati e algoritmi" id="{842d57c3-34af-3cc5-5ca1-9f1e365b7c20}">
          <p14:sldIdLst>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Nella Lezione 02 lo studente ha scritto 0x07e0, 255, .asciz e .word senza sapere con precisione che cosa denotassero. Questa lezione li nomina. La sua tesi è enunciata nel sottotitolo: tutto ciò che sta dentro la macchina è una configurazione di bit, che sia un numero, un colore, una lettera o un elenco, e il significato di una configurazione è fissato da una convenzione, non dai bit stessi. La lezione privilegia l'ampiezza sulla profondità: la rappresentazione dei numeri si tratta formalmente nelle due lezioni successive, mentre qui lo scopo è imparare a leggere i bit e a riconoscere che l'interpretazione è un accordo.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analogico e digitale; bit, byte, parola; l'esadecimale; la notazione posizionale; un colore è un numero; caratteri e stringhe; l'ordine little-endian; le strutture dati; gli array in memoria; gli algoritmi. DA UTILIZZARE OGGI: shift come moltiplicazione (Lezione 05) e, usati senza essere studiati nel corso, il programma completo, gli strumenti di PRG32. DA COMPRENDERE PIÙ AVANTI: niente. Una slide senza etichetta è contesto: una storia, un esempio, una domanda, un esercizio.
Per il docente: Spirale: gli studenti hanno già visto 0x07e0, 255, .asciz e .word nella Lezione 02. Questa lezione dà un nome a quelle cose. Le due lezioni successive (05, 06) trattano i numeri in modo formale.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Sei risultati di apprendimento, dal generale al particolare e ritorno. Lo studente saprà distinguere l'informazione analogica da quella digitale, leggere un byte in binario e in esadecimale, decodificare un colore PRG32 nei suoi tre campi, spiegare come si memorizza il testo, e descrivere come un array è disposto in memoria e come l'assembly ne raggiunge un elemento. L'ultimo risultato guarda oltre la macchina: che cos'è un algoritmo, quando è deterministico, e dove si colloca l'apprendimento automatico tra gli algoritmi.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grandezza analogica varia con continuità, come una tensione o le lancette di un orologio. Una grandezza digitale è una sequenza di simboli tratti da un alfabeto finito, come le cifre di un display. Nella figura la curva continua è il segnale analogico e la scalinata è la sua controparte digitale, ottenuta campionando a istanti regolari e quantizzando ogni campione a uno di un numero finito di livelli. Nel processo qualcosa si perde, e si guadagna qualcosa di essenziale: un insieme finito di livelli si può contare, copiare senza errori e verificare. Con due soli livelli il simbolo è il bit, e la Lezione 10 mostrerà perché si preferiscono due livelli.
DA COMPRENDERE OGGI: analogico e digitale.
Per il docente: Due livelli si realizzano in modo affidabile con i transistor (spento o acceso): per questo i calcolatori sono binari. L'algebra di Boole (Lezione 08) è la matematica dei due livelli.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unità dell'informazione, ciascuna legata a un oggetto già incontrato. Un bit è un pulsante. Un nibble, quattro bit, è una cifra esadecimale. Un byte, otto bit, è un carattere ASCII, ed è la ragione per cui la barra della Lezione 02 non superava mai i 255 pixel. Una halfword, sedici bit, è un colore PRG32. Una word, trentadue bit, è un registro e un'istruzione. La regola che governa tutto è che n bit danno 2^n configurazioni distinte. La didascalia aggiunge il principio della lezione: che cosa significhi una configurazione non è scritto nei bit.
DA COMPRENDERE OGGI: bit, byte, parola.
Per il docente: n bit danno 2^n configurazioni distinte. Che cosa significa una configurazione non è scritto nei bit: è una convenzione tra chi li scrive e chi li legge. Su RV32 una parola è di 32 bit per definizione dell'architettura.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Sedici righe da imparare a memoria, come un tempo le tabelline. Ogni riga dà lo stesso numero in decimale, in binario a quattro bit e come singola cifra esadecimale. Le quattro posizioni binarie pesano 8, 4, 2 e 1, quindi 1011 vale 8 + 2 + 1 = 11, che l'esadecimale scrive B; dopo il 9 le cifre esadecimali proseguono con le lettere da A a F per i valori da dieci a quindici. Qui conta la scioltezza più della comprensione, perché la comprensione è semplice: l'esercizio consigliato è coprire due colonne e ricostruirle dalla terza, finché non serve più pensarci.
DA COMPRENDERE OGGI: l'esadecimale.
Per il docente: Le colonne del numero binario pesano 8, 4, 2, 1. Questa tabella va imparata a memoria: è la tavola pitagorica di questo corso.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un sistema posizionale ogni cifra contribuisce con il suo valore moltiplicato per il peso della sua posizione, e i pesi sono potenze successive della base. La slide legge così il byte 11011001: le posizioni pesano 128, 64, 32, 16, 8, 4, 2 e 1, e il peso si somma dove il bit vale 1. La somma è 128 + 64 + 16 + 8 + 1 = 217. È esattamente il procedimento applicato inconsapevolmente in base dieci, dove 217 indica due centinaia, una decina e sette unità. La Lezione 05 enuncia la formula generale e gli algoritmi di conversione.
DA COMPRENDERE OGGI: la notazione posizionale.
Per il docente: La Lezione 05 dà la formula generale e gli algoritmi di conversione. Qui lo scopo è soltanto leggere un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Poiché sedici è due alla quarta, ogni cifra esadecimale corrisponde esattamente a quattro bit. La conversione non richiede quindi alcuna aritmetica: il numero binario si divide in gruppi di quattro bit a partire da destra, e ogni gruppo si sostituisce con la sua cifra della tabella, così che 0000 0111 1110 0000 diventa 0, 7, E, 0. È per questo che i programmatori scrivono in esadecimale: è il binario in forma compatta, con un registro che occupa otto cifre esadecimali invece di trentadue bit. Il prefisso 0x indica che un numero è esadecimale.
DA COMPRENDERE OGGI: l'esadecimale.
Per il docente: 0x07E0 = 7 x 256 + 14 x 16 = 1792 + 224 = 2016. Il valore decimale qui è inutile: conta la configurazione di bit, come mostra la slide successiva.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si apre il verde della Lezione 02. Un colore PRG32 è una grandezza a sedici bit divisa in tre campi: cinque bit di rosso, sei di verde, cinque di blu, un formato noto come RGB565. In 0x07E0 il campo rosso è 00000, quello verde 111111 e quello blu 00000: verde massimo e nient'altro. Il bit in più dato al verde riflette la maggiore sensibilità della visione umana a quella componente. I campioni mostrano altre combinazioni: il giallo è rosso più verde, il bianco è ogni campo al massimo. La frase in fondo ribadisce la lezione: gli stessi sedici bit potrebbero significare tutt'altro.
DA COMPRENDERE OGGI: un colore è un numero.
Per il docente: L'occhio è più sensibile al verde: per questo al verde spetta il bit in più. Esercizio: che colore è 0xF81F? (rosso e blu al massimo: magenta). Le costanti dei colori sono quelle di prg32.h.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L'ASCII assegna un numero a ogni carattere e lo fa stare in un byte. Dalla tabella seguono tre osservazioni. La A maiuscola è 65 e la a minuscola 97: differiscono di 32, cioè di un solo bit, il che fa del passaggio tra maiuscole e minuscole un'operazione bit a bit. Il carattere "0" è 48, non zero: una cifra digitata su una tastiera è un codice, non ancora un numero, una distinzione che la Lezione 22 sfrutta quando converte un punteggio in testo. E alcuni caratteri non si stampano: il ritorno a capo, 10, e NUL, 0, che la prossima slide usa come terminatore di una stringa.
DA COMPRENDERE OGGI: caratteri e stringhe.
Per il docente: L'ASCII (1963) usa 7 bit: 128 caratteri, solo per l'inglese. Maiuscole e minuscole differiscono solo nel bit 5: xori con 0x20 scambia maiuscolo e minuscolo, un primo assaggio di algebra di Boole sul 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stringa è una sequenza di codici di carattere memorizzati in byte consecutivi, e la questione di progetto è come se ne segni la fine. La convenzione del C mette un byte zero in fondo; quella del Pascal memorizza prima la lunghezza. La terza riga è la stringa della Lezione 02: .asciz memorizza gli undici caratteri di HELLO PRG32 seguiti da uno zero, dodici byte in tutto. La funzione che disegna il testo riceve solo l'indirizzo del primo byte e legge finché non incontra lo zero. Se il terminatore mancasse, proseguirebbe in ciò che si trova dopo in memoria, un errore con una lunga storia nella sicurezza informatica.
DA COMPRENDERE OGGI: caratteri e stringhe.
Per il docente: I numeri sotto le celle sono i codici ASCII in esadecimale. È la stringa della Lezione 02, passo 2. Che cosa accade se lo zero manca? La funzione continua a leggere ciò che segue in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L'ASCII definisce 128 caratteri, sufficienti per il solo inglese. Unicode assegna un numero, il code point, a ogni carattere di ogni sistema di scrittura. UTF-8 codifica quel numero in uno-quattro byte: i caratteri ASCII conservano il loro singolo byte, una lettera accentata ne prende due, il simbolo dell'euro tre, un'emoji quattro. Ne seguono due conseguenze. Un testo puramente ASCII è già UTF-8 valido, il che spiega l'adozione universale della codifica. E la lunghezza di una stringa in byte non coincide più con la sua lunghezza in caratteri.
DA COMPRENDERE OGGI: caratteri e stringhe.
Per il docente: Unicode assegna un numero (code point) a ogni carattere di ogni scrittura; UTF-8 codifica quel numero in uno-quattro byte ed è compatibile con l'ASCII. È la codifica del web e dei vostri file sorgente. Conseguenza: la lunghezza in byte di una stringa non è la sua lunghezza in caratteri.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parola occupa quattro byte e la memoria assegna un indirizzo a ogni byte, quindi va specificato l'ordine in cui i byte sono memorizzati. RISC-V è little-endian: il byte meno significativo occupa l'indirizzo più basso, quindi 0x12345678 si memorizza come 78, 56, 34, 12. La convenzione opposta, big-endian, è usata dai protocolli di rete. Nell'uso ordinario l'ordine è invisibile, perché lw e sw sono coerenti tra loro; diventa visibile quando si ispeziona la memoria byte per byte in un debugger, o quando si scambiano dati con una macchina di convenzione diversa. La Lezione 15 torna sulla questione e la trasforma in un esperimento.
DA COMPRENDERE OGGI: l'ordine little-endian.
Per il docente: I nomi vengono dai Viaggi di Gulliver: da quale estremità rompere l'uovo. In PRG32-QT aprite la vista della memoria su una .word e leggete i byte.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modi di organizzare i dati. Un array memorizza elementi dello stesso tipo in posizioni contigue e li raggiunge per indice. Una lista collega ogni elemento al successivo: economica da modificare, lenta da accedere per posizione. Una pila restituisce per primo l'elemento inserito per ultimo, e la si è già usata nella Lezione 02 per salvare ra. Un dizionario associa chiavi a valori. Un albero organizza gli elementi in gerarchia. La sesta scheda enuncia il punto più rilevante per questo corso: dentro la macchina ognuna di queste strutture è un insieme di byte in memoria insieme a una regola per trovare l'elemento successivo.
DA COMPRENDERE OGGI: le strutture dati.
Per il docente: Una pila l'avete già usata: il frame che salvava ra nella Lezione 02. Gli esempi sono quelli disegnati sulla slide originale.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problema è calcolabile se qualche algoritmo lo risolve. La macchina di Turing è il modello matematico di un calcolatore programmato; la macchina di von Neumann è l'architettura che lo realizza in hardware. L'ultima riga è quella sorprendente: esistono problemi che nessun algoritmo può risolvere, e quindi che nessun calcolatore risolverà mai, per quanto veloce. L'esempio classico è il problema della terminazione, decidere per un programma arbitrario se terminerà, che Turing dimostrò indecidibile nel 1936.
DA COMPRENDERE OGGI: gli algoritmi.
Per il docente: L'ultima riga è la tesi di Church-Turing, enunciata in modo informale. Il problema della fermata è l'esempio classico di problema non calcolabile.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algoritmo deterministico, a parità di ingresso, esegue sempre la stessa sequenza di passi e produce lo stesso risultato: first_update aggiunge sempre uno. Un algoritmo non deterministico può comportarsi diversamente in esecuzioni diverse con lo stesso ingresso. Due cause sono comuni. L'algoritmo può usare deliberatamente numeri casuali, come fa un gioco che piazza un nemico a caso; oppure il suo comportamento può dipendere dalla tempistica relativa di eventi concorrenti. Il primo tipo è una scelta di progetto di grande utilità, come mostrano i test probabilistici di primalità; il secondo è una fonte frequente di errori difficili da riprodurre.
DA COMPRENDERE OGGI: gli algoritmi.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programma classico è una funzione scritta da una persona: y = f(x). Nell'apprendimento automatico la funzione non è scritta ma costruita automaticamente a partire da esempi. I modelli generativi contemporanei applicano questa idea su scala enorme, con miliardi di parametri appresi. Due osservazioni collegano l'argomento a questo corso. Quei parametri sono bit in memoria, moltiplicati e sommati da processori del tipo qui studiato. E un modello può sbagliare con grande sicurezza: solo chi comprende i fondamenti è in grado di verificare ciò che afferma.
Per il docente: L'ultimo punto si collega alla regola #nogpt del corso: l'esame verifica che i fondamenti stiano nella testa dello studente.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domanda applica la regola per cui n bit danno 2^n configurazioni a un byte di otto bit. Due quasi-risposte meritano attenzione: 8 è il numero dei bit, e 255 è il più grande numero naturale che un byte può contenere, non il numero dei valori, perché va contato anche lo zero.
Per la seconda, le quattro cifre esadecimali si scrivono in binario, F come 1111, 8 come 1000, 1 come 0001, F come 1111, e i sedici bit si dividono in 5, 6 e 5: rosso 11111, verde 000000, blu 11111. Rosso e blu sono al massimo e il verde è assente.
Per il docente: 1. Risposta: D. Un byte sono 8 bit: 2^8 = 256 configurazioni, per esempio i naturali da 0 a 255.
2. Risposta: B. 0xF81F = 11111 000000 11111: rosso e blu al massimo, verde a zero: magenta.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si contano i caratteri e si ricorda il significato della z di .asciz: la direttiva memorizza la stringa terminata da zero, aggiungendo un byte ai caratteri visibili.
Per la seconda, RISC-V è little-endian. La parola si scrive come quattro byte, 00 00 AB CD, dal più al meno significativo, e la domanda è quale di essi occupi l'indirizzo più basso. Il distrattore è 0x00, che sarebbe corretto su una macchina big-endian.
Per il docente: 1. Risposta: C. Quattro caratteri più il byte di terminazione a zero.
2. Risposta: C. RISC-V è little-endian: il byte meno significativo, 0xCD, va all'indirizzo più basso.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Dodici termini. Word è parola in italiano, e su RV32 indica trentadue bit. Campionamento e quantizzazione sono le due operazioni della digitalizzazione. L'ordine dei byte, o endianness, è l'ordine in cui sono memorizzati i byte di una parola. La pila traduce lo stack, mentre array spesso resta in inglese o si rende con vettore.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proposizioni riassumono la lezione. L'informazione digitale è una configurazione di bit insieme a una convenzione per leggerla. Gli stessi bit possono essere un numero, un colore o due caratteri, e il programma decide quale. L'esadecimale è il binario in forma compatta, quattro bit per cifra. Il testo consiste di numeri, e le strutture dati di byte più una regola. Gli algoritmi trasformano i dati in informazione su cui fondare decisioni. La prossima lezione tratta formalmente la rappresentazione dei numeri, a partire da un segnalino che esce dal bordo sinistro dello schermo.
Stato di apprendimento, riepilogo. DA COMPRENDERE OGGI: analogico e digitale; bit, byte, parola; l'esadecimale; la notazione posizionale; un colore è un numero; caratteri e stringhe; l'ordine little-endian; le strutture dati; gli array in memoria; gli algoritmi. DA UTILIZZARE OGGI: shift come moltiplicazione (Lezione 05) e, usati senza essere studiati nel corso, il programma completo, gli strumenti di PRG32. DA COMPRENDERE PIÙ AVANTI: niente. Una slide senza etichetta è contesto: una storia, un esempio, una domanda, un esercizio.
Per il docente: Prossima lezione: la rappresentazione dei numeri, in modo formale.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04: Informazione digitale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Rappresentare l'informazione digitale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Bit, numeri, testo, strutture: nella macchina tutto è una configurazione di bit</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e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04-Architettura_dei_Calcolatori-Informazione_Digitale-Lab.pptx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lab1_step2_hello.png">    </p:cNvPr>
          <p:cNvPicPr>
            <a:picLocks noChangeAspect="1"/>
          </p:cNvPicPr>
          <p:nvPr/>
        </p:nvPicPr>
        <p:blipFill>
          <a:blip r:embed="rId1"/>
          <a:stretch>
            <a:fillRect/>
          </a:stretch>
        </p:blipFill>
        <p:spPr>
          <a:xfrm>
            <a:off x="8716975" y="4280535"/>
            <a:ext cx="2834640" cy="177165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la differenza tra informazione analogica e digitale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Leggere una configurazione di bit come numero naturale, in binario e in esadecimale</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Scomporre un colore PRG32 come 0x07E0 nei campi rosso, verde e blu</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Dire come caratteri e stringhe sono memorizzati, in ASCII e in UTF-8</a:t>
            </a:r>
            <a:endParaRPr lang="en-US" sz="2200" dirty="0"/>
          </a:p>
        </p:txBody>
      </p:sp>
      <p:sp>
        <p:nvSpPr>
          <p:cNvPr id="11" name="Text 9"/>
          <p:cNvSpPr txBox="1"/>
          <p:nvPr/>
        </p:nvSpPr>
        <p:spPr>
          <a:xfrm>
            <a:off x="548640" y="454842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530141"/>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come un vettore sta in memoria e come l'assembly ne raggiunge un elemento</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Distinguere un algoritmo deterministico da uno probabilistico, e collocare tra essi il machine learning</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Informazione analogica e digitale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010912" cy="113665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Analogica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una grandezza che varia con continuità: una tensione, una pressione sonora, le lancette di un orologio</a:t>
            </a:r>
            <a:endParaRPr lang="en-US" sz="2000" dirty="0"/>
          </a:p>
        </p:txBody>
      </p:sp>
      <p:sp>
        <p:nvSpPr>
          <p:cNvPr id="5" name="Shape 3"/>
          <p:cNvSpPr/>
          <p:nvPr/>
        </p:nvSpPr>
        <p:spPr>
          <a:xfrm>
            <a:off x="548640" y="278885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7925"/>
            <a:ext cx="501091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una sequenza di simboli presi da un alfabeto finito: le cifre di un display</a:t>
            </a:r>
            <a:endParaRPr lang="en-US" sz="2000" dirty="0"/>
          </a:p>
        </p:txBody>
      </p:sp>
      <p:sp>
        <p:nvSpPr>
          <p:cNvPr id="7" name="Shape 5"/>
          <p:cNvSpPr/>
          <p:nvPr/>
        </p:nvSpPr>
        <p:spPr>
          <a:xfrm>
            <a:off x="548640" y="38060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5131"/>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Digitalizzare significa campionare nel tempo e quantizzare nel valore</a:t>
            </a:r>
            <a:endParaRPr lang="en-US" sz="2000" dirty="0"/>
          </a:p>
        </p:txBody>
      </p:sp>
      <p:sp>
        <p:nvSpPr>
          <p:cNvPr id="9" name="Shape 7"/>
          <p:cNvSpPr/>
          <p:nvPr/>
        </p:nvSpPr>
        <p:spPr>
          <a:xfrm>
            <a:off x="548640" y="45697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8846"/>
            <a:ext cx="501091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numero finito di livelli si può contare, copiare esattamente e controllare contro gli errori</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50109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 due livelli il simbolo è il bit: 0 oppure 1</a:t>
            </a:r>
            <a:endParaRPr lang="en-US" sz="2000" dirty="0"/>
          </a:p>
        </p:txBody>
      </p:sp>
      <p:sp>
        <p:nvSpPr>
          <p:cNvPr id="13" name="Shape 11"/>
          <p:cNvSpPr/>
          <p:nvPr/>
        </p:nvSpPr>
        <p:spPr>
          <a:xfrm>
            <a:off x="7920304" y="91440"/>
            <a:ext cx="3722751" cy="274320"/>
          </a:xfrm>
          <a:prstGeom prst="rect">
            <a:avLst/>
          </a:prstGeom>
          <a:solidFill>
            <a:srgbClr val="E0F2FE"/>
          </a:solidFill>
          <a:ln w="12700">
            <a:solidFill>
              <a:srgbClr val="0369A1"/>
            </a:solidFill>
            <a:prstDash val="solid"/>
          </a:ln>
        </p:spPr>
      </p:sp>
      <p:sp>
        <p:nvSpPr>
          <p:cNvPr id="14" name="Shape 12"/>
          <p:cNvSpPr/>
          <p:nvPr/>
        </p:nvSpPr>
        <p:spPr>
          <a:xfrm>
            <a:off x="7920304"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6" name="Text 1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analogico e digitale</a:t>
            </a:r>
            <a:endParaRPr lang="en-US" sz="1100" dirty="0"/>
          </a:p>
        </p:txBody>
      </p:sp>
      <p:pic>
        <p:nvPicPr>
          <p:cNvPr id="18" name="Image 1" descr="preencoded.png">    </p:cNvPr>
          <p:cNvPicPr>
            <a:picLocks noChangeAspect="1"/>
          </p:cNvPicPr>
          <p:nvPr/>
        </p:nvPicPr>
        <p:blipFill>
          <a:blip r:embed="rId2"/>
          <a:stretch>
            <a:fillRect/>
          </a:stretch>
        </p:blipFill>
        <p:spPr>
          <a:xfrm>
            <a:off x="6309360" y="2544505"/>
            <a:ext cx="5333695" cy="250051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Bit, byte, parola</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733502"/>
                <a:gridCol w="2600254"/>
                <a:gridCol w="2080203"/>
                <a:gridCol w="4680456"/>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Unità</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Dimensione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Configurazioni</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Dove l'avete incontrata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 cifra binaria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pulsante del joystick</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nibble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4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una cifra esadecimale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byte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8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carattere ASCII; la larghezza della barra (andi 255)</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halfword (mezza parola)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16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65.536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colore RGB565</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word (parola)</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32 bit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4.294.967.296</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un registro RISC-V; un'istruzione; .word</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700" b="1" dirty="0">
                          <a:solidFill>
                            <a:srgbClr val="1B2530"/>
                          </a:solidFill>
                          <a:latin typeface="Calibri" pitchFamily="34" charset="0"/>
                          <a:ea typeface="Calibri" pitchFamily="34" charset="-122"/>
                          <a:cs typeface="Calibri" pitchFamily="34" charset="-120"/>
                        </a:rPr>
                        <a:t>KiB, MiB, GiB</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2^10, 2^20, 2^30 byte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1B2530"/>
                          </a:solidFill>
                          <a:latin typeface="Calibri" pitchFamily="34" charset="0"/>
                          <a:ea typeface="Calibri" pitchFamily="34" charset="-122"/>
                          <a:cs typeface="Calibri" pitchFamily="34" charset="-120"/>
                        </a:rPr>
                        <a:t>dimensioni di memoria: 1 KiB = 1024 byte</a:t>
                      </a:r>
                      <a:endParaRPr lang="en-US" sz="17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bit danno 2^n configurazioni. Il significato di una configurazione è una convenzione, non una proprietà dei bit.</a:t>
            </a:r>
            <a:endParaRPr lang="en-US" sz="1500" dirty="0"/>
          </a:p>
        </p:txBody>
      </p:sp>
      <p:sp>
        <p:nvSpPr>
          <p:cNvPr id="5" name="Shape 2"/>
          <p:cNvSpPr/>
          <p:nvPr/>
        </p:nvSpPr>
        <p:spPr>
          <a:xfrm>
            <a:off x="8117281" y="91440"/>
            <a:ext cx="3525774" cy="274320"/>
          </a:xfrm>
          <a:prstGeom prst="rect">
            <a:avLst/>
          </a:prstGeom>
          <a:solidFill>
            <a:srgbClr val="E0F2FE"/>
          </a:solidFill>
          <a:ln w="12700">
            <a:solidFill>
              <a:srgbClr val="0369A1"/>
            </a:solidFill>
            <a:prstDash val="solid"/>
          </a:ln>
        </p:spPr>
      </p:sp>
      <p:sp>
        <p:nvSpPr>
          <p:cNvPr id="6" name="Shape 3"/>
          <p:cNvSpPr/>
          <p:nvPr/>
        </p:nvSpPr>
        <p:spPr>
          <a:xfrm>
            <a:off x="811728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8" name="Text 4"/>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bit, byte, parola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Contare in base 2 e in base 16</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40891"/>
                <a:gridCol w="2465426"/>
                <a:gridCol w="1540891"/>
                <a:gridCol w="1540891"/>
                <a:gridCol w="2465426"/>
                <a:gridCol w="1540891"/>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Dec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Binario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8</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9</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2</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3</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1011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5</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1101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6</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1110</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E</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0111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7</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1111</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379917" y="91440"/>
            <a:ext cx="3263138" cy="274320"/>
          </a:xfrm>
          <a:prstGeom prst="rect">
            <a:avLst/>
          </a:prstGeom>
          <a:solidFill>
            <a:srgbClr val="E0F2FE"/>
          </a:solidFill>
          <a:ln w="12700">
            <a:solidFill>
              <a:srgbClr val="0369A1"/>
            </a:solidFill>
            <a:prstDash val="solid"/>
          </a:ln>
        </p:spPr>
      </p:sp>
      <p:sp>
        <p:nvSpPr>
          <p:cNvPr id="5" name="Shape 2"/>
          <p:cNvSpPr/>
          <p:nvPr/>
        </p:nvSpPr>
        <p:spPr>
          <a:xfrm>
            <a:off x="837991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7" name="Text 3"/>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l'esadecimale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Notazione posizionale: che cosa significa 11011001</a:t>
            </a:r>
            <a:endParaRPr lang="en-US" sz="3200" dirty="0"/>
          </a:p>
        </p:txBody>
      </p:sp>
      <p:sp>
        <p:nvSpPr>
          <p:cNvPr id="3" name="Text 1"/>
          <p:cNvSpPr txBox="1"/>
          <p:nvPr/>
        </p:nvSpPr>
        <p:spPr>
          <a:xfrm>
            <a:off x="548640" y="1627632"/>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peso</a:t>
            </a:r>
            <a:endParaRPr lang="en-US" sz="1300" dirty="0"/>
          </a:p>
        </p:txBody>
      </p:sp>
      <p:sp>
        <p:nvSpPr>
          <p:cNvPr id="4" name="Text 2"/>
          <p:cNvSpPr txBox="1"/>
          <p:nvPr/>
        </p:nvSpPr>
        <p:spPr>
          <a:xfrm>
            <a:off x="170672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5" name="Text 3"/>
          <p:cNvSpPr txBox="1"/>
          <p:nvPr/>
        </p:nvSpPr>
        <p:spPr>
          <a:xfrm>
            <a:off x="17067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2^7 = 128</a:t>
            </a:r>
            <a:endParaRPr lang="en-US" sz="1050" dirty="0"/>
          </a:p>
        </p:txBody>
      </p:sp>
      <p:sp>
        <p:nvSpPr>
          <p:cNvPr id="6" name="Text 4"/>
          <p:cNvSpPr txBox="1"/>
          <p:nvPr/>
        </p:nvSpPr>
        <p:spPr>
          <a:xfrm>
            <a:off x="17067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128</a:t>
            </a:r>
            <a:endParaRPr lang="en-US" sz="1700" dirty="0"/>
          </a:p>
        </p:txBody>
      </p:sp>
      <p:sp>
        <p:nvSpPr>
          <p:cNvPr id="7" name="Text 5"/>
          <p:cNvSpPr txBox="1"/>
          <p:nvPr/>
        </p:nvSpPr>
        <p:spPr>
          <a:xfrm>
            <a:off x="280400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8" name="Text 6"/>
          <p:cNvSpPr txBox="1"/>
          <p:nvPr/>
        </p:nvSpPr>
        <p:spPr>
          <a:xfrm>
            <a:off x="28040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2^6 = 64</a:t>
            </a:r>
            <a:endParaRPr lang="en-US" sz="1050" dirty="0"/>
          </a:p>
        </p:txBody>
      </p:sp>
      <p:sp>
        <p:nvSpPr>
          <p:cNvPr id="9" name="Text 7"/>
          <p:cNvSpPr txBox="1"/>
          <p:nvPr/>
        </p:nvSpPr>
        <p:spPr>
          <a:xfrm>
            <a:off x="28040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64</a:t>
            </a:r>
            <a:endParaRPr lang="en-US" sz="1700" dirty="0"/>
          </a:p>
        </p:txBody>
      </p:sp>
      <p:sp>
        <p:nvSpPr>
          <p:cNvPr id="10" name="Text 8"/>
          <p:cNvSpPr txBox="1"/>
          <p:nvPr/>
        </p:nvSpPr>
        <p:spPr>
          <a:xfrm>
            <a:off x="390128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1" name="Text 9"/>
          <p:cNvSpPr txBox="1"/>
          <p:nvPr/>
        </p:nvSpPr>
        <p:spPr>
          <a:xfrm>
            <a:off x="39012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2^5 = 32</a:t>
            </a:r>
            <a:endParaRPr lang="en-US" sz="1050" dirty="0"/>
          </a:p>
        </p:txBody>
      </p:sp>
      <p:sp>
        <p:nvSpPr>
          <p:cNvPr id="12" name="Text 10"/>
          <p:cNvSpPr txBox="1"/>
          <p:nvPr/>
        </p:nvSpPr>
        <p:spPr>
          <a:xfrm>
            <a:off x="39012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13" name="Text 11"/>
          <p:cNvSpPr txBox="1"/>
          <p:nvPr/>
        </p:nvSpPr>
        <p:spPr>
          <a:xfrm>
            <a:off x="499856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4" name="Text 12"/>
          <p:cNvSpPr txBox="1"/>
          <p:nvPr/>
        </p:nvSpPr>
        <p:spPr>
          <a:xfrm>
            <a:off x="499856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2^4 = 16</a:t>
            </a:r>
            <a:endParaRPr lang="en-US" sz="1050" dirty="0"/>
          </a:p>
        </p:txBody>
      </p:sp>
      <p:sp>
        <p:nvSpPr>
          <p:cNvPr id="15" name="Text 13"/>
          <p:cNvSpPr txBox="1"/>
          <p:nvPr/>
        </p:nvSpPr>
        <p:spPr>
          <a:xfrm>
            <a:off x="499856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6" name="Text 14"/>
          <p:cNvSpPr txBox="1"/>
          <p:nvPr/>
        </p:nvSpPr>
        <p:spPr>
          <a:xfrm>
            <a:off x="609584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17" name="Text 15"/>
          <p:cNvSpPr txBox="1"/>
          <p:nvPr/>
        </p:nvSpPr>
        <p:spPr>
          <a:xfrm>
            <a:off x="609584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2^3 = 8</a:t>
            </a:r>
            <a:endParaRPr lang="en-US" sz="1050" dirty="0"/>
          </a:p>
        </p:txBody>
      </p:sp>
      <p:sp>
        <p:nvSpPr>
          <p:cNvPr id="18" name="Text 16"/>
          <p:cNvSpPr txBox="1"/>
          <p:nvPr/>
        </p:nvSpPr>
        <p:spPr>
          <a:xfrm>
            <a:off x="609584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9" name="Text 17"/>
          <p:cNvSpPr txBox="1"/>
          <p:nvPr/>
        </p:nvSpPr>
        <p:spPr>
          <a:xfrm>
            <a:off x="719312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0" name="Text 18"/>
          <p:cNvSpPr txBox="1"/>
          <p:nvPr/>
        </p:nvSpPr>
        <p:spPr>
          <a:xfrm>
            <a:off x="719312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2^2 = 4</a:t>
            </a:r>
            <a:endParaRPr lang="en-US" sz="1050" dirty="0"/>
          </a:p>
        </p:txBody>
      </p:sp>
      <p:sp>
        <p:nvSpPr>
          <p:cNvPr id="21" name="Text 19"/>
          <p:cNvSpPr txBox="1"/>
          <p:nvPr/>
        </p:nvSpPr>
        <p:spPr>
          <a:xfrm>
            <a:off x="719312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2" name="Text 20"/>
          <p:cNvSpPr txBox="1"/>
          <p:nvPr/>
        </p:nvSpPr>
        <p:spPr>
          <a:xfrm>
            <a:off x="8290408" y="2194560"/>
            <a:ext cx="1097280" cy="82296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23" name="Text 21"/>
          <p:cNvSpPr txBox="1"/>
          <p:nvPr/>
        </p:nvSpPr>
        <p:spPr>
          <a:xfrm>
            <a:off x="829040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2^1 = 2</a:t>
            </a:r>
            <a:endParaRPr lang="en-US" sz="1050" dirty="0"/>
          </a:p>
        </p:txBody>
      </p:sp>
      <p:sp>
        <p:nvSpPr>
          <p:cNvPr id="24" name="Text 22"/>
          <p:cNvSpPr txBox="1"/>
          <p:nvPr/>
        </p:nvSpPr>
        <p:spPr>
          <a:xfrm>
            <a:off x="829040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0</a:t>
            </a:r>
            <a:endParaRPr lang="en-US" sz="1700" dirty="0"/>
          </a:p>
        </p:txBody>
      </p:sp>
      <p:sp>
        <p:nvSpPr>
          <p:cNvPr id="25" name="Text 23"/>
          <p:cNvSpPr txBox="1"/>
          <p:nvPr/>
        </p:nvSpPr>
        <p:spPr>
          <a:xfrm>
            <a:off x="9387688" y="2194560"/>
            <a:ext cx="1097280" cy="82296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3000" b="1" dirty="0">
                <a:solidFill>
                  <a:srgbClr val="FFFFFF"/>
                </a:solidFill>
                <a:latin typeface="Courier New" pitchFamily="34" charset="0"/>
                <a:ea typeface="Courier New" pitchFamily="34" charset="-122"/>
                <a:cs typeface="Courier New" pitchFamily="34" charset="-120"/>
              </a:rPr>
              <a:t>1</a:t>
            </a:r>
            <a:endParaRPr lang="en-US" sz="3000" dirty="0"/>
          </a:p>
        </p:txBody>
      </p:sp>
      <p:sp>
        <p:nvSpPr>
          <p:cNvPr id="26" name="Text 24"/>
          <p:cNvSpPr txBox="1"/>
          <p:nvPr/>
        </p:nvSpPr>
        <p:spPr>
          <a:xfrm>
            <a:off x="9387688" y="1947672"/>
            <a:ext cx="109728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2^0 = 1</a:t>
            </a:r>
            <a:endParaRPr lang="en-US" sz="1050" dirty="0"/>
          </a:p>
        </p:txBody>
      </p:sp>
      <p:sp>
        <p:nvSpPr>
          <p:cNvPr id="27" name="Text 25"/>
          <p:cNvSpPr txBox="1"/>
          <p:nvPr/>
        </p:nvSpPr>
        <p:spPr>
          <a:xfrm>
            <a:off x="9387688" y="3054096"/>
            <a:ext cx="1097280" cy="274320"/>
          </a:xfrm>
          <a:prstGeom prst="rect">
            <a:avLst/>
          </a:prstGeom>
          <a:noFill/>
          <a:ln/>
        </p:spPr>
        <p:txBody>
          <a:bodyPr wrap="square" lIns="0" tIns="0" rIns="0" bIns="0" rtlCol="0" anchor="t"/>
          <a:lstStyle/>
          <a:p>
            <a:pPr algn="ctr" indent="0" marL="0">
              <a:buNone/>
            </a:pPr>
            <a:r>
              <a:rPr lang="en-US" sz="1700" dirty="0">
                <a:solidFill>
                  <a:srgbClr val="1B2530"/>
                </a:solidFill>
                <a:latin typeface="Calibri" pitchFamily="34" charset="0"/>
                <a:ea typeface="Calibri" pitchFamily="34" charset="-122"/>
                <a:cs typeface="Calibri" pitchFamily="34" charset="-120"/>
              </a:rPr>
              <a:t>1</a:t>
            </a:r>
            <a:endParaRPr lang="en-US" sz="1700" dirty="0"/>
          </a:p>
        </p:txBody>
      </p:sp>
      <p:sp>
        <p:nvSpPr>
          <p:cNvPr id="28" name="Text 26"/>
          <p:cNvSpPr txBox="1"/>
          <p:nvPr/>
        </p:nvSpPr>
        <p:spPr>
          <a:xfrm>
            <a:off x="548640" y="3063240"/>
            <a:ext cx="975208" cy="274320"/>
          </a:xfrm>
          <a:prstGeom prst="rect">
            <a:avLst/>
          </a:prstGeom>
          <a:noFill/>
          <a:ln/>
        </p:spPr>
        <p:txBody>
          <a:bodyPr wrap="square" lIns="0" tIns="0" rIns="0" bIns="0" rtlCol="0" anchor="t"/>
          <a:lstStyle/>
          <a:p>
            <a:pPr algn="r" indent="0" marL="0">
              <a:buNone/>
            </a:pPr>
            <a:r>
              <a:rPr lang="en-US" sz="1300" dirty="0">
                <a:solidFill>
                  <a:srgbClr val="5B6B78"/>
                </a:solidFill>
                <a:latin typeface="Calibri" pitchFamily="34" charset="0"/>
                <a:ea typeface="Calibri" pitchFamily="34" charset="-122"/>
                <a:cs typeface="Calibri" pitchFamily="34" charset="-120"/>
              </a:rPr>
              <a:t>contributo</a:t>
            </a:r>
            <a:endParaRPr lang="en-US" sz="1300" dirty="0"/>
          </a:p>
        </p:txBody>
      </p:sp>
      <p:sp>
        <p:nvSpPr>
          <p:cNvPr id="29" name="Text 27"/>
          <p:cNvSpPr txBox="1"/>
          <p:nvPr/>
        </p:nvSpPr>
        <p:spPr>
          <a:xfrm>
            <a:off x="548640" y="3794760"/>
            <a:ext cx="11094415" cy="640080"/>
          </a:xfrm>
          <a:prstGeom prst="rect">
            <a:avLst/>
          </a:prstGeom>
          <a:noFill/>
          <a:ln/>
        </p:spPr>
        <p:txBody>
          <a:bodyPr wrap="square" lIns="0" tIns="0" rIns="0" bIns="0" rtlCol="0" anchor="ctr"/>
          <a:lstStyle/>
          <a:p>
            <a:pPr algn="ctr" indent="0" marL="0">
              <a:buNone/>
            </a:pPr>
            <a:r>
              <a:rPr lang="en-US" sz="3200" b="1" dirty="0">
                <a:solidFill>
                  <a:srgbClr val="1B2530"/>
                </a:solidFill>
                <a:latin typeface="Courier New" pitchFamily="34" charset="0"/>
                <a:ea typeface="Courier New" pitchFamily="34" charset="-122"/>
                <a:cs typeface="Courier New" pitchFamily="34" charset="-120"/>
              </a:rPr>
              <a:t>128 + 64 + 16 + 8 + 1 = 217</a:t>
            </a:r>
            <a:endParaRPr lang="en-US" sz="3200" dirty="0"/>
          </a:p>
        </p:txBody>
      </p:sp>
      <p:sp>
        <p:nvSpPr>
          <p:cNvPr id="30" name="Shape 28"/>
          <p:cNvSpPr/>
          <p:nvPr/>
        </p:nvSpPr>
        <p:spPr>
          <a:xfrm>
            <a:off x="548640" y="4800600"/>
            <a:ext cx="11094415" cy="1371600"/>
          </a:xfrm>
          <a:prstGeom prst="roundRect">
            <a:avLst>
              <a:gd name="adj" fmla="val 5333"/>
            </a:avLst>
          </a:prstGeom>
          <a:solidFill>
            <a:srgbClr val="D8ECEE"/>
          </a:solidFill>
          <a:ln w="12700">
            <a:solidFill>
              <a:srgbClr val="D8ECEE"/>
            </a:solidFill>
            <a:prstDash val="solid"/>
          </a:ln>
        </p:spPr>
      </p:sp>
      <p:sp>
        <p:nvSpPr>
          <p:cNvPr id="31" name="Text 29"/>
          <p:cNvSpPr txBox="1"/>
          <p:nvPr/>
        </p:nvSpPr>
        <p:spPr>
          <a:xfrm>
            <a:off x="822960" y="4846320"/>
            <a:ext cx="10545775" cy="12801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 un sistema posizionale il valore di una cifra dipende dalla sua posizione: ogni posizione pesa una potenza della base. La base 10 usa le potenze di dieci, la base 2 le potenze di due, la base 16 le potenze di sedici. La regola è la stessa; cambia solo la base.</a:t>
            </a:r>
            <a:endParaRPr lang="en-US" sz="1700" dirty="0"/>
          </a:p>
        </p:txBody>
      </p:sp>
      <p:sp>
        <p:nvSpPr>
          <p:cNvPr id="32" name="Shape 30"/>
          <p:cNvSpPr/>
          <p:nvPr/>
        </p:nvSpPr>
        <p:spPr>
          <a:xfrm>
            <a:off x="7657668" y="91440"/>
            <a:ext cx="3985387" cy="274320"/>
          </a:xfrm>
          <a:prstGeom prst="rect">
            <a:avLst/>
          </a:prstGeom>
          <a:solidFill>
            <a:srgbClr val="E0F2FE"/>
          </a:solidFill>
          <a:ln w="12700">
            <a:solidFill>
              <a:srgbClr val="0369A1"/>
            </a:solidFill>
            <a:prstDash val="solid"/>
          </a:ln>
        </p:spPr>
      </p:sp>
      <p:sp>
        <p:nvSpPr>
          <p:cNvPr id="33" name="Shape 31"/>
          <p:cNvSpPr/>
          <p:nvPr/>
        </p:nvSpPr>
        <p:spPr>
          <a:xfrm>
            <a:off x="7657668" y="91440"/>
            <a:ext cx="73152" cy="274320"/>
          </a:xfrm>
          <a:prstGeom prst="rect">
            <a:avLst/>
          </a:prstGeom>
          <a:solidFill>
            <a:srgbClr val="0369A1"/>
          </a:solidFill>
          <a:ln w="12700">
            <a:solidFill>
              <a:srgbClr val="0369A1"/>
            </a:solidFill>
            <a:prstDash val="solid"/>
          </a:ln>
        </p:spPr>
      </p:sp>
      <p:pic>
        <p:nvPicPr>
          <p:cNvPr id="34"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35" name="Text 32"/>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notazione posizionale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Perché i programmatori scrivono in esadecimale</a:t>
            </a:r>
            <a:endParaRPr lang="en-US" sz="3200" dirty="0"/>
          </a:p>
        </p:txBody>
      </p:sp>
      <p:sp>
        <p:nvSpPr>
          <p:cNvPr id="3" name="Text 1"/>
          <p:cNvSpPr txBox="1"/>
          <p:nvPr/>
        </p:nvSpPr>
        <p:spPr>
          <a:xfrm>
            <a:off x="548640" y="160020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binario</a:t>
            </a:r>
            <a:endParaRPr lang="en-US" sz="1400" dirty="0"/>
          </a:p>
        </p:txBody>
      </p:sp>
      <p:sp>
        <p:nvSpPr>
          <p:cNvPr id="4" name="Text 2"/>
          <p:cNvSpPr txBox="1"/>
          <p:nvPr/>
        </p:nvSpPr>
        <p:spPr>
          <a:xfrm>
            <a:off x="2072488" y="1600200"/>
            <a:ext cx="201168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5" name="Text 3"/>
          <p:cNvSpPr txBox="1"/>
          <p:nvPr/>
        </p:nvSpPr>
        <p:spPr>
          <a:xfrm>
            <a:off x="4084168" y="1600200"/>
            <a:ext cx="201168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0111</a:t>
            </a:r>
            <a:endParaRPr lang="en-US" sz="2600" dirty="0"/>
          </a:p>
        </p:txBody>
      </p:sp>
      <p:sp>
        <p:nvSpPr>
          <p:cNvPr id="6" name="Text 4"/>
          <p:cNvSpPr txBox="1"/>
          <p:nvPr/>
        </p:nvSpPr>
        <p:spPr>
          <a:xfrm>
            <a:off x="6095848" y="1600200"/>
            <a:ext cx="201168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1110</a:t>
            </a:r>
            <a:endParaRPr lang="en-US" sz="2600" dirty="0"/>
          </a:p>
        </p:txBody>
      </p:sp>
      <p:sp>
        <p:nvSpPr>
          <p:cNvPr id="7" name="Text 5"/>
          <p:cNvSpPr txBox="1"/>
          <p:nvPr/>
        </p:nvSpPr>
        <p:spPr>
          <a:xfrm>
            <a:off x="8107528" y="1600200"/>
            <a:ext cx="201168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a:t>
            </a:r>
            <a:endParaRPr lang="en-US" sz="2600" dirty="0"/>
          </a:p>
        </p:txBody>
      </p:sp>
      <p:sp>
        <p:nvSpPr>
          <p:cNvPr id="8" name="Shape 6"/>
          <p:cNvSpPr/>
          <p:nvPr/>
        </p:nvSpPr>
        <p:spPr>
          <a:xfrm>
            <a:off x="3078328" y="2377440"/>
            <a:ext cx="0" cy="457200"/>
          </a:xfrm>
          <a:prstGeom prst="line">
            <a:avLst/>
          </a:prstGeom>
          <a:noFill/>
          <a:ln w="25400">
            <a:solidFill>
              <a:srgbClr val="5B6B78"/>
            </a:solidFill>
            <a:prstDash val="solid"/>
            <a:tailEnd type="triangle"/>
          </a:ln>
        </p:spPr>
      </p:sp>
      <p:sp>
        <p:nvSpPr>
          <p:cNvPr id="9" name="Shape 7"/>
          <p:cNvSpPr/>
          <p:nvPr/>
        </p:nvSpPr>
        <p:spPr>
          <a:xfrm>
            <a:off x="5090008" y="2377440"/>
            <a:ext cx="0" cy="457200"/>
          </a:xfrm>
          <a:prstGeom prst="line">
            <a:avLst/>
          </a:prstGeom>
          <a:noFill/>
          <a:ln w="25400">
            <a:solidFill>
              <a:srgbClr val="5B6B78"/>
            </a:solidFill>
            <a:prstDash val="solid"/>
            <a:tailEnd type="triangle"/>
          </a:ln>
        </p:spPr>
      </p:sp>
      <p:sp>
        <p:nvSpPr>
          <p:cNvPr id="10" name="Shape 8"/>
          <p:cNvSpPr/>
          <p:nvPr/>
        </p:nvSpPr>
        <p:spPr>
          <a:xfrm>
            <a:off x="7101688" y="2377440"/>
            <a:ext cx="0" cy="457200"/>
          </a:xfrm>
          <a:prstGeom prst="line">
            <a:avLst/>
          </a:prstGeom>
          <a:noFill/>
          <a:ln w="25400">
            <a:solidFill>
              <a:srgbClr val="5B6B78"/>
            </a:solidFill>
            <a:prstDash val="solid"/>
            <a:tailEnd type="triangle"/>
          </a:ln>
        </p:spPr>
      </p:sp>
      <p:sp>
        <p:nvSpPr>
          <p:cNvPr id="11" name="Shape 9"/>
          <p:cNvSpPr/>
          <p:nvPr/>
        </p:nvSpPr>
        <p:spPr>
          <a:xfrm>
            <a:off x="9113368" y="2377440"/>
            <a:ext cx="0" cy="457200"/>
          </a:xfrm>
          <a:prstGeom prst="line">
            <a:avLst/>
          </a:prstGeom>
          <a:noFill/>
          <a:ln w="25400">
            <a:solidFill>
              <a:srgbClr val="5B6B78"/>
            </a:solidFill>
            <a:prstDash val="solid"/>
            <a:tailEnd type="triangle"/>
          </a:ln>
        </p:spPr>
      </p:sp>
      <p:sp>
        <p:nvSpPr>
          <p:cNvPr id="12" name="Text 10"/>
          <p:cNvSpPr txBox="1"/>
          <p:nvPr/>
        </p:nvSpPr>
        <p:spPr>
          <a:xfrm>
            <a:off x="548640" y="2880360"/>
            <a:ext cx="1340968" cy="731520"/>
          </a:xfrm>
          <a:prstGeom prst="rect">
            <a:avLst/>
          </a:prstGeom>
          <a:noFill/>
          <a:ln/>
        </p:spPr>
        <p:txBody>
          <a:bodyPr wrap="square" lIns="0" tIns="0" rIns="0" bIns="0" rtlCol="0" anchor="ctr"/>
          <a:lstStyle/>
          <a:p>
            <a:pPr algn="r" indent="0" marL="0">
              <a:buNone/>
            </a:pPr>
            <a:r>
              <a:rPr lang="en-US" sz="1400" dirty="0">
                <a:solidFill>
                  <a:srgbClr val="5B6B78"/>
                </a:solidFill>
                <a:latin typeface="Calibri" pitchFamily="34" charset="0"/>
                <a:ea typeface="Calibri" pitchFamily="34" charset="-122"/>
                <a:cs typeface="Calibri" pitchFamily="34" charset="-120"/>
              </a:rPr>
              <a:t>esadecimale</a:t>
            </a:r>
            <a:endParaRPr lang="en-US" sz="1400" dirty="0"/>
          </a:p>
        </p:txBody>
      </p:sp>
      <p:sp>
        <p:nvSpPr>
          <p:cNvPr id="13" name="Text 11"/>
          <p:cNvSpPr txBox="1"/>
          <p:nvPr/>
        </p:nvSpPr>
        <p:spPr>
          <a:xfrm>
            <a:off x="207248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4" name="Text 12"/>
          <p:cNvSpPr txBox="1"/>
          <p:nvPr/>
        </p:nvSpPr>
        <p:spPr>
          <a:xfrm>
            <a:off x="408416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7</a:t>
            </a:r>
            <a:endParaRPr lang="en-US" sz="3000" dirty="0"/>
          </a:p>
        </p:txBody>
      </p:sp>
      <p:sp>
        <p:nvSpPr>
          <p:cNvPr id="15" name="Text 13"/>
          <p:cNvSpPr txBox="1"/>
          <p:nvPr/>
        </p:nvSpPr>
        <p:spPr>
          <a:xfrm>
            <a:off x="609584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E</a:t>
            </a:r>
            <a:endParaRPr lang="en-US" sz="3000" dirty="0"/>
          </a:p>
        </p:txBody>
      </p:sp>
      <p:sp>
        <p:nvSpPr>
          <p:cNvPr id="16" name="Text 14"/>
          <p:cNvSpPr txBox="1"/>
          <p:nvPr/>
        </p:nvSpPr>
        <p:spPr>
          <a:xfrm>
            <a:off x="8107528" y="2880360"/>
            <a:ext cx="2011680" cy="73152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3000" b="1" dirty="0">
                <a:solidFill>
                  <a:srgbClr val="1B2530"/>
                </a:solidFill>
                <a:latin typeface="Courier New" pitchFamily="34" charset="0"/>
                <a:ea typeface="Courier New" pitchFamily="34" charset="-122"/>
                <a:cs typeface="Courier New" pitchFamily="34" charset="-120"/>
              </a:rPr>
              <a:t>0</a:t>
            </a:r>
            <a:endParaRPr lang="en-US" sz="3000" dirty="0"/>
          </a:p>
        </p:txBody>
      </p:sp>
      <p:sp>
        <p:nvSpPr>
          <p:cNvPr id="17" name="Text 15"/>
          <p:cNvSpPr txBox="1"/>
          <p:nvPr/>
        </p:nvSpPr>
        <p:spPr>
          <a:xfrm>
            <a:off x="548640" y="3794760"/>
            <a:ext cx="11094415" cy="548640"/>
          </a:xfrm>
          <a:prstGeom prst="rect">
            <a:avLst/>
          </a:prstGeom>
          <a:noFill/>
          <a:ln/>
        </p:spPr>
        <p:txBody>
          <a:bodyPr wrap="square" lIns="0" tIns="0" rIns="0" bIns="0" rtlCol="0" anchor="ctr"/>
          <a:lstStyle/>
          <a:p>
            <a:pPr algn="ctr" indent="0" marL="0">
              <a:buNone/>
            </a:pPr>
            <a:r>
              <a:rPr lang="en-US" sz="2400" b="1" dirty="0">
                <a:solidFill>
                  <a:srgbClr val="1B2530"/>
                </a:solidFill>
                <a:latin typeface="Courier New" pitchFamily="34" charset="0"/>
                <a:ea typeface="Courier New" pitchFamily="34" charset="-122"/>
                <a:cs typeface="Courier New" pitchFamily="34" charset="-120"/>
              </a:rPr>
              <a:t>0x07E0  =  2016 in decimale</a:t>
            </a:r>
            <a:endParaRPr lang="en-US" sz="2400" dirty="0"/>
          </a:p>
        </p:txBody>
      </p:sp>
      <p:sp>
        <p:nvSpPr>
          <p:cNvPr id="18" name="Shape 16"/>
          <p:cNvSpPr/>
          <p:nvPr/>
        </p:nvSpPr>
        <p:spPr>
          <a:xfrm>
            <a:off x="548640" y="4593971"/>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4526280"/>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Una cifra esadecimale vale esattamente quattro bit, perché 16 = 2^4: la conversione è una ricerca in tabella, cifra per cifra</a:t>
            </a:r>
            <a:endParaRPr lang="en-US" sz="1700" dirty="0"/>
          </a:p>
        </p:txBody>
      </p:sp>
      <p:sp>
        <p:nvSpPr>
          <p:cNvPr id="20" name="Shape 18"/>
          <p:cNvSpPr/>
          <p:nvPr/>
        </p:nvSpPr>
        <p:spPr>
          <a:xfrm>
            <a:off x="548640" y="5285232"/>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521754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Un registro a 32 bit sono otto cifre esadecimali: 0x00130313 si legge, trentadue zeri e uni no</a:t>
            </a:r>
            <a:endParaRPr lang="en-US" sz="1700" dirty="0"/>
          </a:p>
        </p:txBody>
      </p:sp>
      <p:sp>
        <p:nvSpPr>
          <p:cNvPr id="22" name="Shape 20"/>
          <p:cNvSpPr/>
          <p:nvPr/>
        </p:nvSpPr>
        <p:spPr>
          <a:xfrm>
            <a:off x="548640" y="5713095"/>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645404"/>
            <a:ext cx="1071036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prefisso 0x indica l'esadecimale in assembly e in C; il debugger di PRG32-QT mostra così i registri</a:t>
            </a:r>
            <a:endParaRPr lang="en-US" sz="1700" dirty="0"/>
          </a:p>
        </p:txBody>
      </p:sp>
      <p:sp>
        <p:nvSpPr>
          <p:cNvPr id="24" name="Shape 22"/>
          <p:cNvSpPr/>
          <p:nvPr/>
        </p:nvSpPr>
        <p:spPr>
          <a:xfrm>
            <a:off x="8379917" y="91440"/>
            <a:ext cx="3263138" cy="274320"/>
          </a:xfrm>
          <a:prstGeom prst="rect">
            <a:avLst/>
          </a:prstGeom>
          <a:solidFill>
            <a:srgbClr val="E0F2FE"/>
          </a:solidFill>
          <a:ln w="12700">
            <a:solidFill>
              <a:srgbClr val="0369A1"/>
            </a:solidFill>
            <a:prstDash val="solid"/>
          </a:ln>
        </p:spPr>
      </p:sp>
      <p:sp>
        <p:nvSpPr>
          <p:cNvPr id="25" name="Shape 23"/>
          <p:cNvSpPr/>
          <p:nvPr/>
        </p:nvSpPr>
        <p:spPr>
          <a:xfrm>
            <a:off x="8379917"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27" name="Text 2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l'esadecimale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colore è un numero: RGB565</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.equ GREEN, 0x07e0</a:t>
            </a:r>
            <a:endParaRPr lang="en-US" sz="2400" dirty="0"/>
          </a:p>
        </p:txBody>
      </p:sp>
      <p:sp>
        <p:nvSpPr>
          <p:cNvPr id="4" name="Text 2"/>
          <p:cNvSpPr txBox="1"/>
          <p:nvPr/>
        </p:nvSpPr>
        <p:spPr>
          <a:xfrm>
            <a:off x="1645920" y="2331720"/>
            <a:ext cx="2781205" cy="77724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5" name="Text 3"/>
          <p:cNvSpPr txBox="1"/>
          <p:nvPr/>
        </p:nvSpPr>
        <p:spPr>
          <a:xfrm>
            <a:off x="164592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rosso: 5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su 31</a:t>
            </a:r>
            <a:endParaRPr lang="en-US" sz="1500" dirty="0"/>
          </a:p>
        </p:txBody>
      </p:sp>
      <p:sp>
        <p:nvSpPr>
          <p:cNvPr id="6" name="Text 4"/>
          <p:cNvSpPr txBox="1"/>
          <p:nvPr/>
        </p:nvSpPr>
        <p:spPr>
          <a:xfrm>
            <a:off x="168249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7" name="Text 5"/>
          <p:cNvSpPr txBox="1"/>
          <p:nvPr/>
        </p:nvSpPr>
        <p:spPr>
          <a:xfrm>
            <a:off x="3036522"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8" name="Text 6"/>
          <p:cNvSpPr txBox="1"/>
          <p:nvPr/>
        </p:nvSpPr>
        <p:spPr>
          <a:xfrm>
            <a:off x="4427125" y="2331720"/>
            <a:ext cx="3337446" cy="7772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111111</a:t>
            </a:r>
            <a:endParaRPr lang="en-US" sz="2600" dirty="0"/>
          </a:p>
        </p:txBody>
      </p:sp>
      <p:sp>
        <p:nvSpPr>
          <p:cNvPr id="9" name="Text 7"/>
          <p:cNvSpPr txBox="1"/>
          <p:nvPr/>
        </p:nvSpPr>
        <p:spPr>
          <a:xfrm>
            <a:off x="4427125" y="3163824"/>
            <a:ext cx="3337446"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verde: 6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63 su 63</a:t>
            </a:r>
            <a:endParaRPr lang="en-US" sz="1500" dirty="0"/>
          </a:p>
        </p:txBody>
      </p:sp>
      <p:sp>
        <p:nvSpPr>
          <p:cNvPr id="10" name="Text 8"/>
          <p:cNvSpPr txBox="1"/>
          <p:nvPr/>
        </p:nvSpPr>
        <p:spPr>
          <a:xfrm>
            <a:off x="4463701" y="2093976"/>
            <a:ext cx="166872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10</a:t>
            </a:r>
            <a:endParaRPr lang="en-US" sz="1050" dirty="0"/>
          </a:p>
        </p:txBody>
      </p:sp>
      <p:sp>
        <p:nvSpPr>
          <p:cNvPr id="11" name="Text 9"/>
          <p:cNvSpPr txBox="1"/>
          <p:nvPr/>
        </p:nvSpPr>
        <p:spPr>
          <a:xfrm>
            <a:off x="6095848" y="2093976"/>
            <a:ext cx="163214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5</a:t>
            </a:r>
            <a:endParaRPr lang="en-US" sz="1050" dirty="0"/>
          </a:p>
        </p:txBody>
      </p:sp>
      <p:sp>
        <p:nvSpPr>
          <p:cNvPr id="12" name="Text 10"/>
          <p:cNvSpPr txBox="1"/>
          <p:nvPr/>
        </p:nvSpPr>
        <p:spPr>
          <a:xfrm>
            <a:off x="7764570" y="2331720"/>
            <a:ext cx="2781205" cy="777240"/>
          </a:xfrm>
          <a:prstGeom prst="rect">
            <a:avLst/>
          </a:prstGeom>
          <a:solidFill>
            <a:srgbClr val="2B5DAA"/>
          </a:solidFill>
          <a:ln w="19050">
            <a:solidFill>
              <a:srgbClr val="FFFFFF"/>
            </a:solidFill>
          </a:ln>
        </p:spPr>
        <p:txBody>
          <a:bodyPr wrap="square" lIns="0" tIns="0" rIns="0" bIns="0" rtlCol="0" anchor="ctr"/>
          <a:lstStyle/>
          <a:p>
            <a:pPr algn="ctr" indent="0" marL="0">
              <a:buNone/>
            </a:pPr>
            <a:r>
              <a:rPr lang="en-US" sz="2600" b="1" dirty="0">
                <a:solidFill>
                  <a:srgbClr val="FFFFFF"/>
                </a:solidFill>
                <a:latin typeface="Courier New" pitchFamily="34" charset="0"/>
                <a:ea typeface="Courier New" pitchFamily="34" charset="-122"/>
                <a:cs typeface="Courier New" pitchFamily="34" charset="-120"/>
              </a:rPr>
              <a:t>00000</a:t>
            </a:r>
            <a:endParaRPr lang="en-US" sz="2600" dirty="0"/>
          </a:p>
        </p:txBody>
      </p:sp>
      <p:sp>
        <p:nvSpPr>
          <p:cNvPr id="13" name="Text 11"/>
          <p:cNvSpPr txBox="1"/>
          <p:nvPr/>
        </p:nvSpPr>
        <p:spPr>
          <a:xfrm>
            <a:off x="7764570" y="3163824"/>
            <a:ext cx="2781205"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blu: 5 bit</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0 su 31</a:t>
            </a:r>
            <a:endParaRPr lang="en-US" sz="1500" dirty="0"/>
          </a:p>
        </p:txBody>
      </p:sp>
      <p:sp>
        <p:nvSpPr>
          <p:cNvPr id="14" name="Text 12"/>
          <p:cNvSpPr txBox="1"/>
          <p:nvPr/>
        </p:nvSpPr>
        <p:spPr>
          <a:xfrm>
            <a:off x="7801146" y="2093976"/>
            <a:ext cx="1390602"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4</a:t>
            </a:r>
            <a:endParaRPr lang="en-US" sz="1050" dirty="0"/>
          </a:p>
        </p:txBody>
      </p:sp>
      <p:sp>
        <p:nvSpPr>
          <p:cNvPr id="15" name="Text 13"/>
          <p:cNvSpPr txBox="1"/>
          <p:nvPr/>
        </p:nvSpPr>
        <p:spPr>
          <a:xfrm>
            <a:off x="9155173" y="2093976"/>
            <a:ext cx="1354026"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6" name="Shape 14"/>
          <p:cNvSpPr/>
          <p:nvPr/>
        </p:nvSpPr>
        <p:spPr>
          <a:xfrm>
            <a:off x="658368" y="3977640"/>
            <a:ext cx="1167346" cy="731520"/>
          </a:xfrm>
          <a:prstGeom prst="rect">
            <a:avLst/>
          </a:prstGeom>
          <a:solidFill>
            <a:srgbClr val="000000"/>
          </a:solidFill>
          <a:ln w="9525">
            <a:solidFill>
              <a:srgbClr val="2E4A62"/>
            </a:solidFill>
            <a:prstDash val="solid"/>
          </a:ln>
        </p:spPr>
      </p:sp>
      <p:sp>
        <p:nvSpPr>
          <p:cNvPr id="17" name="Text 15"/>
          <p:cNvSpPr txBox="1"/>
          <p:nvPr/>
        </p:nvSpPr>
        <p:spPr>
          <a:xfrm>
            <a:off x="54864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BLACK</a:t>
            </a:r>
            <a:endParaRPr lang="en-US" sz="1300" dirty="0"/>
          </a:p>
        </p:txBody>
      </p:sp>
      <p:sp>
        <p:nvSpPr>
          <p:cNvPr id="18" name="Text 16"/>
          <p:cNvSpPr txBox="1"/>
          <p:nvPr/>
        </p:nvSpPr>
        <p:spPr>
          <a:xfrm>
            <a:off x="54864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0x0000</a:t>
            </a:r>
            <a:endParaRPr lang="en-US" sz="1400" dirty="0"/>
          </a:p>
        </p:txBody>
      </p:sp>
      <p:sp>
        <p:nvSpPr>
          <p:cNvPr id="19" name="Shape 17"/>
          <p:cNvSpPr/>
          <p:nvPr/>
        </p:nvSpPr>
        <p:spPr>
          <a:xfrm>
            <a:off x="2045170" y="3977640"/>
            <a:ext cx="1167346" cy="731520"/>
          </a:xfrm>
          <a:prstGeom prst="rect">
            <a:avLst/>
          </a:prstGeom>
          <a:solidFill>
            <a:srgbClr val="F80000"/>
          </a:solidFill>
          <a:ln w="9525">
            <a:solidFill>
              <a:srgbClr val="2E4A62"/>
            </a:solidFill>
            <a:prstDash val="solid"/>
          </a:ln>
        </p:spPr>
      </p:sp>
      <p:sp>
        <p:nvSpPr>
          <p:cNvPr id="20" name="Text 18"/>
          <p:cNvSpPr txBox="1"/>
          <p:nvPr/>
        </p:nvSpPr>
        <p:spPr>
          <a:xfrm>
            <a:off x="1935442"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RED</a:t>
            </a:r>
            <a:endParaRPr lang="en-US" sz="1300" dirty="0"/>
          </a:p>
        </p:txBody>
      </p:sp>
      <p:sp>
        <p:nvSpPr>
          <p:cNvPr id="21" name="Text 19"/>
          <p:cNvSpPr txBox="1"/>
          <p:nvPr/>
        </p:nvSpPr>
        <p:spPr>
          <a:xfrm>
            <a:off x="1935442"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0xF800</a:t>
            </a:r>
            <a:endParaRPr lang="en-US" sz="1400" dirty="0"/>
          </a:p>
        </p:txBody>
      </p:sp>
      <p:sp>
        <p:nvSpPr>
          <p:cNvPr id="22" name="Shape 20"/>
          <p:cNvSpPr/>
          <p:nvPr/>
        </p:nvSpPr>
        <p:spPr>
          <a:xfrm>
            <a:off x="3431972" y="3977640"/>
            <a:ext cx="1167346" cy="731520"/>
          </a:xfrm>
          <a:prstGeom prst="rect">
            <a:avLst/>
          </a:prstGeom>
          <a:solidFill>
            <a:srgbClr val="00FC00"/>
          </a:solidFill>
          <a:ln w="9525">
            <a:solidFill>
              <a:srgbClr val="2E4A62"/>
            </a:solidFill>
            <a:prstDash val="solid"/>
          </a:ln>
        </p:spPr>
      </p:sp>
      <p:sp>
        <p:nvSpPr>
          <p:cNvPr id="23" name="Text 21"/>
          <p:cNvSpPr txBox="1"/>
          <p:nvPr/>
        </p:nvSpPr>
        <p:spPr>
          <a:xfrm>
            <a:off x="3322244"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GREEN</a:t>
            </a:r>
            <a:endParaRPr lang="en-US" sz="1300" dirty="0"/>
          </a:p>
        </p:txBody>
      </p:sp>
      <p:sp>
        <p:nvSpPr>
          <p:cNvPr id="24" name="Text 22"/>
          <p:cNvSpPr txBox="1"/>
          <p:nvPr/>
        </p:nvSpPr>
        <p:spPr>
          <a:xfrm>
            <a:off x="3322244"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0x07E0</a:t>
            </a:r>
            <a:endParaRPr lang="en-US" sz="1400" dirty="0"/>
          </a:p>
        </p:txBody>
      </p:sp>
      <p:sp>
        <p:nvSpPr>
          <p:cNvPr id="25" name="Shape 23"/>
          <p:cNvSpPr/>
          <p:nvPr/>
        </p:nvSpPr>
        <p:spPr>
          <a:xfrm>
            <a:off x="4818774" y="3977640"/>
            <a:ext cx="1167346" cy="731520"/>
          </a:xfrm>
          <a:prstGeom prst="rect">
            <a:avLst/>
          </a:prstGeom>
          <a:solidFill>
            <a:srgbClr val="0000F8"/>
          </a:solidFill>
          <a:ln w="9525">
            <a:solidFill>
              <a:srgbClr val="2E4A62"/>
            </a:solidFill>
            <a:prstDash val="solid"/>
          </a:ln>
        </p:spPr>
      </p:sp>
      <p:sp>
        <p:nvSpPr>
          <p:cNvPr id="26" name="Text 24"/>
          <p:cNvSpPr txBox="1"/>
          <p:nvPr/>
        </p:nvSpPr>
        <p:spPr>
          <a:xfrm>
            <a:off x="4709046"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BLUE</a:t>
            </a:r>
            <a:endParaRPr lang="en-US" sz="1300" dirty="0"/>
          </a:p>
        </p:txBody>
      </p:sp>
      <p:sp>
        <p:nvSpPr>
          <p:cNvPr id="27" name="Text 25"/>
          <p:cNvSpPr txBox="1"/>
          <p:nvPr/>
        </p:nvSpPr>
        <p:spPr>
          <a:xfrm>
            <a:off x="4709046"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0x001F</a:t>
            </a:r>
            <a:endParaRPr lang="en-US" sz="1400" dirty="0"/>
          </a:p>
        </p:txBody>
      </p:sp>
      <p:sp>
        <p:nvSpPr>
          <p:cNvPr id="28" name="Shape 26"/>
          <p:cNvSpPr/>
          <p:nvPr/>
        </p:nvSpPr>
        <p:spPr>
          <a:xfrm>
            <a:off x="6205576" y="3977640"/>
            <a:ext cx="1167346" cy="731520"/>
          </a:xfrm>
          <a:prstGeom prst="rect">
            <a:avLst/>
          </a:prstGeom>
          <a:solidFill>
            <a:srgbClr val="F8FC00"/>
          </a:solidFill>
          <a:ln w="9525">
            <a:solidFill>
              <a:srgbClr val="2E4A62"/>
            </a:solidFill>
            <a:prstDash val="solid"/>
          </a:ln>
        </p:spPr>
      </p:sp>
      <p:sp>
        <p:nvSpPr>
          <p:cNvPr id="29" name="Text 27"/>
          <p:cNvSpPr txBox="1"/>
          <p:nvPr/>
        </p:nvSpPr>
        <p:spPr>
          <a:xfrm>
            <a:off x="6095848"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YELLOW</a:t>
            </a:r>
            <a:endParaRPr lang="en-US" sz="1300" dirty="0"/>
          </a:p>
        </p:txBody>
      </p:sp>
      <p:sp>
        <p:nvSpPr>
          <p:cNvPr id="30" name="Text 28"/>
          <p:cNvSpPr txBox="1"/>
          <p:nvPr/>
        </p:nvSpPr>
        <p:spPr>
          <a:xfrm>
            <a:off x="6095848"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0xFFE0</a:t>
            </a:r>
            <a:endParaRPr lang="en-US" sz="1400" dirty="0"/>
          </a:p>
        </p:txBody>
      </p:sp>
      <p:sp>
        <p:nvSpPr>
          <p:cNvPr id="31" name="Shape 29"/>
          <p:cNvSpPr/>
          <p:nvPr/>
        </p:nvSpPr>
        <p:spPr>
          <a:xfrm>
            <a:off x="7592378" y="3977640"/>
            <a:ext cx="1167346" cy="731520"/>
          </a:xfrm>
          <a:prstGeom prst="rect">
            <a:avLst/>
          </a:prstGeom>
          <a:solidFill>
            <a:srgbClr val="00FCF8"/>
          </a:solidFill>
          <a:ln w="9525">
            <a:solidFill>
              <a:srgbClr val="2E4A62"/>
            </a:solidFill>
            <a:prstDash val="solid"/>
          </a:ln>
        </p:spPr>
      </p:sp>
      <p:sp>
        <p:nvSpPr>
          <p:cNvPr id="32" name="Text 30"/>
          <p:cNvSpPr txBox="1"/>
          <p:nvPr/>
        </p:nvSpPr>
        <p:spPr>
          <a:xfrm>
            <a:off x="7482650"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CYAN</a:t>
            </a:r>
            <a:endParaRPr lang="en-US" sz="1300" dirty="0"/>
          </a:p>
        </p:txBody>
      </p:sp>
      <p:sp>
        <p:nvSpPr>
          <p:cNvPr id="33" name="Text 31"/>
          <p:cNvSpPr txBox="1"/>
          <p:nvPr/>
        </p:nvSpPr>
        <p:spPr>
          <a:xfrm>
            <a:off x="7482650"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0x07FF</a:t>
            </a:r>
            <a:endParaRPr lang="en-US" sz="1400" dirty="0"/>
          </a:p>
        </p:txBody>
      </p:sp>
      <p:sp>
        <p:nvSpPr>
          <p:cNvPr id="34" name="Shape 32"/>
          <p:cNvSpPr/>
          <p:nvPr/>
        </p:nvSpPr>
        <p:spPr>
          <a:xfrm>
            <a:off x="8979179" y="3977640"/>
            <a:ext cx="1167346" cy="731520"/>
          </a:xfrm>
          <a:prstGeom prst="rect">
            <a:avLst/>
          </a:prstGeom>
          <a:solidFill>
            <a:srgbClr val="F800F8"/>
          </a:solidFill>
          <a:ln w="9525">
            <a:solidFill>
              <a:srgbClr val="2E4A62"/>
            </a:solidFill>
            <a:prstDash val="solid"/>
          </a:ln>
        </p:spPr>
      </p:sp>
      <p:sp>
        <p:nvSpPr>
          <p:cNvPr id="35" name="Text 33"/>
          <p:cNvSpPr txBox="1"/>
          <p:nvPr/>
        </p:nvSpPr>
        <p:spPr>
          <a:xfrm>
            <a:off x="8869451"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MAGENTA</a:t>
            </a:r>
            <a:endParaRPr lang="en-US" sz="1300" dirty="0"/>
          </a:p>
        </p:txBody>
      </p:sp>
      <p:sp>
        <p:nvSpPr>
          <p:cNvPr id="36" name="Text 34"/>
          <p:cNvSpPr txBox="1"/>
          <p:nvPr/>
        </p:nvSpPr>
        <p:spPr>
          <a:xfrm>
            <a:off x="8869451"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0xF81F</a:t>
            </a:r>
            <a:endParaRPr lang="en-US" sz="1400" dirty="0"/>
          </a:p>
        </p:txBody>
      </p:sp>
      <p:sp>
        <p:nvSpPr>
          <p:cNvPr id="37" name="Shape 35"/>
          <p:cNvSpPr/>
          <p:nvPr/>
        </p:nvSpPr>
        <p:spPr>
          <a:xfrm>
            <a:off x="10365981" y="3977640"/>
            <a:ext cx="1167346" cy="731520"/>
          </a:xfrm>
          <a:prstGeom prst="rect">
            <a:avLst/>
          </a:prstGeom>
          <a:solidFill>
            <a:srgbClr val="FFFFFF"/>
          </a:solidFill>
          <a:ln w="9525">
            <a:solidFill>
              <a:srgbClr val="2E4A62"/>
            </a:solidFill>
            <a:prstDash val="solid"/>
          </a:ln>
        </p:spPr>
      </p:sp>
      <p:sp>
        <p:nvSpPr>
          <p:cNvPr id="38" name="Text 36"/>
          <p:cNvSpPr txBox="1"/>
          <p:nvPr/>
        </p:nvSpPr>
        <p:spPr>
          <a:xfrm>
            <a:off x="10256253" y="4782312"/>
            <a:ext cx="1386802" cy="274320"/>
          </a:xfrm>
          <a:prstGeom prst="rect">
            <a:avLst/>
          </a:prstGeom>
          <a:noFill/>
          <a:ln/>
        </p:spPr>
        <p:txBody>
          <a:bodyPr wrap="square" lIns="0" tIns="0" rIns="0" bIns="0" rtlCol="0" anchor="t"/>
          <a:lstStyle/>
          <a:p>
            <a:pPr algn="ctr" indent="0" marL="0">
              <a:buNone/>
            </a:pPr>
            <a:r>
              <a:rPr lang="en-US" sz="1300" b="1" dirty="0">
                <a:solidFill>
                  <a:srgbClr val="1B2530"/>
                </a:solidFill>
                <a:latin typeface="Calibri" pitchFamily="34" charset="0"/>
                <a:ea typeface="Calibri" pitchFamily="34" charset="-122"/>
                <a:cs typeface="Calibri" pitchFamily="34" charset="-120"/>
              </a:rPr>
              <a:t>WHITE</a:t>
            </a:r>
            <a:endParaRPr lang="en-US" sz="1300" dirty="0"/>
          </a:p>
        </p:txBody>
      </p:sp>
      <p:sp>
        <p:nvSpPr>
          <p:cNvPr id="39" name="Text 37"/>
          <p:cNvSpPr txBox="1"/>
          <p:nvPr/>
        </p:nvSpPr>
        <p:spPr>
          <a:xfrm>
            <a:off x="10256253" y="5056632"/>
            <a:ext cx="1386802" cy="274320"/>
          </a:xfrm>
          <a:prstGeom prst="rect">
            <a:avLst/>
          </a:prstGeom>
          <a:noFill/>
          <a:ln/>
        </p:spPr>
        <p:txBody>
          <a:bodyPr wrap="square" lIns="0" tIns="0" rIns="0" bIns="0" rtlCol="0" anchor="t"/>
          <a:lstStyle/>
          <a:p>
            <a:pPr algn="ctr" indent="0" marL="0">
              <a:buNone/>
            </a:pPr>
            <a:r>
              <a:rPr lang="en-US" sz="1400" dirty="0">
                <a:solidFill>
                  <a:srgbClr val="5B6B78"/>
                </a:solidFill>
                <a:latin typeface="Courier New" pitchFamily="34" charset="0"/>
                <a:ea typeface="Courier New" pitchFamily="34" charset="-122"/>
                <a:cs typeface="Courier New" pitchFamily="34" charset="-120"/>
              </a:rPr>
              <a:t>0xFFFF</a:t>
            </a:r>
            <a:endParaRPr lang="en-US" sz="1400" dirty="0"/>
          </a:p>
        </p:txBody>
      </p:sp>
      <p:sp>
        <p:nvSpPr>
          <p:cNvPr id="40" name="Text 38"/>
          <p:cNvSpPr txBox="1"/>
          <p:nvPr/>
        </p:nvSpPr>
        <p:spPr>
          <a:xfrm>
            <a:off x="548640" y="5532120"/>
            <a:ext cx="11094415" cy="64008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Sedici bit, tre campi. Gli stessi sedici bit potrebbero essere un numero, due caratteri o mezza istruzione: il significato sta in come il programma li usa.</a:t>
            </a:r>
            <a:endParaRPr lang="en-US" sz="1600" dirty="0"/>
          </a:p>
        </p:txBody>
      </p:sp>
      <p:sp>
        <p:nvSpPr>
          <p:cNvPr id="41" name="Shape 39"/>
          <p:cNvSpPr/>
          <p:nvPr/>
        </p:nvSpPr>
        <p:spPr>
          <a:xfrm>
            <a:off x="7854645" y="91440"/>
            <a:ext cx="3788410" cy="274320"/>
          </a:xfrm>
          <a:prstGeom prst="rect">
            <a:avLst/>
          </a:prstGeom>
          <a:solidFill>
            <a:srgbClr val="E0F2FE"/>
          </a:solidFill>
          <a:ln w="12700">
            <a:solidFill>
              <a:srgbClr val="0369A1"/>
            </a:solidFill>
            <a:prstDash val="solid"/>
          </a:ln>
        </p:spPr>
      </p:sp>
      <p:sp>
        <p:nvSpPr>
          <p:cNvPr id="42" name="Shape 40"/>
          <p:cNvSpPr/>
          <p:nvPr/>
        </p:nvSpPr>
        <p:spPr>
          <a:xfrm>
            <a:off x="7854645" y="91440"/>
            <a:ext cx="73152" cy="274320"/>
          </a:xfrm>
          <a:prstGeom prst="rect">
            <a:avLst/>
          </a:prstGeom>
          <a:solidFill>
            <a:srgbClr val="0369A1"/>
          </a:solidFill>
          <a:ln w="12700">
            <a:solidFill>
              <a:srgbClr val="0369A1"/>
            </a:solidFill>
            <a:prstDash val="solid"/>
          </a:ln>
        </p:spPr>
      </p:sp>
      <p:pic>
        <p:nvPicPr>
          <p:cNvPr id="43" name="Image 0" descr="preencoded.png">    </p:cNvPr>
          <p:cNvPicPr>
            <a:picLocks noChangeAspect="1"/>
          </p:cNvPicPr>
          <p:nvPr/>
        </p:nvPicPr>
        <p:blipFill>
          <a:blip r:embed="rId1"/>
          <a:stretch>
            <a:fillRect/>
          </a:stretch>
        </p:blipFill>
        <p:spPr>
          <a:xfrm>
            <a:off x="7982661" y="128016"/>
            <a:ext cx="201168" cy="201168"/>
          </a:xfrm>
          <a:prstGeom prst="rect">
            <a:avLst/>
          </a:prstGeom>
        </p:spPr>
      </p:pic>
      <p:sp>
        <p:nvSpPr>
          <p:cNvPr id="44" name="Text 41"/>
          <p:cNvSpPr txBox="1"/>
          <p:nvPr/>
        </p:nvSpPr>
        <p:spPr>
          <a:xfrm>
            <a:off x="8238693" y="91440"/>
            <a:ext cx="336778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un colore è un numero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ASCII: un carattere, un byte</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1364067"/>
                <a:gridCol w="1273130"/>
                <a:gridCol w="2182508"/>
                <a:gridCol w="46378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Carattere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Binario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0100 0001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le maiuscole cominciano da 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97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0x61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0110 0001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come A con un bit in più: 97 - 65 = 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0x30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0011 0000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carattere zero non è il numero zero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spazio</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0x20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0010 0000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carattere come gli altri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a capo</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0x0A</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0000 1010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 carattere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NUL</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0x00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0000 0000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segna la fine di una stringa 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5"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7"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Stringhe: una sequenza di caratteri in memoria</a:t>
            </a:r>
            <a:endParaRPr lang="en-US" sz="3200" dirty="0"/>
          </a:p>
        </p:txBody>
      </p:sp>
      <p:sp>
        <p:nvSpPr>
          <p:cNvPr id="3" name="Text 1"/>
          <p:cNvSpPr txBox="1"/>
          <p:nvPr/>
        </p:nvSpPr>
        <p:spPr>
          <a:xfrm>
            <a:off x="548640" y="1508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Stringa C</a:t>
            </a:r>
            <a:endParaRPr lang="en-US" sz="1500" dirty="0"/>
          </a:p>
        </p:txBody>
      </p:sp>
      <p:sp>
        <p:nvSpPr>
          <p:cNvPr id="4" name="Text 2"/>
          <p:cNvSpPr txBox="1"/>
          <p:nvPr/>
        </p:nvSpPr>
        <p:spPr>
          <a:xfrm>
            <a:off x="2926080"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5" name="Text 3"/>
          <p:cNvSpPr txBox="1"/>
          <p:nvPr/>
        </p:nvSpPr>
        <p:spPr>
          <a:xfrm>
            <a:off x="2926080"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6" name="Text 4"/>
          <p:cNvSpPr txBox="1"/>
          <p:nvPr/>
        </p:nvSpPr>
        <p:spPr>
          <a:xfrm>
            <a:off x="3639312"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7" name="Text 5"/>
          <p:cNvSpPr txBox="1"/>
          <p:nvPr/>
        </p:nvSpPr>
        <p:spPr>
          <a:xfrm>
            <a:off x="3639312"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8" name="Text 6"/>
          <p:cNvSpPr txBox="1"/>
          <p:nvPr/>
        </p:nvSpPr>
        <p:spPr>
          <a:xfrm>
            <a:off x="4352544"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9" name="Text 7"/>
          <p:cNvSpPr txBox="1"/>
          <p:nvPr/>
        </p:nvSpPr>
        <p:spPr>
          <a:xfrm>
            <a:off x="4352544"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10" name="Text 8"/>
          <p:cNvSpPr txBox="1"/>
          <p:nvPr/>
        </p:nvSpPr>
        <p:spPr>
          <a:xfrm>
            <a:off x="5065776" y="1508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11" name="Text 9"/>
          <p:cNvSpPr txBox="1"/>
          <p:nvPr/>
        </p:nvSpPr>
        <p:spPr>
          <a:xfrm>
            <a:off x="5065776"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12" name="Text 10"/>
          <p:cNvSpPr txBox="1"/>
          <p:nvPr/>
        </p:nvSpPr>
        <p:spPr>
          <a:xfrm>
            <a:off x="5779008" y="150876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13" name="Text 11"/>
          <p:cNvSpPr txBox="1"/>
          <p:nvPr/>
        </p:nvSpPr>
        <p:spPr>
          <a:xfrm>
            <a:off x="5779008" y="2112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14" name="Text 12"/>
          <p:cNvSpPr txBox="1"/>
          <p:nvPr/>
        </p:nvSpPr>
        <p:spPr>
          <a:xfrm>
            <a:off x="6720840" y="1508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la fine è segnata da un byte a zero</a:t>
            </a:r>
            <a:endParaRPr lang="en-US" sz="1350" dirty="0"/>
          </a:p>
        </p:txBody>
      </p:sp>
      <p:sp>
        <p:nvSpPr>
          <p:cNvPr id="15" name="Text 13"/>
          <p:cNvSpPr txBox="1"/>
          <p:nvPr/>
        </p:nvSpPr>
        <p:spPr>
          <a:xfrm>
            <a:off x="548640" y="265176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Stringa Pascal</a:t>
            </a:r>
            <a:endParaRPr lang="en-US" sz="1500" dirty="0"/>
          </a:p>
        </p:txBody>
      </p:sp>
      <p:sp>
        <p:nvSpPr>
          <p:cNvPr id="16" name="Text 14"/>
          <p:cNvSpPr txBox="1"/>
          <p:nvPr/>
        </p:nvSpPr>
        <p:spPr>
          <a:xfrm>
            <a:off x="2926080" y="2651760"/>
            <a:ext cx="713232"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4</a:t>
            </a:r>
            <a:endParaRPr lang="en-US" sz="1700" dirty="0"/>
          </a:p>
        </p:txBody>
      </p:sp>
      <p:sp>
        <p:nvSpPr>
          <p:cNvPr id="17" name="Text 15"/>
          <p:cNvSpPr txBox="1"/>
          <p:nvPr/>
        </p:nvSpPr>
        <p:spPr>
          <a:xfrm>
            <a:off x="2926080"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04</a:t>
            </a:r>
            <a:endParaRPr lang="en-US" sz="1200" dirty="0"/>
          </a:p>
        </p:txBody>
      </p:sp>
      <p:sp>
        <p:nvSpPr>
          <p:cNvPr id="18" name="Text 16"/>
          <p:cNvSpPr txBox="1"/>
          <p:nvPr/>
        </p:nvSpPr>
        <p:spPr>
          <a:xfrm>
            <a:off x="3639312"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C</a:t>
            </a:r>
            <a:endParaRPr lang="en-US" sz="1700" dirty="0"/>
          </a:p>
        </p:txBody>
      </p:sp>
      <p:sp>
        <p:nvSpPr>
          <p:cNvPr id="19" name="Text 17"/>
          <p:cNvSpPr txBox="1"/>
          <p:nvPr/>
        </p:nvSpPr>
        <p:spPr>
          <a:xfrm>
            <a:off x="3639312"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43</a:t>
            </a:r>
            <a:endParaRPr lang="en-US" sz="1200" dirty="0"/>
          </a:p>
        </p:txBody>
      </p:sp>
      <p:sp>
        <p:nvSpPr>
          <p:cNvPr id="20" name="Text 18"/>
          <p:cNvSpPr txBox="1"/>
          <p:nvPr/>
        </p:nvSpPr>
        <p:spPr>
          <a:xfrm>
            <a:off x="4352544"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I</a:t>
            </a:r>
            <a:endParaRPr lang="en-US" sz="1700" dirty="0"/>
          </a:p>
        </p:txBody>
      </p:sp>
      <p:sp>
        <p:nvSpPr>
          <p:cNvPr id="21" name="Text 19"/>
          <p:cNvSpPr txBox="1"/>
          <p:nvPr/>
        </p:nvSpPr>
        <p:spPr>
          <a:xfrm>
            <a:off x="4352544"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49</a:t>
            </a:r>
            <a:endParaRPr lang="en-US" sz="1200" dirty="0"/>
          </a:p>
        </p:txBody>
      </p:sp>
      <p:sp>
        <p:nvSpPr>
          <p:cNvPr id="22" name="Text 20"/>
          <p:cNvSpPr txBox="1"/>
          <p:nvPr/>
        </p:nvSpPr>
        <p:spPr>
          <a:xfrm>
            <a:off x="5065776"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a:t>
            </a:r>
            <a:endParaRPr lang="en-US" sz="1700" dirty="0"/>
          </a:p>
        </p:txBody>
      </p:sp>
      <p:sp>
        <p:nvSpPr>
          <p:cNvPr id="23" name="Text 21"/>
          <p:cNvSpPr txBox="1"/>
          <p:nvPr/>
        </p:nvSpPr>
        <p:spPr>
          <a:xfrm>
            <a:off x="5065776"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41</a:t>
            </a:r>
            <a:endParaRPr lang="en-US" sz="1200" dirty="0"/>
          </a:p>
        </p:txBody>
      </p:sp>
      <p:sp>
        <p:nvSpPr>
          <p:cNvPr id="24" name="Text 22"/>
          <p:cNvSpPr txBox="1"/>
          <p:nvPr/>
        </p:nvSpPr>
        <p:spPr>
          <a:xfrm>
            <a:off x="5779008" y="265176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25" name="Text 23"/>
          <p:cNvSpPr txBox="1"/>
          <p:nvPr/>
        </p:nvSpPr>
        <p:spPr>
          <a:xfrm>
            <a:off x="5779008" y="325526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26" name="Text 24"/>
          <p:cNvSpPr txBox="1"/>
          <p:nvPr/>
        </p:nvSpPr>
        <p:spPr>
          <a:xfrm>
            <a:off x="6720840" y="2651760"/>
            <a:ext cx="4922215" cy="566928"/>
          </a:xfrm>
          <a:prstGeom prst="rect">
            <a:avLst/>
          </a:prstGeom>
          <a:noFill/>
          <a:ln/>
        </p:spPr>
        <p:txBody>
          <a:bodyPr wrap="square" lIns="0" tIns="0" rIns="0" bIns="0" rtlCol="0" anchor="ctr"/>
          <a:lstStyle/>
          <a:p>
            <a:pPr indent="0" marL="0">
              <a:buNone/>
            </a:pPr>
            <a:r>
              <a:rPr lang="en-US" sz="1350" dirty="0">
                <a:solidFill>
                  <a:srgbClr val="5B6B78"/>
                </a:solidFill>
                <a:latin typeface="Calibri" pitchFamily="34" charset="0"/>
                <a:ea typeface="Calibri" pitchFamily="34" charset="-122"/>
                <a:cs typeface="Calibri" pitchFamily="34" charset="-120"/>
              </a:rPr>
              <a:t>la lunghezza viene prima</a:t>
            </a:r>
            <a:endParaRPr lang="en-US" sz="1350" dirty="0"/>
          </a:p>
        </p:txBody>
      </p:sp>
      <p:sp>
        <p:nvSpPr>
          <p:cNvPr id="27" name="Text 25"/>
          <p:cNvSpPr txBox="1"/>
          <p:nvPr/>
        </p:nvSpPr>
        <p:spPr>
          <a:xfrm>
            <a:off x="548640" y="3931920"/>
            <a:ext cx="2194560" cy="566928"/>
          </a:xfrm>
          <a:prstGeom prst="rect">
            <a:avLst/>
          </a:prstGeom>
          <a:noFill/>
          <a:ln/>
        </p:spPr>
        <p:txBody>
          <a:bodyPr wrap="square" lIns="0" tIns="0" rIns="0" bIns="0" rtlCol="0" anchor="ctr"/>
          <a:lstStyle/>
          <a:p>
            <a:pPr indent="0" marL="0">
              <a:buNone/>
            </a:pPr>
            <a:r>
              <a:rPr lang="en-US" sz="1500" b="1" dirty="0">
                <a:solidFill>
                  <a:srgbClr val="2E4A62"/>
                </a:solidFill>
                <a:latin typeface="Calibri" pitchFamily="34" charset="0"/>
                <a:ea typeface="Calibri" pitchFamily="34" charset="-122"/>
                <a:cs typeface="Calibri" pitchFamily="34" charset="-120"/>
              </a:rPr>
              <a:t>.asciz "HELLO PRG32"</a:t>
            </a:r>
            <a:endParaRPr lang="en-US" sz="1500" dirty="0"/>
          </a:p>
        </p:txBody>
      </p:sp>
      <p:sp>
        <p:nvSpPr>
          <p:cNvPr id="28" name="Text 26"/>
          <p:cNvSpPr txBox="1"/>
          <p:nvPr/>
        </p:nvSpPr>
        <p:spPr>
          <a:xfrm>
            <a:off x="292608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H</a:t>
            </a:r>
            <a:endParaRPr lang="en-US" sz="1700" dirty="0"/>
          </a:p>
        </p:txBody>
      </p:sp>
      <p:sp>
        <p:nvSpPr>
          <p:cNvPr id="29" name="Text 27"/>
          <p:cNvSpPr txBox="1"/>
          <p:nvPr/>
        </p:nvSpPr>
        <p:spPr>
          <a:xfrm>
            <a:off x="292608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48</a:t>
            </a:r>
            <a:endParaRPr lang="en-US" sz="1200" dirty="0"/>
          </a:p>
        </p:txBody>
      </p:sp>
      <p:sp>
        <p:nvSpPr>
          <p:cNvPr id="30" name="Text 28"/>
          <p:cNvSpPr txBox="1"/>
          <p:nvPr/>
        </p:nvSpPr>
        <p:spPr>
          <a:xfrm>
            <a:off x="363931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E</a:t>
            </a:r>
            <a:endParaRPr lang="en-US" sz="1700" dirty="0"/>
          </a:p>
        </p:txBody>
      </p:sp>
      <p:sp>
        <p:nvSpPr>
          <p:cNvPr id="31" name="Text 29"/>
          <p:cNvSpPr txBox="1"/>
          <p:nvPr/>
        </p:nvSpPr>
        <p:spPr>
          <a:xfrm>
            <a:off x="363931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45</a:t>
            </a:r>
            <a:endParaRPr lang="en-US" sz="1200" dirty="0"/>
          </a:p>
        </p:txBody>
      </p:sp>
      <p:sp>
        <p:nvSpPr>
          <p:cNvPr id="32" name="Text 30"/>
          <p:cNvSpPr txBox="1"/>
          <p:nvPr/>
        </p:nvSpPr>
        <p:spPr>
          <a:xfrm>
            <a:off x="435254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3" name="Text 31"/>
          <p:cNvSpPr txBox="1"/>
          <p:nvPr/>
        </p:nvSpPr>
        <p:spPr>
          <a:xfrm>
            <a:off x="435254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4" name="Text 32"/>
          <p:cNvSpPr txBox="1"/>
          <p:nvPr/>
        </p:nvSpPr>
        <p:spPr>
          <a:xfrm>
            <a:off x="506577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L</a:t>
            </a:r>
            <a:endParaRPr lang="en-US" sz="1700" dirty="0"/>
          </a:p>
        </p:txBody>
      </p:sp>
      <p:sp>
        <p:nvSpPr>
          <p:cNvPr id="35" name="Text 33"/>
          <p:cNvSpPr txBox="1"/>
          <p:nvPr/>
        </p:nvSpPr>
        <p:spPr>
          <a:xfrm>
            <a:off x="506577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4C</a:t>
            </a:r>
            <a:endParaRPr lang="en-US" sz="1200" dirty="0"/>
          </a:p>
        </p:txBody>
      </p:sp>
      <p:sp>
        <p:nvSpPr>
          <p:cNvPr id="36" name="Text 34"/>
          <p:cNvSpPr txBox="1"/>
          <p:nvPr/>
        </p:nvSpPr>
        <p:spPr>
          <a:xfrm>
            <a:off x="577900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O</a:t>
            </a:r>
            <a:endParaRPr lang="en-US" sz="1700" dirty="0"/>
          </a:p>
        </p:txBody>
      </p:sp>
      <p:sp>
        <p:nvSpPr>
          <p:cNvPr id="37" name="Text 35"/>
          <p:cNvSpPr txBox="1"/>
          <p:nvPr/>
        </p:nvSpPr>
        <p:spPr>
          <a:xfrm>
            <a:off x="577900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4F</a:t>
            </a:r>
            <a:endParaRPr lang="en-US" sz="1200" dirty="0"/>
          </a:p>
        </p:txBody>
      </p:sp>
      <p:sp>
        <p:nvSpPr>
          <p:cNvPr id="38" name="Text 36"/>
          <p:cNvSpPr txBox="1"/>
          <p:nvPr/>
        </p:nvSpPr>
        <p:spPr>
          <a:xfrm>
            <a:off x="649224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a:t>
            </a:r>
            <a:endParaRPr lang="en-US" sz="1700" dirty="0"/>
          </a:p>
        </p:txBody>
      </p:sp>
      <p:sp>
        <p:nvSpPr>
          <p:cNvPr id="39" name="Text 37"/>
          <p:cNvSpPr txBox="1"/>
          <p:nvPr/>
        </p:nvSpPr>
        <p:spPr>
          <a:xfrm>
            <a:off x="649224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20</a:t>
            </a:r>
            <a:endParaRPr lang="en-US" sz="1200" dirty="0"/>
          </a:p>
        </p:txBody>
      </p:sp>
      <p:sp>
        <p:nvSpPr>
          <p:cNvPr id="40" name="Text 38"/>
          <p:cNvSpPr txBox="1"/>
          <p:nvPr/>
        </p:nvSpPr>
        <p:spPr>
          <a:xfrm>
            <a:off x="7205472"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P</a:t>
            </a:r>
            <a:endParaRPr lang="en-US" sz="1700" dirty="0"/>
          </a:p>
        </p:txBody>
      </p:sp>
      <p:sp>
        <p:nvSpPr>
          <p:cNvPr id="41" name="Text 39"/>
          <p:cNvSpPr txBox="1"/>
          <p:nvPr/>
        </p:nvSpPr>
        <p:spPr>
          <a:xfrm>
            <a:off x="720547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50</a:t>
            </a:r>
            <a:endParaRPr lang="en-US" sz="1200" dirty="0"/>
          </a:p>
        </p:txBody>
      </p:sp>
      <p:sp>
        <p:nvSpPr>
          <p:cNvPr id="42" name="Text 40"/>
          <p:cNvSpPr txBox="1"/>
          <p:nvPr/>
        </p:nvSpPr>
        <p:spPr>
          <a:xfrm>
            <a:off x="7918704"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R</a:t>
            </a:r>
            <a:endParaRPr lang="en-US" sz="1700" dirty="0"/>
          </a:p>
        </p:txBody>
      </p:sp>
      <p:sp>
        <p:nvSpPr>
          <p:cNvPr id="43" name="Text 41"/>
          <p:cNvSpPr txBox="1"/>
          <p:nvPr/>
        </p:nvSpPr>
        <p:spPr>
          <a:xfrm>
            <a:off x="7918704"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52</a:t>
            </a:r>
            <a:endParaRPr lang="en-US" sz="1200" dirty="0"/>
          </a:p>
        </p:txBody>
      </p:sp>
      <p:sp>
        <p:nvSpPr>
          <p:cNvPr id="44" name="Text 42"/>
          <p:cNvSpPr txBox="1"/>
          <p:nvPr/>
        </p:nvSpPr>
        <p:spPr>
          <a:xfrm>
            <a:off x="8631936"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G</a:t>
            </a:r>
            <a:endParaRPr lang="en-US" sz="1700" dirty="0"/>
          </a:p>
        </p:txBody>
      </p:sp>
      <p:sp>
        <p:nvSpPr>
          <p:cNvPr id="45" name="Text 43"/>
          <p:cNvSpPr txBox="1"/>
          <p:nvPr/>
        </p:nvSpPr>
        <p:spPr>
          <a:xfrm>
            <a:off x="8631936"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47</a:t>
            </a:r>
            <a:endParaRPr lang="en-US" sz="1200" dirty="0"/>
          </a:p>
        </p:txBody>
      </p:sp>
      <p:sp>
        <p:nvSpPr>
          <p:cNvPr id="46" name="Text 44"/>
          <p:cNvSpPr txBox="1"/>
          <p:nvPr/>
        </p:nvSpPr>
        <p:spPr>
          <a:xfrm>
            <a:off x="9345168"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3</a:t>
            </a:r>
            <a:endParaRPr lang="en-US" sz="1700" dirty="0"/>
          </a:p>
        </p:txBody>
      </p:sp>
      <p:sp>
        <p:nvSpPr>
          <p:cNvPr id="47" name="Text 45"/>
          <p:cNvSpPr txBox="1"/>
          <p:nvPr/>
        </p:nvSpPr>
        <p:spPr>
          <a:xfrm>
            <a:off x="9345168"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33</a:t>
            </a:r>
            <a:endParaRPr lang="en-US" sz="1200" dirty="0"/>
          </a:p>
        </p:txBody>
      </p:sp>
      <p:sp>
        <p:nvSpPr>
          <p:cNvPr id="48" name="Text 46"/>
          <p:cNvSpPr txBox="1"/>
          <p:nvPr/>
        </p:nvSpPr>
        <p:spPr>
          <a:xfrm>
            <a:off x="10058400" y="3931920"/>
            <a:ext cx="713232"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700" b="1" dirty="0">
                <a:solidFill>
                  <a:srgbClr val="1B2530"/>
                </a:solidFill>
                <a:latin typeface="Courier New" pitchFamily="34" charset="0"/>
                <a:ea typeface="Courier New" pitchFamily="34" charset="-122"/>
                <a:cs typeface="Courier New" pitchFamily="34" charset="-120"/>
              </a:rPr>
              <a:t>2</a:t>
            </a:r>
            <a:endParaRPr lang="en-US" sz="1700" dirty="0"/>
          </a:p>
        </p:txBody>
      </p:sp>
      <p:sp>
        <p:nvSpPr>
          <p:cNvPr id="49" name="Text 47"/>
          <p:cNvSpPr txBox="1"/>
          <p:nvPr/>
        </p:nvSpPr>
        <p:spPr>
          <a:xfrm>
            <a:off x="10058400"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32</a:t>
            </a:r>
            <a:endParaRPr lang="en-US" sz="1200" dirty="0"/>
          </a:p>
        </p:txBody>
      </p:sp>
      <p:sp>
        <p:nvSpPr>
          <p:cNvPr id="50" name="Text 48"/>
          <p:cNvSpPr txBox="1"/>
          <p:nvPr/>
        </p:nvSpPr>
        <p:spPr>
          <a:xfrm>
            <a:off x="10771632" y="3931920"/>
            <a:ext cx="713232"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a:t>
            </a:r>
            <a:endParaRPr lang="en-US" sz="1700" dirty="0"/>
          </a:p>
        </p:txBody>
      </p:sp>
      <p:sp>
        <p:nvSpPr>
          <p:cNvPr id="51" name="Text 49"/>
          <p:cNvSpPr txBox="1"/>
          <p:nvPr/>
        </p:nvSpPr>
        <p:spPr>
          <a:xfrm>
            <a:off x="10771632" y="4535424"/>
            <a:ext cx="713232" cy="274320"/>
          </a:xfrm>
          <a:prstGeom prst="rect">
            <a:avLst/>
          </a:prstGeom>
          <a:noFill/>
          <a:ln/>
        </p:spPr>
        <p:txBody>
          <a:bodyPr wrap="square" lIns="0" tIns="0" rIns="0" bIns="0" rtlCol="0" anchor="t"/>
          <a:lstStyle/>
          <a:p>
            <a:pPr algn="ctr" indent="0" marL="0">
              <a:buNone/>
            </a:pPr>
            <a:r>
              <a:rPr lang="en-US" sz="1200" dirty="0">
                <a:solidFill>
                  <a:srgbClr val="1B2530"/>
                </a:solidFill>
                <a:latin typeface="Courier New" pitchFamily="34" charset="0"/>
                <a:ea typeface="Courier New" pitchFamily="34" charset="-122"/>
                <a:cs typeface="Courier New" pitchFamily="34" charset="-120"/>
              </a:rPr>
              <a:t>00</a:t>
            </a:r>
            <a:endParaRPr lang="en-US" sz="1200" dirty="0"/>
          </a:p>
        </p:txBody>
      </p:sp>
      <p:sp>
        <p:nvSpPr>
          <p:cNvPr id="52" name="Shape 50"/>
          <p:cNvSpPr/>
          <p:nvPr/>
        </p:nvSpPr>
        <p:spPr>
          <a:xfrm>
            <a:off x="548640" y="4846320"/>
            <a:ext cx="11094415" cy="1325880"/>
          </a:xfrm>
          <a:prstGeom prst="roundRect">
            <a:avLst>
              <a:gd name="adj" fmla="val 5517"/>
            </a:avLst>
          </a:prstGeom>
          <a:solidFill>
            <a:srgbClr val="D8ECEE"/>
          </a:solidFill>
          <a:ln w="12700">
            <a:solidFill>
              <a:srgbClr val="D8ECEE"/>
            </a:solidFill>
            <a:prstDash val="solid"/>
          </a:ln>
        </p:spPr>
      </p:sp>
      <p:sp>
        <p:nvSpPr>
          <p:cNvPr id="53" name="Text 51"/>
          <p:cNvSpPr txBox="1"/>
          <p:nvPr/>
        </p:nvSpPr>
        <p:spPr>
          <a:xfrm>
            <a:off x="822960" y="4892040"/>
            <a:ext cx="10545775" cy="123444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z di .asciz significa terminata da zero: l'assemblatore memorizza dodici byte per undici caratteri. prg32_gfx_text8 riceve in a2 solo l'indirizzo del primo byte, e legge finché non trova lo zero.</a:t>
            </a:r>
            <a:endParaRPr lang="en-US" sz="1700" dirty="0"/>
          </a:p>
        </p:txBody>
      </p:sp>
      <p:sp>
        <p:nvSpPr>
          <p:cNvPr id="54" name="Shape 52"/>
          <p:cNvSpPr/>
          <p:nvPr/>
        </p:nvSpPr>
        <p:spPr>
          <a:xfrm>
            <a:off x="7920304" y="91440"/>
            <a:ext cx="3722751" cy="274320"/>
          </a:xfrm>
          <a:prstGeom prst="rect">
            <a:avLst/>
          </a:prstGeom>
          <a:solidFill>
            <a:srgbClr val="E0F2FE"/>
          </a:solidFill>
          <a:ln w="12700">
            <a:solidFill>
              <a:srgbClr val="0369A1"/>
            </a:solidFill>
            <a:prstDash val="solid"/>
          </a:ln>
        </p:spPr>
      </p:sp>
      <p:sp>
        <p:nvSpPr>
          <p:cNvPr id="55" name="Shape 53"/>
          <p:cNvSpPr/>
          <p:nvPr/>
        </p:nvSpPr>
        <p:spPr>
          <a:xfrm>
            <a:off x="7920304" y="91440"/>
            <a:ext cx="73152" cy="274320"/>
          </a:xfrm>
          <a:prstGeom prst="rect">
            <a:avLst/>
          </a:prstGeom>
          <a:solidFill>
            <a:srgbClr val="0369A1"/>
          </a:solidFill>
          <a:ln w="12700">
            <a:solidFill>
              <a:srgbClr val="0369A1"/>
            </a:solidFill>
            <a:prstDash val="solid"/>
          </a:ln>
        </p:spPr>
      </p:sp>
      <p:pic>
        <p:nvPicPr>
          <p:cNvPr id="5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57" name="Text 5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Unicode e UTF-8: ogni sistema di scrittura</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18757"/>
                <a:gridCol w="2364384"/>
                <a:gridCol w="3091886"/>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Carattere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Code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 UTF-8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Lunghezza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41</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byte: identico all'ASCII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è</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U+00E8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C3 A8</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U+20AC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E2 82 AC</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日</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U+65E5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E6 97 A5</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U+1F600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ourier New" pitchFamily="34" charset="0"/>
                          <a:ea typeface="Courier New" pitchFamily="34" charset="-122"/>
                          <a:cs typeface="Courier New" pitchFamily="34" charset="-120"/>
                        </a:rPr>
                        <a:t>F0 9F 98 80</a:t>
                      </a:r>
                      <a:endParaRPr lang="en-US" sz="21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Unicode dà un numero a ogni carattere; UTF-8 lo memorizza in uno-quattro byte, e il testo ASCII puro è già UTF-8 valido.</a:t>
            </a:r>
            <a:endParaRPr lang="en-US" sz="1400" dirty="0"/>
          </a:p>
        </p:txBody>
      </p:sp>
      <p:sp>
        <p:nvSpPr>
          <p:cNvPr id="5" name="Shape 2"/>
          <p:cNvSpPr/>
          <p:nvPr/>
        </p:nvSpPr>
        <p:spPr>
          <a:xfrm>
            <a:off x="7920304" y="91440"/>
            <a:ext cx="3722751" cy="274320"/>
          </a:xfrm>
          <a:prstGeom prst="rect">
            <a:avLst/>
          </a:prstGeom>
          <a:solidFill>
            <a:srgbClr val="E0F2FE"/>
          </a:solidFill>
          <a:ln w="12700">
            <a:solidFill>
              <a:srgbClr val="0369A1"/>
            </a:solidFill>
            <a:prstDash val="solid"/>
          </a:ln>
        </p:spPr>
      </p:sp>
      <p:sp>
        <p:nvSpPr>
          <p:cNvPr id="6" name="Shape 3"/>
          <p:cNvSpPr/>
          <p:nvPr/>
        </p:nvSpPr>
        <p:spPr>
          <a:xfrm>
            <a:off x="7920304"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8" name="Text 4"/>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caratteri e stringhe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Ordine dei byte: little-endian</a:t>
            </a:r>
            <a:endParaRPr lang="en-US" sz="3200" dirty="0"/>
          </a:p>
        </p:txBody>
      </p:sp>
      <p:sp>
        <p:nvSpPr>
          <p:cNvPr id="3" name="Text 1"/>
          <p:cNvSpPr txBox="1"/>
          <p:nvPr/>
        </p:nvSpPr>
        <p:spPr>
          <a:xfrm>
            <a:off x="548640" y="1371600"/>
            <a:ext cx="11094415" cy="457200"/>
          </a:xfrm>
          <a:prstGeom prst="rect">
            <a:avLst/>
          </a:prstGeom>
          <a:noFill/>
          <a:ln/>
        </p:spPr>
        <p:txBody>
          <a:bodyPr wrap="square" lIns="0" tIns="0" rIns="0" bIns="0" rtlCol="0" anchor="t"/>
          <a:lstStyle/>
          <a:p>
            <a:pPr algn="ctr" indent="0" marL="0">
              <a:buNone/>
            </a:pPr>
            <a:r>
              <a:rPr lang="en-US" sz="2400" b="1" dirty="0">
                <a:solidFill>
                  <a:srgbClr val="2E4A62"/>
                </a:solidFill>
                <a:latin typeface="Courier New" pitchFamily="34" charset="0"/>
                <a:ea typeface="Courier New" pitchFamily="34" charset="-122"/>
                <a:cs typeface="Courier New" pitchFamily="34" charset="-120"/>
              </a:rPr>
              <a:t>value: .word 0x12345678</a:t>
            </a:r>
            <a:endParaRPr lang="en-US" sz="2400" dirty="0"/>
          </a:p>
        </p:txBody>
      </p:sp>
      <p:sp>
        <p:nvSpPr>
          <p:cNvPr id="4" name="Text 2"/>
          <p:cNvSpPr txBox="1"/>
          <p:nvPr/>
        </p:nvSpPr>
        <p:spPr>
          <a:xfrm>
            <a:off x="548640" y="23317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little-endian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(RISC-V, x86, ARM)</a:t>
            </a:r>
            <a:endParaRPr lang="en-US" sz="1600" dirty="0"/>
          </a:p>
        </p:txBody>
      </p:sp>
      <p:sp>
        <p:nvSpPr>
          <p:cNvPr id="5" name="Text 3"/>
          <p:cNvSpPr txBox="1"/>
          <p:nvPr/>
        </p:nvSpPr>
        <p:spPr>
          <a:xfrm>
            <a:off x="4206240" y="23317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6" name="Text 4"/>
          <p:cNvSpPr txBox="1"/>
          <p:nvPr/>
        </p:nvSpPr>
        <p:spPr>
          <a:xfrm>
            <a:off x="42062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A+0</a:t>
            </a:r>
            <a:endParaRPr lang="en-US" sz="1050" dirty="0"/>
          </a:p>
        </p:txBody>
      </p:sp>
      <p:sp>
        <p:nvSpPr>
          <p:cNvPr id="7" name="Text 5"/>
          <p:cNvSpPr txBox="1"/>
          <p:nvPr/>
        </p:nvSpPr>
        <p:spPr>
          <a:xfrm>
            <a:off x="5577840" y="23317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8" name="Text 6"/>
          <p:cNvSpPr txBox="1"/>
          <p:nvPr/>
        </p:nvSpPr>
        <p:spPr>
          <a:xfrm>
            <a:off x="55778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A+1</a:t>
            </a:r>
            <a:endParaRPr lang="en-US" sz="1050" dirty="0"/>
          </a:p>
        </p:txBody>
      </p:sp>
      <p:sp>
        <p:nvSpPr>
          <p:cNvPr id="9" name="Text 7"/>
          <p:cNvSpPr txBox="1"/>
          <p:nvPr/>
        </p:nvSpPr>
        <p:spPr>
          <a:xfrm>
            <a:off x="6949440" y="23317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0" name="Text 8"/>
          <p:cNvSpPr txBox="1"/>
          <p:nvPr/>
        </p:nvSpPr>
        <p:spPr>
          <a:xfrm>
            <a:off x="69494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A+2</a:t>
            </a:r>
            <a:endParaRPr lang="en-US" sz="1050" dirty="0"/>
          </a:p>
        </p:txBody>
      </p:sp>
      <p:sp>
        <p:nvSpPr>
          <p:cNvPr id="11" name="Text 9"/>
          <p:cNvSpPr txBox="1"/>
          <p:nvPr/>
        </p:nvSpPr>
        <p:spPr>
          <a:xfrm>
            <a:off x="8321040" y="23317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2" name="Text 10"/>
          <p:cNvSpPr txBox="1"/>
          <p:nvPr/>
        </p:nvSpPr>
        <p:spPr>
          <a:xfrm>
            <a:off x="8321040" y="20848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A+3</a:t>
            </a:r>
            <a:endParaRPr lang="en-US" sz="1050" dirty="0"/>
          </a:p>
        </p:txBody>
      </p:sp>
      <p:sp>
        <p:nvSpPr>
          <p:cNvPr id="13" name="Text 11"/>
          <p:cNvSpPr txBox="1"/>
          <p:nvPr/>
        </p:nvSpPr>
        <p:spPr>
          <a:xfrm>
            <a:off x="548640" y="3703320"/>
            <a:ext cx="3383280" cy="731520"/>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big-endian</a:t>
            </a:r>
            <a:endParaRPr lang="en-US" sz="1600" dirty="0"/>
          </a:p>
          <a:p>
            <a:pPr algn="r" indent="0" marL="0">
              <a:buNone/>
            </a:pPr>
            <a:r>
              <a:rPr lang="en-US" sz="1600" b="1" dirty="0">
                <a:solidFill>
                  <a:srgbClr val="1B2530"/>
                </a:solidFill>
                <a:latin typeface="Calibri" pitchFamily="34" charset="0"/>
                <a:ea typeface="Calibri" pitchFamily="34" charset="-122"/>
                <a:cs typeface="Calibri" pitchFamily="34" charset="-120"/>
              </a:rPr>
              <a:t>(protocolli di rete)</a:t>
            </a:r>
            <a:endParaRPr lang="en-US" sz="1600" dirty="0"/>
          </a:p>
        </p:txBody>
      </p:sp>
      <p:sp>
        <p:nvSpPr>
          <p:cNvPr id="14" name="Text 12"/>
          <p:cNvSpPr txBox="1"/>
          <p:nvPr/>
        </p:nvSpPr>
        <p:spPr>
          <a:xfrm>
            <a:off x="4206240" y="3703320"/>
            <a:ext cx="1371600" cy="73152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12</a:t>
            </a:r>
            <a:endParaRPr lang="en-US" sz="2400" dirty="0"/>
          </a:p>
        </p:txBody>
      </p:sp>
      <p:sp>
        <p:nvSpPr>
          <p:cNvPr id="15" name="Text 13"/>
          <p:cNvSpPr txBox="1"/>
          <p:nvPr/>
        </p:nvSpPr>
        <p:spPr>
          <a:xfrm>
            <a:off x="42062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A+0</a:t>
            </a:r>
            <a:endParaRPr lang="en-US" sz="1050" dirty="0"/>
          </a:p>
        </p:txBody>
      </p:sp>
      <p:sp>
        <p:nvSpPr>
          <p:cNvPr id="16" name="Text 14"/>
          <p:cNvSpPr txBox="1"/>
          <p:nvPr/>
        </p:nvSpPr>
        <p:spPr>
          <a:xfrm>
            <a:off x="5577840" y="3703320"/>
            <a:ext cx="1371600" cy="73152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34</a:t>
            </a:r>
            <a:endParaRPr lang="en-US" sz="2400" dirty="0"/>
          </a:p>
        </p:txBody>
      </p:sp>
      <p:sp>
        <p:nvSpPr>
          <p:cNvPr id="17" name="Text 15"/>
          <p:cNvSpPr txBox="1"/>
          <p:nvPr/>
        </p:nvSpPr>
        <p:spPr>
          <a:xfrm>
            <a:off x="55778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A+1</a:t>
            </a:r>
            <a:endParaRPr lang="en-US" sz="1050" dirty="0"/>
          </a:p>
        </p:txBody>
      </p:sp>
      <p:sp>
        <p:nvSpPr>
          <p:cNvPr id="18" name="Text 16"/>
          <p:cNvSpPr txBox="1"/>
          <p:nvPr/>
        </p:nvSpPr>
        <p:spPr>
          <a:xfrm>
            <a:off x="6949440" y="3703320"/>
            <a:ext cx="1371600" cy="73152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56</a:t>
            </a:r>
            <a:endParaRPr lang="en-US" sz="2400" dirty="0"/>
          </a:p>
        </p:txBody>
      </p:sp>
      <p:sp>
        <p:nvSpPr>
          <p:cNvPr id="19" name="Text 17"/>
          <p:cNvSpPr txBox="1"/>
          <p:nvPr/>
        </p:nvSpPr>
        <p:spPr>
          <a:xfrm>
            <a:off x="69494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A+2</a:t>
            </a:r>
            <a:endParaRPr lang="en-US" sz="1050" dirty="0"/>
          </a:p>
        </p:txBody>
      </p:sp>
      <p:sp>
        <p:nvSpPr>
          <p:cNvPr id="20" name="Text 18"/>
          <p:cNvSpPr txBox="1"/>
          <p:nvPr/>
        </p:nvSpPr>
        <p:spPr>
          <a:xfrm>
            <a:off x="8321040" y="3703320"/>
            <a:ext cx="1371600" cy="73152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400" b="1" dirty="0">
                <a:solidFill>
                  <a:srgbClr val="FFFFFF"/>
                </a:solidFill>
                <a:latin typeface="Courier New" pitchFamily="34" charset="0"/>
                <a:ea typeface="Courier New" pitchFamily="34" charset="-122"/>
                <a:cs typeface="Courier New" pitchFamily="34" charset="-120"/>
              </a:rPr>
              <a:t>78</a:t>
            </a:r>
            <a:endParaRPr lang="en-US" sz="2400" dirty="0"/>
          </a:p>
        </p:txBody>
      </p:sp>
      <p:sp>
        <p:nvSpPr>
          <p:cNvPr id="21" name="Text 19"/>
          <p:cNvSpPr txBox="1"/>
          <p:nvPr/>
        </p:nvSpPr>
        <p:spPr>
          <a:xfrm>
            <a:off x="8321040" y="3456432"/>
            <a:ext cx="1371600" cy="228600"/>
          </a:xfrm>
          <a:prstGeom prst="rect">
            <a:avLst/>
          </a:prstGeom>
          <a:noFill/>
          <a:ln/>
        </p:spPr>
        <p:txBody>
          <a:bodyPr wrap="square" lIns="0" tIns="0" rIns="0" bIns="0" rtlCol="0" anchor="t"/>
          <a:lstStyle/>
          <a:p>
            <a:pPr algn="ctr" indent="0" marL="0">
              <a:buNone/>
            </a:pPr>
            <a:r>
              <a:rPr lang="en-US" sz="1050" dirty="0">
                <a:solidFill>
                  <a:srgbClr val="5B6B78"/>
                </a:solidFill>
                <a:latin typeface="Courier New" pitchFamily="34" charset="0"/>
                <a:ea typeface="Courier New" pitchFamily="34" charset="-122"/>
                <a:cs typeface="Courier New" pitchFamily="34" charset="-120"/>
              </a:rPr>
              <a:t>indirizzo A+3</a:t>
            </a:r>
            <a:endParaRPr lang="en-US" sz="1050" dirty="0"/>
          </a:p>
        </p:txBody>
      </p:sp>
      <p:sp>
        <p:nvSpPr>
          <p:cNvPr id="22" name="Shape 20"/>
          <p:cNvSpPr/>
          <p:nvPr/>
        </p:nvSpPr>
        <p:spPr>
          <a:xfrm>
            <a:off x="548640" y="4647438"/>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457200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Una parola sono quattro byte, e la memoria si indirizza byte per byte: in che ordine vanno?</a:t>
            </a:r>
            <a:endParaRPr lang="en-US" sz="1800" dirty="0"/>
          </a:p>
        </p:txBody>
      </p:sp>
      <p:sp>
        <p:nvSpPr>
          <p:cNvPr id="24" name="Shape 22"/>
          <p:cNvSpPr/>
          <p:nvPr/>
        </p:nvSpPr>
        <p:spPr>
          <a:xfrm>
            <a:off x="548640" y="5168646"/>
            <a:ext cx="146304" cy="146304"/>
          </a:xfrm>
          <a:prstGeom prst="rect">
            <a:avLst/>
          </a:prstGeom>
          <a:solidFill>
            <a:srgbClr val="C7791B"/>
          </a:solidFill>
          <a:ln w="12700">
            <a:solidFill>
              <a:srgbClr val="C7791B"/>
            </a:solidFill>
            <a:prstDash val="solid"/>
          </a:ln>
        </p:spPr>
      </p:sp>
      <p:sp>
        <p:nvSpPr>
          <p:cNvPr id="25" name="Text 23"/>
          <p:cNvSpPr txBox="1"/>
          <p:nvPr/>
        </p:nvSpPr>
        <p:spPr>
          <a:xfrm>
            <a:off x="932688" y="5093208"/>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Little-endian: il byte meno significativo all'indirizzo più basso. È ciò che fanno lw e sw su RISC-V</a:t>
            </a:r>
            <a:endParaRPr lang="en-US" sz="1800" dirty="0"/>
          </a:p>
        </p:txBody>
      </p:sp>
      <p:sp>
        <p:nvSpPr>
          <p:cNvPr id="26" name="Shape 24"/>
          <p:cNvSpPr/>
          <p:nvPr/>
        </p:nvSpPr>
        <p:spPr>
          <a:xfrm>
            <a:off x="548640" y="5968746"/>
            <a:ext cx="146304" cy="146304"/>
          </a:xfrm>
          <a:prstGeom prst="rect">
            <a:avLst/>
          </a:prstGeom>
          <a:solidFill>
            <a:srgbClr val="0E7C86"/>
          </a:solidFill>
          <a:ln w="12700">
            <a:solidFill>
              <a:srgbClr val="0E7C86"/>
            </a:solidFill>
            <a:prstDash val="solid"/>
          </a:ln>
        </p:spPr>
      </p:sp>
      <p:sp>
        <p:nvSpPr>
          <p:cNvPr id="27" name="Text 25"/>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Ve ne accorgete guardando la memoria in un debugger, o scambiando dati con un'altra macchina</a:t>
            </a:r>
            <a:endParaRPr lang="en-US" sz="1800" dirty="0"/>
          </a:p>
        </p:txBody>
      </p:sp>
      <p:sp>
        <p:nvSpPr>
          <p:cNvPr id="28" name="Shape 26"/>
          <p:cNvSpPr/>
          <p:nvPr/>
        </p:nvSpPr>
        <p:spPr>
          <a:xfrm>
            <a:off x="7788986" y="91440"/>
            <a:ext cx="3854069" cy="274320"/>
          </a:xfrm>
          <a:prstGeom prst="rect">
            <a:avLst/>
          </a:prstGeom>
          <a:solidFill>
            <a:srgbClr val="E0F2FE"/>
          </a:solidFill>
          <a:ln w="12700">
            <a:solidFill>
              <a:srgbClr val="0369A1"/>
            </a:solidFill>
            <a:prstDash val="solid"/>
          </a:ln>
        </p:spPr>
      </p:sp>
      <p:sp>
        <p:nvSpPr>
          <p:cNvPr id="29" name="Shape 27"/>
          <p:cNvSpPr/>
          <p:nvPr/>
        </p:nvSpPr>
        <p:spPr>
          <a:xfrm>
            <a:off x="7788986" y="91440"/>
            <a:ext cx="73152" cy="274320"/>
          </a:xfrm>
          <a:prstGeom prst="rect">
            <a:avLst/>
          </a:prstGeom>
          <a:solidFill>
            <a:srgbClr val="0369A1"/>
          </a:solidFill>
          <a:ln w="12700">
            <a:solidFill>
              <a:srgbClr val="0369A1"/>
            </a:solidFill>
            <a:prstDash val="solid"/>
          </a:ln>
        </p:spPr>
      </p:sp>
      <p:pic>
        <p:nvPicPr>
          <p:cNvPr id="30" name="Image 0" descr="preencoded.png">    </p:cNvPr>
          <p:cNvPicPr>
            <a:picLocks noChangeAspect="1"/>
          </p:cNvPicPr>
          <p:nvPr/>
        </p:nvPicPr>
        <p:blipFill>
          <a:blip r:embed="rId1"/>
          <a:stretch>
            <a:fillRect/>
          </a:stretch>
        </p:blipFill>
        <p:spPr>
          <a:xfrm>
            <a:off x="7917002" y="128016"/>
            <a:ext cx="201168" cy="201168"/>
          </a:xfrm>
          <a:prstGeom prst="rect">
            <a:avLst/>
          </a:prstGeom>
        </p:spPr>
      </p:pic>
      <p:sp>
        <p:nvSpPr>
          <p:cNvPr id="31" name="Text 28"/>
          <p:cNvSpPr txBox="1"/>
          <p:nvPr/>
        </p:nvSpPr>
        <p:spPr>
          <a:xfrm>
            <a:off x="8173034" y="91440"/>
            <a:ext cx="343344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l'ordine little-endian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Cinque modi di organizzare i dati</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Vettore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Elementi dello stesso tipo, uno dopo l'altro, raggiunti per indice: 32, 11, 34, 22.</a:t>
            </a:r>
            <a:endParaRPr lang="en-US" sz="17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Lista</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Elementi collegati l'uno al successivo: economico inserire e togliere, lento raggiungere una posizione.</a:t>
            </a:r>
            <a:endParaRPr lang="en-US" sz="17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Pila</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L'ultimo a entrare è il primo a uscire: push aggiunge in cima, pop toglie dalla cima.</a:t>
            </a:r>
            <a:endParaRPr lang="en-US" sz="17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Dizionario</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Coppie chiave-valore: NA dà NAPOLI, PA dà PALERMO, MI dà MILANO.</a:t>
            </a:r>
            <a:endParaRPr lang="en-US" sz="17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Albero</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Una gerarchia: un animale cammina o nuota, ha polmoni o branchie, due zampe o quattro.</a:t>
            </a:r>
            <a:endParaRPr lang="en-US" sz="17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Nella macchina</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700" dirty="0">
                <a:solidFill>
                  <a:srgbClr val="1B2530"/>
                </a:solidFill>
                <a:latin typeface="Calibri" pitchFamily="34" charset="0"/>
                <a:ea typeface="Calibri" pitchFamily="34" charset="-122"/>
                <a:cs typeface="Calibri" pitchFamily="34" charset="-120"/>
              </a:rPr>
              <a:t>Sono tutti byte in memoria più una regola per trovare l'elemento successivo.</a:t>
            </a:r>
            <a:endParaRPr lang="en-US" sz="1700" dirty="0"/>
          </a:p>
        </p:txBody>
      </p:sp>
      <p:sp>
        <p:nvSpPr>
          <p:cNvPr id="27" name="Shape 25"/>
          <p:cNvSpPr/>
          <p:nvPr/>
        </p:nvSpPr>
        <p:spPr>
          <a:xfrm>
            <a:off x="8117281" y="91440"/>
            <a:ext cx="3525774" cy="274320"/>
          </a:xfrm>
          <a:prstGeom prst="rect">
            <a:avLst/>
          </a:prstGeom>
          <a:solidFill>
            <a:srgbClr val="E0F2FE"/>
          </a:solidFill>
          <a:ln w="12700">
            <a:solidFill>
              <a:srgbClr val="0369A1"/>
            </a:solidFill>
            <a:prstDash val="solid"/>
          </a:ln>
        </p:spPr>
      </p:sp>
      <p:sp>
        <p:nvSpPr>
          <p:cNvPr id="28" name="Shape 26"/>
          <p:cNvSpPr/>
          <p:nvPr/>
        </p:nvSpPr>
        <p:spPr>
          <a:xfrm>
            <a:off x="8117281"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8245297" y="128016"/>
            <a:ext cx="201168" cy="201168"/>
          </a:xfrm>
          <a:prstGeom prst="rect">
            <a:avLst/>
          </a:prstGeom>
        </p:spPr>
      </p:pic>
      <p:sp>
        <p:nvSpPr>
          <p:cNvPr id="30" name="Text 27"/>
          <p:cNvSpPr txBox="1"/>
          <p:nvPr/>
        </p:nvSpPr>
        <p:spPr>
          <a:xfrm>
            <a:off x="8501329" y="91440"/>
            <a:ext cx="310515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le strutture dati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Algoritmi e calcolabilità</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problema è calcolabile se si può risolvere con un algoritmo</a:t>
            </a:r>
            <a:endParaRPr lang="en-US" sz="2200" dirty="0"/>
          </a:p>
        </p:txBody>
      </p:sp>
      <p:sp>
        <p:nvSpPr>
          <p:cNvPr id="5" name="Shape 3"/>
          <p:cNvSpPr/>
          <p:nvPr/>
        </p:nvSpPr>
        <p:spPr>
          <a:xfrm>
            <a:off x="548640" y="238192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5501"/>
            <a:ext cx="65653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macchina di Turing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un calcolatore ideale dotato di programma, espresso matematicamente con insiemi, relazioni e funzioni</a:t>
            </a:r>
            <a:endParaRPr lang="en-US" sz="2200" dirty="0"/>
          </a:p>
        </p:txBody>
      </p:sp>
      <p:sp>
        <p:nvSpPr>
          <p:cNvPr id="7" name="Shape 5"/>
          <p:cNvSpPr/>
          <p:nvPr/>
        </p:nvSpPr>
        <p:spPr>
          <a:xfrm>
            <a:off x="548640" y="38189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2549"/>
            <a:ext cx="65653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macchina di von Neumann</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l'architettura di calcolo capace di eseguire un programma che realizza un algoritmo per la macchina di Turing</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 problema che nessun algoritmo su una macchina di Turing può risolvere non può essere risolto da alcun calcolatore</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Non ogni problema ha un algoritmo: ad alcune domande nessun calcolatore risponderà mai</a:t>
            </a:r>
            <a:endParaRPr lang="en-US" sz="1900" dirty="0"/>
          </a:p>
        </p:txBody>
      </p:sp>
      <p:sp>
        <p:nvSpPr>
          <p:cNvPr id="14" name="Shape 12"/>
          <p:cNvSpPr/>
          <p:nvPr/>
        </p:nvSpPr>
        <p:spPr>
          <a:xfrm>
            <a:off x="8379917" y="91440"/>
            <a:ext cx="3263138" cy="274320"/>
          </a:xfrm>
          <a:prstGeom prst="rect">
            <a:avLst/>
          </a:prstGeom>
          <a:solidFill>
            <a:srgbClr val="E0F2FE"/>
          </a:solidFill>
          <a:ln w="12700">
            <a:solidFill>
              <a:srgbClr val="0369A1"/>
            </a:solidFill>
            <a:prstDash val="solid"/>
          </a:ln>
        </p:spPr>
      </p:sp>
      <p:sp>
        <p:nvSpPr>
          <p:cNvPr id="15" name="Shape 13"/>
          <p:cNvSpPr/>
          <p:nvPr/>
        </p:nvSpPr>
        <p:spPr>
          <a:xfrm>
            <a:off x="8379917"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7" name="Text 14"/>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algoritmi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Algoritmi deterministici e non deterministici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Deterministici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Per ogni istruzione esiste, a parità di ingresso, un solo passo successivo</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Il percorso dell'algoritmo esiste ed è unico: y = f(x)</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la conversione di un'unità di misura</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first_update, che somma sempre uno</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Non deterministici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parità di ingresso possono comportarsi in modo diverso a ogni esecuzione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Gli algoritmi probabilistici usano un generatore di numeri casuali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Gli algoritmi concorrenti possono dipendere dai tempi (race condition)</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Esempio: un gioco che piazza il nemico con prg32_random_number</a:t>
            </a:r>
            <a:endParaRPr lang="en-US" sz="1900" dirty="0"/>
          </a:p>
        </p:txBody>
      </p:sp>
      <p:sp>
        <p:nvSpPr>
          <p:cNvPr id="9" name="Shape 7"/>
          <p:cNvSpPr/>
          <p:nvPr/>
        </p:nvSpPr>
        <p:spPr>
          <a:xfrm>
            <a:off x="8379917" y="91440"/>
            <a:ext cx="3263138" cy="274320"/>
          </a:xfrm>
          <a:prstGeom prst="rect">
            <a:avLst/>
          </a:prstGeom>
          <a:solidFill>
            <a:srgbClr val="E0F2FE"/>
          </a:solidFill>
          <a:ln w="12700">
            <a:solidFill>
              <a:srgbClr val="0369A1"/>
            </a:solidFill>
            <a:prstDash val="solid"/>
          </a:ln>
        </p:spPr>
      </p:sp>
      <p:sp>
        <p:nvSpPr>
          <p:cNvPr id="10" name="Shape 8"/>
          <p:cNvSpPr/>
          <p:nvPr/>
        </p:nvSpPr>
        <p:spPr>
          <a:xfrm>
            <a:off x="837991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507933" y="128016"/>
            <a:ext cx="201168" cy="201168"/>
          </a:xfrm>
          <a:prstGeom prst="rect">
            <a:avLst/>
          </a:prstGeom>
        </p:spPr>
      </p:pic>
      <p:sp>
        <p:nvSpPr>
          <p:cNvPr id="12" name="Text 9"/>
          <p:cNvSpPr txBox="1"/>
          <p:nvPr/>
        </p:nvSpPr>
        <p:spPr>
          <a:xfrm>
            <a:off x="8763965" y="91440"/>
            <a:ext cx="284251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gli algoritmi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Machine learning</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metodo di analisi dei dati che automatizza la costruzione di un modello analitico</a:t>
            </a:r>
            <a:endParaRPr lang="en-US" sz="2000" dirty="0"/>
          </a:p>
        </p:txBody>
      </p:sp>
      <p:sp>
        <p:nvSpPr>
          <p:cNvPr id="5" name="Shape 3"/>
          <p:cNvSpPr/>
          <p:nvPr/>
        </p:nvSpPr>
        <p:spPr>
          <a:xfrm>
            <a:off x="548640" y="24011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0257"/>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calcolatore trova schemi nascosti senza essere programmato esplicitamente su dove cercare</a:t>
            </a:r>
            <a:endParaRPr lang="en-US" sz="2000" dirty="0"/>
          </a:p>
        </p:txBody>
      </p:sp>
      <p:sp>
        <p:nvSpPr>
          <p:cNvPr id="7" name="Shape 5"/>
          <p:cNvSpPr/>
          <p:nvPr/>
        </p:nvSpPr>
        <p:spPr>
          <a:xfrm>
            <a:off x="548640" y="329412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3194"/>
            <a:ext cx="6565392" cy="118313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modelli generativi di oggi sono la stessa idea su scala enorme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 grande modello linguistico prevede il prossimo frammento di testo a partire da miliardi di numeri appresi</a:t>
            </a:r>
            <a:endParaRPr lang="en-US" sz="2000" dirty="0"/>
          </a:p>
        </p:txBody>
      </p:sp>
      <p:sp>
        <p:nvSpPr>
          <p:cNvPr id="9" name="Shape 7"/>
          <p:cNvSpPr/>
          <p:nvPr/>
        </p:nvSpPr>
        <p:spPr>
          <a:xfrm>
            <a:off x="548640" y="47504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595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Quei numeri sono bit in memoria, moltiplicati e sommati da processori: l'argomento di questo corso</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modello può sbagliare con grande sicurezza: per controllarlo servono i fondamenti</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y = f(x)</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Un programma classico è scritto da una persona. Nel machine learning, f si impara dagli esempi.</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valori diversi può rappresentare un byte?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16</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Il colore PRG32 0xF81F è:</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rosso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magenta</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ciano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giallo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Quanti byte occupa in memoria .asciz "CIAO"?</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Su RISC-V, .word 0x0000ABCD è memorizzata all'indirizzo A. Quale byte si trova all'indirizzo A?</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0x00</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0xAB</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0xCD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0xDC</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641527"/>
                <a:gridCol w="281762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bit / byte /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 byte / parola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stringa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positional notation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notazione posizionale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vettore (array)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hexadecimal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esadecimale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linked list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lista concatenata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sampling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campionamento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pila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quantisation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quantizzazione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tree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albero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byte order (endianness)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ordinamento dei byte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machine learning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apprendimento automatico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L'informazione digitale è una configurazione di bit più una convenzione per leggerla</a:t>
            </a:r>
            <a:endParaRPr lang="en-US" sz="2000" dirty="0"/>
          </a:p>
        </p:txBody>
      </p:sp>
      <p:sp>
        <p:nvSpPr>
          <p:cNvPr id="5" name="Shape 3"/>
          <p:cNvSpPr/>
          <p:nvPr/>
        </p:nvSpPr>
        <p:spPr>
          <a:xfrm>
            <a:off x="548640" y="20313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040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Gli stessi sedici bit possono essere un numero, un colore o due caratteri: decide il programma</a:t>
            </a:r>
            <a:endParaRPr lang="en-US" sz="2000" dirty="0"/>
          </a:p>
        </p:txBody>
      </p:sp>
      <p:sp>
        <p:nvSpPr>
          <p:cNvPr id="7" name="Shape 5"/>
          <p:cNvSpPr/>
          <p:nvPr/>
        </p:nvSpPr>
        <p:spPr>
          <a:xfrm>
            <a:off x="548640" y="286430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73375"/>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L'esadecimale è una scrittura compatta del binario, quattro bit per cifra</a:t>
            </a:r>
            <a:endParaRPr lang="en-US" sz="2000" dirty="0"/>
          </a:p>
        </p:txBody>
      </p:sp>
      <p:sp>
        <p:nvSpPr>
          <p:cNvPr id="9" name="Shape 7"/>
          <p:cNvSpPr/>
          <p:nvPr/>
        </p:nvSpPr>
        <p:spPr>
          <a:xfrm>
            <a:off x="548640" y="338739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96463"/>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testo è fatto di numeri (ASCII, UTF-8); le strutture sono byte più una regola per trovare l'elemento successivo</a:t>
            </a:r>
            <a:endParaRPr lang="en-US" sz="2000" dirty="0"/>
          </a:p>
        </p:txBody>
      </p:sp>
      <p:sp>
        <p:nvSpPr>
          <p:cNvPr id="11" name="Shape 9"/>
          <p:cNvSpPr/>
          <p:nvPr/>
        </p:nvSpPr>
        <p:spPr>
          <a:xfrm>
            <a:off x="548640" y="42203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29430"/>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dati sono la moneta di questo regno; gli algoritmi trasformano i dati in informazione utile alle decisioni</a:t>
            </a:r>
            <a:endParaRPr lang="en-US" sz="2000" dirty="0"/>
          </a:p>
        </p:txBody>
      </p:sp>
      <p:sp>
        <p:nvSpPr>
          <p:cNvPr id="13" name="Shape 11"/>
          <p:cNvSpPr/>
          <p:nvPr/>
        </p:nvSpPr>
        <p:spPr>
          <a:xfrm>
            <a:off x="548640" y="505333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62398"/>
            <a:ext cx="10710367" cy="120980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Struttura e progetto dei calcolatori, edizione RISC-V, paragrafi 2.4 e 2.9</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Charles Petzold: Code, i capitoli su bit, byte e testo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Sebastian Raschka: Machine Learning with Python (suggerito nel corso originale)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Rappresentare l'informazione digitale</dc:title>
  <dc:subject>Lezione 04</dc:subject>
  <dc:creator>Raffaele Montella</dc:creator>
  <cp:lastModifiedBy>Raffaele Montella</cp:lastModifiedBy>
  <cp:revision>1</cp:revision>
  <dcterms:created xsi:type="dcterms:W3CDTF">2026-10-16T20:22:25Z</dcterms:created>
  <dcterms:modified xsi:type="dcterms:W3CDTF">2026-10-16T20:22:25Z</dcterms:modified>
</cp:coreProperties>
</file>