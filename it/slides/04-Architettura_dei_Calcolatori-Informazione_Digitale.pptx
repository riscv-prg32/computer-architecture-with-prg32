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2ed533d-2c37-6b2d-188c-808b539fb936}">
          <p14:sldIdLst>
            <p14:sldId id="256"/>
            <p14:sldId id="257"/>
          </p14:sldIdLst>
        </p14:section>
        <p14:section name="Informazione" id="{99cd075e-031d-43ae-852c-0ad823c91fe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esto" id="{98eedd9c-393f-142a-5360-c05238a713f4}">
          <p14:sldIdLst>
            <p14:sldId id="267"/>
            <p14:sldId id="268"/>
            <p14:sldId id="269"/>
            <p14:sldId id="270"/>
            <p14:sldId id="271"/>
          </p14:sldIdLst>
        </p14:section>
        <p14:section name="Strutture dati" id="{7e2127db-7678-a623-11d5-8f8a0a7d0b76}">
          <p14:sldIdLst>
            <p14:sldId id="272"/>
            <p14:sldId id="273"/>
            <p14:sldId id="274"/>
          </p14:sldIdLst>
        </p14:section>
        <p14:section name="Dati e algoritmi" id="{192df4b5-43fb-52a5-10f9-1be8fa3e7250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Nella Lezione 02 avete battuto 0x07e0, 255, .asciz e .word senza sapere esattamente che cosa fossero. Questa lezione dà loro un nome. La tesi sta nel sottotitolo: dentro la macchina tutto è una configurazione di bit, che si tratti di un numero, di un colore, di una lettera o di un elenco. La lezione è ampia più che profonda: i numeri sono trattati formalmente nelle due lezioni successive; qui imparate a leggere i bit e a vedere che il loro significato è questione di accordi.
Per il docente: Spirale: gli studenti hanno già visto 0x07e0, 255, .asciz e .word nella Lezione 02. Questa lezione dà un nome a quelle cose. Le due lezioni successive (05, 06) trattano i numeri in modo formale.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obiettivi, dal generale al particolare e ritorno. Saprete distinguere analogico e digitale, leggere un byte in binario e in esadecimale, scomporre un colore PRG32 nei suoi tre campi, dire come si memorizza il testo, e descrivere come un vettore sta in memoria e come l'assembly ne raggiunge un elemento. L'ultimo obiettivo guarda oltre la macchina: che cos'è un algoritmo, quando è deterministico, e dove si colloca il machine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parte risponde a una domanda di base: come fa una cosa del mondo a diventare una cosa che un calcolatore può contenere? La risposta passa per quattro idee: il flusso dei dati, la differenza tra analogico e digitale, le unità dell'informazione e la notazione posizionale.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calcolo ha la stessa forma. I dati entrano dal mondo; un programma, che è un algoritmo reso concreto, li trasforma; i risultati escono; e qualcuno li usa, ed è questo a trasformare l'informazione in conoscenza. Su PRG32 conoscete già per nome i quattro riquadri: i pulsanti sono letti da prg32_input_read, la vostra funzione update elabora, la vostra funzione draw produce l'uscita, e il giocatore reagisce. Tenete questa figura: ogni programma che scriverete ne è un caso particolare.
Per il docente: Su PRG32 i quattro riquadri sono prg32_input_read, la vostra funzione update, la vostra funzione draw, e il giocatore che reagisce allo schermo.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grandezza analogica varia con continuità, come una tensione o le lancette di un orologio. Una grandezza digitale è una sequenza di simboli presi da un alfabeto finito, come le cifre di un display. Nella figura la curva liscia è il segnale analogico; la scalinata è la sua versione digitale, ottenuta campionando a istanti regolari e quantizzando ogni campione su uno di pochi livelli. Qualcosa si perde, e qualcosa si guadagna: un numero finito di livelli si può contare, copiare senza errori e controllare. Con due soli livelli il simbolo è il bit.
Per il docente: Due livelli si realizzano in modo affidabile con i transistor (spento o acceso): per questo i calcolatori sono binari. L'algebra di Boole (Lezione 08) è la matematica dei due livelli.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unità dell'informazione, ciascuna legata a qualcosa che avete usato. Un bit è un pulsante. Un nibble, quattro bit, è una cifra esadecimale. Un byte, otto bit, è un carattere ASCII, ed è la ragione per cui la barra della Lezione 02 era larga al massimo 255. Una halfword, sedici bit, è un colore. Una word, o parola, trentadue bit, è un registro e un'istruzione. La regola da ricordare: n bit danno 2 alla n configurazioni. E la didascalia: che cosa significa una configurazione non è scritto nei bit.
Per il docente: n bit danno 2^n configurazioni distinte. Che cosa significa una configurazione non è scritto nei bit: è una convenzione tra chi li scrive e chi li legge. Su RV32 una parola è di 32 bit per definizione dell'architettura.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Sedici righe da imparare a memoria, come un tempo le tabelline. Ogni riga dà lo stesso numero in decimale, in binario su quattro bit e in esadecimale con una cifra. Le quattro colonne binarie pesano 8, 4, 2 e 1: 1011 è 8 + 2 + 1 = 11, che l'esadecimale scrive B. Dopo il 9 le cifre esadecimali proseguono con le lettere da A a F per i valori da dieci a quindici. Coprite due colonne e ricostruitele dalla terza finché non vi serve più pensarci.
Per il docente: Le colonne del numero binario pesano 8, 4, 2, 1. Questa tabella va imparata a memoria: è la tavola pitagorica di questo corso.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 sistema posizionale una cifra vale il suo valore per il peso della sua posizione, e i pesi sono le potenze della base. La slide legge così il byte 11011001: le posizioni pesano 128, 64, 32, 16, 8, 4, 2 e 1; dove il bit è 1 il peso si somma, dove è 0 no. La somma è 128 + 64 + 16 + 8 + 1 = 217. È esattamente ciò che fate in base dieci senza accorgervene: 217 sono 2 centinaia, 1 decina e 7 unità.
Per il docente: La Lezione 05 dà la formula generale e gli algoritmi di conversione. Qui lo scopo è soltanto leggere un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Sedici è due alla quarta, quindi una cifra esadecimale corrisponde esattamente a quattro bit. Per convertire si taglia il numero binario in gruppi di quattro a partire da destra e si sostituisce ogni gruppo usando la tabella: 0000 0111 1110 0000 diventa 0, 7, E, 0. Non serve alcun calcolo. Per questo i programmatori usano l'esadecimale: è il binario scritto in modo compatto. Un registro sono otto cifre esadecimali invece di trentadue bit. Il prefisso 0x annuncia che un numero è esadecimale.
Per il docente: 0x07E0 = 7 x 256 + 14 x 16 = 1792 + 224 = 2016. Il valore decimale qui è inutile: conta la configurazione di bit, come mostra la slide successiva.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si apre il verde della Lezione 02. Un colore PRG32 sono sedici bit divisi in tre campi: cinque bit di rosso, sei di verde, cinque di blu. Il formato si chiama RGB565. In 0x07E0 il campo rosso è 00000, il campo verde è 111111 e il campo blu è 00000: verde al massimo e nient'altro. Gli otto campioni mostrano altre combinazioni: il giallo è rosso più verde, il bianco è tutto. La frase in fondo è la lezione dell'intera lezione: gli stessi sedici bit potrebbero essere tutt'altro.
Per il docente: L'occhio è più sensibile al verde: per questo al verde spetta il bit in più. Esercizio: che colore è 0xF81F? (rosso e blu al massimo: magenta). Le costanti dei colori sono quelle di prg32.h.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Un'anteprima delle due lezioni successive. I numeri naturali sono la configurazione posizionale stessa: con n bit, da 0 a 2 alla n meno 1. Gli interi con segno usano il complemento a due, argomento della Lezione 05. I numeri reali usano la virgola fissa o la virgola mobile dello standard IEEE 754, argomento della Lezione 06, in cui i bit si dividono in segno, esponente e frazione. Oggi non vi si chiede di capire i formati: solo di vedere che anche i numeri hanno bisogno di una convenzione.
Per il docente: Solo un'anteprima. La Lezione 05 tratta naturali e interi con segno; la Lezione 06 virgola fissa e IEEE 754. La slide originale riportava la formula del valore in forma confusa: quella corretta è sulla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parte riguarda il testo. Un carattere si memorizza come un numero, e un testo come una sequenza di numeri. Quattro slide: il codice ASCII, le stringhe in memoria, Unicode con UTF-8, e l'ordine dei byte di una parola.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L'ASCII assegna un numero a ogni carattere e lo fa stare in un byte. Tre osservazioni dalla tabella. La A maiuscola è 65 e la a minuscola è 97: differiscono di 32, cioè di un solo bit. Il carattere «0» è 48, non zero: una cifra battuta sulla tastiera non è ancora un numero. E ci sono caratteri che non si stampano: l'a capo, 10, e NUL, 0, che incontrerete nella prossima slide come fine di una stringa.
Per il docente: L'ASCII (1963) usa 7 bit: 128 caratteri, solo per l'inglese. Maiuscole e minuscole differiscono solo nel bit 5: xori con 0x20 scambia maiuscolo e minuscolo, un primo assaggio di algebra di Boole sul testo.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stringa è una sequenza di codici di carattere in byte consecutivi. Il problema è sapere dove finisce. La convenzione del C segna la fine con un byte a zero; quella del Pascal scrive prima la lunghezza. La terza riga è la vostra stringa della Lezione 02: .asciz memorizza gli undici caratteri di HELLO PRG32 seguiti da uno zero, dodici byte in tutto. La funzione che disegna il testo riceve solo l'indirizzo del primo byte e legge finché non trova lo zero. Se lo zero mancasse, proseguirebbe con ciò che segue in memoria.
Per il docente: I numeri sotto le celle sono i codici ASCII in esadecimale. È la stringa della Lezione 02, passo 2. Che cosa accade se lo zero manca? La funzione continua a leggere ciò che segue in 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L'ASCII ha 128 caratteri, sufficienti solo per l'inglese. Unicode assegna un numero, detto code point, a ogni carattere di ogni sistema di scrittura. UTF-8 memorizza quel numero in uno-quattro byte: i caratteri dell'ASCII conservano il loro unico byte, una lettera accentata ne prende due, il simbolo dell'euro tre, un'emoji quattro. Due conseguenze. Il testo ASCII puro è già UTF-8 valido. E la lunghezza di una stringa in byte non è più la sua lunghezza in caratteri.
Per il docente: Unicode assegna un numero (code point) a ogni carattere di ogni scrittura; UTF-8 codifica quel numero in uno-quattro byte ed è compatibile con l'ASCII. È la codifica del web e dei vostri file sorgente. Conseguenza: la lunghezza in byte di una stringa non è la sua lunghezza in caratteri.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parola sono quattro byte, e la memoria ha un indirizzo per ogni byte: in che ordine si memorizzano i quattro byte? RISC-V è little-endian: il byte meno significativo va all'indirizzo più basso, quindi 0x12345678 si memorizza come 78, 56, 34, 12. L'ordine opposto, big-endian, è quello dei protocolli di rete. Di solito non ci si accorge di nulla, perché lw e sw sono coerenti tra loro. Ci si accorge quando si guarda la memoria byte per byte in un debugger, o si scambiano dati con una macchina diversa.
Per il docente: I nomi vengono dai Viaggi di Gulliver: da quale estremità rompere l'uovo. In PRG32-QT aprite la vista della memoria su una .word e leggete i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terza parte passa dai valori singoli alle collezioni. Una slide presenta cinque modi classici di organizzare i dati; la successiva mostra come il più semplice, il vettore, è realizzato in memoria e raggiunto dall'assembly.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strutture. Un vettore tiene elementi dello stesso tipo uno dopo l'altro e li raggiunge per indice. Una lista collega ogni elemento al successivo: facile da modificare, lenta da percorrere fino a una posizione. Una pila restituisce per primo ciò che è stato messo per ultimo; ne avete usata una nella Lezione 02 per salvare ra. Un dizionario associa chiavi a valori. Un albero è una gerarchia. Il sesto riquadro è quello che conta per questo corso: nella macchina sono tutti byte in memoria, più una regola per trovare l'elemento successivo.
Per il docente: Una pila l'avete già usata: il frame che salvava ra nella Lezione 02. Gli esempi sono quelli disegnati sulla slide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vettore di quattro parole, e le quattro istruzioni che leggono l'elemento 2. la carica l'indirizzo del primo elemento. L'indice viene moltiplicato per 4, la dimensione in byte di una parola, con uno scorrimento a sinistra di 2: scorrere di una posizione raddoppia un numero binario. add forma l'indirizzo dell'elemento, e lw ne legge il valore, 34. L'espressione scores[i] di un linguaggio di alto livello è esattamente questo. Notate che cosa manca: nessuno controlla che l'indice sia minore di 4.
Per il docente: La proprietà dello scorrimento come moltiplicazione si dimostra nella Lezione 05 (proprietà delle stringhe binarie). Chiedere: che cosa legge lw se i = 4? Ciò che segue il vettore in memoria: la macchina non controlla i limiti.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L'ultima parte allarga lo sguardo dai dati a ciò che se ne fa: grandi raccolte di dati, i processori che le analizzano, che cos'è un algoritmo, e il tipo di algoritmo che impara dagli esempi.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big data sono dati che superano ciò che gli strumenti tradizionali delle basi di dati riescono a trattare, per quantità o per varietà: tabelle strutturate e testo non strutturato, posizioni, serie temporali. Gli ordini di grandezza sono petabyte e zettabyte. Estrarne conoscenza e valore richiede il calcolo parallelo, e la disciplina che se ne occupa è la data science. Tenete il legame con le slide precedenti: per quanto grandi, questi dati sono sempre byte con una convenzione.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fonti di dati: i sensori, che misurano il mondo fisico; le transazioni, che registrano ogni acquisto; i dati pubblici, aperti dalle istituzioni; e i social media, dove le persone lasciano preferenze e opinioni. Ogni fonte pone i propri problemi di qualità e di riservatezza. Prima di essere analizzati i dati vanno acquisiti, puliti, memorizzati e integrati: in pratica questa preparazione è la parte maggiore del lavoro.
Per il docente: Flusso sulla slide originale: generazione e acquisizione, estrazione e pulizia, memorizzazione e integrazione (big data management); modellazione, analisi e interpretazione (big data analytics).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processore grafico, o GPU, ha migliaia di core semplici progettati per applicare la stessa operazione a molti dati insieme. La figura mostra una somma parallela: i numeri si sommano a coppie, poi le somme parziali a coppie, e così via, così che N numeri richiedono circa log2 N passi invece di N. L'hardware nato per i videogiochi è quello che oggi addestra le reti neurali. Sotto ogni core ci sono pur sempre registri, istruzioni e bit; la Lezione 24 torna sulle GPU.
Per il docente: Figura dalla presentazione originale: una somma parallela (riduzione) sui core di una GPU.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data mining è l'insieme delle tecniche per estrarre informazione e conoscenza da grandi quantità di dati. La slide nomina tre famiglie: gli alberi di decisione, che classificano con una sequenza di domande; l'apprendimento di regole e i metodi bayesiani, che ragionano con le probabilità; e le reti neurali, che riconoscono schemi. Sono argomenti di corsi successivi. Qui basta sapere che esistono e che sono algoritmi come gli altri.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problema è calcolabile se un algoritmo può risolverlo. La macchina di Turing è il modello matematico di un calcolatore con un programma; la macchina di von Neumann è l'architettura che la realizza in hardware. L'ultima riga è quella sorprendente: esistono problemi che nessun algoritmo può risolvere, e quindi che nessun calcolatore risolverà mai, per quanto veloce. L'esempio classico è decidere, per un programma qualsiasi, se si fermerà.
Per il docente: L'ultima riga è la tesi di Church-Turing, enunciata in modo informale. Il problema della fermata è l'esempio classico di problema non calcolabile.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proprietà fanno di una procedura un algoritmo. I suoi passi sono atomici: non si possono scomporre oltre. Sono non ambigui: l'esecutore può interpretarli in un solo modo. L'algoritmo è finito nei passi e nei dati, termina in un tempo finito, ed è efficace: porta a un risultato unico e ben definito. Un'istruzione RISC-V è un buon modello di passo atomico e non ambiguo: il suo significato è fissato dalla specifica, bit per bit.
Per il docente: Un'istruzione RISC-V è il modello di un passo atomico e non ambiguo: il suo significato è fissato dalla specifica, bit per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 algoritmo deterministico lo stesso ingresso produce sempre la stessa sequenza di passi e lo stesso risultato: first_update somma sempre uno. Un algoritmo non deterministico può comportarsi in modo diverso a ogni esecuzione con lo stesso ingresso. Le ragioni comuni sono due: usa di proposito numeri casuali, come un gioco che piazza un nemico a caso, oppure dipende dai tempi di più cose che accadono insieme. Il primo tipo è utile; il secondo è una fonte frequente di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esempi di algoritmi che usano il caso. Il primo verifica se un numero è primo provando valori casuali: se una prova fallisce, il numero è certamente composto; se trenta prove passano, è primo con probabilità schiacciante. Barattare una minima probabilità d'errore con un grande guadagno di velocità è il modo in cui la crittografia lavora in pratica. Il secondo è un cammino casuale: il percorso è diverso a ogni esecuzione, e una simulazione media molte esecuzioni. Il listato è pseudocodice, non un linguaggio che si possa compilare.
Per il docente: Il test di Fermat mostrato qui è il più semplice; le librerie reali usano Miller-Rabin, che ne chiude le falle. Entrambi gli esempi vengono dalla slide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programma classico è una funzione scritta da una persona: y = f(x). Nel machine learning la funzione non viene scritta: è costruita automaticamente a partire da esempi. I modelli generativi di oggi sono questa idea su scala enorme, con miliardi di numeri appresi. Due osservazioni la collegano a questo corso. Quei numeri sono bit in memoria, moltiplicati e sommati da processori. E un modello può sbagliare con grande sicurezza: solo chi conosce i fondamenti può controllare ciò che dice.
Per il docente: L'ultimo punto si collega alla regola #nogpt del corso: l'esame verifica che i fondamenti stiano nella testa dello studente.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Applicate la regola per cui n bit danno 2 alla n configurazioni. Un byte ha otto bit. Attenzione ai due quasi-giusti: 8 è il numero dei bit, e 255 è il più grande numero naturale che un byte può contenere, non il numero dei valori, perché conta anche lo zero.
Per il docente: Risposta: D. Un byte sono 8 bit: 2^8 = 256 configurazioni, per esempio i naturali da 0 a 255.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Scrivete in binario le quattro cifre esadecimali: F è 1111, 8 è 1000, 1 è 0001, F è 1111. Poi tagliate i sedici bit in 5, 6 e 5: rosso 11111, verde 000000, blu 11111. Rosso e blu al massimo, niente verde.
Per il docente: Risposta: B. 0xF81F = 11111 000000 11111: rosso e blu al massimo, verde a zero: magenta.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Contate i caratteri e ricordate che cosa aggiunge la z di .asciz. La direttiva memorizza la stringa terminata da zero: un byte in più dei caratteri visibili.
Per il docente: Risposta: C. Quattro caratteri più il byte di terminazione 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è little-endian. Scrivete la parola come quattro byte, 00 00 AB CD, dal più al meno significativo, e chiedetevi quale va all'indirizzo più basso. La trappola è 0x00, che sarebbe giusta su una macchina big-endian.
Per il docente: Risposta: C. RISC-V è little-endian: il byte meno significativo, 0xCD, va all'indirizzo più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esercizi sulla cartuccia della Lezione 02. Calcolate a mano un valore RGB565 prima di provarlo: scegliete le tre intensità, scrivete i campi in binario, raggruppate per quattro. Stampate il vostro nome e contate i byte, terminatore compreso. Dichiarate un vettore di colori con .word e leggetelo con lw, come nella slide del vettore. Infine guardate la stringa e il vettore nella vista della memoria di PRG32-QT: trovate lo zero finale, e verificate che ogni parola mostri per primo il byte meno significativo.
Per il docente: Esempio di grigio scuro: rosso 8 su 31, verde 16 su 63, blu 8 su 31 = 01000 010000 01000 = 0x4208, il GREY del laboratorio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Word è la parola, e su RV32 significa trentadue bit. Sampling e quantisation, campionamento e quantizzazione, sono le due operazioni della digitalizzazione. Byte order, o endianness, è l'ordine dei byte di una parola in memoria. Notate che stack è la pila, mentre array spesso non si traduce, oppure si rende con vettore.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frasi da tenere. L'informazione digitale è una configurazione di bit più una convenzione per leggerla. Gli stessi bit possono essere un numero, un colore o due caratteri: decide il programma. L'esadecimale è il binario scritto in modo compatto, quattro bit per cifra. Il testo è fatto di numeri, e le strutture sono byte più una regola. Gli algoritmi trasformano i dati in informazione su cui fondare decisioni. La prossima lezione tratta formalmente la rappresentazione dei numeri, partendo da un segnalino che esce dal bordo sinistro dello schermo.
Per il docente: Prossima lezione: la rappresentazione dei numeri, in modo formale.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04: Informazione digitale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Rappresentare l'informazione digitale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Bit, numeri, testo, strutture: nella macchina tutto è una configurazione di bit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“printf("Hello, world!");”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Brian Kernighan e Dennis Ritchie, The C Programming Language, 1978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1_step2_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la differenza tra informazione analogica e digitale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5310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34819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Leggere una configurazione di bit come numero naturale, in binario e in esadecimale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134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09514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Scomporre un colore PRG32 come 0x07E0 nei campi rosso, verde e blu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8309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81264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come caratteri e stringhe sono memorizzati, in ASCII e in UTF-8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4842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53014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un vettore sta in memoria e come l'assembly ne raggiunge un elemento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un algoritmo deterministico da uno probabilistico, e collocare tra essi il machine learning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Informazione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mondo a una configurazione di bit.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Concetti fondamentali: il flusso dei dati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entrano dal mondo: un tasto, un sensore, un file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093644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13684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844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Elaborazione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550844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programma, incarnazione di un algoritmo, li trasforma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8728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5888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Uscita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15888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risultati escono: un'immagine, un suono, un numero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823731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3771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0931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Conoscenza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280931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informazione su cui qualcuno può agire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L'intelligenza artificiale è un'intelligenza di tipo proprio: potente riconoscimento di schemi, senza autocoscienza e senza esperienza soggettiva.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Informazione analogica e digitale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010912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Analogica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grandezza che varia con continuità: una tensione, una pressione sonora, le lancette di un orologio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7888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7925"/>
            <a:ext cx="5010912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sequenza di simboli presi da un alfabeto finito: le cifre di un display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80606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15131"/>
            <a:ext cx="50109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Digitalizzare significa campionare nel tempo e quantizzare nel valore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56977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8846"/>
            <a:ext cx="50109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numero finito di livelli si può contare, copiare esattamente e controllare contro gli errori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50109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due livelli il simbolo è il bit: 0 oppure 1</a:t>
            </a:r>
            <a:endParaRPr lang="en-US" sz="2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544505"/>
            <a:ext cx="5333695" cy="250051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Bit, byte, parola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3502"/>
                <a:gridCol w="2600254"/>
                <a:gridCol w="2080203"/>
                <a:gridCol w="468045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Unità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Configurazioni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l'avete incontrata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cifra binaria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pulsante del joystick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nibble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cifra esadecimale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carattere ASCII; la larghezza della barra (andi 255)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halfword (mezza parola)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colore RGB565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 (parola)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4.294.967.296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RISC-V; un'istruzione; .word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KiB, MiB, GiB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2^10, 2^20, 2^30 byte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dimensioni di memoria: 1 KiB = 1024 byte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bit danno 2^n configurazioni. Il significato di una configurazione è una convenzione, non una proprietà dei bit.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Contare in base 2 e in base 16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40891"/>
                <a:gridCol w="2465426"/>
                <a:gridCol w="1540891"/>
                <a:gridCol w="1540891"/>
                <a:gridCol w="2465426"/>
                <a:gridCol w="154089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Notazione posizionale: che cosa significa 11011001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27632"/>
            <a:ext cx="975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70672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0672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2^7 = 128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70672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280400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80400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2^6 = 64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80400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901288" y="2194560"/>
            <a:ext cx="1097280" cy="82296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90128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2^5 = 32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0128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99856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99856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2^4 = 16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99856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09584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2^3 = 8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09584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193128" y="2194560"/>
            <a:ext cx="1097280" cy="82296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19312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2^2 = 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19312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90408" y="2194560"/>
            <a:ext cx="1097280" cy="82296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829040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2^1 = 2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9040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38768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38768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2^0 = 1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38768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063240"/>
            <a:ext cx="975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794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 + 64 + 16 + 8 + 1 = 217</a:t>
            </a:r>
            <a:endParaRPr lang="en-US" sz="3200" dirty="0"/>
          </a:p>
        </p:txBody>
      </p:sp>
      <p:sp>
        <p:nvSpPr>
          <p:cNvPr id="30" name="Shape 28"/>
          <p:cNvSpPr/>
          <p:nvPr/>
        </p:nvSpPr>
        <p:spPr>
          <a:xfrm>
            <a:off x="548640" y="48006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484632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 sistema posizionale il valore di una cifra dipende dalla sua posizione: ogni posizione pesa una potenza della base. La base 10 usa le potenze di dieci, la base 2 le potenze di due, la base 16 le potenze di sedici. La regola è la stessa; cambia solo la base.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i programmatori scrivono in esadecimale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1340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072488" y="1600200"/>
            <a:ext cx="201168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084168" y="1600200"/>
            <a:ext cx="201168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095848" y="1600200"/>
            <a:ext cx="201168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107528" y="1600200"/>
            <a:ext cx="201168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078328" y="2377440"/>
            <a:ext cx="0" cy="45720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90008" y="2377440"/>
            <a:ext cx="0" cy="45720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01688" y="2377440"/>
            <a:ext cx="0" cy="45720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113368" y="2377440"/>
            <a:ext cx="0" cy="45720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48640" y="2880360"/>
            <a:ext cx="1340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esadecimale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072488" y="2880360"/>
            <a:ext cx="201168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084168" y="2880360"/>
            <a:ext cx="201168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095848" y="2880360"/>
            <a:ext cx="201168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107528" y="2880360"/>
            <a:ext cx="201168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794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0x07E0  =  2016 in decimale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48640" y="459397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2688" y="4526280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cifra esadecimale vale esattamente quattro bit, perché 16 = 2^4: la conversione è una ricerca in tabella, cifra per cifra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52852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688" y="5217541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a 32 bit sono otto cifre esadecimali: 0x00130313 si legge, trentadue zeri e uni no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prefisso 0x indica l'esadecimale in assembly e in C; il debugger di PRG32-QT mostra così i registri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colore è un numero: RGB565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2331720"/>
            <a:ext cx="2781205" cy="777240"/>
          </a:xfrm>
          <a:prstGeom prst="rect">
            <a:avLst/>
          </a:prstGeom>
          <a:solidFill>
            <a:srgbClr val="B23A4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3163824"/>
            <a:ext cx="278120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rosso: 5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su 31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82496" y="2093976"/>
            <a:ext cx="13906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036522" y="2093976"/>
            <a:ext cx="1354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427125" y="2331720"/>
            <a:ext cx="3337446" cy="77724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111111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27125" y="3163824"/>
            <a:ext cx="33374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verde: 6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su 63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63701" y="2093976"/>
            <a:ext cx="16687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095848" y="2093976"/>
            <a:ext cx="16321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64570" y="2331720"/>
            <a:ext cx="2781205" cy="777240"/>
          </a:xfrm>
          <a:prstGeom prst="rect">
            <a:avLst/>
          </a:prstGeom>
          <a:solidFill>
            <a:srgbClr val="2B5DAA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7764570" y="3163824"/>
            <a:ext cx="278120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blu: 5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su 31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801146" y="2093976"/>
            <a:ext cx="13906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155173" y="2093976"/>
            <a:ext cx="1354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58368" y="3977640"/>
            <a:ext cx="1167346" cy="731520"/>
          </a:xfrm>
          <a:prstGeom prst="rect">
            <a:avLst/>
          </a:prstGeom>
          <a:solidFill>
            <a:srgbClr val="000000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0x0000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045170" y="3977640"/>
            <a:ext cx="1167346" cy="731520"/>
          </a:xfrm>
          <a:prstGeom prst="rect">
            <a:avLst/>
          </a:prstGeom>
          <a:solidFill>
            <a:srgbClr val="F80000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935442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935442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0xF800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431972" y="3977640"/>
            <a:ext cx="1167346" cy="731520"/>
          </a:xfrm>
          <a:prstGeom prst="rect">
            <a:avLst/>
          </a:prstGeom>
          <a:solidFill>
            <a:srgbClr val="00FC00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22244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322244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0x07E0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818774" y="3977640"/>
            <a:ext cx="1167346" cy="731520"/>
          </a:xfrm>
          <a:prstGeom prst="rect">
            <a:avLst/>
          </a:prstGeom>
          <a:solidFill>
            <a:srgbClr val="0000F8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09046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709046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0x001F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05576" y="3977640"/>
            <a:ext cx="1167346" cy="731520"/>
          </a:xfrm>
          <a:prstGeom prst="rect">
            <a:avLst/>
          </a:prstGeom>
          <a:solidFill>
            <a:srgbClr val="F8FC00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95848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095848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0xFFE0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592378" y="3977640"/>
            <a:ext cx="1167346" cy="731520"/>
          </a:xfrm>
          <a:prstGeom prst="rect">
            <a:avLst/>
          </a:prstGeom>
          <a:solidFill>
            <a:srgbClr val="00FCF8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82650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CYAN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482650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0x07FF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979179" y="3977640"/>
            <a:ext cx="1167346" cy="731520"/>
          </a:xfrm>
          <a:prstGeom prst="rect">
            <a:avLst/>
          </a:prstGeom>
          <a:solidFill>
            <a:srgbClr val="F800F8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69451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MAGENTA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869451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0xF81F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0365981" y="3977640"/>
            <a:ext cx="1167346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256253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256253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0xFFFF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Sedici bit, tre campi. Gli stessi sedici bit potrebbero essere un numero, due caratteri o mezza istruzione: il significato sta in come il programma li usa.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Numeri: naturali, interi, reali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naturali: la configurazione posizionale stessa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 bit coprono da 0 a 2^n - 1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536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47265"/>
            <a:ext cx="10710367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 con segno: complemento a due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registro a 32 bit copre circa da -2 miliardi a +2 miliardi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18363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77210"/>
            <a:ext cx="10710367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reali: virgola fissa o virgola mobile IEEE 754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valore = (-1)^segno x 1,frazione x 2^(esponente - bias)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840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singola precisione, 32 bit: circa 7 cifre decimali, fino a circa 3,4 x 10^38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07408"/>
            <a:ext cx="452691" cy="457200"/>
          </a:xfrm>
          <a:prstGeom prst="rect">
            <a:avLst/>
          </a:prstGeom>
          <a:solidFill>
            <a:srgbClr val="B23A4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85216" y="4169664"/>
            <a:ext cx="226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01331" y="4407408"/>
            <a:ext cx="2746251" cy="45720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esponente (8)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37907" y="4169664"/>
            <a:ext cx="13731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374457" y="4169664"/>
            <a:ext cx="1336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747583" y="4407408"/>
            <a:ext cx="7895473" cy="45720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frazione (23)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784159" y="4169664"/>
            <a:ext cx="3947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695319" y="4169664"/>
            <a:ext cx="3911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029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doppia precisione, 64 bit: circa 16 cifre decimali, fino a circa 1,8 x 10^308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96128"/>
            <a:ext cx="445794" cy="457200"/>
          </a:xfrm>
          <a:prstGeom prst="rect">
            <a:avLst/>
          </a:prstGeom>
          <a:solidFill>
            <a:srgbClr val="B23A4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85216" y="5358384"/>
            <a:ext cx="2228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994434" y="5596128"/>
            <a:ext cx="1859283" cy="45720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esponente (11)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31010" y="5358384"/>
            <a:ext cx="9296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924076" y="5358384"/>
            <a:ext cx="8930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53717" y="5596128"/>
            <a:ext cx="8789338" cy="45720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frazione (52)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2890293" y="5358384"/>
            <a:ext cx="439466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248386" y="5358384"/>
            <a:ext cx="435809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Testo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i caratteri sono numeri.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ASCII: un carattere, un byte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1364067"/>
                <a:gridCol w="1273130"/>
                <a:gridCol w="2182508"/>
                <a:gridCol w="46378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Carattere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Decimale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0100 0001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maiuscole cominciano da 65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0x61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0110 0001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A con un bit in più: 97 - 65 = 32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0x30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0011 0000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carattere zero non è il numero zero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spazio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0x20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0010 0000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carattere come gli altri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capo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0000 1010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carattere di 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NUL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segna la fine di una stringa 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Stringhe: una sequenza di caratteri in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Stringa 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926080" y="1508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926080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639312" y="1508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639312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352544" y="1508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52544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65776" y="1508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79008" y="1508760"/>
            <a:ext cx="713232" cy="566928"/>
          </a:xfrm>
          <a:prstGeom prst="rect">
            <a:avLst/>
          </a:prstGeom>
          <a:solidFill>
            <a:srgbClr val="B23A4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779008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1508760"/>
            <a:ext cx="4922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fine è segnata da un byte a zero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65176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Stringa Pascal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651760"/>
            <a:ext cx="713232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39312" y="2651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639312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52544" y="2651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352544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065776" y="2651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065776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779008" y="2651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5779008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20840" y="2651760"/>
            <a:ext cx="4922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lunghezza viene prima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9319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.asciz "HELLO PRG32"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2926080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2926080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639312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3639312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352544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4352544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065776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5065776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779008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5779008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205472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700" dirty="0"/>
          </a:p>
        </p:txBody>
      </p:sp>
      <p:sp>
        <p:nvSpPr>
          <p:cNvPr id="41" name="Text 39"/>
          <p:cNvSpPr txBox="1"/>
          <p:nvPr/>
        </p:nvSpPr>
        <p:spPr>
          <a:xfrm>
            <a:off x="7205472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918704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7918704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631936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8631936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9345168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9345168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058400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700" dirty="0"/>
          </a:p>
        </p:txBody>
      </p:sp>
      <p:sp>
        <p:nvSpPr>
          <p:cNvPr id="49" name="Text 47"/>
          <p:cNvSpPr txBox="1"/>
          <p:nvPr/>
        </p:nvSpPr>
        <p:spPr>
          <a:xfrm>
            <a:off x="10058400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771632" y="3931920"/>
            <a:ext cx="713232" cy="566928"/>
          </a:xfrm>
          <a:prstGeom prst="rect">
            <a:avLst/>
          </a:prstGeom>
          <a:solidFill>
            <a:srgbClr val="B23A4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\0</a:t>
            </a:r>
            <a:endParaRPr lang="en-US" sz="1700" dirty="0"/>
          </a:p>
        </p:txBody>
      </p:sp>
      <p:sp>
        <p:nvSpPr>
          <p:cNvPr id="51" name="Text 49"/>
          <p:cNvSpPr txBox="1"/>
          <p:nvPr/>
        </p:nvSpPr>
        <p:spPr>
          <a:xfrm>
            <a:off x="10771632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48640" y="484632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4892040"/>
            <a:ext cx="10545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z di .asciz significa terminata da zero: l'assemblatore memorizza dodici byte per undici caratteri. prg32_gfx_text8 riceve in a2 solo l'indirizzo del primo byte, e legge finché non trova lo zero.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Unicode e UTF-8: ogni sistema di scrittura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2364384"/>
                <a:gridCol w="3091886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Carattere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point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UTF-8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Lunghezza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U+0041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byte: identico all'ASCII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è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U+00E8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C3 A8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U+20AC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E2 82 AC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日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U+65E5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E6 97 A5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😀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U+1F600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F0 9F 98 80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dà un numero a ogni carattere; UTF-8 lo memorizza in uno-quattro byte, e il testo ASCII puro è già UTF-8 valido.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Ordine dei byte: little-endian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(RISC-V, x86, ARM)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2331720"/>
            <a:ext cx="137160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20848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2331720"/>
            <a:ext cx="137160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0848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2331720"/>
            <a:ext cx="137160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0848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331720"/>
            <a:ext cx="137160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848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(protocolli di rete)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3703320"/>
            <a:ext cx="137160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4564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A+0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3703320"/>
            <a:ext cx="137160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34564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703320"/>
            <a:ext cx="137160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564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703320"/>
            <a:ext cx="137160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4564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6474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4572000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sono quattro byte, e la memoria si indirizza byte per byte: in che ordine vanno?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8640" y="516864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5093208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Little-endian: il byte meno significativo all'indirizzo più basso. È ciò che fanno lw e sw su RISC-V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5968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5893308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ne accorgete guardando la memoria in un debugger, o scambiando dati con un'altra macchina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Strutture dati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 valori singoli alle collezioni organizzate.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Cinque modi di organizzare i dati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Vettore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Elementi dello stesso tipo, uno dopo l'altro, raggiunti per indice: 32, 11, 34, 22.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Elementi collegati l'uno al successivo: economico inserire e togliere, lento raggiungere una posizione.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L'ultimo a entrare è il primo a uscire: push aggiunge in cima, pop toglie dalla cima.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Dizionario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Coppie chiave-valore: NA dà NAPOLI, PA dà PALERMO, MI dà MILANO.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Albero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gerarchia: un animale cammina o nuota, ha polmoni o branchie, due zampe o quattro.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 macchina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tutti byte in memoria più una regola per trovare l'elemento successivo.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vettore in memoria, un elemento in un registro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scores: .word 32, 11, 34, 22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32-bit words, 16 bytes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scores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element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 =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offset = i * 4 bytes (shift left by 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element 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VALUE of scores[2] = 34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vettore è un indirizzo base più elementi di uguale dimensione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L'elemento i di un vettore di parole sta a base + 4 x i, perché una parola sono quattro byte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slli di 2 moltiplica per quattro: uno scorrimento è una moltiplicazione per una potenza di due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L'espressione di alto livello scores[i] è esattamente queste quattro istruzioni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 e algoritmi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 big data al machine learning.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Dati, big data e data science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 che superano i limiti degli strumenti tradizionali delle basi di dati.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45541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Strutturati e non strutturati: economia, geolocalizzazione, serie temporali, reti sociali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40165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279731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Petabyte e zettabyte: miliardi di terabyte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497602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854109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Tecnologie che estraggono conoscenza e valore dai dati: calcolo parallelo e GPU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92226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800344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science: l'analisi di grandi quantità di informazione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dove vengono i dati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da sensori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L'ambiente, le posizioni GPS, l'Internet delle cose: ogni dispositivo misura qualcosa.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Transazioni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Acquisti al supermercato, carte di credito, ordini online.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pubblici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 amministrativi, territorio, consumi: dati aperti delle istituzioni.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Preferenze, politica, opinioni: ciò che le persone scrivono e condividono.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GPGPU: calcolo di uso generale su processori grafici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1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069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GPU ha migliaia di core semplici costruiti per fare la stessa operazione su molti dati insieme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287887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64705"/>
            <a:ext cx="5468112" cy="1069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Sommare N elementi richiede solo log2 N passi paralleli invece di N passi sequenziali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48640" y="422626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112091"/>
            <a:ext cx="5468112" cy="1069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hardware che disegna i videogiochi oggi addestra le reti neurali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48640" y="557364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459476"/>
            <a:ext cx="5468112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Sotto ogni core ci sono pur sempre registri, istruzioni e bit</a:t>
            </a:r>
            <a:endParaRPr lang="en-US" sz="2300" dirty="0"/>
          </a:p>
        </p:txBody>
      </p:sp>
      <p:pic>
        <p:nvPicPr>
          <p:cNvPr id="11" name="Image 0" descr="/Users/raffaelemontella/devel/riscv-prg32/computer-architecture-with-prg32/tools/assets/gpgpu_s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8154"/>
            <a:ext cx="4876495" cy="303601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somma parallela sui core di una GPU: log2 N passi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mining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L'insieme delle tecniche e delle metodologie per estrarre informazione o conoscenza da grandi quantità di dati.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63829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516376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Alberi di decisione e classificazione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4673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345432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Apprendimento di regole e metodi bayesiani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5296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5174488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 neurali e riconoscimento di schemi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Algoritmi e calcolabilità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è calcolabile se si può risolvere con un algoritmo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8192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5501"/>
            <a:ext cx="6565392" cy="126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 di Turing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calcolatore ideale dotato di programma, espresso matematicamente con insiemi, relazioni e funzioni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81897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12549"/>
            <a:ext cx="6565392" cy="126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 di von Neumann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l'architettura di calcolo capace di eseguire un programma che realizza un algoritmo per la macchina di Turing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149596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che nessun algoritmo su una macchina di Turing può risolvere non può essere risolto da alcun calcolatore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ogni problema ha un algoritmo: ad alcune domande nessun calcolatore risponderà mai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Cinque proprietà di un algoritmo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sono elementari: non si possono scomporre ulteriormente.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ambiguo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passo è interpretato in un solo modo, diretto, dall'esecutore, umano o macchina.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numero finito di passi e una quantità finita di dati in ingresso.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Terminante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L'esecuzione finisce dopo un tempo finito.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Efficace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L'esecuzione porta a un risultato unico e ben definito.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Algoritmi deterministici e non deterministici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istruzione esiste, a parità di ingresso, un solo passo successivo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percorso dell'algoritmo esiste ed è unico: y = f(x)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la conversione di un'unità di misura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first_update, che somma sempre uno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deterministici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parità di ingresso possono comportarsi in modo diverso a ogni esecuzione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algoritmi probabilistici usano un generatore di numeri casuali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algoritmi concorrenti possono dipendere dai tempi (race condition)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un gioco che piazza il nemico con prg32_random_number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algoritmo probabilistico: n è primo?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is_probably_prime(n):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repeat 30 times: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 = random(2, n - 2)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a^(n-1) mod n != 1: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COMPOSITE          # certain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PROBABLY PRIME             # almost certain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random_walk():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t &lt; t_final: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 = random(-1, 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 = x + r * u                 # a different path every run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 = y + r * v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= t + 1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prima risposta è sempre giusta; la seconda è giusta con probabilità schiacciante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Barattare una minima probabilità d'errore con un enorme guadagno di velocità: così la crittografia reale verifica i primi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cammino casuale dà un risultato diverso a ogni esecuzione: le simulazioni ne mediano molti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 di analisi dei dati che automatizza la costruzione di un modello analitico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40118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10257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calcolatore trova schemi nascosti senza essere programmato esplicitamente su dove cercare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412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03194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modelli generativi di oggi sono la stessa idea su scala enorme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grande modello linguistico prevede il prossimo frammento di testo a partire da miliardi di numeri appresi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75043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59503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 numeri sono bit in memoria, moltiplicati e sommati da processori: l'argomento di questo corso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modello può sbagliare con grande sicurezza: per controllarlo servono i fondamenti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f(x)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classico è scritto da una persona. Nel machine learning, f si impara dagli esempi.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 valori diversi può rappresentare un byte?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colore PRG32 0xF81F è: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ciano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giallo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 byte occupa in memoria .asciz "CIAO"?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RISC-V, .word 0x0000ABCD è memorizzata all'indirizzo A. Quale byte si trova all'indirizzo 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0xAB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0xCD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0xDC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Colorate di magenta la barra della Lezione 02, poi di un grigio scuro a scelta: calcolate prima a mano il valore RGB565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Stampate il vostro nome con prg32_gfx_text8. Quanti byte occupa la stringa?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Dichiarate con .word un vettore di quattro colori e disegnate quattro barre, una per colore, leggendo ogni colore con lw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la vista della memoria sulla stringa e sul vettore: trovate lo zero finale e verificate l'ordine dei byte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barre in quattro colori; nella vista della memoria la stringa finisce con 00 e ogni .word mostra per primo il byte meno significativo.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993731"/>
                <a:gridCol w="2641527"/>
                <a:gridCol w="2641527"/>
                <a:gridCol w="28176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/ byte / word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/ byte / parola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positional notation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notazione posizionale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vettore (array)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hexadecimal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esadecimale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 list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concatenata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campionamento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quantisation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quantizzazione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order (endianness)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ordinamento dei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learning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apprendimento automatico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L'informazione digitale è una configurazione di bit più una convenzione per leggerla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03134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40408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stessi sedici bit possono essere un numero, un colore o due caratteri: decide il programma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86430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73375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L'esadecimale è una scrittura compatta del binario, quattro bit per cifra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38739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296463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testo è fatto di numeri (ASCII, UTF-8); le strutture sono byte più una regola per trovare l'elemento successivo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2203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129430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sono la moneta di questo regno; gli algoritmi trasformano i dati in informazione utile alle decisioni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50533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962398"/>
            <a:ext cx="10710367" cy="1209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2.4 e 2.9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Charles Petzold: Code, i capitoli su bit, byte e testo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Sebastian Raschka: Machine Learning with Python (suggerito nel corso originale)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Rappresentare l'informazione digitale</dc:title>
  <dc:subject>Lezione 04</dc:subject>
  <dc:creator>Raffaele Montella</dc:creator>
  <cp:lastModifiedBy>Raffaele Montella</cp:lastModifiedBy>
  <cp:revision>1</cp:revision>
  <dcterms:created xsi:type="dcterms:W3CDTF">2026-10-12T11:28:40Z</dcterms:created>
  <dcterms:modified xsi:type="dcterms:W3CDTF">2026-10-12T11:28:40Z</dcterms:modified>
</cp:coreProperties>
</file>