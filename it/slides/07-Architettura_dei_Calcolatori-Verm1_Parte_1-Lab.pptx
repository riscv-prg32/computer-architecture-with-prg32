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5a9e9df-56d3-eebb-11fb-04f84cd2c73a}">
          <p14:sldIdLst>
            <p14:sldId id="256"/>
            <p14:sldId id="257"/>
          </p14:sldIdLst>
        </p14:section>
        <p14:section name="Passo 0: il ciclo di lavoro" id="{1f36e9b0-3050-d569-2cc9-dcd3f6976ad3}">
          <p14:sldIdLst>
            <p14:sldId id="258"/>
            <p14:sldId id="259"/>
          </p14:sldIdLst>
        </p14:section>
        <p14:section name="Passo 2: una griglia e una testa" id="{81e7d73b-eb08-e748-43e0-45073a0928d7}">
          <p14:sldIdLst>
            <p14:sldId id="260"/>
            <p14:sldId id="261"/>
            <p14:sldId id="262"/>
            <p14:sldId id="263"/>
            <p14:sldId id="264"/>
          </p14:sldIdLst>
        </p14:section>
        <p14:section name="Passo 3: il movimento" id="{4849e915-4e70-f673-2b3c-87bce3331aee}">
          <p14:sldIdLst>
            <p14:sldId id="265"/>
            <p14:sldId id="266"/>
          </p14:sldIdLst>
        </p14:section>
        <p14:section name="Passo 4: guardare dentro con PRG32-QT" id="{91c16429-7495-1dda-2a15-b25d2500da1b}">
          <p14:sldIdLst>
            <p14:sldId id="267"/>
          </p14:sldIdLst>
        </p14:section>
        <p14:section name="Eseguire e provare" id="{ad186ce1-8b91-b7c1-9ede-f621532b174d}">
          <p14:sldIdLst>
            <p14:sldId id="268"/>
            <p14:sldId id="269"/>
            <p14:sldId id="270"/>
            <p14:sldId id="271"/>
            <p14:sldId id="272"/>
          </p14:sldIdLst>
        </p14:section>
        <p14:section name="Esercizi" id="{9336ecd3-9c12-f661-da29-dd5fdd1bfbb9}">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07.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il progetto Verm1; contratto init/update/draw; un colore è un numero; gli array in memoria; .text, .rodata, .data; indirizzo, valore, load, store; perché si salva ra; shift come moltiplicazione; la virgola fissa; le pseudo-istruzioni; l'ordine little-endian. DA UTILIZZARE OGGI: gli strumenti di PRG32, il debugger di PRG32-QT (si usa, non si studia, in questo corso). DA COMPRENDERE PIÙ AVANTI: formati delle istruzioni (Lezione 19). Una slide senza etichetta è contesto: una storia, un esempio, una domanda, un esercizio.
Percorso. I risultati di oggi: (1) costruire una cartuccia da un file vuoto: una griglia, un titolo e una testa che si muove; (2) mettere costanti e variabili nella sezione giusta, .rodata o .data; (3) controllare una velocità con un accumulatore in virgola fissa. Si appoggia su: contratto init/update/draw (Lezione 02); un colore è un numero (Lezione 04); gli array in memoria (Lezione 04); indirizzo, valore, load, store (Lezione 02); perché si salva ra (Lezione 02). Prossimo passo: Lezione 08, Elementi di algebra di Boole.
Ponte. Nella Lezione 02 il passo 2 salvava ra sullo stack prima delle sue chiamate, e lw t1, 0(t0) leggeva una parola all'indirizzo in t0. Oggi verm1_draw salva ra e verm1_update no, e ogni variabile di Verm1 si legge con la e lw. La Lezione 18 spiega lo stack e la convenzione di chiamata; la Lezione 19 nomina i modi di indirizzamento. Richiamo: Perché verm1_draw salva ra mentre verm1_update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riferimento è ~/arc12/verm1/verm1_part1.S; tools/tests/verm1_check.py lo compila e lo gioca con un giocatore programmato, e verm1_steps.py esegue i punti di controllo intermedi.
Per il docente: Procurarsi il codice una volta: git clone https://github.com/riscv-prg32/computer-architecture-with-prg32 ~/arc12. Il programma di riferimento è ~/arc12/verm1/verm1_part1.S; tools/tests/verm1_check.py lo compila e lo gioca con un giocatore programmato, e verm1_steps.py esegue i punti di controllo intermedi.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crea nella cartella home una cartella chiamata verm1, e in essa un solo file, verm1.S, che crescerà da una parte all'altra. Il primo comando compila la cartuccia; il secondo la invia a PRG32-QT, in esecuzione sullo stesso computer, e la avvia. Questi due comandi sono identici in ogni tutorial, ed è proprio questo il punto: il costo di provare un'idea deve essere trascurabile. Se localhost non risponde, si usa l'indirizzo mostrato sulla schermata Setup di PRG32-QT; in alternativa il file si può importare dal menu di PRG32-QT.
DA UTILIZZARE OGGI: gli strumenti di PRG32 (si usa, non si studia, in questo corso).
Per il docente: Create una cartella ~/verm1 e tenetevi un solo file, verm1.S, che cresce di parte in parte. PRG32-QT ascolta sulla porta 8080 e mostra il proprio indirizzo nella schermata Setup: usate quello se localhost non risponde. La stessa cartuccia gira su QEMU (python3 -m prg32 qemu upload, poi qemu run) e sulla scheda (--url http://192.168.4.1).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passo 1 è lo scheletro della Lezione 02 con il prefisso verm1: tre etichette globali e tre funzioni che si limitano a ritornare. Lo si scrive, lo si compila e lo si esegue. Il risultato corretto è uno schermo nero, che dimostra che gli strumenti funzionano e che il firmware trova i tre punti di ingresso. Un errore di compilazione a questo punto indica un problema di installazione, non del programma, e va risolto prima di proseguire. L'ultimo richiamo enuncia la regola di metodo dell'intero progetto: aggiungere una cosa, eseguire, osservare; mai due cose insieme, così che ogni guasto abbia una sola causa candidata.
DA COMPRENDERE OGGI: contratto init/update/draw.
Per il docente: Lo scheletro della Lezione 02. Se qui la compilazione fallisce il problema è l'installazione, non il programma: va risolto prima di proseguire.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righe sostituiscono l'inizio dello scheletro. Ogni .equ lega un nome a un numero e non occupa memoria: l'assemblatore si limita a sostituire il valore dovunque compaia il nome. Si definiscono tre colori in RGB565. Poi la geometria: una cella misura 8 per 8 pixel, quindi i 320 pixel di larghezza contengono 40 colonne; gli 8 pixel in alto sono riservati al titolo, e i restanti 192 contengono 24 righe. SPEED_Q8, la velocità in virgola fissa, si usa nel passo 3. Costanti con un nome rendono il programma leggibile e i suoi parametri facili da cambiare in un solo punto.
DA COMPRENDERE OGGI: un colore è un numero.
Per il docente: Sostituite con queste le prime righe dello scheletro. SPEED_Q8 si usa nel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blocco va alla fine del file. La sezione .rodata contiene ciò che non cambia mai: il titolo, una stringa terminata da un byte zero grazie a .asciz. La sezione .data contiene le variabili, una parola a 32 bit ciascuna: la colonna della testa, la sua riga e la frazione di passo accumulata finora. I valori iniziali scritti qui sono solo un punto di partenza; init li assegna di nuovo esplicitamente, per una ragione data nella prossima slide.
DA COMPRENDERE OGGI: .text, .rodata, .data.
Per il docente: Mettete questo in fondo al file. step_q8 si usa nel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mette la testa nella sua posizione di partenza. Per ogni variabile lo schema è identico: la carica l'indirizzo, li il valore, e sw memorizza il valore all'indirizzo. L'accumulatore step_q8 si azzera memorizzando direttamente il registro zero. La funzione non chiama nulla, quindi è una foglia e non richiede stack frame. Perché assegnare valori che .data contiene già? Perché init può essere invocata di nuovo per ricominciare il gioco; il principio generale è di non fare mai affidamento sul contenuto precedente della memoria.
DA COMPRENDERE OGGI: indirizzo, valore, load,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fa tre chiamate: pulisce lo schermo, scrive il titolo, disegna la testa. Perciò salva ra in uno stack frame all'ingresso e lo ripristina all'uscita, come nella Lezione 02. La conversione da cella a pixel merita attenzione: la colonna si carica in a0 e si fa scorrere a sinistra di 3; la riga si carica in a1, si fa scorrere e si sposta di TOP. Gli argomenti rimanenti sono larghezza, altezza e colore. Gli argomenti si passano da a0 ad a4, nell'ordine in cui la funzione chiamata li attende.
DA COMPRENDERE OGGI: perché si salva ra; shift come moltiplicazione.
Per il docente: prg32_gfx_text8(x, y, stringa, colore del testo, colore dello sfondo); prg32_gfx_rect(x, y, larghezza, altezza, colore).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Compilare ed eseguire. In alto a sinistra deve comparire la parola VERM1, e un quadrato verde fermo nella colonna 5 della riga 12. La schermata della slide è stata presa dalla Parte 1 finita, quindi la sua testa sta più a destra; la differenza è attesa. Se il quadrato è nel posto sbagliato, le prime cose da controllare sono i due scorrimenti e la somma di TOP.
Per il docente: Schermata prodotta da tools/tests/verm1_check.py a partire da verm1/verm1_part1.S.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verm1_update si legge meglio in due metà. Prima il timer: si carica step_q8, si somma la velocità e si confronta la somma con 256. Se è minore, si salta all'etichetta 2, si memorizza l'accumulatore e si ritorna: in questo frame non si muove nulla. Altrimenti si sottrae 256, si conserva il resto e lo si memorizza. Poi il passo: si carica head_x, lo si incrementa e lo si confronta con COLS; se la colonna è arrivata a 40 torna a 0, e la testa rientra da sinistra. Le etichette 1: e 2: sono etichette locali, e 1f significa "la prossima etichetta 1, cercando in avanti".
DA COMPRENDERE OGGI: la virgola fissa.
Per il docente: blt confronta numeri con segno, e qui va bene: tutti i valori sono piccoli e positivi. Le etichette locali 1: e 2: si richiamano con 1f e 2f, «il prossimo 1 o 2 in avanti».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Eseguire. La testa si muove verso destra a circa cinque celle al secondo, esce dalla colonna 39 e ricompare nella colonna 0. Si fa poi variare la velocità, prevedendo il risultato prima di ogni esecuzione: con 8 la testa è lenta; con 128 fa un passo ogni due frame; con 256 uno per frame. Un valore maggiore rivela un limite di questo programma: update fa al più un passo per frame, quindi le velocità oltre 256 saturano. Scoprire un limite del genere per previsione ed esperimento è esattamente l'abitudine che il corso vuole formare.
Per il docente: Con SPEED_Q8 = 256 la testa avanza di una cella per frame; valori più grandi danno comunque un passo per frame, perché update fa al più un passo: un limite che vale la pena scoprire.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debugger non mostra il sorgente ma ciò che l'assemblatore ne ha ricavato. I nomi simbolici sono spariti: le etichette sono diventate indirizzi, e SPEED_Q8 è diventato il numero 40. Le pseudo-istruzioni sono state espanse: la in auipc seguita da addi, li in un addi da zero, ret in un salto tramite ra. Alcune istruzioni portano il prefisso c.: sono le codifiche compresse a 16 bit delle stesse operazioni, la C di RV32IMAC. Riconoscere il proprio programma in questo listato è un'abilità che si acquisisce con la pratica; i formati delle istruzioni che stanno dietro si studiano nella Lezione 19.
DA COMPRENDERE OGGI: le pseudo-istruzioni. DA COMPRENDERE PIÙ AVANTI: formati delle istruzioni (si studia nella Lezione 19).
Per il docente: Disassemblato di verm1_update da verm1/verm1_part1.S (objdump, rv32imac), abbreviato; gli scostamenti esatti dipendono dalla compilazione. I formati delle istruzioni sono l'argomento della Lezione 19; le forme compresse vi sono solo nominate, e sono elencate nell'Appendice A del libro.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modifiche che rendono il programma dello studente, ciascuna di poche righe. Far muovere la testa verso sinistra: la somma diventa una sottrazione, e il bordo si rileva dal segno del risultato. Farla muovere verso il basso. Disegnare una seconda cella, più scura, dietro la testa. Scrivere il proprio nome accanto al titolo, in un colore calcolato a mano. Prima di sperimentare va conservata una copia della Parte 1 funzionante, perché la Parte 2 riparte da essa.
Per il docente: Verso sinistra: addi t3, t3, -1, poi bgez t3 per saltare il rientro, altrimenti li t3, COLS-1. Il confronto è sul segno: Lezione 05. Verde più scuro: 0x03e0.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07: Verm1, parte 1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Verm1, parte 1: una testa che attraversa il mondo: il codice</a:t>
            </a:r>
            <a:endParaRPr lang="en-US" sz="47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07-Architettura_dei_Calcolatori-Verm1_Parte_1.pptx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1.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8 listati della Lezione 07, uno per slide: leggete il codice, poi le osservazioni numerate a fianco</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è il vostro verm1.S; il riferimento è verm1/verm1_part1.S, 78 righe, mostrato qui regione per regione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8539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8356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750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1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Compilare ed eseguire</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1: tre funzioni che ritornano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verm1.S - my Verm1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Scrivetelo, compilatelo, eseguitelo: uno schermo nero è la risposta giusta</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Il prefisso verm1 è il nome che passate a --entry-prefix</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init viene eseguita una volta; update e draw una volta per frame</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Da ora in poi: aggiungere una cosa, eseguire, guardare. Mai due cose insieme</a:t>
            </a:r>
            <a:endParaRPr lang="en-US" sz="1300" dirty="0"/>
          </a:p>
        </p:txBody>
      </p:sp>
      <p:sp>
        <p:nvSpPr>
          <p:cNvPr id="17" name="Shape 15"/>
          <p:cNvSpPr/>
          <p:nvPr/>
        </p:nvSpPr>
        <p:spPr>
          <a:xfrm>
            <a:off x="7526350" y="91440"/>
            <a:ext cx="4116705" cy="274320"/>
          </a:xfrm>
          <a:prstGeom prst="rect">
            <a:avLst/>
          </a:prstGeom>
          <a:solidFill>
            <a:srgbClr val="E0F2FE"/>
          </a:solidFill>
          <a:ln w="12700">
            <a:solidFill>
              <a:srgbClr val="0369A1"/>
            </a:solidFill>
            <a:prstDash val="solid"/>
          </a:ln>
        </p:spPr>
      </p:sp>
      <p:sp>
        <p:nvSpPr>
          <p:cNvPr id="18" name="Shape 16"/>
          <p:cNvSpPr/>
          <p:nvPr/>
        </p:nvSpPr>
        <p:spPr>
          <a:xfrm>
            <a:off x="752635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20" name="Text 17"/>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contratto init/update/draw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Costanti: i colori e la griglia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500" dirty="0">
                <a:solidFill>
                  <a:srgbClr val="8FB3A0"/>
                </a:solidFill>
                <a:latin typeface="Courier New" pitchFamily="34" charset="0"/>
                <a:ea typeface="Courier New" pitchFamily="34" charset="-122"/>
                <a:cs typeface="Courier New" pitchFamily="34" charset="-120"/>
              </a:rPr>
              <a:t># RGB565 colours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WHITE, 0xffff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  8               </a:t>
            </a:r>
            <a:pPr indent="0" marL="0">
              <a:buNone/>
            </a:pPr>
            <a:r>
              <a:rPr lang="en-US" sz="1500" dirty="0">
                <a:solidFill>
                  <a:srgbClr val="8FB3A0"/>
                </a:solidFill>
                <a:latin typeface="Courier New" pitchFamily="34" charset="0"/>
                <a:ea typeface="Courier New" pitchFamily="34" charset="-122"/>
                <a:cs typeface="Courier New" pitchFamily="34" charset="-120"/>
              </a:rPr>
              <a:t># a cell is 8 x 8 pixels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COLS,  40              </a:t>
            </a:r>
            <a:pPr indent="0" marL="0">
              <a:buNone/>
            </a:pPr>
            <a:r>
              <a:rPr lang="en-US" sz="1500" dirty="0">
                <a:solidFill>
                  <a:srgbClr val="8FB3A0"/>
                </a:solidFill>
                <a:latin typeface="Courier New" pitchFamily="34" charset="0"/>
                <a:ea typeface="Courier New" pitchFamily="34" charset="-122"/>
                <a:cs typeface="Courier New" pitchFamily="34" charset="-120"/>
              </a:rPr>
              <a:t># 320 / 8 cells across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ROWS,  24              </a:t>
            </a:r>
            <a:pPr indent="0" marL="0">
              <a:buNone/>
            </a:pPr>
            <a:r>
              <a:rPr lang="en-US" sz="1500" dirty="0">
                <a:solidFill>
                  <a:srgbClr val="8FB3A0"/>
                </a:solidFill>
                <a:latin typeface="Courier New" pitchFamily="34" charset="0"/>
                <a:ea typeface="Courier New" pitchFamily="34" charset="-122"/>
                <a:cs typeface="Courier New" pitchFamily="34" charset="-120"/>
              </a:rPr>
              <a:t># 192 / 8 cells down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TOP,   8               </a:t>
            </a:r>
            <a:pPr indent="0" marL="0">
              <a:buNone/>
            </a:pPr>
            <a:r>
              <a:rPr lang="en-US" sz="1500" dirty="0">
                <a:solidFill>
                  <a:srgbClr val="8FB3A0"/>
                </a:solidFill>
                <a:latin typeface="Courier New" pitchFamily="34" charset="0"/>
                <a:ea typeface="Courier New" pitchFamily="34" charset="-122"/>
                <a:cs typeface="Courier New" pitchFamily="34" charset="-120"/>
              </a:rPr>
              <a:t># the top 8 pixels are the title line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SPEED_Q8, 40           </a:t>
            </a:r>
            <a:pPr indent="0" marL="0">
              <a:buNone/>
            </a:pPr>
            <a:r>
              <a:rPr lang="en-US" sz="1500" dirty="0">
                <a:solidFill>
                  <a:srgbClr val="8FB3A0"/>
                </a:solidFill>
                <a:latin typeface="Courier New" pitchFamily="34" charset="0"/>
                <a:ea typeface="Courier New" pitchFamily="34" charset="-122"/>
                <a:cs typeface="Courier New" pitchFamily="34" charset="-120"/>
              </a:rPr>
              <a:t># 40/256 of a cell per frame (Q24.8)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verm1_draw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colori sono numeri RGB565: 0x07e0 è verde puro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320 pixel in larghezza, 8 per cella: 40 colonne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Gli 8 pixel in alto contengono il titolo; ne restano 192: 24 righe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.equ dà un nome a un numero: non si usa memoria</a:t>
            </a:r>
            <a:endParaRPr lang="en-US" sz="1200" dirty="0"/>
          </a:p>
        </p:txBody>
      </p:sp>
      <p:sp>
        <p:nvSpPr>
          <p:cNvPr id="17" name="Shape 15"/>
          <p:cNvSpPr/>
          <p:nvPr/>
        </p:nvSpPr>
        <p:spPr>
          <a:xfrm>
            <a:off x="7854645" y="91440"/>
            <a:ext cx="3788410" cy="274320"/>
          </a:xfrm>
          <a:prstGeom prst="rect">
            <a:avLst/>
          </a:prstGeom>
          <a:solidFill>
            <a:srgbClr val="E0F2FE"/>
          </a:solidFill>
          <a:ln w="12700">
            <a:solidFill>
              <a:srgbClr val="0369A1"/>
            </a:solidFill>
            <a:prstDash val="solid"/>
          </a:ln>
        </p:spPr>
      </p:sp>
      <p:sp>
        <p:nvSpPr>
          <p:cNvPr id="18" name="Shape 16"/>
          <p:cNvSpPr/>
          <p:nvPr/>
        </p:nvSpPr>
        <p:spPr>
          <a:xfrm>
            <a:off x="785464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20" name="Text 17"/>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un colore è un numero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Variabili e una stringa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   .asciz "VERM1"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head_x:  .word 5                </a:t>
            </a:r>
            <a:pPr indent="0" marL="0">
              <a:buNone/>
            </a:pPr>
            <a:r>
              <a:rPr lang="en-US" sz="1500" dirty="0">
                <a:solidFill>
                  <a:srgbClr val="8FB3A0"/>
                </a:solidFill>
                <a:latin typeface="Courier New" pitchFamily="34" charset="0"/>
                <a:ea typeface="Courier New" pitchFamily="34" charset="-122"/>
                <a:cs typeface="Courier New" pitchFamily="34" charset="-120"/>
              </a:rPr>
              <a:t># column of the head, 0 .. COLS-1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head_y:  .word 12               </a:t>
            </a:r>
            <a:pPr indent="0" marL="0">
              <a:buNone/>
            </a:pPr>
            <a:r>
              <a:rPr lang="en-US" sz="1500" dirty="0">
                <a:solidFill>
                  <a:srgbClr val="8FB3A0"/>
                </a:solidFill>
                <a:latin typeface="Courier New" pitchFamily="34" charset="0"/>
                <a:ea typeface="Courier New" pitchFamily="34" charset="-122"/>
                <a:cs typeface="Courier New" pitchFamily="34" charset="-120"/>
              </a:rPr>
              <a:t># row of the head, 0 .. ROWS-1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                </a:t>
            </a:r>
            <a:pPr indent="0" marL="0">
              <a:buNone/>
            </a:pPr>
            <a:r>
              <a:rPr lang="en-US" sz="1500" dirty="0">
                <a:solidFill>
                  <a:srgbClr val="8FB3A0"/>
                </a:solidFill>
                <a:latin typeface="Courier New" pitchFamily="34" charset="0"/>
                <a:ea typeface="Courier New" pitchFamily="34" charset="-122"/>
                <a:cs typeface="Courier New" pitchFamily="34" charset="-120"/>
              </a:rPr>
              <a:t># fraction of a step, in 1/256</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.rodata contiene le costanti: il titolo termina con un byte a zero</a:t>
            </a:r>
            <a:endParaRPr lang="en-US" sz="15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.data contiene le variabili: una parola di 32 bit ciascuna</a:t>
            </a:r>
            <a:endParaRPr lang="en-US" sz="15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 valori iniziali sono solo un punto di partenza: init li imposta di nuovo</a:t>
            </a:r>
            <a:endParaRPr lang="en-US" sz="1500" dirty="0"/>
          </a:p>
        </p:txBody>
      </p:sp>
      <p:sp>
        <p:nvSpPr>
          <p:cNvPr id="14" name="Shape 12"/>
          <p:cNvSpPr/>
          <p:nvPr/>
        </p:nvSpPr>
        <p:spPr>
          <a:xfrm>
            <a:off x="7854645" y="91440"/>
            <a:ext cx="3788410" cy="274320"/>
          </a:xfrm>
          <a:prstGeom prst="rect">
            <a:avLst/>
          </a:prstGeom>
          <a:solidFill>
            <a:srgbClr val="E0F2FE"/>
          </a:solidFill>
          <a:ln w="12700">
            <a:solidFill>
              <a:srgbClr val="0369A1"/>
            </a:solidFill>
            <a:prstDash val="solid"/>
          </a:ln>
        </p:spPr>
      </p:sp>
      <p:sp>
        <p:nvSpPr>
          <p:cNvPr id="15" name="Shape 13"/>
          <p:cNvSpPr/>
          <p:nvPr/>
        </p:nvSpPr>
        <p:spPr>
          <a:xfrm>
            <a:off x="785464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17" name="Text 14"/>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init: la testa al suo posto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5</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the head starts in column 5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 of row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zero, 0(t0)            </a:t>
            </a:r>
            <a:pPr indent="0" marL="0">
              <a:buNone/>
            </a:pPr>
            <a:r>
              <a:rPr lang="en-US" sz="1500" dirty="0">
                <a:solidFill>
                  <a:srgbClr val="8FB3A0"/>
                </a:solidFill>
                <a:latin typeface="Courier New" pitchFamily="34" charset="0"/>
                <a:ea typeface="Courier New" pitchFamily="34" charset="-122"/>
                <a:cs typeface="Courier New" pitchFamily="34" charset="-120"/>
              </a:rPr>
              <a:t># no fraction of a step yet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prende un INDIRIZZO, sw vi memorizza un VALORE</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init imposta la partenza in modo esplicito: mai fidarsi di ciò che la memoria conteneva</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zero è il registro che si legge sempre 0</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Una funzione foglia: nessuna chiamata, quindi nessun frame di stack</a:t>
            </a:r>
            <a:endParaRPr lang="en-US" sz="1100" dirty="0"/>
          </a:p>
        </p:txBody>
      </p:sp>
      <p:sp>
        <p:nvSpPr>
          <p:cNvPr id="17" name="Shape 15"/>
          <p:cNvSpPr/>
          <p:nvPr/>
        </p:nvSpPr>
        <p:spPr>
          <a:xfrm>
            <a:off x="7263714" y="91440"/>
            <a:ext cx="4379341" cy="274320"/>
          </a:xfrm>
          <a:prstGeom prst="rect">
            <a:avLst/>
          </a:prstGeom>
          <a:solidFill>
            <a:srgbClr val="E0F2FE"/>
          </a:solidFill>
          <a:ln w="12700">
            <a:solidFill>
              <a:srgbClr val="0369A1"/>
            </a:solidFill>
            <a:prstDash val="solid"/>
          </a:ln>
        </p:spPr>
      </p:sp>
      <p:sp>
        <p:nvSpPr>
          <p:cNvPr id="18" name="Shape 16"/>
          <p:cNvSpPr/>
          <p:nvPr/>
        </p:nvSpPr>
        <p:spPr>
          <a:xfrm>
            <a:off x="726371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20" name="Text 17"/>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indirizzo, valore,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draw: titolo e testa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verm1_draw:</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prg32_gfx_clear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0                  </a:t>
            </a:r>
            <a:pPr indent="0" marL="0">
              <a:buNone/>
            </a:pPr>
            <a:r>
              <a:rPr lang="en-US" sz="1150" dirty="0">
                <a:solidFill>
                  <a:srgbClr val="8FB3A0"/>
                </a:solidFill>
                <a:latin typeface="Courier New" pitchFamily="34" charset="0"/>
                <a:ea typeface="Courier New" pitchFamily="34" charset="-122"/>
                <a:cs typeface="Courier New" pitchFamily="34" charset="-120"/>
              </a:rPr>
              <a:t># 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a1, 0                  </a:t>
            </a:r>
            <a:pPr indent="0" marL="0">
              <a:buNone/>
            </a:pPr>
            <a:r>
              <a:rPr lang="en-US" sz="1150" dirty="0">
                <a:solidFill>
                  <a:srgbClr val="8FB3A0"/>
                </a:solidFill>
                <a:latin typeface="Courier New" pitchFamily="34" charset="0"/>
                <a:ea typeface="Courier New" pitchFamily="34" charset="-122"/>
                <a:cs typeface="Courier New" pitchFamily="34" charset="-120"/>
              </a:rPr>
              <a:t># 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a2, title              </a:t>
            </a:r>
            <a:pPr indent="0" marL="0">
              <a:buNone/>
            </a:pPr>
            <a:r>
              <a:rPr lang="en-US" sz="1150" dirty="0">
                <a:solidFill>
                  <a:srgbClr val="8FB3A0"/>
                </a:solidFill>
                <a:latin typeface="Courier New" pitchFamily="34" charset="0"/>
                <a:ea typeface="Courier New" pitchFamily="34" charset="-122"/>
                <a:cs typeface="Courier New" pitchFamily="34" charset="-120"/>
              </a:rPr>
              <a:t># address of the string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WHITE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prg32_gfx_text8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a0,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a0, a0, 3              </a:t>
            </a:r>
            <a:pPr indent="0" marL="0">
              <a:buNone/>
            </a:pPr>
            <a:r>
              <a:rPr lang="en-US" sz="1150" dirty="0">
                <a:solidFill>
                  <a:srgbClr val="8FB3A0"/>
                </a:solidFill>
                <a:latin typeface="Courier New" pitchFamily="34" charset="0"/>
                <a:ea typeface="Courier New" pitchFamily="34" charset="-122"/>
                <a:cs typeface="Courier New" pitchFamily="34" charset="-120"/>
              </a:rPr>
              <a:t># x = column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a1, a1,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150" dirty="0">
                <a:solidFill>
                  <a:srgbClr val="8FB3A0"/>
                </a:solidFill>
                <a:latin typeface="Courier New" pitchFamily="34" charset="0"/>
                <a:ea typeface="Courier New" pitchFamily="34" charset="-122"/>
                <a:cs typeface="Courier New" pitchFamily="34" charset="-120"/>
              </a:rPr>
              <a:t># y = row * 8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a2, CELL               </a:t>
            </a:r>
            <a:pPr indent="0" marL="0">
              <a:buNone/>
            </a:pPr>
            <a:r>
              <a:rPr lang="en-US" sz="1150" dirty="0">
                <a:solidFill>
                  <a:srgbClr val="8FB3A0"/>
                </a:solidFill>
                <a:latin typeface="Courier New" pitchFamily="34" charset="0"/>
                <a:ea typeface="Courier New" pitchFamily="34" charset="-122"/>
                <a:cs typeface="Courier New" pitchFamily="34" charset="-120"/>
              </a:rPr>
              <a:t># width</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CELL               </a:t>
            </a:r>
            <a:pPr indent="0" marL="0">
              <a:buNone/>
            </a:pPr>
            <a:r>
              <a:rPr lang="en-US" sz="1150" dirty="0">
                <a:solidFill>
                  <a:srgbClr val="8FB3A0"/>
                </a:solidFill>
                <a:latin typeface="Courier New" pitchFamily="34" charset="0"/>
                <a:ea typeface="Courier New" pitchFamily="34" charset="-122"/>
                <a:cs typeface="Courier New" pitchFamily="34" charset="-120"/>
              </a:rPr>
              <a:t># height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GREEN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prg32_gfx_rect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Cancellare, scrivere il titolo, disegnare un rettangolo: tre chiamate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Gli argomenti viaggiano da a0 ad a4, nell'ordine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slli di 3 moltiplica per 8: da cella a pixel</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fa delle chiamate, quindi salva ra in un frame di stack</a:t>
            </a:r>
            <a:endParaRPr lang="en-US" sz="1200" dirty="0"/>
          </a:p>
        </p:txBody>
      </p:sp>
      <p:sp>
        <p:nvSpPr>
          <p:cNvPr id="17" name="Shape 15"/>
          <p:cNvSpPr/>
          <p:nvPr/>
        </p:nvSpPr>
        <p:spPr>
          <a:xfrm>
            <a:off x="8051622" y="91440"/>
            <a:ext cx="3591433" cy="274320"/>
          </a:xfrm>
          <a:prstGeom prst="rect">
            <a:avLst/>
          </a:prstGeom>
          <a:solidFill>
            <a:srgbClr val="E0F2FE"/>
          </a:solidFill>
          <a:ln w="12700">
            <a:solidFill>
              <a:srgbClr val="0369A1"/>
            </a:solidFill>
            <a:prstDash val="solid"/>
          </a:ln>
        </p:spPr>
      </p:sp>
      <p:sp>
        <p:nvSpPr>
          <p:cNvPr id="18" name="Shape 16"/>
          <p:cNvSpPr/>
          <p:nvPr/>
        </p:nvSpPr>
        <p:spPr>
          <a:xfrm>
            <a:off x="805162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20" name="Text 17"/>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perché si salva 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una testa sulla griglia</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1.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Il titolo e la testa. Dopo il passo 3 la testa si muoverà: questa immagine è stata presa a 64 frame dall'avvio della Parte 1 finita</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Atteso ora: la parola VERM1 in alto a sinistra e un quadrato verde fermo nella colonna 5, riga 12.</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update: accumulare, avanzare, rientrare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350" dirty="0">
                <a:solidFill>
                  <a:srgbClr val="8FB3A0"/>
                </a:solidFill>
                <a:latin typeface="Courier New" pitchFamily="34" charset="0"/>
                <a:ea typeface="Courier New" pitchFamily="34" charset="-122"/>
                <a:cs typeface="Courier New" pitchFamily="34" charset="-120"/>
              </a:rPr>
              <a:t># add a fraction of a cell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t2, 256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t1, t2, 2f             </a:t>
            </a:r>
            <a:pPr indent="0" marL="0">
              <a:buNone/>
            </a:pPr>
            <a:r>
              <a:rPr lang="en-US" sz="1350" dirty="0">
                <a:solidFill>
                  <a:srgbClr val="8FB3A0"/>
                </a:solidFill>
                <a:latin typeface="Courier New" pitchFamily="34" charset="0"/>
                <a:ea typeface="Courier New" pitchFamily="34" charset="-122"/>
                <a:cs typeface="Courier New" pitchFamily="34" charset="-120"/>
              </a:rPr>
              <a:t># less than one whole cell: wait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sub  t1, t1, t2             </a:t>
            </a:r>
            <a:pPr indent="0" marL="0">
              <a:buNone/>
            </a:pPr>
            <a:r>
              <a:rPr lang="en-US" sz="1350" dirty="0">
                <a:solidFill>
                  <a:srgbClr val="8FB3A0"/>
                </a:solidFill>
                <a:latin typeface="Courier New" pitchFamily="34" charset="0"/>
                <a:ea typeface="Courier New" pitchFamily="34" charset="-122"/>
                <a:cs typeface="Courier New" pitchFamily="34" charset="-120"/>
              </a:rPr>
              <a:t># one cell done: keep the remainder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t3, t3, 1              </a:t>
            </a:r>
            <a:pPr indent="0" marL="0">
              <a:buNone/>
            </a:pPr>
            <a:r>
              <a:rPr lang="en-US" sz="1350" dirty="0">
                <a:solidFill>
                  <a:srgbClr val="8FB3A0"/>
                </a:solidFill>
                <a:latin typeface="Courier New" pitchFamily="34" charset="0"/>
                <a:ea typeface="Courier New" pitchFamily="34" charset="-122"/>
                <a:cs typeface="Courier New" pitchFamily="34" charset="-120"/>
              </a:rPr>
              <a:t># one cell to the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t3, t4,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t3, 0                  </a:t>
            </a:r>
            <a:pPr indent="0" marL="0">
              <a:buNone/>
            </a:pPr>
            <a:r>
              <a:rPr lang="en-US" sz="1350" dirty="0">
                <a:solidFill>
                  <a:srgbClr val="8FB3A0"/>
                </a:solidFill>
                <a:latin typeface="Courier New" pitchFamily="34" charset="0"/>
                <a:ea typeface="Courier New" pitchFamily="34" charset="-122"/>
                <a:cs typeface="Courier New" pitchFamily="34" charset="-120"/>
              </a:rPr>
              <a:t># past the right edge: back to column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 somma la velocità alla frazione; sotto 256, si aspetta</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256: lo si sottrae, si tiene il resto, si avanza di una cella</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La colonna 40 non esiste: si torna alla colonna 0</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Due uscite: ognuna memorizza ciò che ha cambiato</a:t>
            </a:r>
            <a:endParaRPr lang="en-US" sz="1300" dirty="0"/>
          </a:p>
        </p:txBody>
      </p:sp>
      <p:sp>
        <p:nvSpPr>
          <p:cNvPr id="17" name="Shape 15"/>
          <p:cNvSpPr/>
          <p:nvPr/>
        </p:nvSpPr>
        <p:spPr>
          <a:xfrm>
            <a:off x="8182940" y="91440"/>
            <a:ext cx="3460115" cy="274320"/>
          </a:xfrm>
          <a:prstGeom prst="rect">
            <a:avLst/>
          </a:prstGeom>
          <a:solidFill>
            <a:srgbClr val="E0F2FE"/>
          </a:solidFill>
          <a:ln w="12700">
            <a:solidFill>
              <a:srgbClr val="0369A1"/>
            </a:solidFill>
            <a:prstDash val="solid"/>
          </a:ln>
        </p:spPr>
      </p:sp>
      <p:sp>
        <p:nvSpPr>
          <p:cNvPr id="18" name="Shape 16"/>
          <p:cNvSpPr/>
          <p:nvPr/>
        </p:nvSpPr>
        <p:spPr>
          <a:xfrm>
            <a:off x="818294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20" name="Text 17"/>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la testa attraversa il mondo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la testa va verso destra, circa cinque celle al secondo</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Aspettate il bordo destro: la testa esce dalla colonna 39 e rientra dalla colonna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Portate SPEED_Q8 a 8, poi a 128, poi a 256: prevedete la velocità prima di eseguire</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Cambiate in init la riga di partenza e il colore della testa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 testa attraversa le quaranta colonne in 256 frame, circa otto secondi e mezzo a trenta frame al secondo, all'infinito.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listato: il vostro codice dopo l'assemblatore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auipc   t0, 0x0          # la t0, step_q8   is two instructions: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t0, t0, ...      #   t0 = address of step_q8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t1, t1, 40       # SPEED_Q8 is gone: only the number is left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t2, zero, 256    # li t2,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t1, t2,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sub     t1, t1, t2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c.addi  t3, 1            # addi t3, t3, 1 in a 16-bit form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c.jr    ra               # ret</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nomi sono spariti: le etichette sono diventate indirizzi, le costanti numeri</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Le pseudo-istruzioni sono espanse: la è auipc più addi, li è addi da zero, ret è un salto a ra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Alcune istruzioni cominciano con c.: sono le forme compresse a 16 bit delle stesse istruzioni</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cartuccia è caricata all'indirizzo 0x40800000: ogni indirizzo che vedete parte da lì</a:t>
            </a:r>
            <a:endParaRPr lang="en-US" sz="1200" dirty="0"/>
          </a:p>
        </p:txBody>
      </p:sp>
      <p:sp>
        <p:nvSpPr>
          <p:cNvPr id="17" name="Shape 15"/>
          <p:cNvSpPr/>
          <p:nvPr/>
        </p:nvSpPr>
        <p:spPr>
          <a:xfrm>
            <a:off x="6175451" y="91440"/>
            <a:ext cx="5467604" cy="274320"/>
          </a:xfrm>
          <a:prstGeom prst="rect">
            <a:avLst/>
          </a:prstGeom>
          <a:solidFill>
            <a:srgbClr val="F3E8FF"/>
          </a:solidFill>
          <a:ln w="12700">
            <a:solidFill>
              <a:srgbClr val="7E22CE"/>
            </a:solidFill>
            <a:prstDash val="dash"/>
          </a:ln>
        </p:spPr>
      </p:sp>
      <p:sp>
        <p:nvSpPr>
          <p:cNvPr id="18" name="Shape 16"/>
          <p:cNvSpPr/>
          <p:nvPr/>
        </p:nvSpPr>
        <p:spPr>
          <a:xfrm>
            <a:off x="6202883" y="128016"/>
            <a:ext cx="45720" cy="45720"/>
          </a:xfrm>
          <a:prstGeom prst="rect">
            <a:avLst/>
          </a:prstGeom>
          <a:solidFill>
            <a:srgbClr val="7E22CE"/>
          </a:solidFill>
          <a:ln w="12700">
            <a:solidFill>
              <a:srgbClr val="7E22CE"/>
            </a:solidFill>
            <a:prstDash val="solid"/>
          </a:ln>
        </p:spPr>
      </p:sp>
      <p:sp>
        <p:nvSpPr>
          <p:cNvPr id="19" name="Shape 17"/>
          <p:cNvSpPr/>
          <p:nvPr/>
        </p:nvSpPr>
        <p:spPr>
          <a:xfrm>
            <a:off x="6202883" y="205740"/>
            <a:ext cx="45720" cy="45720"/>
          </a:xfrm>
          <a:prstGeom prst="rect">
            <a:avLst/>
          </a:prstGeom>
          <a:solidFill>
            <a:srgbClr val="7E22CE"/>
          </a:solidFill>
          <a:ln w="12700">
            <a:solidFill>
              <a:srgbClr val="7E22CE"/>
            </a:solidFill>
            <a:prstDash val="solid"/>
          </a:ln>
        </p:spPr>
      </p:sp>
      <p:sp>
        <p:nvSpPr>
          <p:cNvPr id="20" name="Shape 18"/>
          <p:cNvSpPr/>
          <p:nvPr/>
        </p:nvSpPr>
        <p:spPr>
          <a:xfrm>
            <a:off x="6202883"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303467" y="128016"/>
            <a:ext cx="201168" cy="201168"/>
          </a:xfrm>
          <a:prstGeom prst="rect">
            <a:avLst/>
          </a:prstGeom>
        </p:spPr>
      </p:pic>
      <p:sp>
        <p:nvSpPr>
          <p:cNvPr id="22" name="Text 19"/>
          <p:cNvSpPr txBox="1"/>
          <p:nvPr/>
        </p:nvSpPr>
        <p:spPr>
          <a:xfrm>
            <a:off x="6559499" y="91440"/>
            <a:ext cx="504698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formati delle istruzioni</a:t>
            </a:r>
            <a:pPr indent="0" marL="0">
              <a:buNone/>
            </a:pPr>
            <a:r>
              <a:rPr lang="en-US" sz="1100" b="1" dirty="0">
                <a:solidFill>
                  <a:srgbClr val="6B21A8"/>
                </a:solidFill>
                <a:latin typeface="Calibri" pitchFamily="34" charset="0"/>
                <a:ea typeface="Calibri" pitchFamily="34" charset="-122"/>
                <a:cs typeface="Calibri" pitchFamily="34" charset="-120"/>
              </a:rPr>
              <a:t> → Lezione 19</a:t>
            </a:r>
            <a:endParaRPr lang="en-US" sz="1100" dirty="0"/>
          </a:p>
        </p:txBody>
      </p:sp>
      <p:sp>
        <p:nvSpPr>
          <p:cNvPr id="23" name="Shape 20"/>
          <p:cNvSpPr/>
          <p:nvPr/>
        </p:nvSpPr>
        <p:spPr>
          <a:xfrm>
            <a:off x="2342972" y="91440"/>
            <a:ext cx="3722751" cy="274320"/>
          </a:xfrm>
          <a:prstGeom prst="rect">
            <a:avLst/>
          </a:prstGeom>
          <a:solidFill>
            <a:srgbClr val="E0F2FE"/>
          </a:solidFill>
          <a:ln w="12700">
            <a:solidFill>
              <a:srgbClr val="0369A1"/>
            </a:solidFill>
            <a:prstDash val="solid"/>
          </a:ln>
        </p:spPr>
      </p:sp>
      <p:sp>
        <p:nvSpPr>
          <p:cNvPr id="24" name="Shape 21"/>
          <p:cNvSpPr/>
          <p:nvPr/>
        </p:nvSpPr>
        <p:spPr>
          <a:xfrm>
            <a:off x="2342972" y="91440"/>
            <a:ext cx="73152" cy="274320"/>
          </a:xfrm>
          <a:prstGeom prst="rect">
            <a:avLst/>
          </a:prstGeom>
          <a:solidFill>
            <a:srgbClr val="0369A1"/>
          </a:solidFill>
          <a:ln w="12700">
            <a:solidFill>
              <a:srgbClr val="0369A1"/>
            </a:solidFill>
            <a:prstDash val="solid"/>
          </a:ln>
        </p:spPr>
      </p:sp>
      <p:pic>
        <p:nvPicPr>
          <p:cNvPr id="25" name="Image 1" descr="preencoded.png">    </p:cNvPr>
          <p:cNvPicPr>
            <a:picLocks noChangeAspect="1"/>
          </p:cNvPicPr>
          <p:nvPr/>
        </p:nvPicPr>
        <p:blipFill>
          <a:blip r:embed="rId2"/>
          <a:stretch>
            <a:fillRect/>
          </a:stretch>
        </p:blipFill>
        <p:spPr>
          <a:xfrm>
            <a:off x="2470988" y="128016"/>
            <a:ext cx="201168" cy="201168"/>
          </a:xfrm>
          <a:prstGeom prst="rect">
            <a:avLst/>
          </a:prstGeom>
        </p:spPr>
      </p:pic>
      <p:sp>
        <p:nvSpPr>
          <p:cNvPr id="26" name="Text 22"/>
          <p:cNvSpPr txBox="1"/>
          <p:nvPr/>
        </p:nvSpPr>
        <p:spPr>
          <a:xfrm>
            <a:off x="2727020"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pseudo-istruzioni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la parola VERM1 in alto a sinistra e una testa verde che attraversa la griglia da sinistra a destra, circa cinque celle al secondo, e rientra dalla colonna 0.</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verm1_p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Fatelo vostro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Fate muovere la testa verso sinistra: quale istruzione cambia, e quale confronto rileva il bordo?</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Fatela muovere invece verso il basso, rientrando dalla riga 23 alla riga 0</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Disegnate una seconda cella, di un verde più scuro, una colonna dietro la testa: un primo accenno di corpo</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Scrivete il vostro nome accanto al titolo, in un colore calcolato a mano in RGB565</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Ogni modifica sono poche righe. Tenete una copia della Parte 1 funzionante prima di sperimentare: la Parte 2 parte da lì.</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1: una testa che attraversa il mondo: il codice</dc:title>
  <dc:subject>Lezione 07</dc:subject>
  <dc:creator>Raffaele Montella</dc:creator>
  <cp:lastModifiedBy>Raffaele Montella</cp:lastModifiedBy>
  <cp:revision>1</cp:revision>
  <dcterms:created xsi:type="dcterms:W3CDTF">2026-10-17T07:16:49Z</dcterms:created>
  <dcterms:modified xsi:type="dcterms:W3CDTF">2026-10-17T07:16:49Z</dcterms:modified>
</cp:coreProperties>
</file>