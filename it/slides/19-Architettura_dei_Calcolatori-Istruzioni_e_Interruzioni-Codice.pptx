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2aae241-700b-d46a-e7ae-7897728b4ad5}">
          <p14:sldIdLst>
            <p14:sldId id="256"/>
            <p14:sldId id="257"/>
          </p14:sldIdLst>
        </p14:section>
        <p14:section name="Riscaldamento sulla macchina" id="{2c3ccb28-0adb-af94-a831-da66f0069684}">
          <p14:sldIdLst>
            <p14:sldId id="258"/>
          </p14:sldIdLst>
        </p14:section>
        <p14:section name="Istruzioni" id="{2dd6e6e3-b3ea-29c7-f2ae-a1dc083a25fd}">
          <p14:sldIdLst>
            <p14:sldId id="259"/>
          </p14:sldIdLst>
        </p14:section>
        <p14:section name="Il ciclo del processore" id="{fb954b71-8617-7bc5-7a66-64cfb2701fc8}">
          <p14:sldIdLst>
            <p14:sldId id="260"/>
            <p14:sldId id="261"/>
          </p14:sldIdLst>
        </p14:section>
        <p14:section name="La soluzione di RISC-V" id="{1060664a-ecc9-944a-e31c-c779992ceb57}">
          <p14:sldIdLst>
            <p14:sldId id="262"/>
          </p14:sldIdLst>
        </p14:section>
        <p14:section name="Il programma completo" id="{862c38c0-4ac1-3a4b-b3a7-9409406729a5}">
          <p14:sldIdLst>
            <p14:sldId id="263"/>
            <p14:sldId id="264"/>
            <p14:sldId id="265"/>
            <p14:sldId id="266"/>
            <p14:sldId id="267"/>
            <p14:sldId id="268"/>
          </p14:sldIdLst>
        </p14:section>
        <p14:section name="Eseguire e provare" id="{c088a353-c8f8-5e87-88dc-c3d2d4e9a123}">
          <p14:sldIdLst>
            <p14:sldId id="269"/>
            <p14:sldId id="270"/>
            <p14:sldId id="271"/>
            <p14:sldId id="272"/>
            <p14:sldId id="273"/>
          </p14:sldIdLst>
        </p14:section>
        <p14:section name="Esercizi" id="{9a955ecb-48a3-0e32-cda0-4066cd989164}">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19. La presentazione della lezione contiene i concetti; questa contiene tutto ciò che si scrive e si esegue: i listati con la loro spiegazione, il programma completo, che cosa mostra, e il modo di provarlo su ciascuno dei tre host.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~/arc12/code/l19.S; tools/tests/cartridges/run.py lo compila, lo esegue su PRG32-QT con ingressi programmati e controlla i pixel del frame.
Per il docente: Procurarsi il codice una volta: git clone https://github.com/riscv-prg32/computer-architecture-with-prg32 ~/arc12. Il programma di questa lezione è ~/arc12/code/l19.S;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parole di memoria, a quattro indirizzi di distanza: è first_update, la funzione che incrementa un contatore. A sinistra gli indirizzi, al centro il codice macchina, a destra ciò che avete scritto. Il processore ha soltanto la colonna centrale. Tre domande organizzano la lezione. Come fa a sapere che la prima parola è un caricamento e la seconda una somma? Quali passi compie per ciascuna? E mentre le esegue, come si accorge che è stato premuto un pulsante o che è scaduto un timer?
DA COMPRENDERE OGGI: formati delle istruzioni.
Per il docente: La la che precede queste istruzioni è omessa, e le codifiche sono quelle non compresse a 32 bit: con l'estensione C l'assemblatore può scegliere per alcune le forme a 16 bit. Gli indirizzi sono relativi all'inizio della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istruzioni decodificate a mano. Si scrivono in binario le otto cifre esadecimali; si staccano gli ultimi sette bit, l'opcode, che dice il formato; poi si tagliano i campi rimanenti. Per 0x006283B3 l'opcode dice da registro a registro, i campi danno x7, x5 e x6, e funct3 con funct7 dicono somma: add t2, t0, t1. Per 0x0002A303 l'opcode dice load, l'immediato è 0, la base è x5, la destinazione x6: lw t1, 0(t0). Fatelo una volta con carta e matita.
DA COMPRENDERE OGGI: formati delle istruzioni.
Per il docente: Metodo: scrivere in binario le otto cifre esadecimali, staccare gli ultimi sette bit (l'opcode), cercare il formato, poi tagliare i campi. I decodificatori della Lezione 11 fanno la stessa cosa in una frazione di nanosecondo.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fase di prelievo in quattro trasferimenti tra registri, con i registri del modello della Lezione 18. Il contenuto del PC va in MA, il registro degli indirizzi di memoria. La memoria viene letta e la parola arriva in MB, il buffer. La parola viene copiata in D, il registro di decodifica. Il PC viene incrementato di 4, perché un'istruzione occupa quattro byte, così punta alla successiva. Ogni riga è un trasferimento sul bus interno, comandato dall'unità di controllo.
DA COMPRENDERE OGGI: il ciclo del processore.
Per il docente: Fase fetch. PC, D, MA e MB sono i registri del modello di riferimento della Lezione 18; i trasferimenti viaggiano sul bus interno. Nella presentazione originale la macchina aveva parole di 16 bit e il PC avanzava di 2; in RV32 una parola è di quattro byte, quindi il PC avanza di 4 (di 2 dopo un'istruzione compressa).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altre quattro fasi, affiancate per due istruzioni. Per add, la decodifica legge i due registri nei registri operando della ALU, l'esecuzione li somma, la fase di memoria viene saltata, e la somma viene scritta in t2. Per lw, il secondo operando è l'immediato, la somma è un indirizzo, la fase di memoria legge la parola a quell'indirizzo, e la parola letta viene scritta in t1. Lo stesso sommatore serve a entrambe: cambiano solo i comandi dell'unità di controllo.
DA COMPRENDERE OGGI: il ciclo del processore.
Per il docente: O1, O2 e U sono i registri della ALU. Lo stesso sommatore calcola una somma per add e un indirizzo per lw: cambiano solo i segnali di controllo. Uno store finisce alla fase di memoria; un salto condizionato finisce all'esecuzione, scegliendo il prossimo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gestore per sommi capi. Fa spazio sullo stack e salva i registri che sta per usare: la parte software del contesto. Legge mcause con csrr e ne esamina il segno: il bit più alto è il bit di segno, quindi bgez separa le eccezioni dalle interruzioni con una sola istruzione. Dopo aver servito l'evento ripristina i registri, rilascia lo stack ed esegue mret. Il programma interrotto non deve accorgersi di nulla: un registro lasciato sporco qui è un errore che compare a caso, ovunque.
DA COMPRENDERE OGGI: interruzioni e trap.
Per il docente: Uno schema, non il sorgente di PRG32: un gestore vero salva tutti i registri caller-saved, di solito su uno stack separato raggiunto tramite mscratch. csrr t0, mcause è la pseudo-istruzione per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Decodificate a mano due parole, con formato, campi e assembly. Codificate sub t0, t1, t2 e sw a0, 8(sp): il percorso inverso. Scrivete i trasferimenti tra registri dell'intero ciclo per uno store e per un salto condizionato. Disegnate il diagramma della pipeline di sei istruzioni su quattro stadi e dite quando termina la sesta. E in PRG32-QT fermatevi in first_update, avanzate di un passo, e confrontate il codice macchina mostrato con la vostra decodifica del riscaldamento.
Per il docente: 0x00A28293: imm 10, rs1 x5, funct3 000, rd x5, opcode 0010011. 0x40628333: funct7 0100000, rs2 x6, rs1 x5, funct3 000, rd x6, opcode 0110011. sub t0, t1, t2 = 0x407302B3. sw a0, 8(sp) = 0x00A12423. Sei istruzioni su quattro stadi terminano al ciclo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19: Istruzioni e interruzioni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Istruzioni e interruzioni: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19-Architettura_dei_Calcolatori-Istruzioni_e_Interruzioni.pptx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2 listati della Lezione 19,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code/l19.S, 112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parole in memoria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indirizzo   codice macchina  che cosa avete scritto</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0x000       0x0002A303       lw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0x004       0x00130313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0x008       0x0062A023       sw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0x00C       0x00008067       ret</a:t>
            </a:r>
            <a:endParaRPr lang="en-US" sz="17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È first_update della Lezione 02 così come sta in memoria: quattro numeri, a quattro indirizzi di distanza</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Come fa il processore a sapere che il primo è un caricamento e il secondo una somma?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Quali passi compie per ciascuno?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 mentre li esegue, come si accorge che è stato premuto un pulsante o che è scaduto un timer?</a:t>
            </a:r>
            <a:endParaRPr lang="en-US" sz="12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Decodifica a mano</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non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registro-registro</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immediato</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scostamento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una parola</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51" name="Shape 49"/>
          <p:cNvSpPr/>
          <p:nvPr/>
        </p:nvSpPr>
        <p:spPr>
          <a:xfrm>
            <a:off x="7657668" y="91440"/>
            <a:ext cx="3985387" cy="274320"/>
          </a:xfrm>
          <a:prstGeom prst="rect">
            <a:avLst/>
          </a:prstGeom>
          <a:solidFill>
            <a:srgbClr val="E0F2FE"/>
          </a:solidFill>
          <a:ln w="12700">
            <a:solidFill>
              <a:srgbClr val="0369A1"/>
            </a:solidFill>
            <a:prstDash val="solid"/>
          </a:ln>
        </p:spPr>
      </p:sp>
      <p:sp>
        <p:nvSpPr>
          <p:cNvPr id="52" name="Shape 50"/>
          <p:cNvSpPr/>
          <p:nvPr/>
        </p:nvSpPr>
        <p:spPr>
          <a:xfrm>
            <a:off x="7657668" y="91440"/>
            <a:ext cx="73152" cy="274320"/>
          </a:xfrm>
          <a:prstGeom prst="rect">
            <a:avLst/>
          </a:prstGeom>
          <a:solidFill>
            <a:srgbClr val="0369A1"/>
          </a:solidFill>
          <a:ln w="12700">
            <a:solidFill>
              <a:srgbClr val="0369A1"/>
            </a:solidFill>
            <a:prstDash val="solid"/>
          </a:ln>
        </p:spPr>
      </p:sp>
      <p:pic>
        <p:nvPicPr>
          <p:cNvPr id="5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4" name="Text 5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fase di prelievo, trasferimento per trasferimento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Passo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Trasferimento tra registri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Significato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dell'istruzione va nel registro degli indirizzi di memoria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abilita lettura;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la memoria mette l'istruzione sul bus dati; viene catturata nel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l'istruzione viene copiata nel registro di decodifica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PC ora punta all'istruzione successiva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resto del ciclo per due istruzioni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decodifica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(l'immediato)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esecuzione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(un indirizzo)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abilita lettura;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scrittura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La stessa ALU somma due registri per add e forma un indirizzo per lw. L'unità di controllo, decodificando l'opcode, decide quali trasferimenti avvengono.</a:t>
            </a:r>
            <a:endParaRPr lang="en-US" sz="1300" dirty="0"/>
          </a:p>
        </p:txBody>
      </p:sp>
      <p:sp>
        <p:nvSpPr>
          <p:cNvPr id="5"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6"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8"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gestore di trap, per sommi capi</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programma interrotto non deve accorgersene: ogni registro toccato dal gestore viene salvato e ripristinato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letto come numero con segno è negativo per le interruzioni: bgez separa le due famiglie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è l'unica via del ritorno: riabilita le interruzioni e ricarica il PC in un solo passo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firmware del kit contiene proprio una routine così; la vostra cartuccia viene interrotta molte volte per frame</a:t>
            </a:r>
            <a:endParaRPr lang="en-US" sz="1200" dirty="0"/>
          </a:p>
        </p:txBody>
      </p:sp>
      <p:sp>
        <p:nvSpPr>
          <p:cNvPr id="17" name="Shape 15"/>
          <p:cNvSpPr/>
          <p:nvPr/>
        </p:nvSpPr>
        <p:spPr>
          <a:xfrm>
            <a:off x="7985963" y="91440"/>
            <a:ext cx="3657092" cy="274320"/>
          </a:xfrm>
          <a:prstGeom prst="rect">
            <a:avLst/>
          </a:prstGeom>
          <a:solidFill>
            <a:srgbClr val="E0F2FE"/>
          </a:solidFill>
          <a:ln w="12700">
            <a:solidFill>
              <a:srgbClr val="0369A1"/>
            </a:solidFill>
            <a:prstDash val="solid"/>
          </a:ln>
        </p:spPr>
      </p:sp>
      <p:sp>
        <p:nvSpPr>
          <p:cNvPr id="18" name="Shape 16"/>
          <p:cNvSpPr/>
          <p:nvPr/>
        </p:nvSpPr>
        <p:spPr>
          <a:xfrm>
            <a:off x="798596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20" name="Text 1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(1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(2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(3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(4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(5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(6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quattro righe di 32 lampade, il codice macchina di lw t1, 0(t0) / addi t1, t1, 1 / sw t1, 0(t0) / ret, e accanto a ciascuna un quadrato verde: la parola in memoria è quella decodificata a mano a lezione.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Decodificate a mano 0x00A28293 e 0x40628333: formato, campi, assembly</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Codificate sub t0, t1, t2 e sw a0, 8(sp)</a:t>
            </a:r>
            <a:endParaRPr lang="en-US" sz="2000" dirty="0"/>
          </a:p>
        </p:txBody>
      </p:sp>
      <p:sp>
        <p:nvSpPr>
          <p:cNvPr id="8" name="Text 6"/>
          <p:cNvSpPr txBox="1"/>
          <p:nvPr/>
        </p:nvSpPr>
        <p:spPr>
          <a:xfrm>
            <a:off x="548640" y="26822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66395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i trasferimenti tra registri dell'intero ciclo per sw t1, 0(t0) e per beq t0, t1, target</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per sei istruzioni su una pipeline a quattro stadi: quando termina la sesta?</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mettete un breakpoint in first_update, avanzate di un passo, e confrontate il codice macchina mostrato con la vostra decodifica del riscaldamento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addi t0, t0, 10 e sub t1, t0, t1. Su PRG32-QT: le quattro parole del riscaldamento, o i loro equivalenti compressi.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Istruzioni e interruzioni: il codice</dc:title>
  <dc:subject>Lezione 19</dc:subject>
  <dc:creator>Raffaele Montella</dc:creator>
  <cp:lastModifiedBy>Raffaele Montella</cp:lastModifiedBy>
  <cp:revision>1</cp:revision>
  <dcterms:created xsi:type="dcterms:W3CDTF">2026-10-16T15:51:39Z</dcterms:created>
  <dcterms:modified xsi:type="dcterms:W3CDTF">2026-10-16T15:51:39Z</dcterms:modified>
</cp:coreProperties>
</file>