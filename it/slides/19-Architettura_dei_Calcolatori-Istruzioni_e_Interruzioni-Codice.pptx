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e7a56ee-c306-57f8-04a0-64c76faaf3ee}">
          <p14:sldIdLst>
            <p14:sldId id="256"/>
            <p14:sldId id="257"/>
          </p14:sldIdLst>
        </p14:section>
        <p14:section name="I listati" id="{5c6dd9c4-9033-652b-d9a0-71aec9c75455}">
          <p14:sldIdLst>
            <p14:sldId id="258"/>
            <p14:sldId id="259"/>
            <p14:sldId id="260"/>
            <p14:sldId id="261"/>
            <p14:sldId id="262"/>
          </p14:sldIdLst>
        </p14:section>
        <p14:section name="Il programma completo" id="{b8b10b8a-ba03-a4ca-68ab-c3898720d69a}">
          <p14:sldIdLst>
            <p14:sldId id="263"/>
            <p14:sldId id="264"/>
            <p14:sldId id="265"/>
            <p14:sldId id="266"/>
            <p14:sldId id="267"/>
            <p14:sldId id="268"/>
          </p14:sldIdLst>
        </p14:section>
        <p14:section name="Eseguire e provare" id="{3e300c17-f9eb-befd-daa2-5a9f4a9526b6}">
          <p14:sldIdLst>
            <p14:sldId id="269"/>
            <p14:sldId id="270"/>
            <p14:sldId id="271"/>
            <p14:sldId id="272"/>
            <p14:sldId id="273"/>
          </p14:sldIdLst>
        </p14:section>
        <p14:section name="Esercizi" id="{c89faf8c-c4f1-a9af-31e1-9d370de9a842}">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19. La presentazione della lezione contiene i concetti; questa contiene tutto ciò che si scrive e si esegue: i listati con la loro spiegazione, il programma completo, che cosa mostra, e il modo di provarlo su ciascuno dei tre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contiene la presentazione, nell'ordine delle slide. Il programma della lezione è un file che potete compilare ed eseguire così com'è: partite da lì, e tornate ai listati per capire ogni parte. Il programma di questa lezione è ~/arc12/code/l19.S; tools/tests/cartridges/run.py lo compila, lo esegue su PRG32-QT con ingressi programmati e controlla i pixel del frame.
Per il docente: Procurarsi il codice una volta: git clone https://github.com/riscv-prg32/computer-architecture-with-prg32 ~/arc12. Il programma di questa lezione è ~/arc12/code/l19.S;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parole di memoria, a quattro indirizzi di distanza: è first_update, la funzione che incrementa un contatore. A sinistra gli indirizzi, al centro il codice macchina, a destra ciò che avete scritto. Il processore ha soltanto la colonna centrale. Tre domande organizzano la lezione. Come fa a sapere che la prima parola è un caricamento e la seconda una somma? Quali passi compie per ciascuna? E mentre le esegue, come si accorge che è stato premuto un pulsante o che è scaduto un timer?
Per il docente: La la che precede queste istruzioni è omessa, e le codifiche sono quelle non compresse a 32 bit: con l'estensione C l'assemblatore può scegliere per alcune le forme a 16 bit. Gli indirizzi sono relativi all'inizio della funzione.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istruzioni decodificate a mano. Si scrivono in binario le otto cifre esadecimali; si staccano gli ultimi sette bit, l'opcode, che dice il formato; poi si tagliano i campi rimanenti. Per 0x006283B3 l'opcode dice da registro a registro, i campi danno x7, x5 e x6, e funct3 con funct7 dicono somma: add t2, t0, t1. Per 0x0002A303 l'opcode dice load, l'immediato è 0, la base è x5, la destinazione x6: lw t1, 0(t0). Fatelo una volta con carta e matita.
Per il docente: Metodo: scrivere in binario le otto cifre esadecimali, staccare gli ultimi sette bit (l'opcode), cercare il formato, poi tagliare i campi. I decodificatori della Lezione 11 fanno la stessa cosa in una frazione di nanosecondo.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di prelievo in quattro trasferimenti tra registri, con i registri del modello della Lezione 18. Il contenuto del PC va in MA, il registro degli indirizzi di memoria. La memoria viene letta e la parola arriva in MB, il buffer. La parola viene copiata in D, il registro di decodifica. Il PC viene incrementato di 4, perché un'istruzione occupa quattro byte, così punta alla successiva. Ogni riga è un trasferimento sul bus interno, comandato dall'unità di controllo.
Per il docente: Fase fetch. PC, D, MA e MB sono i registri del modello di riferimento della Lezione 18; i trasferimenti viaggiano sul bus interno. Nella presentazione originale la macchina aveva parole di 16 bit e il PC avanzava di 2; in RV32 una parola è di quattro byte, quindi il PC avanza di 4 (di 2 dopo un'istruzione compressa).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altre quattro fasi, affiancate per due istruzioni. Per add, la decodifica legge i due registri nei registri operando della ALU, l'esecuzione li somma, la fase di memoria viene saltata, e la somma viene scritta in t2. Per lw, il secondo operando è l'immediato, la somma è un indirizzo, la fase di memoria legge la parola a quell'indirizzo, e la parola letta viene scritta in t1. Lo stesso sommatore serve a entrambe: cambiano solo i comandi dell'unità di controllo.
Per il docente: O1, O2 e U sono i registri della ALU. Lo stesso sommatore calcola una somma per add e un indirizzo per lw: cambiano solo i segnali di controllo. Uno store finisce alla fase di memoria; un salto condizionato finisce all'esecuzione, scegliendo il prossimo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gestore per sommi capi. Fa spazio sullo stack e salva i registri che sta per usare: la parte software del contesto. Legge mcause con csrr e ne esamina il segno: il bit più alto è il bit di segno, quindi bgez separa le eccezioni dalle interruzioni con una sola istruzione. Dopo aver servito l'evento ripristina i registri, rilascia lo stack ed esegue mret. Il programma interrotto non deve accorgersi di nulla: un registro lasciato sporco qui è un errore che compare a caso, ovunque.
Per il docente: Uno schema, non il sorgente di PRG32: un gestore vero salva tutti i registri caller-saved, di solito su uno stack separato raggiunto tramite mscratch. csrr t0, mcause è la pseudo-istruzione per csrrs t0, mcause,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mostra il programma quando gira, e che cosa premere. Prevedete prima di eseguire: se lo schermo è diverso da questa immagine, la differenza è informazione. L'immagine è stata scritta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rapida: PRG32-QT sul vostro computer. Quattro passi, ciascuno con il suo comando. PRG32-QT si comporta come una scheda sulla porta 8080, ed è per questo che il comando di caricamento dice esp32c6. Con la modalità debug abilitata potete fermarvi su qualsiasi istruzione e leggere registri e memoria.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Caricate la cartuccia mentre QEMU è chiuso. Il firmware si apre sul menu Setup: scegliete Run Cartridge e lo slot. Ricordate che la tastiera è letta dal terminale, non dalla finestra con l'immagine.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Il firmware si scrive una volta, via USB; dopo, le cartucce viaggiano sul Wi-Fi. Il comando di caricamento è quello usato per PRG32-QT con l'indirizzo della scheda. È l'unico host che i test automatici non eseguono: provatelo, e riferite ciò che vedete.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comuni, che cosa significa ciascuno, e che cosa fare. Leggete il messaggio prima di cambiare qualcosa: quasi sempre nomina la causa.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Decodificate a mano due parole, con formato, campi e assembly. Codificate sub t0, t1, t2 e sw a0, 8(sp): il percorso inverso. Scrivete i trasferimenti tra registri dell'intero ciclo per uno store e per un salto condizionato. Disegnate il diagramma della pipeline di sei istruzioni su quattro stadi e dite quando termina la sesta. E in PRG32-QT fermatevi in first_update, avanzate di un passo, e confrontate il codice macchina mostrato con la vostra decodifica del riscaldamento.
Per il docente: 0x00A28293: imm 10, rs1 x5, funct3 000, rd x5, opcode 0010011. 0x40628333: funct7 0100000, rs2 x6, rs1 x5, funct3 000, rd x6, opcode 0110011. sub t0, t1, t2 = 0x407302B3. sw a0, 8(sp) = 0x00A12423. Sei istruzioni su quattro stadi terminano al ciclo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19: Istruzioni e interruzioni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Istruzioni e interruzioni: il codice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game_asteroids.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2 listati della Lezione 19,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code/l19.S, 112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parole in memoria</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indirizzo   codice macchina  che cosa avete scritto</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0x000       0x0002A303       lw   t1,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0x004       0x00130313       addi t1, t1, 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0x008       0x0062A023       sw   t1,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0x00C       0x00008067       ret</a:t>
            </a:r>
            <a:endParaRPr lang="en-US" sz="17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È first_update della Lezione 02 così come sta in memoria: quattro numeri, a quattro indirizzi di distanza</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Come fa il processore a sapere che il primo è un caricamento e il secondo una somma?</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Quali passi compie per ciascuno?</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 mentre li esegue, come si accorge che è stato premuto un pulsante o che è scaduto un timer?</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Decodifica a mano</a:t>
            </a:r>
            <a:endParaRPr lang="en-US" sz="3200" dirty="0"/>
          </a:p>
        </p:txBody>
      </p:sp>
      <p:sp>
        <p:nvSpPr>
          <p:cNvPr id="3" name="Text 1"/>
          <p:cNvSpPr txBox="1"/>
          <p:nvPr/>
        </p:nvSpPr>
        <p:spPr>
          <a:xfrm>
            <a:off x="548640" y="132588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0x006283B3</a:t>
            </a:r>
            <a:endParaRPr lang="en-US" sz="2200" dirty="0"/>
          </a:p>
        </p:txBody>
      </p:sp>
      <p:sp>
        <p:nvSpPr>
          <p:cNvPr id="4" name="Text 2"/>
          <p:cNvSpPr txBox="1"/>
          <p:nvPr/>
        </p:nvSpPr>
        <p:spPr>
          <a:xfrm>
            <a:off x="8229600" y="132588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add t2, t0, t1</a:t>
            </a:r>
            <a:endParaRPr lang="en-US" sz="2200" dirty="0"/>
          </a:p>
        </p:txBody>
      </p:sp>
      <p:sp>
        <p:nvSpPr>
          <p:cNvPr id="5" name="Text 3"/>
          <p:cNvSpPr txBox="1"/>
          <p:nvPr/>
        </p:nvSpPr>
        <p:spPr>
          <a:xfrm>
            <a:off x="548640" y="2194560"/>
            <a:ext cx="2394823"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a:t>
            </a:r>
            <a:endParaRPr lang="en-US" sz="1600" dirty="0"/>
          </a:p>
        </p:txBody>
      </p:sp>
      <p:sp>
        <p:nvSpPr>
          <p:cNvPr id="6" name="Text 4"/>
          <p:cNvSpPr txBox="1"/>
          <p:nvPr/>
        </p:nvSpPr>
        <p:spPr>
          <a:xfrm>
            <a:off x="548640"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funct7</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 non sub</a:t>
            </a:r>
            <a:endParaRPr lang="en-US" sz="1300" dirty="0"/>
          </a:p>
        </p:txBody>
      </p:sp>
      <p:sp>
        <p:nvSpPr>
          <p:cNvPr id="7" name="Text 5"/>
          <p:cNvSpPr txBox="1"/>
          <p:nvPr/>
        </p:nvSpPr>
        <p:spPr>
          <a:xfrm>
            <a:off x="585216"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8" name="Text 6"/>
          <p:cNvSpPr txBox="1"/>
          <p:nvPr/>
        </p:nvSpPr>
        <p:spPr>
          <a:xfrm>
            <a:off x="1746051"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25</a:t>
            </a:r>
            <a:endParaRPr lang="en-US" sz="1050" dirty="0"/>
          </a:p>
        </p:txBody>
      </p:sp>
      <p:sp>
        <p:nvSpPr>
          <p:cNvPr id="9" name="Text 7"/>
          <p:cNvSpPr txBox="1"/>
          <p:nvPr/>
        </p:nvSpPr>
        <p:spPr>
          <a:xfrm>
            <a:off x="2943463"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10" name="Text 8"/>
          <p:cNvSpPr txBox="1"/>
          <p:nvPr/>
        </p:nvSpPr>
        <p:spPr>
          <a:xfrm>
            <a:off x="2943463"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rs2</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11" name="Text 9"/>
          <p:cNvSpPr txBox="1"/>
          <p:nvPr/>
        </p:nvSpPr>
        <p:spPr>
          <a:xfrm>
            <a:off x="2980039"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24</a:t>
            </a:r>
            <a:endParaRPr lang="en-US" sz="1050" dirty="0"/>
          </a:p>
        </p:txBody>
      </p:sp>
      <p:sp>
        <p:nvSpPr>
          <p:cNvPr id="12" name="Text 10"/>
          <p:cNvSpPr txBox="1"/>
          <p:nvPr/>
        </p:nvSpPr>
        <p:spPr>
          <a:xfrm>
            <a:off x="3798757"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13" name="Text 11"/>
          <p:cNvSpPr txBox="1"/>
          <p:nvPr/>
        </p:nvSpPr>
        <p:spPr>
          <a:xfrm>
            <a:off x="4654050"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14" name="Text 12"/>
          <p:cNvSpPr txBox="1"/>
          <p:nvPr/>
        </p:nvSpPr>
        <p:spPr>
          <a:xfrm>
            <a:off x="4654050"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15" name="Text 13"/>
          <p:cNvSpPr txBox="1"/>
          <p:nvPr/>
        </p:nvSpPr>
        <p:spPr>
          <a:xfrm>
            <a:off x="4690626"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6" name="Text 14"/>
          <p:cNvSpPr txBox="1"/>
          <p:nvPr/>
        </p:nvSpPr>
        <p:spPr>
          <a:xfrm>
            <a:off x="5509344"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7" name="Text 15"/>
          <p:cNvSpPr txBox="1"/>
          <p:nvPr/>
        </p:nvSpPr>
        <p:spPr>
          <a:xfrm>
            <a:off x="6364638" y="219456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a:t>
            </a:r>
            <a:endParaRPr lang="en-US" sz="1600" dirty="0"/>
          </a:p>
        </p:txBody>
      </p:sp>
      <p:sp>
        <p:nvSpPr>
          <p:cNvPr id="18" name="Text 16"/>
          <p:cNvSpPr txBox="1"/>
          <p:nvPr/>
        </p:nvSpPr>
        <p:spPr>
          <a:xfrm>
            <a:off x="6364638" y="279806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a:t>
            </a:r>
            <a:endParaRPr lang="en-US" sz="1300" dirty="0"/>
          </a:p>
        </p:txBody>
      </p:sp>
      <p:sp>
        <p:nvSpPr>
          <p:cNvPr id="19" name="Text 17"/>
          <p:cNvSpPr txBox="1"/>
          <p:nvPr/>
        </p:nvSpPr>
        <p:spPr>
          <a:xfrm>
            <a:off x="6401214" y="195681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20" name="Text 18"/>
          <p:cNvSpPr txBox="1"/>
          <p:nvPr/>
        </p:nvSpPr>
        <p:spPr>
          <a:xfrm>
            <a:off x="6951141" y="195681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21" name="Text 19"/>
          <p:cNvSpPr txBox="1"/>
          <p:nvPr/>
        </p:nvSpPr>
        <p:spPr>
          <a:xfrm>
            <a:off x="7537645" y="219456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00111</a:t>
            </a:r>
            <a:endParaRPr lang="en-US" sz="1600" dirty="0"/>
          </a:p>
        </p:txBody>
      </p:sp>
      <p:sp>
        <p:nvSpPr>
          <p:cNvPr id="22" name="Text 20"/>
          <p:cNvSpPr txBox="1"/>
          <p:nvPr/>
        </p:nvSpPr>
        <p:spPr>
          <a:xfrm>
            <a:off x="7537645"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x7 = t2</a:t>
            </a:r>
            <a:endParaRPr lang="en-US" sz="1300" dirty="0"/>
          </a:p>
        </p:txBody>
      </p:sp>
      <p:sp>
        <p:nvSpPr>
          <p:cNvPr id="23" name="Text 21"/>
          <p:cNvSpPr txBox="1"/>
          <p:nvPr/>
        </p:nvSpPr>
        <p:spPr>
          <a:xfrm>
            <a:off x="7574221"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24" name="Text 22"/>
          <p:cNvSpPr txBox="1"/>
          <p:nvPr/>
        </p:nvSpPr>
        <p:spPr>
          <a:xfrm>
            <a:off x="8392939"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25" name="Text 23"/>
          <p:cNvSpPr txBox="1"/>
          <p:nvPr/>
        </p:nvSpPr>
        <p:spPr>
          <a:xfrm>
            <a:off x="9248232" y="219456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0110011</a:t>
            </a:r>
            <a:endParaRPr lang="en-US" sz="1600" dirty="0"/>
          </a:p>
        </p:txBody>
      </p:sp>
      <p:sp>
        <p:nvSpPr>
          <p:cNvPr id="26" name="Text 24"/>
          <p:cNvSpPr txBox="1"/>
          <p:nvPr/>
        </p:nvSpPr>
        <p:spPr>
          <a:xfrm>
            <a:off x="9248232"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registro-registro</a:t>
            </a:r>
            <a:endParaRPr lang="en-US" sz="1300" dirty="0"/>
          </a:p>
        </p:txBody>
      </p:sp>
      <p:sp>
        <p:nvSpPr>
          <p:cNvPr id="27" name="Text 25"/>
          <p:cNvSpPr txBox="1"/>
          <p:nvPr/>
        </p:nvSpPr>
        <p:spPr>
          <a:xfrm>
            <a:off x="9284808"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8" name="Text 26"/>
          <p:cNvSpPr txBox="1"/>
          <p:nvPr/>
        </p:nvSpPr>
        <p:spPr>
          <a:xfrm>
            <a:off x="10445644"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9" name="Text 27"/>
          <p:cNvSpPr txBox="1"/>
          <p:nvPr/>
        </p:nvSpPr>
        <p:spPr>
          <a:xfrm>
            <a:off x="548640" y="379476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0x0002A303</a:t>
            </a:r>
            <a:endParaRPr lang="en-US" sz="2200" dirty="0"/>
          </a:p>
        </p:txBody>
      </p:sp>
      <p:sp>
        <p:nvSpPr>
          <p:cNvPr id="30" name="Text 28"/>
          <p:cNvSpPr txBox="1"/>
          <p:nvPr/>
        </p:nvSpPr>
        <p:spPr>
          <a:xfrm>
            <a:off x="8229600" y="379476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lw t1, 0(t0)</a:t>
            </a:r>
            <a:endParaRPr lang="en-US" sz="2200" dirty="0"/>
          </a:p>
        </p:txBody>
      </p:sp>
      <p:sp>
        <p:nvSpPr>
          <p:cNvPr id="31" name="Text 29"/>
          <p:cNvSpPr txBox="1"/>
          <p:nvPr/>
        </p:nvSpPr>
        <p:spPr>
          <a:xfrm>
            <a:off x="548640" y="4663440"/>
            <a:ext cx="4105410" cy="54864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000000000000</a:t>
            </a:r>
            <a:endParaRPr lang="en-US" sz="1600" dirty="0"/>
          </a:p>
        </p:txBody>
      </p:sp>
      <p:sp>
        <p:nvSpPr>
          <p:cNvPr id="32" name="Text 30"/>
          <p:cNvSpPr txBox="1"/>
          <p:nvPr/>
        </p:nvSpPr>
        <p:spPr>
          <a:xfrm>
            <a:off x="548640" y="5266944"/>
            <a:ext cx="4105410"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immediato</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scostamento 0</a:t>
            </a:r>
            <a:endParaRPr lang="en-US" sz="1300" dirty="0"/>
          </a:p>
        </p:txBody>
      </p:sp>
      <p:sp>
        <p:nvSpPr>
          <p:cNvPr id="33" name="Text 31"/>
          <p:cNvSpPr txBox="1"/>
          <p:nvPr/>
        </p:nvSpPr>
        <p:spPr>
          <a:xfrm>
            <a:off x="585216" y="4425696"/>
            <a:ext cx="205270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34" name="Text 32"/>
          <p:cNvSpPr txBox="1"/>
          <p:nvPr/>
        </p:nvSpPr>
        <p:spPr>
          <a:xfrm>
            <a:off x="2601345" y="4425696"/>
            <a:ext cx="2016129"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35" name="Text 33"/>
          <p:cNvSpPr txBox="1"/>
          <p:nvPr/>
        </p:nvSpPr>
        <p:spPr>
          <a:xfrm>
            <a:off x="4654050" y="466344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36" name="Text 34"/>
          <p:cNvSpPr txBox="1"/>
          <p:nvPr/>
        </p:nvSpPr>
        <p:spPr>
          <a:xfrm>
            <a:off x="4654050"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37" name="Text 35"/>
          <p:cNvSpPr txBox="1"/>
          <p:nvPr/>
        </p:nvSpPr>
        <p:spPr>
          <a:xfrm>
            <a:off x="4690626"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38" name="Text 36"/>
          <p:cNvSpPr txBox="1"/>
          <p:nvPr/>
        </p:nvSpPr>
        <p:spPr>
          <a:xfrm>
            <a:off x="5509344"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39" name="Text 37"/>
          <p:cNvSpPr txBox="1"/>
          <p:nvPr/>
        </p:nvSpPr>
        <p:spPr>
          <a:xfrm>
            <a:off x="6364638" y="466344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010</a:t>
            </a:r>
            <a:endParaRPr lang="en-US" sz="1600" dirty="0"/>
          </a:p>
        </p:txBody>
      </p:sp>
      <p:sp>
        <p:nvSpPr>
          <p:cNvPr id="40" name="Text 38"/>
          <p:cNvSpPr txBox="1"/>
          <p:nvPr/>
        </p:nvSpPr>
        <p:spPr>
          <a:xfrm>
            <a:off x="6364638" y="526694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una parola</a:t>
            </a:r>
            <a:endParaRPr lang="en-US" sz="1300" dirty="0"/>
          </a:p>
        </p:txBody>
      </p:sp>
      <p:sp>
        <p:nvSpPr>
          <p:cNvPr id="41" name="Text 39"/>
          <p:cNvSpPr txBox="1"/>
          <p:nvPr/>
        </p:nvSpPr>
        <p:spPr>
          <a:xfrm>
            <a:off x="6401214" y="442569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42" name="Text 40"/>
          <p:cNvSpPr txBox="1"/>
          <p:nvPr/>
        </p:nvSpPr>
        <p:spPr>
          <a:xfrm>
            <a:off x="6951141" y="442569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43" name="Text 41"/>
          <p:cNvSpPr txBox="1"/>
          <p:nvPr/>
        </p:nvSpPr>
        <p:spPr>
          <a:xfrm>
            <a:off x="7537645" y="466344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44" name="Text 42"/>
          <p:cNvSpPr txBox="1"/>
          <p:nvPr/>
        </p:nvSpPr>
        <p:spPr>
          <a:xfrm>
            <a:off x="7537645"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45" name="Text 43"/>
          <p:cNvSpPr txBox="1"/>
          <p:nvPr/>
        </p:nvSpPr>
        <p:spPr>
          <a:xfrm>
            <a:off x="7574221"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46" name="Text 44"/>
          <p:cNvSpPr txBox="1"/>
          <p:nvPr/>
        </p:nvSpPr>
        <p:spPr>
          <a:xfrm>
            <a:off x="8392939"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47" name="Text 45"/>
          <p:cNvSpPr txBox="1"/>
          <p:nvPr/>
        </p:nvSpPr>
        <p:spPr>
          <a:xfrm>
            <a:off x="9248232" y="466344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0000011</a:t>
            </a:r>
            <a:endParaRPr lang="en-US" sz="1600" dirty="0"/>
          </a:p>
        </p:txBody>
      </p:sp>
      <p:sp>
        <p:nvSpPr>
          <p:cNvPr id="48" name="Text 46"/>
          <p:cNvSpPr txBox="1"/>
          <p:nvPr/>
        </p:nvSpPr>
        <p:spPr>
          <a:xfrm>
            <a:off x="9248232" y="526694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load</a:t>
            </a:r>
            <a:endParaRPr lang="en-US" sz="1300" dirty="0"/>
          </a:p>
        </p:txBody>
      </p:sp>
      <p:sp>
        <p:nvSpPr>
          <p:cNvPr id="49" name="Text 47"/>
          <p:cNvSpPr txBox="1"/>
          <p:nvPr/>
        </p:nvSpPr>
        <p:spPr>
          <a:xfrm>
            <a:off x="9284808" y="442569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50" name="Text 48"/>
          <p:cNvSpPr txBox="1"/>
          <p:nvPr/>
        </p:nvSpPr>
        <p:spPr>
          <a:xfrm>
            <a:off x="10445644" y="442569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fase di prelievo, trasferimento per trasferimento</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3273762"/>
                <a:gridCol w="700221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Passo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Trasferimento tra registri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Significato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MA := PC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l'indirizzo dell'istruzione va nel registro degli indirizzi di memoria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abilita lettura; MB := M[MA]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la memoria mette l'istruzione sul bus dati; viene catturata nel buffer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 := MB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l'istruzione viene copiata nel registro di decodifica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PC := PC + 4</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il PC ora punta all'istruzione successiva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resto del ciclo per due istruzioni</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4365016"/>
                <a:gridCol w="509251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Fase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add t2, t0, t1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lw t1, 0(t0)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decodifica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R[t1]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0  (l'immediato)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esecuzione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  (un indirizzo)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memoria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MA := U;  abilita lettura;  MB := M[MA]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scrittura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R[t2] := 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R[t1] := MB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La stessa ALU somma due registri per add e forma un indirizzo per lw. L'unità di controllo, decodificando l'opcode, decide quali trasferimenti avvengono.</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gestore di trap, per sommi capi</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trap_entry: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t0, 0(sp)            </a:t>
            </a:r>
            <a:pPr indent="0" marL="0">
              <a:buNone/>
            </a:pPr>
            <a:r>
              <a:rPr lang="en-US" sz="1300" dirty="0">
                <a:solidFill>
                  <a:srgbClr val="8FB3A0"/>
                </a:solidFill>
                <a:latin typeface="Courier New" pitchFamily="34" charset="0"/>
                <a:ea typeface="Courier New" pitchFamily="34" charset="-122"/>
                <a:cs typeface="Courier New" pitchFamily="34" charset="-120"/>
              </a:rPr>
              <a:t># software context: save what we use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csrr t0, mcause           </a:t>
            </a:r>
            <a:pPr indent="0" marL="0">
              <a:buNone/>
            </a:pPr>
            <a:r>
              <a:rPr lang="en-US" sz="1300" dirty="0">
                <a:solidFill>
                  <a:srgbClr val="8FB3A0"/>
                </a:solidFill>
                <a:latin typeface="Courier New" pitchFamily="34" charset="0"/>
                <a:ea typeface="Courier New" pitchFamily="34" charset="-122"/>
                <a:cs typeface="Courier New" pitchFamily="34" charset="-120"/>
              </a:rPr>
              <a:t># why are we here?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bgez t0, exception        </a:t>
            </a:r>
            <a:pPr indent="0" marL="0">
              <a:buNone/>
            </a:pPr>
            <a:r>
              <a:rPr lang="en-US" sz="1300" dirty="0">
                <a:solidFill>
                  <a:srgbClr val="8FB3A0"/>
                </a:solidFill>
                <a:latin typeface="Courier New" pitchFamily="34" charset="0"/>
                <a:ea typeface="Courier New" pitchFamily="34" charset="-122"/>
                <a:cs typeface="Courier New" pitchFamily="34" charset="-120"/>
              </a:rPr>
              <a:t># top bit 0: an exception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                       </a:t>
            </a:r>
            <a:pPr indent="0" marL="0">
              <a:buNone/>
            </a:pPr>
            <a:r>
              <a:rPr lang="en-US" sz="1300" dirty="0">
                <a:solidFill>
                  <a:srgbClr val="8FB3A0"/>
                </a:solidFill>
                <a:latin typeface="Courier New" pitchFamily="34" charset="0"/>
                <a:ea typeface="Courier New" pitchFamily="34" charset="-122"/>
                <a:cs typeface="Courier New" pitchFamily="34" charset="-120"/>
              </a:rPr>
              <a:t># top bit 1: find the device, serve 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t0, 0(sp)            </a:t>
            </a:r>
            <a:pPr indent="0" marL="0">
              <a:buNone/>
            </a:pPr>
            <a:r>
              <a:rPr lang="en-US" sz="1300" dirty="0">
                <a:solidFill>
                  <a:srgbClr val="8FB3A0"/>
                </a:solidFill>
                <a:latin typeface="Courier New" pitchFamily="34" charset="0"/>
                <a:ea typeface="Courier New" pitchFamily="34" charset="-122"/>
                <a:cs typeface="Courier New" pitchFamily="34" charset="-120"/>
              </a:rPr>
              <a:t># restore the context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mret                      </a:t>
            </a:r>
            <a:pPr indent="0" marL="0">
              <a:buNone/>
            </a:pPr>
            <a:r>
              <a:rPr lang="en-US" sz="1300" dirty="0">
                <a:solidFill>
                  <a:srgbClr val="8FB3A0"/>
                </a:solidFill>
                <a:latin typeface="Courier New" pitchFamily="34" charset="0"/>
                <a:ea typeface="Courier New" pitchFamily="34" charset="-122"/>
                <a:cs typeface="Courier New" pitchFamily="34" charset="-120"/>
              </a:rPr>
              <a:t># MIE := MPIE, PC := mepc</a:t>
            </a:r>
            <a:endParaRPr lang="en-US" sz="13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programma interrotto non deve accorgersene: ogni registro toccato dal gestore viene salvato e ripristinato</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mcause letto come numero con segno è negativo per le interruzioni: bgez separa le due famiglie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mret è l'unica via del ritorno: riabilita le interruzioni e ricarica il PC in un solo passo</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firmware del kit contiene proprio una routine così; la vostra cartuccia viene interrotta molte volte per frame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(1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19: Instructions and Interrupts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l19.S: four words in memory: a function read back as machine code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four rows of 32 lamps, the machine code of lw t1, 0(t0) / addi t1,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t1, 1 / sw t1, 0(t0) / ret, and beside each a green square: the word in memory is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the one decoded by hand in the lecture.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l19.S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l19 --name l19 --out l19.prg32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GREY,   0x4208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(2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l19_update: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The function of Lecture 02, kept in its uncompressed 32-bit forms.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push</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norvc</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sample: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           </a:t>
            </a:r>
            <a:pPr indent="0" marL="0">
              <a:buNone/>
            </a:pPr>
            <a:r>
              <a:rPr lang="en-US" sz="1800" dirty="0">
                <a:solidFill>
                  <a:srgbClr val="8FB3A0"/>
                </a:solidFill>
                <a:latin typeface="Courier New" pitchFamily="34" charset="0"/>
                <a:ea typeface="Courier New" pitchFamily="34" charset="-122"/>
                <a:cs typeface="Courier New" pitchFamily="34" charset="-120"/>
              </a:rPr>
              <a:t># 0x0002A303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           </a:t>
            </a:r>
            <a:pPr indent="0" marL="0">
              <a:buNone/>
            </a:pPr>
            <a:r>
              <a:rPr lang="en-US" sz="1800" dirty="0">
                <a:solidFill>
                  <a:srgbClr val="8FB3A0"/>
                </a:solidFill>
                <a:latin typeface="Courier New" pitchFamily="34" charset="0"/>
                <a:ea typeface="Courier New" pitchFamily="34" charset="-122"/>
                <a:cs typeface="Courier New" pitchFamily="34" charset="-120"/>
              </a:rPr>
              <a:t># 0x00130313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t1, 0(t0)           </a:t>
            </a:r>
            <a:pPr indent="0" marL="0">
              <a:buNone/>
            </a:pPr>
            <a:r>
              <a:rPr lang="en-US" sz="1800" dirty="0">
                <a:solidFill>
                  <a:srgbClr val="8FB3A0"/>
                </a:solidFill>
                <a:latin typeface="Courier New" pitchFamily="34" charset="0"/>
                <a:ea typeface="Courier New" pitchFamily="34" charset="-122"/>
                <a:cs typeface="Courier New" pitchFamily="34" charset="-120"/>
              </a:rPr>
              <a:t># 0x0062A023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                      </a:t>
            </a:r>
            <a:pPr indent="0" marL="0">
              <a:buNone/>
            </a:pPr>
            <a:r>
              <a:rPr lang="en-US" sz="1800" dirty="0">
                <a:solidFill>
                  <a:srgbClr val="8FB3A0"/>
                </a:solidFill>
                <a:latin typeface="Courier New" pitchFamily="34" charset="0"/>
                <a:ea typeface="Courier New" pitchFamily="34" charset="-122"/>
                <a:cs typeface="Courier New" pitchFamily="34" charset="-120"/>
              </a:rPr>
              <a:t># 0x00008067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pop</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(3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l19_draw: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which instruction,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sample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           </a:t>
            </a:r>
            <a:pPr indent="0" marL="0">
              <a:buNone/>
            </a:pPr>
            <a:r>
              <a:rPr lang="en-US" sz="1200" dirty="0">
                <a:solidFill>
                  <a:srgbClr val="8FB3A0"/>
                </a:solidFill>
                <a:latin typeface="Courier New" pitchFamily="34" charset="0"/>
                <a:ea typeface="Courier New" pitchFamily="34" charset="-122"/>
                <a:cs typeface="Courier New" pitchFamily="34" charset="-120"/>
              </a:rPr>
              <a:t># instructions are 4 bytes apart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s1, 0(t0)           </a:t>
            </a:r>
            <a:pPr indent="0" marL="0">
              <a:buNone/>
            </a:pPr>
            <a:r>
              <a:rPr lang="en-US" sz="1200" dirty="0">
                <a:solidFill>
                  <a:srgbClr val="8FB3A0"/>
                </a:solidFill>
                <a:latin typeface="Courier New" pitchFamily="34" charset="0"/>
                <a:ea typeface="Courier New" pitchFamily="34" charset="-122"/>
                <a:cs typeface="Courier New" pitchFamily="34" charset="-120"/>
              </a:rPr>
              <a:t># the instruction, fetched as a datum</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30          </a:t>
            </a:r>
            <a:pPr indent="0" marL="0">
              <a:buNone/>
            </a:pPr>
            <a:r>
              <a:rPr lang="en-US" sz="1200" dirty="0">
                <a:solidFill>
                  <a:srgbClr val="8FB3A0"/>
                </a:solidFill>
                <a:latin typeface="Courier New" pitchFamily="34" charset="0"/>
                <a:ea typeface="Courier New" pitchFamily="34" charset="-122"/>
                <a:cs typeface="Courier New" pitchFamily="34" charset="-120"/>
              </a:rPr>
              <a:t># y = 30 + 32 *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expected        </a:t>
            </a:r>
            <a:pPr indent="0" marL="0">
              <a:buNone/>
            </a:pPr>
            <a:r>
              <a:rPr lang="en-US" sz="1200" dirty="0">
                <a:solidFill>
                  <a:srgbClr val="8FB3A0"/>
                </a:solidFill>
                <a:latin typeface="Courier New" pitchFamily="34" charset="0"/>
                <a:ea typeface="Courier New" pitchFamily="34" charset="-122"/>
                <a:cs typeface="Courier New" pitchFamily="34" charset="-120"/>
              </a:rPr>
              <a:t># compare with the encoding worked out by hand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RED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s1, t2,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li   a0, 306</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(4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slli a1, s0,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a1, a1, 30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s0, s0,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(5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(6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expected: .word 0x0002A303, 0x00130313, 0x0062A023, 0x00008067</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quattro righe di 32 lampade, il codice macchina di lw t1, 0(t0) / addi t1, t1, 1 / sw t1, 0(t0) / ret, e accanto a ciascuna un quadrato verde: la parola in memoria è quella decodificata a mano a lezione.</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19.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l19 --out l19.prg32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l19;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Decodificate a mano 0x00A28293 e 0x40628333: formato, campi, assembly</a:t>
            </a:r>
            <a:endParaRPr lang="en-US" sz="2000" dirty="0"/>
          </a:p>
        </p:txBody>
      </p:sp>
      <p:sp>
        <p:nvSpPr>
          <p:cNvPr id="6" name="Text 4"/>
          <p:cNvSpPr txBox="1"/>
          <p:nvPr/>
        </p:nvSpPr>
        <p:spPr>
          <a:xfrm>
            <a:off x="548640" y="20589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40636"/>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Codificate sub t0, t1, t2 e sw a0, 8(sp)</a:t>
            </a:r>
            <a:endParaRPr lang="en-US" sz="2000" dirty="0"/>
          </a:p>
        </p:txBody>
      </p:sp>
      <p:sp>
        <p:nvSpPr>
          <p:cNvPr id="8" name="Text 6"/>
          <p:cNvSpPr txBox="1"/>
          <p:nvPr/>
        </p:nvSpPr>
        <p:spPr>
          <a:xfrm>
            <a:off x="548640" y="26822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66395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i trasferimenti tra registri dell'intero ciclo per sw t1, 0(t0) e per beq t0, t1, target</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il diagramma della pipeline per sei istruzioni su una pipeline a quattro stadi: quando termina la sesta?</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PRG32-QT mettete un breakpoint in first_update, avanzate di un passo, e confrontate il codice macchina mostrato con la vostra decodifica del riscaldamento</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Su carta: addi t0, t0, 10 e sub t1, t0, t1. Su PRG32-QT: le quattro parole del riscaldamento, o i loro equivalenti compressi.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Istruzioni e interruzioni: il codice</dc:title>
  <dc:subject>Lezione 19</dc:subject>
  <dc:creator>Raffaele Montella</dc:creator>
  <cp:lastModifiedBy>Raffaele Montella</cp:lastModifiedBy>
  <cp:revision>1</cp:revision>
  <dcterms:created xsi:type="dcterms:W3CDTF">2026-10-13T08:56:26Z</dcterms:created>
  <dcterms:modified xsi:type="dcterms:W3CDTF">2026-10-13T08:56:26Z</dcterms:modified>
</cp:coreProperties>
</file>