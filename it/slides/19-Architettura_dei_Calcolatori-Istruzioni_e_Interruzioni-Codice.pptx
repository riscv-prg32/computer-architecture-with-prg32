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pertura" id="{c3363168-0681-755f-8136-45cfc1c201e1}">
          <p14:sldIdLst>
            <p14:sldId id="256"/>
            <p14:sldId id="257"/>
          </p14:sldIdLst>
        </p14:section>
        <p14:section name="Riscaldamento sulla macchina" id="{294c78f1-8e92-5866-ad8f-ab7120777172}">
          <p14:sldIdLst>
            <p14:sldId id="258"/>
          </p14:sldIdLst>
        </p14:section>
        <p14:section name="Istruzioni" id="{e2ea7317-1e61-487a-a582-b4359f9c8d63}">
          <p14:sldIdLst>
            <p14:sldId id="259"/>
          </p14:sldIdLst>
        </p14:section>
        <p14:section name="Il ciclo del processore" id="{b2d2db8a-5d75-30bf-e685-c030dd549a1a}">
          <p14:sldIdLst>
            <p14:sldId id="260"/>
            <p14:sldId id="261"/>
          </p14:sldIdLst>
        </p14:section>
        <p14:section name="La soluzione di RISC-V" id="{0f7adb99-5a0b-58c5-e3bb-1168f245d42d}">
          <p14:sldIdLst>
            <p14:sldId id="262"/>
          </p14:sldIdLst>
        </p14:section>
        <p14:section name="Il programma completo" id="{e8caa52d-499a-615a-b203-79851af752b8}">
          <p14:sldIdLst>
            <p14:sldId id="263"/>
            <p14:sldId id="264"/>
            <p14:sldId id="265"/>
            <p14:sldId id="266"/>
            <p14:sldId id="267"/>
            <p14:sldId id="268"/>
          </p14:sldIdLst>
        </p14:section>
        <p14:section name="Eseguire e provare" id="{4e0d9a53-6912-479d-c2c4-fddfe3cedc29}">
          <p14:sldIdLst>
            <p14:sldId id="269"/>
            <p14:sldId id="270"/>
            <p14:sldId id="271"/>
            <p14:sldId id="272"/>
            <p14:sldId id="273"/>
          </p14:sldIdLst>
        </p14:section>
        <p14:section name="Esercizi" id="{b2e4b6f8-f919-189c-9f5c-7ed64f35e33c}">
          <p14:sldIdLst>
            <p14:sldId id="27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Questa è la presentazione del codice della Lezione 19. La presentazione della lezione contiene i concetti; questa contiene tutto ciò che si scrive e si esegue: i listati con la loro spiegazione, il programma completo, che cosa mostra, e il modo di provarlo su ciascuno dei tre host.
Stato di apprendimento: DA COMPRENDERE OGGI, alla fine di questa lezione lo spiegate, lo seguite passo passo e lo applicate da soli; DA UTILIZZARE OGGI, oggi seguite e usate la ricetta; come funziona dentro si spiega più avanti, o non fa parte del corso; DA COMPRENDERE PIÙ AVANTI, riconoscete il nome e lo scopo; lo spiega una lezione successiva. Una slide senza etichetta è contesto: una storia, un esempio, una domanda, un esercizio.
Stato di apprendimento di questa lezione. DA COMPRENDERE OGGI: formati delle istruzioni; i modi di indirizzamento; il ciclo del processore; interruzioni e trap. DA UTILIZZARE OGGI: il programma completo, gli strumenti di PRG32 (si usa, non si studia, in questo corso). DA COMPRENDERE PIÙ AVANTI: niente. Una slide senza etichetta è contesto: una storia, un esempio, una domanda, un esercizio.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 cosa contiene la presentazione, nell'ordine delle slide. Il programma della lezione è un file che potete compilare ed eseguire così com'è: partite da lì, e tornate ai listati per capire ogni parte. Il programma di questa lezione è ~/arc12/code/l19.S; tools/tests/cartridges/run.py lo compila, lo esegue su PRG32-QT con ingressi programmati e controlla i pixel del frame.
Per il docente: Procurarsi il codice una volta: git clone https://github.com/riscv-prg32/computer-architecture-with-prg32 ~/arc12. Il programma di questa lezione è ~/arc12/code/l19.S; tools/tests/cartridges/run.py lo compila, lo esegue su PRG32-QT con ingressi programmati e controlla i pixel del frame. Ogni listato di queste slide è letto dalla compilazione da un file provato, o verificato da tools/tests: si veda il suo README.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Quattro parole di memoria, a quattro indirizzi di distanza: è first_update, la funzione che incrementa un contatore. A sinistra gli indirizzi, al centro il codice macchina, a destra ciò che avete scritto. Il processore ha soltanto la colonna centrale. Tre domande organizzano la lezione. Come fa a sapere che la prima parola è un caricamento e la seconda una somma? Quali passi compie per ciascuna? E mentre le esegue, come si accorge che è stato premuto un pulsante o che è scaduto un timer?
DA COMPRENDERE OGGI: formati delle istruzioni.
Per il docente: La la che precede queste istruzioni è omessa, e le codifiche sono quelle non compresse a 32 bit: con l'estensione C l'assemblatore può scegliere per alcune le forme a 16 bit. Gli indirizzi sono relativi all'inizio della funzione.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Due istruzioni decodificate a mano. Si scrivono in binario le otto cifre esadecimali; si staccano gli ultimi sette bit, l'opcode, che dice il formato; poi si tagliano i campi rimanenti. Per 0x006283B3 l'opcode dice da registro a registro, i campi danno x7, x5 e x6, e funct3 con funct7 dicono somma: add t2, t0, t1. Per 0x0002A303 l'opcode dice load, l'immediato è 0, la base è x5, la destinazione x6: lw t1, 0(t0). Fatelo una volta con carta e matita.
DA COMPRENDERE OGGI: formati delle istruzioni.
Per il docente: Metodo: scrivere in binario le otto cifre esadecimali, staccare gli ultimi sette bit (l'opcode), cercare il formato, poi tagliare i campi. I decodificatori della Lezione 11 fanno la stessa cosa in una frazione di nanosecondo.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fase di prelievo in quattro trasferimenti tra registri, con i registri del modello della Lezione 18. Il contenuto del PC va in MA, il registro degli indirizzi di memoria. La memoria viene letta e la parola arriva in MB, il buffer. La parola viene copiata in D, il registro di decodifica. Il PC viene incrementato di 4, perché un'istruzione occupa quattro byte, così punta alla successiva. Ogni riga è un trasferimento sul bus interno, comandato dall'unità di controllo.
DA COMPRENDERE OGGI: il ciclo del processore.
Per il docente: Fase fetch. PC, D, MA e MB sono i registri del modello di riferimento della Lezione 18; i trasferimenti viaggiano sul bus interno. Nella presentazione originale la macchina aveva parole di 16 bit e il PC avanzava di 2; in RV32 una parola è di quattro byte, quindi il PC avanza di 4 (di 2 dopo un'istruzione compressa).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altre quattro fasi, affiancate per due istruzioni. Per add, la decodifica legge i due registri nei registri operando della ALU, l'esecuzione li somma, la fase di memoria viene saltata, e la somma viene scritta in t2. Per lw, il secondo operando è l'immediato, la somma è un indirizzo, la fase di memoria legge la parola a quell'indirizzo, e la parola letta viene scritta in t1. Lo stesso sommatore serve a entrambe: cambiano solo i comandi dell'unità di controllo.
DA COMPRENDERE OGGI: il ciclo del processore.
Per il docente: O1, O2 e U sono i registri della ALU. Lo stesso sommatore calcola una somma per add e un indirizzo per lw: cambiano solo i segnali di controllo. Uno store finisce alla fase di memoria; un salto condizionato finisce all'esecuzione, scegliendo il prossimo PC.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gestore per sommi capi. Fa spazio sullo stack e salva i registri che sta per usare: la parte software del contesto. Legge mcause con csrr e ne esamina il segno: il bit più alto è il bit di segno, quindi bgez separa le eccezioni dalle interruzioni con una sola istruzione. Dopo aver servito l'evento ripristina i registri, rilascia lo stack ed esegue mret. Il programma interrotto non deve accorgersi di nulla: un registro lasciato sporco qui è un errore che compare a caso, ovunque.
DA COMPRENDERE OGGI: interruzioni e trap.
Per il docente: Uno schema, non il sorgente di PRG32: un gestore vero salva tutti i registri caller-saved, di solito su uno stack separato raggiunto tramite mscratch. csrr t0, mcause è la pseudo-istruzione per csrrs t0, mcause, zero.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Una pagina del programma completo, esattamente com'è nel repository. Leggetelo dall'inizio: l'intestazione dice che cosa mostra il programma e come compilarlo; seguono le tre funzioni init, update e draw, poi i dati. Le righe incontrate nei listati della lezione hanno qui gli stessi commenti.
DA UTILIZZARE OGGI: il programma completo (si usa, non si studia, in questo corso).
Per il docente: code/l19.S, come viene compilato ed eseguito dai test. I commenti fanno parte del programma, e sono in inglese come in tutti i listati: leggeteli con il codice.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Una pagina del programma completo, esattamente com'è nel repository. Leggetelo dall'inizio: l'intestazione dice che cosa mostra il programma e come compilarlo; seguono le tre funzioni init, update e draw, poi i dati. Le righe incontrate nei listati della lezione hanno qui gli stessi commenti.
DA UTILIZZARE OGGI: il programma completo (si usa, non si studia, in questo corso).
Per il docente: code/l19.S, come viene compilato ed eseguito dai test. I commenti fanno parte del programma, e sono in inglese come in tutti i listati: leggeteli con il codice.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Una pagina del programma completo, esattamente com'è nel repository. Leggetelo dall'inizio: l'intestazione dice che cosa mostra il programma e come compilarlo; seguono le tre funzioni init, update e draw, poi i dati. Le righe incontrate nei listati della lezione hanno qui gli stessi commenti.
DA UTILIZZARE OGGI: il programma completo (si usa, non si studia, in questo corso).
Per il docente: code/l19.S, come viene compilato ed eseguito dai test. I commenti fanno parte del programma, e sono in inglese come in tutti i listati: leggeteli con il codice.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Una pagina del programma completo, esattamente com'è nel repository. Leggetelo dall'inizio: l'intestazione dice che cosa mostra il programma e come compilarlo; seguono le tre funzioni init, update e draw, poi i dati. Le righe incontrate nei listati della lezione hanno qui gli stessi commenti.
DA UTILIZZARE OGGI: il programma completo (si usa, non si studia, in questo corso).
Per il docente: code/l19.S, come viene compilato ed eseguito dai test. I commenti fanno parte del programma, e sono in inglese come in tutti i listati: leggeteli con il codice.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Una pagina del programma completo, esattamente com'è nel repository. Leggetelo dall'inizio: l'intestazione dice che cosa mostra il programma e come compilarlo; seguono le tre funzioni init, update e draw, poi i dati. Le righe incontrate nei listati della lezione hanno qui gli stessi commenti.
DA UTILIZZARE OGGI: il programma completo (si usa, non si studia, in questo corso).
Per il docente: code/l19.S, come viene compilato ed eseguito dai test. I commenti fanno parte del programma, e sono in inglese come in tutti i listati: leggeteli con il codice.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Una pagina del programma completo, esattamente com'è nel repository. Leggetelo dall'inizio: l'intestazione dice che cosa mostra il programma e come compilarlo; seguono le tre funzioni init, update e draw, poi i dati. Le righe incontrate nei listati della lezione hanno qui gli stessi commenti.
DA UTILIZZARE OGGI: il programma completo (si usa, non si studia, in questo corso).
Per il docente: code/l19.S, come viene compilato ed eseguito dai test. I commenti fanno parte del programma, e sono in inglese come in tutti i listati: leggeteli con il codice.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 cosa mostra il programma quando gira, e che cosa premere. Prevedete prima di eseguire: se lo schermo è diverso da questa immagine, la differenza è informazione. L'immagine è stata scritta dal test automatico, non disegnata a mano.
Per il docente: L'immagine è il frame che l'esecutore senza interfaccia di PRG32-QT ha prodotto nel test di questo programma. Su QEMU e sulla scheda l'area di gioco è la stessa, 320 per 200 pixel, tra le due bande di stato.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via più rapida: PRG32-QT sul vostro computer. Quattro passi, ciascuno con il suo comando. PRG32-QT si comporta come una scheda sulla porta 8080, ed è per questo che il comando di caricamento dice esp32c6. Con la modalità debug abilitata potete fermarvi su qualsiasi istruzione e leggere registri e memoria.
DA UTILIZZARE OGGI: gli strumenti di PRG32 (si usa, non si studia, in questo corso).
Per il docente: Eseguito dai test: la cartuccia di questa slide è compilata con questo comando ed eseguita sull'esecutore senza interfaccia di PRG32-QT. Senza la toolchain: importate il file .prg32 in PRG32-QT e scegliete Run Cartridge. Tasti: frecce o WASD per il joystick, Z o J per A, X o K per B, Invio per Start, Esc per tornare a Setup.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 stesso programma sull'emulatore. QEMU esegue il firmware vero su un chip emulato, quindi la cartuccia va compilata per l'architettura qemu. Caricate la cartuccia mentre QEMU è chiuso. Il firmware si apre sul menu Setup: scegliete Run Cartridge e lo slot. Ricordate che la tastiera è letta dal terminale, non dalla finestra con l'immagine.
DA UTILIZZARE OGGI: gli strumenti di PRG32 (si usa, non si studia, in questo corso).
Per il docente: Verificato dai test fino al caricamento: la cartuccia è compilata per l'architettura qemu e accettata nell'immagine flash dell'emulatore. Ciò che l'emulatore poi mostra non è verificato automaticamente: il QEMU di Espressif ha bisogno della sua finestra. Dall'ottobre 2026 il firmware parte da Setup: scegliete Run Cartridge, poi cart0.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 stesso programma sul kit. Il firmware si scrive una volta, via USB; dopo, le cartucce viaggiano sul Wi-Fi. Il comando di caricamento è quello usato per PRG32-QT con l'indirizzo della scheda. È l'unico host che i test automatici non eseguono: provatelo, e riferite ciò che vedete.
DA UTILIZZARE OGGI: gli strumenti di PRG32 (si usa, non si studia, in questo corso).
Per il docente: Non eseguito dai test: sulla macchina di prova non c'è una scheda. La cartuccia per l'architettura esp32c6 è compilata dai test; i passi sono quelli della documentazione di PRG32. Se la porta seriale non viene trovata, passatela esplicitamente. Per usare il Wi-Fi dell'aula: python3 -m prg32 wifi set --ssid NOME --password PASSWORD --mode sta.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cinque sintomi più comuni, che cosa significa ciascuno, e che cosa fare. Leggete il messaggio prima di cambiare qualcosa: quasi sempre nomina la causa.
DA UTILIZZARE OGGI: gli strumenti di PRG32 (si usa, non si studia, in questo corso).
Per il docente: Le prime tre righe coprono la maggior parte dei casi. Quando chiedete aiuto, incollate il comando e l'intero messaggio come testo. docs/usage/troubleshooting.md del repository di PRG32 ha l'elenco completo.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Cinque esercizi. Decodificate a mano due parole, con formato, campi e assembly. Codificate sub t0, t1, t2 e sw a0, 8(sp): il percorso inverso. Scrivete i trasferimenti tra registri dell'intero ciclo per uno store e per un salto condizionato. Disegnate il diagramma della pipeline di sei istruzioni su quattro stadi e dite quando termina la sesta. E in PRG32-QT fermatevi in first_update, avanzate di un passo, e confrontate il codice macchina mostrato con la vostra decodifica del riscaldamento.
Per il docente: 0x00A28293: imm 10, rs1 x5, funct3 000, rd x5, opcode 0010011. 0x40628333: funct7 0100000, rs2 x6, rs1 x5, funct3 000, rd x6, opcode 0110011. sub t0, t1, t2 = 0x407302B3. sw a0, 8(sp) = 0x00A12423. Sei istruzioni su quattro stadi terminano al ciclo 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ARC12 Architettura dei Calcolatori  |  Lezione 19: Istruzioni e interruzioni (codice)  |  A.A. 2026/27</a:t>
            </a:r>
            <a:endParaRPr lang="en-US" sz="1000" dirty="0"/>
          </a:p>
        </p:txBody>
      </p:sp>
      <p:sp>
        <p:nvSpPr>
          <p:cNvPr id="3" name="Text 1"/>
          <p:cNvSpPr/>
          <p:nvPr>
            <p:ph idx="101" type="title" hasCustomPrompt="1"/>
          </p:nvPr>
        </p:nvSpPr>
        <p:spPr>
          <a:xfrm>
            <a:off x="548640" y="365760"/>
            <a:ext cx="11094415" cy="868680"/>
          </a:xfrm>
          <a:prstGeom prst="rect">
            <a:avLst/>
          </a:prstGeom>
          <a:noFill/>
          <a:ln/>
        </p:spPr>
        <p:txBody>
          <a:bodyPr wrap="square" rtlCol="0"/>
          <a:lstStyle>
            <a:lvl1pPr algn="l" indent="0" marL="0">
              <a:buNone/>
              <a:defRPr lang="en-US" sz="3200" b="1" dirty="0">
                <a:solidFill>
                  <a:srgbClr val="2E4A6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53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3.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640080"/>
            <a:ext cx="201900" cy="201900"/>
          </a:xfrm>
          <a:prstGeom prst="rect">
            <a:avLst/>
          </a:prstGeom>
          <a:solidFill>
            <a:srgbClr val="0E7C86"/>
          </a:solidFill>
          <a:ln w="12700">
            <a:solidFill>
              <a:srgbClr val="0E7C86"/>
            </a:solidFill>
            <a:prstDash val="solid"/>
          </a:ln>
        </p:spPr>
      </p:sp>
      <p:sp>
        <p:nvSpPr>
          <p:cNvPr id="3" name="Shape 1"/>
          <p:cNvSpPr/>
          <p:nvPr/>
        </p:nvSpPr>
        <p:spPr>
          <a:xfrm>
            <a:off x="768096" y="640080"/>
            <a:ext cx="201900" cy="201900"/>
          </a:xfrm>
          <a:prstGeom prst="rect">
            <a:avLst/>
          </a:prstGeom>
          <a:solidFill>
            <a:srgbClr val="C7791B"/>
          </a:solidFill>
          <a:ln w="12700">
            <a:solidFill>
              <a:srgbClr val="C7791B"/>
            </a:solidFill>
            <a:prstDash val="solid"/>
          </a:ln>
        </p:spPr>
      </p:sp>
      <p:sp>
        <p:nvSpPr>
          <p:cNvPr id="4" name="Shape 2"/>
          <p:cNvSpPr/>
          <p:nvPr/>
        </p:nvSpPr>
        <p:spPr>
          <a:xfrm>
            <a:off x="768096" y="859536"/>
            <a:ext cx="201900" cy="201900"/>
          </a:xfrm>
          <a:prstGeom prst="rect">
            <a:avLst/>
          </a:prstGeom>
          <a:solidFill>
            <a:srgbClr val="0E7C86"/>
          </a:solidFill>
          <a:ln w="12700">
            <a:solidFill>
              <a:srgbClr val="0E7C86"/>
            </a:solidFill>
            <a:prstDash val="solid"/>
          </a:ln>
        </p:spPr>
      </p:sp>
      <p:sp>
        <p:nvSpPr>
          <p:cNvPr id="5" name="Shape 3"/>
          <p:cNvSpPr/>
          <p:nvPr/>
        </p:nvSpPr>
        <p:spPr>
          <a:xfrm>
            <a:off x="987552" y="859536"/>
            <a:ext cx="201900" cy="201900"/>
          </a:xfrm>
          <a:prstGeom prst="rect">
            <a:avLst/>
          </a:prstGeom>
          <a:solidFill>
            <a:srgbClr val="C7791B"/>
          </a:solidFill>
          <a:ln w="12700">
            <a:solidFill>
              <a:srgbClr val="C7791B"/>
            </a:solidFill>
            <a:prstDash val="solid"/>
          </a:ln>
        </p:spPr>
      </p:sp>
      <p:sp>
        <p:nvSpPr>
          <p:cNvPr id="6" name="Shape 4"/>
          <p:cNvSpPr/>
          <p:nvPr/>
        </p:nvSpPr>
        <p:spPr>
          <a:xfrm>
            <a:off x="548640" y="1078992"/>
            <a:ext cx="201900" cy="201900"/>
          </a:xfrm>
          <a:prstGeom prst="rect">
            <a:avLst/>
          </a:prstGeom>
          <a:solidFill>
            <a:srgbClr val="0E7C86"/>
          </a:solidFill>
          <a:ln w="12700">
            <a:solidFill>
              <a:srgbClr val="0E7C86"/>
            </a:solidFill>
            <a:prstDash val="solid"/>
          </a:ln>
        </p:spPr>
      </p:sp>
      <p:sp>
        <p:nvSpPr>
          <p:cNvPr id="7" name="Text 5"/>
          <p:cNvSpPr txBox="1"/>
          <p:nvPr/>
        </p:nvSpPr>
        <p:spPr>
          <a:xfrm>
            <a:off x="548640" y="1600200"/>
            <a:ext cx="11094415" cy="365760"/>
          </a:xfrm>
          <a:prstGeom prst="rect">
            <a:avLst/>
          </a:prstGeom>
          <a:noFill/>
          <a:ln/>
        </p:spPr>
        <p:txBody>
          <a:bodyPr wrap="square" lIns="0" tIns="0" rIns="0" bIns="0" rtlCol="0" anchor="t"/>
          <a:lstStyle/>
          <a:p>
            <a:pPr indent="0" marL="0">
              <a:buNone/>
            </a:pPr>
            <a:r>
              <a:rPr lang="en-US" sz="1600" b="1" spc="300" kern="0" dirty="0">
                <a:solidFill>
                  <a:srgbClr val="C7791B"/>
                </a:solidFill>
                <a:latin typeface="Calibri" pitchFamily="34" charset="0"/>
                <a:ea typeface="Calibri" pitchFamily="34" charset="-122"/>
                <a:cs typeface="Calibri" pitchFamily="34" charset="-120"/>
              </a:rPr>
              <a:t>ARC12 ARCHITETTURA DEI CALCOLATORI  ·  LEZIONE 19</a:t>
            </a:r>
            <a:endParaRPr lang="en-US" sz="1600" dirty="0"/>
          </a:p>
        </p:txBody>
      </p:sp>
      <p:sp>
        <p:nvSpPr>
          <p:cNvPr id="8" name="Text 6"/>
          <p:cNvSpPr txBox="1"/>
          <p:nvPr/>
        </p:nvSpPr>
        <p:spPr>
          <a:xfrm>
            <a:off x="548640" y="2011680"/>
            <a:ext cx="9722815" cy="15544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Istruzioni e interruzioni: il codice</a:t>
            </a:r>
            <a:endParaRPr lang="en-US" sz="4800" dirty="0"/>
          </a:p>
        </p:txBody>
      </p:sp>
      <p:sp>
        <p:nvSpPr>
          <p:cNvPr id="9" name="Text 7"/>
          <p:cNvSpPr txBox="1"/>
          <p:nvPr/>
        </p:nvSpPr>
        <p:spPr>
          <a:xfrm>
            <a:off x="548640" y="3611880"/>
            <a:ext cx="9722815" cy="548640"/>
          </a:xfrm>
          <a:prstGeom prst="rect">
            <a:avLst/>
          </a:prstGeom>
          <a:noFill/>
          <a:ln/>
        </p:spPr>
        <p:txBody>
          <a:bodyPr wrap="square" lIns="0" tIns="0" rIns="0" bIns="0" rtlCol="0" anchor="ctr"/>
          <a:lstStyle/>
          <a:p>
            <a:pPr indent="0" marL="0">
              <a:buNone/>
            </a:pPr>
            <a:r>
              <a:rPr lang="en-US" sz="1700" dirty="0">
                <a:solidFill>
                  <a:srgbClr val="CFE3EA"/>
                </a:solidFill>
                <a:latin typeface="Calibri" pitchFamily="34" charset="0"/>
                <a:ea typeface="Calibri" pitchFamily="34" charset="-122"/>
                <a:cs typeface="Calibri" pitchFamily="34" charset="-120"/>
              </a:rPr>
              <a:t>Presentazione del codice: ogni listato spiegato, il programma completo, e come provarlo su PRG32-QT, su QEMU e sulla scheda</a:t>
            </a:r>
            <a:endParaRPr lang="en-US" sz="1700" dirty="0"/>
          </a:p>
        </p:txBody>
      </p:sp>
      <p:sp>
        <p:nvSpPr>
          <p:cNvPr id="10" name="Text 8"/>
          <p:cNvSpPr txBox="1"/>
          <p:nvPr/>
        </p:nvSpPr>
        <p:spPr>
          <a:xfrm>
            <a:off x="548640" y="5486400"/>
            <a:ext cx="822960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Prof. Raffaele Montella, PhD</a:t>
            </a:r>
            <a:endParaRPr lang="en-US" sz="1700" dirty="0"/>
          </a:p>
          <a:p>
            <a:pPr indent="0" marL="0">
              <a:buNone/>
            </a:pPr>
            <a:r>
              <a:rPr lang="en-US" sz="1400" dirty="0">
                <a:solidFill>
                  <a:srgbClr val="CFE3EA"/>
                </a:solidFill>
                <a:latin typeface="Calibri" pitchFamily="34" charset="0"/>
                <a:ea typeface="Calibri" pitchFamily="34" charset="-122"/>
                <a:cs typeface="Calibri" pitchFamily="34" charset="-120"/>
              </a:rPr>
              <a:t>Università degli Studi di Napoli “Parthenope”  ·  A.A. 2026/27</a:t>
            </a:r>
            <a:endParaRPr lang="en-US" sz="1700" dirty="0"/>
          </a:p>
          <a:p>
            <a:pPr indent="0" marL="0">
              <a:buNone/>
            </a:pPr>
            <a:r>
              <a:rPr lang="en-US" sz="1300" dirty="0">
                <a:solidFill>
                  <a:srgbClr val="CFE3EA"/>
                </a:solidFill>
                <a:latin typeface="Calibri" pitchFamily="34" charset="0"/>
                <a:ea typeface="Calibri" pitchFamily="34" charset="-122"/>
                <a:cs typeface="Calibri" pitchFamily="34" charset="-120"/>
              </a:rPr>
              <a:t>raffaelemontella.it  ·  raffaele.montella@uniparthenope.it</a:t>
            </a:r>
            <a:endParaRPr lang="en-US" sz="1700" dirty="0"/>
          </a:p>
        </p:txBody>
      </p:sp>
      <p:sp>
        <p:nvSpPr>
          <p:cNvPr id="11" name="Text 9"/>
          <p:cNvSpPr txBox="1"/>
          <p:nvPr/>
        </p:nvSpPr>
        <p:spPr>
          <a:xfrm>
            <a:off x="4693615" y="566928"/>
            <a:ext cx="6949440" cy="640080"/>
          </a:xfrm>
          <a:prstGeom prst="rect">
            <a:avLst/>
          </a:prstGeom>
          <a:noFill/>
          <a:ln/>
        </p:spPr>
        <p:txBody>
          <a:bodyPr wrap="square" lIns="0" tIns="0" rIns="0" bIns="0" rtlCol="0" anchor="t"/>
          <a:lstStyle/>
          <a:p>
            <a:pPr algn="r" indent="0" marL="0">
              <a:buNone/>
            </a:pPr>
            <a:r>
              <a:rPr lang="en-US" sz="1300" dirty="0">
                <a:solidFill>
                  <a:srgbClr val="CFE3EA"/>
                </a:solidFill>
                <a:latin typeface="Calibri" pitchFamily="34" charset="0"/>
                <a:ea typeface="Calibri" pitchFamily="34" charset="-122"/>
                <a:cs typeface="Calibri" pitchFamily="34" charset="-120"/>
              </a:rPr>
              <a:t>Presentazione del codice. I concetti, le figure e le domande sono nella presentazione della lezione:</a:t>
            </a:r>
            <a:endParaRPr lang="en-US" sz="1300" dirty="0"/>
          </a:p>
          <a:p>
            <a:pPr algn="r" indent="0" marL="0">
              <a:buNone/>
            </a:pPr>
            <a:r>
              <a:rPr lang="en-US" sz="1300" dirty="0">
                <a:solidFill>
                  <a:srgbClr val="CFE3EA"/>
                </a:solidFill>
                <a:latin typeface="Calibri" pitchFamily="34" charset="0"/>
                <a:ea typeface="Calibri" pitchFamily="34" charset="-122"/>
                <a:cs typeface="Calibri" pitchFamily="34" charset="-120"/>
              </a:rPr>
              <a:t>19-Architettura_dei_Calcolatori-Istruzioni_e_Interruzioni.pptx</a:t>
            </a:r>
            <a:endParaRPr lang="en-US" sz="1300" dirty="0"/>
          </a:p>
        </p:txBody>
      </p:sp>
      <p:sp>
        <p:nvSpPr>
          <p:cNvPr id="12" name="Shape 10"/>
          <p:cNvSpPr/>
          <p:nvPr/>
        </p:nvSpPr>
        <p:spPr>
          <a:xfrm>
            <a:off x="8625535" y="4160520"/>
            <a:ext cx="3017520" cy="2011680"/>
          </a:xfrm>
          <a:prstGeom prst="roundRect">
            <a:avLst>
              <a:gd name="adj" fmla="val 3636"/>
            </a:avLst>
          </a:prstGeom>
          <a:solidFill>
            <a:srgbClr val="000000"/>
          </a:solidFill>
          <a:ln w="12700">
            <a:solidFill>
              <a:srgbClr val="000000"/>
            </a:solidFill>
            <a:prstDash val="solid"/>
          </a:ln>
        </p:spPr>
      </p:sp>
      <p:pic>
        <p:nvPicPr>
          <p:cNvPr id="13" name="Image 0" descr="/Users/raffaelemontella/devel/riscv-prg32/computer-architecture-with-prg32/tools/assets/game_asteroids.png">    </p:cNvPr>
          <p:cNvPicPr>
            <a:picLocks noChangeAspect="1"/>
          </p:cNvPicPr>
          <p:nvPr/>
        </p:nvPicPr>
        <p:blipFill>
          <a:blip r:embed="rId1"/>
          <a:stretch>
            <a:fillRect/>
          </a:stretch>
        </p:blipFill>
        <p:spPr>
          <a:xfrm>
            <a:off x="8915095" y="4251960"/>
            <a:ext cx="2438400" cy="1828800"/>
          </a:xfrm>
          <a:prstGeom prst="rect">
            <a:avLst/>
          </a:prstGeom>
        </p:spPr>
      </p:pic>
      <p:sp>
        <p:nvSpPr>
          <p:cNvPr id="14" name="Shape 11"/>
          <p:cNvSpPr/>
          <p:nvPr/>
        </p:nvSpPr>
        <p:spPr>
          <a:xfrm>
            <a:off x="8910777" y="91440"/>
            <a:ext cx="2732278" cy="274320"/>
          </a:xfrm>
          <a:prstGeom prst="rect">
            <a:avLst/>
          </a:prstGeom>
          <a:solidFill>
            <a:srgbClr val="F3E8FF"/>
          </a:solidFill>
          <a:ln w="12700">
            <a:solidFill>
              <a:srgbClr val="7E22CE"/>
            </a:solidFill>
            <a:prstDash val="dash"/>
          </a:ln>
        </p:spPr>
      </p:sp>
      <p:sp>
        <p:nvSpPr>
          <p:cNvPr id="15" name="Shape 12"/>
          <p:cNvSpPr/>
          <p:nvPr/>
        </p:nvSpPr>
        <p:spPr>
          <a:xfrm>
            <a:off x="8938209" y="128016"/>
            <a:ext cx="45720" cy="45720"/>
          </a:xfrm>
          <a:prstGeom prst="rect">
            <a:avLst/>
          </a:prstGeom>
          <a:solidFill>
            <a:srgbClr val="7E22CE"/>
          </a:solidFill>
          <a:ln w="12700">
            <a:solidFill>
              <a:srgbClr val="7E22CE"/>
            </a:solidFill>
            <a:prstDash val="solid"/>
          </a:ln>
        </p:spPr>
      </p:sp>
      <p:sp>
        <p:nvSpPr>
          <p:cNvPr id="16" name="Shape 13"/>
          <p:cNvSpPr/>
          <p:nvPr/>
        </p:nvSpPr>
        <p:spPr>
          <a:xfrm>
            <a:off x="8938209" y="205740"/>
            <a:ext cx="45720" cy="45720"/>
          </a:xfrm>
          <a:prstGeom prst="rect">
            <a:avLst/>
          </a:prstGeom>
          <a:solidFill>
            <a:srgbClr val="7E22CE"/>
          </a:solidFill>
          <a:ln w="12700">
            <a:solidFill>
              <a:srgbClr val="7E22CE"/>
            </a:solidFill>
            <a:prstDash val="solid"/>
          </a:ln>
        </p:spPr>
      </p:sp>
      <p:sp>
        <p:nvSpPr>
          <p:cNvPr id="17" name="Shape 14"/>
          <p:cNvSpPr/>
          <p:nvPr/>
        </p:nvSpPr>
        <p:spPr>
          <a:xfrm>
            <a:off x="8938209" y="283464"/>
            <a:ext cx="45720" cy="45720"/>
          </a:xfrm>
          <a:prstGeom prst="rect">
            <a:avLst/>
          </a:prstGeom>
          <a:solidFill>
            <a:srgbClr val="7E22CE"/>
          </a:solidFill>
          <a:ln w="12700">
            <a:solidFill>
              <a:srgbClr val="7E22CE"/>
            </a:solidFill>
            <a:prstDash val="solid"/>
          </a:ln>
        </p:spPr>
      </p:sp>
      <p:pic>
        <p:nvPicPr>
          <p:cNvPr id="18" name="Image 1" descr="preencoded.png">    </p:cNvPr>
          <p:cNvPicPr>
            <a:picLocks noChangeAspect="1"/>
          </p:cNvPicPr>
          <p:nvPr/>
        </p:nvPicPr>
        <p:blipFill>
          <a:blip r:embed="rId2"/>
          <a:stretch>
            <a:fillRect/>
          </a:stretch>
        </p:blipFill>
        <p:spPr>
          <a:xfrm>
            <a:off x="9038793" y="128016"/>
            <a:ext cx="201168" cy="201168"/>
          </a:xfrm>
          <a:prstGeom prst="rect">
            <a:avLst/>
          </a:prstGeom>
        </p:spPr>
      </p:pic>
      <p:sp>
        <p:nvSpPr>
          <p:cNvPr id="19" name="Text 15"/>
          <p:cNvSpPr txBox="1"/>
          <p:nvPr/>
        </p:nvSpPr>
        <p:spPr>
          <a:xfrm>
            <a:off x="9294825" y="91440"/>
            <a:ext cx="2311654"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DA COMPRENDERE PIÙ AVANTI</a:t>
            </a:r>
            <a:endParaRPr lang="en-US" sz="1100" dirty="0"/>
          </a:p>
        </p:txBody>
      </p:sp>
      <p:sp>
        <p:nvSpPr>
          <p:cNvPr id="20" name="Shape 16"/>
          <p:cNvSpPr/>
          <p:nvPr/>
        </p:nvSpPr>
        <p:spPr>
          <a:xfrm>
            <a:off x="6675069" y="91440"/>
            <a:ext cx="2125980" cy="274320"/>
          </a:xfrm>
          <a:prstGeom prst="rect">
            <a:avLst/>
          </a:prstGeom>
          <a:solidFill>
            <a:srgbClr val="FEF3C7"/>
          </a:solidFill>
          <a:ln w="12700">
            <a:solidFill>
              <a:srgbClr val="B45309"/>
            </a:solidFill>
            <a:prstDash val="solid"/>
          </a:ln>
        </p:spPr>
      </p:sp>
      <p:sp>
        <p:nvSpPr>
          <p:cNvPr id="21" name="Shape 17"/>
          <p:cNvSpPr/>
          <p:nvPr/>
        </p:nvSpPr>
        <p:spPr>
          <a:xfrm>
            <a:off x="6675069" y="91440"/>
            <a:ext cx="27432" cy="274320"/>
          </a:xfrm>
          <a:prstGeom prst="rect">
            <a:avLst/>
          </a:prstGeom>
          <a:solidFill>
            <a:srgbClr val="B45309"/>
          </a:solidFill>
          <a:ln w="12700">
            <a:solidFill>
              <a:srgbClr val="B45309"/>
            </a:solidFill>
            <a:prstDash val="solid"/>
          </a:ln>
        </p:spPr>
      </p:sp>
      <p:sp>
        <p:nvSpPr>
          <p:cNvPr id="22" name="Shape 18"/>
          <p:cNvSpPr/>
          <p:nvPr/>
        </p:nvSpPr>
        <p:spPr>
          <a:xfrm>
            <a:off x="6729933" y="91440"/>
            <a:ext cx="27432" cy="274320"/>
          </a:xfrm>
          <a:prstGeom prst="rect">
            <a:avLst/>
          </a:prstGeom>
          <a:solidFill>
            <a:srgbClr val="B45309"/>
          </a:solidFill>
          <a:ln w="12700">
            <a:solidFill>
              <a:srgbClr val="B45309"/>
            </a:solidFill>
            <a:prstDash val="solid"/>
          </a:ln>
        </p:spPr>
      </p:sp>
      <p:pic>
        <p:nvPicPr>
          <p:cNvPr id="23" name="Image 2" descr="preencoded.png">    </p:cNvPr>
          <p:cNvPicPr>
            <a:picLocks noChangeAspect="1"/>
          </p:cNvPicPr>
          <p:nvPr/>
        </p:nvPicPr>
        <p:blipFill>
          <a:blip r:embed="rId3"/>
          <a:stretch>
            <a:fillRect/>
          </a:stretch>
        </p:blipFill>
        <p:spPr>
          <a:xfrm>
            <a:off x="6803085" y="128016"/>
            <a:ext cx="201168" cy="201168"/>
          </a:xfrm>
          <a:prstGeom prst="rect">
            <a:avLst/>
          </a:prstGeom>
        </p:spPr>
      </p:pic>
      <p:sp>
        <p:nvSpPr>
          <p:cNvPr id="24" name="Text 19"/>
          <p:cNvSpPr txBox="1"/>
          <p:nvPr/>
        </p:nvSpPr>
        <p:spPr>
          <a:xfrm>
            <a:off x="7059117" y="91440"/>
            <a:ext cx="1705356"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DA UTILIZZARE OGGI</a:t>
            </a:r>
            <a:endParaRPr lang="en-US" sz="1100" dirty="0"/>
          </a:p>
        </p:txBody>
      </p:sp>
      <p:sp>
        <p:nvSpPr>
          <p:cNvPr id="25" name="Shape 20"/>
          <p:cNvSpPr/>
          <p:nvPr/>
        </p:nvSpPr>
        <p:spPr>
          <a:xfrm>
            <a:off x="4352747" y="91440"/>
            <a:ext cx="2212594" cy="274320"/>
          </a:xfrm>
          <a:prstGeom prst="rect">
            <a:avLst/>
          </a:prstGeom>
          <a:solidFill>
            <a:srgbClr val="E0F2FE"/>
          </a:solidFill>
          <a:ln w="12700">
            <a:solidFill>
              <a:srgbClr val="0369A1"/>
            </a:solidFill>
            <a:prstDash val="solid"/>
          </a:ln>
        </p:spPr>
      </p:sp>
      <p:sp>
        <p:nvSpPr>
          <p:cNvPr id="26" name="Shape 21"/>
          <p:cNvSpPr/>
          <p:nvPr/>
        </p:nvSpPr>
        <p:spPr>
          <a:xfrm>
            <a:off x="4352747" y="91440"/>
            <a:ext cx="73152" cy="274320"/>
          </a:xfrm>
          <a:prstGeom prst="rect">
            <a:avLst/>
          </a:prstGeom>
          <a:solidFill>
            <a:srgbClr val="0369A1"/>
          </a:solidFill>
          <a:ln w="12700">
            <a:solidFill>
              <a:srgbClr val="0369A1"/>
            </a:solidFill>
            <a:prstDash val="solid"/>
          </a:ln>
        </p:spPr>
      </p:sp>
      <p:pic>
        <p:nvPicPr>
          <p:cNvPr id="27" name="Image 3" descr="preencoded.png">    </p:cNvPr>
          <p:cNvPicPr>
            <a:picLocks noChangeAspect="1"/>
          </p:cNvPicPr>
          <p:nvPr/>
        </p:nvPicPr>
        <p:blipFill>
          <a:blip r:embed="rId4"/>
          <a:stretch>
            <a:fillRect/>
          </a:stretch>
        </p:blipFill>
        <p:spPr>
          <a:xfrm>
            <a:off x="4480763" y="128016"/>
            <a:ext cx="201168" cy="201168"/>
          </a:xfrm>
          <a:prstGeom prst="rect">
            <a:avLst/>
          </a:prstGeom>
        </p:spPr>
      </p:pic>
      <p:sp>
        <p:nvSpPr>
          <p:cNvPr id="28" name="Text 22"/>
          <p:cNvSpPr txBox="1"/>
          <p:nvPr/>
        </p:nvSpPr>
        <p:spPr>
          <a:xfrm>
            <a:off x="4736795" y="91440"/>
            <a:ext cx="179197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In questa presentazione</a:t>
            </a:r>
            <a:endParaRPr lang="en-US" sz="3200" dirty="0"/>
          </a:p>
        </p:txBody>
      </p:sp>
      <p:sp>
        <p:nvSpPr>
          <p:cNvPr id="3" name="Text 1"/>
          <p:cNvSpPr txBox="1"/>
          <p:nvPr/>
        </p:nvSpPr>
        <p:spPr>
          <a:xfrm>
            <a:off x="548640" y="155854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540256"/>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I 2 listati della Lezione 19, uno per slide: leggete il codice, poi le osservazioni numerate a fianco</a:t>
            </a:r>
            <a:endParaRPr lang="en-US" sz="2200" dirty="0"/>
          </a:p>
        </p:txBody>
      </p:sp>
      <p:sp>
        <p:nvSpPr>
          <p:cNvPr id="5" name="Text 3"/>
          <p:cNvSpPr txBox="1"/>
          <p:nvPr/>
        </p:nvSpPr>
        <p:spPr>
          <a:xfrm>
            <a:off x="548640" y="269748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679192"/>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Il programma completo: code/l19.S, 112 righe, stampato per intero</a:t>
            </a:r>
            <a:endParaRPr lang="en-US" sz="2200" dirty="0"/>
          </a:p>
        </p:txBody>
      </p:sp>
      <p:sp>
        <p:nvSpPr>
          <p:cNvPr id="7" name="Text 5"/>
          <p:cNvSpPr txBox="1"/>
          <p:nvPr/>
        </p:nvSpPr>
        <p:spPr>
          <a:xfrm>
            <a:off x="548640" y="359359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3575304"/>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Che cosa dovreste vedere quando gira, verificato sull'esecutore senza interfaccia di PRG32-QT</a:t>
            </a:r>
            <a:endParaRPr lang="en-US" sz="2200" dirty="0"/>
          </a:p>
        </p:txBody>
      </p:sp>
      <p:sp>
        <p:nvSpPr>
          <p:cNvPr id="9" name="Text 7"/>
          <p:cNvSpPr txBox="1"/>
          <p:nvPr/>
        </p:nvSpPr>
        <p:spPr>
          <a:xfrm>
            <a:off x="548640" y="473252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4714240"/>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Come provarlo, passo per passo: su PRG32-QT, su QEMU, sulla scheda</a:t>
            </a:r>
            <a:endParaRPr lang="en-US" sz="2200" dirty="0"/>
          </a:p>
        </p:txBody>
      </p:sp>
      <p:sp>
        <p:nvSpPr>
          <p:cNvPr id="11" name="Text 9"/>
          <p:cNvSpPr txBox="1"/>
          <p:nvPr/>
        </p:nvSpPr>
        <p:spPr>
          <a:xfrm>
            <a:off x="548640" y="562864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5610352"/>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Gli esercizi: modificare il programma, prevedere, eseguire</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Quattro parole in memoria</a:t>
            </a:r>
            <a:endParaRPr lang="en-US" sz="3200" dirty="0"/>
          </a:p>
        </p:txBody>
      </p:sp>
      <p:sp>
        <p:nvSpPr>
          <p:cNvPr id="3" name="Shape 1"/>
          <p:cNvSpPr/>
          <p:nvPr/>
        </p:nvSpPr>
        <p:spPr>
          <a:xfrm>
            <a:off x="548640" y="1417320"/>
            <a:ext cx="740664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6949440" cy="4389120"/>
          </a:xfrm>
          <a:prstGeom prst="rect">
            <a:avLst/>
          </a:prstGeom>
          <a:noFill/>
          <a:ln/>
        </p:spPr>
        <p:txBody>
          <a:bodyPr wrap="square" lIns="0" tIns="0" rIns="0" bIns="0" rtlCol="0" anchor="t"/>
          <a:lstStyle/>
          <a:p>
            <a:pPr indent="0" marL="0">
              <a:buNone/>
            </a:pPr>
            <a:r>
              <a:rPr lang="en-US" sz="1750" dirty="0">
                <a:solidFill>
                  <a:srgbClr val="E6EDF2"/>
                </a:solidFill>
                <a:latin typeface="Courier New" pitchFamily="34" charset="0"/>
                <a:ea typeface="Courier New" pitchFamily="34" charset="-122"/>
                <a:cs typeface="Courier New" pitchFamily="34" charset="-120"/>
              </a:rPr>
              <a:t>indirizzo   codice macchina  che cosa avete scritto</a:t>
            </a:r>
            <a:endParaRPr lang="en-US" sz="1750" dirty="0"/>
          </a:p>
          <a:p>
            <a:pPr indent="0" marL="0">
              <a:buNone/>
            </a:pPr>
            <a:r>
              <a:rPr lang="en-US" sz="1750" dirty="0">
                <a:solidFill>
                  <a:srgbClr val="E6EDF2"/>
                </a:solidFill>
                <a:latin typeface="Courier New" pitchFamily="34" charset="0"/>
                <a:ea typeface="Courier New" pitchFamily="34" charset="-122"/>
                <a:cs typeface="Courier New" pitchFamily="34" charset="-120"/>
              </a:rPr>
              <a:t> </a:t>
            </a:r>
            <a:endParaRPr lang="en-US" sz="1750" dirty="0"/>
          </a:p>
          <a:p>
            <a:pPr indent="0" marL="0">
              <a:buNone/>
            </a:pPr>
            <a:r>
              <a:rPr lang="en-US" sz="1750" dirty="0">
                <a:solidFill>
                  <a:srgbClr val="E6EDF2"/>
                </a:solidFill>
                <a:latin typeface="Courier New" pitchFamily="34" charset="0"/>
                <a:ea typeface="Courier New" pitchFamily="34" charset="-122"/>
                <a:cs typeface="Courier New" pitchFamily="34" charset="-120"/>
              </a:rPr>
              <a:t>0x000       0x0002A303       lw   t1, 0(t0)</a:t>
            </a:r>
            <a:endParaRPr lang="en-US" sz="1750" dirty="0"/>
          </a:p>
          <a:p>
            <a:pPr indent="0" marL="0">
              <a:buNone/>
            </a:pPr>
            <a:r>
              <a:rPr lang="en-US" sz="1750" dirty="0">
                <a:solidFill>
                  <a:srgbClr val="E6EDF2"/>
                </a:solidFill>
                <a:latin typeface="Courier New" pitchFamily="34" charset="0"/>
                <a:ea typeface="Courier New" pitchFamily="34" charset="-122"/>
                <a:cs typeface="Courier New" pitchFamily="34" charset="-120"/>
              </a:rPr>
              <a:t>0x004       0x00130313       addi t1, t1, 1</a:t>
            </a:r>
            <a:endParaRPr lang="en-US" sz="1750" dirty="0"/>
          </a:p>
          <a:p>
            <a:pPr indent="0" marL="0">
              <a:buNone/>
            </a:pPr>
            <a:r>
              <a:rPr lang="en-US" sz="1750" dirty="0">
                <a:solidFill>
                  <a:srgbClr val="E6EDF2"/>
                </a:solidFill>
                <a:latin typeface="Courier New" pitchFamily="34" charset="0"/>
                <a:ea typeface="Courier New" pitchFamily="34" charset="-122"/>
                <a:cs typeface="Courier New" pitchFamily="34" charset="-120"/>
              </a:rPr>
              <a:t>0x008       0x0062A023       sw   t1, 0(t0)</a:t>
            </a:r>
            <a:endParaRPr lang="en-US" sz="1750" dirty="0"/>
          </a:p>
          <a:p>
            <a:pPr indent="0" marL="0">
              <a:buNone/>
            </a:pPr>
            <a:r>
              <a:rPr lang="en-US" sz="1750" dirty="0">
                <a:solidFill>
                  <a:srgbClr val="E6EDF2"/>
                </a:solidFill>
                <a:latin typeface="Courier New" pitchFamily="34" charset="0"/>
                <a:ea typeface="Courier New" pitchFamily="34" charset="-122"/>
                <a:cs typeface="Courier New" pitchFamily="34" charset="-120"/>
              </a:rPr>
              <a:t>0x00C       0x00008067       ret</a:t>
            </a:r>
            <a:endParaRPr lang="en-US" sz="1750" dirty="0"/>
          </a:p>
        </p:txBody>
      </p:sp>
      <p:sp>
        <p:nvSpPr>
          <p:cNvPr id="5" name="Shape 3"/>
          <p:cNvSpPr/>
          <p:nvPr/>
        </p:nvSpPr>
        <p:spPr>
          <a:xfrm>
            <a:off x="8229600" y="1417320"/>
            <a:ext cx="341345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839419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8915400" y="1554480"/>
            <a:ext cx="254477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È first_update della Lezione 02 così come sta in memoria: quattro numeri, a quattro indirizzi di distanza</a:t>
            </a:r>
            <a:endParaRPr lang="en-US" sz="1200" dirty="0"/>
          </a:p>
        </p:txBody>
      </p:sp>
      <p:sp>
        <p:nvSpPr>
          <p:cNvPr id="8" name="Shape 6"/>
          <p:cNvSpPr/>
          <p:nvPr/>
        </p:nvSpPr>
        <p:spPr>
          <a:xfrm>
            <a:off x="8229600" y="2656332"/>
            <a:ext cx="341345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839419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8915400" y="2793492"/>
            <a:ext cx="254477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Come fa il processore a sapere che il primo è un caricamento e il secondo una somma?</a:t>
            </a:r>
            <a:endParaRPr lang="en-US" sz="1200" dirty="0"/>
          </a:p>
        </p:txBody>
      </p:sp>
      <p:sp>
        <p:nvSpPr>
          <p:cNvPr id="11" name="Shape 9"/>
          <p:cNvSpPr/>
          <p:nvPr/>
        </p:nvSpPr>
        <p:spPr>
          <a:xfrm>
            <a:off x="8229600" y="3895344"/>
            <a:ext cx="341345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839419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8915400" y="4032504"/>
            <a:ext cx="254477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Quali passi compie per ciascuno?</a:t>
            </a:r>
            <a:endParaRPr lang="en-US" sz="1200" dirty="0"/>
          </a:p>
        </p:txBody>
      </p:sp>
      <p:sp>
        <p:nvSpPr>
          <p:cNvPr id="14" name="Shape 12"/>
          <p:cNvSpPr/>
          <p:nvPr/>
        </p:nvSpPr>
        <p:spPr>
          <a:xfrm>
            <a:off x="8229600" y="5134356"/>
            <a:ext cx="341345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839419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8915400" y="5271516"/>
            <a:ext cx="254477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E mentre li esegue, come si accorge che è stato premuto un pulsante o che è scaduto un timer?</a:t>
            </a:r>
            <a:endParaRPr lang="en-US" sz="1200" dirty="0"/>
          </a:p>
        </p:txBody>
      </p:sp>
      <p:sp>
        <p:nvSpPr>
          <p:cNvPr id="17" name="Shape 15"/>
          <p:cNvSpPr/>
          <p:nvPr/>
        </p:nvSpPr>
        <p:spPr>
          <a:xfrm>
            <a:off x="7657668" y="91440"/>
            <a:ext cx="3985387" cy="274320"/>
          </a:xfrm>
          <a:prstGeom prst="rect">
            <a:avLst/>
          </a:prstGeom>
          <a:solidFill>
            <a:srgbClr val="E0F2FE"/>
          </a:solidFill>
          <a:ln w="12700">
            <a:solidFill>
              <a:srgbClr val="0369A1"/>
            </a:solidFill>
            <a:prstDash val="solid"/>
          </a:ln>
        </p:spPr>
      </p:sp>
      <p:sp>
        <p:nvSpPr>
          <p:cNvPr id="18" name="Shape 16"/>
          <p:cNvSpPr/>
          <p:nvPr/>
        </p:nvSpPr>
        <p:spPr>
          <a:xfrm>
            <a:off x="7657668" y="91440"/>
            <a:ext cx="73152" cy="274320"/>
          </a:xfrm>
          <a:prstGeom prst="rect">
            <a:avLst/>
          </a:prstGeom>
          <a:solidFill>
            <a:srgbClr val="0369A1"/>
          </a:solidFill>
          <a:ln w="12700">
            <a:solidFill>
              <a:srgbClr val="0369A1"/>
            </a:solidFill>
            <a:prstDash val="solid"/>
          </a:ln>
        </p:spPr>
      </p:sp>
      <p:pic>
        <p:nvPicPr>
          <p:cNvPr id="19" name="Image 0" descr="preencoded.png">    </p:cNvPr>
          <p:cNvPicPr>
            <a:picLocks noChangeAspect="1"/>
          </p:cNvPicPr>
          <p:nvPr/>
        </p:nvPicPr>
        <p:blipFill>
          <a:blip r:embed="rId1"/>
          <a:stretch>
            <a:fillRect/>
          </a:stretch>
        </p:blipFill>
        <p:spPr>
          <a:xfrm>
            <a:off x="7785684" y="128016"/>
            <a:ext cx="201168" cy="201168"/>
          </a:xfrm>
          <a:prstGeom prst="rect">
            <a:avLst/>
          </a:prstGeom>
        </p:spPr>
      </p:pic>
      <p:sp>
        <p:nvSpPr>
          <p:cNvPr id="20" name="Text 17"/>
          <p:cNvSpPr txBox="1"/>
          <p:nvPr/>
        </p:nvSpPr>
        <p:spPr>
          <a:xfrm>
            <a:off x="8041716" y="91440"/>
            <a:ext cx="3564763"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formati delle istruzioni</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Decodifica a mano</a:t>
            </a:r>
            <a:endParaRPr lang="en-US" sz="3200" dirty="0"/>
          </a:p>
        </p:txBody>
      </p:sp>
      <p:sp>
        <p:nvSpPr>
          <p:cNvPr id="3" name="Text 1"/>
          <p:cNvSpPr txBox="1"/>
          <p:nvPr/>
        </p:nvSpPr>
        <p:spPr>
          <a:xfrm>
            <a:off x="548640" y="1325880"/>
            <a:ext cx="2926080" cy="457200"/>
          </a:xfrm>
          <a:prstGeom prst="rect">
            <a:avLst/>
          </a:prstGeom>
          <a:noFill/>
          <a:ln/>
        </p:spPr>
        <p:txBody>
          <a:bodyPr wrap="square" lIns="0" tIns="0" rIns="0" bIns="0" rtlCol="0" anchor="ctr"/>
          <a:lstStyle/>
          <a:p>
            <a:pPr indent="0" marL="0">
              <a:buNone/>
            </a:pPr>
            <a:r>
              <a:rPr lang="en-US" sz="2200" b="1" dirty="0">
                <a:solidFill>
                  <a:srgbClr val="2E4A62"/>
                </a:solidFill>
                <a:latin typeface="Courier New" pitchFamily="34" charset="0"/>
                <a:ea typeface="Courier New" pitchFamily="34" charset="-122"/>
                <a:cs typeface="Courier New" pitchFamily="34" charset="-120"/>
              </a:rPr>
              <a:t>0x006283B3</a:t>
            </a:r>
            <a:endParaRPr lang="en-US" sz="2200" dirty="0"/>
          </a:p>
        </p:txBody>
      </p:sp>
      <p:sp>
        <p:nvSpPr>
          <p:cNvPr id="4" name="Text 2"/>
          <p:cNvSpPr txBox="1"/>
          <p:nvPr/>
        </p:nvSpPr>
        <p:spPr>
          <a:xfrm>
            <a:off x="8229600" y="1325880"/>
            <a:ext cx="3413455" cy="457200"/>
          </a:xfrm>
          <a:prstGeom prst="rect">
            <a:avLst/>
          </a:prstGeom>
          <a:noFill/>
          <a:ln/>
        </p:spPr>
        <p:txBody>
          <a:bodyPr wrap="square" lIns="0" tIns="0" rIns="0" bIns="0" rtlCol="0" anchor="ctr"/>
          <a:lstStyle/>
          <a:p>
            <a:pPr algn="r" indent="0" marL="0">
              <a:buNone/>
            </a:pPr>
            <a:r>
              <a:rPr lang="en-US" sz="2200" b="1" dirty="0">
                <a:solidFill>
                  <a:srgbClr val="2F7D4F"/>
                </a:solidFill>
                <a:latin typeface="Courier New" pitchFamily="34" charset="0"/>
                <a:ea typeface="Courier New" pitchFamily="34" charset="-122"/>
                <a:cs typeface="Courier New" pitchFamily="34" charset="-120"/>
              </a:rPr>
              <a:t>add t2, t0, t1</a:t>
            </a:r>
            <a:endParaRPr lang="en-US" sz="2200" dirty="0"/>
          </a:p>
        </p:txBody>
      </p:sp>
      <p:sp>
        <p:nvSpPr>
          <p:cNvPr id="5" name="Text 3"/>
          <p:cNvSpPr txBox="1"/>
          <p:nvPr/>
        </p:nvSpPr>
        <p:spPr>
          <a:xfrm>
            <a:off x="548640" y="2194560"/>
            <a:ext cx="2394823" cy="548640"/>
          </a:xfrm>
          <a:prstGeom prst="rect">
            <a:avLst/>
          </a:prstGeom>
          <a:solidFill>
            <a:srgbClr val="6B4FA0"/>
          </a:solidFill>
          <a:ln w="19050">
            <a:solidFill>
              <a:srgbClr val="FFFFFF"/>
            </a:solidFill>
          </a:ln>
        </p:spPr>
        <p:txBody>
          <a:bodyPr wrap="square" lIns="0" tIns="0" rIns="0" bIns="0" rtlCol="0" anchor="ctr"/>
          <a:lstStyle/>
          <a:p>
            <a:pPr algn="ctr" indent="0" marL="0">
              <a:buNone/>
            </a:pPr>
            <a:r>
              <a:rPr lang="en-US" sz="1600" b="1" dirty="0">
                <a:solidFill>
                  <a:srgbClr val="FFFFFF"/>
                </a:solidFill>
                <a:latin typeface="Courier New" pitchFamily="34" charset="0"/>
                <a:ea typeface="Courier New" pitchFamily="34" charset="-122"/>
                <a:cs typeface="Courier New" pitchFamily="34" charset="-120"/>
              </a:rPr>
              <a:t>0000000</a:t>
            </a:r>
            <a:endParaRPr lang="en-US" sz="1600" dirty="0"/>
          </a:p>
        </p:txBody>
      </p:sp>
      <p:sp>
        <p:nvSpPr>
          <p:cNvPr id="6" name="Text 4"/>
          <p:cNvSpPr txBox="1"/>
          <p:nvPr/>
        </p:nvSpPr>
        <p:spPr>
          <a:xfrm>
            <a:off x="548640" y="2798064"/>
            <a:ext cx="2394823" cy="502920"/>
          </a:xfrm>
          <a:prstGeom prst="rect">
            <a:avLst/>
          </a:prstGeom>
          <a:noFill/>
          <a:ln/>
        </p:spPr>
        <p:txBody>
          <a:bodyPr wrap="square" lIns="0" tIns="0" rIns="0" bIns="0" rtlCol="0" anchor="t"/>
          <a:lstStyle/>
          <a:p>
            <a:pPr algn="ctr" indent="0" marL="0">
              <a:buNone/>
            </a:pPr>
            <a:r>
              <a:rPr lang="en-US" sz="1300" dirty="0">
                <a:solidFill>
                  <a:srgbClr val="1B2530"/>
                </a:solidFill>
                <a:latin typeface="Calibri" pitchFamily="34" charset="0"/>
                <a:ea typeface="Calibri" pitchFamily="34" charset="-122"/>
                <a:cs typeface="Calibri" pitchFamily="34" charset="-120"/>
              </a:rPr>
              <a:t>funct7</a:t>
            </a:r>
            <a:endParaRPr lang="en-US" sz="1300" dirty="0"/>
          </a:p>
          <a:p>
            <a:pPr algn="ctr" indent="0" marL="0">
              <a:buNone/>
            </a:pPr>
            <a:r>
              <a:rPr lang="en-US" sz="1300" dirty="0">
                <a:solidFill>
                  <a:srgbClr val="1B2530"/>
                </a:solidFill>
                <a:latin typeface="Calibri" pitchFamily="34" charset="0"/>
                <a:ea typeface="Calibri" pitchFamily="34" charset="-122"/>
                <a:cs typeface="Calibri" pitchFamily="34" charset="-120"/>
              </a:rPr>
              <a:t>add, non sub</a:t>
            </a:r>
            <a:endParaRPr lang="en-US" sz="1300" dirty="0"/>
          </a:p>
        </p:txBody>
      </p:sp>
      <p:sp>
        <p:nvSpPr>
          <p:cNvPr id="7" name="Text 5"/>
          <p:cNvSpPr txBox="1"/>
          <p:nvPr/>
        </p:nvSpPr>
        <p:spPr>
          <a:xfrm>
            <a:off x="585216" y="1956816"/>
            <a:ext cx="1197411" cy="219456"/>
          </a:xfrm>
          <a:prstGeom prst="rect">
            <a:avLst/>
          </a:prstGeom>
          <a:noFill/>
          <a:ln/>
        </p:spPr>
        <p:txBody>
          <a:bodyPr wrap="square" lIns="0" tIns="0" rIns="0" bIns="0" rtlCol="0" anchor="t"/>
          <a:lstStyle/>
          <a:p>
            <a:pPr indent="0" marL="0">
              <a:buNone/>
            </a:pPr>
            <a:r>
              <a:rPr lang="en-US" sz="1050" dirty="0">
                <a:solidFill>
                  <a:srgbClr val="5B6B78"/>
                </a:solidFill>
                <a:latin typeface="Courier New" pitchFamily="34" charset="0"/>
                <a:ea typeface="Courier New" pitchFamily="34" charset="-122"/>
                <a:cs typeface="Courier New" pitchFamily="34" charset="-120"/>
              </a:rPr>
              <a:t>31</a:t>
            </a:r>
            <a:endParaRPr lang="en-US" sz="1050" dirty="0"/>
          </a:p>
        </p:txBody>
      </p:sp>
      <p:sp>
        <p:nvSpPr>
          <p:cNvPr id="8" name="Text 6"/>
          <p:cNvSpPr txBox="1"/>
          <p:nvPr/>
        </p:nvSpPr>
        <p:spPr>
          <a:xfrm>
            <a:off x="1746051" y="1956816"/>
            <a:ext cx="1160835" cy="219456"/>
          </a:xfrm>
          <a:prstGeom prst="rect">
            <a:avLst/>
          </a:prstGeom>
          <a:noFill/>
          <a:ln/>
        </p:spPr>
        <p:txBody>
          <a:bodyPr wrap="square" lIns="0" tIns="0" rIns="0" bIns="0" rtlCol="0" anchor="t"/>
          <a:lstStyle/>
          <a:p>
            <a:pPr algn="r" indent="0" marL="0">
              <a:buNone/>
            </a:pPr>
            <a:r>
              <a:rPr lang="en-US" sz="1050" dirty="0">
                <a:solidFill>
                  <a:srgbClr val="5B6B78"/>
                </a:solidFill>
                <a:latin typeface="Courier New" pitchFamily="34" charset="0"/>
                <a:ea typeface="Courier New" pitchFamily="34" charset="-122"/>
                <a:cs typeface="Courier New" pitchFamily="34" charset="-120"/>
              </a:rPr>
              <a:t>25</a:t>
            </a:r>
            <a:endParaRPr lang="en-US" sz="1050" dirty="0"/>
          </a:p>
        </p:txBody>
      </p:sp>
      <p:sp>
        <p:nvSpPr>
          <p:cNvPr id="9" name="Text 7"/>
          <p:cNvSpPr txBox="1"/>
          <p:nvPr/>
        </p:nvSpPr>
        <p:spPr>
          <a:xfrm>
            <a:off x="2943463" y="2194560"/>
            <a:ext cx="1710588" cy="548640"/>
          </a:xfrm>
          <a:prstGeom prst="rect">
            <a:avLst/>
          </a:prstGeom>
          <a:solidFill>
            <a:srgbClr val="0E7C86"/>
          </a:solidFill>
          <a:ln w="19050">
            <a:solidFill>
              <a:srgbClr val="FFFFFF"/>
            </a:solidFill>
          </a:ln>
        </p:spPr>
        <p:txBody>
          <a:bodyPr wrap="square" lIns="0" tIns="0" rIns="0" bIns="0" rtlCol="0" anchor="ctr"/>
          <a:lstStyle/>
          <a:p>
            <a:pPr algn="ctr" indent="0" marL="0">
              <a:buNone/>
            </a:pPr>
            <a:r>
              <a:rPr lang="en-US" sz="1600" b="1" dirty="0">
                <a:solidFill>
                  <a:srgbClr val="FFFFFF"/>
                </a:solidFill>
                <a:latin typeface="Courier New" pitchFamily="34" charset="0"/>
                <a:ea typeface="Courier New" pitchFamily="34" charset="-122"/>
                <a:cs typeface="Courier New" pitchFamily="34" charset="-120"/>
              </a:rPr>
              <a:t>00110</a:t>
            </a:r>
            <a:endParaRPr lang="en-US" sz="1600" dirty="0"/>
          </a:p>
        </p:txBody>
      </p:sp>
      <p:sp>
        <p:nvSpPr>
          <p:cNvPr id="10" name="Text 8"/>
          <p:cNvSpPr txBox="1"/>
          <p:nvPr/>
        </p:nvSpPr>
        <p:spPr>
          <a:xfrm>
            <a:off x="2943463" y="2798064"/>
            <a:ext cx="1710588" cy="502920"/>
          </a:xfrm>
          <a:prstGeom prst="rect">
            <a:avLst/>
          </a:prstGeom>
          <a:noFill/>
          <a:ln/>
        </p:spPr>
        <p:txBody>
          <a:bodyPr wrap="square" lIns="0" tIns="0" rIns="0" bIns="0" rtlCol="0" anchor="t"/>
          <a:lstStyle/>
          <a:p>
            <a:pPr algn="ctr" indent="0" marL="0">
              <a:buNone/>
            </a:pPr>
            <a:r>
              <a:rPr lang="en-US" sz="1300" dirty="0">
                <a:solidFill>
                  <a:srgbClr val="1B2530"/>
                </a:solidFill>
                <a:latin typeface="Calibri" pitchFamily="34" charset="0"/>
                <a:ea typeface="Calibri" pitchFamily="34" charset="-122"/>
                <a:cs typeface="Calibri" pitchFamily="34" charset="-120"/>
              </a:rPr>
              <a:t>rs2</a:t>
            </a:r>
            <a:endParaRPr lang="en-US" sz="1300" dirty="0"/>
          </a:p>
          <a:p>
            <a:pPr algn="ctr" indent="0" marL="0">
              <a:buNone/>
            </a:pPr>
            <a:r>
              <a:rPr lang="en-US" sz="1300" dirty="0">
                <a:solidFill>
                  <a:srgbClr val="1B2530"/>
                </a:solidFill>
                <a:latin typeface="Calibri" pitchFamily="34" charset="0"/>
                <a:ea typeface="Calibri" pitchFamily="34" charset="-122"/>
                <a:cs typeface="Calibri" pitchFamily="34" charset="-120"/>
              </a:rPr>
              <a:t>x6 = t1</a:t>
            </a:r>
            <a:endParaRPr lang="en-US" sz="1300" dirty="0"/>
          </a:p>
        </p:txBody>
      </p:sp>
      <p:sp>
        <p:nvSpPr>
          <p:cNvPr id="11" name="Text 9"/>
          <p:cNvSpPr txBox="1"/>
          <p:nvPr/>
        </p:nvSpPr>
        <p:spPr>
          <a:xfrm>
            <a:off x="2980039" y="1956816"/>
            <a:ext cx="855294" cy="219456"/>
          </a:xfrm>
          <a:prstGeom prst="rect">
            <a:avLst/>
          </a:prstGeom>
          <a:noFill/>
          <a:ln/>
        </p:spPr>
        <p:txBody>
          <a:bodyPr wrap="square" lIns="0" tIns="0" rIns="0" bIns="0" rtlCol="0" anchor="t"/>
          <a:lstStyle/>
          <a:p>
            <a:pPr indent="0" marL="0">
              <a:buNone/>
            </a:pPr>
            <a:r>
              <a:rPr lang="en-US" sz="1050" dirty="0">
                <a:solidFill>
                  <a:srgbClr val="5B6B78"/>
                </a:solidFill>
                <a:latin typeface="Courier New" pitchFamily="34" charset="0"/>
                <a:ea typeface="Courier New" pitchFamily="34" charset="-122"/>
                <a:cs typeface="Courier New" pitchFamily="34" charset="-120"/>
              </a:rPr>
              <a:t>24</a:t>
            </a:r>
            <a:endParaRPr lang="en-US" sz="1050" dirty="0"/>
          </a:p>
        </p:txBody>
      </p:sp>
      <p:sp>
        <p:nvSpPr>
          <p:cNvPr id="12" name="Text 10"/>
          <p:cNvSpPr txBox="1"/>
          <p:nvPr/>
        </p:nvSpPr>
        <p:spPr>
          <a:xfrm>
            <a:off x="3798757" y="1956816"/>
            <a:ext cx="818718" cy="219456"/>
          </a:xfrm>
          <a:prstGeom prst="rect">
            <a:avLst/>
          </a:prstGeom>
          <a:noFill/>
          <a:ln/>
        </p:spPr>
        <p:txBody>
          <a:bodyPr wrap="square" lIns="0" tIns="0" rIns="0" bIns="0" rtlCol="0" anchor="t"/>
          <a:lstStyle/>
          <a:p>
            <a:pPr algn="r" indent="0" marL="0">
              <a:buNone/>
            </a:pPr>
            <a:r>
              <a:rPr lang="en-US" sz="1050" dirty="0">
                <a:solidFill>
                  <a:srgbClr val="5B6B78"/>
                </a:solidFill>
                <a:latin typeface="Courier New" pitchFamily="34" charset="0"/>
                <a:ea typeface="Courier New" pitchFamily="34" charset="-122"/>
                <a:cs typeface="Courier New" pitchFamily="34" charset="-120"/>
              </a:rPr>
              <a:t>20</a:t>
            </a:r>
            <a:endParaRPr lang="en-US" sz="1050" dirty="0"/>
          </a:p>
        </p:txBody>
      </p:sp>
      <p:sp>
        <p:nvSpPr>
          <p:cNvPr id="13" name="Text 11"/>
          <p:cNvSpPr txBox="1"/>
          <p:nvPr/>
        </p:nvSpPr>
        <p:spPr>
          <a:xfrm>
            <a:off x="4654050" y="2194560"/>
            <a:ext cx="1710588" cy="548640"/>
          </a:xfrm>
          <a:prstGeom prst="rect">
            <a:avLst/>
          </a:prstGeom>
          <a:solidFill>
            <a:srgbClr val="0E7C86"/>
          </a:solidFill>
          <a:ln w="19050">
            <a:solidFill>
              <a:srgbClr val="FFFFFF"/>
            </a:solidFill>
          </a:ln>
        </p:spPr>
        <p:txBody>
          <a:bodyPr wrap="square" lIns="0" tIns="0" rIns="0" bIns="0" rtlCol="0" anchor="ctr"/>
          <a:lstStyle/>
          <a:p>
            <a:pPr algn="ctr" indent="0" marL="0">
              <a:buNone/>
            </a:pPr>
            <a:r>
              <a:rPr lang="en-US" sz="1600" b="1" dirty="0">
                <a:solidFill>
                  <a:srgbClr val="FFFFFF"/>
                </a:solidFill>
                <a:latin typeface="Courier New" pitchFamily="34" charset="0"/>
                <a:ea typeface="Courier New" pitchFamily="34" charset="-122"/>
                <a:cs typeface="Courier New" pitchFamily="34" charset="-120"/>
              </a:rPr>
              <a:t>00101</a:t>
            </a:r>
            <a:endParaRPr lang="en-US" sz="1600" dirty="0"/>
          </a:p>
        </p:txBody>
      </p:sp>
      <p:sp>
        <p:nvSpPr>
          <p:cNvPr id="14" name="Text 12"/>
          <p:cNvSpPr txBox="1"/>
          <p:nvPr/>
        </p:nvSpPr>
        <p:spPr>
          <a:xfrm>
            <a:off x="4654050" y="2798064"/>
            <a:ext cx="1710588" cy="502920"/>
          </a:xfrm>
          <a:prstGeom prst="rect">
            <a:avLst/>
          </a:prstGeom>
          <a:noFill/>
          <a:ln/>
        </p:spPr>
        <p:txBody>
          <a:bodyPr wrap="square" lIns="0" tIns="0" rIns="0" bIns="0" rtlCol="0" anchor="t"/>
          <a:lstStyle/>
          <a:p>
            <a:pPr algn="ctr" indent="0" marL="0">
              <a:buNone/>
            </a:pPr>
            <a:r>
              <a:rPr lang="en-US" sz="1300" dirty="0">
                <a:solidFill>
                  <a:srgbClr val="1B2530"/>
                </a:solidFill>
                <a:latin typeface="Calibri" pitchFamily="34" charset="0"/>
                <a:ea typeface="Calibri" pitchFamily="34" charset="-122"/>
                <a:cs typeface="Calibri" pitchFamily="34" charset="-120"/>
              </a:rPr>
              <a:t>rs1</a:t>
            </a:r>
            <a:endParaRPr lang="en-US" sz="1300" dirty="0"/>
          </a:p>
          <a:p>
            <a:pPr algn="ctr" indent="0" marL="0">
              <a:buNone/>
            </a:pPr>
            <a:r>
              <a:rPr lang="en-US" sz="1300" dirty="0">
                <a:solidFill>
                  <a:srgbClr val="1B2530"/>
                </a:solidFill>
                <a:latin typeface="Calibri" pitchFamily="34" charset="0"/>
                <a:ea typeface="Calibri" pitchFamily="34" charset="-122"/>
                <a:cs typeface="Calibri" pitchFamily="34" charset="-120"/>
              </a:rPr>
              <a:t>x5 = t0</a:t>
            </a:r>
            <a:endParaRPr lang="en-US" sz="1300" dirty="0"/>
          </a:p>
        </p:txBody>
      </p:sp>
      <p:sp>
        <p:nvSpPr>
          <p:cNvPr id="15" name="Text 13"/>
          <p:cNvSpPr txBox="1"/>
          <p:nvPr/>
        </p:nvSpPr>
        <p:spPr>
          <a:xfrm>
            <a:off x="4690626" y="1956816"/>
            <a:ext cx="855294" cy="219456"/>
          </a:xfrm>
          <a:prstGeom prst="rect">
            <a:avLst/>
          </a:prstGeom>
          <a:noFill/>
          <a:ln/>
        </p:spPr>
        <p:txBody>
          <a:bodyPr wrap="square" lIns="0" tIns="0" rIns="0" bIns="0" rtlCol="0" anchor="t"/>
          <a:lstStyle/>
          <a:p>
            <a:pPr indent="0" marL="0">
              <a:buNone/>
            </a:pPr>
            <a:r>
              <a:rPr lang="en-US" sz="1050" dirty="0">
                <a:solidFill>
                  <a:srgbClr val="5B6B78"/>
                </a:solidFill>
                <a:latin typeface="Courier New" pitchFamily="34" charset="0"/>
                <a:ea typeface="Courier New" pitchFamily="34" charset="-122"/>
                <a:cs typeface="Courier New" pitchFamily="34" charset="-120"/>
              </a:rPr>
              <a:t>19</a:t>
            </a:r>
            <a:endParaRPr lang="en-US" sz="1050" dirty="0"/>
          </a:p>
        </p:txBody>
      </p:sp>
      <p:sp>
        <p:nvSpPr>
          <p:cNvPr id="16" name="Text 14"/>
          <p:cNvSpPr txBox="1"/>
          <p:nvPr/>
        </p:nvSpPr>
        <p:spPr>
          <a:xfrm>
            <a:off x="5509344" y="1956816"/>
            <a:ext cx="818718" cy="219456"/>
          </a:xfrm>
          <a:prstGeom prst="rect">
            <a:avLst/>
          </a:prstGeom>
          <a:noFill/>
          <a:ln/>
        </p:spPr>
        <p:txBody>
          <a:bodyPr wrap="square" lIns="0" tIns="0" rIns="0" bIns="0" rtlCol="0" anchor="t"/>
          <a:lstStyle/>
          <a:p>
            <a:pPr algn="r" indent="0" marL="0">
              <a:buNone/>
            </a:pPr>
            <a:r>
              <a:rPr lang="en-US" sz="1050" dirty="0">
                <a:solidFill>
                  <a:srgbClr val="5B6B78"/>
                </a:solidFill>
                <a:latin typeface="Courier New" pitchFamily="34" charset="0"/>
                <a:ea typeface="Courier New" pitchFamily="34" charset="-122"/>
                <a:cs typeface="Courier New" pitchFamily="34" charset="-120"/>
              </a:rPr>
              <a:t>15</a:t>
            </a:r>
            <a:endParaRPr lang="en-US" sz="1050" dirty="0"/>
          </a:p>
        </p:txBody>
      </p:sp>
      <p:sp>
        <p:nvSpPr>
          <p:cNvPr id="17" name="Text 15"/>
          <p:cNvSpPr txBox="1"/>
          <p:nvPr/>
        </p:nvSpPr>
        <p:spPr>
          <a:xfrm>
            <a:off x="6364638" y="2194560"/>
            <a:ext cx="1173007" cy="548640"/>
          </a:xfrm>
          <a:prstGeom prst="rect">
            <a:avLst/>
          </a:prstGeom>
          <a:solidFill>
            <a:srgbClr val="6B4FA0"/>
          </a:solidFill>
          <a:ln w="19050">
            <a:solidFill>
              <a:srgbClr val="FFFFFF"/>
            </a:solidFill>
          </a:ln>
        </p:spPr>
        <p:txBody>
          <a:bodyPr wrap="square" lIns="0" tIns="0" rIns="0" bIns="0" rtlCol="0" anchor="ctr"/>
          <a:lstStyle/>
          <a:p>
            <a:pPr algn="ctr" indent="0" marL="0">
              <a:buNone/>
            </a:pPr>
            <a:r>
              <a:rPr lang="en-US" sz="1600" b="1" dirty="0">
                <a:solidFill>
                  <a:srgbClr val="FFFFFF"/>
                </a:solidFill>
                <a:latin typeface="Courier New" pitchFamily="34" charset="0"/>
                <a:ea typeface="Courier New" pitchFamily="34" charset="-122"/>
                <a:cs typeface="Courier New" pitchFamily="34" charset="-120"/>
              </a:rPr>
              <a:t>000</a:t>
            </a:r>
            <a:endParaRPr lang="en-US" sz="1600" dirty="0"/>
          </a:p>
        </p:txBody>
      </p:sp>
      <p:sp>
        <p:nvSpPr>
          <p:cNvPr id="18" name="Text 16"/>
          <p:cNvSpPr txBox="1"/>
          <p:nvPr/>
        </p:nvSpPr>
        <p:spPr>
          <a:xfrm>
            <a:off x="6364638" y="2798064"/>
            <a:ext cx="1173007" cy="502920"/>
          </a:xfrm>
          <a:prstGeom prst="rect">
            <a:avLst/>
          </a:prstGeom>
          <a:noFill/>
          <a:ln/>
        </p:spPr>
        <p:txBody>
          <a:bodyPr wrap="square" lIns="0" tIns="0" rIns="0" bIns="0" rtlCol="0" anchor="t"/>
          <a:lstStyle/>
          <a:p>
            <a:pPr algn="ctr" indent="0" marL="0">
              <a:buNone/>
            </a:pPr>
            <a:r>
              <a:rPr lang="en-US" sz="1300" dirty="0">
                <a:solidFill>
                  <a:srgbClr val="1B2530"/>
                </a:solidFill>
                <a:latin typeface="Calibri" pitchFamily="34" charset="0"/>
                <a:ea typeface="Calibri" pitchFamily="34" charset="-122"/>
                <a:cs typeface="Calibri" pitchFamily="34" charset="-120"/>
              </a:rPr>
              <a:t>funct3</a:t>
            </a:r>
            <a:endParaRPr lang="en-US" sz="1300" dirty="0"/>
          </a:p>
          <a:p>
            <a:pPr algn="ctr" indent="0" marL="0">
              <a:buNone/>
            </a:pPr>
            <a:r>
              <a:rPr lang="en-US" sz="1300" dirty="0">
                <a:solidFill>
                  <a:srgbClr val="1B2530"/>
                </a:solidFill>
                <a:latin typeface="Calibri" pitchFamily="34" charset="0"/>
                <a:ea typeface="Calibri" pitchFamily="34" charset="-122"/>
                <a:cs typeface="Calibri" pitchFamily="34" charset="-120"/>
              </a:rPr>
              <a:t>add</a:t>
            </a:r>
            <a:endParaRPr lang="en-US" sz="1300" dirty="0"/>
          </a:p>
        </p:txBody>
      </p:sp>
      <p:sp>
        <p:nvSpPr>
          <p:cNvPr id="19" name="Text 17"/>
          <p:cNvSpPr txBox="1"/>
          <p:nvPr/>
        </p:nvSpPr>
        <p:spPr>
          <a:xfrm>
            <a:off x="6401214" y="1956816"/>
            <a:ext cx="586503" cy="219456"/>
          </a:xfrm>
          <a:prstGeom prst="rect">
            <a:avLst/>
          </a:prstGeom>
          <a:noFill/>
          <a:ln/>
        </p:spPr>
        <p:txBody>
          <a:bodyPr wrap="square" lIns="0" tIns="0" rIns="0" bIns="0" rtlCol="0" anchor="t"/>
          <a:lstStyle/>
          <a:p>
            <a:pPr indent="0" marL="0">
              <a:buNone/>
            </a:pPr>
            <a:r>
              <a:rPr lang="en-US" sz="1050" dirty="0">
                <a:solidFill>
                  <a:srgbClr val="5B6B78"/>
                </a:solidFill>
                <a:latin typeface="Courier New" pitchFamily="34" charset="0"/>
                <a:ea typeface="Courier New" pitchFamily="34" charset="-122"/>
                <a:cs typeface="Courier New" pitchFamily="34" charset="-120"/>
              </a:rPr>
              <a:t>14</a:t>
            </a:r>
            <a:endParaRPr lang="en-US" sz="1050" dirty="0"/>
          </a:p>
        </p:txBody>
      </p:sp>
      <p:sp>
        <p:nvSpPr>
          <p:cNvPr id="20" name="Text 18"/>
          <p:cNvSpPr txBox="1"/>
          <p:nvPr/>
        </p:nvSpPr>
        <p:spPr>
          <a:xfrm>
            <a:off x="6951141" y="1956816"/>
            <a:ext cx="549927" cy="219456"/>
          </a:xfrm>
          <a:prstGeom prst="rect">
            <a:avLst/>
          </a:prstGeom>
          <a:noFill/>
          <a:ln/>
        </p:spPr>
        <p:txBody>
          <a:bodyPr wrap="square" lIns="0" tIns="0" rIns="0" bIns="0" rtlCol="0" anchor="t"/>
          <a:lstStyle/>
          <a:p>
            <a:pPr algn="r" indent="0" marL="0">
              <a:buNone/>
            </a:pPr>
            <a:r>
              <a:rPr lang="en-US" sz="1050" dirty="0">
                <a:solidFill>
                  <a:srgbClr val="5B6B78"/>
                </a:solidFill>
                <a:latin typeface="Courier New" pitchFamily="34" charset="0"/>
                <a:ea typeface="Courier New" pitchFamily="34" charset="-122"/>
                <a:cs typeface="Courier New" pitchFamily="34" charset="-120"/>
              </a:rPr>
              <a:t>12</a:t>
            </a:r>
            <a:endParaRPr lang="en-US" sz="1050" dirty="0"/>
          </a:p>
        </p:txBody>
      </p:sp>
      <p:sp>
        <p:nvSpPr>
          <p:cNvPr id="21" name="Text 19"/>
          <p:cNvSpPr txBox="1"/>
          <p:nvPr/>
        </p:nvSpPr>
        <p:spPr>
          <a:xfrm>
            <a:off x="7537645" y="2194560"/>
            <a:ext cx="1710588" cy="548640"/>
          </a:xfrm>
          <a:prstGeom prst="rect">
            <a:avLst/>
          </a:prstGeom>
          <a:solidFill>
            <a:srgbClr val="2F7D4F"/>
          </a:solidFill>
          <a:ln w="19050">
            <a:solidFill>
              <a:srgbClr val="FFFFFF"/>
            </a:solidFill>
          </a:ln>
        </p:spPr>
        <p:txBody>
          <a:bodyPr wrap="square" lIns="0" tIns="0" rIns="0" bIns="0" rtlCol="0" anchor="ctr"/>
          <a:lstStyle/>
          <a:p>
            <a:pPr algn="ctr" indent="0" marL="0">
              <a:buNone/>
            </a:pPr>
            <a:r>
              <a:rPr lang="en-US" sz="1600" b="1" dirty="0">
                <a:solidFill>
                  <a:srgbClr val="FFFFFF"/>
                </a:solidFill>
                <a:latin typeface="Courier New" pitchFamily="34" charset="0"/>
                <a:ea typeface="Courier New" pitchFamily="34" charset="-122"/>
                <a:cs typeface="Courier New" pitchFamily="34" charset="-120"/>
              </a:rPr>
              <a:t>00111</a:t>
            </a:r>
            <a:endParaRPr lang="en-US" sz="1600" dirty="0"/>
          </a:p>
        </p:txBody>
      </p:sp>
      <p:sp>
        <p:nvSpPr>
          <p:cNvPr id="22" name="Text 20"/>
          <p:cNvSpPr txBox="1"/>
          <p:nvPr/>
        </p:nvSpPr>
        <p:spPr>
          <a:xfrm>
            <a:off x="7537645" y="2798064"/>
            <a:ext cx="1710588" cy="502920"/>
          </a:xfrm>
          <a:prstGeom prst="rect">
            <a:avLst/>
          </a:prstGeom>
          <a:noFill/>
          <a:ln/>
        </p:spPr>
        <p:txBody>
          <a:bodyPr wrap="square" lIns="0" tIns="0" rIns="0" bIns="0" rtlCol="0" anchor="t"/>
          <a:lstStyle/>
          <a:p>
            <a:pPr algn="ctr" indent="0" marL="0">
              <a:buNone/>
            </a:pPr>
            <a:r>
              <a:rPr lang="en-US" sz="1300" dirty="0">
                <a:solidFill>
                  <a:srgbClr val="1B2530"/>
                </a:solidFill>
                <a:latin typeface="Calibri" pitchFamily="34" charset="0"/>
                <a:ea typeface="Calibri" pitchFamily="34" charset="-122"/>
                <a:cs typeface="Calibri" pitchFamily="34" charset="-120"/>
              </a:rPr>
              <a:t>rd</a:t>
            </a:r>
            <a:endParaRPr lang="en-US" sz="1300" dirty="0"/>
          </a:p>
          <a:p>
            <a:pPr algn="ctr" indent="0" marL="0">
              <a:buNone/>
            </a:pPr>
            <a:r>
              <a:rPr lang="en-US" sz="1300" dirty="0">
                <a:solidFill>
                  <a:srgbClr val="1B2530"/>
                </a:solidFill>
                <a:latin typeface="Calibri" pitchFamily="34" charset="0"/>
                <a:ea typeface="Calibri" pitchFamily="34" charset="-122"/>
                <a:cs typeface="Calibri" pitchFamily="34" charset="-120"/>
              </a:rPr>
              <a:t>x7 = t2</a:t>
            </a:r>
            <a:endParaRPr lang="en-US" sz="1300" dirty="0"/>
          </a:p>
        </p:txBody>
      </p:sp>
      <p:sp>
        <p:nvSpPr>
          <p:cNvPr id="23" name="Text 21"/>
          <p:cNvSpPr txBox="1"/>
          <p:nvPr/>
        </p:nvSpPr>
        <p:spPr>
          <a:xfrm>
            <a:off x="7574221" y="1956816"/>
            <a:ext cx="855294" cy="219456"/>
          </a:xfrm>
          <a:prstGeom prst="rect">
            <a:avLst/>
          </a:prstGeom>
          <a:noFill/>
          <a:ln/>
        </p:spPr>
        <p:txBody>
          <a:bodyPr wrap="square" lIns="0" tIns="0" rIns="0" bIns="0" rtlCol="0" anchor="t"/>
          <a:lstStyle/>
          <a:p>
            <a:pPr indent="0" marL="0">
              <a:buNone/>
            </a:pPr>
            <a:r>
              <a:rPr lang="en-US" sz="1050" dirty="0">
                <a:solidFill>
                  <a:srgbClr val="5B6B78"/>
                </a:solidFill>
                <a:latin typeface="Courier New" pitchFamily="34" charset="0"/>
                <a:ea typeface="Courier New" pitchFamily="34" charset="-122"/>
                <a:cs typeface="Courier New" pitchFamily="34" charset="-120"/>
              </a:rPr>
              <a:t>11</a:t>
            </a:r>
            <a:endParaRPr lang="en-US" sz="1050" dirty="0"/>
          </a:p>
        </p:txBody>
      </p:sp>
      <p:sp>
        <p:nvSpPr>
          <p:cNvPr id="24" name="Text 22"/>
          <p:cNvSpPr txBox="1"/>
          <p:nvPr/>
        </p:nvSpPr>
        <p:spPr>
          <a:xfrm>
            <a:off x="8392939" y="1956816"/>
            <a:ext cx="818718" cy="219456"/>
          </a:xfrm>
          <a:prstGeom prst="rect">
            <a:avLst/>
          </a:prstGeom>
          <a:noFill/>
          <a:ln/>
        </p:spPr>
        <p:txBody>
          <a:bodyPr wrap="square" lIns="0" tIns="0" rIns="0" bIns="0" rtlCol="0" anchor="t"/>
          <a:lstStyle/>
          <a:p>
            <a:pPr algn="r" indent="0" marL="0">
              <a:buNone/>
            </a:pPr>
            <a:r>
              <a:rPr lang="en-US" sz="1050" dirty="0">
                <a:solidFill>
                  <a:srgbClr val="5B6B78"/>
                </a:solidFill>
                <a:latin typeface="Courier New" pitchFamily="34" charset="0"/>
                <a:ea typeface="Courier New" pitchFamily="34" charset="-122"/>
                <a:cs typeface="Courier New" pitchFamily="34" charset="-120"/>
              </a:rPr>
              <a:t>7</a:t>
            </a:r>
            <a:endParaRPr lang="en-US" sz="1050" dirty="0"/>
          </a:p>
        </p:txBody>
      </p:sp>
      <p:sp>
        <p:nvSpPr>
          <p:cNvPr id="25" name="Text 23"/>
          <p:cNvSpPr txBox="1"/>
          <p:nvPr/>
        </p:nvSpPr>
        <p:spPr>
          <a:xfrm>
            <a:off x="9248232" y="2194560"/>
            <a:ext cx="2394823" cy="548640"/>
          </a:xfrm>
          <a:prstGeom prst="rect">
            <a:avLst/>
          </a:prstGeom>
          <a:solidFill>
            <a:srgbClr val="2E4A62"/>
          </a:solidFill>
          <a:ln w="19050">
            <a:solidFill>
              <a:srgbClr val="FFFFFF"/>
            </a:solidFill>
          </a:ln>
        </p:spPr>
        <p:txBody>
          <a:bodyPr wrap="square" lIns="0" tIns="0" rIns="0" bIns="0" rtlCol="0" anchor="ctr"/>
          <a:lstStyle/>
          <a:p>
            <a:pPr algn="ctr" indent="0" marL="0">
              <a:buNone/>
            </a:pPr>
            <a:r>
              <a:rPr lang="en-US" sz="1600" b="1" dirty="0">
                <a:solidFill>
                  <a:srgbClr val="FFFFFF"/>
                </a:solidFill>
                <a:latin typeface="Courier New" pitchFamily="34" charset="0"/>
                <a:ea typeface="Courier New" pitchFamily="34" charset="-122"/>
                <a:cs typeface="Courier New" pitchFamily="34" charset="-120"/>
              </a:rPr>
              <a:t>0110011</a:t>
            </a:r>
            <a:endParaRPr lang="en-US" sz="1600" dirty="0"/>
          </a:p>
        </p:txBody>
      </p:sp>
      <p:sp>
        <p:nvSpPr>
          <p:cNvPr id="26" name="Text 24"/>
          <p:cNvSpPr txBox="1"/>
          <p:nvPr/>
        </p:nvSpPr>
        <p:spPr>
          <a:xfrm>
            <a:off x="9248232" y="2798064"/>
            <a:ext cx="2394823" cy="502920"/>
          </a:xfrm>
          <a:prstGeom prst="rect">
            <a:avLst/>
          </a:prstGeom>
          <a:noFill/>
          <a:ln/>
        </p:spPr>
        <p:txBody>
          <a:bodyPr wrap="square" lIns="0" tIns="0" rIns="0" bIns="0" rtlCol="0" anchor="t"/>
          <a:lstStyle/>
          <a:p>
            <a:pPr algn="ctr" indent="0" marL="0">
              <a:buNone/>
            </a:pPr>
            <a:r>
              <a:rPr lang="en-US" sz="1300" dirty="0">
                <a:solidFill>
                  <a:srgbClr val="1B2530"/>
                </a:solidFill>
                <a:latin typeface="Calibri" pitchFamily="34" charset="0"/>
                <a:ea typeface="Calibri" pitchFamily="34" charset="-122"/>
                <a:cs typeface="Calibri" pitchFamily="34" charset="-120"/>
              </a:rPr>
              <a:t>opcode</a:t>
            </a:r>
            <a:endParaRPr lang="en-US" sz="1300" dirty="0"/>
          </a:p>
          <a:p>
            <a:pPr algn="ctr" indent="0" marL="0">
              <a:buNone/>
            </a:pPr>
            <a:r>
              <a:rPr lang="en-US" sz="1300" dirty="0">
                <a:solidFill>
                  <a:srgbClr val="1B2530"/>
                </a:solidFill>
                <a:latin typeface="Calibri" pitchFamily="34" charset="0"/>
                <a:ea typeface="Calibri" pitchFamily="34" charset="-122"/>
                <a:cs typeface="Calibri" pitchFamily="34" charset="-120"/>
              </a:rPr>
              <a:t>registro-registro</a:t>
            </a:r>
            <a:endParaRPr lang="en-US" sz="1300" dirty="0"/>
          </a:p>
        </p:txBody>
      </p:sp>
      <p:sp>
        <p:nvSpPr>
          <p:cNvPr id="27" name="Text 25"/>
          <p:cNvSpPr txBox="1"/>
          <p:nvPr/>
        </p:nvSpPr>
        <p:spPr>
          <a:xfrm>
            <a:off x="9284808" y="1956816"/>
            <a:ext cx="1197411" cy="219456"/>
          </a:xfrm>
          <a:prstGeom prst="rect">
            <a:avLst/>
          </a:prstGeom>
          <a:noFill/>
          <a:ln/>
        </p:spPr>
        <p:txBody>
          <a:bodyPr wrap="square" lIns="0" tIns="0" rIns="0" bIns="0" rtlCol="0" anchor="t"/>
          <a:lstStyle/>
          <a:p>
            <a:pPr indent="0" marL="0">
              <a:buNone/>
            </a:pPr>
            <a:r>
              <a:rPr lang="en-US" sz="1050" dirty="0">
                <a:solidFill>
                  <a:srgbClr val="5B6B78"/>
                </a:solidFill>
                <a:latin typeface="Courier New" pitchFamily="34" charset="0"/>
                <a:ea typeface="Courier New" pitchFamily="34" charset="-122"/>
                <a:cs typeface="Courier New" pitchFamily="34" charset="-120"/>
              </a:rPr>
              <a:t>6</a:t>
            </a:r>
            <a:endParaRPr lang="en-US" sz="1050" dirty="0"/>
          </a:p>
        </p:txBody>
      </p:sp>
      <p:sp>
        <p:nvSpPr>
          <p:cNvPr id="28" name="Text 26"/>
          <p:cNvSpPr txBox="1"/>
          <p:nvPr/>
        </p:nvSpPr>
        <p:spPr>
          <a:xfrm>
            <a:off x="10445644" y="1956816"/>
            <a:ext cx="1160835" cy="219456"/>
          </a:xfrm>
          <a:prstGeom prst="rect">
            <a:avLst/>
          </a:prstGeom>
          <a:noFill/>
          <a:ln/>
        </p:spPr>
        <p:txBody>
          <a:bodyPr wrap="square" lIns="0" tIns="0" rIns="0" bIns="0" rtlCol="0" anchor="t"/>
          <a:lstStyle/>
          <a:p>
            <a:pPr algn="r" indent="0" marL="0">
              <a:buNone/>
            </a:pPr>
            <a:r>
              <a:rPr lang="en-US" sz="1050" dirty="0">
                <a:solidFill>
                  <a:srgbClr val="5B6B78"/>
                </a:solidFill>
                <a:latin typeface="Courier New" pitchFamily="34" charset="0"/>
                <a:ea typeface="Courier New" pitchFamily="34" charset="-122"/>
                <a:cs typeface="Courier New" pitchFamily="34" charset="-120"/>
              </a:rPr>
              <a:t>0</a:t>
            </a:r>
            <a:endParaRPr lang="en-US" sz="1050" dirty="0"/>
          </a:p>
        </p:txBody>
      </p:sp>
      <p:sp>
        <p:nvSpPr>
          <p:cNvPr id="29" name="Text 27"/>
          <p:cNvSpPr txBox="1"/>
          <p:nvPr/>
        </p:nvSpPr>
        <p:spPr>
          <a:xfrm>
            <a:off x="548640" y="3794760"/>
            <a:ext cx="2926080" cy="457200"/>
          </a:xfrm>
          <a:prstGeom prst="rect">
            <a:avLst/>
          </a:prstGeom>
          <a:noFill/>
          <a:ln/>
        </p:spPr>
        <p:txBody>
          <a:bodyPr wrap="square" lIns="0" tIns="0" rIns="0" bIns="0" rtlCol="0" anchor="ctr"/>
          <a:lstStyle/>
          <a:p>
            <a:pPr indent="0" marL="0">
              <a:buNone/>
            </a:pPr>
            <a:r>
              <a:rPr lang="en-US" sz="2200" b="1" dirty="0">
                <a:solidFill>
                  <a:srgbClr val="2E4A62"/>
                </a:solidFill>
                <a:latin typeface="Courier New" pitchFamily="34" charset="0"/>
                <a:ea typeface="Courier New" pitchFamily="34" charset="-122"/>
                <a:cs typeface="Courier New" pitchFamily="34" charset="-120"/>
              </a:rPr>
              <a:t>0x0002A303</a:t>
            </a:r>
            <a:endParaRPr lang="en-US" sz="2200" dirty="0"/>
          </a:p>
        </p:txBody>
      </p:sp>
      <p:sp>
        <p:nvSpPr>
          <p:cNvPr id="30" name="Text 28"/>
          <p:cNvSpPr txBox="1"/>
          <p:nvPr/>
        </p:nvSpPr>
        <p:spPr>
          <a:xfrm>
            <a:off x="8229600" y="3794760"/>
            <a:ext cx="3413455" cy="457200"/>
          </a:xfrm>
          <a:prstGeom prst="rect">
            <a:avLst/>
          </a:prstGeom>
          <a:noFill/>
          <a:ln/>
        </p:spPr>
        <p:txBody>
          <a:bodyPr wrap="square" lIns="0" tIns="0" rIns="0" bIns="0" rtlCol="0" anchor="ctr"/>
          <a:lstStyle/>
          <a:p>
            <a:pPr algn="r" indent="0" marL="0">
              <a:buNone/>
            </a:pPr>
            <a:r>
              <a:rPr lang="en-US" sz="2200" b="1" dirty="0">
                <a:solidFill>
                  <a:srgbClr val="2F7D4F"/>
                </a:solidFill>
                <a:latin typeface="Courier New" pitchFamily="34" charset="0"/>
                <a:ea typeface="Courier New" pitchFamily="34" charset="-122"/>
                <a:cs typeface="Courier New" pitchFamily="34" charset="-120"/>
              </a:rPr>
              <a:t>lw t1, 0(t0)</a:t>
            </a:r>
            <a:endParaRPr lang="en-US" sz="2200" dirty="0"/>
          </a:p>
        </p:txBody>
      </p:sp>
      <p:sp>
        <p:nvSpPr>
          <p:cNvPr id="31" name="Text 29"/>
          <p:cNvSpPr txBox="1"/>
          <p:nvPr/>
        </p:nvSpPr>
        <p:spPr>
          <a:xfrm>
            <a:off x="548640" y="4663440"/>
            <a:ext cx="4105410" cy="548640"/>
          </a:xfrm>
          <a:prstGeom prst="rect">
            <a:avLst/>
          </a:prstGeom>
          <a:solidFill>
            <a:srgbClr val="C7791B"/>
          </a:solidFill>
          <a:ln w="19050">
            <a:solidFill>
              <a:srgbClr val="FFFFFF"/>
            </a:solidFill>
          </a:ln>
        </p:spPr>
        <p:txBody>
          <a:bodyPr wrap="square" lIns="0" tIns="0" rIns="0" bIns="0" rtlCol="0" anchor="ctr"/>
          <a:lstStyle/>
          <a:p>
            <a:pPr algn="ctr" indent="0" marL="0">
              <a:buNone/>
            </a:pPr>
            <a:r>
              <a:rPr lang="en-US" sz="1600" b="1" dirty="0">
                <a:solidFill>
                  <a:srgbClr val="FFFFFF"/>
                </a:solidFill>
                <a:latin typeface="Courier New" pitchFamily="34" charset="0"/>
                <a:ea typeface="Courier New" pitchFamily="34" charset="-122"/>
                <a:cs typeface="Courier New" pitchFamily="34" charset="-120"/>
              </a:rPr>
              <a:t>000000000000</a:t>
            </a:r>
            <a:endParaRPr lang="en-US" sz="1600" dirty="0"/>
          </a:p>
        </p:txBody>
      </p:sp>
      <p:sp>
        <p:nvSpPr>
          <p:cNvPr id="32" name="Text 30"/>
          <p:cNvSpPr txBox="1"/>
          <p:nvPr/>
        </p:nvSpPr>
        <p:spPr>
          <a:xfrm>
            <a:off x="548640" y="5266944"/>
            <a:ext cx="4105410" cy="502920"/>
          </a:xfrm>
          <a:prstGeom prst="rect">
            <a:avLst/>
          </a:prstGeom>
          <a:noFill/>
          <a:ln/>
        </p:spPr>
        <p:txBody>
          <a:bodyPr wrap="square" lIns="0" tIns="0" rIns="0" bIns="0" rtlCol="0" anchor="t"/>
          <a:lstStyle/>
          <a:p>
            <a:pPr algn="ctr" indent="0" marL="0">
              <a:buNone/>
            </a:pPr>
            <a:r>
              <a:rPr lang="en-US" sz="1300" dirty="0">
                <a:solidFill>
                  <a:srgbClr val="1B2530"/>
                </a:solidFill>
                <a:latin typeface="Calibri" pitchFamily="34" charset="0"/>
                <a:ea typeface="Calibri" pitchFamily="34" charset="-122"/>
                <a:cs typeface="Calibri" pitchFamily="34" charset="-120"/>
              </a:rPr>
              <a:t>immediato</a:t>
            </a:r>
            <a:endParaRPr lang="en-US" sz="1300" dirty="0"/>
          </a:p>
          <a:p>
            <a:pPr algn="ctr" indent="0" marL="0">
              <a:buNone/>
            </a:pPr>
            <a:r>
              <a:rPr lang="en-US" sz="1300" dirty="0">
                <a:solidFill>
                  <a:srgbClr val="1B2530"/>
                </a:solidFill>
                <a:latin typeface="Calibri" pitchFamily="34" charset="0"/>
                <a:ea typeface="Calibri" pitchFamily="34" charset="-122"/>
                <a:cs typeface="Calibri" pitchFamily="34" charset="-120"/>
              </a:rPr>
              <a:t>scostamento 0</a:t>
            </a:r>
            <a:endParaRPr lang="en-US" sz="1300" dirty="0"/>
          </a:p>
        </p:txBody>
      </p:sp>
      <p:sp>
        <p:nvSpPr>
          <p:cNvPr id="33" name="Text 31"/>
          <p:cNvSpPr txBox="1"/>
          <p:nvPr/>
        </p:nvSpPr>
        <p:spPr>
          <a:xfrm>
            <a:off x="585216" y="4425696"/>
            <a:ext cx="2052705" cy="219456"/>
          </a:xfrm>
          <a:prstGeom prst="rect">
            <a:avLst/>
          </a:prstGeom>
          <a:noFill/>
          <a:ln/>
        </p:spPr>
        <p:txBody>
          <a:bodyPr wrap="square" lIns="0" tIns="0" rIns="0" bIns="0" rtlCol="0" anchor="t"/>
          <a:lstStyle/>
          <a:p>
            <a:pPr indent="0" marL="0">
              <a:buNone/>
            </a:pPr>
            <a:r>
              <a:rPr lang="en-US" sz="1050" dirty="0">
                <a:solidFill>
                  <a:srgbClr val="5B6B78"/>
                </a:solidFill>
                <a:latin typeface="Courier New" pitchFamily="34" charset="0"/>
                <a:ea typeface="Courier New" pitchFamily="34" charset="-122"/>
                <a:cs typeface="Courier New" pitchFamily="34" charset="-120"/>
              </a:rPr>
              <a:t>31</a:t>
            </a:r>
            <a:endParaRPr lang="en-US" sz="1050" dirty="0"/>
          </a:p>
        </p:txBody>
      </p:sp>
      <p:sp>
        <p:nvSpPr>
          <p:cNvPr id="34" name="Text 32"/>
          <p:cNvSpPr txBox="1"/>
          <p:nvPr/>
        </p:nvSpPr>
        <p:spPr>
          <a:xfrm>
            <a:off x="2601345" y="4425696"/>
            <a:ext cx="2016129" cy="219456"/>
          </a:xfrm>
          <a:prstGeom prst="rect">
            <a:avLst/>
          </a:prstGeom>
          <a:noFill/>
          <a:ln/>
        </p:spPr>
        <p:txBody>
          <a:bodyPr wrap="square" lIns="0" tIns="0" rIns="0" bIns="0" rtlCol="0" anchor="t"/>
          <a:lstStyle/>
          <a:p>
            <a:pPr algn="r" indent="0" marL="0">
              <a:buNone/>
            </a:pPr>
            <a:r>
              <a:rPr lang="en-US" sz="1050" dirty="0">
                <a:solidFill>
                  <a:srgbClr val="5B6B78"/>
                </a:solidFill>
                <a:latin typeface="Courier New" pitchFamily="34" charset="0"/>
                <a:ea typeface="Courier New" pitchFamily="34" charset="-122"/>
                <a:cs typeface="Courier New" pitchFamily="34" charset="-120"/>
              </a:rPr>
              <a:t>20</a:t>
            </a:r>
            <a:endParaRPr lang="en-US" sz="1050" dirty="0"/>
          </a:p>
        </p:txBody>
      </p:sp>
      <p:sp>
        <p:nvSpPr>
          <p:cNvPr id="35" name="Text 33"/>
          <p:cNvSpPr txBox="1"/>
          <p:nvPr/>
        </p:nvSpPr>
        <p:spPr>
          <a:xfrm>
            <a:off x="4654050" y="4663440"/>
            <a:ext cx="1710588" cy="548640"/>
          </a:xfrm>
          <a:prstGeom prst="rect">
            <a:avLst/>
          </a:prstGeom>
          <a:solidFill>
            <a:srgbClr val="0E7C86"/>
          </a:solidFill>
          <a:ln w="19050">
            <a:solidFill>
              <a:srgbClr val="FFFFFF"/>
            </a:solidFill>
          </a:ln>
        </p:spPr>
        <p:txBody>
          <a:bodyPr wrap="square" lIns="0" tIns="0" rIns="0" bIns="0" rtlCol="0" anchor="ctr"/>
          <a:lstStyle/>
          <a:p>
            <a:pPr algn="ctr" indent="0" marL="0">
              <a:buNone/>
            </a:pPr>
            <a:r>
              <a:rPr lang="en-US" sz="1600" b="1" dirty="0">
                <a:solidFill>
                  <a:srgbClr val="FFFFFF"/>
                </a:solidFill>
                <a:latin typeface="Courier New" pitchFamily="34" charset="0"/>
                <a:ea typeface="Courier New" pitchFamily="34" charset="-122"/>
                <a:cs typeface="Courier New" pitchFamily="34" charset="-120"/>
              </a:rPr>
              <a:t>00101</a:t>
            </a:r>
            <a:endParaRPr lang="en-US" sz="1600" dirty="0"/>
          </a:p>
        </p:txBody>
      </p:sp>
      <p:sp>
        <p:nvSpPr>
          <p:cNvPr id="36" name="Text 34"/>
          <p:cNvSpPr txBox="1"/>
          <p:nvPr/>
        </p:nvSpPr>
        <p:spPr>
          <a:xfrm>
            <a:off x="4654050" y="5266944"/>
            <a:ext cx="1710588" cy="502920"/>
          </a:xfrm>
          <a:prstGeom prst="rect">
            <a:avLst/>
          </a:prstGeom>
          <a:noFill/>
          <a:ln/>
        </p:spPr>
        <p:txBody>
          <a:bodyPr wrap="square" lIns="0" tIns="0" rIns="0" bIns="0" rtlCol="0" anchor="t"/>
          <a:lstStyle/>
          <a:p>
            <a:pPr algn="ctr" indent="0" marL="0">
              <a:buNone/>
            </a:pPr>
            <a:r>
              <a:rPr lang="en-US" sz="1300" dirty="0">
                <a:solidFill>
                  <a:srgbClr val="1B2530"/>
                </a:solidFill>
                <a:latin typeface="Calibri" pitchFamily="34" charset="0"/>
                <a:ea typeface="Calibri" pitchFamily="34" charset="-122"/>
                <a:cs typeface="Calibri" pitchFamily="34" charset="-120"/>
              </a:rPr>
              <a:t>rs1</a:t>
            </a:r>
            <a:endParaRPr lang="en-US" sz="1300" dirty="0"/>
          </a:p>
          <a:p>
            <a:pPr algn="ctr" indent="0" marL="0">
              <a:buNone/>
            </a:pPr>
            <a:r>
              <a:rPr lang="en-US" sz="1300" dirty="0">
                <a:solidFill>
                  <a:srgbClr val="1B2530"/>
                </a:solidFill>
                <a:latin typeface="Calibri" pitchFamily="34" charset="0"/>
                <a:ea typeface="Calibri" pitchFamily="34" charset="-122"/>
                <a:cs typeface="Calibri" pitchFamily="34" charset="-120"/>
              </a:rPr>
              <a:t>x5 = t0</a:t>
            </a:r>
            <a:endParaRPr lang="en-US" sz="1300" dirty="0"/>
          </a:p>
        </p:txBody>
      </p:sp>
      <p:sp>
        <p:nvSpPr>
          <p:cNvPr id="37" name="Text 35"/>
          <p:cNvSpPr txBox="1"/>
          <p:nvPr/>
        </p:nvSpPr>
        <p:spPr>
          <a:xfrm>
            <a:off x="4690626" y="4425696"/>
            <a:ext cx="855294" cy="219456"/>
          </a:xfrm>
          <a:prstGeom prst="rect">
            <a:avLst/>
          </a:prstGeom>
          <a:noFill/>
          <a:ln/>
        </p:spPr>
        <p:txBody>
          <a:bodyPr wrap="square" lIns="0" tIns="0" rIns="0" bIns="0" rtlCol="0" anchor="t"/>
          <a:lstStyle/>
          <a:p>
            <a:pPr indent="0" marL="0">
              <a:buNone/>
            </a:pPr>
            <a:r>
              <a:rPr lang="en-US" sz="1050" dirty="0">
                <a:solidFill>
                  <a:srgbClr val="5B6B78"/>
                </a:solidFill>
                <a:latin typeface="Courier New" pitchFamily="34" charset="0"/>
                <a:ea typeface="Courier New" pitchFamily="34" charset="-122"/>
                <a:cs typeface="Courier New" pitchFamily="34" charset="-120"/>
              </a:rPr>
              <a:t>19</a:t>
            </a:r>
            <a:endParaRPr lang="en-US" sz="1050" dirty="0"/>
          </a:p>
        </p:txBody>
      </p:sp>
      <p:sp>
        <p:nvSpPr>
          <p:cNvPr id="38" name="Text 36"/>
          <p:cNvSpPr txBox="1"/>
          <p:nvPr/>
        </p:nvSpPr>
        <p:spPr>
          <a:xfrm>
            <a:off x="5509344" y="4425696"/>
            <a:ext cx="818718" cy="219456"/>
          </a:xfrm>
          <a:prstGeom prst="rect">
            <a:avLst/>
          </a:prstGeom>
          <a:noFill/>
          <a:ln/>
        </p:spPr>
        <p:txBody>
          <a:bodyPr wrap="square" lIns="0" tIns="0" rIns="0" bIns="0" rtlCol="0" anchor="t"/>
          <a:lstStyle/>
          <a:p>
            <a:pPr algn="r" indent="0" marL="0">
              <a:buNone/>
            </a:pPr>
            <a:r>
              <a:rPr lang="en-US" sz="1050" dirty="0">
                <a:solidFill>
                  <a:srgbClr val="5B6B78"/>
                </a:solidFill>
                <a:latin typeface="Courier New" pitchFamily="34" charset="0"/>
                <a:ea typeface="Courier New" pitchFamily="34" charset="-122"/>
                <a:cs typeface="Courier New" pitchFamily="34" charset="-120"/>
              </a:rPr>
              <a:t>15</a:t>
            </a:r>
            <a:endParaRPr lang="en-US" sz="1050" dirty="0"/>
          </a:p>
        </p:txBody>
      </p:sp>
      <p:sp>
        <p:nvSpPr>
          <p:cNvPr id="39" name="Text 37"/>
          <p:cNvSpPr txBox="1"/>
          <p:nvPr/>
        </p:nvSpPr>
        <p:spPr>
          <a:xfrm>
            <a:off x="6364638" y="4663440"/>
            <a:ext cx="1173007" cy="548640"/>
          </a:xfrm>
          <a:prstGeom prst="rect">
            <a:avLst/>
          </a:prstGeom>
          <a:solidFill>
            <a:srgbClr val="6B4FA0"/>
          </a:solidFill>
          <a:ln w="19050">
            <a:solidFill>
              <a:srgbClr val="FFFFFF"/>
            </a:solidFill>
          </a:ln>
        </p:spPr>
        <p:txBody>
          <a:bodyPr wrap="square" lIns="0" tIns="0" rIns="0" bIns="0" rtlCol="0" anchor="ctr"/>
          <a:lstStyle/>
          <a:p>
            <a:pPr algn="ctr" indent="0" marL="0">
              <a:buNone/>
            </a:pPr>
            <a:r>
              <a:rPr lang="en-US" sz="1600" b="1" dirty="0">
                <a:solidFill>
                  <a:srgbClr val="FFFFFF"/>
                </a:solidFill>
                <a:latin typeface="Courier New" pitchFamily="34" charset="0"/>
                <a:ea typeface="Courier New" pitchFamily="34" charset="-122"/>
                <a:cs typeface="Courier New" pitchFamily="34" charset="-120"/>
              </a:rPr>
              <a:t>010</a:t>
            </a:r>
            <a:endParaRPr lang="en-US" sz="1600" dirty="0"/>
          </a:p>
        </p:txBody>
      </p:sp>
      <p:sp>
        <p:nvSpPr>
          <p:cNvPr id="40" name="Text 38"/>
          <p:cNvSpPr txBox="1"/>
          <p:nvPr/>
        </p:nvSpPr>
        <p:spPr>
          <a:xfrm>
            <a:off x="6364638" y="5266944"/>
            <a:ext cx="1173007" cy="502920"/>
          </a:xfrm>
          <a:prstGeom prst="rect">
            <a:avLst/>
          </a:prstGeom>
          <a:noFill/>
          <a:ln/>
        </p:spPr>
        <p:txBody>
          <a:bodyPr wrap="square" lIns="0" tIns="0" rIns="0" bIns="0" rtlCol="0" anchor="t"/>
          <a:lstStyle/>
          <a:p>
            <a:pPr algn="ctr" indent="0" marL="0">
              <a:buNone/>
            </a:pPr>
            <a:r>
              <a:rPr lang="en-US" sz="1300" dirty="0">
                <a:solidFill>
                  <a:srgbClr val="1B2530"/>
                </a:solidFill>
                <a:latin typeface="Calibri" pitchFamily="34" charset="0"/>
                <a:ea typeface="Calibri" pitchFamily="34" charset="-122"/>
                <a:cs typeface="Calibri" pitchFamily="34" charset="-120"/>
              </a:rPr>
              <a:t>funct3</a:t>
            </a:r>
            <a:endParaRPr lang="en-US" sz="1300" dirty="0"/>
          </a:p>
          <a:p>
            <a:pPr algn="ctr" indent="0" marL="0">
              <a:buNone/>
            </a:pPr>
            <a:r>
              <a:rPr lang="en-US" sz="1300" dirty="0">
                <a:solidFill>
                  <a:srgbClr val="1B2530"/>
                </a:solidFill>
                <a:latin typeface="Calibri" pitchFamily="34" charset="0"/>
                <a:ea typeface="Calibri" pitchFamily="34" charset="-122"/>
                <a:cs typeface="Calibri" pitchFamily="34" charset="-120"/>
              </a:rPr>
              <a:t>una parola</a:t>
            </a:r>
            <a:endParaRPr lang="en-US" sz="1300" dirty="0"/>
          </a:p>
        </p:txBody>
      </p:sp>
      <p:sp>
        <p:nvSpPr>
          <p:cNvPr id="41" name="Text 39"/>
          <p:cNvSpPr txBox="1"/>
          <p:nvPr/>
        </p:nvSpPr>
        <p:spPr>
          <a:xfrm>
            <a:off x="6401214" y="4425696"/>
            <a:ext cx="586503" cy="219456"/>
          </a:xfrm>
          <a:prstGeom prst="rect">
            <a:avLst/>
          </a:prstGeom>
          <a:noFill/>
          <a:ln/>
        </p:spPr>
        <p:txBody>
          <a:bodyPr wrap="square" lIns="0" tIns="0" rIns="0" bIns="0" rtlCol="0" anchor="t"/>
          <a:lstStyle/>
          <a:p>
            <a:pPr indent="0" marL="0">
              <a:buNone/>
            </a:pPr>
            <a:r>
              <a:rPr lang="en-US" sz="1050" dirty="0">
                <a:solidFill>
                  <a:srgbClr val="5B6B78"/>
                </a:solidFill>
                <a:latin typeface="Courier New" pitchFamily="34" charset="0"/>
                <a:ea typeface="Courier New" pitchFamily="34" charset="-122"/>
                <a:cs typeface="Courier New" pitchFamily="34" charset="-120"/>
              </a:rPr>
              <a:t>14</a:t>
            </a:r>
            <a:endParaRPr lang="en-US" sz="1050" dirty="0"/>
          </a:p>
        </p:txBody>
      </p:sp>
      <p:sp>
        <p:nvSpPr>
          <p:cNvPr id="42" name="Text 40"/>
          <p:cNvSpPr txBox="1"/>
          <p:nvPr/>
        </p:nvSpPr>
        <p:spPr>
          <a:xfrm>
            <a:off x="6951141" y="4425696"/>
            <a:ext cx="549927" cy="219456"/>
          </a:xfrm>
          <a:prstGeom prst="rect">
            <a:avLst/>
          </a:prstGeom>
          <a:noFill/>
          <a:ln/>
        </p:spPr>
        <p:txBody>
          <a:bodyPr wrap="square" lIns="0" tIns="0" rIns="0" bIns="0" rtlCol="0" anchor="t"/>
          <a:lstStyle/>
          <a:p>
            <a:pPr algn="r" indent="0" marL="0">
              <a:buNone/>
            </a:pPr>
            <a:r>
              <a:rPr lang="en-US" sz="1050" dirty="0">
                <a:solidFill>
                  <a:srgbClr val="5B6B78"/>
                </a:solidFill>
                <a:latin typeface="Courier New" pitchFamily="34" charset="0"/>
                <a:ea typeface="Courier New" pitchFamily="34" charset="-122"/>
                <a:cs typeface="Courier New" pitchFamily="34" charset="-120"/>
              </a:rPr>
              <a:t>12</a:t>
            </a:r>
            <a:endParaRPr lang="en-US" sz="1050" dirty="0"/>
          </a:p>
        </p:txBody>
      </p:sp>
      <p:sp>
        <p:nvSpPr>
          <p:cNvPr id="43" name="Text 41"/>
          <p:cNvSpPr txBox="1"/>
          <p:nvPr/>
        </p:nvSpPr>
        <p:spPr>
          <a:xfrm>
            <a:off x="7537645" y="4663440"/>
            <a:ext cx="1710588" cy="548640"/>
          </a:xfrm>
          <a:prstGeom prst="rect">
            <a:avLst/>
          </a:prstGeom>
          <a:solidFill>
            <a:srgbClr val="2F7D4F"/>
          </a:solidFill>
          <a:ln w="19050">
            <a:solidFill>
              <a:srgbClr val="FFFFFF"/>
            </a:solidFill>
          </a:ln>
        </p:spPr>
        <p:txBody>
          <a:bodyPr wrap="square" lIns="0" tIns="0" rIns="0" bIns="0" rtlCol="0" anchor="ctr"/>
          <a:lstStyle/>
          <a:p>
            <a:pPr algn="ctr" indent="0" marL="0">
              <a:buNone/>
            </a:pPr>
            <a:r>
              <a:rPr lang="en-US" sz="1600" b="1" dirty="0">
                <a:solidFill>
                  <a:srgbClr val="FFFFFF"/>
                </a:solidFill>
                <a:latin typeface="Courier New" pitchFamily="34" charset="0"/>
                <a:ea typeface="Courier New" pitchFamily="34" charset="-122"/>
                <a:cs typeface="Courier New" pitchFamily="34" charset="-120"/>
              </a:rPr>
              <a:t>00110</a:t>
            </a:r>
            <a:endParaRPr lang="en-US" sz="1600" dirty="0"/>
          </a:p>
        </p:txBody>
      </p:sp>
      <p:sp>
        <p:nvSpPr>
          <p:cNvPr id="44" name="Text 42"/>
          <p:cNvSpPr txBox="1"/>
          <p:nvPr/>
        </p:nvSpPr>
        <p:spPr>
          <a:xfrm>
            <a:off x="7537645" y="5266944"/>
            <a:ext cx="1710588" cy="502920"/>
          </a:xfrm>
          <a:prstGeom prst="rect">
            <a:avLst/>
          </a:prstGeom>
          <a:noFill/>
          <a:ln/>
        </p:spPr>
        <p:txBody>
          <a:bodyPr wrap="square" lIns="0" tIns="0" rIns="0" bIns="0" rtlCol="0" anchor="t"/>
          <a:lstStyle/>
          <a:p>
            <a:pPr algn="ctr" indent="0" marL="0">
              <a:buNone/>
            </a:pPr>
            <a:r>
              <a:rPr lang="en-US" sz="1300" dirty="0">
                <a:solidFill>
                  <a:srgbClr val="1B2530"/>
                </a:solidFill>
                <a:latin typeface="Calibri" pitchFamily="34" charset="0"/>
                <a:ea typeface="Calibri" pitchFamily="34" charset="-122"/>
                <a:cs typeface="Calibri" pitchFamily="34" charset="-120"/>
              </a:rPr>
              <a:t>rd</a:t>
            </a:r>
            <a:endParaRPr lang="en-US" sz="1300" dirty="0"/>
          </a:p>
          <a:p>
            <a:pPr algn="ctr" indent="0" marL="0">
              <a:buNone/>
            </a:pPr>
            <a:r>
              <a:rPr lang="en-US" sz="1300" dirty="0">
                <a:solidFill>
                  <a:srgbClr val="1B2530"/>
                </a:solidFill>
                <a:latin typeface="Calibri" pitchFamily="34" charset="0"/>
                <a:ea typeface="Calibri" pitchFamily="34" charset="-122"/>
                <a:cs typeface="Calibri" pitchFamily="34" charset="-120"/>
              </a:rPr>
              <a:t>x6 = t1</a:t>
            </a:r>
            <a:endParaRPr lang="en-US" sz="1300" dirty="0"/>
          </a:p>
        </p:txBody>
      </p:sp>
      <p:sp>
        <p:nvSpPr>
          <p:cNvPr id="45" name="Text 43"/>
          <p:cNvSpPr txBox="1"/>
          <p:nvPr/>
        </p:nvSpPr>
        <p:spPr>
          <a:xfrm>
            <a:off x="7574221" y="4425696"/>
            <a:ext cx="855294" cy="219456"/>
          </a:xfrm>
          <a:prstGeom prst="rect">
            <a:avLst/>
          </a:prstGeom>
          <a:noFill/>
          <a:ln/>
        </p:spPr>
        <p:txBody>
          <a:bodyPr wrap="square" lIns="0" tIns="0" rIns="0" bIns="0" rtlCol="0" anchor="t"/>
          <a:lstStyle/>
          <a:p>
            <a:pPr indent="0" marL="0">
              <a:buNone/>
            </a:pPr>
            <a:r>
              <a:rPr lang="en-US" sz="1050" dirty="0">
                <a:solidFill>
                  <a:srgbClr val="5B6B78"/>
                </a:solidFill>
                <a:latin typeface="Courier New" pitchFamily="34" charset="0"/>
                <a:ea typeface="Courier New" pitchFamily="34" charset="-122"/>
                <a:cs typeface="Courier New" pitchFamily="34" charset="-120"/>
              </a:rPr>
              <a:t>11</a:t>
            </a:r>
            <a:endParaRPr lang="en-US" sz="1050" dirty="0"/>
          </a:p>
        </p:txBody>
      </p:sp>
      <p:sp>
        <p:nvSpPr>
          <p:cNvPr id="46" name="Text 44"/>
          <p:cNvSpPr txBox="1"/>
          <p:nvPr/>
        </p:nvSpPr>
        <p:spPr>
          <a:xfrm>
            <a:off x="8392939" y="4425696"/>
            <a:ext cx="818718" cy="219456"/>
          </a:xfrm>
          <a:prstGeom prst="rect">
            <a:avLst/>
          </a:prstGeom>
          <a:noFill/>
          <a:ln/>
        </p:spPr>
        <p:txBody>
          <a:bodyPr wrap="square" lIns="0" tIns="0" rIns="0" bIns="0" rtlCol="0" anchor="t"/>
          <a:lstStyle/>
          <a:p>
            <a:pPr algn="r" indent="0" marL="0">
              <a:buNone/>
            </a:pPr>
            <a:r>
              <a:rPr lang="en-US" sz="1050" dirty="0">
                <a:solidFill>
                  <a:srgbClr val="5B6B78"/>
                </a:solidFill>
                <a:latin typeface="Courier New" pitchFamily="34" charset="0"/>
                <a:ea typeface="Courier New" pitchFamily="34" charset="-122"/>
                <a:cs typeface="Courier New" pitchFamily="34" charset="-120"/>
              </a:rPr>
              <a:t>7</a:t>
            </a:r>
            <a:endParaRPr lang="en-US" sz="1050" dirty="0"/>
          </a:p>
        </p:txBody>
      </p:sp>
      <p:sp>
        <p:nvSpPr>
          <p:cNvPr id="47" name="Text 45"/>
          <p:cNvSpPr txBox="1"/>
          <p:nvPr/>
        </p:nvSpPr>
        <p:spPr>
          <a:xfrm>
            <a:off x="9248232" y="4663440"/>
            <a:ext cx="2394823" cy="548640"/>
          </a:xfrm>
          <a:prstGeom prst="rect">
            <a:avLst/>
          </a:prstGeom>
          <a:solidFill>
            <a:srgbClr val="2E4A62"/>
          </a:solidFill>
          <a:ln w="19050">
            <a:solidFill>
              <a:srgbClr val="FFFFFF"/>
            </a:solidFill>
          </a:ln>
        </p:spPr>
        <p:txBody>
          <a:bodyPr wrap="square" lIns="0" tIns="0" rIns="0" bIns="0" rtlCol="0" anchor="ctr"/>
          <a:lstStyle/>
          <a:p>
            <a:pPr algn="ctr" indent="0" marL="0">
              <a:buNone/>
            </a:pPr>
            <a:r>
              <a:rPr lang="en-US" sz="1600" b="1" dirty="0">
                <a:solidFill>
                  <a:srgbClr val="FFFFFF"/>
                </a:solidFill>
                <a:latin typeface="Courier New" pitchFamily="34" charset="0"/>
                <a:ea typeface="Courier New" pitchFamily="34" charset="-122"/>
                <a:cs typeface="Courier New" pitchFamily="34" charset="-120"/>
              </a:rPr>
              <a:t>0000011</a:t>
            </a:r>
            <a:endParaRPr lang="en-US" sz="1600" dirty="0"/>
          </a:p>
        </p:txBody>
      </p:sp>
      <p:sp>
        <p:nvSpPr>
          <p:cNvPr id="48" name="Text 46"/>
          <p:cNvSpPr txBox="1"/>
          <p:nvPr/>
        </p:nvSpPr>
        <p:spPr>
          <a:xfrm>
            <a:off x="9248232" y="5266944"/>
            <a:ext cx="2394823" cy="502920"/>
          </a:xfrm>
          <a:prstGeom prst="rect">
            <a:avLst/>
          </a:prstGeom>
          <a:noFill/>
          <a:ln/>
        </p:spPr>
        <p:txBody>
          <a:bodyPr wrap="square" lIns="0" tIns="0" rIns="0" bIns="0" rtlCol="0" anchor="t"/>
          <a:lstStyle/>
          <a:p>
            <a:pPr algn="ctr" indent="0" marL="0">
              <a:buNone/>
            </a:pPr>
            <a:r>
              <a:rPr lang="en-US" sz="1300" dirty="0">
                <a:solidFill>
                  <a:srgbClr val="1B2530"/>
                </a:solidFill>
                <a:latin typeface="Calibri" pitchFamily="34" charset="0"/>
                <a:ea typeface="Calibri" pitchFamily="34" charset="-122"/>
                <a:cs typeface="Calibri" pitchFamily="34" charset="-120"/>
              </a:rPr>
              <a:t>opcode</a:t>
            </a:r>
            <a:endParaRPr lang="en-US" sz="1300" dirty="0"/>
          </a:p>
          <a:p>
            <a:pPr algn="ctr" indent="0" marL="0">
              <a:buNone/>
            </a:pPr>
            <a:r>
              <a:rPr lang="en-US" sz="1300" dirty="0">
                <a:solidFill>
                  <a:srgbClr val="1B2530"/>
                </a:solidFill>
                <a:latin typeface="Calibri" pitchFamily="34" charset="0"/>
                <a:ea typeface="Calibri" pitchFamily="34" charset="-122"/>
                <a:cs typeface="Calibri" pitchFamily="34" charset="-120"/>
              </a:rPr>
              <a:t>load</a:t>
            </a:r>
            <a:endParaRPr lang="en-US" sz="1300" dirty="0"/>
          </a:p>
        </p:txBody>
      </p:sp>
      <p:sp>
        <p:nvSpPr>
          <p:cNvPr id="49" name="Text 47"/>
          <p:cNvSpPr txBox="1"/>
          <p:nvPr/>
        </p:nvSpPr>
        <p:spPr>
          <a:xfrm>
            <a:off x="9284808" y="4425696"/>
            <a:ext cx="1197411" cy="219456"/>
          </a:xfrm>
          <a:prstGeom prst="rect">
            <a:avLst/>
          </a:prstGeom>
          <a:noFill/>
          <a:ln/>
        </p:spPr>
        <p:txBody>
          <a:bodyPr wrap="square" lIns="0" tIns="0" rIns="0" bIns="0" rtlCol="0" anchor="t"/>
          <a:lstStyle/>
          <a:p>
            <a:pPr indent="0" marL="0">
              <a:buNone/>
            </a:pPr>
            <a:r>
              <a:rPr lang="en-US" sz="1050" dirty="0">
                <a:solidFill>
                  <a:srgbClr val="5B6B78"/>
                </a:solidFill>
                <a:latin typeface="Courier New" pitchFamily="34" charset="0"/>
                <a:ea typeface="Courier New" pitchFamily="34" charset="-122"/>
                <a:cs typeface="Courier New" pitchFamily="34" charset="-120"/>
              </a:rPr>
              <a:t>6</a:t>
            </a:r>
            <a:endParaRPr lang="en-US" sz="1050" dirty="0"/>
          </a:p>
        </p:txBody>
      </p:sp>
      <p:sp>
        <p:nvSpPr>
          <p:cNvPr id="50" name="Text 48"/>
          <p:cNvSpPr txBox="1"/>
          <p:nvPr/>
        </p:nvSpPr>
        <p:spPr>
          <a:xfrm>
            <a:off x="10445644" y="4425696"/>
            <a:ext cx="1160835" cy="219456"/>
          </a:xfrm>
          <a:prstGeom prst="rect">
            <a:avLst/>
          </a:prstGeom>
          <a:noFill/>
          <a:ln/>
        </p:spPr>
        <p:txBody>
          <a:bodyPr wrap="square" lIns="0" tIns="0" rIns="0" bIns="0" rtlCol="0" anchor="t"/>
          <a:lstStyle/>
          <a:p>
            <a:pPr algn="r" indent="0" marL="0">
              <a:buNone/>
            </a:pPr>
            <a:r>
              <a:rPr lang="en-US" sz="1050" dirty="0">
                <a:solidFill>
                  <a:srgbClr val="5B6B78"/>
                </a:solidFill>
                <a:latin typeface="Courier New" pitchFamily="34" charset="0"/>
                <a:ea typeface="Courier New" pitchFamily="34" charset="-122"/>
                <a:cs typeface="Courier New" pitchFamily="34" charset="-120"/>
              </a:rPr>
              <a:t>0</a:t>
            </a:r>
            <a:endParaRPr lang="en-US" sz="1050" dirty="0"/>
          </a:p>
        </p:txBody>
      </p:sp>
      <p:sp>
        <p:nvSpPr>
          <p:cNvPr id="51" name="Shape 49"/>
          <p:cNvSpPr/>
          <p:nvPr/>
        </p:nvSpPr>
        <p:spPr>
          <a:xfrm>
            <a:off x="7657668" y="91440"/>
            <a:ext cx="3985387" cy="274320"/>
          </a:xfrm>
          <a:prstGeom prst="rect">
            <a:avLst/>
          </a:prstGeom>
          <a:solidFill>
            <a:srgbClr val="E0F2FE"/>
          </a:solidFill>
          <a:ln w="12700">
            <a:solidFill>
              <a:srgbClr val="0369A1"/>
            </a:solidFill>
            <a:prstDash val="solid"/>
          </a:ln>
        </p:spPr>
      </p:sp>
      <p:sp>
        <p:nvSpPr>
          <p:cNvPr id="52" name="Shape 50"/>
          <p:cNvSpPr/>
          <p:nvPr/>
        </p:nvSpPr>
        <p:spPr>
          <a:xfrm>
            <a:off x="7657668" y="91440"/>
            <a:ext cx="73152" cy="274320"/>
          </a:xfrm>
          <a:prstGeom prst="rect">
            <a:avLst/>
          </a:prstGeom>
          <a:solidFill>
            <a:srgbClr val="0369A1"/>
          </a:solidFill>
          <a:ln w="12700">
            <a:solidFill>
              <a:srgbClr val="0369A1"/>
            </a:solidFill>
            <a:prstDash val="solid"/>
          </a:ln>
        </p:spPr>
      </p:sp>
      <p:pic>
        <p:nvPicPr>
          <p:cNvPr id="53" name="Image 0" descr="preencoded.png">    </p:cNvPr>
          <p:cNvPicPr>
            <a:picLocks noChangeAspect="1"/>
          </p:cNvPicPr>
          <p:nvPr/>
        </p:nvPicPr>
        <p:blipFill>
          <a:blip r:embed="rId1"/>
          <a:stretch>
            <a:fillRect/>
          </a:stretch>
        </p:blipFill>
        <p:spPr>
          <a:xfrm>
            <a:off x="7785684" y="128016"/>
            <a:ext cx="201168" cy="201168"/>
          </a:xfrm>
          <a:prstGeom prst="rect">
            <a:avLst/>
          </a:prstGeom>
        </p:spPr>
      </p:pic>
      <p:sp>
        <p:nvSpPr>
          <p:cNvPr id="54" name="Text 51"/>
          <p:cNvSpPr txBox="1"/>
          <p:nvPr/>
        </p:nvSpPr>
        <p:spPr>
          <a:xfrm>
            <a:off x="8041716" y="91440"/>
            <a:ext cx="3564763"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formati delle istruzioni</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La fase di prelievo, trasferimento per trasferimento</a:t>
            </a:r>
            <a:endParaRPr lang="en-US" sz="32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818440"/>
                <a:gridCol w="3273762"/>
                <a:gridCol w="7002213"/>
              </a:tblGrid>
              <a:tr h="0">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Passo</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Trasferimento tra registri</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Significato</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1</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MA := PC</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l'indirizzo dell'istruzione va nel registro degli indirizzi di memoria</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2</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abilita lettura; MB := M[MA]</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la memoria mette l'istruzione sul bus dati; viene catturata nel buffer</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3</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D := MB</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l'istruzione viene copiata nel registro di decodifica</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4</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PC := PC + 4</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il PC ora punta all'istruzione successiva</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4" name="Shape 1"/>
          <p:cNvSpPr/>
          <p:nvPr/>
        </p:nvSpPr>
        <p:spPr>
          <a:xfrm>
            <a:off x="7723327" y="91440"/>
            <a:ext cx="3919728" cy="274320"/>
          </a:xfrm>
          <a:prstGeom prst="rect">
            <a:avLst/>
          </a:prstGeom>
          <a:solidFill>
            <a:srgbClr val="E0F2FE"/>
          </a:solidFill>
          <a:ln w="12700">
            <a:solidFill>
              <a:srgbClr val="0369A1"/>
            </a:solidFill>
            <a:prstDash val="solid"/>
          </a:ln>
        </p:spPr>
      </p:sp>
      <p:sp>
        <p:nvSpPr>
          <p:cNvPr id="5" name="Shape 2"/>
          <p:cNvSpPr/>
          <p:nvPr/>
        </p:nvSpPr>
        <p:spPr>
          <a:xfrm>
            <a:off x="7723327" y="91440"/>
            <a:ext cx="73152" cy="274320"/>
          </a:xfrm>
          <a:prstGeom prst="rect">
            <a:avLst/>
          </a:prstGeom>
          <a:solidFill>
            <a:srgbClr val="0369A1"/>
          </a:solidFill>
          <a:ln w="12700">
            <a:solidFill>
              <a:srgbClr val="0369A1"/>
            </a:solidFill>
            <a:prstDash val="solid"/>
          </a:ln>
        </p:spPr>
      </p:sp>
      <p:pic>
        <p:nvPicPr>
          <p:cNvPr id="6" name="Image 0" descr="preencoded.png">    </p:cNvPr>
          <p:cNvPicPr>
            <a:picLocks noChangeAspect="1"/>
          </p:cNvPicPr>
          <p:nvPr/>
        </p:nvPicPr>
        <p:blipFill>
          <a:blip r:embed="rId1"/>
          <a:stretch>
            <a:fillRect/>
          </a:stretch>
        </p:blipFill>
        <p:spPr>
          <a:xfrm>
            <a:off x="7851343" y="128016"/>
            <a:ext cx="201168" cy="201168"/>
          </a:xfrm>
          <a:prstGeom prst="rect">
            <a:avLst/>
          </a:prstGeom>
        </p:spPr>
      </p:pic>
      <p:sp>
        <p:nvSpPr>
          <p:cNvPr id="7" name="Text 3"/>
          <p:cNvSpPr txBox="1"/>
          <p:nvPr/>
        </p:nvSpPr>
        <p:spPr>
          <a:xfrm>
            <a:off x="8107375" y="91440"/>
            <a:ext cx="3499104"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il ciclo del processore</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Il resto del ciclo per due istruzioni</a:t>
            </a:r>
            <a:endParaRPr lang="en-US" sz="32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636881"/>
                <a:gridCol w="4365016"/>
                <a:gridCol w="5092518"/>
              </a:tblGrid>
              <a:tr h="0">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Fase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add t2, t0, t1</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lw t1, 0(t0)</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decodifica</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ourier New" pitchFamily="34" charset="0"/>
                          <a:ea typeface="Courier New" pitchFamily="34" charset="-122"/>
                          <a:cs typeface="Courier New" pitchFamily="34" charset="-120"/>
                        </a:rPr>
                        <a:t>O1 := R[t0];  O2 := R[t1]</a:t>
                      </a:r>
                      <a:endParaRPr lang="en-US" sz="18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ourier New" pitchFamily="34" charset="0"/>
                          <a:ea typeface="Courier New" pitchFamily="34" charset="-122"/>
                          <a:cs typeface="Courier New" pitchFamily="34" charset="-120"/>
                        </a:rPr>
                        <a:t>O1 := R[t0];  O2 := 0  (l'immediato)</a:t>
                      </a:r>
                      <a:endParaRPr lang="en-US" sz="18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esecuzione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ourier New" pitchFamily="34" charset="0"/>
                          <a:ea typeface="Courier New" pitchFamily="34" charset="-122"/>
                          <a:cs typeface="Courier New" pitchFamily="34" charset="-120"/>
                        </a:rPr>
                        <a:t>U := O1 + O2</a:t>
                      </a:r>
                      <a:endParaRPr lang="en-US" sz="18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ourier New" pitchFamily="34" charset="0"/>
                          <a:ea typeface="Courier New" pitchFamily="34" charset="-122"/>
                          <a:cs typeface="Courier New" pitchFamily="34" charset="-120"/>
                        </a:rPr>
                        <a:t>U := O1 + O2  (un indirizzo)</a:t>
                      </a:r>
                      <a:endParaRPr lang="en-US" sz="18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memoria</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ourier New" pitchFamily="34" charset="0"/>
                          <a:ea typeface="Courier New" pitchFamily="34" charset="-122"/>
                          <a:cs typeface="Courier New" pitchFamily="34" charset="-120"/>
                        </a:rPr>
                        <a:t>-</a:t>
                      </a:r>
                      <a:endParaRPr lang="en-US" sz="18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ourier New" pitchFamily="34" charset="0"/>
                          <a:ea typeface="Courier New" pitchFamily="34" charset="-122"/>
                          <a:cs typeface="Courier New" pitchFamily="34" charset="-120"/>
                        </a:rPr>
                        <a:t>MA := U;  abilita lettura;  MB := M[MA]</a:t>
                      </a:r>
                      <a:endParaRPr lang="en-US" sz="18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scrittura</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ourier New" pitchFamily="34" charset="0"/>
                          <a:ea typeface="Courier New" pitchFamily="34" charset="-122"/>
                          <a:cs typeface="Courier New" pitchFamily="34" charset="-120"/>
                        </a:rPr>
                        <a:t>R[t2] := U</a:t>
                      </a:r>
                      <a:endParaRPr lang="en-US" sz="18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ourier New" pitchFamily="34" charset="0"/>
                          <a:ea typeface="Courier New" pitchFamily="34" charset="-122"/>
                          <a:cs typeface="Courier New" pitchFamily="34" charset="-120"/>
                        </a:rPr>
                        <a:t>R[t1] := MB</a:t>
                      </a:r>
                      <a:endParaRPr lang="en-US" sz="18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300" i="1" dirty="0">
                <a:solidFill>
                  <a:srgbClr val="5B6B78"/>
                </a:solidFill>
                <a:latin typeface="Calibri" pitchFamily="34" charset="0"/>
                <a:ea typeface="Calibri" pitchFamily="34" charset="-122"/>
                <a:cs typeface="Calibri" pitchFamily="34" charset="-120"/>
              </a:rPr>
              <a:t>La stessa ALU somma due registri per add e forma un indirizzo per lw. L'unità di controllo, decodificando l'opcode, decide quali trasferimenti avvengono.</a:t>
            </a:r>
            <a:endParaRPr lang="en-US" sz="1300" dirty="0"/>
          </a:p>
        </p:txBody>
      </p:sp>
      <p:sp>
        <p:nvSpPr>
          <p:cNvPr id="5" name="Shape 2"/>
          <p:cNvSpPr/>
          <p:nvPr/>
        </p:nvSpPr>
        <p:spPr>
          <a:xfrm>
            <a:off x="7723327" y="91440"/>
            <a:ext cx="3919728" cy="274320"/>
          </a:xfrm>
          <a:prstGeom prst="rect">
            <a:avLst/>
          </a:prstGeom>
          <a:solidFill>
            <a:srgbClr val="E0F2FE"/>
          </a:solidFill>
          <a:ln w="12700">
            <a:solidFill>
              <a:srgbClr val="0369A1"/>
            </a:solidFill>
            <a:prstDash val="solid"/>
          </a:ln>
        </p:spPr>
      </p:sp>
      <p:sp>
        <p:nvSpPr>
          <p:cNvPr id="6" name="Shape 3"/>
          <p:cNvSpPr/>
          <p:nvPr/>
        </p:nvSpPr>
        <p:spPr>
          <a:xfrm>
            <a:off x="7723327" y="91440"/>
            <a:ext cx="73152" cy="274320"/>
          </a:xfrm>
          <a:prstGeom prst="rect">
            <a:avLst/>
          </a:prstGeom>
          <a:solidFill>
            <a:srgbClr val="0369A1"/>
          </a:solidFill>
          <a:ln w="12700">
            <a:solidFill>
              <a:srgbClr val="0369A1"/>
            </a:solidFill>
            <a:prstDash val="solid"/>
          </a:ln>
        </p:spPr>
      </p:sp>
      <p:pic>
        <p:nvPicPr>
          <p:cNvPr id="7" name="Image 0" descr="preencoded.png">    </p:cNvPr>
          <p:cNvPicPr>
            <a:picLocks noChangeAspect="1"/>
          </p:cNvPicPr>
          <p:nvPr/>
        </p:nvPicPr>
        <p:blipFill>
          <a:blip r:embed="rId1"/>
          <a:stretch>
            <a:fillRect/>
          </a:stretch>
        </p:blipFill>
        <p:spPr>
          <a:xfrm>
            <a:off x="7851343" y="128016"/>
            <a:ext cx="201168" cy="201168"/>
          </a:xfrm>
          <a:prstGeom prst="rect">
            <a:avLst/>
          </a:prstGeom>
        </p:spPr>
      </p:pic>
      <p:sp>
        <p:nvSpPr>
          <p:cNvPr id="8" name="Text 4"/>
          <p:cNvSpPr txBox="1"/>
          <p:nvPr/>
        </p:nvSpPr>
        <p:spPr>
          <a:xfrm>
            <a:off x="8107375" y="91440"/>
            <a:ext cx="3499104"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il ciclo del processore</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Un gestore di trap, per sommi capi</a:t>
            </a:r>
            <a:endParaRPr lang="en-US" sz="3200" dirty="0"/>
          </a:p>
        </p:txBody>
      </p:sp>
      <p:sp>
        <p:nvSpPr>
          <p:cNvPr id="3" name="Shape 1"/>
          <p:cNvSpPr/>
          <p:nvPr/>
        </p:nvSpPr>
        <p:spPr>
          <a:xfrm>
            <a:off x="548640" y="1417320"/>
            <a:ext cx="740664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6949440" cy="4389120"/>
          </a:xfrm>
          <a:prstGeom prst="rect">
            <a:avLst/>
          </a:prstGeom>
          <a:noFill/>
          <a:ln/>
        </p:spPr>
        <p:txBody>
          <a:bodyPr wrap="square" lIns="0" tIns="0" rIns="0" bIns="0" rtlCol="0" anchor="t"/>
          <a:lstStyle/>
          <a:p>
            <a:pPr indent="0" marL="0">
              <a:buNone/>
            </a:pPr>
            <a:r>
              <a:rPr lang="en-US" sz="1300" dirty="0">
                <a:solidFill>
                  <a:srgbClr val="E6EDF2"/>
                </a:solidFill>
                <a:latin typeface="Courier New" pitchFamily="34" charset="0"/>
                <a:ea typeface="Courier New" pitchFamily="34" charset="-122"/>
                <a:cs typeface="Courier New" pitchFamily="34" charset="-120"/>
              </a:rPr>
              <a:t>trap_entry:</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addi sp, sp, -16</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sw   t0, 0(sp)            </a:t>
            </a:r>
            <a:pPr indent="0" marL="0">
              <a:buNone/>
            </a:pPr>
            <a:r>
              <a:rPr lang="en-US" sz="1300" dirty="0">
                <a:solidFill>
                  <a:srgbClr val="8FB3A0"/>
                </a:solidFill>
                <a:latin typeface="Courier New" pitchFamily="34" charset="0"/>
                <a:ea typeface="Courier New" pitchFamily="34" charset="-122"/>
                <a:cs typeface="Courier New" pitchFamily="34" charset="-120"/>
              </a:rPr>
              <a:t># software context: save what we use</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sw   t1, 4(sp)</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csrr t0, mcause           </a:t>
            </a:r>
            <a:pPr indent="0" marL="0">
              <a:buNone/>
            </a:pPr>
            <a:r>
              <a:rPr lang="en-US" sz="1300" dirty="0">
                <a:solidFill>
                  <a:srgbClr val="8FB3A0"/>
                </a:solidFill>
                <a:latin typeface="Courier New" pitchFamily="34" charset="0"/>
                <a:ea typeface="Courier New" pitchFamily="34" charset="-122"/>
                <a:cs typeface="Courier New" pitchFamily="34" charset="-120"/>
              </a:rPr>
              <a:t># why are we here?</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bgez t0, exception        </a:t>
            </a:r>
            <a:pPr indent="0" marL="0">
              <a:buNone/>
            </a:pPr>
            <a:r>
              <a:rPr lang="en-US" sz="1300" dirty="0">
                <a:solidFill>
                  <a:srgbClr val="8FB3A0"/>
                </a:solidFill>
                <a:latin typeface="Courier New" pitchFamily="34" charset="0"/>
                <a:ea typeface="Courier New" pitchFamily="34" charset="-122"/>
                <a:cs typeface="Courier New" pitchFamily="34" charset="-120"/>
              </a:rPr>
              <a:t># top bit 0: an exception</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                       </a:t>
            </a:r>
            <a:pPr indent="0" marL="0">
              <a:buNone/>
            </a:pPr>
            <a:r>
              <a:rPr lang="en-US" sz="1300" dirty="0">
                <a:solidFill>
                  <a:srgbClr val="8FB3A0"/>
                </a:solidFill>
                <a:latin typeface="Courier New" pitchFamily="34" charset="0"/>
                <a:ea typeface="Courier New" pitchFamily="34" charset="-122"/>
                <a:cs typeface="Courier New" pitchFamily="34" charset="-120"/>
              </a:rPr>
              <a:t># top bit 1: find the device, serve it</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lw   t0, 0(sp)            </a:t>
            </a:r>
            <a:pPr indent="0" marL="0">
              <a:buNone/>
            </a:pPr>
            <a:r>
              <a:rPr lang="en-US" sz="1300" dirty="0">
                <a:solidFill>
                  <a:srgbClr val="8FB3A0"/>
                </a:solidFill>
                <a:latin typeface="Courier New" pitchFamily="34" charset="0"/>
                <a:ea typeface="Courier New" pitchFamily="34" charset="-122"/>
                <a:cs typeface="Courier New" pitchFamily="34" charset="-120"/>
              </a:rPr>
              <a:t># restore the context</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lw   t1, 4(sp)</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addi sp, sp, 16</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mret                      </a:t>
            </a:r>
            <a:pPr indent="0" marL="0">
              <a:buNone/>
            </a:pPr>
            <a:r>
              <a:rPr lang="en-US" sz="1300" dirty="0">
                <a:solidFill>
                  <a:srgbClr val="8FB3A0"/>
                </a:solidFill>
                <a:latin typeface="Courier New" pitchFamily="34" charset="0"/>
                <a:ea typeface="Courier New" pitchFamily="34" charset="-122"/>
                <a:cs typeface="Courier New" pitchFamily="34" charset="-120"/>
              </a:rPr>
              <a:t># MIE := MPIE, PC := mepc</a:t>
            </a:r>
            <a:endParaRPr lang="en-US" sz="1300" dirty="0"/>
          </a:p>
        </p:txBody>
      </p:sp>
      <p:sp>
        <p:nvSpPr>
          <p:cNvPr id="5" name="Shape 3"/>
          <p:cNvSpPr/>
          <p:nvPr/>
        </p:nvSpPr>
        <p:spPr>
          <a:xfrm>
            <a:off x="8229600" y="1417320"/>
            <a:ext cx="341345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839419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8915400" y="1554480"/>
            <a:ext cx="254477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Il programma interrotto non deve accorgersene: ogni registro toccato dal gestore viene salvato e ripristinato</a:t>
            </a:r>
            <a:endParaRPr lang="en-US" sz="1200" dirty="0"/>
          </a:p>
        </p:txBody>
      </p:sp>
      <p:sp>
        <p:nvSpPr>
          <p:cNvPr id="8" name="Shape 6"/>
          <p:cNvSpPr/>
          <p:nvPr/>
        </p:nvSpPr>
        <p:spPr>
          <a:xfrm>
            <a:off x="8229600" y="2656332"/>
            <a:ext cx="341345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839419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8915400" y="2793492"/>
            <a:ext cx="254477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mcause letto come numero con segno è negativo per le interruzioni: bgez separa le due famiglie</a:t>
            </a:r>
            <a:endParaRPr lang="en-US" sz="1200" dirty="0"/>
          </a:p>
        </p:txBody>
      </p:sp>
      <p:sp>
        <p:nvSpPr>
          <p:cNvPr id="11" name="Shape 9"/>
          <p:cNvSpPr/>
          <p:nvPr/>
        </p:nvSpPr>
        <p:spPr>
          <a:xfrm>
            <a:off x="8229600" y="3895344"/>
            <a:ext cx="341345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839419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8915400" y="4032504"/>
            <a:ext cx="254477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mret è l'unica via del ritorno: riabilita le interruzioni e ricarica il PC in un solo passo</a:t>
            </a:r>
            <a:endParaRPr lang="en-US" sz="1200" dirty="0"/>
          </a:p>
        </p:txBody>
      </p:sp>
      <p:sp>
        <p:nvSpPr>
          <p:cNvPr id="14" name="Shape 12"/>
          <p:cNvSpPr/>
          <p:nvPr/>
        </p:nvSpPr>
        <p:spPr>
          <a:xfrm>
            <a:off x="8229600" y="5134356"/>
            <a:ext cx="341345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839419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8915400" y="5271516"/>
            <a:ext cx="254477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Il firmware del kit contiene proprio una routine così; la vostra cartuccia viene interrotta molte volte per frame</a:t>
            </a:r>
            <a:endParaRPr lang="en-US" sz="1200" dirty="0"/>
          </a:p>
        </p:txBody>
      </p:sp>
      <p:sp>
        <p:nvSpPr>
          <p:cNvPr id="17" name="Shape 15"/>
          <p:cNvSpPr/>
          <p:nvPr/>
        </p:nvSpPr>
        <p:spPr>
          <a:xfrm>
            <a:off x="7985963" y="91440"/>
            <a:ext cx="3657092" cy="274320"/>
          </a:xfrm>
          <a:prstGeom prst="rect">
            <a:avLst/>
          </a:prstGeom>
          <a:solidFill>
            <a:srgbClr val="E0F2FE"/>
          </a:solidFill>
          <a:ln w="12700">
            <a:solidFill>
              <a:srgbClr val="0369A1"/>
            </a:solidFill>
            <a:prstDash val="solid"/>
          </a:ln>
        </p:spPr>
      </p:sp>
      <p:sp>
        <p:nvSpPr>
          <p:cNvPr id="18" name="Shape 16"/>
          <p:cNvSpPr/>
          <p:nvPr/>
        </p:nvSpPr>
        <p:spPr>
          <a:xfrm>
            <a:off x="7985963" y="91440"/>
            <a:ext cx="73152" cy="274320"/>
          </a:xfrm>
          <a:prstGeom prst="rect">
            <a:avLst/>
          </a:prstGeom>
          <a:solidFill>
            <a:srgbClr val="0369A1"/>
          </a:solidFill>
          <a:ln w="12700">
            <a:solidFill>
              <a:srgbClr val="0369A1"/>
            </a:solidFill>
            <a:prstDash val="solid"/>
          </a:ln>
        </p:spPr>
      </p:sp>
      <p:pic>
        <p:nvPicPr>
          <p:cNvPr id="19" name="Image 0" descr="preencoded.png">    </p:cNvPr>
          <p:cNvPicPr>
            <a:picLocks noChangeAspect="1"/>
          </p:cNvPicPr>
          <p:nvPr/>
        </p:nvPicPr>
        <p:blipFill>
          <a:blip r:embed="rId1"/>
          <a:stretch>
            <a:fillRect/>
          </a:stretch>
        </p:blipFill>
        <p:spPr>
          <a:xfrm>
            <a:off x="8113979" y="128016"/>
            <a:ext cx="201168" cy="201168"/>
          </a:xfrm>
          <a:prstGeom prst="rect">
            <a:avLst/>
          </a:prstGeom>
        </p:spPr>
      </p:pic>
      <p:sp>
        <p:nvSpPr>
          <p:cNvPr id="20" name="Text 17"/>
          <p:cNvSpPr txBox="1"/>
          <p:nvPr/>
        </p:nvSpPr>
        <p:spPr>
          <a:xfrm>
            <a:off x="8370011" y="91440"/>
            <a:ext cx="3236468"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interruzioni e trap</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Il programma completo: l19.S (1 di 6)</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250" dirty="0">
                <a:solidFill>
                  <a:srgbClr val="8FB3A0"/>
                </a:solidFill>
                <a:latin typeface="Courier New" pitchFamily="34" charset="0"/>
                <a:ea typeface="Courier New" pitchFamily="34" charset="-122"/>
                <a:cs typeface="Courier New" pitchFamily="34" charset="-120"/>
              </a:rPr>
              <a:t># ARC12 Computer Architecture - Lecture 19: Instructions and Interrupts</a:t>
            </a:r>
            <a:endParaRPr lang="en-US" sz="1250" dirty="0"/>
          </a:p>
          <a:p>
            <a:pPr indent="0" marL="0">
              <a:buNone/>
            </a:pPr>
            <a:r>
              <a:rPr lang="en-US" sz="1250" dirty="0">
                <a:solidFill>
                  <a:srgbClr val="8FB3A0"/>
                </a:solidFill>
                <a:latin typeface="Courier New" pitchFamily="34" charset="0"/>
                <a:ea typeface="Courier New" pitchFamily="34" charset="-122"/>
                <a:cs typeface="Courier New" pitchFamily="34" charset="-120"/>
              </a:rPr>
              <a:t># l19.S: four words in memory: a function read back as machine code</a:t>
            </a:r>
            <a:endParaRPr lang="en-US" sz="1250" dirty="0"/>
          </a:p>
          <a:p>
            <a:pPr indent="0" marL="0">
              <a:buNone/>
            </a:pPr>
            <a:r>
              <a:rPr lang="en-US" sz="1250" dirty="0">
                <a:solidFill>
                  <a:srgbClr val="8FB3A0"/>
                </a:solidFill>
                <a:latin typeface="Courier New" pitchFamily="34" charset="0"/>
                <a:ea typeface="Courier New" pitchFamily="34" charset="-122"/>
                <a:cs typeface="Courier New" pitchFamily="34" charset="-120"/>
              </a:rPr>
              <a:t>#</a:t>
            </a:r>
            <a:endParaRPr lang="en-US" sz="1250" dirty="0"/>
          </a:p>
          <a:p>
            <a:pPr indent="0" marL="0">
              <a:buNone/>
            </a:pPr>
            <a:r>
              <a:rPr lang="en-US" sz="1250" dirty="0">
                <a:solidFill>
                  <a:srgbClr val="8FB3A0"/>
                </a:solidFill>
                <a:latin typeface="Courier New" pitchFamily="34" charset="0"/>
                <a:ea typeface="Courier New" pitchFamily="34" charset="-122"/>
                <a:cs typeface="Courier New" pitchFamily="34" charset="-120"/>
              </a:rPr>
              <a:t># On the screen: four rows of 32 lamps, the machine code of lw t1, 0(t0) / addi t1,</a:t>
            </a:r>
            <a:endParaRPr lang="en-US" sz="1250" dirty="0"/>
          </a:p>
          <a:p>
            <a:pPr indent="0" marL="0">
              <a:buNone/>
            </a:pPr>
            <a:r>
              <a:rPr lang="en-US" sz="1250" dirty="0">
                <a:solidFill>
                  <a:srgbClr val="8FB3A0"/>
                </a:solidFill>
                <a:latin typeface="Courier New" pitchFamily="34" charset="0"/>
                <a:ea typeface="Courier New" pitchFamily="34" charset="-122"/>
                <a:cs typeface="Courier New" pitchFamily="34" charset="-120"/>
              </a:rPr>
              <a:t># t1, 1 / sw t1, 0(t0) / ret, and beside each a green square: the word in memory is</a:t>
            </a:r>
            <a:endParaRPr lang="en-US" sz="1250" dirty="0"/>
          </a:p>
          <a:p>
            <a:pPr indent="0" marL="0">
              <a:buNone/>
            </a:pPr>
            <a:r>
              <a:rPr lang="en-US" sz="1250" dirty="0">
                <a:solidFill>
                  <a:srgbClr val="8FB3A0"/>
                </a:solidFill>
                <a:latin typeface="Courier New" pitchFamily="34" charset="0"/>
                <a:ea typeface="Courier New" pitchFamily="34" charset="-122"/>
                <a:cs typeface="Courier New" pitchFamily="34" charset="-120"/>
              </a:rPr>
              <a:t># the one decoded by hand in the lecture.</a:t>
            </a:r>
            <a:endParaRPr lang="en-US" sz="1250" dirty="0"/>
          </a:p>
          <a:p>
            <a:pPr indent="0" marL="0">
              <a:buNone/>
            </a:pPr>
            <a:r>
              <a:rPr lang="en-US" sz="1250" dirty="0">
                <a:solidFill>
                  <a:srgbClr val="8FB3A0"/>
                </a:solidFill>
                <a:latin typeface="Courier New" pitchFamily="34" charset="0"/>
                <a:ea typeface="Courier New" pitchFamily="34" charset="-122"/>
                <a:cs typeface="Courier New" pitchFamily="34" charset="-120"/>
              </a:rPr>
              <a:t># Build: python3 -m prg32 cartridge build l19.S --portable \</a:t>
            </a:r>
            <a:endParaRPr lang="en-US" sz="1250" dirty="0"/>
          </a:p>
          <a:p>
            <a:pPr indent="0" marL="0">
              <a:buNone/>
            </a:pPr>
            <a:r>
              <a:rPr lang="en-US" sz="1250" dirty="0">
                <a:solidFill>
                  <a:srgbClr val="8FB3A0"/>
                </a:solidFill>
                <a:latin typeface="Courier New" pitchFamily="34" charset="0"/>
                <a:ea typeface="Courier New" pitchFamily="34" charset="-122"/>
                <a:cs typeface="Courier New" pitchFamily="34" charset="-120"/>
              </a:rPr>
              <a:t>#            --entry-prefix l19 --name l19 --out l19.prg32</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.option norelax</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.equ BLACK,  0x0000</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.equ GREY,   0x4208</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.equ YELLOW, 0xffe0</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.equ GREEN,  0x07e0</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.equ RED,    0xf800</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.section .text</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.global l19_init</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.global l19_update</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.global l19_draw</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l19_init:</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ret</a:t>
            </a:r>
            <a:endParaRPr lang="en-US" sz="1250" dirty="0"/>
          </a:p>
        </p:txBody>
      </p:sp>
      <p:sp>
        <p:nvSpPr>
          <p:cNvPr id="5" name="Shape 3"/>
          <p:cNvSpPr/>
          <p:nvPr/>
        </p:nvSpPr>
        <p:spPr>
          <a:xfrm>
            <a:off x="7941259" y="91440"/>
            <a:ext cx="3701796" cy="274320"/>
          </a:xfrm>
          <a:prstGeom prst="rect">
            <a:avLst/>
          </a:prstGeom>
          <a:solidFill>
            <a:srgbClr val="FEF3C7"/>
          </a:solidFill>
          <a:ln w="12700">
            <a:solidFill>
              <a:srgbClr val="B45309"/>
            </a:solidFill>
            <a:prstDash val="solid"/>
          </a:ln>
        </p:spPr>
      </p:sp>
      <p:sp>
        <p:nvSpPr>
          <p:cNvPr id="6" name="Shape 4"/>
          <p:cNvSpPr/>
          <p:nvPr/>
        </p:nvSpPr>
        <p:spPr>
          <a:xfrm>
            <a:off x="7941259" y="91440"/>
            <a:ext cx="27432" cy="274320"/>
          </a:xfrm>
          <a:prstGeom prst="rect">
            <a:avLst/>
          </a:prstGeom>
          <a:solidFill>
            <a:srgbClr val="B45309"/>
          </a:solidFill>
          <a:ln w="12700">
            <a:solidFill>
              <a:srgbClr val="B45309"/>
            </a:solidFill>
            <a:prstDash val="solid"/>
          </a:ln>
        </p:spPr>
      </p:sp>
      <p:sp>
        <p:nvSpPr>
          <p:cNvPr id="7" name="Shape 5"/>
          <p:cNvSpPr/>
          <p:nvPr/>
        </p:nvSpPr>
        <p:spPr>
          <a:xfrm>
            <a:off x="7996123" y="91440"/>
            <a:ext cx="27432" cy="274320"/>
          </a:xfrm>
          <a:prstGeom prst="rect">
            <a:avLst/>
          </a:prstGeom>
          <a:solidFill>
            <a:srgbClr val="B45309"/>
          </a:solidFill>
          <a:ln w="12700">
            <a:solidFill>
              <a:srgbClr val="B45309"/>
            </a:solidFill>
            <a:prstDash val="solid"/>
          </a:ln>
        </p:spPr>
      </p:sp>
      <p:pic>
        <p:nvPicPr>
          <p:cNvPr id="8" name="Image 0" descr="preencoded.png">    </p:cNvPr>
          <p:cNvPicPr>
            <a:picLocks noChangeAspect="1"/>
          </p:cNvPicPr>
          <p:nvPr/>
        </p:nvPicPr>
        <p:blipFill>
          <a:blip r:embed="rId1"/>
          <a:stretch>
            <a:fillRect/>
          </a:stretch>
        </p:blipFill>
        <p:spPr>
          <a:xfrm>
            <a:off x="8069275" y="128016"/>
            <a:ext cx="201168" cy="201168"/>
          </a:xfrm>
          <a:prstGeom prst="rect">
            <a:avLst/>
          </a:prstGeom>
        </p:spPr>
      </p:pic>
      <p:sp>
        <p:nvSpPr>
          <p:cNvPr id="9" name="Text 6"/>
          <p:cNvSpPr txBox="1"/>
          <p:nvPr/>
        </p:nvSpPr>
        <p:spPr>
          <a:xfrm>
            <a:off x="8325307" y="91440"/>
            <a:ext cx="3281172"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DA UTILIZZARE OGGI</a:t>
            </a:r>
            <a:pPr indent="0" marL="0">
              <a:buNone/>
            </a:pPr>
            <a:r>
              <a:rPr lang="en-US" sz="1100" dirty="0">
                <a:solidFill>
                  <a:srgbClr val="92400E"/>
                </a:solidFill>
                <a:latin typeface="Calibri" pitchFamily="34" charset="0"/>
                <a:ea typeface="Calibri" pitchFamily="34" charset="-122"/>
                <a:cs typeface="Calibri" pitchFamily="34" charset="-120"/>
              </a:rPr>
              <a:t> · il programma completo</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Il programma completo: l19.S (2 di 6)</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800" dirty="0">
                <a:solidFill>
                  <a:srgbClr val="E6EDF2"/>
                </a:solidFill>
                <a:latin typeface="Courier New" pitchFamily="34" charset="0"/>
                <a:ea typeface="Courier New" pitchFamily="34" charset="-122"/>
                <a:cs typeface="Courier New" pitchFamily="34" charset="-120"/>
              </a:rPr>
              <a:t>l19_update:</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ret</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t>
            </a:r>
            <a:endParaRPr lang="en-US" sz="1800" dirty="0"/>
          </a:p>
          <a:p>
            <a:pPr indent="0" marL="0">
              <a:buNone/>
            </a:pPr>
            <a:r>
              <a:rPr lang="en-US" sz="1800" dirty="0">
                <a:solidFill>
                  <a:srgbClr val="8FB3A0"/>
                </a:solidFill>
                <a:latin typeface="Courier New" pitchFamily="34" charset="0"/>
                <a:ea typeface="Courier New" pitchFamily="34" charset="-122"/>
                <a:cs typeface="Courier New" pitchFamily="34" charset="-120"/>
              </a:rPr>
              <a:t># The function of Lecture 02, kept in its uncompressed 32-bit forms.</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.option push</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.option norvc</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sample:</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lw   t1, 0(t0)           </a:t>
            </a:r>
            <a:pPr indent="0" marL="0">
              <a:buNone/>
            </a:pPr>
            <a:r>
              <a:rPr lang="en-US" sz="1800" dirty="0">
                <a:solidFill>
                  <a:srgbClr val="8FB3A0"/>
                </a:solidFill>
                <a:latin typeface="Courier New" pitchFamily="34" charset="0"/>
                <a:ea typeface="Courier New" pitchFamily="34" charset="-122"/>
                <a:cs typeface="Courier New" pitchFamily="34" charset="-120"/>
              </a:rPr>
              <a:t># 0x0002A303</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addi t1, t1, 1           </a:t>
            </a:r>
            <a:pPr indent="0" marL="0">
              <a:buNone/>
            </a:pPr>
            <a:r>
              <a:rPr lang="en-US" sz="1800" dirty="0">
                <a:solidFill>
                  <a:srgbClr val="8FB3A0"/>
                </a:solidFill>
                <a:latin typeface="Courier New" pitchFamily="34" charset="0"/>
                <a:ea typeface="Courier New" pitchFamily="34" charset="-122"/>
                <a:cs typeface="Courier New" pitchFamily="34" charset="-120"/>
              </a:rPr>
              <a:t># 0x00130313</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sw   t1, 0(t0)           </a:t>
            </a:r>
            <a:pPr indent="0" marL="0">
              <a:buNone/>
            </a:pPr>
            <a:r>
              <a:rPr lang="en-US" sz="1800" dirty="0">
                <a:solidFill>
                  <a:srgbClr val="8FB3A0"/>
                </a:solidFill>
                <a:latin typeface="Courier New" pitchFamily="34" charset="0"/>
                <a:ea typeface="Courier New" pitchFamily="34" charset="-122"/>
                <a:cs typeface="Courier New" pitchFamily="34" charset="-120"/>
              </a:rPr>
              <a:t># 0x0062A023</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ret                      </a:t>
            </a:r>
            <a:pPr indent="0" marL="0">
              <a:buNone/>
            </a:pPr>
            <a:r>
              <a:rPr lang="en-US" sz="1800" dirty="0">
                <a:solidFill>
                  <a:srgbClr val="8FB3A0"/>
                </a:solidFill>
                <a:latin typeface="Courier New" pitchFamily="34" charset="0"/>
                <a:ea typeface="Courier New" pitchFamily="34" charset="-122"/>
                <a:cs typeface="Courier New" pitchFamily="34" charset="-120"/>
              </a:rPr>
              <a:t># 0x00008067</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.option pop</a:t>
            </a:r>
            <a:endParaRPr lang="en-US" sz="1800" dirty="0"/>
          </a:p>
        </p:txBody>
      </p:sp>
      <p:sp>
        <p:nvSpPr>
          <p:cNvPr id="5" name="Shape 3"/>
          <p:cNvSpPr/>
          <p:nvPr/>
        </p:nvSpPr>
        <p:spPr>
          <a:xfrm>
            <a:off x="7941259" y="91440"/>
            <a:ext cx="3701796" cy="274320"/>
          </a:xfrm>
          <a:prstGeom prst="rect">
            <a:avLst/>
          </a:prstGeom>
          <a:solidFill>
            <a:srgbClr val="FEF3C7"/>
          </a:solidFill>
          <a:ln w="12700">
            <a:solidFill>
              <a:srgbClr val="B45309"/>
            </a:solidFill>
            <a:prstDash val="solid"/>
          </a:ln>
        </p:spPr>
      </p:sp>
      <p:sp>
        <p:nvSpPr>
          <p:cNvPr id="6" name="Shape 4"/>
          <p:cNvSpPr/>
          <p:nvPr/>
        </p:nvSpPr>
        <p:spPr>
          <a:xfrm>
            <a:off x="7941259" y="91440"/>
            <a:ext cx="27432" cy="274320"/>
          </a:xfrm>
          <a:prstGeom prst="rect">
            <a:avLst/>
          </a:prstGeom>
          <a:solidFill>
            <a:srgbClr val="B45309"/>
          </a:solidFill>
          <a:ln w="12700">
            <a:solidFill>
              <a:srgbClr val="B45309"/>
            </a:solidFill>
            <a:prstDash val="solid"/>
          </a:ln>
        </p:spPr>
      </p:sp>
      <p:sp>
        <p:nvSpPr>
          <p:cNvPr id="7" name="Shape 5"/>
          <p:cNvSpPr/>
          <p:nvPr/>
        </p:nvSpPr>
        <p:spPr>
          <a:xfrm>
            <a:off x="7996123" y="91440"/>
            <a:ext cx="27432" cy="274320"/>
          </a:xfrm>
          <a:prstGeom prst="rect">
            <a:avLst/>
          </a:prstGeom>
          <a:solidFill>
            <a:srgbClr val="B45309"/>
          </a:solidFill>
          <a:ln w="12700">
            <a:solidFill>
              <a:srgbClr val="B45309"/>
            </a:solidFill>
            <a:prstDash val="solid"/>
          </a:ln>
        </p:spPr>
      </p:sp>
      <p:pic>
        <p:nvPicPr>
          <p:cNvPr id="8" name="Image 0" descr="preencoded.png">    </p:cNvPr>
          <p:cNvPicPr>
            <a:picLocks noChangeAspect="1"/>
          </p:cNvPicPr>
          <p:nvPr/>
        </p:nvPicPr>
        <p:blipFill>
          <a:blip r:embed="rId1"/>
          <a:stretch>
            <a:fillRect/>
          </a:stretch>
        </p:blipFill>
        <p:spPr>
          <a:xfrm>
            <a:off x="8069275" y="128016"/>
            <a:ext cx="201168" cy="201168"/>
          </a:xfrm>
          <a:prstGeom prst="rect">
            <a:avLst/>
          </a:prstGeom>
        </p:spPr>
      </p:pic>
      <p:sp>
        <p:nvSpPr>
          <p:cNvPr id="9" name="Text 6"/>
          <p:cNvSpPr txBox="1"/>
          <p:nvPr/>
        </p:nvSpPr>
        <p:spPr>
          <a:xfrm>
            <a:off x="8325307" y="91440"/>
            <a:ext cx="3281172"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DA UTILIZZARE OGGI</a:t>
            </a:r>
            <a:pPr indent="0" marL="0">
              <a:buNone/>
            </a:pPr>
            <a:r>
              <a:rPr lang="en-US" sz="1100" dirty="0">
                <a:solidFill>
                  <a:srgbClr val="92400E"/>
                </a:solidFill>
                <a:latin typeface="Calibri" pitchFamily="34" charset="0"/>
                <a:ea typeface="Calibri" pitchFamily="34" charset="-122"/>
                <a:cs typeface="Calibri" pitchFamily="34" charset="-120"/>
              </a:rPr>
              <a:t> · il programma completo</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Il programma completo: l19.S (3 di 6)</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200" dirty="0">
                <a:solidFill>
                  <a:srgbClr val="E6EDF2"/>
                </a:solidFill>
                <a:latin typeface="Courier New" pitchFamily="34" charset="0"/>
                <a:ea typeface="Courier New" pitchFamily="34" charset="-122"/>
                <a:cs typeface="Courier New" pitchFamily="34" charset="-120"/>
              </a:rPr>
              <a:t>l19_draw:</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addi sp, sp, -16</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sw   ra, 12(sp)</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sw   s0, 8(sp)</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sw   s1, 4(sp)</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a0, BLACK</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call prg32_gfx_clear</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s0, 0               </a:t>
            </a:r>
            <a:pPr indent="0" marL="0">
              <a:buNone/>
            </a:pPr>
            <a:r>
              <a:rPr lang="en-US" sz="1200" dirty="0">
                <a:solidFill>
                  <a:srgbClr val="8FB3A0"/>
                </a:solidFill>
                <a:latin typeface="Courier New" pitchFamily="34" charset="0"/>
                <a:ea typeface="Courier New" pitchFamily="34" charset="-122"/>
                <a:cs typeface="Courier New" pitchFamily="34" charset="-120"/>
              </a:rPr>
              <a:t># which instruction, 0 to 3</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1:  la   t0, sample</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slli t1, s0, 2           </a:t>
            </a:r>
            <a:pPr indent="0" marL="0">
              <a:buNone/>
            </a:pPr>
            <a:r>
              <a:rPr lang="en-US" sz="1200" dirty="0">
                <a:solidFill>
                  <a:srgbClr val="8FB3A0"/>
                </a:solidFill>
                <a:latin typeface="Courier New" pitchFamily="34" charset="0"/>
                <a:ea typeface="Courier New" pitchFamily="34" charset="-122"/>
                <a:cs typeface="Courier New" pitchFamily="34" charset="-120"/>
              </a:rPr>
              <a:t># instructions are 4 bytes apart</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add  t0, t0, t1</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lw   s1, 0(t0)           </a:t>
            </a:r>
            <a:pPr indent="0" marL="0">
              <a:buNone/>
            </a:pPr>
            <a:r>
              <a:rPr lang="en-US" sz="1200" dirty="0">
                <a:solidFill>
                  <a:srgbClr val="8FB3A0"/>
                </a:solidFill>
                <a:latin typeface="Courier New" pitchFamily="34" charset="0"/>
                <a:ea typeface="Courier New" pitchFamily="34" charset="-122"/>
                <a:cs typeface="Courier New" pitchFamily="34" charset="-120"/>
              </a:rPr>
              <a:t># the instruction, fetched as a datum</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mv   a0, s1</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slli a1, s0, 5</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addi a1, a1, 30          </a:t>
            </a:r>
            <a:pPr indent="0" marL="0">
              <a:buNone/>
            </a:pPr>
            <a:r>
              <a:rPr lang="en-US" sz="1200" dirty="0">
                <a:solidFill>
                  <a:srgbClr val="8FB3A0"/>
                </a:solidFill>
                <a:latin typeface="Courier New" pitchFamily="34" charset="0"/>
                <a:ea typeface="Courier New" pitchFamily="34" charset="-122"/>
                <a:cs typeface="Courier New" pitchFamily="34" charset="-120"/>
              </a:rPr>
              <a:t># y = 30 + 32 * s0</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call lamps32</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la   t0, expected        </a:t>
            </a:r>
            <a:pPr indent="0" marL="0">
              <a:buNone/>
            </a:pPr>
            <a:r>
              <a:rPr lang="en-US" sz="1200" dirty="0">
                <a:solidFill>
                  <a:srgbClr val="8FB3A0"/>
                </a:solidFill>
                <a:latin typeface="Courier New" pitchFamily="34" charset="0"/>
                <a:ea typeface="Courier New" pitchFamily="34" charset="-122"/>
                <a:cs typeface="Courier New" pitchFamily="34" charset="-120"/>
              </a:rPr>
              <a:t># compare with the encoding worked out by hand</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slli t1, s0, 2</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add  t0, t0, t1</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lw   t2, 0(t0)</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a4, RED</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bne  s1, t2, 2f</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a4, GREEN</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2:  li   a0, 306</a:t>
            </a:r>
            <a:endParaRPr lang="en-US" sz="1200" dirty="0"/>
          </a:p>
        </p:txBody>
      </p:sp>
      <p:sp>
        <p:nvSpPr>
          <p:cNvPr id="5" name="Shape 3"/>
          <p:cNvSpPr/>
          <p:nvPr/>
        </p:nvSpPr>
        <p:spPr>
          <a:xfrm>
            <a:off x="7941259" y="91440"/>
            <a:ext cx="3701796" cy="274320"/>
          </a:xfrm>
          <a:prstGeom prst="rect">
            <a:avLst/>
          </a:prstGeom>
          <a:solidFill>
            <a:srgbClr val="FEF3C7"/>
          </a:solidFill>
          <a:ln w="12700">
            <a:solidFill>
              <a:srgbClr val="B45309"/>
            </a:solidFill>
            <a:prstDash val="solid"/>
          </a:ln>
        </p:spPr>
      </p:sp>
      <p:sp>
        <p:nvSpPr>
          <p:cNvPr id="6" name="Shape 4"/>
          <p:cNvSpPr/>
          <p:nvPr/>
        </p:nvSpPr>
        <p:spPr>
          <a:xfrm>
            <a:off x="7941259" y="91440"/>
            <a:ext cx="27432" cy="274320"/>
          </a:xfrm>
          <a:prstGeom prst="rect">
            <a:avLst/>
          </a:prstGeom>
          <a:solidFill>
            <a:srgbClr val="B45309"/>
          </a:solidFill>
          <a:ln w="12700">
            <a:solidFill>
              <a:srgbClr val="B45309"/>
            </a:solidFill>
            <a:prstDash val="solid"/>
          </a:ln>
        </p:spPr>
      </p:sp>
      <p:sp>
        <p:nvSpPr>
          <p:cNvPr id="7" name="Shape 5"/>
          <p:cNvSpPr/>
          <p:nvPr/>
        </p:nvSpPr>
        <p:spPr>
          <a:xfrm>
            <a:off x="7996123" y="91440"/>
            <a:ext cx="27432" cy="274320"/>
          </a:xfrm>
          <a:prstGeom prst="rect">
            <a:avLst/>
          </a:prstGeom>
          <a:solidFill>
            <a:srgbClr val="B45309"/>
          </a:solidFill>
          <a:ln w="12700">
            <a:solidFill>
              <a:srgbClr val="B45309"/>
            </a:solidFill>
            <a:prstDash val="solid"/>
          </a:ln>
        </p:spPr>
      </p:sp>
      <p:pic>
        <p:nvPicPr>
          <p:cNvPr id="8" name="Image 0" descr="preencoded.png">    </p:cNvPr>
          <p:cNvPicPr>
            <a:picLocks noChangeAspect="1"/>
          </p:cNvPicPr>
          <p:nvPr/>
        </p:nvPicPr>
        <p:blipFill>
          <a:blip r:embed="rId1"/>
          <a:stretch>
            <a:fillRect/>
          </a:stretch>
        </p:blipFill>
        <p:spPr>
          <a:xfrm>
            <a:off x="8069275" y="128016"/>
            <a:ext cx="201168" cy="201168"/>
          </a:xfrm>
          <a:prstGeom prst="rect">
            <a:avLst/>
          </a:prstGeom>
        </p:spPr>
      </p:pic>
      <p:sp>
        <p:nvSpPr>
          <p:cNvPr id="9" name="Text 6"/>
          <p:cNvSpPr txBox="1"/>
          <p:nvPr/>
        </p:nvSpPr>
        <p:spPr>
          <a:xfrm>
            <a:off x="8325307" y="91440"/>
            <a:ext cx="3281172"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DA UTILIZZARE OGGI</a:t>
            </a:r>
            <a:pPr indent="0" marL="0">
              <a:buNone/>
            </a:pPr>
            <a:r>
              <a:rPr lang="en-US" sz="1100" dirty="0">
                <a:solidFill>
                  <a:srgbClr val="92400E"/>
                </a:solidFill>
                <a:latin typeface="Calibri" pitchFamily="34" charset="0"/>
                <a:ea typeface="Calibri" pitchFamily="34" charset="-122"/>
                <a:cs typeface="Calibri" pitchFamily="34" charset="-120"/>
              </a:rPr>
              <a:t> · il programma completo</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Il programma completo: l19.S (4 di 6)</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800" dirty="0">
                <a:solidFill>
                  <a:srgbClr val="E6EDF2"/>
                </a:solidFill>
                <a:latin typeface="Courier New" pitchFamily="34" charset="0"/>
                <a:ea typeface="Courier New" pitchFamily="34" charset="-122"/>
                <a:cs typeface="Courier New" pitchFamily="34" charset="-120"/>
              </a:rPr>
              <a:t>    slli a1, s0, 5</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addi a1, a1, 30</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li   a2, 8</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li   a3, 8</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call prg32_gfx_rect</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addi s0, s0, 1</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li   t0, 4</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blt  s0, t0, 1b</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lw   s1, 4(sp)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lw   s0, 8(sp)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lw   ra, 12(sp)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addi sp, sp, 16</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ret</a:t>
            </a:r>
            <a:endParaRPr lang="en-US" sz="1800" dirty="0"/>
          </a:p>
        </p:txBody>
      </p:sp>
      <p:sp>
        <p:nvSpPr>
          <p:cNvPr id="5" name="Shape 3"/>
          <p:cNvSpPr/>
          <p:nvPr/>
        </p:nvSpPr>
        <p:spPr>
          <a:xfrm>
            <a:off x="7941259" y="91440"/>
            <a:ext cx="3701796" cy="274320"/>
          </a:xfrm>
          <a:prstGeom prst="rect">
            <a:avLst/>
          </a:prstGeom>
          <a:solidFill>
            <a:srgbClr val="FEF3C7"/>
          </a:solidFill>
          <a:ln w="12700">
            <a:solidFill>
              <a:srgbClr val="B45309"/>
            </a:solidFill>
            <a:prstDash val="solid"/>
          </a:ln>
        </p:spPr>
      </p:sp>
      <p:sp>
        <p:nvSpPr>
          <p:cNvPr id="6" name="Shape 4"/>
          <p:cNvSpPr/>
          <p:nvPr/>
        </p:nvSpPr>
        <p:spPr>
          <a:xfrm>
            <a:off x="7941259" y="91440"/>
            <a:ext cx="27432" cy="274320"/>
          </a:xfrm>
          <a:prstGeom prst="rect">
            <a:avLst/>
          </a:prstGeom>
          <a:solidFill>
            <a:srgbClr val="B45309"/>
          </a:solidFill>
          <a:ln w="12700">
            <a:solidFill>
              <a:srgbClr val="B45309"/>
            </a:solidFill>
            <a:prstDash val="solid"/>
          </a:ln>
        </p:spPr>
      </p:sp>
      <p:sp>
        <p:nvSpPr>
          <p:cNvPr id="7" name="Shape 5"/>
          <p:cNvSpPr/>
          <p:nvPr/>
        </p:nvSpPr>
        <p:spPr>
          <a:xfrm>
            <a:off x="7996123" y="91440"/>
            <a:ext cx="27432" cy="274320"/>
          </a:xfrm>
          <a:prstGeom prst="rect">
            <a:avLst/>
          </a:prstGeom>
          <a:solidFill>
            <a:srgbClr val="B45309"/>
          </a:solidFill>
          <a:ln w="12700">
            <a:solidFill>
              <a:srgbClr val="B45309"/>
            </a:solidFill>
            <a:prstDash val="solid"/>
          </a:ln>
        </p:spPr>
      </p:sp>
      <p:pic>
        <p:nvPicPr>
          <p:cNvPr id="8" name="Image 0" descr="preencoded.png">    </p:cNvPr>
          <p:cNvPicPr>
            <a:picLocks noChangeAspect="1"/>
          </p:cNvPicPr>
          <p:nvPr/>
        </p:nvPicPr>
        <p:blipFill>
          <a:blip r:embed="rId1"/>
          <a:stretch>
            <a:fillRect/>
          </a:stretch>
        </p:blipFill>
        <p:spPr>
          <a:xfrm>
            <a:off x="8069275" y="128016"/>
            <a:ext cx="201168" cy="201168"/>
          </a:xfrm>
          <a:prstGeom prst="rect">
            <a:avLst/>
          </a:prstGeom>
        </p:spPr>
      </p:pic>
      <p:sp>
        <p:nvSpPr>
          <p:cNvPr id="9" name="Text 6"/>
          <p:cNvSpPr txBox="1"/>
          <p:nvPr/>
        </p:nvSpPr>
        <p:spPr>
          <a:xfrm>
            <a:off x="8325307" y="91440"/>
            <a:ext cx="3281172"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DA UTILIZZARE OGGI</a:t>
            </a:r>
            <a:pPr indent="0" marL="0">
              <a:buNone/>
            </a:pPr>
            <a:r>
              <a:rPr lang="en-US" sz="1100" dirty="0">
                <a:solidFill>
                  <a:srgbClr val="92400E"/>
                </a:solidFill>
                <a:latin typeface="Calibri" pitchFamily="34" charset="0"/>
                <a:ea typeface="Calibri" pitchFamily="34" charset="-122"/>
                <a:cs typeface="Calibri" pitchFamily="34" charset="-120"/>
              </a:rPr>
              <a:t> · il programma completo</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Il programma completo: l19.S (5 di 6)</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200" dirty="0">
                <a:solidFill>
                  <a:srgbClr val="8FB3A0"/>
                </a:solidFill>
                <a:latin typeface="Courier New" pitchFamily="34" charset="0"/>
                <a:ea typeface="Courier New" pitchFamily="34" charset="-122"/>
                <a:cs typeface="Courier New" pitchFamily="34" charset="-120"/>
              </a:rPr>
              <a:t># lamps32: show the 32 bits of a word as a row of lamps, bit 31 on the left.</a:t>
            </a:r>
            <a:endParaRPr lang="en-US" sz="1200" dirty="0"/>
          </a:p>
          <a:p>
            <a:pPr indent="0" marL="0">
              <a:buNone/>
            </a:pPr>
            <a:r>
              <a:rPr lang="en-US" sz="1200" dirty="0">
                <a:solidFill>
                  <a:srgbClr val="8FB3A0"/>
                </a:solidFill>
                <a:latin typeface="Courier New" pitchFamily="34" charset="0"/>
                <a:ea typeface="Courier New" pitchFamily="34" charset="-122"/>
                <a:cs typeface="Courier New" pitchFamily="34" charset="-120"/>
              </a:rPr>
              <a:t>#   a0 = the word, a1 = y of the row.  A lamp is yellow for 1, grey for 0.</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lamps32:</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addi sp, sp, -32</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sw   ra, 28(sp)</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sw   s0, 24(sp)</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sw   s1, 20(sp)</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sw   s2, 16(sp)</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mv   s0, a0              </a:t>
            </a:r>
            <a:pPr indent="0" marL="0">
              <a:buNone/>
            </a:pPr>
            <a:r>
              <a:rPr lang="en-US" sz="1200" dirty="0">
                <a:solidFill>
                  <a:srgbClr val="8FB3A0"/>
                </a:solidFill>
                <a:latin typeface="Courier New" pitchFamily="34" charset="0"/>
                <a:ea typeface="Courier New" pitchFamily="34" charset="-122"/>
                <a:cs typeface="Courier New" pitchFamily="34" charset="-120"/>
              </a:rPr>
              <a:t># the word</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mv   s1, a1              </a:t>
            </a:r>
            <a:pPr indent="0" marL="0">
              <a:buNone/>
            </a:pPr>
            <a:r>
              <a:rPr lang="en-US" sz="1200" dirty="0">
                <a:solidFill>
                  <a:srgbClr val="8FB3A0"/>
                </a:solidFill>
                <a:latin typeface="Courier New" pitchFamily="34" charset="0"/>
                <a:ea typeface="Courier New" pitchFamily="34" charset="-122"/>
                <a:cs typeface="Courier New" pitchFamily="34" charset="-120"/>
              </a:rPr>
              <a:t># y</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s2, 0               </a:t>
            </a:r>
            <a:pPr indent="0" marL="0">
              <a:buNone/>
            </a:pPr>
            <a:r>
              <a:rPr lang="en-US" sz="1200" dirty="0">
                <a:solidFill>
                  <a:srgbClr val="8FB3A0"/>
                </a:solidFill>
                <a:latin typeface="Courier New" pitchFamily="34" charset="0"/>
                <a:ea typeface="Courier New" pitchFamily="34" charset="-122"/>
                <a:cs typeface="Courier New" pitchFamily="34" charset="-120"/>
              </a:rPr>
              <a:t># lamp number, 0 on the left</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1:  li   t0, 31</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sub  t0, t0, s2          </a:t>
            </a:r>
            <a:pPr indent="0" marL="0">
              <a:buNone/>
            </a:pPr>
            <a:r>
              <a:rPr lang="en-US" sz="1200" dirty="0">
                <a:solidFill>
                  <a:srgbClr val="8FB3A0"/>
                </a:solidFill>
                <a:latin typeface="Courier New" pitchFamily="34" charset="0"/>
                <a:ea typeface="Courier New" pitchFamily="34" charset="-122"/>
                <a:cs typeface="Courier New" pitchFamily="34" charset="-120"/>
              </a:rPr>
              <a:t># lamp i shows bit 31 - i</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srl  t1, s0, t0          </a:t>
            </a:r>
            <a:pPr indent="0" marL="0">
              <a:buNone/>
            </a:pPr>
            <a:r>
              <a:rPr lang="en-US" sz="1200" dirty="0">
                <a:solidFill>
                  <a:srgbClr val="8FB3A0"/>
                </a:solidFill>
                <a:latin typeface="Courier New" pitchFamily="34" charset="0"/>
                <a:ea typeface="Courier New" pitchFamily="34" charset="-122"/>
                <a:cs typeface="Courier New" pitchFamily="34" charset="-120"/>
              </a:rPr>
              <a:t># bring that bit down to bit 0</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andi t1, t1, 1           </a:t>
            </a:r>
            <a:pPr indent="0" marL="0">
              <a:buNone/>
            </a:pPr>
            <a:r>
              <a:rPr lang="en-US" sz="1200" dirty="0">
                <a:solidFill>
                  <a:srgbClr val="8FB3A0"/>
                </a:solidFill>
                <a:latin typeface="Courier New" pitchFamily="34" charset="0"/>
                <a:ea typeface="Courier New" pitchFamily="34" charset="-122"/>
                <a:cs typeface="Courier New" pitchFamily="34" charset="-120"/>
              </a:rPr>
              <a:t># keep it, clear all the others</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a4, GREY            </a:t>
            </a:r>
            <a:pPr indent="0" marL="0">
              <a:buNone/>
            </a:pPr>
            <a:r>
              <a:rPr lang="en-US" sz="1200" dirty="0">
                <a:solidFill>
                  <a:srgbClr val="8FB3A0"/>
                </a:solidFill>
                <a:latin typeface="Courier New" pitchFamily="34" charset="0"/>
                <a:ea typeface="Courier New" pitchFamily="34" charset="-122"/>
                <a:cs typeface="Courier New" pitchFamily="34" charset="-120"/>
              </a:rPr>
              <a:t># lamp off</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beqz t1, 2f</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a4, YELLOW          </a:t>
            </a:r>
            <a:pPr indent="0" marL="0">
              <a:buNone/>
            </a:pPr>
            <a:r>
              <a:rPr lang="en-US" sz="1200" dirty="0">
                <a:solidFill>
                  <a:srgbClr val="8FB3A0"/>
                </a:solidFill>
                <a:latin typeface="Courier New" pitchFamily="34" charset="0"/>
                <a:ea typeface="Courier New" pitchFamily="34" charset="-122"/>
                <a:cs typeface="Courier New" pitchFamily="34" charset="-120"/>
              </a:rPr>
              <a:t># lamp on</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2:  slli a0, s2, 3</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add  a0, a0, s2          </a:t>
            </a:r>
            <a:pPr indent="0" marL="0">
              <a:buNone/>
            </a:pPr>
            <a:r>
              <a:rPr lang="en-US" sz="1200" dirty="0">
                <a:solidFill>
                  <a:srgbClr val="8FB3A0"/>
                </a:solidFill>
                <a:latin typeface="Courier New" pitchFamily="34" charset="0"/>
                <a:ea typeface="Courier New" pitchFamily="34" charset="-122"/>
                <a:cs typeface="Courier New" pitchFamily="34" charset="-120"/>
              </a:rPr>
              <a:t># 9 * i</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addi a0, a0, 16          </a:t>
            </a:r>
            <a:pPr indent="0" marL="0">
              <a:buNone/>
            </a:pPr>
            <a:r>
              <a:rPr lang="en-US" sz="1200" dirty="0">
                <a:solidFill>
                  <a:srgbClr val="8FB3A0"/>
                </a:solidFill>
                <a:latin typeface="Courier New" pitchFamily="34" charset="0"/>
                <a:ea typeface="Courier New" pitchFamily="34" charset="-122"/>
                <a:cs typeface="Courier New" pitchFamily="34" charset="-120"/>
              </a:rPr>
              <a:t># x = 16 + 9 * i</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mv   a1, s1</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a2, 8</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a3, 8</a:t>
            </a:r>
            <a:endParaRPr lang="en-US" sz="1200" dirty="0"/>
          </a:p>
        </p:txBody>
      </p:sp>
      <p:sp>
        <p:nvSpPr>
          <p:cNvPr id="5" name="Shape 3"/>
          <p:cNvSpPr/>
          <p:nvPr/>
        </p:nvSpPr>
        <p:spPr>
          <a:xfrm>
            <a:off x="7941259" y="91440"/>
            <a:ext cx="3701796" cy="274320"/>
          </a:xfrm>
          <a:prstGeom prst="rect">
            <a:avLst/>
          </a:prstGeom>
          <a:solidFill>
            <a:srgbClr val="FEF3C7"/>
          </a:solidFill>
          <a:ln w="12700">
            <a:solidFill>
              <a:srgbClr val="B45309"/>
            </a:solidFill>
            <a:prstDash val="solid"/>
          </a:ln>
        </p:spPr>
      </p:sp>
      <p:sp>
        <p:nvSpPr>
          <p:cNvPr id="6" name="Shape 4"/>
          <p:cNvSpPr/>
          <p:nvPr/>
        </p:nvSpPr>
        <p:spPr>
          <a:xfrm>
            <a:off x="7941259" y="91440"/>
            <a:ext cx="27432" cy="274320"/>
          </a:xfrm>
          <a:prstGeom prst="rect">
            <a:avLst/>
          </a:prstGeom>
          <a:solidFill>
            <a:srgbClr val="B45309"/>
          </a:solidFill>
          <a:ln w="12700">
            <a:solidFill>
              <a:srgbClr val="B45309"/>
            </a:solidFill>
            <a:prstDash val="solid"/>
          </a:ln>
        </p:spPr>
      </p:sp>
      <p:sp>
        <p:nvSpPr>
          <p:cNvPr id="7" name="Shape 5"/>
          <p:cNvSpPr/>
          <p:nvPr/>
        </p:nvSpPr>
        <p:spPr>
          <a:xfrm>
            <a:off x="7996123" y="91440"/>
            <a:ext cx="27432" cy="274320"/>
          </a:xfrm>
          <a:prstGeom prst="rect">
            <a:avLst/>
          </a:prstGeom>
          <a:solidFill>
            <a:srgbClr val="B45309"/>
          </a:solidFill>
          <a:ln w="12700">
            <a:solidFill>
              <a:srgbClr val="B45309"/>
            </a:solidFill>
            <a:prstDash val="solid"/>
          </a:ln>
        </p:spPr>
      </p:sp>
      <p:pic>
        <p:nvPicPr>
          <p:cNvPr id="8" name="Image 0" descr="preencoded.png">    </p:cNvPr>
          <p:cNvPicPr>
            <a:picLocks noChangeAspect="1"/>
          </p:cNvPicPr>
          <p:nvPr/>
        </p:nvPicPr>
        <p:blipFill>
          <a:blip r:embed="rId1"/>
          <a:stretch>
            <a:fillRect/>
          </a:stretch>
        </p:blipFill>
        <p:spPr>
          <a:xfrm>
            <a:off x="8069275" y="128016"/>
            <a:ext cx="201168" cy="201168"/>
          </a:xfrm>
          <a:prstGeom prst="rect">
            <a:avLst/>
          </a:prstGeom>
        </p:spPr>
      </p:pic>
      <p:sp>
        <p:nvSpPr>
          <p:cNvPr id="9" name="Text 6"/>
          <p:cNvSpPr txBox="1"/>
          <p:nvPr/>
        </p:nvSpPr>
        <p:spPr>
          <a:xfrm>
            <a:off x="8325307" y="91440"/>
            <a:ext cx="3281172"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DA UTILIZZARE OGGI</a:t>
            </a:r>
            <a:pPr indent="0" marL="0">
              <a:buNone/>
            </a:pPr>
            <a:r>
              <a:rPr lang="en-US" sz="1100" dirty="0">
                <a:solidFill>
                  <a:srgbClr val="92400E"/>
                </a:solidFill>
                <a:latin typeface="Calibri" pitchFamily="34" charset="0"/>
                <a:ea typeface="Calibri" pitchFamily="34" charset="-122"/>
                <a:cs typeface="Calibri" pitchFamily="34" charset="-120"/>
              </a:rPr>
              <a:t> · il programma completo</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Il programma completo: l19.S (6 di 6)</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800" dirty="0">
                <a:solidFill>
                  <a:srgbClr val="E6EDF2"/>
                </a:solidFill>
                <a:latin typeface="Courier New" pitchFamily="34" charset="0"/>
                <a:ea typeface="Courier New" pitchFamily="34" charset="-122"/>
                <a:cs typeface="Courier New" pitchFamily="34" charset="-120"/>
              </a:rPr>
              <a:t>    call prg32_gfx_rect</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addi s2, s2, 1</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li   t0, 32</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blt  s2, t0, 1b</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lw   s2, 16(sp)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lw   s1, 20(sp)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lw   s0, 24(sp)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lw   ra, 28(sp)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addi sp, sp, 32</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ret</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.section .rodata</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expected: .word 0x0002A303, 0x00130313, 0x0062A023, 0x00008067</a:t>
            </a:r>
            <a:endParaRPr lang="en-US" sz="1800" dirty="0"/>
          </a:p>
        </p:txBody>
      </p:sp>
      <p:sp>
        <p:nvSpPr>
          <p:cNvPr id="5" name="Shape 3"/>
          <p:cNvSpPr/>
          <p:nvPr/>
        </p:nvSpPr>
        <p:spPr>
          <a:xfrm>
            <a:off x="7941259" y="91440"/>
            <a:ext cx="3701796" cy="274320"/>
          </a:xfrm>
          <a:prstGeom prst="rect">
            <a:avLst/>
          </a:prstGeom>
          <a:solidFill>
            <a:srgbClr val="FEF3C7"/>
          </a:solidFill>
          <a:ln w="12700">
            <a:solidFill>
              <a:srgbClr val="B45309"/>
            </a:solidFill>
            <a:prstDash val="solid"/>
          </a:ln>
        </p:spPr>
      </p:sp>
      <p:sp>
        <p:nvSpPr>
          <p:cNvPr id="6" name="Shape 4"/>
          <p:cNvSpPr/>
          <p:nvPr/>
        </p:nvSpPr>
        <p:spPr>
          <a:xfrm>
            <a:off x="7941259" y="91440"/>
            <a:ext cx="27432" cy="274320"/>
          </a:xfrm>
          <a:prstGeom prst="rect">
            <a:avLst/>
          </a:prstGeom>
          <a:solidFill>
            <a:srgbClr val="B45309"/>
          </a:solidFill>
          <a:ln w="12700">
            <a:solidFill>
              <a:srgbClr val="B45309"/>
            </a:solidFill>
            <a:prstDash val="solid"/>
          </a:ln>
        </p:spPr>
      </p:sp>
      <p:sp>
        <p:nvSpPr>
          <p:cNvPr id="7" name="Shape 5"/>
          <p:cNvSpPr/>
          <p:nvPr/>
        </p:nvSpPr>
        <p:spPr>
          <a:xfrm>
            <a:off x="7996123" y="91440"/>
            <a:ext cx="27432" cy="274320"/>
          </a:xfrm>
          <a:prstGeom prst="rect">
            <a:avLst/>
          </a:prstGeom>
          <a:solidFill>
            <a:srgbClr val="B45309"/>
          </a:solidFill>
          <a:ln w="12700">
            <a:solidFill>
              <a:srgbClr val="B45309"/>
            </a:solidFill>
            <a:prstDash val="solid"/>
          </a:ln>
        </p:spPr>
      </p:sp>
      <p:pic>
        <p:nvPicPr>
          <p:cNvPr id="8" name="Image 0" descr="preencoded.png">    </p:cNvPr>
          <p:cNvPicPr>
            <a:picLocks noChangeAspect="1"/>
          </p:cNvPicPr>
          <p:nvPr/>
        </p:nvPicPr>
        <p:blipFill>
          <a:blip r:embed="rId1"/>
          <a:stretch>
            <a:fillRect/>
          </a:stretch>
        </p:blipFill>
        <p:spPr>
          <a:xfrm>
            <a:off x="8069275" y="128016"/>
            <a:ext cx="201168" cy="201168"/>
          </a:xfrm>
          <a:prstGeom prst="rect">
            <a:avLst/>
          </a:prstGeom>
        </p:spPr>
      </p:pic>
      <p:sp>
        <p:nvSpPr>
          <p:cNvPr id="9" name="Text 6"/>
          <p:cNvSpPr txBox="1"/>
          <p:nvPr/>
        </p:nvSpPr>
        <p:spPr>
          <a:xfrm>
            <a:off x="8325307" y="91440"/>
            <a:ext cx="3281172"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DA UTILIZZARE OGGI</a:t>
            </a:r>
            <a:pPr indent="0" marL="0">
              <a:buNone/>
            </a:pPr>
            <a:r>
              <a:rPr lang="en-US" sz="1100" dirty="0">
                <a:solidFill>
                  <a:srgbClr val="92400E"/>
                </a:solidFill>
                <a:latin typeface="Calibri" pitchFamily="34" charset="0"/>
                <a:ea typeface="Calibri" pitchFamily="34" charset="-122"/>
                <a:cs typeface="Calibri" pitchFamily="34" charset="-120"/>
              </a:rPr>
              <a:t> · il programma completo</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Eseguite: che cosa dovreste vedere</a:t>
            </a:r>
            <a:endParaRPr lang="en-US" sz="3200" dirty="0"/>
          </a:p>
        </p:txBody>
      </p:sp>
      <p:sp>
        <p:nvSpPr>
          <p:cNvPr id="3" name="Shape 1"/>
          <p:cNvSpPr/>
          <p:nvPr/>
        </p:nvSpPr>
        <p:spPr>
          <a:xfrm>
            <a:off x="548640" y="1722120"/>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600200"/>
            <a:ext cx="5468112" cy="2360676"/>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Sullo schermo</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quattro righe di 32 lampade, il codice macchina di lw t1, 0(t0) / addi t1, t1, 1 / sw t1, 0(t0) / ret, e accanto a ciascuna un quadrato verde: la parola in memoria è quella decodificata a mano a lezione.</a:t>
            </a:r>
            <a:endParaRPr lang="en-US" sz="2400" dirty="0"/>
          </a:p>
        </p:txBody>
      </p:sp>
      <p:sp>
        <p:nvSpPr>
          <p:cNvPr id="5" name="Shape 3"/>
          <p:cNvSpPr/>
          <p:nvPr/>
        </p:nvSpPr>
        <p:spPr>
          <a:xfrm>
            <a:off x="548640" y="4539996"/>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4418076"/>
            <a:ext cx="5468112" cy="733806"/>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Che cosa premere</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niente: il programma va da solo</a:t>
            </a:r>
            <a:endParaRPr lang="en-US" sz="2400" dirty="0"/>
          </a:p>
        </p:txBody>
      </p:sp>
      <p:pic>
        <p:nvPicPr>
          <p:cNvPr id="7" name="Image 0" descr="/Users/raffaelemontella/devel/riscv-prg32/computer-architecture-with-prg32/tools/assets/lab_l19.png">    </p:cNvPr>
          <p:cNvPicPr>
            <a:picLocks noChangeAspect="1"/>
          </p:cNvPicPr>
          <p:nvPr/>
        </p:nvPicPr>
        <p:blipFill>
          <a:blip r:embed="rId1"/>
          <a:stretch>
            <a:fillRect/>
          </a:stretch>
        </p:blipFill>
        <p:spPr>
          <a:xfrm>
            <a:off x="6766560" y="2042255"/>
            <a:ext cx="4876495" cy="3047810"/>
          </a:xfrm>
          <a:prstGeom prst="rect">
            <a:avLst/>
          </a:prstGeom>
        </p:spPr>
      </p:pic>
      <p:sp>
        <p:nvSpPr>
          <p:cNvPr id="8" name="Text 5"/>
          <p:cNvSpPr txBox="1"/>
          <p:nvPr/>
        </p:nvSpPr>
        <p:spPr>
          <a:xfrm>
            <a:off x="6766560" y="5788152"/>
            <a:ext cx="487649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Il frame scritto dal test automatico su PRG32-QT</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Provatelo su PRG32-QT</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start PRG32-QT on this computer (it listens on port 8080)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in the PRG32 folder, with ESP-IDF active: build the cartridge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~/arc12/code/l19.S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l19 --name l19 --out l19.prg32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send it to PRG32-QT and start it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upload-and-run l19.prg32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--url http://localhost:8080 --slot cart0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look, press, compare with the previous slide</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PRG32-QT deve essere in esecuzione: risponde sulla porta 8080, come una scheda</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Si compila una volta, dalla cartella PRG32, con ESP-IDF attivo nel terminale</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upload-and-run memorizza la cartuccia nello slot cart0 e la avvia</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Modalità debug, in Settings: fermare il programma, leggere registri e memoria</a:t>
            </a:r>
            <a:endParaRPr lang="en-US" sz="1200" dirty="0"/>
          </a:p>
        </p:txBody>
      </p:sp>
      <p:sp>
        <p:nvSpPr>
          <p:cNvPr id="17" name="Shape 15"/>
          <p:cNvSpPr/>
          <p:nvPr/>
        </p:nvSpPr>
        <p:spPr>
          <a:xfrm>
            <a:off x="7875600" y="91440"/>
            <a:ext cx="3767455" cy="274320"/>
          </a:xfrm>
          <a:prstGeom prst="rect">
            <a:avLst/>
          </a:prstGeom>
          <a:solidFill>
            <a:srgbClr val="FEF3C7"/>
          </a:solidFill>
          <a:ln w="12700">
            <a:solidFill>
              <a:srgbClr val="B45309"/>
            </a:solidFill>
            <a:prstDash val="solid"/>
          </a:ln>
        </p:spPr>
      </p:sp>
      <p:sp>
        <p:nvSpPr>
          <p:cNvPr id="18" name="Shape 16"/>
          <p:cNvSpPr/>
          <p:nvPr/>
        </p:nvSpPr>
        <p:spPr>
          <a:xfrm>
            <a:off x="7875600" y="91440"/>
            <a:ext cx="27432" cy="274320"/>
          </a:xfrm>
          <a:prstGeom prst="rect">
            <a:avLst/>
          </a:prstGeom>
          <a:solidFill>
            <a:srgbClr val="B45309"/>
          </a:solidFill>
          <a:ln w="12700">
            <a:solidFill>
              <a:srgbClr val="B45309"/>
            </a:solidFill>
            <a:prstDash val="solid"/>
          </a:ln>
        </p:spPr>
      </p:sp>
      <p:sp>
        <p:nvSpPr>
          <p:cNvPr id="19" name="Shape 17"/>
          <p:cNvSpPr/>
          <p:nvPr/>
        </p:nvSpPr>
        <p:spPr>
          <a:xfrm>
            <a:off x="7930464" y="91440"/>
            <a:ext cx="27432" cy="274320"/>
          </a:xfrm>
          <a:prstGeom prst="rect">
            <a:avLst/>
          </a:prstGeom>
          <a:solidFill>
            <a:srgbClr val="B45309"/>
          </a:solidFill>
          <a:ln w="12700">
            <a:solidFill>
              <a:srgbClr val="B45309"/>
            </a:solidFill>
            <a:prstDash val="solid"/>
          </a:ln>
        </p:spPr>
      </p:sp>
      <p:pic>
        <p:nvPicPr>
          <p:cNvPr id="20" name="Image 0" descr="preencoded.png">    </p:cNvPr>
          <p:cNvPicPr>
            <a:picLocks noChangeAspect="1"/>
          </p:cNvPicPr>
          <p:nvPr/>
        </p:nvPicPr>
        <p:blipFill>
          <a:blip r:embed="rId1"/>
          <a:stretch>
            <a:fillRect/>
          </a:stretch>
        </p:blipFill>
        <p:spPr>
          <a:xfrm>
            <a:off x="8003616" y="128016"/>
            <a:ext cx="201168" cy="201168"/>
          </a:xfrm>
          <a:prstGeom prst="rect">
            <a:avLst/>
          </a:prstGeom>
        </p:spPr>
      </p:pic>
      <p:sp>
        <p:nvSpPr>
          <p:cNvPr id="21" name="Text 18"/>
          <p:cNvSpPr txBox="1"/>
          <p:nvPr/>
        </p:nvSpPr>
        <p:spPr>
          <a:xfrm>
            <a:off x="8259648" y="91440"/>
            <a:ext cx="3346831"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DA UTILIZZARE OGGI</a:t>
            </a:r>
            <a:pPr indent="0" marL="0">
              <a:buNone/>
            </a:pPr>
            <a:r>
              <a:rPr lang="en-US" sz="1100" dirty="0">
                <a:solidFill>
                  <a:srgbClr val="92400E"/>
                </a:solidFill>
                <a:latin typeface="Calibri" pitchFamily="34" charset="0"/>
                <a:ea typeface="Calibri" pitchFamily="34" charset="-122"/>
                <a:cs typeface="Calibri" pitchFamily="34" charset="-120"/>
              </a:rPr>
              <a:t> · gli strumenti di PRG32</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Provatelo su QEMU</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once: build the firmware for QEMU (several minutes)</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build</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build the cartridge for the emulated chip</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~/arc12/code/l19.S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l19 --name l19 --architecture qemu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--out l19-qemu.prg32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with QEMU closed, stage the cartridge into its flash image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upload l19-qemu.prg32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start the emulator; on Setup choose Run Cartridge, then cart0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run</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100" dirty="0">
                <a:solidFill>
                  <a:srgbClr val="1B2530"/>
                </a:solidFill>
                <a:latin typeface="Calibri" pitchFamily="34" charset="0"/>
                <a:ea typeface="Calibri" pitchFamily="34" charset="-122"/>
                <a:cs typeface="Calibri" pitchFamily="34" charset="-120"/>
              </a:rPr>
              <a:t>L'emulatore esegue il firmware vero su un chip emulato: si compila una volta</a:t>
            </a:r>
            <a:endParaRPr lang="en-US" sz="11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100" dirty="0">
                <a:solidFill>
                  <a:srgbClr val="1B2530"/>
                </a:solidFill>
                <a:latin typeface="Calibri" pitchFamily="34" charset="0"/>
                <a:ea typeface="Calibri" pitchFamily="34" charset="-122"/>
                <a:cs typeface="Calibri" pitchFamily="34" charset="-120"/>
              </a:rPr>
              <a:t>La cartuccia è compilata per l'architettura qemu: lo stesso sorgente, un altro file</a:t>
            </a:r>
            <a:endParaRPr lang="en-US" sz="11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100" dirty="0">
                <a:solidFill>
                  <a:srgbClr val="1B2530"/>
                </a:solidFill>
                <a:latin typeface="Calibri" pitchFamily="34" charset="0"/>
                <a:ea typeface="Calibri" pitchFamily="34" charset="-122"/>
                <a:cs typeface="Calibri" pitchFamily="34" charset="-120"/>
              </a:rPr>
              <a:t>Si carica la cartuccia con QEMU chiuso, poi lo si avvia e si sceglie Run Cartridge</a:t>
            </a:r>
            <a:endParaRPr lang="en-US" sz="11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100" dirty="0">
                <a:solidFill>
                  <a:srgbClr val="1B2530"/>
                </a:solidFill>
                <a:latin typeface="Calibri" pitchFamily="34" charset="0"/>
                <a:ea typeface="Calibri" pitchFamily="34" charset="-122"/>
                <a:cs typeface="Calibri" pitchFamily="34" charset="-120"/>
              </a:rPr>
              <a:t>I tasti vanno al terminale: frecce o WASD, Z o J per A, X o K per B</a:t>
            </a:r>
            <a:endParaRPr lang="en-US" sz="1100" dirty="0"/>
          </a:p>
        </p:txBody>
      </p:sp>
      <p:sp>
        <p:nvSpPr>
          <p:cNvPr id="17" name="Shape 15"/>
          <p:cNvSpPr/>
          <p:nvPr/>
        </p:nvSpPr>
        <p:spPr>
          <a:xfrm>
            <a:off x="7875600" y="91440"/>
            <a:ext cx="3767455" cy="274320"/>
          </a:xfrm>
          <a:prstGeom prst="rect">
            <a:avLst/>
          </a:prstGeom>
          <a:solidFill>
            <a:srgbClr val="FEF3C7"/>
          </a:solidFill>
          <a:ln w="12700">
            <a:solidFill>
              <a:srgbClr val="B45309"/>
            </a:solidFill>
            <a:prstDash val="solid"/>
          </a:ln>
        </p:spPr>
      </p:sp>
      <p:sp>
        <p:nvSpPr>
          <p:cNvPr id="18" name="Shape 16"/>
          <p:cNvSpPr/>
          <p:nvPr/>
        </p:nvSpPr>
        <p:spPr>
          <a:xfrm>
            <a:off x="7875600" y="91440"/>
            <a:ext cx="27432" cy="274320"/>
          </a:xfrm>
          <a:prstGeom prst="rect">
            <a:avLst/>
          </a:prstGeom>
          <a:solidFill>
            <a:srgbClr val="B45309"/>
          </a:solidFill>
          <a:ln w="12700">
            <a:solidFill>
              <a:srgbClr val="B45309"/>
            </a:solidFill>
            <a:prstDash val="solid"/>
          </a:ln>
        </p:spPr>
      </p:sp>
      <p:sp>
        <p:nvSpPr>
          <p:cNvPr id="19" name="Shape 17"/>
          <p:cNvSpPr/>
          <p:nvPr/>
        </p:nvSpPr>
        <p:spPr>
          <a:xfrm>
            <a:off x="7930464" y="91440"/>
            <a:ext cx="27432" cy="274320"/>
          </a:xfrm>
          <a:prstGeom prst="rect">
            <a:avLst/>
          </a:prstGeom>
          <a:solidFill>
            <a:srgbClr val="B45309"/>
          </a:solidFill>
          <a:ln w="12700">
            <a:solidFill>
              <a:srgbClr val="B45309"/>
            </a:solidFill>
            <a:prstDash val="solid"/>
          </a:ln>
        </p:spPr>
      </p:sp>
      <p:pic>
        <p:nvPicPr>
          <p:cNvPr id="20" name="Image 0" descr="preencoded.png">    </p:cNvPr>
          <p:cNvPicPr>
            <a:picLocks noChangeAspect="1"/>
          </p:cNvPicPr>
          <p:nvPr/>
        </p:nvPicPr>
        <p:blipFill>
          <a:blip r:embed="rId1"/>
          <a:stretch>
            <a:fillRect/>
          </a:stretch>
        </p:blipFill>
        <p:spPr>
          <a:xfrm>
            <a:off x="8003616" y="128016"/>
            <a:ext cx="201168" cy="201168"/>
          </a:xfrm>
          <a:prstGeom prst="rect">
            <a:avLst/>
          </a:prstGeom>
        </p:spPr>
      </p:pic>
      <p:sp>
        <p:nvSpPr>
          <p:cNvPr id="21" name="Text 18"/>
          <p:cNvSpPr txBox="1"/>
          <p:nvPr/>
        </p:nvSpPr>
        <p:spPr>
          <a:xfrm>
            <a:off x="8259648" y="91440"/>
            <a:ext cx="3346831"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DA UTILIZZARE OGGI</a:t>
            </a:r>
            <a:pPr indent="0" marL="0">
              <a:buNone/>
            </a:pPr>
            <a:r>
              <a:rPr lang="en-US" sz="1100" dirty="0">
                <a:solidFill>
                  <a:srgbClr val="92400E"/>
                </a:solidFill>
                <a:latin typeface="Calibri" pitchFamily="34" charset="0"/>
                <a:ea typeface="Calibri" pitchFamily="34" charset="-122"/>
                <a:cs typeface="Calibri" pitchFamily="34" charset="-120"/>
              </a:rPr>
              <a:t> · gli strumenti di PRG32</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Provatelo sulla scheda</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once per board: write the firmware through the USB cable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build-and-flash</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join the Wi-Fi network of the board: PRG32, password prg32game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build the cartridge for the board</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~/arc12/code/l19.S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l19 --name l19 --architecture esp32c6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--out l19-esp32c6.prg32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send it over Wi-Fi and start it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upload-and-run l19-esp32c6.prg32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--url http://192.168.4.1 --slot cart0</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100" dirty="0">
                <a:solidFill>
                  <a:srgbClr val="1B2530"/>
                </a:solidFill>
                <a:latin typeface="Calibri" pitchFamily="34" charset="0"/>
                <a:ea typeface="Calibri" pitchFamily="34" charset="-122"/>
                <a:cs typeface="Calibri" pitchFamily="34" charset="-120"/>
              </a:rPr>
              <a:t>Il firmware si scrive una volta per scheda, attraverso il cavo USB</a:t>
            </a:r>
            <a:endParaRPr lang="en-US" sz="11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100" dirty="0">
                <a:solidFill>
                  <a:srgbClr val="1B2530"/>
                </a:solidFill>
                <a:latin typeface="Calibri" pitchFamily="34" charset="0"/>
                <a:ea typeface="Calibri" pitchFamily="34" charset="-122"/>
                <a:cs typeface="Calibri" pitchFamily="34" charset="-120"/>
              </a:rPr>
              <a:t>La scheda crea la rete Wi-Fi PRG32: collegatevi con il vostro computer</a:t>
            </a:r>
            <a:endParaRPr lang="en-US" sz="11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100" dirty="0">
                <a:solidFill>
                  <a:srgbClr val="1B2530"/>
                </a:solidFill>
                <a:latin typeface="Calibri" pitchFamily="34" charset="0"/>
                <a:ea typeface="Calibri" pitchFamily="34" charset="-122"/>
                <a:cs typeface="Calibri" pitchFamily="34" charset="-120"/>
              </a:rPr>
              <a:t>Lo stesso comando di caricamento di PRG32-QT, con l'indirizzo della scheda</a:t>
            </a:r>
            <a:endParaRPr lang="en-US" sz="11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100" dirty="0">
                <a:solidFill>
                  <a:srgbClr val="1B2530"/>
                </a:solidFill>
                <a:latin typeface="Calibri" pitchFamily="34" charset="0"/>
                <a:ea typeface="Calibri" pitchFamily="34" charset="-122"/>
                <a:cs typeface="Calibri" pitchFamily="34" charset="-120"/>
              </a:rPr>
              <a:t>Schermo nero: confrontate il cablaggio del display con il firmware</a:t>
            </a:r>
            <a:endParaRPr lang="en-US" sz="1100" dirty="0"/>
          </a:p>
        </p:txBody>
      </p:sp>
      <p:sp>
        <p:nvSpPr>
          <p:cNvPr id="17" name="Shape 15"/>
          <p:cNvSpPr/>
          <p:nvPr/>
        </p:nvSpPr>
        <p:spPr>
          <a:xfrm>
            <a:off x="7875600" y="91440"/>
            <a:ext cx="3767455" cy="274320"/>
          </a:xfrm>
          <a:prstGeom prst="rect">
            <a:avLst/>
          </a:prstGeom>
          <a:solidFill>
            <a:srgbClr val="FEF3C7"/>
          </a:solidFill>
          <a:ln w="12700">
            <a:solidFill>
              <a:srgbClr val="B45309"/>
            </a:solidFill>
            <a:prstDash val="solid"/>
          </a:ln>
        </p:spPr>
      </p:sp>
      <p:sp>
        <p:nvSpPr>
          <p:cNvPr id="18" name="Shape 16"/>
          <p:cNvSpPr/>
          <p:nvPr/>
        </p:nvSpPr>
        <p:spPr>
          <a:xfrm>
            <a:off x="7875600" y="91440"/>
            <a:ext cx="27432" cy="274320"/>
          </a:xfrm>
          <a:prstGeom prst="rect">
            <a:avLst/>
          </a:prstGeom>
          <a:solidFill>
            <a:srgbClr val="B45309"/>
          </a:solidFill>
          <a:ln w="12700">
            <a:solidFill>
              <a:srgbClr val="B45309"/>
            </a:solidFill>
            <a:prstDash val="solid"/>
          </a:ln>
        </p:spPr>
      </p:sp>
      <p:sp>
        <p:nvSpPr>
          <p:cNvPr id="19" name="Shape 17"/>
          <p:cNvSpPr/>
          <p:nvPr/>
        </p:nvSpPr>
        <p:spPr>
          <a:xfrm>
            <a:off x="7930464" y="91440"/>
            <a:ext cx="27432" cy="274320"/>
          </a:xfrm>
          <a:prstGeom prst="rect">
            <a:avLst/>
          </a:prstGeom>
          <a:solidFill>
            <a:srgbClr val="B45309"/>
          </a:solidFill>
          <a:ln w="12700">
            <a:solidFill>
              <a:srgbClr val="B45309"/>
            </a:solidFill>
            <a:prstDash val="solid"/>
          </a:ln>
        </p:spPr>
      </p:sp>
      <p:pic>
        <p:nvPicPr>
          <p:cNvPr id="20" name="Image 0" descr="preencoded.png">    </p:cNvPr>
          <p:cNvPicPr>
            <a:picLocks noChangeAspect="1"/>
          </p:cNvPicPr>
          <p:nvPr/>
        </p:nvPicPr>
        <p:blipFill>
          <a:blip r:embed="rId1"/>
          <a:stretch>
            <a:fillRect/>
          </a:stretch>
        </p:blipFill>
        <p:spPr>
          <a:xfrm>
            <a:off x="8003616" y="128016"/>
            <a:ext cx="201168" cy="201168"/>
          </a:xfrm>
          <a:prstGeom prst="rect">
            <a:avLst/>
          </a:prstGeom>
        </p:spPr>
      </p:pic>
      <p:sp>
        <p:nvSpPr>
          <p:cNvPr id="21" name="Text 18"/>
          <p:cNvSpPr txBox="1"/>
          <p:nvPr/>
        </p:nvSpPr>
        <p:spPr>
          <a:xfrm>
            <a:off x="8259648" y="91440"/>
            <a:ext cx="3346831"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DA UTILIZZARE OGGI</a:t>
            </a:r>
            <a:pPr indent="0" marL="0">
              <a:buNone/>
            </a:pPr>
            <a:r>
              <a:rPr lang="en-US" sz="1100" dirty="0">
                <a:solidFill>
                  <a:srgbClr val="92400E"/>
                </a:solidFill>
                <a:latin typeface="Calibri" pitchFamily="34" charset="0"/>
                <a:ea typeface="Calibri" pitchFamily="34" charset="-122"/>
                <a:cs typeface="Calibri" pitchFamily="34" charset="-120"/>
              </a:rPr>
              <a:t> · gli strumenti di PRG32</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Se non funziona</a:t>
            </a:r>
            <a:endParaRPr lang="en-US" sz="32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3025750"/>
                <a:gridCol w="3866236"/>
                <a:gridCol w="4202430"/>
              </a:tblGrid>
              <a:tr h="0">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Vedete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Significa</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Fate così</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manca un punto di ingresso</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il prefisso non è quello del sorgente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--entry-prefix l19; controllate le tre righe .global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idf.py: command not found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ESP-IDF non è attivo in questo terminale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eseguite export.sh, o aprite ESP-IDF PowerShell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upload: connection refused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l'host non ascolta a quell'indirizzo</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avviate PRG32-QT; usate l'indirizzo della sua schermata Setup</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schermo nero, o di nuovo il menu</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una funzione non ritorna, o ra non è stato salvato</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modalità debug: passo-passo in init, update, draw</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QEMU ignora i tasti</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la tastiera va al terminale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fate clic sul terminale che ha lanciato QEMU</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4" name="Shape 1"/>
          <p:cNvSpPr/>
          <p:nvPr/>
        </p:nvSpPr>
        <p:spPr>
          <a:xfrm>
            <a:off x="7875600" y="91440"/>
            <a:ext cx="3767455" cy="274320"/>
          </a:xfrm>
          <a:prstGeom prst="rect">
            <a:avLst/>
          </a:prstGeom>
          <a:solidFill>
            <a:srgbClr val="FEF3C7"/>
          </a:solidFill>
          <a:ln w="12700">
            <a:solidFill>
              <a:srgbClr val="B45309"/>
            </a:solidFill>
            <a:prstDash val="solid"/>
          </a:ln>
        </p:spPr>
      </p:sp>
      <p:sp>
        <p:nvSpPr>
          <p:cNvPr id="5" name="Shape 2"/>
          <p:cNvSpPr/>
          <p:nvPr/>
        </p:nvSpPr>
        <p:spPr>
          <a:xfrm>
            <a:off x="7875600" y="91440"/>
            <a:ext cx="27432" cy="274320"/>
          </a:xfrm>
          <a:prstGeom prst="rect">
            <a:avLst/>
          </a:prstGeom>
          <a:solidFill>
            <a:srgbClr val="B45309"/>
          </a:solidFill>
          <a:ln w="12700">
            <a:solidFill>
              <a:srgbClr val="B45309"/>
            </a:solidFill>
            <a:prstDash val="solid"/>
          </a:ln>
        </p:spPr>
      </p:sp>
      <p:sp>
        <p:nvSpPr>
          <p:cNvPr id="6" name="Shape 3"/>
          <p:cNvSpPr/>
          <p:nvPr/>
        </p:nvSpPr>
        <p:spPr>
          <a:xfrm>
            <a:off x="7930464" y="91440"/>
            <a:ext cx="27432" cy="274320"/>
          </a:xfrm>
          <a:prstGeom prst="rect">
            <a:avLst/>
          </a:prstGeom>
          <a:solidFill>
            <a:srgbClr val="B45309"/>
          </a:solidFill>
          <a:ln w="12700">
            <a:solidFill>
              <a:srgbClr val="B45309"/>
            </a:solidFill>
            <a:prstDash val="solid"/>
          </a:ln>
        </p:spPr>
      </p:sp>
      <p:pic>
        <p:nvPicPr>
          <p:cNvPr id="7" name="Image 0" descr="preencoded.png">    </p:cNvPr>
          <p:cNvPicPr>
            <a:picLocks noChangeAspect="1"/>
          </p:cNvPicPr>
          <p:nvPr/>
        </p:nvPicPr>
        <p:blipFill>
          <a:blip r:embed="rId1"/>
          <a:stretch>
            <a:fillRect/>
          </a:stretch>
        </p:blipFill>
        <p:spPr>
          <a:xfrm>
            <a:off x="8003616" y="128016"/>
            <a:ext cx="201168" cy="201168"/>
          </a:xfrm>
          <a:prstGeom prst="rect">
            <a:avLst/>
          </a:prstGeom>
        </p:spPr>
      </p:pic>
      <p:sp>
        <p:nvSpPr>
          <p:cNvPr id="8" name="Text 4"/>
          <p:cNvSpPr txBox="1"/>
          <p:nvPr/>
        </p:nvSpPr>
        <p:spPr>
          <a:xfrm>
            <a:off x="8259648" y="91440"/>
            <a:ext cx="3346831"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DA UTILIZZARE OGGI</a:t>
            </a:r>
            <a:pPr indent="0" marL="0">
              <a:buNone/>
            </a:pPr>
            <a:r>
              <a:rPr lang="en-US" sz="1100" dirty="0">
                <a:solidFill>
                  <a:srgbClr val="92400E"/>
                </a:solidFill>
                <a:latin typeface="Calibri" pitchFamily="34" charset="0"/>
                <a:ea typeface="Calibri" pitchFamily="34" charset="-122"/>
                <a:cs typeface="Calibri" pitchFamily="34" charset="-120"/>
              </a:rPr>
              <a:t> · gli strumenti di PRG32</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Esercizi: prima su carta, poi su PRG32</a:t>
            </a:r>
            <a:endParaRPr lang="en-US" sz="3200" dirty="0"/>
          </a:p>
        </p:txBody>
      </p:sp>
      <p:sp>
        <p:nvSpPr>
          <p:cNvPr id="3" name="Text 1"/>
          <p:cNvSpPr txBox="1"/>
          <p:nvPr/>
        </p:nvSpPr>
        <p:spPr>
          <a:xfrm>
            <a:off x="10088575" y="566928"/>
            <a:ext cx="1554480" cy="457200"/>
          </a:xfrm>
          <a:prstGeom prst="roundRect">
            <a:avLst>
              <a:gd name="adj" fmla="val 16000"/>
            </a:avLst>
          </a:prstGeom>
          <a:solidFill>
            <a:srgbClr val="2F7D4F"/>
          </a:solidFill>
          <a:ln>
            <a:solidFill>
              <a:srgbClr val="2F7D4F"/>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PROVA TU</a:t>
            </a:r>
            <a:endParaRPr lang="en-US" sz="1500" dirty="0"/>
          </a:p>
        </p:txBody>
      </p:sp>
      <p:sp>
        <p:nvSpPr>
          <p:cNvPr id="4" name="Text 2"/>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5" name="Text 3"/>
          <p:cNvSpPr txBox="1"/>
          <p:nvPr/>
        </p:nvSpPr>
        <p:spPr>
          <a:xfrm>
            <a:off x="1207008" y="1417320"/>
            <a:ext cx="10436047" cy="438912"/>
          </a:xfrm>
          <a:prstGeom prst="rect">
            <a:avLst/>
          </a:prstGeom>
          <a:noFill/>
          <a:ln/>
        </p:spPr>
        <p:txBody>
          <a:bodyPr wrap="square" lIns="0" tIns="0" rIns="0" bIns="0" rtlCol="0" anchor="ctr"/>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Decodificate a mano 0x00A28293 e 0x40628333: formato, campi, assembly</a:t>
            </a:r>
            <a:endParaRPr lang="en-US" sz="2000" dirty="0"/>
          </a:p>
        </p:txBody>
      </p:sp>
      <p:sp>
        <p:nvSpPr>
          <p:cNvPr id="6" name="Text 4"/>
          <p:cNvSpPr txBox="1"/>
          <p:nvPr/>
        </p:nvSpPr>
        <p:spPr>
          <a:xfrm>
            <a:off x="548640" y="205892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7" name="Text 5"/>
          <p:cNvSpPr txBox="1"/>
          <p:nvPr/>
        </p:nvSpPr>
        <p:spPr>
          <a:xfrm>
            <a:off x="1207008" y="2040636"/>
            <a:ext cx="10436047" cy="438912"/>
          </a:xfrm>
          <a:prstGeom prst="rect">
            <a:avLst/>
          </a:prstGeom>
          <a:noFill/>
          <a:ln/>
        </p:spPr>
        <p:txBody>
          <a:bodyPr wrap="square" lIns="0" tIns="0" rIns="0" bIns="0" rtlCol="0" anchor="ctr"/>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Codificate sub t0, t1, t2 e sw a0, 8(sp)</a:t>
            </a:r>
            <a:endParaRPr lang="en-US" sz="2000" dirty="0"/>
          </a:p>
        </p:txBody>
      </p:sp>
      <p:sp>
        <p:nvSpPr>
          <p:cNvPr id="8" name="Text 6"/>
          <p:cNvSpPr txBox="1"/>
          <p:nvPr/>
        </p:nvSpPr>
        <p:spPr>
          <a:xfrm>
            <a:off x="548640" y="268224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9" name="Text 7"/>
          <p:cNvSpPr txBox="1"/>
          <p:nvPr/>
        </p:nvSpPr>
        <p:spPr>
          <a:xfrm>
            <a:off x="1207008" y="2663952"/>
            <a:ext cx="1043604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Scrivete i trasferimenti tra registri dell'intero ciclo per sw t1, 0(t0) e per beq t0, t1, target</a:t>
            </a:r>
            <a:endParaRPr lang="en-US" sz="2000" dirty="0"/>
          </a:p>
        </p:txBody>
      </p:sp>
      <p:sp>
        <p:nvSpPr>
          <p:cNvPr id="10" name="Text 8"/>
          <p:cNvSpPr txBox="1"/>
          <p:nvPr/>
        </p:nvSpPr>
        <p:spPr>
          <a:xfrm>
            <a:off x="548640" y="348640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1" name="Text 9"/>
          <p:cNvSpPr txBox="1"/>
          <p:nvPr/>
        </p:nvSpPr>
        <p:spPr>
          <a:xfrm>
            <a:off x="1207008" y="3468116"/>
            <a:ext cx="1043604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Disegnate il diagramma della pipeline per sei istruzioni su una pipeline a quattro stadi: quando termina la sesta?</a:t>
            </a:r>
            <a:endParaRPr lang="en-US" sz="2000" dirty="0"/>
          </a:p>
        </p:txBody>
      </p:sp>
      <p:sp>
        <p:nvSpPr>
          <p:cNvPr id="12" name="Text 10"/>
          <p:cNvSpPr txBox="1"/>
          <p:nvPr/>
        </p:nvSpPr>
        <p:spPr>
          <a:xfrm>
            <a:off x="548640" y="429056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3" name="Text 11"/>
          <p:cNvSpPr txBox="1"/>
          <p:nvPr/>
        </p:nvSpPr>
        <p:spPr>
          <a:xfrm>
            <a:off x="1207008" y="4272280"/>
            <a:ext cx="1043604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In PRG32-QT mettete un breakpoint in first_update, avanzate di un passo, e confrontate il codice macchina mostrato con la vostra decodifica del riscaldamento</a:t>
            </a:r>
            <a:endParaRPr lang="en-US" sz="2000" dirty="0"/>
          </a:p>
        </p:txBody>
      </p:sp>
      <p:sp>
        <p:nvSpPr>
          <p:cNvPr id="14" name="Shape 12"/>
          <p:cNvSpPr/>
          <p:nvPr/>
        </p:nvSpPr>
        <p:spPr>
          <a:xfrm>
            <a:off x="548640" y="5120640"/>
            <a:ext cx="11094415" cy="1051560"/>
          </a:xfrm>
          <a:prstGeom prst="roundRect">
            <a:avLst>
              <a:gd name="adj" fmla="val 6957"/>
            </a:avLst>
          </a:prstGeom>
          <a:solidFill>
            <a:srgbClr val="DCEEE3"/>
          </a:solidFill>
          <a:ln w="12700">
            <a:solidFill>
              <a:srgbClr val="DCEEE3"/>
            </a:solidFill>
            <a:prstDash val="solid"/>
          </a:ln>
        </p:spPr>
      </p:sp>
      <p:sp>
        <p:nvSpPr>
          <p:cNvPr id="15" name="Text 13"/>
          <p:cNvSpPr txBox="1"/>
          <p:nvPr/>
        </p:nvSpPr>
        <p:spPr>
          <a:xfrm>
            <a:off x="822960" y="5212080"/>
            <a:ext cx="2743200" cy="274320"/>
          </a:xfrm>
          <a:prstGeom prst="rect">
            <a:avLst/>
          </a:prstGeom>
          <a:noFill/>
          <a:ln/>
        </p:spPr>
        <p:txBody>
          <a:bodyPr wrap="square" lIns="0" tIns="0" rIns="0" bIns="0" rtlCol="0" anchor="t"/>
          <a:lstStyle/>
          <a:p>
            <a:pPr indent="0" marL="0">
              <a:buNone/>
            </a:pPr>
            <a:r>
              <a:rPr lang="en-US" sz="1300" b="1" dirty="0">
                <a:solidFill>
                  <a:srgbClr val="2F7D4F"/>
                </a:solidFill>
                <a:latin typeface="Calibri" pitchFamily="34" charset="0"/>
                <a:ea typeface="Calibri" pitchFamily="34" charset="-122"/>
                <a:cs typeface="Calibri" pitchFamily="34" charset="-120"/>
              </a:rPr>
              <a:t>Risultato atteso</a:t>
            </a:r>
            <a:endParaRPr lang="en-US" sz="1300" dirty="0"/>
          </a:p>
        </p:txBody>
      </p:sp>
      <p:sp>
        <p:nvSpPr>
          <p:cNvPr id="16" name="Text 14"/>
          <p:cNvSpPr txBox="1"/>
          <p:nvPr/>
        </p:nvSpPr>
        <p:spPr>
          <a:xfrm>
            <a:off x="822960" y="5504688"/>
            <a:ext cx="10545775" cy="594360"/>
          </a:xfrm>
          <a:prstGeom prst="rect">
            <a:avLst/>
          </a:prstGeom>
          <a:noFill/>
          <a:ln/>
        </p:spPr>
        <p:txBody>
          <a:bodyPr wrap="square" lIns="0" tIns="0" rIns="0" bIns="0" rtlCol="0" anchor="ctr"/>
          <a:lstStyle/>
          <a:p>
            <a:pPr indent="0" marL="0">
              <a:buNone/>
            </a:pPr>
            <a:r>
              <a:rPr lang="en-US" sz="1800" dirty="0">
                <a:solidFill>
                  <a:srgbClr val="1B2530"/>
                </a:solidFill>
                <a:latin typeface="Calibri" pitchFamily="34" charset="0"/>
                <a:ea typeface="Calibri" pitchFamily="34" charset="-122"/>
                <a:cs typeface="Calibri" pitchFamily="34" charset="-120"/>
              </a:rPr>
              <a:t>Su carta: addi t0, t0, 10 e sub t1, t0, t1. Su PRG32-QT: le quattro parole del riscaldamento, o i loro equivalenti compressi.</a:t>
            </a:r>
            <a:endParaRPr lang="en-US" sz="18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Università degli Studi di Napoli Parthenope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ARC12 Architettura dei Calcolatori - Istruzioni e interruzioni: il codice</dc:title>
  <dc:subject>Lezione 19</dc:subject>
  <dc:creator>Raffaele Montella</dc:creator>
  <cp:lastModifiedBy>Raffaele Montella</cp:lastModifiedBy>
  <cp:revision>1</cp:revision>
  <dcterms:created xsi:type="dcterms:W3CDTF">2026-10-16T16:46:58Z</dcterms:created>
  <dcterms:modified xsi:type="dcterms:W3CDTF">2026-10-16T16:46:58Z</dcterms:modified>
</cp:coreProperties>
</file>