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5abd7051-d5fd-3e65-7f7b-3bdc74d63b42}">
          <p14:sldIdLst>
            <p14:sldId id="256"/>
            <p14:sldId id="257"/>
            <p14:sldId id="258"/>
          </p14:sldIdLst>
        </p14:section>
        <p14:section name="Prima di cominciare: le parole di oggi" id="{0748a695-1dff-c17d-388d-8c1607a3eae4}">
          <p14:sldIdLst>
            <p14:sldId id="259"/>
            <p14:sldId id="260"/>
            <p14:sldId id="261"/>
            <p14:sldId id="262"/>
          </p14:sldIdLst>
        </p14:section>
        <p14:section name="La piattaforma, in dettaglio" id="{2ea9ddfe-c4ea-5ad2-825c-5924cba26bb9}">
          <p14:sldIdLst>
            <p14:sldId id="263"/>
            <p14:sldId id="264"/>
            <p14:sldId id="265"/>
            <p14:sldId id="266"/>
            <p14:sldId id="267"/>
            <p14:sldId id="268"/>
          </p14:sldIdLst>
        </p14:section>
        <p14:section name="Passo 2: installare la toolchain" id="{b6763170-4603-cacd-5f8c-c85e184a4a32}">
          <p14:sldIdLst>
            <p14:sldId id="269"/>
          </p14:sldIdLst>
        </p14:section>
        <p14:section name="Quando qualcosa non funziona" id="{f7a85e98-72a7-2057-f261-b07c5d5ab161}">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lezione è un'officina in entrambi i sensi della parola: una sessione di lavoro pratico, e il luogo in cui si svolgerà tutto il lavoro successivo. Non contiene teoria. Il suo esito è un ambiente configurato: PRG32-QT in funzione sul portatile dello studente, la toolchain RISC-V installata e verificata, e una prima cartuccia compilata dallo studente e fermata nel debugger. La citazione sull'affilare l'ascia giustifica le due ore dedicate agli strumenti: ogni lezione successiva presuppone che compilare ed eseguire un programma costi un solo comando e pochi secondi, così che l'attenzione vada alle idee e non alla procedura.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programma, sorgente, codice macchina; i componenti di PRG32. DA UTILIZZARE OGGI: il terminale, gli strumenti di PRG32, il debugger di PRG32-QT, il programma completo (si usa, non si studia, in questo corso). DA COMPRENDERE PIÙ AVANTI: contratto init/update/draw (Lezione 02); i registri (Lezione 02). Una slide senza etichetta è contesto: una storia, un esempio, una domanda, un esercizio.
Percorso. I risultati di oggi: (1) spiegare il percorso da un file sorgente a una cartuccia in esecuzione: sorgente, traduttore, codice macchina, cartuccia, host; (2) eseguire una cartuccia in PRG32-QT e compilarne una dal terminale. Si appoggia su: la Lezione 00, e Partire da zero per chi non ha mai programmato. Prossimo passo: Lezione 02, Primo contatto: l'assembly RISC-V su PRG32.
Per il docente: Novità del 2026/27: una lezione pratica. Gli studenti portano il portatile; alla fine ognuno ha PRG32-QT funzionante e una cartuccia compilata con la propria toolchain. I passi vengono dal README di PRG32, dalla documentazione di PRG32-QT e dal capitolo 3 del libro di PRG32. I comandi del passo 3 sono stati eseguiti su macOS con PRG32-QT; le installazioni su Windows e Linux seguono le istruzioni ufficiali e non sono state eseguite per queste slide. Chiedere agli studenti di fare a casa, prima della lezione, il lungo scaricamento del passo 2: la rete dell'aula non regge sessanta copie di ESP-IDF. I numeri di versione sono quelli di ottobre 2026: controllare le pagine dei rilasci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nell'ordine in cui si raggiungono: un quadro concettuale della piattaforma; PRG32-QT installato; la toolchain installata e verificata; una cartuccia compilata e fermata nel debugger; e un repertorio di rimedi ai guasti più comuni. L'elenco funziona anche da lista di controllo. I primi due risultati bastano per seguire il corso; il terzo e il quarto devono essere pronti prima della Lezione 02, in cui si scrive il primo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L'installazione è stratificata in quattro livelli, non tutti necessari. Il livello 1, PRG32-QT, richiede circa cinque minuti e permette di giocare e fare il debug di qualsiasi cartuccia. Il livello 2, ESP-IDF insieme al repository di PRG32, è uno scaricamento consistente e permette di compilare cartucce; è richiesto a tutti prima della Lezione 02. Il livello 3, l'emulatore QEMU, e il livello 4, il kit fisico, sono facoltativi. La didascalia risponde a una preoccupazione importante di equità: l'intero corso si può seguire con i soli livelli 1 e 2, senza acquistare alcun hardware.
Per il docente: Il livello 1 richiede cinque minuti. Il livello 2 è uno scaricamento corposo e richiede da mezz'ora a un'ora: a casa, con una buona connessione. I livelli 3 e 4 sono per i curiosi, e per il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non dà nulla per scontato, perché la maggior parte della classe non ha mai scritto un programma. Un processore è una macchina che esegue istruzioni: ordini piccoli ed esatti come "somma questi due numeri" o "copia questo valore". Ne esegue centinaia di milioni al secondo, ma ciascuna fa pochissimo. Un programma è un elenco di tali istruzioni. Dentro il computer l'elenco è conservato sotto forma di numeri, e questa forma numerica si chiama codice macchina.
Le persone non scrivono codice macchina. Scrivono codice sorgente: un normale file di testo, in un linguaggio di programmazione, che un traduttore trasforma poi in codice macchina. Per l'assembly, il linguaggio di questo corso, il traduttore si chiama assemblatore; per il C si chiama compilatore. Il riquadro mostra la stessa istruzione nelle due forme. La riga in alto è ciò che scriverete; il numero sotto, scritto in esadecimale (la Lezione 02 mostra come leggerlo), è ciò che riceve il processore. La toolchain è l'insieme dei traduttori e dei programmi di supporto. Installarla è lo scopo del passo 2.
DA COMPRENDERE OGGI: programma, sorgente, codice macchina.
Per il docente: L'assembly è il linguaggio più vicino alla macchina: una riga di assembly diventa un'istruzione. Per questo il corso lo usa: ciò che scrivete è ciò che il processore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gioco non gira su una macchina vuota. Sul kit un altro programma, il firmware, parte appena la scheda viene accesa e resta in memoria. È conservato nella memoria flash, quella che mantiene il contenuto anche senza alimentazione, come in una chiavetta USB. Controlla lo schermo, i pulsanti e il suono. Il gioco è un ospite del firmware: viene caricato in memoria e chiamato da esso.
Il runtime è la parte del firmware con cui il gioco dialoga. Chiama il gioco una volta per ogni frame, cioè per ogni nuova immagine sullo schermo, e gli presta funzioni già pronte per disegnare e per il suono. Ogni macchina che offre questo runtime si chiama host. Ce ne sono tre: la scheda vera; QEMU, un emulatore; e PRG32-QT, un'applicazione per il portatile. Un emulatore, come l'interprete contenuto in PRG32-QT, è un programma che imita un processore: legge il codice macchina e fa via software ciò che il chip farebbe in hardware. Per questo un portatile può eseguire una cartuccia compilata per un processore diverso.
DA COMPRENDERE OGGI: i componenti di PRG32.
Per il docente: Un frame è un'immagine sullo schermo; un gioco ne disegna trenta o più al secondo, e il runtime chiama il vostro codice una volta per ciascuna. La Lezione 02 mostra le tre funzioni che chiama.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installazione di questa lezione usa il terminale, che va quindi presentato prima di installare qualsiasi cosa. Il terminale è una finestra in cui si danno ordini al computer scrivendoli, invece di fare clic. Mostra un prompt, una breve riga che termina con $ o &gt;, e attende. Si scrive un comando e si preme Invio; il computer lo esegue e stampa sotto la sua risposta.
La tabella elenca i sei comandi che servono questa settimana. In ogni momento il terminale "si trova" in una cartella, la cartella corrente, e i comandi agiscono sui file che contiene. pwd mostra quale sia, ls (o dir su Windows) ne elenca il contenuto, e cd entra in un'altra cartella; cd .. risale di un livello. Ctrl+C ferma un programma che non termina da solo. Due abitudini risparmiano molta scrittura e molti errori: il tasto Tab completa un nome di cui si è scritto l'inizio, e la freccia in su richiama il comando precedente.
DA UTILIZZARE OGGI: il terminale (si usa, non si studia, in questo corso).
Per il docente: Il terminale è una finestra in cui si scrivono comandi invece di fare clic. Mostra un prompt, che termina con $ o &gt;, e attende: scrivete il comando e premete Invio. Il tasto Tab completa il nome di un file; la freccia in su richiama il comando precedente. Su macOS è l'applicazione Terminale; su Windows, PowerShell; su Linux, Terminale o Konsole.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Altre tre parole compaiono in ogni guida di installazione. Un percorso nomina un file elencando le cartelle che vi conducono, separate da / (o da \ su Windows). Il segno ~ indica la cartella personale, quella che il sistema assegna a ogni utente. Un repository è una cartella di codice sorgente di cui un programma chiamato git registra l'intera storia; git clone copia un repository da Internet al portatile.
La seconda metà della slide riguarda gli errori, perché un principiante ne incontra molti nella prima settimana e non sono un segno di fallimento. Un comando che riesce spesso stampa poco o nulla. Un comando che fallisce stampa un messaggio, e il messaggio quasi sempre nomina la causa. Va letto per intero, a partire dalla prima riga che dice error, prima di cambiare qualsiasi cosa. I quattro messaggi elencati coprono la maggior parte dei problemi di questa lezione. Il riquadro mostra il primo: il terminale non ha trovato un programma chiamato python3. Quando si chiede aiuto si copiano il comando e il messaggio completo come testo, non una fotografia dello schermo.
DA UTILIZZARE OGGI: il terminale (si usa, non si studia, in questo corso).
Per il docente: La prima riga che dice error di solito nomina la causa; le righe successive ne sono spesso le conseguenze. Quando chiedete aiuto, copiate il comando e il messaggio intero, come 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nome PRG32 designa quattro artefatti distinti. Un firmware: il programma residente che possiede lo schermo, i pulsanti e l'audio. Un formato di cartuccia: un gioco impacchettato in un solo piccolo file. Uno strumento sulla macchina di sviluppo, il comando python3 -m prg32, che compila, carica e impacchetta le cartucce. E uno Store, dove si pubblicano i giochi finiti. Il codice dello studente è vero codice macchina RISC-V a 32 bit, e interagisce con il firmware attraverso un contratto di tre funzioni: init, invocata una volta, e update e draw, invocate a ogni frame. La Lezione 02 prende questo contratto come punto di partenza.
DA COMPRENDERE OGGI: i componenti di PRG32.
Per il docente: github.com/riscv-prg32/PRG32. Il runtime chiama init una volta, poi update e draw a ogni frame: la Lezione 02 parte da questo contratto.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segue un programma lungo il suo ciclo di vita, da sinistra a destra. Si scrive un file sorgente in assembly o in C. La toolchain RISC-V lo traduce in codice macchina. Il risultato è una cartuccia: un file che contiene codice, dati e una breve intestazione. La cartuccia viene trasmessa in rete a un host, il cui runtime chiama poi i tre punti di ingresso. Le prime tre fasi avvengono sul portatile dello studente e richiedono il livello 2; le ultime due avvengono su un host, che può essere PRG32-QT, QEMU o la scheda. Lo stesso file gira su tutti e tre perché raggiunge il runtime in modo indiretto, attraverso una tabella di funzioni. Quella tabella fa parte dell'interfaccia binaria, o ABI, di PRG32: un accordo su come un programma e il runtime si chiamano a vicenda, fissato fino al livello del codice macchina, così che nessuno dei due debba sapere dove si trova l'altro in memoria.
DA COMPRENDERE OGGI: i componenti di PRG32.
Per il docente: Il compilatore è riscv32-esp-elf-gcc, installato da ESP-IDF. La cartuccia viene caricata all'indirizzo 0x40800000 e raggiunge il runtime attraverso una tabella di funzioni, l'ABI: per questo lo stesso file gira su tre host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kit è una piccola console montata su breadboard, una basetta di plastica con file di fori in cui si infilano componenti e fili, senza saldature. Il suo cuore è un Espressif ESP32-C6, un chip con un solo core RISC-V e una radio Wi-Fi integrata. Un core è un processore. Lavora a passi scanditi da un clock, un segnale elettrico che batte a ritmo fisso; 160 MHz significa 160 milioni di battiti al secondo. Intorno ci sono un display a colori da 2,8 pollici, uno o due amplificatori audio, un joystick e alcuni pulsanti, ciascuno collegato direttamente a un piedino del chip, una delle zampette metalliche attraverso cui il chip scambia segnali elettrici con l'esterno. Vanno distinti due numeri relativi allo schermo: il pannello ha 320 per 240 pixel, mentre i giochi disegnano in un'area di 320 per 200. Le cartucce raggiungono la scheda via Wi-Fi. Un kit personale non è necessario per seguire il corso; il laboratorio ne mette a disposizione alcuni.
DA COMPRENDERE OGGI: i componenti di PRG32.
Per il docente: Display: ILI9341 su SPI. Audio: MAX98357A su I2S. L'elenco dei componenti e i collegamenti sono in docs/hardware del repository di PRG32. Il laboratorio dispone di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cartuccia, tre host, confrontati riga per riga. Sulla scheda e in QEMU il codice gira in modo nativo: il codice macchina è eseguito da un chip RISC-V, fisico sulla scheda ed emulato in QEMU, insieme al firmware vero. In PRG32-QT è interpretato: un programma sul portatile legge ogni istruzione e la esegue via software, una alla volta. La scheda e QEMU richiedono la toolchain, PRG32-QT no, né per giocare né per il debug. L'esecuzione passo-passo richiede strumenti aggiuntivi sui primi due host ed è integrata nel terzo. Ne segue un'utile regola pratica: la scheda è l'autorità sul tempo, PRG32-QT l'autorità sul contenuto di un registro.
DA COMPRENDERE OGGI: i componenti di PRG32.
Per il docente: Usate la scheda quando volete la verità sul tempo, e PRG32-QT quando volete la verità su un registro. Perché un ESP32-C3 in QEMU? Espressif mantiene per quel chip un emulatore maturo e con grafica; esegue le stesse istruzioni RISC-V, e la cartuccia non se ne accorge.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è la console realizzata come applicazione: contiene un interprete dell'insieme di istruzioni RV32IMAC e offre alla cartuccia gli stessi servizi del firmware. Contano tre funzionalità. I profili di velocità in Settings: Accurate, il predefinito, che riproduce i tempi dell'ESP32-C6; Optimal, a trenta frame al secondo; e Unlimited. Il browser dello Store, che scarica ed esegue le cartucce pubblicate. E il debugger, che mostra il disassemblato, cioè il codice macchina ritradotto in assembly leggibile, insieme ai registri e alla memoria, ed esegue un'istruzione alla volta. Accurate è il profilo da tenere, perché rivela quando un programma sarebbe troppo lento sul chip reale.
DA COMPRENDERE OGGI: i componenti di PRG32.
Per il docente: github.com/riscv-prg32/PRG32-QT. Accurate addebita a ogni istruzione e a ogni chiamata un costo in cicli di un clock a 160 MHz: non è un modello esatto al ciclo del chip, ma è abbastanza vicino da far vedere quando un frame è in ritardo.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Sulla tastiera il joystick corrisponde ai tasti freccia o a W, A, S, D; il pulsante A a Z o J; il pulsante B a X o K; Start e Select a Invio o Spazio. In PRG32-QT, Esc esce dal gioco e torna a Setup. Una proprietà di QEMU sorprende regolarmente chi lo usa la prima volta: i tasti vanno premuti nel terminale da cui QEMU è stato avviato, non nella finestra che mostra l'immagine. Un gioco che in QEMU sembra non rispondere di solito richiede solo di dare il fuoco al terminale.
DA COMPRENDERE OGGI: i componenti di PRG32.
Per il docente: Un controller di gioco USB o Bluetooth viene riconosciuto da PRG32-QT appena lo si collega. QEMU legge la tastiera dal terminale che lo ha lanciato, non dalla finestra con l'immagine: la sorpresa classica.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Un'unica idea spiega ogni passo dell'installazione e quasi ogni guasto. Il compilatore è distribuito con ESP-IDF, l'ambiente di sviluppo di Espressif, installato per due chip: esp32c6, il kit, e esp32c3, il chip emulato. ESP-IDF, però, non è attivo da solo: ogni nuovo terminale deve attivarlo prima che i suoi strumenti si possano trovare. Il riquadro a destra mostra il messaggio che ogni studente prima o poi incontrerà, idf.py: command not found. Non indica un'installazione rotta; indica che ESP-IDF non è stato attivato nel terminale in uso.
DA UTILIZZARE OGGI: gli strumenti di PRG32 (si usa, non si studia, in questo corso).
Per il docente: Su Windows attivare significa aprire ESP-IDF PowerShell; su macOS e Linux, eseguire export.sh. Il sintomo è sempre lo stesso: idf.py, oppure riscv32-esp-elf-gcc, non trovato.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si legge da sinistra a destra: sintomo, diagnosi, rimedio. La prima riga copre la maggior parte dei casi: idf.py: command not found significa che ESP-IDF non è attivo nel terminale corrente. No module named prg32 significa che il comando non è stato dato dalla cartella di PRG32. Una connessione rifiutata significa che PRG32-QT non è in esecuzione, o che un firewall blocca la porta 8080. Quando si chiede aiuto, comando e messaggio completo vanno forniti come testo: la fotografia di uno schermo non si può né cercare né copiare.
DA UTILIZZARE OGGI: gli strumenti di PRG32 (si usa, non si studia, in questo corso).
Per il docente: La prima riga copre la maggior parte dei casi. docs/usage/troubleshooting.md del repository di PRG32 ha l'elenco completo. Quando chiedete aiuto, incollate il comando e l'intero messaggio: mai una fotografia dello schermo.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verifiche, una per ogni passo compiuto: PRG32-QT esegue un gioco dello Store; in un terminale nuovo il doctor riporta solo OK; cartridge build produce pong.prg32; upload-and-run lo avvia; e in modalità debug pausa e passo funzionano. Per ogni verifica che non riesce, l'ultima colonna indica il passo da ripetere. Chi resta bloccato venga al ricevimento o in laboratorio, con il portatile, prima della Lezione 02.
Per il docente: Cinque spunte e l'officina è pronta. Chi è bloccato viene a ricevimento, o in laboratorio, prima della Lezione 02: con il portatile.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rispondere alla prima domanda conviene chiedersi che cosa implica "un nuovo terminale". Nulla è stato disinstallato, PRG32-QT non ha alcun ruolo in questo comando, e il doctor non ha bisogno di una scheda. L'attivazione dura solo quanto il terminale in cui è stata eseguita, quindi un terminale nuovo comincia senza di essa. Il rimedio è quello di ogni giorno: export.sh, o la PowerShell di ESP-IDF.
La seconda domanda separa due attività: compilare una cartuccia ed eseguirla. Il compilatore serve solo per la prima. La scheda e QEMU eseguono il firmware vero, che va a sua volta compilato; PRG32-QT interpreta la cartuccia e ha il suo debugger, ed è quindi l'unico host che non richiede altro.
Per il docente: 1. Risposta: B. L'attivazione dura quanto il terminale: eseguite export.sh, oppure aprite ESP-IDF PowerShell.
2. Risposta: C. PRG32-QT interpreta la cartuccia e ha un debugger integrato; il compilatore serve solo per compilare le cartucce.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cartuccia non viene ricompilata e non contiene tre programmi. Una cartuccia portabile non chiama il firmware a indirizzi fissi: chiama attraverso una tabella di funzioni, l'ABI, e ogni host fornisce la propria implementazione di quella tabella. È il significato dell'opzione --portable, e la ragione per cui il file è identico in ogni colonna della tabella che confronta i tre host. Il principio, un'interfaccia stabile che separa un programma dal sistema che lo esegue, tornerà più volte nel corso.
L'ultima domanda verifica il vocabolario dell'inizio della lezione. L'assemblatore non esegue nulla: è un traduttore, che legge il codice sorgente scritto da una persona e produce il codice macchina che un processore esegue. Eseguire il risultato è compito di un host e del suo runtime; inviarlo a un host è compito degli strumenti di PRG32; mostrare i registri è compito del debugger.
Per il docente: 1. Risposta: C. Una cartuccia portabile dipende soltanto dall'ABI, la tabella di funzioni del runtime, che ogni host fornisce.
2. Risposta: B. L'assembly è testo per le persone; il processore legge numeri. L'assemblatore traduce il primo nei secondi; il runtime di un host esegue poi il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che ricorrono in ogni documento su PRG32, con l'italiano usato di solito in aula. Tre meritano particolare attenzione. Una toolchain è la sequenza di programmi che trasforma il codice sorgente in un eseguibile: compilatore, assemblatore e linker, il programma che unisce in un solo file i pezzi tradotti separatamente. Flashare significa scrivere un programma nella memoria flash di un chip. Un host è la macchina su cui gira una cartuccia: la scheda, QEMU o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proposizioni riassumono la lezione. PRG32 è un runtime, un formato di cartuccia, uno strumento e uno Store, e una cartuccia gira invariata su tre host. PRG32-QT basta per giocare e fare il debug; ESP-IDF e il repository servono per compilare. ESP-IDF va attivato in ogni nuovo terminale. E lo studente ha ora completato il ciclo su cui poggia l'intero corso: compilare, trasmettere, fermare nel debugger. Le letture consigliate sono i README dei due repository. La Lezione 02 usa questa officina per scrivere il primo programma in assembly.
Stato di apprendimento, riepilogo. DA COMPRENDERE OGGI: programma, sorgente, codice macchina; i componenti di PRG32. DA UTILIZZARE OGGI: il terminale, gli strumenti di PRG32, il debugger di PRG32-QT, il programma completo (si usa, non si studia, in questo corso). DA COMPRENDERE PIÙ AVANTI: contratto init/update/draw (Lezione 02); i registri (Lezione 02). Una slide senza etichetta è contesto: una storia, un esempio, una domanda, un esercizio. Il filo della lezione: Ora possedete l'intero ciclo: scrivere un sorgente, tradurlo, inviare la cartuccia a un host, fermarla nel debugger. Prossimo passo: scrivere il sorgente da voi. Biglietto d'uscita (da due a quattro minuti, da soli, su carta): 1. Mettete in ordine questi quattro elementi e dite in una riga che cosa fa ciascuno: la cartuccia, il file sorgente, il runtime di un host, l'assemblatore. 2. In un nuovo terminale scrivete python3 -m prg32 doctor e leggete: idf.py: command not found. Che cosa vi dice il messaggio, e che cosa fate per prima cosa?
Per il docente: A seguire: Lezione 02, il primo programma in assembly RISC-V, scritto dagli studenti nell'officina appena allestita.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01: Installazione di PRG32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e PRG32-QT: allestire la propria officina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La piattaforma in dettaglio, e l'installazione passo per passo su Windows, macOS e Linux</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“Datemi sei ore per abbattere un albero e passerò le prime quattro ad affilare l'ascia.”</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ad Abraham Lincoln</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01-Architettura_dei_Calcolatori-PRG32_e_PRG32-QT_Installazione-Lab.pptx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quadro chiaro dei pezzi di PRG32: runtime, cartuccia, strumenti, host, Store</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installato sul portatile: potete giocare con qualunque cartuccia e guardarci dentro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toolchain RISC-V installata e verificata: potete compilare cartucce vostre</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cartuccia compilata da voi, in esecuzione in PRG32-QT, ferma nel debugger</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elenco di che cosa fare quando qualcosa non funziona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livelli: installate ciò che vi serve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24535"/>
                <a:gridCol w="3361944"/>
                <a:gridCol w="4370527"/>
                <a:gridCol w="243740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Livello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Installate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Potete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Serve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PRG32-QT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giocare con le cartucce, scaricarle dallo Store, usare il debugger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tutti, oggi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ESP-IDF e il repository di PRG32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compilare cartucce vostre da assembly o da 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tutti, prima della Lezione 02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l'emulatore QEMU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eseguire il vero firmware sul portatile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facoltativo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il kit: una scheda 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eseguire su hardware reale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facoltativo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Il corso si può seguire con i soli livelli 1 e 2. Non serve alcuna scheda.</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cos'è un programma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processore fa una sola cosa, velocissimo: esegue istruzioni, piccoli ordini come somma due numeri o copia un valore</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programma è un elenco di istruzioni, conservato in memoria sotto forma di numeri: questa forma si chiama codice macchina</a:t>
            </a:r>
            <a:endParaRPr lang="en-US" sz="1900" dirty="0"/>
          </a:p>
        </p:txBody>
      </p:sp>
      <p:sp>
        <p:nvSpPr>
          <p:cNvPr id="7" name="Shape 5"/>
          <p:cNvSpPr/>
          <p:nvPr/>
        </p:nvSpPr>
        <p:spPr>
          <a:xfrm>
            <a:off x="548640" y="358355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00374"/>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Nessuno scrive quei numeri a mano: si scrive il codice sorgente, un file di testo in un linguaggio di programmazione come l'assembly o il C</a:t>
            </a:r>
            <a:endParaRPr lang="en-US" sz="1900" dirty="0"/>
          </a:p>
        </p:txBody>
      </p:sp>
      <p:sp>
        <p:nvSpPr>
          <p:cNvPr id="9" name="Shape 7"/>
          <p:cNvSpPr/>
          <p:nvPr/>
        </p:nvSpPr>
        <p:spPr>
          <a:xfrm>
            <a:off x="548640" y="462508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190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traduttore trasforma il sorgente in codice macchina: l'assemblatore per l'assembly, il compilatore per il C</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toolchain è l'insieme di questi traduttori e dei loro aiutanti: installarla è il passo 2 di oggi</a:t>
            </a:r>
            <a:endParaRPr lang="en-US" sz="19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Un'istruzione, scritta due volte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Voi scrivete, come codice sorgente:</a:t>
            </a: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addi a0, a0, 1</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Il processore legge, come codice macchina:</a:t>
            </a: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0x00150513</a:t>
            </a:r>
            <a:endParaRPr lang="en-US" sz="1900" dirty="0"/>
          </a:p>
        </p:txBody>
      </p:sp>
      <p:sp>
        <p:nvSpPr>
          <p:cNvPr id="16" name="Shape 14"/>
          <p:cNvSpPr/>
          <p:nvPr/>
        </p:nvSpPr>
        <p:spPr>
          <a:xfrm>
            <a:off x="6869760" y="91440"/>
            <a:ext cx="4773295" cy="274320"/>
          </a:xfrm>
          <a:prstGeom prst="rect">
            <a:avLst/>
          </a:prstGeom>
          <a:solidFill>
            <a:srgbClr val="E0F2FE"/>
          </a:solidFill>
          <a:ln w="12700">
            <a:solidFill>
              <a:srgbClr val="0369A1"/>
            </a:solidFill>
            <a:prstDash val="solid"/>
          </a:ln>
        </p:spPr>
      </p:sp>
      <p:sp>
        <p:nvSpPr>
          <p:cNvPr id="17" name="Shape 15"/>
          <p:cNvSpPr/>
          <p:nvPr/>
        </p:nvSpPr>
        <p:spPr>
          <a:xfrm>
            <a:off x="686976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6997776" y="128016"/>
            <a:ext cx="201168" cy="201168"/>
          </a:xfrm>
          <a:prstGeom prst="rect">
            <a:avLst/>
          </a:prstGeom>
        </p:spPr>
      </p:pic>
      <p:sp>
        <p:nvSpPr>
          <p:cNvPr id="19" name="Text 16"/>
          <p:cNvSpPr txBox="1"/>
          <p:nvPr/>
        </p:nvSpPr>
        <p:spPr>
          <a:xfrm>
            <a:off x="7253808" y="91440"/>
            <a:ext cx="435267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programma, sorgente, codice macchina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Firmware, runtime, host: chi esegue il vostro programma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vostro gioco non è mai solo sulla macchina: un altro programma parte per primo, resta in memoria ed esegue il vostro</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Sul kit quel programma è il firmware, conservato nella memoria flash del chip: gestisce lo schermo, i pulsanti e il suono</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runtime è la parte del firmware con cui il gioco dialoga: chiama il vostro codice a ogni frame e gli presta funzioni per disegnare e per suonare</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host è qualsiasi macchina che offre questo runtime: la scheda, l'emulatore QEMU o l'applicazione PRG32-QT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emulatore, o un interprete, è un programma che imita un processore via software: il portatile finge di essere il chip</a:t>
            </a:r>
            <a:endParaRPr lang="en-US" sz="2200" dirty="0"/>
          </a:p>
        </p:txBody>
      </p:sp>
      <p:sp>
        <p:nvSpPr>
          <p:cNvPr id="13" name="Shape 11"/>
          <p:cNvSpPr/>
          <p:nvPr/>
        </p:nvSpPr>
        <p:spPr>
          <a:xfrm>
            <a:off x="7854645" y="91440"/>
            <a:ext cx="3788410" cy="274320"/>
          </a:xfrm>
          <a:prstGeom prst="rect">
            <a:avLst/>
          </a:prstGeom>
          <a:solidFill>
            <a:srgbClr val="E0F2FE"/>
          </a:solidFill>
          <a:ln w="12700">
            <a:solidFill>
              <a:srgbClr val="0369A1"/>
            </a:solidFill>
            <a:prstDash val="solid"/>
          </a:ln>
        </p:spPr>
      </p:sp>
      <p:sp>
        <p:nvSpPr>
          <p:cNvPr id="14" name="Shape 12"/>
          <p:cNvSpPr/>
          <p:nvPr/>
        </p:nvSpPr>
        <p:spPr>
          <a:xfrm>
            <a:off x="7854645"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6" name="Text 13"/>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terminale: parlare al computer per iscritto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853807"/>
                <a:gridCol w="3120304"/>
                <a:gridCol w="31203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macOS e Linux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Windows PowerShell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vedere in quale cartella siete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pwd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pwd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elencare i file della cartella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dir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entrare nella cartella 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PRG32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PRG32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risalire di una cartella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tornare alla cartella personale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fermare il programma in esecuzione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Ctrl+C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Ctrl+C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Scrivete il comando dopo il prompt e premete Invio. Ogni comando di questa lezione si dà così.</a:t>
            </a:r>
            <a:endParaRPr lang="en-US" sz="1500" dirty="0"/>
          </a:p>
        </p:txBody>
      </p:sp>
      <p:sp>
        <p:nvSpPr>
          <p:cNvPr id="5" name="Shape 2"/>
          <p:cNvSpPr/>
          <p:nvPr/>
        </p:nvSpPr>
        <p:spPr>
          <a:xfrm>
            <a:off x="8532190" y="91440"/>
            <a:ext cx="3110865" cy="274320"/>
          </a:xfrm>
          <a:prstGeom prst="rect">
            <a:avLst/>
          </a:prstGeom>
          <a:solidFill>
            <a:srgbClr val="FEF3C7"/>
          </a:solidFill>
          <a:ln w="12700">
            <a:solidFill>
              <a:srgbClr val="B45309"/>
            </a:solidFill>
            <a:prstDash val="solid"/>
          </a:ln>
        </p:spPr>
      </p:sp>
      <p:sp>
        <p:nvSpPr>
          <p:cNvPr id="6" name="Shape 3"/>
          <p:cNvSpPr/>
          <p:nvPr/>
        </p:nvSpPr>
        <p:spPr>
          <a:xfrm>
            <a:off x="8532190" y="91440"/>
            <a:ext cx="27432" cy="274320"/>
          </a:xfrm>
          <a:prstGeom prst="rect">
            <a:avLst/>
          </a:prstGeom>
          <a:solidFill>
            <a:srgbClr val="B45309"/>
          </a:solidFill>
          <a:ln w="12700">
            <a:solidFill>
              <a:srgbClr val="B45309"/>
            </a:solidFill>
            <a:prstDash val="solid"/>
          </a:ln>
        </p:spPr>
      </p:sp>
      <p:sp>
        <p:nvSpPr>
          <p:cNvPr id="7" name="Shape 4"/>
          <p:cNvSpPr/>
          <p:nvPr/>
        </p:nvSpPr>
        <p:spPr>
          <a:xfrm>
            <a:off x="858705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660206" y="128016"/>
            <a:ext cx="201168" cy="201168"/>
          </a:xfrm>
          <a:prstGeom prst="rect">
            <a:avLst/>
          </a:prstGeom>
        </p:spPr>
      </p:pic>
      <p:sp>
        <p:nvSpPr>
          <p:cNvPr id="9" name="Text 5"/>
          <p:cNvSpPr txBox="1"/>
          <p:nvPr/>
        </p:nvSpPr>
        <p:spPr>
          <a:xfrm>
            <a:off x="8916238" y="91440"/>
            <a:ext cx="269024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terminale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ciò che il computer risponde</a:t>
            </a:r>
            <a:endParaRPr lang="en-US" sz="3200" dirty="0"/>
          </a:p>
        </p:txBody>
      </p:sp>
      <p:sp>
        <p:nvSpPr>
          <p:cNvPr id="3" name="Shape 1"/>
          <p:cNvSpPr/>
          <p:nvPr/>
        </p:nvSpPr>
        <p:spPr>
          <a:xfrm>
            <a:off x="548640" y="147726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Un percorso nomina un file attraverso le cartelle che vi conducono: ~/PRG32/examples/pong.S, dove ~ è la cartella personale</a:t>
            </a:r>
            <a:endParaRPr lang="en-US" sz="1600" dirty="0"/>
          </a:p>
        </p:txBody>
      </p:sp>
      <p:sp>
        <p:nvSpPr>
          <p:cNvPr id="5" name="Shape 3"/>
          <p:cNvSpPr/>
          <p:nvPr/>
        </p:nvSpPr>
        <p:spPr>
          <a:xfrm>
            <a:off x="548640" y="23936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33752"/>
            <a:ext cx="6565392"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Un repository è una cartella di codice sorgente di cui git conserva la storia; git clone ne copia uno da Internet al portatile</a:t>
            </a:r>
            <a:endParaRPr lang="en-US" sz="1600" dirty="0"/>
          </a:p>
        </p:txBody>
      </p:sp>
      <p:sp>
        <p:nvSpPr>
          <p:cNvPr id="7" name="Shape 5"/>
          <p:cNvSpPr/>
          <p:nvPr/>
        </p:nvSpPr>
        <p:spPr>
          <a:xfrm>
            <a:off x="548640" y="331012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50184"/>
            <a:ext cx="6565392"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Un comando riuscito spesso stampa poco o nulla; uno fallito stampa un messaggio: leggetelo tutto prima di fare qualsiasi cosa</a:t>
            </a:r>
            <a:endParaRPr lang="en-US" sz="1600" dirty="0"/>
          </a:p>
        </p:txBody>
      </p:sp>
      <p:sp>
        <p:nvSpPr>
          <p:cNvPr id="9" name="Shape 7"/>
          <p:cNvSpPr/>
          <p:nvPr/>
        </p:nvSpPr>
        <p:spPr>
          <a:xfrm>
            <a:off x="548640" y="42265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66616"/>
            <a:ext cx="6565392" cy="200558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Quattro messaggi che incontrerete questa settimana</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command not found: il programma non è installato, o non è attivo in questo terminale</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No such file or directory: cartella o nome sbagliati; controllate con pwd e ls</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Permission denied: mancano i permessi; su Linux un'installazione richiede sudo</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Connection refused: il programma a cui vi rivolgete, come PRG32-QT, non è in esecuzione</a:t>
            </a:r>
            <a:endParaRPr lang="en-US" sz="1600" dirty="0"/>
          </a:p>
        </p:txBody>
      </p:sp>
      <p:sp>
        <p:nvSpPr>
          <p:cNvPr id="11" name="Shape 9"/>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2" name="Text 10"/>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Un comando, e la risposta</a:t>
            </a:r>
            <a:endParaRPr lang="en-US" sz="1800" dirty="0"/>
          </a:p>
        </p:txBody>
      </p:sp>
      <p:sp>
        <p:nvSpPr>
          <p:cNvPr id="13" name="Text 11"/>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 python3 -m prg32 doctor</a:t>
            </a: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bash: python3: command not found</a:t>
            </a:r>
            <a:endParaRPr lang="en-US" sz="1900" dirty="0"/>
          </a:p>
        </p:txBody>
      </p:sp>
      <p:sp>
        <p:nvSpPr>
          <p:cNvPr id="14" name="Shape 12"/>
          <p:cNvSpPr/>
          <p:nvPr/>
        </p:nvSpPr>
        <p:spPr>
          <a:xfrm>
            <a:off x="8532190" y="91440"/>
            <a:ext cx="3110865" cy="274320"/>
          </a:xfrm>
          <a:prstGeom prst="rect">
            <a:avLst/>
          </a:prstGeom>
          <a:solidFill>
            <a:srgbClr val="FEF3C7"/>
          </a:solidFill>
          <a:ln w="12700">
            <a:solidFill>
              <a:srgbClr val="B45309"/>
            </a:solidFill>
            <a:prstDash val="solid"/>
          </a:ln>
        </p:spPr>
      </p:sp>
      <p:sp>
        <p:nvSpPr>
          <p:cNvPr id="15" name="Shape 13"/>
          <p:cNvSpPr/>
          <p:nvPr/>
        </p:nvSpPr>
        <p:spPr>
          <a:xfrm>
            <a:off x="8532190" y="91440"/>
            <a:ext cx="27432" cy="274320"/>
          </a:xfrm>
          <a:prstGeom prst="rect">
            <a:avLst/>
          </a:prstGeom>
          <a:solidFill>
            <a:srgbClr val="B45309"/>
          </a:solidFill>
          <a:ln w="12700">
            <a:solidFill>
              <a:srgbClr val="B45309"/>
            </a:solidFill>
            <a:prstDash val="solid"/>
          </a:ln>
        </p:spPr>
      </p:sp>
      <p:sp>
        <p:nvSpPr>
          <p:cNvPr id="16" name="Shape 14"/>
          <p:cNvSpPr/>
          <p:nvPr/>
        </p:nvSpPr>
        <p:spPr>
          <a:xfrm>
            <a:off x="8587054"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8660206" y="128016"/>
            <a:ext cx="201168" cy="201168"/>
          </a:xfrm>
          <a:prstGeom prst="rect">
            <a:avLst/>
          </a:prstGeom>
        </p:spPr>
      </p:pic>
      <p:sp>
        <p:nvSpPr>
          <p:cNvPr id="18" name="Text 15"/>
          <p:cNvSpPr txBox="1"/>
          <p:nvPr/>
        </p:nvSpPr>
        <p:spPr>
          <a:xfrm>
            <a:off x="8916238" y="91440"/>
            <a:ext cx="269024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terminale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runtime, formato di file, insieme di strumenti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piattaforma open source per insegnare l'assembly RISC-V e il C, sviluppata alla Parthenope</a:t>
            </a:r>
            <a:endParaRPr lang="en-US" sz="1900" dirty="0"/>
          </a:p>
        </p:txBody>
      </p:sp>
      <p:sp>
        <p:nvSpPr>
          <p:cNvPr id="5" name="Shape 3"/>
          <p:cNvSpPr/>
          <p:nvPr/>
        </p:nvSpPr>
        <p:spPr>
          <a:xfrm>
            <a:off x="548640" y="236012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6941"/>
            <a:ext cx="6565392" cy="217601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Quattro cose, un nome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 firmware residente: il programma che possiede schermo, pulsanti e suono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 formato di cartuccia: il vostro gioco in un solo piccolo file, .prg32</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uno strumento sul portatile: python3 -m prg32 compila, carica, impacchetta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 Cartridge Store: dove si condividono i giochi finiti</a:t>
            </a:r>
            <a:endParaRPr lang="en-US" sz="1900" dirty="0"/>
          </a:p>
        </p:txBody>
      </p:sp>
      <p:sp>
        <p:nvSpPr>
          <p:cNvPr id="7" name="Shape 5"/>
          <p:cNvSpPr/>
          <p:nvPr/>
        </p:nvSpPr>
        <p:spPr>
          <a:xfrm>
            <a:off x="548640" y="48069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723807"/>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vostro codice gira come vero codice macchina RISC-V a 32 bit, RV32IMAC</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contratto tra il vostro gioco e il runtime è fatto di tre funzioni: init, update, draw</a:t>
            </a:r>
            <a:endParaRPr lang="en-US" sz="1900" dirty="0"/>
          </a:p>
        </p:txBody>
      </p:sp>
      <p:pic>
        <p:nvPicPr>
          <p:cNvPr id="11" name="Image 0" descr="/Users/raffaelemontella/devel/riscv-prg32/computer-architecture-with-prg32/tools/assets/prg32_logo.png">    </p:cNvPr>
          <p:cNvPicPr>
            <a:picLocks noChangeAspect="1"/>
          </p:cNvPicPr>
          <p:nvPr/>
        </p:nvPicPr>
        <p:blipFill>
          <a:blip r:embed="rId1"/>
          <a:stretch>
            <a:fillRect/>
          </a:stretch>
        </p:blipFill>
        <p:spPr>
          <a:xfrm>
            <a:off x="7863840" y="2385155"/>
            <a:ext cx="3779215" cy="236201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github.com/riscv-prg32/PRG32</a:t>
            </a:r>
            <a:endParaRPr lang="en-US" sz="1200" dirty="0"/>
          </a:p>
        </p:txBody>
      </p:sp>
      <p:sp>
        <p:nvSpPr>
          <p:cNvPr id="13" name="Shape 10"/>
          <p:cNvSpPr/>
          <p:nvPr/>
        </p:nvSpPr>
        <p:spPr>
          <a:xfrm>
            <a:off x="7854645" y="91440"/>
            <a:ext cx="3788410" cy="274320"/>
          </a:xfrm>
          <a:prstGeom prst="rect">
            <a:avLst/>
          </a:prstGeom>
          <a:solidFill>
            <a:srgbClr val="E0F2FE"/>
          </a:solidFill>
          <a:ln w="12700">
            <a:solidFill>
              <a:srgbClr val="0369A1"/>
            </a:solidFill>
            <a:prstDash val="solid"/>
          </a:ln>
        </p:spPr>
      </p:sp>
      <p:sp>
        <p:nvSpPr>
          <p:cNvPr id="14" name="Shape 11"/>
          <p:cNvSpPr/>
          <p:nvPr/>
        </p:nvSpPr>
        <p:spPr>
          <a:xfrm>
            <a:off x="7854645"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6" name="Text 12"/>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vostro file allo schermo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il vostro sorgente: assembly o C</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compilatore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la toolchain RISC-V lo trasforma in codice macchina</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verm1.prg32</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una cartuccia: codice, dati, un'intestazione</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caricamento</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via rete, verso un host</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runtime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chiama init, update, draw</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I primi tre riquadri stanno sul vostro portatile e richiedono il livello 2. Gli ultimi due sono un host: PRG32-QT, QEMU o la scheda.</a:t>
            </a:r>
            <a:endParaRPr lang="en-US" sz="2000" dirty="0"/>
          </a:p>
        </p:txBody>
      </p:sp>
      <p:sp>
        <p:nvSpPr>
          <p:cNvPr id="24" name="Shape 22"/>
          <p:cNvSpPr/>
          <p:nvPr/>
        </p:nvSpPr>
        <p:spPr>
          <a:xfrm>
            <a:off x="7854645" y="91440"/>
            <a:ext cx="3788410" cy="274320"/>
          </a:xfrm>
          <a:prstGeom prst="rect">
            <a:avLst/>
          </a:prstGeom>
          <a:solidFill>
            <a:srgbClr val="E0F2FE"/>
          </a:solidFill>
          <a:ln w="12700">
            <a:solidFill>
              <a:srgbClr val="0369A1"/>
            </a:solidFill>
            <a:prstDash val="solid"/>
          </a:ln>
        </p:spPr>
      </p:sp>
      <p:sp>
        <p:nvSpPr>
          <p:cNvPr id="25" name="Shape 23"/>
          <p:cNvSpPr/>
          <p:nvPr/>
        </p:nvSpPr>
        <p:spPr>
          <a:xfrm>
            <a:off x="7854645"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27" name="Text 2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kit: una console su breadboard</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Espressif ESP32-C6: un core RISC-V a 160 MHz, con Wi-Fi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display a colori da 2,8 pollici, 320 per 240 pixel: i giochi disegnano in un'area di 320 per 200</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Uno o due piccoli amplificatori audio, un joystick e dei pulsanti, collegati direttamente ai piedini del chip</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gioco arriva via Wi-Fi: la scheda crea una rete di nome PRG32, e voi le caricate la cartuccia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Non serve per seguire il corso: tutto gira sul vostro portatile</a:t>
            </a:r>
            <a:endParaRPr lang="en-US" sz="21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kit PRG32 su breadboard</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Tre modi di eseguire la stessa cartuccia</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Scheda 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QEMU di 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PRG32-QT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Come gira il codice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modo nativo sul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modo nativo su un ESP32-C3 emulato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RV32IMAC interpretato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Serve una toolchain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sì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sì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no, per giocare e fare debug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La cartuccia arriva con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caricamento Wi-Fi,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copia nell'immagine della flash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importazione di file, Store, caricamento HTTP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Esecuzione passo-passo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 JTAG e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debugger integrato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Gira su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il kit hardware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Windows, Linux, macOS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desktop, Raspberry Pi, iOS, Android, TV</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Il file della cartuccia è lo stesso in ogni colonna.</a:t>
            </a:r>
            <a:endParaRPr lang="en-US" sz="1500" dirty="0"/>
          </a:p>
        </p:txBody>
      </p:sp>
      <p:sp>
        <p:nvSpPr>
          <p:cNvPr id="5" name="Shape 2"/>
          <p:cNvSpPr/>
          <p:nvPr/>
        </p:nvSpPr>
        <p:spPr>
          <a:xfrm>
            <a:off x="7854645" y="91440"/>
            <a:ext cx="3788410" cy="274320"/>
          </a:xfrm>
          <a:prstGeom prst="rect">
            <a:avLst/>
          </a:prstGeom>
          <a:solidFill>
            <a:srgbClr val="E0F2FE"/>
          </a:solidFill>
          <a:ln w="12700">
            <a:solidFill>
              <a:srgbClr val="0369A1"/>
            </a:solidFill>
            <a:prstDash val="solid"/>
          </a:ln>
        </p:spPr>
      </p:sp>
      <p:sp>
        <p:nvSpPr>
          <p:cNvPr id="6" name="Shape 3"/>
          <p:cNvSpPr/>
          <p:nvPr/>
        </p:nvSpPr>
        <p:spPr>
          <a:xfrm>
            <a:off x="785464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8" name="Text 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la console sul vostro portatile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Un'applicazione per Windows, macOS, Linux, Raspberry Pi, telefoni, tablet e televisori</a:t>
            </a:r>
            <a:endParaRPr lang="en-US" sz="1900" dirty="0"/>
          </a:p>
        </p:txBody>
      </p:sp>
      <p:sp>
        <p:nvSpPr>
          <p:cNvPr id="5" name="Shape 3"/>
          <p:cNvSpPr/>
          <p:nvPr/>
        </p:nvSpPr>
        <p:spPr>
          <a:xfrm>
            <a:off x="548640" y="22666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3511"/>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Contiene un interprete di RV32IMAC: esegue la vostra cartuccia istruzione per istruzione, e le offre le stesse funzioni del firmware</a:t>
            </a:r>
            <a:endParaRPr lang="en-US" sz="1900" dirty="0"/>
          </a:p>
        </p:txBody>
      </p:sp>
      <p:sp>
        <p:nvSpPr>
          <p:cNvPr id="7" name="Shape 5"/>
          <p:cNvSpPr/>
          <p:nvPr/>
        </p:nvSpPr>
        <p:spPr>
          <a:xfrm>
            <a:off x="548640" y="33272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44088"/>
            <a:ext cx="5468112"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Tre velocità, in Settings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Accurate: temporizzata come l'ESP32-C6, è quella predefinita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Optimal: 30 frame al secondo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Unlimited: veloce quanto il vostro portatile</a:t>
            </a:r>
            <a:endParaRPr lang="en-US" sz="1900" dirty="0"/>
          </a:p>
        </p:txBody>
      </p:sp>
      <p:sp>
        <p:nvSpPr>
          <p:cNvPr id="9" name="Shape 7"/>
          <p:cNvSpPr/>
          <p:nvPr/>
        </p:nvSpPr>
        <p:spPr>
          <a:xfrm>
            <a:off x="548640" y="49004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17237"/>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navigatore dello Store, per scaricare ed eseguire le cartucce pubblicate</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debugger: assembly, registri, memoria, breakpoint, un'istruzione alla volta</a:t>
            </a:r>
            <a:endParaRPr lang="en-US" sz="1900" dirty="0"/>
          </a:p>
        </p:txBody>
      </p:sp>
      <p:pic>
        <p:nvPicPr>
          <p:cNvPr id="13" name="Image 0" descr="/Users/raffaelemontella/devel/riscv-prg32/computer-architecture-with-prg32/tools/assets/prg32qt_player.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che esegue una cartuccia</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comandi, sulla tastiera</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01616"/>
                <a:gridCol w="3925716"/>
                <a:gridCol w="426708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Sul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 freccia, oppure W A S 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gli stessi, battuti nel terminale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Pulsante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oppure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oppure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Pulsante 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oppure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oppure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Start /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Invio oppure Spazio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Invio oppure Spazio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Uscire dal gioco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Esc: si torna a Setup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chiudere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54645" y="91440"/>
            <a:ext cx="3788410" cy="274320"/>
          </a:xfrm>
          <a:prstGeom prst="rect">
            <a:avLst/>
          </a:prstGeom>
          <a:solidFill>
            <a:srgbClr val="E0F2FE"/>
          </a:solidFill>
          <a:ln w="12700">
            <a:solidFill>
              <a:srgbClr val="0369A1"/>
            </a:solidFill>
            <a:prstDash val="solid"/>
          </a:ln>
        </p:spPr>
      </p:sp>
      <p:sp>
        <p:nvSpPr>
          <p:cNvPr id="5" name="Shape 2"/>
          <p:cNvSpPr/>
          <p:nvPr/>
        </p:nvSpPr>
        <p:spPr>
          <a:xfrm>
            <a:off x="785464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7" name="Text 3"/>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Un'idea dietro ogni installazione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compilatore per la famiglia ESP32 arriva con ESP-IDF, il kit di sviluppo di Espressif</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richiede ESP-IDF 5.4 o successivo, installato per due chip: esp32c6, il kit, ed esp32c3, l'emulatore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ESP-IDF non è attivo da solo: ogni nuovo terminale deve attivarlo prima che gli strumenti funzionino</a:t>
            </a:r>
            <a:endParaRPr lang="en-US" sz="2200" dirty="0"/>
          </a:p>
        </p:txBody>
      </p:sp>
      <p:sp>
        <p:nvSpPr>
          <p:cNvPr id="9" name="Shape 7"/>
          <p:cNvSpPr/>
          <p:nvPr/>
        </p:nvSpPr>
        <p:spPr>
          <a:xfrm>
            <a:off x="548640" y="474903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261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Poi un solo comando fa tutto: python3 -m prg32</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Quasi tutti i problemi di installazione sono ESP-IDF non attivo nel terminale in cui state scrivendo</a:t>
            </a:r>
            <a:endParaRPr lang="en-US" sz="22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Il messaggio che incontrerete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idf.py: command not found</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ESP-IDF non è attivo in questo terminale. Attivatelo e riprovate.</a:t>
            </a:r>
            <a:endParaRPr lang="en-US" sz="1900" dirty="0"/>
          </a:p>
        </p:txBody>
      </p:sp>
      <p:sp>
        <p:nvSpPr>
          <p:cNvPr id="16" name="Shape 14"/>
          <p:cNvSpPr/>
          <p:nvPr/>
        </p:nvSpPr>
        <p:spPr>
          <a:xfrm>
            <a:off x="7875600" y="91440"/>
            <a:ext cx="3767455" cy="274320"/>
          </a:xfrm>
          <a:prstGeom prst="rect">
            <a:avLst/>
          </a:prstGeom>
          <a:solidFill>
            <a:srgbClr val="FEF3C7"/>
          </a:solidFill>
          <a:ln w="12700">
            <a:solidFill>
              <a:srgbClr val="B45309"/>
            </a:solidFill>
            <a:prstDash val="solid"/>
          </a:ln>
        </p:spPr>
      </p:sp>
      <p:sp>
        <p:nvSpPr>
          <p:cNvPr id="17" name="Shape 15"/>
          <p:cNvSpPr/>
          <p:nvPr/>
        </p:nvSpPr>
        <p:spPr>
          <a:xfrm>
            <a:off x="7875600" y="91440"/>
            <a:ext cx="27432" cy="274320"/>
          </a:xfrm>
          <a:prstGeom prst="rect">
            <a:avLst/>
          </a:prstGeom>
          <a:solidFill>
            <a:srgbClr val="B45309"/>
          </a:solidFill>
          <a:ln w="12700">
            <a:solidFill>
              <a:srgbClr val="B45309"/>
            </a:solidFill>
            <a:prstDash val="solid"/>
          </a:ln>
        </p:spPr>
      </p:sp>
      <p:sp>
        <p:nvSpPr>
          <p:cNvPr id="18" name="Shape 16"/>
          <p:cNvSpPr/>
          <p:nvPr/>
        </p:nvSpPr>
        <p:spPr>
          <a:xfrm>
            <a:off x="7930464" y="91440"/>
            <a:ext cx="27432" cy="274320"/>
          </a:xfrm>
          <a:prstGeom prst="rect">
            <a:avLst/>
          </a:prstGeom>
          <a:solidFill>
            <a:srgbClr val="B45309"/>
          </a:solidFill>
          <a:ln w="12700">
            <a:solidFill>
              <a:srgbClr val="B45309"/>
            </a:solidFill>
            <a:prstDash val="solid"/>
          </a:ln>
        </p:spPr>
      </p:sp>
      <p:pic>
        <p:nvPicPr>
          <p:cNvPr id="19"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0" name="Text 17"/>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Risoluzione dei problemi</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oppure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riscv32-esp-elf-gcc mancante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 compilatori non sono stati installati, o non sono attivi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./install.sh esp32c3,esp32c6, poi export.sh</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No module named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non siete nella cartella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cd nella cartella che avete clonato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PRG32-QT non è in esecuzione, o un firewall blocca la porta 8080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avviatelo; consentitelo;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macOS non apre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l'applicazione viene da fuori dell'App 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 destro, Apri; oppure Privacy e sicurezza, Apri comunque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Linux: PRG32 non parte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Qt di sistema è più vecchio della 6.5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distribuzione più recente, o compilare da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cliccate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Pronti per la Lezione 02?</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8192799"/>
                <a:gridCol w="2218883"/>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Verifica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 parte ed esegue un gioco dello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passo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un nuovo terminale, dopo aver attivato ESP-IDF, doctor mostra solo 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passo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build produce pong.prg32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passo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upload-and-run lo avvia 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passo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modalità debug, pausa e passo funzionano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passo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nuovo terminale, python3 -m prg32 doctor dice: idf.py missing. Qual è la causa più probabile?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va installato di nuovo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non è attivo in questo terminale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 non è in esecuzione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scheda non è collegata</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host permette di eseguire una cartuccia e farne il debug senza installare un compilatore?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scheda ESP32-C6</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nessuno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lo stesso pong.prg32 gira sulla scheda, su QEMU e su PRG32-QT?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viene ricompilato a ogni avvio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contiene tre programmi</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chiama il runtime attraverso la stessa tabella di funzioni su ogni host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 lo traduce in C</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fa un assemblatore?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esegue il programma sul processore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traduce il sorgente assembly in codice macchina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invia la cartuccia a un host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mostra i registri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375"/>
                <a:gridCol w="3328325"/>
                <a:gridCol w="2060391"/>
                <a:gridCol w="332832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toolchain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catena di strumenti di sviluppo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ambiente di esecuzione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 build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compilare (costruire)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to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scrivere nella memoria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macchina ospite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punto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Riepilogo e letture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è un runtime, un formato di cartuccia, uno strumento e uno Store; una cartuccia gira invariata sulla scheda, su QEMU e su PRG32-QT</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basta per giocare e fare debug; ESP-IDF e il repository di PRG32 servono per compilare</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ESP-IDF va attivato in ogni nuovo terminale: ricordatelo e la maggior parte dei problemi sparisce</a:t>
            </a:r>
            <a:endParaRPr lang="en-US" sz="2200" dirty="0"/>
          </a:p>
        </p:txBody>
      </p:sp>
      <p:sp>
        <p:nvSpPr>
          <p:cNvPr id="9" name="Shape 7"/>
          <p:cNvSpPr/>
          <p:nvPr/>
        </p:nvSpPr>
        <p:spPr>
          <a:xfrm>
            <a:off x="548640" y="408959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8316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Avete compilato una cartuccia, l'avete inviata a PRG32-QT e l'avete fermata nel debugger: il ciclo di tutto il corso</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Letture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e docs/usage di github.com/riscv-prg32/PRG32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e docs di github.com/riscv-prg32/PRG32-QT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i capitoli sull'installazione e su PRG32-QT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PRG32 e PRG32-QT: allestire la propria officina</dc:title>
  <dc:subject>Lezione 01</dc:subject>
  <dc:creator>Raffaele Montella</dc:creator>
  <cp:lastModifiedBy>Raffaele Montella</cp:lastModifiedBy>
  <cp:revision>1</cp:revision>
  <dcterms:created xsi:type="dcterms:W3CDTF">2026-10-17T07:16:49Z</dcterms:created>
  <dcterms:modified xsi:type="dcterms:W3CDTF">2026-10-17T07:16:49Z</dcterms:modified>
</cp:coreProperties>
</file>