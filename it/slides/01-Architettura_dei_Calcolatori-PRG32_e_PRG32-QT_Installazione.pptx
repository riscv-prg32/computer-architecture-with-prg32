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b2f3297d-5be0-037f-515f-e05c71b4cbfd}">
          <p14:sldIdLst>
            <p14:sldId id="256"/>
            <p14:sldId id="257"/>
            <p14:sldId id="258"/>
          </p14:sldIdLst>
        </p14:section>
        <p14:section name="La piattaforma, in dettaglio" id="{899984a8-7c21-013d-579a-ab07ec35d43c}">
          <p14:sldIdLst>
            <p14:sldId id="259"/>
            <p14:sldId id="260"/>
            <p14:sldId id="261"/>
            <p14:sldId id="262"/>
            <p14:sldId id="263"/>
            <p14:sldId id="264"/>
          </p14:sldIdLst>
        </p14:section>
        <p14:section name="Passo 2: installare la toolchain" id="{c5881b03-3974-0707-c20f-c3ae1ef17b2e}">
          <p14:sldIdLst>
            <p14:sldId id="265"/>
          </p14:sldIdLst>
        </p14:section>
        <p14:section name="Quando qualcosa non funziona" id="{d03d73d8-4592-6160-c5dd-ac967c0a8d80}">
          <p14:sldIdLst>
            <p14:sldId id="266"/>
            <p14:sldId id="267"/>
            <p14:sldId id="268"/>
            <p14:sldId id="269"/>
            <p14:sldId id="270"/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Questa lezione è un'officina in entrambi i sensi della parola: una sessione di lavoro pratico, e il luogo in cui si svolgerà tutto il lavoro successivo. Non contiene teoria. Il suo esito è un ambiente configurato: PRG32-QT in funzione sul portatile dello studente, la toolchain RISC-V installata e verificata, e una prima cartuccia compilata dallo studente e fermata nel debugger. La citazione sull'affilare l'ascia giustifica le due ore dedicate agli strumenti: ogni lezione successiva presuppone che compilare ed eseguire un programma costi un solo comando e pochi secondi, così che l'attenzione vada alle idee e non alla procedura.
Stato di apprendimento: DA COMPRENDERE OGGI, alla fine di questa lezione lo spiegate, lo seguite passo passo e lo applicate da soli; DA UTILIZZARE OGGI, oggi seguite e usate la ricetta; come funziona dentro si spiega più avanti, o non fa parte del corso; DA COMPRENDERE PIÙ AVANTI, riconoscete il nome e lo scopo; lo spiega una lezione successiva. Una slide senza etichetta è contesto: una storia, un esempio, una domanda, un esercizio.
Stato di apprendimento di questa lezione. DA COMPRENDERE OGGI: i componenti di PRG32. DA UTILIZZARE OGGI: gli strumenti di PRG32, il debugger di PRG32-QT, il programma completo (si usa, non si studia, in questo corso). DA COMPRENDERE PIÙ AVANTI: contratto init/update/draw (Lezione 02); i registri (Lezione 02). Una slide senza etichetta è contesto: una storia, un esempio, una domanda, un esercizio.
Per il docente: Novità del 2026/27: una lezione pratica. Gli studenti portano il portatile; alla fine ognuno ha PRG32-QT funzionante e una cartuccia compilata con la propria toolchain. I passi vengono dal README di PRG32, dalla documentazione di PRG32-QT e dal capitolo 3 del libro di PRG32. I comandi del passo 3 sono stati eseguiti su macOS con PRG32-QT; le installazioni su Windows e Linux seguono le istruzioni ufficiali e non sono state eseguite per queste slide. Chiedere agli studenti di fare a casa, prima della lezione, il lungo scaricamento del passo 2: la rete dell'aula non regge sessanta copie di ESP-IDF. I numeri di versione sono quelli di ottobre 2026: controllare le pagine dei rilasci prima della lezione.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Cinque risultati, nell'ordine in cui si raggiungono: un quadro concettuale della piattaforma; PRG32-QT installato; la toolchain installata e verificata; una cartuccia compilata e fermata nel debugger; e un repertorio di rimedi ai guasti più comuni. L'elenco funziona anche da lista di controllo. I primi due risultati bastano per seguire il corso; il terzo e il quarto devono essere pronti prima della Lezione 02, in cui si scrive il primo programma.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L'installazione è stratificata in quattro livelli, non tutti necessari. Il livello 1, PRG32-QT, richiede circa cinque minuti e permette di giocare e fare il debug di qualsiasi cartuccia. Il livello 2, ESP-IDF insieme al repository di PRG32, è uno scaricamento consistente e permette di compilare cartucce; è richiesto a tutti prima della Lezione 02. Il livello 3, l'emulatore QEMU, e il livello 4, il kit fisico, sono facoltativi. La didascalia risponde a una preoccupazione importante di equità: l'intero corso si può seguire con i soli livelli 1 e 2, senza acquistare alcun hardware.
Per il docente: Il livello 1 richiede cinque minuti. Il livello 2 è uno scaricamento corposo e richiede da mezz'ora a un'ora: a casa, con una buona connessione. I livelli 3 e 4 sono per i curiosi, e per il laboratorio.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nome PRG32 designa quattro artefatti distinti. Un firmware: il programma residente che possiede lo schermo, i pulsanti e l'audio. Un formato di cartuccia: un gioco impacchettato in un solo piccolo file. Uno strumento sulla macchina di sviluppo, il comando python3 -m prg32, che compila, carica e impacchetta le cartucce. E uno Store, dove si pubblicano i giochi finiti. Il codice dello studente è vero codice macchina RISC-V a 32 bit, e interagisce con il firmware attraverso un contratto di tre funzioni: init, invocata una volta, e update e draw, invocate a ogni frame. La Lezione 02 prende questo contratto come punto di partenza.
DA COMPRENDERE OGGI: i componenti di PRG32.
Per il docente: github.com/riscv-prg32/PRG32. Il runtime chiama init una volta, poi update e draw a ogni frame: la Lezione 02 parte da questo contratto.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slide segue un programma lungo il suo ciclo di vita, da sinistra a destra. Si scrive un file sorgente in assembly o in C. La toolchain RISC-V lo traduce in codice macchina. Il risultato è una cartuccia: un file che contiene codice, dati e una breve intestazione. La cartuccia viene trasmessa in rete a un host, il cui runtime chiama poi i tre punti di ingresso. Le prime tre fasi avvengono sul portatile dello studente e richiedono il livello 2; le ultime due avvengono su un host, che può essere PRG32-QT, QEMU o la scheda. Lo stesso file gira su tutti e tre perché raggiunge il runtime in modo indiretto, attraverso una tabella di funzioni: l'interfaccia binaria, o ABI, di PRG32.
DA COMPRENDERE OGGI: i componenti di PRG32.
Per il docente: Il compilatore è riscv32-esp-elf-gcc, installato da ESP-IDF. La cartuccia viene caricata all'indirizzo 0x40800000 e raggiunge il runtime attraverso una tabella di funzioni, l'ABI: per questo lo stesso file gira su tre host diversi.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kit è una piccola console montata su breadboard. Il suo cuore è un Espressif ESP32-C6, un chip con un solo core RISC-V a 160 MHz e una radio Wi-Fi integrata. Intorno ci sono un display a colori da 2,8 pollici, uno o due amplificatori audio, un joystick e alcuni pulsanti, ciascuno collegato direttamente a un piedino del chip. Vanno distinti due numeri relativi allo schermo: il pannello ha 320 per 240 pixel, mentre i giochi disegnano in un'area di 320 per 200. Le cartucce raggiungono la scheda via Wi-Fi. Un kit personale non è necessario per seguire il corso; il laboratorio ne mette a disposizione alcuni.
DA COMPRENDERE OGGI: i componenti di PRG32.
Per il docente: Display: ILI9341 su SPI. Audio: MAX98357A su I2S. L'elenco dei componenti e i collegamenti sono in docs/hardware del repository di PRG32. Il laboratorio dispone di kit.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cartuccia, tre host, confrontati riga per riga. Sulla scheda e in QEMU il codice gira in modo nativo, rispettivamente su un chip fisico e su uno emulato; in PRG32-QT è interpretato, un'istruzione alla volta. La scheda e QEMU richiedono la toolchain, PRG32-QT no, né per giocare né per il debug. L'esecuzione passo-passo richiede strumenti aggiuntivi sui primi due host ed è integrata nel terzo. Ne segue un'utile regola pratica: la scheda è l'autorità sul tempo, PRG32-QT l'autorità sul contenuto di un registro.
DA COMPRENDERE OGGI: i componenti di PRG32.
Per il docente: Usate la scheda quando volete la verità sul tempo, e PRG32-QT quando volete la verità su un registro. Perché un ESP32-C3 in QEMU? Espressif mantiene per quel chip un emulatore maturo e con grafica; esegue le stesse istruzioni RISC-V, e la cartuccia non se ne accorge.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PRG32-QT è la console realizzata come applicazione: contiene un interprete dell'insieme di istruzioni RV32IMAC e offre alla cartuccia gli stessi servizi del firmware. Contano tre funzionalità. I profili di velocità in Settings: Accurate, il predefinito, che riproduce i tempi dell'ESP32-C6; Optimal, a trenta frame al secondo; e Unlimited. Il browser dello Store, che scarica ed esegue le cartucce pubblicate. E il debugger, che mostra il disassemblato, i registri e la memoria, ed esegue un'istruzione alla volta. Accurate è il profilo da tenere, perché rivela quando un programma sarebbe troppo lento sul chip reale.
DA COMPRENDERE OGGI: i componenti di PRG32.
Per il docente: github.com/riscv-prg32/PRG32-QT. Accurate addebita a ogni istruzione e a ogni chiamata un costo in cicli di un clock a 160 MHz: non è un modello esatto al ciclo del chip, ma è abbastanza vicino da far vedere quando un frame è in ritardo.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Sulla tastiera il joystick corrisponde ai tasti freccia o a W, A, S, D; il pulsante A a Z o J; il pulsante B a X o K; Start e Select a Invio o Spazio. In PRG32-QT, Esc esce dal gioco e torna a Setup. Una proprietà di QEMU sorprende regolarmente chi lo usa la prima volta: i tasti vanno premuti nel terminale da cui QEMU è stato avviato, non nella finestra che mostra l'immagine. Un gioco che in QEMU sembra non rispondere di solito richiede solo di dare il fuoco al terminale.
DA COMPRENDERE OGGI: i componenti di PRG32.
Per il docente: Un controller di gioco USB o Bluetooth viene riconosciuto da PRG32-QT appena lo si collega. QEMU legge la tastiera dal terminale che lo ha lanciato, non dalla finestra con l'immagine: la sorpresa classica.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Un'unica idea spiega ogni passo dell'installazione e quasi ogni guasto. Il compilatore è distribuito con ESP-IDF, l'ambiente di sviluppo di Espressif, installato per due chip: esp32c6, il kit, e esp32c3, il chip emulato. ESP-IDF, però, non è attivo da solo: ogni nuovo terminale deve attivarlo prima che i suoi strumenti si possano trovare. Il riquadro a destra mostra il messaggio che ogni studente prima o poi incontrerà, idf.py: command not found. Non indica un'installazione rotta; indica che ESP-IDF non è stato attivato nel terminale in uso.
DA UTILIZZARE OGGI: gli strumenti di PRG32 (si usa, non si studia, in questo corso).
Per il docente: Su Windows attivare significa aprire ESP-IDF PowerShell; su macOS e Linux, eseguire export.sh. Il sintomo è sempre lo stesso: idf.py, oppure riscv32-esp-elf-gcc, non trovato.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tabella si legge da sinistra a destra: sintomo, diagnosi, rimedio. La prima riga copre la maggior parte dei casi: idf.py: command not found significa che ESP-IDF non è attivo nel terminale corrente. No module named prg32 significa che il comando non è stato dato dalla cartella di PRG32. Una connessione rifiutata significa che PRG32-QT non è in esecuzione, o che un firewall blocca la porta 8080. Quando si chiede aiuto, comando e messaggio completo vanno forniti come testo: la fotografia di uno schermo non si può né cercare né copiare.
DA UTILIZZARE OGGI: gli strumenti di PRG32 (si usa, non si studia, in questo corso).
Per il docente: La prima riga copre la maggior parte dei casi. docs/usage/troubleshooting.md del repository di PRG32 ha l'elenco completo. Quando chiedete aiuto, incollate il comando e l'intero messaggio: mai una fotografia dello schermo.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Cinque verifiche, una per ogni passo compiuto: PRG32-QT esegue un gioco dello Store; in un terminale nuovo il doctor riporta solo OK; cartridge build produce pong.prg32; upload-and-run lo avvia; e in modalità debug pausa e passo funzionano. Per ogni verifica che non riesce, l'ultima colonna indica il passo da ripetere. Chi resta bloccato venga al ricevimento o in laboratorio, con il portatile, prima della Lezione 02.
Per il docente: Cinque spunte e l'officina è pronta. Chi è bloccato viene a ricevimento, o in laboratorio, prima della Lezione 02: con il portatile.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Prima di rispondere alla prima domanda conviene chiedersi che cosa implica "un nuovo terminale". Nulla è stato disinstallato, PRG32-QT non ha alcun ruolo in questo comando, e il doctor non ha bisogno di una scheda. L'attivazione dura solo quanto il terminale in cui è stata eseguita, quindi un terminale nuovo comincia senza di essa. Il rimedio è quello di ogni giorno: export.sh, o la PowerShell di ESP-IDF.
La seconda domanda separa due attività: compilare una cartuccia ed eseguirla. Il compilatore serve solo per la prima. La scheda e QEMU eseguono il firmware vero, che va a sua volta compilato; PRG32-QT interpreta la cartuccia e ha il suo debugger, ed è quindi l'unico host che non richiede altro.
Per il docente: 1. Risposta: B. L'attivazione dura quanto il terminale: eseguite export.sh, oppure aprite ESP-IDF PowerShell.
2. Risposta: C. PRG32-QT interpreta la cartuccia e ha un debugger integrato; il compilatore serve solo per compilare le cartucce.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cartuccia non viene ricompilata e non contiene tre programmi. Una cartuccia portabile non chiama il firmware a indirizzi fissi: chiama attraverso una tabella di funzioni, l'ABI, e ogni host fornisce la propria implementazione di quella tabella. È il significato dell'opzione --portable, e la ragione per cui il file è identico in ogni colonna della tabella che confronta i tre host. Il principio, un'interfaccia stabile che separa un programma dal sistema che lo esegue, tornerà più volte nel corso.
Per il docente: Risposta: C. Una cartuccia portabile dipende soltanto dall'ABI, la tabella di funzioni del runtime, che ogni host fornisce.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Dieci termini che ricorrono in ogni documento su PRG32, con l'italiano usato di solito in aula. Tre meritano particolare attenzione. Una toolchain è la sequenza di programmi che trasforma il codice sorgente in un eseguibile: compilatore, assemblatore e linker. Flashare significa scrivere un programma nella memoria flash di un chip. Un host è la macchina su cui gira una cartuccia: la scheda, QEMU o PRG32-QT.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Quattro proposizioni riassumono la lezione. PRG32 è un runtime, un formato di cartuccia, uno strumento e uno Store, e una cartuccia gira invariata su tre host. PRG32-QT basta per giocare e fare il debug; ESP-IDF e il repository servono per compilare. ESP-IDF va attivato in ogni nuovo terminale. E lo studente ha ora completato il ciclo su cui poggia l'intero corso: compilare, trasmettere, fermare nel debugger. Le letture consigliate sono i README dei due repository. La Lezione 02 usa questa officina per scrivere il primo programma in assembly.
Stato di apprendimento, riepilogo. DA COMPRENDERE OGGI: i componenti di PRG32. DA UTILIZZARE OGGI: gli strumenti di PRG32, il debugger di PRG32-QT, il programma completo (si usa, non si studia, in questo corso). DA COMPRENDERE PIÙ AVANTI: contratto init/update/draw (Lezione 02); i registri (Lezione 02). Una slide senza etichetta è contesto: una storia, un esempio, una domanda, un esercizio.
Per il docente: A seguire: Lezione 02, il primo programma in assembly RISC-V, scritto dagli studenti nell'officina appena allestita.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|  Lezione 01: Installazione di PRG32  |  A.A. 2026/27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68096" y="640080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" y="859536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859536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078992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6002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·  LEZIONE 01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011680"/>
            <a:ext cx="972281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PRG32 e PRG32-QT: allestire la propria officina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611880"/>
            <a:ext cx="9722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piattaforma in dettaglio, e l'installazione passo per passo su Windows, macOS e Linux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34340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“Datemi sei ore per abbattere un albero e passerò le prime quattro ad affilare l'ascia.”</a:t>
            </a:r>
            <a:endParaRPr lang="en-US" sz="1900" dirty="0"/>
          </a:p>
          <a:p>
            <a:pPr indent="0" marL="0">
              <a:buNone/>
            </a:pPr>
            <a:r>
              <a:rPr lang="en-US" sz="1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attribuita ad Abraham Lincoln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864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Raffaele Montella, PhD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Università degli Studi di Napoli “Parthenope”  ·  A.A. 2026/27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raffaelemontella.it  ·  raffaele.montella@uniparthenope.it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4693615" y="566928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della lezione. I listati, il programma completo e come provarlo sono nella presentazione del codice:</a:t>
            </a:r>
            <a:endParaRPr lang="en-US" sz="1300" dirty="0"/>
          </a:p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01-Architettura_dei_Calcolatori-PRG32_e_PRG32-QT_Installazione-Lab.pptx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625535" y="4160520"/>
            <a:ext cx="3017520" cy="2011680"/>
          </a:xfrm>
          <a:prstGeom prst="roundRect">
            <a:avLst>
              <a:gd name="adj" fmla="val 3636"/>
            </a:avLst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14" name="Image 0" descr="/Users/raffaelemontella/devel/riscv-prg32/computer-architecture-with-prg32/tools/assets/prg32qt_debugg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10277" y="4251960"/>
            <a:ext cx="2648036" cy="1828800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8910777" y="91440"/>
            <a:ext cx="2732278" cy="274320"/>
          </a:xfrm>
          <a:prstGeom prst="rect">
            <a:avLst/>
          </a:prstGeom>
          <a:solidFill>
            <a:srgbClr val="F3E8FF"/>
          </a:solidFill>
          <a:ln w="12700">
            <a:solidFill>
              <a:srgbClr val="7E22CE"/>
            </a:solidFill>
            <a:prstDash val="dash"/>
          </a:ln>
        </p:spPr>
      </p:sp>
      <p:sp>
        <p:nvSpPr>
          <p:cNvPr id="16" name="Shape 13"/>
          <p:cNvSpPr/>
          <p:nvPr/>
        </p:nvSpPr>
        <p:spPr>
          <a:xfrm>
            <a:off x="8938209" y="128016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938209" y="205740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938209" y="283464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38793" y="128016"/>
            <a:ext cx="201168" cy="201168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9294825" y="91440"/>
            <a:ext cx="23116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21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PIÙ AVANTI</a:t>
            </a:r>
            <a:endParaRPr lang="en-US" sz="1100" dirty="0"/>
          </a:p>
        </p:txBody>
      </p:sp>
      <p:sp>
        <p:nvSpPr>
          <p:cNvPr id="21" name="Shape 17"/>
          <p:cNvSpPr/>
          <p:nvPr/>
        </p:nvSpPr>
        <p:spPr>
          <a:xfrm>
            <a:off x="6675069" y="91440"/>
            <a:ext cx="2125980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67506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672993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3085" y="128016"/>
            <a:ext cx="201168" cy="201168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7059117" y="91440"/>
            <a:ext cx="17053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endParaRPr lang="en-US" sz="1100" dirty="0"/>
          </a:p>
        </p:txBody>
      </p:sp>
      <p:sp>
        <p:nvSpPr>
          <p:cNvPr id="26" name="Shape 21"/>
          <p:cNvSpPr/>
          <p:nvPr/>
        </p:nvSpPr>
        <p:spPr>
          <a:xfrm>
            <a:off x="4352747" y="91440"/>
            <a:ext cx="2212594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4352747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0763" y="128016"/>
            <a:ext cx="201168" cy="201168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4736795" y="91440"/>
            <a:ext cx="17919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 cosa avrete alla fine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3560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1417320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quadro chiaro dei pezzi di PRG32: runtime, cartuccia, strumenti, host, Store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51460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2496312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PRG32-QT installato sul portatile: potete giocare con qualunque cartuccia e guardarci dentro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59359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3575304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toolchain RISC-V installata e verificata: potete compilare cartucce vostre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67258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4654296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cartuccia compilata da voi, in esecuzione in PRG32-QT, ferma nel debugger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75157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5733288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elenco di che cosa fare quando qualcosa non funziona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Quattro livelli: installate ciò che vi serve</a:t>
            </a:r>
            <a:endParaRPr lang="en-US" sz="3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924535"/>
                <a:gridCol w="3361944"/>
                <a:gridCol w="4370527"/>
                <a:gridCol w="2437409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Livello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Installate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Potete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PRG32-QT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giocare con le cartucce, scaricarle dallo Store, usare il debugger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tutti, oggi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ESP-IDF e il repository di PRG32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compilare cartucce vostre da assembly o da C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tutti, prima della Lezione 02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l'emulatore QEMU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eseguire il vero firmware sul portatile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facoltativo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kit: una scheda ESP32-C6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eseguire su hardware reale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facoltativo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7607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corso si può seguire con i soli livelli 1 e 2. Non serve alcuna scheda.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PRG32: runtime, formato di file, insieme di strumenti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00505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6565392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piattaforma open source per insegnare l'assembly RISC-V e il C, sviluppata alla Parthenope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2360126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276941"/>
            <a:ext cx="6565392" cy="21760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Quattro cose, un nome</a:t>
            </a:r>
            <a:endParaRPr lang="en-US" sz="1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un firmware residente: il programma che possiede schermo, pulsanti e suono</a:t>
            </a:r>
            <a:endParaRPr lang="en-US" sz="1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un formato di cartuccia: il vostro gioco in un solo piccolo file, .prg32</a:t>
            </a:r>
            <a:endParaRPr lang="en-US" sz="1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uno strumento sul portatile: python3 -m prg32 compila, carica, impacchetta</a:t>
            </a:r>
            <a:endParaRPr lang="en-US" sz="1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un Cartridge Store: dove si condividono i giochi finiti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548640" y="4806992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4723807"/>
            <a:ext cx="6565392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vostro codice gira come vero codice macchina RISC-V a 32 bit, RV32IMAC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548640" y="5666613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5583428"/>
            <a:ext cx="6565392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contratto tra il vostro gioco e il runtime è fatto di tre funzioni: init, update, draw</a:t>
            </a:r>
            <a:endParaRPr lang="en-US" sz="1900" dirty="0"/>
          </a:p>
        </p:txBody>
      </p:sp>
      <p:pic>
        <p:nvPicPr>
          <p:cNvPr id="11" name="Image 0" descr="/Users/raffaelemontella/devel/riscv-prg32/computer-architecture-with-prg32/tools/assets/prg32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2385155"/>
            <a:ext cx="3779215" cy="2362010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7863840" y="5788152"/>
            <a:ext cx="37792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github.com/riscv-prg32/PRG32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7854645" y="91440"/>
            <a:ext cx="3788410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854645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2661" y="128016"/>
            <a:ext cx="201168" cy="201168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8238693" y="91440"/>
            <a:ext cx="33677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 componenti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Dal vostro file allo schermo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874520"/>
            <a:ext cx="1926275" cy="2468880"/>
          </a:xfrm>
          <a:prstGeom prst="roundRect">
            <a:avLst>
              <a:gd name="adj" fmla="val 379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2057400"/>
            <a:ext cx="1651955" cy="685800"/>
          </a:xfrm>
          <a:prstGeom prst="roundRect">
            <a:avLst>
              <a:gd name="adj" fmla="val 10667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verm1.S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880360"/>
            <a:ext cx="1651955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vostro sorgente: assembly o C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2520635" y="2962656"/>
            <a:ext cx="274320" cy="292608"/>
          </a:xfrm>
          <a:prstGeom prst="rightArrow">
            <a:avLst/>
          </a:prstGeom>
          <a:solidFill>
            <a:srgbClr val="5B6B78"/>
          </a:solidFill>
          <a:ln w="12700">
            <a:solidFill>
              <a:srgbClr val="5B6B7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40675" y="1874520"/>
            <a:ext cx="1926275" cy="2468880"/>
          </a:xfrm>
          <a:prstGeom prst="roundRect">
            <a:avLst>
              <a:gd name="adj" fmla="val 379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977835" y="2057400"/>
            <a:ext cx="1651955" cy="685800"/>
          </a:xfrm>
          <a:prstGeom prst="roundRect">
            <a:avLst>
              <a:gd name="adj" fmla="val 10667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compilatore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2977835" y="2880360"/>
            <a:ext cx="1651955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toolchain RISC-V lo trasforma in codice macchina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4812670" y="2962656"/>
            <a:ext cx="274320" cy="292608"/>
          </a:xfrm>
          <a:prstGeom prst="rightArrow">
            <a:avLst/>
          </a:prstGeom>
          <a:solidFill>
            <a:srgbClr val="5B6B78"/>
          </a:solidFill>
          <a:ln w="12700">
            <a:solidFill>
              <a:srgbClr val="5B6B7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32710" y="1874520"/>
            <a:ext cx="1926275" cy="2468880"/>
          </a:xfrm>
          <a:prstGeom prst="roundRect">
            <a:avLst>
              <a:gd name="adj" fmla="val 379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269870" y="2057400"/>
            <a:ext cx="1651955" cy="685800"/>
          </a:xfrm>
          <a:prstGeom prst="roundRect">
            <a:avLst>
              <a:gd name="adj" fmla="val 10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verm1.prg32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5269870" y="2880360"/>
            <a:ext cx="1651955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cartuccia: codice, dati, un'intestazione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7104705" y="2962656"/>
            <a:ext cx="274320" cy="292608"/>
          </a:xfrm>
          <a:prstGeom prst="rightArrow">
            <a:avLst/>
          </a:prstGeom>
          <a:solidFill>
            <a:srgbClr val="5B6B78"/>
          </a:solidFill>
          <a:ln w="12700">
            <a:solidFill>
              <a:srgbClr val="5B6B7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424745" y="1874520"/>
            <a:ext cx="1926275" cy="2468880"/>
          </a:xfrm>
          <a:prstGeom prst="roundRect">
            <a:avLst>
              <a:gd name="adj" fmla="val 379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561905" y="2057400"/>
            <a:ext cx="1651955" cy="685800"/>
          </a:xfrm>
          <a:prstGeom prst="roundRect">
            <a:avLst>
              <a:gd name="adj" fmla="val 10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caricamento</a:t>
            </a:r>
            <a:endParaRPr lang="en-US" sz="1900" dirty="0"/>
          </a:p>
        </p:txBody>
      </p:sp>
      <p:sp>
        <p:nvSpPr>
          <p:cNvPr id="17" name="Text 15"/>
          <p:cNvSpPr txBox="1"/>
          <p:nvPr/>
        </p:nvSpPr>
        <p:spPr>
          <a:xfrm>
            <a:off x="7561905" y="2880360"/>
            <a:ext cx="1651955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 rete, verso un host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9396740" y="2962656"/>
            <a:ext cx="274320" cy="292608"/>
          </a:xfrm>
          <a:prstGeom prst="rightArrow">
            <a:avLst/>
          </a:prstGeom>
          <a:solidFill>
            <a:srgbClr val="5B6B78"/>
          </a:solidFill>
          <a:ln w="12700">
            <a:solidFill>
              <a:srgbClr val="5B6B7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716780" y="1874520"/>
            <a:ext cx="1926275" cy="2468880"/>
          </a:xfrm>
          <a:prstGeom prst="roundRect">
            <a:avLst>
              <a:gd name="adj" fmla="val 379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853940" y="2057400"/>
            <a:ext cx="1651955" cy="685800"/>
          </a:xfrm>
          <a:prstGeom prst="roundRect">
            <a:avLst>
              <a:gd name="adj" fmla="val 10667"/>
            </a:avLst>
          </a:prstGeom>
          <a:solidFill>
            <a:srgbClr val="B23A48"/>
          </a:solidFill>
          <a:ln>
            <a:solidFill>
              <a:srgbClr val="B23A4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</a:t>
            </a:r>
            <a:endParaRPr lang="en-US" sz="1900" dirty="0"/>
          </a:p>
        </p:txBody>
      </p:sp>
      <p:sp>
        <p:nvSpPr>
          <p:cNvPr id="21" name="Text 19"/>
          <p:cNvSpPr txBox="1"/>
          <p:nvPr/>
        </p:nvSpPr>
        <p:spPr>
          <a:xfrm>
            <a:off x="9853940" y="2880360"/>
            <a:ext cx="1651955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chiama init, update, draw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548640" y="4709160"/>
            <a:ext cx="11094415" cy="1463040"/>
          </a:xfrm>
          <a:prstGeom prst="roundRect">
            <a:avLst>
              <a:gd name="adj" fmla="val 5000"/>
            </a:avLst>
          </a:prstGeom>
          <a:solidFill>
            <a:srgbClr val="D8ECEE"/>
          </a:solidFill>
          <a:ln w="12700">
            <a:solidFill>
              <a:srgbClr val="D8ECEE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22960" y="4800600"/>
            <a:ext cx="1054577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primi tre riquadri stanno sul vostro portatile e richiedono il livello 2. Gli ultimi due sono un host: PRG32-QT, QEMU o la scheda.</a:t>
            </a:r>
            <a:endParaRPr lang="en-US" sz="2000" dirty="0"/>
          </a:p>
        </p:txBody>
      </p:sp>
      <p:sp>
        <p:nvSpPr>
          <p:cNvPr id="24" name="Shape 22"/>
          <p:cNvSpPr/>
          <p:nvPr/>
        </p:nvSpPr>
        <p:spPr>
          <a:xfrm>
            <a:off x="7854645" y="91440"/>
            <a:ext cx="3788410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854645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2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82661" y="128016"/>
            <a:ext cx="201168" cy="201168"/>
          </a:xfrm>
          <a:prstGeom prst="rect">
            <a:avLst/>
          </a:prstGeom>
        </p:spPr>
      </p:pic>
      <p:sp>
        <p:nvSpPr>
          <p:cNvPr id="27" name="Text 24"/>
          <p:cNvSpPr txBox="1"/>
          <p:nvPr/>
        </p:nvSpPr>
        <p:spPr>
          <a:xfrm>
            <a:off x="8238693" y="91440"/>
            <a:ext cx="33677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 componenti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kit: una console su breadboard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15999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5468112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Espressif ESP32-C6: un core RISC-V a 160 MHz, con Wi-Fi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48640" y="229800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199323"/>
            <a:ext cx="5468112" cy="976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display a colori da 2,8 pollici, 320 per 240 pixel: i giochi disegnano in un'area di 320 per 200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548640" y="340537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306699"/>
            <a:ext cx="5468112" cy="976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Uno o due piccoli amplificatori audio, un joystick e dei pulsanti, collegati direttamente ai piedini del chip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548640" y="4512755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414076"/>
            <a:ext cx="5468112" cy="976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gioco arriva via Wi-Fi: la scheda crea una rete di nome PRG32, e voi le caricate la cartuccia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548640" y="5620131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521452"/>
            <a:ext cx="5468112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serve per seguire il corso: tutto gira sul vostro portatile</a:t>
            </a:r>
            <a:endParaRPr lang="en-US" sz="2100" dirty="0"/>
          </a:p>
        </p:txBody>
      </p:sp>
      <p:pic>
        <p:nvPicPr>
          <p:cNvPr id="13" name="Image 0" descr="/Users/raffaelemontella/devel/riscv-prg32/computer-architecture-with-prg32/tools/assets/kit_bread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0" y="1997906"/>
            <a:ext cx="4876495" cy="3136507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6766560" y="5788152"/>
            <a:ext cx="48764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kit PRG32 su breadboard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7854645" y="91440"/>
            <a:ext cx="3788410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854645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2661" y="128016"/>
            <a:ext cx="201168" cy="201168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8238693" y="91440"/>
            <a:ext cx="33677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 componenti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 modi di eseguire la stessa cartuccia</a:t>
            </a:r>
            <a:endParaRPr lang="en-US" sz="3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2000632"/>
                <a:gridCol w="2728135"/>
                <a:gridCol w="3091886"/>
                <a:gridCol w="327376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Scheda ESP32-C6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QEMU di Espressif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PRG32-QT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Come gira il codice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modo nativo sul chip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modo nativo su un ESP32-C3 emulato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codice RV32IMAC interpretato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Serve una toolchain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sì (ESP-IDF)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sì (ESP-IDF)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no, per giocare e fare debug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cartuccia arriva con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caricamento Wi-Fi, Store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copia nell'immagine della flash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importazione di file, Store, caricamento HTTP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Esecuzione passo-passo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JTAG e GDB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GDB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debugger integrato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Gira su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kit hardware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Windows, Linux, macOS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desktop, Raspberry Pi, iOS, Android, TV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7607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file della cartuccia è lo stesso in ogni colonna.</a:t>
            </a:r>
            <a:endParaRPr lang="en-US" sz="1500" dirty="0"/>
          </a:p>
        </p:txBody>
      </p:sp>
      <p:sp>
        <p:nvSpPr>
          <p:cNvPr id="5" name="Shape 2"/>
          <p:cNvSpPr/>
          <p:nvPr/>
        </p:nvSpPr>
        <p:spPr>
          <a:xfrm>
            <a:off x="7854645" y="91440"/>
            <a:ext cx="3788410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854645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82661" y="128016"/>
            <a:ext cx="201168" cy="20116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8238693" y="91440"/>
            <a:ext cx="33677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 componenti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PRG32-QT: la console sul vostro portatile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00505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5468112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Un'applicazione per Windows, macOS, Linux, Raspberry Pi, telefoni, tablet e televisori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2266696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183511"/>
            <a:ext cx="5468112" cy="8831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Contiene un interprete di RV32IMAC: esegue la vostra cartuccia istruzione per istruzione, e le offre le stesse funzioni del firmware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548640" y="3327273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244088"/>
            <a:ext cx="5468112" cy="139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 velocità, in Settings</a:t>
            </a:r>
            <a:endParaRPr lang="en-US" sz="1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Accurate: temporizzata come l'ESP32-C6, è quella predefinita</a:t>
            </a:r>
            <a:endParaRPr lang="en-US" sz="1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Optimal: 30 frame al secondo</a:t>
            </a:r>
            <a:endParaRPr lang="en-US" sz="1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Unlimited: veloce quanto il vostro portatile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548640" y="490042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817237"/>
            <a:ext cx="5468112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navigatore dello Store, per scaricare ed eseguire le cartucce pubblicate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548640" y="5666613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583428"/>
            <a:ext cx="5468112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debugger: assembly, registri, memoria, breakpoint, un'istruzione alla volta</a:t>
            </a:r>
            <a:endParaRPr lang="en-US" sz="1900" dirty="0"/>
          </a:p>
        </p:txBody>
      </p:sp>
      <p:pic>
        <p:nvPicPr>
          <p:cNvPr id="13" name="Image 0" descr="/Users/raffaelemontella/devel/riscv-prg32/computer-architecture-with-prg32/tools/assets/prg32qt_play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0" y="1881553"/>
            <a:ext cx="4876495" cy="3369215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6766560" y="5788152"/>
            <a:ext cx="48764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PRG32-QT che esegue una cartuccia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7854645" y="91440"/>
            <a:ext cx="3788410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854645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2661" y="128016"/>
            <a:ext cx="201168" cy="201168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8238693" y="91440"/>
            <a:ext cx="33677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 componenti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 comandi, sulla tastiera</a:t>
            </a:r>
            <a:endParaRPr lang="en-US" sz="3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2901616"/>
                <a:gridCol w="3925716"/>
                <a:gridCol w="4267083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Sul kit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PRG32-QT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QEMU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Joystick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tasti freccia, oppure W A S D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gli stessi, battuti nel terminale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Pulsante 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 oppure J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 oppure J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Pulsante B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 oppure K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 oppure K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Start / Select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Invio oppure Spazio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Invio oppure Spazio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Uscire dal gioco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Esc: si torna a Setup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chiudere QEMU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7854645" y="91440"/>
            <a:ext cx="3788410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854645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82661" y="128016"/>
            <a:ext cx="201168" cy="20116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238693" y="91440"/>
            <a:ext cx="33677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 componenti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Un'idea dietro ogni installazione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23746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656539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compilatore per la famiglia ESP32 arriva con ESP-IDF, il kit di sviluppo di Espressif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" y="2371598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265172"/>
            <a:ext cx="6565392" cy="1022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 richiede ESP-IDF 5.4 o successivo, installato per due chip: esp32c6, il kit, ed esp32c3, l'emulatore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356031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453892"/>
            <a:ext cx="6565392" cy="1022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ESP-IDF non è attivo da solo: ogni nuovo terminale deve attivarlo prima che gli strumenti funzionino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548640" y="4749038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642612"/>
            <a:ext cx="6565392" cy="3408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 un solo comando fa tutto: python3 -m prg32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548640" y="5256022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149596"/>
            <a:ext cx="6565392" cy="1022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Quasi tutti i problemi di installazione sono ESP-IDF non attivo nel terminale in cui state scrivendo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7863840" y="1417320"/>
            <a:ext cx="3779215" cy="4754880"/>
          </a:xfrm>
          <a:prstGeom prst="roundRect">
            <a:avLst>
              <a:gd name="adj" fmla="val 1936"/>
            </a:avLst>
          </a:prstGeom>
          <a:solidFill>
            <a:srgbClr val="D8ECEE"/>
          </a:solidFill>
          <a:ln w="12700">
            <a:solidFill>
              <a:srgbClr val="D8ECE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138160" y="1645920"/>
            <a:ext cx="32305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messaggio che incontrerete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8138160" y="2286000"/>
            <a:ext cx="3230575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idf.py: command not found</a:t>
            </a:r>
            <a:endParaRPr lang="en-US" sz="1900" dirty="0"/>
          </a:p>
          <a:p>
            <a:pPr indent="0" marL="0">
              <a:buNone/>
            </a:pP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ESP-IDF non è attivo in questo terminale. Attivatelo e riprovate.</a:t>
            </a:r>
            <a:endParaRPr lang="en-US" sz="1900" dirty="0"/>
          </a:p>
        </p:txBody>
      </p:sp>
      <p:sp>
        <p:nvSpPr>
          <p:cNvPr id="16" name="Shape 14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Risoluzione dei problemi</a:t>
            </a:r>
            <a:endParaRPr lang="en-US" sz="3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3025750"/>
                <a:gridCol w="3866236"/>
                <a:gridCol w="420243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Vedete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Significa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Fate così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idf.py: command not found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ESP-IDF non è attivo in questo terminale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eseguite export.sh, oppure aprite ESP-IDF PowerShell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riscv32-esp-elf-gcc mancante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 compilatori non sono stati installati, o non sono attivi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./install.sh esp32c3,esp32c6, poi export.sh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module named prg32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 siete nella cartella PRG32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cd nella cartella che avete clonato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upload: connection refused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PRG32-QT non è in esecuzione, o un firewall blocca la porta 8080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avviatelo; consentitelo; usate l'indirizzo della sua schermata Setup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macOS non apre PRG32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l'applicazione viene da fuori dell'App Store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clic destro, Apri; oppure Privacy e sicurezza, Apri comunque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Linux: PRG32 non parte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Qt di sistema è più vecchio della 6.5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una distribuzione più recente, o compilare da sorgente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QEMU ignora i tasti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tastiera va al terminale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cliccate sul terminale che ha lanciato QEMU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Pronti per la Lezione 02?</a:t>
            </a:r>
            <a:endParaRPr lang="en-US" sz="3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682733"/>
                <a:gridCol w="8192799"/>
                <a:gridCol w="2218883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Verifica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PRG32-QT parte ed esegue un gioco dello Store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passo 1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un nuovo terminale, dopo aver attivato ESP-IDF, doctor mostra solo OK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passo 2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cartridge build produce pong.prg32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passo 3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upload-and-run lo avvia in PRG32-QT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passo 3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modalità debug, pausa e passo funzionano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passo 3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 la comprensione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636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051560" y="1417320"/>
            <a:ext cx="105914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un nuovo terminale, python3 -m prg32 doctor dice: idf.py missing. Qual è la causa più probabile?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234657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170432" y="220370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ESP-IDF va installato di nuovo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233008" y="214884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70168" y="234657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854800" y="220370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ESP-IDF non è attivo in questo terminale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548640" y="300151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319925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70432" y="305638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PRG32-QT non è in esecuzione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233008" y="300151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70168" y="319925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854800" y="305638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scheda non è collegata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40096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3863340"/>
            <a:ext cx="105914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Quale host permette di eseguire una cartuccia e farne il debug senza installare un compilatore?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548640" y="459486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85800" y="479259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170432" y="464972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scheda ESP32-C6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6233008" y="459486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370168" y="479259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854800" y="464972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QEMU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544753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85800" y="564527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170432" y="550240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PRG32-QT</a:t>
            </a:r>
            <a:endParaRPr lang="en-US" sz="1700" dirty="0"/>
          </a:p>
        </p:txBody>
      </p:sp>
      <p:sp>
        <p:nvSpPr>
          <p:cNvPr id="28" name="Shape 26"/>
          <p:cNvSpPr/>
          <p:nvPr/>
        </p:nvSpPr>
        <p:spPr>
          <a:xfrm>
            <a:off x="6233008" y="544753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370168" y="564527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854800" y="550240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nessuno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 la comprensione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110944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Perché lo stesso pong.prg32 gira sulla scheda, su QEMU e su PRG32-QT?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83464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335356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297180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viene ricompilato a ogni avvio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6233008" y="283464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61608" y="335356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7193128" y="297180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contiene tre programmi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548640" y="464058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515950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508760" y="477774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chiama il runtime attraverso la stessa tabella di funzioni su ogni host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6233008" y="464058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61608" y="515950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193128" y="477774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PRG32-QT lo traduce in C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Glossario: inglese e italiano</a:t>
            </a:r>
            <a:endParaRPr lang="en-US" sz="32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375"/>
                <a:gridCol w="3328325"/>
                <a:gridCol w="2060391"/>
                <a:gridCol w="3328325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Inglese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Italiano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Inglese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Italiano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toolchain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catena di strumenti di sviluppo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firmware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firmware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cartridge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cartuccia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runtime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ambiente di esecuzione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emulator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emulatore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interpreter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interprete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build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compilare (costruire)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flash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scrivere nella memoria flash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host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macchina ospite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breakpoint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punto di interruzione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Riepilogo e letture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23746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107103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 è un runtime, un formato di cartuccia, uno strumento e uno Store; una cartuccia gira invariata sulla scheda, su QEMU e su PRG32-QT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" y="2379028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272602"/>
            <a:ext cx="107103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PRG32-QT basta per giocare e fare debug; ESP-IDF e il repository di PRG32 servono per compilare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3234309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127883"/>
            <a:ext cx="107103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ESP-IDF va attivato in ogni nuovo terminale: ricordatelo e la maggior parte dei problemi sparisce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548640" y="4089591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3983165"/>
            <a:ext cx="107103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Avete compilato una cartuccia, l'avete inviata a PRG32-QT e l'avete fermata nel debugger: il ciclo di tutto il corso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548640" y="4944872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4838446"/>
            <a:ext cx="10710367" cy="13337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Letture</a:t>
            </a:r>
            <a:endParaRPr lang="en-US" sz="2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README e docs/usage di github.com/riscv-prg32/PRG32</a:t>
            </a:r>
            <a:endParaRPr lang="en-US" sz="2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README e docs di github.com/riscv-prg32/PRG32-QT</a:t>
            </a:r>
            <a:endParaRPr lang="en-US" sz="2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Playing with RISC-V: i capitoli sull'installazione e su PRG32-QT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Università degli Studi di Napoli Parthenope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ARC12 Architettura dei Calcolatori - PRG32 e PRG32-QT: allestire la propria officina</dc:title>
  <dc:subject>Lezione 01</dc:subject>
  <dc:creator>Raffaele Montella</dc:creator>
  <cp:lastModifiedBy>Raffaele Montella</cp:lastModifiedBy>
  <cp:revision>1</cp:revision>
  <dcterms:created xsi:type="dcterms:W3CDTF">2026-10-16T20:22:25Z</dcterms:created>
  <dcterms:modified xsi:type="dcterms:W3CDTF">2026-10-16T20:22:25Z</dcterms:modified>
</cp:coreProperties>
</file>