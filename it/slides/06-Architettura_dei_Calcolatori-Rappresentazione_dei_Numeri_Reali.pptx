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0ca0ccab-ae8f-393d-f5b1-f62a80568825}">
          <p14:sldIdLst>
            <p14:sldId id="256"/>
            <p14:sldId id="257"/>
          </p14:sldIdLst>
        </p14:section>
        <p14:section name="Altre codifiche per gli interi con segno" id="{df39a300-cba6-22ef-c2c9-4dfb8c119f72}">
          <p14:sldIdLst>
            <p14:sldId id="258"/>
            <p14:sldId id="259"/>
            <p14:sldId id="260"/>
            <p14:sldId id="261"/>
          </p14:sldIdLst>
        </p14:section>
        <p14:section name="Virgola fissa" id="{34cbc123-6a27-a764-380a-4195b009a58a}">
          <p14:sldIdLst>
            <p14:sldId id="262"/>
            <p14:sldId id="263"/>
          </p14:sldIdLst>
        </p14:section>
        <p14:section name="Virgola mobile" id="{3738cd0e-c699-a14b-a48f-000dafd68f2d}">
          <p14:sldIdLst>
            <p14:sldId id="264"/>
            <p14:sldId id="265"/>
            <p14:sldId id="266"/>
            <p14:sldId id="267"/>
            <p14:sldId id="268"/>
            <p14:sldId id="269"/>
          </p14:sldIdLst>
        </p14:section>
        <p14:section name="Ritorno alla macchina" id="{bf28a8a1-6242-70b7-2190-2e1cd800a70e}">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trattava i numeri interi. Questa tratta i numeri con una parte frazionaria, e parte da un problema pratico: una palla che deve spostarsi di meno di un pixel per frame, su un processore che non ha istruzioni per i numeri reali. La soluzione, la virgola fissa, usa solo ciò che già conoscete. La virgola mobile compare poi come risposta generale, con lo standard seguito da ogni calcolatore, IEEE 754.
Per il docente: Spirale: la lezione si apre con una palla che deve muoversi di meno di un pixel per frame su un processore senza unità in virgola mobile. La virgola fissa risolve il problema; la virgola mobile viene poi presentata come risposta generale, con IEEE 754.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Due codifiche degli interi con segno che completano la lezione precedente, complemento a uno ed eccesso k: servono per capire la virgola mobile. Poi la virgola fissa, che userete nel progetto. Poi la virgola mobile: mantissa, esponente, normalizzazione, codifica e decodifica di un numero in singola precisione, e le configurazioni speciali. Infine un fatto sul vostro kit: il suo processore non ha istruzioni in virgola mobile, e saprete dire che cosa fanno invece i programmi.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complemento a uno un numero negativo si ottiene invertendo ogni bit del positivo: 6 è 0110, meno 6 è 1001. Cambiare segno non potrebbe essere più semplice. Il prezzo è lo stesso del segno e modulo: lo zero ha due rappresentazioni, 0000 e 1111, e l'intervallo è simmetrico, da meno 7 a più 7 su quattro bit. L'istruzione not di RISC-V calcola esattamente il complemento a uno di un registro.
Per il docente: Detto anche complemento alla base diminuita. La not bit a bit di RISC-V calcola esattamente questo.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somma in complemento a uno funziona con l'addizionatore ordinario, con una correzione: quando c'è un riporto uscente dal bit più a sinistra, al risultato va sommato 1. Si chiama riporto circolare. Il primo esempio non richiede correzione. Nel secondo e nel terzo il riporto uscente fa il giro e viene sommato. Il passo in più e il doppio zero sono le ragioni per cui ha vinto il complemento a due, in cui il riporto si scarta e basta.
Per il docente: Le slide originali chiamano il riporto «overflow nell'aritmetica degli interi positivi»: è il riporto uscente dell'addizionatore dei naturali, reinterpretato come necessità di una correzione.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eccesso k ogni numero è traslato verso l'alto di una costante: X = x + k. Con quattro bit e k = 8, la configurazione 0000 significa meno 8, 1000 significa zero e 1111 significa più 7. La proprietà preziosa è che l'ordine si conserva: a un numero maggiore corrisponde sempre una configurazione maggiore, quindi due numeri con segno si confrontano come se fossero naturali. L'aritmetica è meno comoda, perché ogni somma va corretta. È la codifica dell'esponente nei numeri in virgola mobile.
Per il docente: Eccesso 8 su quattro bit: 0000 = -8, 1000 = 0, 1111 = +7. Si confronti con il complemento a due: stesso intervallo, con il bit più significativo invertito.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della Lezione 05 con due colonne in più: le stesse sedici configurazioni lette senza segno, in segno e modulo, in complemento a uno, in complemento a due e in eccesso 8. Tre osservazioni. Segno e modulo e complemento a uno hanno due zeri, evidenziati. Complemento a due ed eccesso 8 coprono lo stesso intervallo, da meno 8 a più 7, e differiscono solo nel bit più a sinistra. E l'eccesso 8 è l'unica colonna in cui i valori crescono con regolarità dall'alto al basso della tabella.
Per il docente: Questa tabella sostituisce la figura di confronto della presentazione originale («Numeri relativi: complementi»).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virgola fissa la parte intera e la parte frazionaria stanno fianco a fianco in una parola, e la posizione della virgola è fissa. Non è memorizzata da nessuna parte: è un accordo che il programma conosce. Se f bit sono riservati alla frazione, la parola contiene il numero moltiplicato per 2 alla f, e il passo più piccolo rappresentabile, la risoluzione, è 2 alla meno f. La notazione Qm.f dice come sono divisi i bit: Q24.8 significa 24 bit interi e 8 bit frazionari.
Per il docente: La virgola fissa è il modo in cui giochi, audio e software di controllo trattano le frazioni sui processori senza unità in virgola mobile. È anche il modo in cui si dovrebbe memorizzare il denaro: centesimi interi.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numeri reali sono densi: tra due qualsiasi ce ne sono infiniti altri, quindi con un numero finito di bit la maggior parte non si può rappresentare, e ciascuno è sostituito dal più vicino tra quelli rappresentabili. In Q24.8 il numero 0,1 diventa 26/256, circa 0,1016. L'errore è al più metà della risoluzione. Un numero troppo vicino a zero diventa zero: è l'underflow, ed è il motivo per cui una velocità di 0,001 pixel per frame lascerebbe ferma la palla. In virgola fissa l'errore assoluto è lo stesso ovunque.
Per il docente: 0,1 x 256 = 25,6, arrotondato a 26. Con SPEED_Q8 = 1 la palla si muove di 1/256 di pixel per frame; una velocità di 0,001 pixel per frame va in underflow a zero e la palla non si muove mai.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numero reale si scrive come una coppia: una mantissa m e un esponente e, tali che x è m per la base elevata a e. È la notazione scientifica del laboratorio di fisica. La virgola è «mobile» perché è l'esponente a dire dove si trova. Poiché lo stesso numero ha infinite coppie di questo tipo, se ne sceglie una con una regola, la normalizzazione: la virgola si mette subito dopo la prima cifra significativa, così 346,09801 diventa 3,4609801 con esponente 2.
Per il docente: In altre parole, la notazione scientifica. La virgola fissa spende i bit su un intervallo fisso; la virgola mobile ne spende alcuni per dire dove si trova l'intervallo.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virgola mobile la distanza tra due numeri rappresentabili consecutivi non è costante. Vicino a zero sono vicinissimi; vicino al limite superiore sono molto distanti. L'errore assoluto cresce quindi con la grandezza del numero. Ciò che resta costante è l'errore relativo, perché ogni numero ha lo stesso numero di cifre significative: quattro in questo esempio. È l'opposto della virgola fissa, dove l'errore assoluto è costante e quello relativo diventa grande vicino a zero.
Per il docente: È l'opposto della virgola fissa, dove l'errore assoluto è costante e quello relativo esplode vicino a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formato a singola precisione di IEEE 754 divide 32 bit in tre campi: un bit di segno, otto di esponente, ventitré di frazione. Il valore è dato dalla formula al centro. Due dettagli meritano attenzione. Una mantissa binaria normalizzata comincia sempre con 1, quindi quel bit non si memorizza: è il bit nascosto, e regala un bit di precisione in più. E l'esponente è memorizzato in eccesso 127, la codifica della sezione precedente, così gli esponenti si confrontano come numeri naturali.
Per il docente: IEEE 754 è del 1985 (rivisto nel 2008 e nel 2019). Prima ogni costruttore aveva il proprio formato e i programmi davano risultati diversi su macchine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esempio completo: meno 5,125. Si convertono in binario le due parti: 5 è 101 e 0,125 è 0,001, quindi il numero è 101,001. Si normalizza spostando la virgola di due posti: 1,01001 per 2 alla 2. Il bit di segno è 1. Il campo esponente è 2 più 127, 129, cioè 1000 0001. La frazione è 01001 seguita da zeri, senza l'1 iniziale. Mettendo insieme i tre campi e raggruppando a quattro a quattro si ottiene 0xC0A40000. Rifatelo su carta, poi provate con un altro numero.
Per il docente: Verificare il raggruppamento in nibble: 1100 = C, 0000 = 0, 1010 = A, 0100 = 4, poi zeri. Qui sono unite tre slide della presentazione 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Singola e doppia precisione a confronto. La doppia precisione ha 64 bit, 11 di esponente in eccesso 1023 e 52 di frazione. Due righe vanno ricordate come ordini di grandezza: la singola precisione dà circa 7 cifre decimali significative e arriva a circa 10 alla 38; la doppia ne dà circa 16 e arriva a circa 10 alla 308. I tipi float e double del linguaggio C sono questi due formati.
Per il docente: Correzioni alla tabella originale: l'esponente in doppia precisione è in eccesso 1023 (non 1024), e gli intervalli decimali sono circa 10^38 e 10^308.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tutte le configurazioni sono numeri ordinari. Un campo esponente compreso tra i due estremi è un numero normalizzato. Un esponente di tutti zeri significa zero, se anche la frazione è zero, oppure un numero denormalizzato, che riempie il vuoto attorno allo zero con precisione decrescente. Un esponente di tutti uni significa infinito, se la frazione è zero, oppure NaN, «non un numero», il risultato di un'operazione non valida come zero diviso zero. Notate che gli zeri sono due, più e meno, e che NaN non è uguale a nulla, nemmeno a se stesso.
Per il docente: I numeri denormalizzati (subnormali) riempiono il vuoto dell'underflow attorno allo zero con precisione via via decrescente. 1/0 dà infinito; 0/0 e la radice quadrata di -1 danno NaN. NaN non è uguale a nulla, nemmeno a se stesso.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tratta la virgola mobile con due estensioni facoltative, F per la singola precisione e D per la doppia: aggiungono trentadue registri, da f0 a f31, e istruzioni come fadd.s. Il processore del kit, RV32IMAC, non ha né l'una né l'altra. Un programma C può comunque usare float, ma ogni operazione diventa la chiamata di una routine software che costa decine o centinaia di istruzioni intere. Per questo i giochi PRG32 usano interi e virgola fissa: sono veloci, abbastanza esatti, e visibili nel debugger.
Per il docente: Le routine software realizzano esattamente l'algoritmo di questa lezione con scorrimenti, maschere e somme intere: un buon esercizio di lettura per la fine del corso.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nome RV32IMAC si può ora leggere lettera per lettera. RV32I è la base: registri a 32 bit e istruzioni intere. M aggiunge moltiplicazione e divisione. A aggiunge le istruzioni atomiche per condividere dati in sicurezza tra task. C aggiunge le codifiche compresse, a 16 bit, delle istruzioni più comuni. F e D, le estensioni in virgola mobile, mancano. Questa modularità è una scelta di progetto di RISC-V: una piccola base obbligatoria ed estensioni facoltative, così che la stessa architettura vada bene per un microcontrollore economico e per un supercalcolatore.
Per il docente: RISC-V è modulare: una piccola base obbligatoria più estensioni facoltative. Un microcontrollore prende ciò che gli serve; è una delle ragioni per cui la stessa architettura va da un chip da due euro a un supercalcolatore.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Pensate a che cosa fa ciascuna codifica all'ordine. In segno e modulo e nei complementi i numeri negativi hanno il bit più a sinistra a 1, quindi come configurazioni vengono dopo i positivi. Solo una codifica che somma una costante a ogni numero lascia intatto l'ordine.
Q24.8 significa che la parola è il numero moltiplicato per 256. Leggete 0x180 come intero e dividete per 256; oppure spezzatelo direttamente: parte intera 0x01, frazione 0x80, cioè 128/256.
Per il docente: 1. Risposta: D. In eccesso k, X = x + k: a un numero maggiore corrisponde sempre una configurazione maggiore. Per questo codifica gli esponenti della virgola mobile, che vanno confrontati in fretta.
2. Risposta: B. 0x180 = 384; 384 / 256 = 1,5. Parte intera 0x01, frazione 0x80 = 128/256 =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Scrivete in binario le prime cifre esadecimali e tagliate i campi: un bit di segno, otto di esponente, poi la frazione. Sottraete 127 dall'esponente, e non dimenticate l'1 nascosto davanti alla frazione.
Tornate alla tabella delle configurazioni speciali. Un esponente di tutti uni è riservato: quale dei suoi due casi ha la frazione di tutti zeri?
Per il docente: 1. Risposta: B. 0100 0000 0100 0000 ...: S = 0, E = 1000 0000 = 128, F = 100...: 1,1 (binario) x 2^(128-127) = 1,5 x 2 = 3,0.
2. Risposta: C. Tutti uni nell'esponente: infinito se la frazione è zero, NaN altrimenti.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In inglese il separatore decimale è il punto, quindi virgola fissa e virgola mobile sono fixed point e floating point. Mantissa è la parola tradizionale per le cifre significative; lo standard chiama fraction la parte memorizzata. Il bit nascosto, hidden bit, è l'1 iniziale che non si memorizza. I numeri denormalizzati si dicono anche subnormali.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Gli interi hanno diverse rappresentazioni, scelte in base all'uso. La virgola fissa memorizza una frazione come intero scalato: errore assoluto costante, velocità degli interi. La virgola mobile memorizza mantissa ed esponente: intervallo enorme, errore relativo costante. IEEE 754 è lo standard universale, con configurazioni speciali per zero, infinito e NaN. E su un processore senza l'estensione F la virgola fissa è la scelta naturale. Ora viene la prima parte di Verm1, dove le ultime quattro lezioni si mettono al lavoro.
Per il docente: A seguire: Verm1, parte 1, dove le prime quattro lezioni vanno a lavorare in un programma vero. Poi l'algebra di Boole.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06: Rappresentazione dei numeri (reali)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Rappresentazione dei numeri: i reali</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Complemento a uno, eccesso k, virgola fissa e virgola mobile IEEE 754</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“Conterò poco, è vero: - diceva l'Uno ar Zero - ma tu che vali? Gnente: propio gnente.”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06-Architettura_dei_Calcolatori-Rappresentazione_dei_Numeri_Reali-Codice.pptx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Codificare interi con segno in complemento a uno e in eccesso k, e dire a che cosa serve ciascuno</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Rappresentare una grandezza frazionaria in virgola fissa e calcolarci con istruzioni intere</a:t>
            </a:r>
            <a:endParaRPr lang="en-US" sz="2200" dirty="0"/>
          </a:p>
        </p:txBody>
      </p:sp>
      <p:sp>
        <p:nvSpPr>
          <p:cNvPr id="7" name="Text 5"/>
          <p:cNvSpPr txBox="1"/>
          <p:nvPr/>
        </p:nvSpPr>
        <p:spPr>
          <a:xfrm>
            <a:off x="548640" y="33562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79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mantissa, esponente e normalizzazione nella virgola mobile</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Codificare e decodificare un numero in IEEE 754 a singola precisione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Riconoscere zero, numeri denormalizzati, infinito e NaN</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perché l'ESP32-C6 non ha istruzioni in virgola mobile e che cosa fanno invece i giochi PRG32</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Complemento a uno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non negativi, 0 &lt;= x &lt; 2^(n-1), sono rappresentati da se stessi: X = x</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negativi sono rappresentati da X = 2^n - 1 - |x|</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Intervallo: da -(2^(n-1) - 1) a +(2^(n-1) - 1)</a:t>
            </a:r>
            <a:endParaRPr lang="en-US" sz="2200" dirty="0"/>
          </a:p>
        </p:txBody>
      </p:sp>
      <p:sp>
        <p:nvSpPr>
          <p:cNvPr id="9" name="Shape 7"/>
          <p:cNvSpPr/>
          <p:nvPr/>
        </p:nvSpPr>
        <p:spPr>
          <a:xfrm>
            <a:off x="548640" y="37687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6229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 zero ha due rappresentazioni, 0000 e 1111: si rappresentano 2^n - 1 numeri, come in segno e modulo</a:t>
            </a:r>
            <a:endParaRPr lang="en-US" sz="2200" dirty="0"/>
          </a:p>
        </p:txBody>
      </p:sp>
      <p:sp>
        <p:nvSpPr>
          <p:cNvPr id="11" name="Shape 9"/>
          <p:cNvSpPr/>
          <p:nvPr/>
        </p:nvSpPr>
        <p:spPr>
          <a:xfrm>
            <a:off x="548640" y="497154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65116"/>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Perché usarlo? Cambiare segno è banale: si complementa ogni bit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6 = 0110 e -6 = 1001; 5 = 0101 e -5 = 1010; 1 = 0001 e -1 = 1110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not x</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il complemento a uno di un numero si ottiene invertendo tutti i suoi bit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Aritmetica in complemento a uno</a:t>
            </a:r>
            <a:endParaRPr lang="en-US" sz="3200" dirty="0"/>
          </a:p>
        </p:txBody>
      </p:sp>
      <p:sp>
        <p:nvSpPr>
          <p:cNvPr id="3" name="Shape 1"/>
          <p:cNvSpPr/>
          <p:nvPr/>
        </p:nvSpPr>
        <p:spPr>
          <a:xfrm>
            <a:off x="548640" y="146304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Nessuna correzione</a:t>
            </a:r>
            <a:endParaRPr lang="en-US" sz="1400" dirty="0"/>
          </a:p>
        </p:txBody>
      </p:sp>
      <p:sp>
        <p:nvSpPr>
          <p:cNvPr id="5" name="Text 3"/>
          <p:cNvSpPr txBox="1"/>
          <p:nvPr/>
        </p:nvSpPr>
        <p:spPr>
          <a:xfrm>
            <a:off x="731520"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-4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-1</a:t>
            </a:r>
            <a:endParaRPr lang="en-US" sz="1500" dirty="0"/>
          </a:p>
        </p:txBody>
      </p:sp>
      <p:sp>
        <p:nvSpPr>
          <p:cNvPr id="6" name="Text 4"/>
          <p:cNvSpPr txBox="1"/>
          <p:nvPr/>
        </p:nvSpPr>
        <p:spPr>
          <a:xfrm>
            <a:off x="1814133"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1110</a:t>
            </a:r>
            <a:endParaRPr lang="en-US" sz="1500" dirty="0"/>
          </a:p>
        </p:txBody>
      </p:sp>
      <p:sp>
        <p:nvSpPr>
          <p:cNvPr id="7" name="Text 5"/>
          <p:cNvSpPr txBox="1"/>
          <p:nvPr/>
        </p:nvSpPr>
        <p:spPr>
          <a:xfrm>
            <a:off x="731520" y="3246120"/>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nessun riporto uscente: il risultato è giusto</a:t>
            </a:r>
            <a:endParaRPr lang="en-US" sz="1250" dirty="0"/>
          </a:p>
        </p:txBody>
      </p:sp>
      <p:sp>
        <p:nvSpPr>
          <p:cNvPr id="8" name="Shape 6"/>
          <p:cNvSpPr/>
          <p:nvPr/>
        </p:nvSpPr>
        <p:spPr>
          <a:xfrm>
            <a:off x="4338218" y="1463040"/>
            <a:ext cx="3515258" cy="2240280"/>
          </a:xfrm>
          <a:prstGeom prst="roundRect">
            <a:avLst>
              <a:gd name="adj" fmla="val 3265"/>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Due negativi</a:t>
            </a:r>
            <a:endParaRPr lang="en-US" sz="1400" dirty="0"/>
          </a:p>
        </p:txBody>
      </p:sp>
      <p:sp>
        <p:nvSpPr>
          <p:cNvPr id="10" name="Text 8"/>
          <p:cNvSpPr txBox="1"/>
          <p:nvPr/>
        </p:nvSpPr>
        <p:spPr>
          <a:xfrm>
            <a:off x="4521098"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-5</a:t>
            </a:r>
            <a:endParaRPr lang="en-US" sz="1500" dirty="0"/>
          </a:p>
        </p:txBody>
      </p:sp>
      <p:sp>
        <p:nvSpPr>
          <p:cNvPr id="11" name="Text 9"/>
          <p:cNvSpPr txBox="1"/>
          <p:nvPr/>
        </p:nvSpPr>
        <p:spPr>
          <a:xfrm>
            <a:off x="5603711"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1100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1001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1010</a:t>
            </a:r>
            <a:endParaRPr lang="en-US" sz="1500" dirty="0"/>
          </a:p>
        </p:txBody>
      </p:sp>
      <p:sp>
        <p:nvSpPr>
          <p:cNvPr id="12" name="Text 10"/>
          <p:cNvSpPr txBox="1"/>
          <p:nvPr/>
        </p:nvSpPr>
        <p:spPr>
          <a:xfrm>
            <a:off x="4521098"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riporto uscente: va risommato</a:t>
            </a:r>
            <a:endParaRPr lang="en-US" sz="1250" dirty="0"/>
          </a:p>
        </p:txBody>
      </p:sp>
      <p:sp>
        <p:nvSpPr>
          <p:cNvPr id="13" name="Shape 11"/>
          <p:cNvSpPr/>
          <p:nvPr/>
        </p:nvSpPr>
        <p:spPr>
          <a:xfrm>
            <a:off x="8127797" y="1463040"/>
            <a:ext cx="3515258" cy="2240280"/>
          </a:xfrm>
          <a:prstGeom prst="roundRect">
            <a:avLst>
              <a:gd name="adj" fmla="val 3265"/>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Risultato positivo</a:t>
            </a:r>
            <a:endParaRPr lang="en-US" sz="1400" dirty="0"/>
          </a:p>
        </p:txBody>
      </p:sp>
      <p:sp>
        <p:nvSpPr>
          <p:cNvPr id="15" name="Text 13"/>
          <p:cNvSpPr txBox="1"/>
          <p:nvPr/>
        </p:nvSpPr>
        <p:spPr>
          <a:xfrm>
            <a:off x="8310677"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5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a:t>
            </a:r>
            <a:endParaRPr lang="en-US" sz="1500" dirty="0"/>
          </a:p>
        </p:txBody>
      </p:sp>
      <p:sp>
        <p:nvSpPr>
          <p:cNvPr id="16" name="Text 14"/>
          <p:cNvSpPr txBox="1"/>
          <p:nvPr/>
        </p:nvSpPr>
        <p:spPr>
          <a:xfrm>
            <a:off x="9393290"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0010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0011</a:t>
            </a:r>
            <a:endParaRPr lang="en-US" sz="1500" dirty="0"/>
          </a:p>
        </p:txBody>
      </p:sp>
      <p:sp>
        <p:nvSpPr>
          <p:cNvPr id="17" name="Text 15"/>
          <p:cNvSpPr txBox="1"/>
          <p:nvPr/>
        </p:nvSpPr>
        <p:spPr>
          <a:xfrm>
            <a:off x="8310677"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riporto uscente: va risommato</a:t>
            </a:r>
            <a:endParaRPr lang="en-US" sz="1250" dirty="0"/>
          </a:p>
        </p:txBody>
      </p:sp>
      <p:sp>
        <p:nvSpPr>
          <p:cNvPr id="18" name="Shape 16"/>
          <p:cNvSpPr/>
          <p:nvPr/>
        </p:nvSpPr>
        <p:spPr>
          <a:xfrm>
            <a:off x="548640" y="4030599"/>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9319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L'addizionatore lavora modulo 2^n - 1: ogni volta che c'è un riporto uscente dal bit più significativo, al risultato va sommato 1 (riporto circolare)</a:t>
            </a:r>
            <a:endParaRPr lang="en-US" sz="2100" dirty="0"/>
          </a:p>
        </p:txBody>
      </p:sp>
      <p:sp>
        <p:nvSpPr>
          <p:cNvPr id="20" name="Shape 18"/>
          <p:cNvSpPr/>
          <p:nvPr/>
        </p:nvSpPr>
        <p:spPr>
          <a:xfrm>
            <a:off x="548640" y="4825365"/>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72668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correzione serve quando entrambi gli operandi sono negativi, o quando hanno segno opposto e la somma è positiva</a:t>
            </a:r>
            <a:endParaRPr lang="en-US" sz="2100" dirty="0"/>
          </a:p>
        </p:txBody>
      </p:sp>
      <p:sp>
        <p:nvSpPr>
          <p:cNvPr id="22" name="Shape 20"/>
          <p:cNvSpPr/>
          <p:nvPr/>
        </p:nvSpPr>
        <p:spPr>
          <a:xfrm>
            <a:off x="548640" y="5620131"/>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5214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Bastano ancora un addizionatore e un complementatore, ma il passo in più e il doppio zero hanno fatto vincere il complemento a due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Rappresentazione in eccesso k (polarizzata)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numero è traslato verso l'alto di una costante k: X = x + k, tipicamente k = 2^(n-1)</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L'ordine si conserva: se x1 &gt; x2 allora X1 &gt; X2, quindi i numeri con segno si confrontano come naturali</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somma va corretta sottraendo k; moltiplicazione e divisione sono molto più scomode che con i complementi</a:t>
            </a:r>
            <a:endParaRPr lang="en-US" sz="2200" dirty="0"/>
          </a:p>
        </p:txBody>
      </p:sp>
      <p:sp>
        <p:nvSpPr>
          <p:cNvPr id="9" name="Shape 7"/>
          <p:cNvSpPr/>
          <p:nvPr/>
        </p:nvSpPr>
        <p:spPr>
          <a:xfrm>
            <a:off x="548640" y="500468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98263"/>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Preferita dove servono solo somme e confronti</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la codifica dell'esponente nei numeri in virgola mobile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 k</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su quattro bit con k = 8: la configurazione 0000 significa -8, 1000 significa 0, 1111 significa +7</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bit, cinque letture</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 segno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Segno-m.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Ecc. 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293815"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 segno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Segno-m.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 a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Ecc. 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9</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5096891"/>
            <a:ext cx="146304" cy="146304"/>
          </a:xfrm>
          <a:prstGeom prst="rect">
            <a:avLst/>
          </a:prstGeom>
          <a:solidFill>
            <a:srgbClr val="0E7C86"/>
          </a:solidFill>
          <a:ln w="12700">
            <a:solidFill>
              <a:srgbClr val="0E7C86"/>
            </a:solidFill>
            <a:prstDash val="solid"/>
          </a:ln>
        </p:spPr>
      </p:sp>
      <p:sp>
        <p:nvSpPr>
          <p:cNvPr id="6" name="Text 2"/>
          <p:cNvSpPr txBox="1"/>
          <p:nvPr/>
        </p:nvSpPr>
        <p:spPr>
          <a:xfrm>
            <a:off x="932688" y="502920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Segno e modulo e complemento a uno hanno due zeri (evidenziati): 0000 e 1000, oppure 0000 e 1111</a:t>
            </a:r>
            <a:endParaRPr lang="en-US" sz="1700" dirty="0"/>
          </a:p>
        </p:txBody>
      </p:sp>
      <p:sp>
        <p:nvSpPr>
          <p:cNvPr id="7" name="Shape 3"/>
          <p:cNvSpPr/>
          <p:nvPr/>
        </p:nvSpPr>
        <p:spPr>
          <a:xfrm>
            <a:off x="548640" y="5536692"/>
            <a:ext cx="146304" cy="146304"/>
          </a:xfrm>
          <a:prstGeom prst="rect">
            <a:avLst/>
          </a:prstGeom>
          <a:solidFill>
            <a:srgbClr val="C7791B"/>
          </a:solidFill>
          <a:ln w="12700">
            <a:solidFill>
              <a:srgbClr val="C7791B"/>
            </a:solidFill>
            <a:prstDash val="solid"/>
          </a:ln>
        </p:spPr>
      </p:sp>
      <p:sp>
        <p:nvSpPr>
          <p:cNvPr id="8" name="Text 4"/>
          <p:cNvSpPr txBox="1"/>
          <p:nvPr/>
        </p:nvSpPr>
        <p:spPr>
          <a:xfrm>
            <a:off x="932688" y="546900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Complemento a due ed eccesso 8 coprono lo stesso intervallo, da -8 a +7, con un solo zero</a:t>
            </a:r>
            <a:endParaRPr lang="en-US" sz="1700" dirty="0"/>
          </a:p>
        </p:txBody>
      </p:sp>
      <p:sp>
        <p:nvSpPr>
          <p:cNvPr id="9" name="Shape 5"/>
          <p:cNvSpPr/>
          <p:nvPr/>
        </p:nvSpPr>
        <p:spPr>
          <a:xfrm>
            <a:off x="548640" y="5976493"/>
            <a:ext cx="146304" cy="146304"/>
          </a:xfrm>
          <a:prstGeom prst="rect">
            <a:avLst/>
          </a:prstGeom>
          <a:solidFill>
            <a:srgbClr val="0E7C86"/>
          </a:solidFill>
          <a:ln w="12700">
            <a:solidFill>
              <a:srgbClr val="0E7C86"/>
            </a:solidFill>
            <a:prstDash val="solid"/>
          </a:ln>
        </p:spPr>
      </p:sp>
      <p:sp>
        <p:nvSpPr>
          <p:cNvPr id="10" name="Text 6"/>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Solo l'eccesso k mantiene le configurazioni nello stesso ordine dei numeri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in virgola fissa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Parte intera e parte frazionaria sono memorizzate fianco a fianco in un'unica parola</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posizione della virgola è fissa e implicita: non è memorizzata, la conosce il programma</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 f bit frazionari l'intero memorizzato è X = x per 2^f, e la risoluzione è 2^-f</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parte usa una delle rappresentazioni già viste: di solito l'intera parola è in complemento a due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Notazione Qm.f: m bit interi e f bit frazionari, per esempio Q24.8</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2^f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si memorizza il numero moltiplicato per una potenza di due; scorrendo a destra di f bit si riottiene la parte intera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razionali: l'errore di approssimazione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reali sono densi: anche in un intervallo limitato non tutti i numeri sono rappresentabili</a:t>
            </a:r>
            <a:endParaRPr lang="en-US" sz="2100" dirty="0"/>
          </a:p>
        </p:txBody>
      </p:sp>
      <p:sp>
        <p:nvSpPr>
          <p:cNvPr id="5" name="Shape 3"/>
          <p:cNvSpPr/>
          <p:nvPr/>
        </p:nvSpPr>
        <p:spPr>
          <a:xfrm>
            <a:off x="548640" y="23934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4763"/>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Approssimazione: a ogni numero si associa il più vicino tra quelli rappresentabili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in Q24.8, 0,1 diventa 26/256 = 0,1015625: un errore dell'1,6% circa</a:t>
            </a:r>
            <a:endParaRPr lang="en-US" sz="2100" dirty="0"/>
          </a:p>
        </p:txBody>
      </p:sp>
      <p:sp>
        <p:nvSpPr>
          <p:cNvPr id="7" name="Shape 5"/>
          <p:cNvSpPr/>
          <p:nvPr/>
        </p:nvSpPr>
        <p:spPr>
          <a:xfrm>
            <a:off x="548640" y="386524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6656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L'errore di approssimazione è al più metà della risoluzione: 1/512 con otto bit frazionari</a:t>
            </a:r>
            <a:endParaRPr lang="en-US" sz="2100" dirty="0"/>
          </a:p>
        </p:txBody>
      </p:sp>
      <p:sp>
        <p:nvSpPr>
          <p:cNvPr id="9" name="Shape 7"/>
          <p:cNvSpPr/>
          <p:nvPr/>
        </p:nvSpPr>
        <p:spPr>
          <a:xfrm>
            <a:off x="548640" y="474268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400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Underflow: un numero vicino a zero, ma non zero, è rappresentato da zero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virgola fissa l'errore assoluto è lo stesso lungo tutta la retta dei numeri</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risoluzione di otto bit frazionari: nulla di più piccolo si distingue da zero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reali in virgola mobile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numero reale x è rappresentato da una coppia (m, e) tale che x = m per b^e</a:t>
            </a:r>
            <a:endParaRPr lang="en-US" sz="2200" dirty="0"/>
          </a:p>
        </p:txBody>
      </p:sp>
      <p:sp>
        <p:nvSpPr>
          <p:cNvPr id="5" name="Shape 3"/>
          <p:cNvSpPr/>
          <p:nvPr/>
        </p:nvSpPr>
        <p:spPr>
          <a:xfrm>
            <a:off x="548640" y="248335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76932"/>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 è la mantissa, e l'esponente, b la base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 virgola è mobile: l'esponente dice dove si trova</a:t>
            </a:r>
            <a:endParaRPr lang="en-US" sz="2200" dirty="0"/>
          </a:p>
        </p:txBody>
      </p:sp>
      <p:sp>
        <p:nvSpPr>
          <p:cNvPr id="7" name="Shape 5"/>
          <p:cNvSpPr/>
          <p:nvPr/>
        </p:nvSpPr>
        <p:spPr>
          <a:xfrm>
            <a:off x="548640" y="3727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1024"/>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Infinite coppie rappresentano lo stesso numero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346,09801 = (346,09801; 0) = (346098,01; -3) = (0,034609801; 4)</a:t>
            </a:r>
            <a:endParaRPr lang="en-US" sz="2200" dirty="0"/>
          </a:p>
        </p:txBody>
      </p:sp>
      <p:sp>
        <p:nvSpPr>
          <p:cNvPr id="9" name="Shape 7"/>
          <p:cNvSpPr/>
          <p:nvPr/>
        </p:nvSpPr>
        <p:spPr>
          <a:xfrm>
            <a:off x="548640" y="497154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65116"/>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normalizzazione sceglie un unico rappresentante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 virgola va subito dopo la prima cifra significativa: (3,4609801; 2)</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m b^e</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mantissa, base ed esponente: la notazione scientifica del laboratorio, in binario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Approssimazione: errore assoluto e relativo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L'errore assoluto non è costante: la precisione è finissima vicino a zero e diminuisce al crescere dei numeri</a:t>
            </a:r>
            <a:endParaRPr lang="en-US" sz="2200" dirty="0"/>
          </a:p>
        </p:txBody>
      </p:sp>
      <p:sp>
        <p:nvSpPr>
          <p:cNvPr id="5" name="Shape 3"/>
          <p:cNvSpPr/>
          <p:nvPr/>
        </p:nvSpPr>
        <p:spPr>
          <a:xfrm>
            <a:off x="548640" y="27174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10993"/>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Vicino a zero l'errore massimo è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1,001 x 10^-99 meno 1,000 x 10^-99</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Vicino al limite superiore l'errore massimo è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9,999 x 10^99 meno 9,998 x 10^99</a:t>
            </a:r>
            <a:endParaRPr lang="en-US" sz="2200" dirty="0"/>
          </a:p>
        </p:txBody>
      </p:sp>
      <p:sp>
        <p:nvSpPr>
          <p:cNvPr id="9" name="Shape 7"/>
          <p:cNvSpPr/>
          <p:nvPr/>
        </p:nvSpPr>
        <p:spPr>
          <a:xfrm>
            <a:off x="548640" y="5084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7852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Errore assoluto: piccolo sui numeri piccoli, grande sui numeri grandi</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Errore relativo: costante lungo tutto l'asse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 cifre</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lo stesso numero di cifre significative ovunque: errore relativo costante, qualunque sia la grandezza del numero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a singola precisione: 32 bit</a:t>
            </a:r>
            <a:endParaRPr lang="en-US" sz="3200" dirty="0"/>
          </a:p>
        </p:txBody>
      </p:sp>
      <p:sp>
        <p:nvSpPr>
          <p:cNvPr id="3" name="Text 1"/>
          <p:cNvSpPr txBox="1"/>
          <p:nvPr/>
        </p:nvSpPr>
        <p:spPr>
          <a:xfrm>
            <a:off x="548640" y="1737360"/>
            <a:ext cx="1027749" cy="68580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S</a:t>
            </a:r>
            <a:endParaRPr lang="en-US" sz="2200" dirty="0"/>
          </a:p>
        </p:txBody>
      </p:sp>
      <p:sp>
        <p:nvSpPr>
          <p:cNvPr id="4" name="Text 2"/>
          <p:cNvSpPr txBox="1"/>
          <p:nvPr/>
        </p:nvSpPr>
        <p:spPr>
          <a:xfrm>
            <a:off x="548640" y="2478024"/>
            <a:ext cx="10277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segno</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1 = negativo</a:t>
            </a:r>
            <a:endParaRPr lang="en-US" sz="1500" dirty="0"/>
          </a:p>
        </p:txBody>
      </p:sp>
      <p:sp>
        <p:nvSpPr>
          <p:cNvPr id="5" name="Text 3"/>
          <p:cNvSpPr txBox="1"/>
          <p:nvPr/>
        </p:nvSpPr>
        <p:spPr>
          <a:xfrm>
            <a:off x="585216" y="1499616"/>
            <a:ext cx="5138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576389" y="1737360"/>
            <a:ext cx="2597849" cy="68580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a:t>
            </a:r>
            <a:endParaRPr lang="en-US" sz="2200" dirty="0"/>
          </a:p>
        </p:txBody>
      </p:sp>
      <p:sp>
        <p:nvSpPr>
          <p:cNvPr id="7" name="Text 5"/>
          <p:cNvSpPr txBox="1"/>
          <p:nvPr/>
        </p:nvSpPr>
        <p:spPr>
          <a:xfrm>
            <a:off x="1576389" y="2478024"/>
            <a:ext cx="25978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esponente: 8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eccesso 127</a:t>
            </a:r>
            <a:endParaRPr lang="en-US" sz="1500" dirty="0"/>
          </a:p>
        </p:txBody>
      </p:sp>
      <p:sp>
        <p:nvSpPr>
          <p:cNvPr id="8" name="Text 6"/>
          <p:cNvSpPr txBox="1"/>
          <p:nvPr/>
        </p:nvSpPr>
        <p:spPr>
          <a:xfrm>
            <a:off x="1612965" y="1499616"/>
            <a:ext cx="129892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9" name="Text 7"/>
          <p:cNvSpPr txBox="1"/>
          <p:nvPr/>
        </p:nvSpPr>
        <p:spPr>
          <a:xfrm>
            <a:off x="2875314" y="1499616"/>
            <a:ext cx="126234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0" name="Text 8"/>
          <p:cNvSpPr txBox="1"/>
          <p:nvPr/>
        </p:nvSpPr>
        <p:spPr>
          <a:xfrm>
            <a:off x="4174238" y="1737360"/>
            <a:ext cx="7468817" cy="68580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F</a:t>
            </a:r>
            <a:endParaRPr lang="en-US" sz="2200" dirty="0"/>
          </a:p>
        </p:txBody>
      </p:sp>
      <p:sp>
        <p:nvSpPr>
          <p:cNvPr id="11" name="Text 9"/>
          <p:cNvSpPr txBox="1"/>
          <p:nvPr/>
        </p:nvSpPr>
        <p:spPr>
          <a:xfrm>
            <a:off x="4174238" y="2478024"/>
            <a:ext cx="7468817"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frazione: 23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modulo, dopo l'1 nascosto</a:t>
            </a:r>
            <a:endParaRPr lang="en-US" sz="1500" dirty="0"/>
          </a:p>
        </p:txBody>
      </p:sp>
      <p:sp>
        <p:nvSpPr>
          <p:cNvPr id="12" name="Text 10"/>
          <p:cNvSpPr txBox="1"/>
          <p:nvPr/>
        </p:nvSpPr>
        <p:spPr>
          <a:xfrm>
            <a:off x="4210814" y="1499616"/>
            <a:ext cx="373440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3" name="Text 11"/>
          <p:cNvSpPr txBox="1"/>
          <p:nvPr/>
        </p:nvSpPr>
        <p:spPr>
          <a:xfrm>
            <a:off x="7908647" y="1499616"/>
            <a:ext cx="369783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4" name="Text 12"/>
          <p:cNvSpPr txBox="1"/>
          <p:nvPr/>
        </p:nvSpPr>
        <p:spPr>
          <a:xfrm>
            <a:off x="548640" y="3246120"/>
            <a:ext cx="11094415" cy="548640"/>
          </a:xfrm>
          <a:prstGeom prst="rect">
            <a:avLst/>
          </a:prstGeom>
          <a:noFill/>
          <a:ln/>
        </p:spPr>
        <p:txBody>
          <a:bodyPr wrap="square" lIns="0" tIns="0" rIns="0" bIns="0" rtlCol="0" anchor="ctr"/>
          <a:lstStyle/>
          <a:p>
            <a:pPr algn="ctr" indent="0" marL="0">
              <a:buNone/>
            </a:pPr>
            <a:r>
              <a:rPr lang="en-US" sz="2600" b="1" dirty="0">
                <a:solidFill>
                  <a:srgbClr val="1B2530"/>
                </a:solidFill>
                <a:latin typeface="Courier New" pitchFamily="34" charset="0"/>
                <a:ea typeface="Courier New" pitchFamily="34" charset="-122"/>
                <a:cs typeface="Courier New" pitchFamily="34" charset="-120"/>
              </a:rPr>
              <a:t>valore = (-1)^S  x  1,F  x  2^(E - 127)</a:t>
            </a:r>
            <a:endParaRPr lang="en-US" sz="2600" dirty="0"/>
          </a:p>
        </p:txBody>
      </p:sp>
      <p:sp>
        <p:nvSpPr>
          <p:cNvPr id="15" name="Shape 13"/>
          <p:cNvSpPr/>
          <p:nvPr/>
        </p:nvSpPr>
        <p:spPr>
          <a:xfrm>
            <a:off x="548640" y="4144518"/>
            <a:ext cx="146304" cy="146304"/>
          </a:xfrm>
          <a:prstGeom prst="rect">
            <a:avLst/>
          </a:prstGeom>
          <a:solidFill>
            <a:srgbClr val="0E7C86"/>
          </a:solidFill>
          <a:ln w="12700">
            <a:solidFill>
              <a:srgbClr val="0E7C86"/>
            </a:solidFill>
            <a:prstDash val="solid"/>
          </a:ln>
        </p:spPr>
      </p:sp>
      <p:sp>
        <p:nvSpPr>
          <p:cNvPr id="16" name="Text 14"/>
          <p:cNvSpPr txBox="1"/>
          <p:nvPr/>
        </p:nvSpPr>
        <p:spPr>
          <a:xfrm>
            <a:off x="932688" y="406908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mantissa è in segno e modulo: un bit di segno e 23 bit di modulo</a:t>
            </a:r>
            <a:endParaRPr lang="en-US" sz="1800" dirty="0"/>
          </a:p>
        </p:txBody>
      </p:sp>
      <p:sp>
        <p:nvSpPr>
          <p:cNvPr id="17" name="Shape 15"/>
          <p:cNvSpPr/>
          <p:nvPr/>
        </p:nvSpPr>
        <p:spPr>
          <a:xfrm>
            <a:off x="548640" y="4566666"/>
            <a:ext cx="146304" cy="146304"/>
          </a:xfrm>
          <a:prstGeom prst="rect">
            <a:avLst/>
          </a:prstGeom>
          <a:solidFill>
            <a:srgbClr val="C7791B"/>
          </a:solidFill>
          <a:ln w="12700">
            <a:solidFill>
              <a:srgbClr val="C7791B"/>
            </a:solidFill>
            <a:prstDash val="solid"/>
          </a:ln>
        </p:spPr>
      </p:sp>
      <p:sp>
        <p:nvSpPr>
          <p:cNvPr id="18" name="Text 16"/>
          <p:cNvSpPr txBox="1"/>
          <p:nvPr/>
        </p:nvSpPr>
        <p:spPr>
          <a:xfrm>
            <a:off x="932688" y="4491228"/>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mantissa binaria normalizzata comincia sempre con 1: quel bit è nascosto, non memorizzato, e si guadagna un bit di precisione</a:t>
            </a:r>
            <a:endParaRPr lang="en-US" sz="1800" dirty="0"/>
          </a:p>
        </p:txBody>
      </p:sp>
      <p:sp>
        <p:nvSpPr>
          <p:cNvPr id="19" name="Shape 17"/>
          <p:cNvSpPr/>
          <p:nvPr/>
        </p:nvSpPr>
        <p:spPr>
          <a:xfrm>
            <a:off x="548640" y="5267706"/>
            <a:ext cx="146304" cy="146304"/>
          </a:xfrm>
          <a:prstGeom prst="rect">
            <a:avLst/>
          </a:prstGeom>
          <a:solidFill>
            <a:srgbClr val="0E7C86"/>
          </a:solidFill>
          <a:ln w="12700">
            <a:solidFill>
              <a:srgbClr val="0E7C86"/>
            </a:solidFill>
            <a:prstDash val="solid"/>
          </a:ln>
        </p:spPr>
      </p:sp>
      <p:sp>
        <p:nvSpPr>
          <p:cNvPr id="20" name="Text 18"/>
          <p:cNvSpPr txBox="1"/>
          <p:nvPr/>
        </p:nvSpPr>
        <p:spPr>
          <a:xfrm>
            <a:off x="932688" y="519226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L'esponente è in eccesso 127, non 128: gli esponenti veri vanno da -126 a +127</a:t>
            </a:r>
            <a:endParaRPr lang="en-US" sz="1800" dirty="0"/>
          </a:p>
        </p:txBody>
      </p:sp>
      <p:sp>
        <p:nvSpPr>
          <p:cNvPr id="21" name="Shape 19"/>
          <p:cNvSpPr/>
          <p:nvPr/>
        </p:nvSpPr>
        <p:spPr>
          <a:xfrm>
            <a:off x="548640" y="5689854"/>
            <a:ext cx="146304" cy="146304"/>
          </a:xfrm>
          <a:prstGeom prst="rect">
            <a:avLst/>
          </a:prstGeom>
          <a:solidFill>
            <a:srgbClr val="C7791B"/>
          </a:solidFill>
          <a:ln w="12700">
            <a:solidFill>
              <a:srgbClr val="C7791B"/>
            </a:solidFill>
            <a:prstDash val="solid"/>
          </a:ln>
        </p:spPr>
      </p:sp>
      <p:sp>
        <p:nvSpPr>
          <p:cNvPr id="22" name="Text 20"/>
          <p:cNvSpPr txBox="1"/>
          <p:nvPr/>
        </p:nvSpPr>
        <p:spPr>
          <a:xfrm>
            <a:off x="932688" y="561441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configurazioni E = 0 ed E = 255 sono riservate: zero e numeri denormalizzati, infinito e NaN</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Esempio svolto: -5,125 in IEEE 754</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 convertono le due parti: 5 = 101 e 0,125 = 1/8 = 0,001, quindi 5,125 = 101,001</a:t>
            </a:r>
            <a:endParaRPr lang="en-US" sz="2400" dirty="0"/>
          </a:p>
        </p:txBody>
      </p:sp>
      <p:sp>
        <p:nvSpPr>
          <p:cNvPr id="5" name="Text 3"/>
          <p:cNvSpPr txBox="1"/>
          <p:nvPr/>
        </p:nvSpPr>
        <p:spPr>
          <a:xfrm>
            <a:off x="548640" y="24069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8861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 normalizza: 101,001 = 1,01001 x 2^2</a:t>
            </a:r>
            <a:endParaRPr lang="en-US" sz="2400" dirty="0"/>
          </a:p>
        </p:txBody>
      </p:sp>
      <p:sp>
        <p:nvSpPr>
          <p:cNvPr id="7" name="Text 5"/>
          <p:cNvSpPr txBox="1"/>
          <p:nvPr/>
        </p:nvSpPr>
        <p:spPr>
          <a:xfrm>
            <a:off x="548640" y="30734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5511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Segno S = 1; esponente E = 2 + 127 = 129 = 1000 0001</a:t>
            </a:r>
            <a:endParaRPr lang="en-US" sz="2400" dirty="0"/>
          </a:p>
        </p:txBody>
      </p:sp>
      <p:sp>
        <p:nvSpPr>
          <p:cNvPr id="9" name="Text 7"/>
          <p:cNvSpPr txBox="1"/>
          <p:nvPr/>
        </p:nvSpPr>
        <p:spPr>
          <a:xfrm>
            <a:off x="548640" y="37398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2160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Frazione F = 01001 seguita da zeri: l'1 iniziale è nascosto</a:t>
            </a:r>
            <a:endParaRPr lang="en-US" sz="2400" dirty="0"/>
          </a:p>
        </p:txBody>
      </p:sp>
      <p:sp>
        <p:nvSpPr>
          <p:cNvPr id="11" name="Text 9"/>
          <p:cNvSpPr txBox="1"/>
          <p:nvPr/>
        </p:nvSpPr>
        <p:spPr>
          <a:xfrm>
            <a:off x="548640" y="4526280"/>
            <a:ext cx="623590" cy="59436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a:t>
            </a:r>
            <a:endParaRPr lang="en-US" sz="1700" dirty="0"/>
          </a:p>
        </p:txBody>
      </p:sp>
      <p:sp>
        <p:nvSpPr>
          <p:cNvPr id="12" name="Text 10"/>
          <p:cNvSpPr txBox="1"/>
          <p:nvPr/>
        </p:nvSpPr>
        <p:spPr>
          <a:xfrm>
            <a:off x="585216" y="4288536"/>
            <a:ext cx="31179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13" name="Text 11"/>
          <p:cNvSpPr txBox="1"/>
          <p:nvPr/>
        </p:nvSpPr>
        <p:spPr>
          <a:xfrm>
            <a:off x="1172230" y="4526280"/>
            <a:ext cx="2702148" cy="59436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1000 0001</a:t>
            </a:r>
            <a:endParaRPr lang="en-US" sz="1700" dirty="0"/>
          </a:p>
        </p:txBody>
      </p:sp>
      <p:sp>
        <p:nvSpPr>
          <p:cNvPr id="14" name="Text 12"/>
          <p:cNvSpPr txBox="1"/>
          <p:nvPr/>
        </p:nvSpPr>
        <p:spPr>
          <a:xfrm>
            <a:off x="1208806" y="4288536"/>
            <a:ext cx="13510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15" name="Text 13"/>
          <p:cNvSpPr txBox="1"/>
          <p:nvPr/>
        </p:nvSpPr>
        <p:spPr>
          <a:xfrm>
            <a:off x="2523304" y="4288536"/>
            <a:ext cx="131449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6" name="Text 14"/>
          <p:cNvSpPr txBox="1"/>
          <p:nvPr/>
        </p:nvSpPr>
        <p:spPr>
          <a:xfrm>
            <a:off x="3874378" y="4526280"/>
            <a:ext cx="7768677" cy="59436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0100 1000 0000 0000 0000 000</a:t>
            </a:r>
            <a:endParaRPr lang="en-US" sz="1700" dirty="0"/>
          </a:p>
        </p:txBody>
      </p:sp>
      <p:sp>
        <p:nvSpPr>
          <p:cNvPr id="17" name="Text 15"/>
          <p:cNvSpPr txBox="1"/>
          <p:nvPr/>
        </p:nvSpPr>
        <p:spPr>
          <a:xfrm>
            <a:off x="3910954" y="4288536"/>
            <a:ext cx="388433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8" name="Text 16"/>
          <p:cNvSpPr txBox="1"/>
          <p:nvPr/>
        </p:nvSpPr>
        <p:spPr>
          <a:xfrm>
            <a:off x="7758717" y="4288536"/>
            <a:ext cx="384776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9" name="Text 17"/>
          <p:cNvSpPr txBox="1"/>
          <p:nvPr/>
        </p:nvSpPr>
        <p:spPr>
          <a:xfrm>
            <a:off x="548640" y="5440680"/>
            <a:ext cx="11094415" cy="548640"/>
          </a:xfrm>
          <a:prstGeom prst="rect">
            <a:avLst/>
          </a:prstGeom>
          <a:noFill/>
          <a:ln/>
        </p:spPr>
        <p:txBody>
          <a:bodyPr wrap="square" lIns="0" tIns="0" rIns="0" bIns="0" rtlCol="0" anchor="ctr"/>
          <a:lstStyle/>
          <a:p>
            <a:pPr algn="ctr" indent="0" marL="0">
              <a:buNone/>
            </a:pPr>
            <a:r>
              <a:rPr lang="en-US" sz="2100" b="1" dirty="0">
                <a:solidFill>
                  <a:srgbClr val="1B2530"/>
                </a:solidFill>
                <a:latin typeface="Courier New" pitchFamily="34" charset="0"/>
                <a:ea typeface="Courier New" pitchFamily="34" charset="-122"/>
                <a:cs typeface="Courier New" pitchFamily="34" charset="-120"/>
              </a:rPr>
              <a:t>1100 0000 1010 0100 0000 0000 0000 0000  =  0xC0A40000</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in sintesi</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4092202"/>
                <a:gridCol w="4092202"/>
              </a:tblGrid>
              <a:tr h="0">
                <a:tc>
                  <a:txBody>
                    <a:bodyPr/>
                    <a:lstStyle/>
                    <a:p>
                      <a:pPr algn="l" indent="0" marL="0">
                        <a:buNone/>
                      </a:pP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Singola precisione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Doppia precisione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totali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di segno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di esponente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11</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 di frazione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23</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52</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Codifica dell'esponente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eccesso 127</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eccesso 1023</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Intervallo dell'esponente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-126 ... +127</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-1022 ... +1023</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Minimo normalizzato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2^-126, circa 1,2 x 10^-38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2^-1022, circa 2,2 x 10^-308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Massimo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2^128, 3,4 x 10^38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2^1024, 1,8 x 10^308</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Minimo denormalizzato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1,4 x 10^-45</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4,9 x 10^-324</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Cifre decimali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7</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circa 16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che cosa significano le configurazioni</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091254"/>
                <a:gridCol w="1727819"/>
                <a:gridCol w="1727819"/>
                <a:gridCol w="454689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Tipo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Segno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Esponente 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Frazione 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Valore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Normalizzato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&lt; E &lt; max</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qualsiasi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1,F x 2^(E-bias)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Denormalizzato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non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0,F x 2^(1-bias)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 o -0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Infinito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uni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+infinito o -infinito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Not a Number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tutti uni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non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NaN: un risultato non valido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virgola mobile su RISC-V, e sul vostro kit</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con le estensioni F e D</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Altri trentadue registri, da f0 a f31, per i valori in virgola mobile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Istruzioni come fadd.s, fmul.s, flw e fsw lavorano su numeri IEEE 754</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fcvt.w.s converte in intero, fcvt.s.w da intero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Si trovano sui processori RISC-V per portatili, server e supercalcolatori</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L'ESP32-C6: RV32IMAC</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Né F né D: non esiste alcuna istruzione in virgola mobile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programma C può comunque usare float: il compilatore chiama routine software come __addsf3</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chiamata costa da decine a centinaia di istruzioni intere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 giochi PRG32 usano interi e virgola fissa: veloci, abbastanza esatti, e visibili nel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Leggere il nome RV32IMAC</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2364384"/>
                <a:gridCol w="5456270"/>
                <a:gridCol w="2000632"/>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Lettera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Estensione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Che cosa aggiunge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Sull'ESP32-C6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RV32I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insieme intero di base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registri a 32 bit, somma, logica, load e store, salti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moltiplicazione e divisione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mul, mulh, div, rem e le forme senza segno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atomiche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istruzioni per la condivisione sicura tra task</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compresse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codifiche a 16 bit delle istruzioni più comuni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sì</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singola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da f0 a f31 e istruzioni IEEE 754 a singola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doppia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istruzioni IEEE 754 a doppia precisione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codifica con segno mantiene le configurazioni di bit nello stesso ordine dei numeri?</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Segno e modulo</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Complemento a uno</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Complemento a due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Eccesso k</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virgola fissa Q24.8, quale numero reale rappresenta la parola 0x00000180?</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384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0,375</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numero reale è la configurazione IEEE 754 a singola precisione 0x40400000?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0,75</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IEEE 754, un campo esponente di tutti uni con frazione di tutti zeri significa: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zero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numero denormalizzato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infinito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3273762"/>
                <a:gridCol w="2546259"/>
                <a:gridCol w="236438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one's complement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complemento a uno (alla base diminuita)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 / fraction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excess-k (biased)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eccesso-k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exponent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esponente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fissa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floating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mobile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hidden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nascosto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single / double precision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singola / doppia precisione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rounding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arrotondamento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 a Number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un numero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Gli interi hanno diverse rappresentazioni: 8, 16, 32 o 64 bit, con o senza segno, complementi o eccesso</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virgola fissa memorizza una frazione come intero scalato: errore assoluto costante, velocità degli interi</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virgola mobile memorizza mantissa ed esponente: intervallo enorme, errore relativo costante</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IEEE 754 è lo standard universale della virgola mobile, con configurazioni speciali per zero, infinito e NaN</a:t>
            </a:r>
            <a:endParaRPr lang="en-US" sz="2000" dirty="0"/>
          </a:p>
        </p:txBody>
      </p:sp>
      <p:sp>
        <p:nvSpPr>
          <p:cNvPr id="11" name="Shape 9"/>
          <p:cNvSpPr/>
          <p:nvPr/>
        </p:nvSpPr>
        <p:spPr>
          <a:xfrm>
            <a:off x="548640" y="459221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01286"/>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Su un processore senza l'estensione F, la virgola fissa è la scelta naturale</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Struttura e progetto dei calcolatori, edizione RISC-V, paragrafo 3.5</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David Goldberg: What Every Computer Scientist Should Know About Floating-Point Arithmetic</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appendice: The PRG32 Runtime Interface (playfield e parallasse)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Rappresentazione dei numeri: i reali</dc:title>
  <dc:subject>Lezione 06</dc:subject>
  <dc:creator>Raffaele Montella</dc:creator>
  <cp:lastModifiedBy>Raffaele Montella</cp:lastModifiedBy>
  <cp:revision>1</cp:revision>
  <dcterms:created xsi:type="dcterms:W3CDTF">2026-10-13T10:41:33Z</dcterms:created>
  <dcterms:modified xsi:type="dcterms:W3CDTF">2026-10-13T10:41:33Z</dcterms:modified>
</cp:coreProperties>
</file>