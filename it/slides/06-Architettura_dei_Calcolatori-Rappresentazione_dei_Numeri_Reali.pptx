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5a1cd89-1906-689f-2e10-a8cb18c97ca2}">
          <p14:sldIdLst>
            <p14:sldId id="256"/>
            <p14:sldId id="257"/>
          </p14:sldIdLst>
        </p14:section>
        <p14:section name="Altre codifiche per gli interi con segno" id="{66e351c1-81ec-a94b-7e1c-b2a2fa9dd770}">
          <p14:sldIdLst>
            <p14:sldId id="258"/>
            <p14:sldId id="259"/>
            <p14:sldId id="260"/>
            <p14:sldId id="261"/>
          </p14:sldIdLst>
        </p14:section>
        <p14:section name="Virgola fissa" id="{9564011e-4a1e-55cd-46bd-817ebda04bca}">
          <p14:sldIdLst>
            <p14:sldId id="262"/>
            <p14:sldId id="263"/>
          </p14:sldIdLst>
        </p14:section>
        <p14:section name="Virgola mobile" id="{f9572c93-664b-b098-32ac-9bba342c130e}">
          <p14:sldIdLst>
            <p14:sldId id="264"/>
            <p14:sldId id="265"/>
            <p14:sldId id="266"/>
            <p14:sldId id="267"/>
            <p14:sldId id="268"/>
            <p14:sldId id="269"/>
          </p14:sldIdLst>
        </p14:section>
        <p14:section name="Ritorno alla macchina" id="{fcf7d42c-f8f5-bd46-9fc8-cab99c89a13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trattato gli interi; questa tratta i numeri con una parte frazionaria. Comincia da un problema ingegneristico concreto: una pallina deve muoversi di meno di un pixel per frame, su un processore privo di istruzioni per i numeri reali. La prima soluzione, la virgola fissa, non usa nulla al di là dell'aritmetica intera già compresa. La virgola mobile emerge poi come soluzione generale, insieme allo standard a cui si conforma sostanzialmente ogni calcolatore, IEEE 754. La lezione è quindi organizzata come una progressione da un vincolo specifico a una teoria generale, e di nuovo al vincolo.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Percorso. I risultati di oggi: (1) rappresentare un numero reale in virgola fissa e calcolarci con le istruzioni intere; (2) decodificare un numero IEEE 754 in precisione singola; (3) leggere il nome RV32IMAC e dire che cosa il kit sa e non sa calcolare in hardware. Si appoggia su: solo ciò che ha preparato la Lezione 01. Prossimo passo: Lezione 07, Verm1, parte 1: una testa che attraversa il mondo.
Per il docente: Spirale: la lezione si apre con una palla che deve muoversi di meno di un pixel per frame su un processore senza unità in virgola mobile. La virgola fissa risolve il problema; la virgola mobile viene poi presentata come risposta generale, con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Due ulteriori codifiche degli interi con segno, il complemento a uno e l'eccesso k, completano la lezione precedente e sono prerequisiti della virgola mobile. Segue la rappresentazione in virgola fissa, che il progetto del corso userà. Poi la virgola mobile: mantissa, esponente e normalizzazione, codifica e decodifica in precisione singola, e le configurazioni speciali. L'ultimo risultato riguarda il kit dello studente: il suo processore non ha istruzioni in virgola mobile, e lo studente deve saper spiegare che cosa fanno invece i programmi, 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complemento a uno un numero negativo si ottiene invertendo ogni bit del suo corrispondente positivo: 6 è 0110, -6 è 1001. Il cambio di segno non potrebbe essere più semplice. Il costo è quello già pagato da segno e modulo: lo zero ha due rappresentazioni, 0000 e 1111, e l'intervallo è simmetrico, da -7 a +7 su quattro bit. L'istruzione RISC-V not calcola esattamente il complemento a uno di un registro, e la lezione precedente ha mostrato che sommandogli 1 si ottiene il complemento a due.
DA COMPRENDERE OGGI: complemento a uno ed eccesso k.
Per il docente: Detto anche complemento alla base diminuita. La not bit a bit di RISC-V calcola esattamente questo.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in complemento a uno usa un normale sommatore binario con una correzione: quando un riporto esce dalla posizione più significativa, al risultato va sommato 1, un'operazione nota come riporto circolare. Il primo esempio non richiede correzione; nel secondo e nel terzo il riporto uscente viene riportato in fondo e sommato. Questo passo in più, insieme al doppio zero, spiega perché nel progetto delle unità aritmetiche si è affermato il complemento a due, in cui il riporto uscente si scarta semplicemente.
DA COMPRENDERE OGGI: complemento a uno ed eccesso k.
Per il docente: Le slide originali chiamano il riporto «overflow nell'aritmetica degli interi positivi»: è il riporto uscente dell'addizionatore dei naturali, reinterpretato come necessità di una correzione.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in eccesso k ogni numero è spostato verso l'alto di una costante: X = x + k. Con quattro bit e k = 8, la configurazione 0000 indica -8, 1000 indica zero e 1111 indica +7. La sua proprietà preziosa è la conservazione dell'ordine: un numero più grande ha sempre una configurazione più grande, quindi due valori con segno si possono confrontare come se fossero numeri naturali. L'aritmetica è meno comoda, perché ogni somma va corretta sottraendo k. È proprio la codifica dell'esponente nei formati in virgola mobile, dove il confronto rapido conta più della somma comoda.
DA COMPRENDERE OGGI: complemento a uno ed eccesso k.
Per il docente: Eccesso 8 su quattro bit: 0000 = -8, 1000 = 0, 1111 = +7. Si confronti con il complemento a due: stesso intervallo, con il bit più significativo invertito.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della Lezione 05, estesa di due colonne: le stesse sedici configurazioni lette senza segno, in segno e modulo, in complemento a uno, in complemento a due e in eccesso 8. Tre osservazioni. Segno e modulo e complemento a uno hanno ciascuno due zeri, evidenziati. Complemento a due ed eccesso 8 coprono lo stesso intervallo, da -8 a +7, e differiscono solo nel bit più a sinistra. E l'eccesso 8 è l'unica colonna in cui i valori crescono monotonamente dall'alto al basso della tabella, che è la proprietà di conservazione dell'ordine in forma visiva.
DA COMPRENDERE OGGI: complemento a uno ed eccesso k.
Per il docente: Questa tabella sostituisce la figura di confronto della presentazione originale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fissa la parte intera e la parte frazionaria occupano posizioni adiacenti in una parola, e la posizione della virgola binaria è fissa. Non è memorizzata da nessuna parte: è una convenzione nota al programma. Se si riservano f bit alla frazione, la parola contiene il numero moltiplicato per 2^f, e il più piccolo incremento rappresentabile, la risoluzione, è 2^-f. La notazione Qm.f specifica la divisione dei bit: Q24.8 indica 24 bit interi e 8 bit frazionari. L'aritmetica è l'ordinaria aritmetica intera, con un riscalamento solo dove un prodotto o un quoziente lo richiedono.
DA COMPRENDERE OGGI: la virgola fissa.
Per il docente: La virgola fissa è il modo in cui giochi, audio e software di controllo trattano le frazioni sui processori senza unità in virgola mobile. È anche il modo in cui si dovrebbe memorizzare il denaro: centesimi interi.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reali sono densi: tra due qualsiasi ce ne sono infiniti altri, quindi con un numero finito di bit la maggior parte di essi non si può rappresentare, e ciascuno viene sostituito dal suo vicino rappresentabile più prossimo. In Q24.8 il numero 0,1 diventa 26/256, circa 0,1016. L'errore non supera mai metà della risoluzione. Un valore abbastanza vicino a zero si arrotonda a zero, il che è l'underflow, ed è il motivo per cui una velocità di 0,001 pixel per frame lascerebbe la pallina immobile. In virgola fissa il limite dell'errore assoluto è lo stesso su tutto l'intervallo.
DA COMPRENDERE OGGI: la virgola fissa.
Per il docente: 0,1 x 256 = 25,6, arrotondato a 26. Con SPEED_Q8 = 1 la palla si muove di 1/256 di pixel per frame; una velocità di 0,001 pixel per frame va in underflow a zero e la palla non si muove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numero reale si rappresenta come una coppia: una mantissa m e un esponente e, tali che x sia uguale a m moltiplicato per la base elevata a e. È la notazione scientifica del laboratorio di fisica, e la virgola "galleggia" perché è l'esponente a determinarne la posizione. Poiché lo stesso numero ammette infinite coppie di questo tipo, se ne sceglie una canonica con la normalizzazione: la virgola si colloca subito dopo la prima cifra significativa, così che 346,09801 diventa 3,4609801 con esponente 2. La normalizzazione garantisce l'unicità e massimizza il numero di cifre significative conservate.
DA COMPRENDERE OGGI: la virgola mobile IEEE 754.
Per il docente: In altre parole, la notazione scientifica. La virgola fissa spende i bit su un intervallo fisso; la virgola mobile ne spende alcuni per dire dove si trova l'intervallo.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mobile la distanza tra numeri rappresentabili consecutivi non è uniforme: è molto fine vicino a zero e grossolana vicino al limite superiore dell'intervallo. L'errore assoluto cresce quindi con il modulo del numero. Ciò che resta approssimativamente costante è l'errore relativo, perché ogni numero porta lo stesso numero di cifre significative, quattro in questo esempio. La virgola fissa mostra il comportamento opposto: errore assoluto costante, con un errore relativo che diventa grande vicino a zero. La scelta tra le due è una scelta su quale errore conti per l'applicazione.
DA COMPRENDERE OGGI: la virgola mobile IEEE 754.
Per il docente: È l'opposto della virgola fissa, dove l'errore assoluto è costante e quello relativo esplode vicino 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IEEE 754 in precisione singola divide 32 bit in tre campi: un bit di segno, otto bit di esponente e ventitré bit di frazione, con il valore dato dalla formula al centro. Due decisioni di progetto meritano attenzione. Una mantissa binaria normalizzata comincia sempre con 1, quindi quel bit non va memorizzato: è il bit nascosto, che dà gratis un bit di precisione in più. E l'esponente è memorizzato in eccesso 127, la codifica della sezione precedente, così che numeri in virgola mobile dello stesso segno si possono confrontare come numeri naturali.
DA COMPRENDERE OGGI: la virgola mobile IEEE 754.
Per il docente: IEEE 754 è del 1985 (rivisto nel 2008 e nel 2019). Prima ogni costruttore aveva il proprio formato e i programmi davano risultati diversi su macchine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svolto completo: -5,125. Parte intera e parte frazionaria si convertono separatamente: 5 è 101 e 0,125 è 0,001, quindi il numero è 101,001. La normalizzazione sposta la virgola di due posti: 1,01001 per 2^2. Il bit di segno è 1. Il campo esponente è 2 + 127 = 129, cioè 1000 0001. Il campo frazione è 01001 seguito da zeri, senza l'1 iniziale. Concatenando i tre campi e raggruppando a quattro bit si ottiene 0xC0A40000. L'esempio va riprodotto su carta e poi ripetuto con un numero scelto da sé.
DA COMPRENDERE OGGI: la virgola mobile IEEE 754.
Per il docente: Verificare il raggruppamento in nibble: 1100 = C, 0000 = 0, 1010 = A, 0100 = 4, poi zeri. Qui sono unite tre slide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Precisione singola e doppia a confronto. La precisione doppia usa 64 bit, con 11 bit di esponente in eccesso 1023 e 52 bit di frazione. Due righe valgono come ordini di grandezza da ricordare: la precisione singola offre circa 7 cifre decimali significative e un intervallo che arriva a circa 10^38; la doppia circa 16 cifre e un intervallo che arriva a circa 10^308. I tipi C float e double corrispondono a questi due formati praticamente su ogni piattaforma moderna.
DA COMPRENDERE OGGI: la virgola mobile IEEE 754.
Per il docente: Correzioni alla tabella originale: l'esponente in doppia precisione è in eccesso 1023 (non 1024), e gli intervalli decimali sono circa 10^38 e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ogni configurazione codifica un numero ordinario. Un campo esponente strettamente compreso tra i suoi estremi indica un numero normalizzato. Un esponente tutto a zero indica lo zero, se anche la frazione è zero, oppure un numero denormalizzato, che riempie il vuoto attorno allo zero con precisione gradualmente decrescente. Un esponente tutto a uno indica l'infinito, se la frazione è zero, oppure NaN, "not a number", il risultato di un'operazione non valida come zero diviso zero. Due conseguenze sono controintuitive e vanno notate: ci sono due zeri, positivo e negativo, e NaN risulta diverso da tutto, sé stesso compreso.
DA COMPRENDERE OGGI: la virgola mobile IEEE 754.
Per il docente: I numeri denormalizzati (subnormali) riempiono il vuoto dell'underflow attorno allo zero con precisione via via decrescente. 1/0 dà infinito; 0/0 e la radice quadrata di -1 danno NaN. NaN non è uguale a nulla, nemmeno a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supporta la virgola mobile con due estensioni facoltative, F per la precisione singola e D per la doppia, che aggiungono trentadue registri, da f0 a f31, e istruzioni come fadd.s. Il processore del kit, RV32IMAC, non implementa né l'una né l'altra. Un programma C può comunque usare float, ma ogni operazione viene allora compilata come chiamata a una routine software che costa decine o centinaia di istruzioni intere. È per questo che i giochi PRG32 usano interi e virgola fissa: sono veloci, sufficientemente precisi per lo scopo e trasparenti nel debugger.
DA COMPRENDERE OGGI: la virgola mobile IEEE 754.
Per il docente: Le routine software realizzano esattamente l'algoritmo di questa lezione con scorrimenti, maschere e somme intere: un buon esercizio di lettura per 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RV32IMAC si può ora leggere lettera per lettera. RV32I è la base: registri a 32 bit e le istruzioni intere. M aggiunge moltiplicazione e divisione. A aggiunge le istruzioni atomiche, per la condivisione sicura di dati tra attività concorrenti. C aggiunge codifiche compresse a 16 bit delle istruzioni più frequenti. F e D, le estensioni in virgola mobile, sono assenti. Questa modularità è un principio di progetto centrale di RISC-V: una piccola base obbligatoria ed estensioni facoltative, così che la stessa architettura possa servire un microcontrollore economico e un supercalcolatore.
DA COMPRENDERE OGGI: il nome RV32IMAC.
Per il docente: RISC-V è modulare: una piccola base obbligatoria più estensioni facoltative. Un microcontrollore prende ciò che gli serve; è una delle ragioni per cui la stessa architettura va da un chip da due euro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conviene considerare che cosa fa ogni codifica all'ordinamento. In segno e modulo e in entrambi i complementi i numeri negativi hanno un 1 a sinistra e quindi, letti come configurazioni, seguono quelli positivi. Solo una codifica che somma una costante a ogni numero conserva l'ordine.
Per la seconda, Q24.8 significa che la parola contiene il numero moltiplicato per 256. 0x180 si legge come intero e si divide per 256; in alternativa lo si divide direttamente in parte intera 0x01 e frazione 0x80, cioè 128/256.
Per il docente: 1. Risposta: D. In eccesso k, X = x + k: a un numero maggiore corrisponde sempre una configurazione maggiore. Per questo codifica gli esponenti della virgola mobile, che vanno confrontati in fretta.
2. Risposta: B. 0x180 = 384; 384 / 256 = 1,5. Parte intera 0x01, frazione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le prime cifre esadecimali si scrivono in binario e si separano i campi: un bit di segno, otto bit di esponente, poi la frazione. Dall'esponente si sottrae la polarizzazione di 127, e davanti alla frazione si ripristina l'1 nascosto.
Per la seconda va consultata la tabella delle configurazioni speciali. Un esponente tutto a uno è riservato; la domanda è quale dei suoi due casi abbia una frazione tutta a zero.
Per il docente: 1. Risposta: B. 0100 0000 0100 0000 ...: S = 0, E = 1000 0000 = 128, F = 100...: 1,1 (binario) x 2^(128-127) = 1,5 x 2 = 3,0.
2. Risposta: C. Tutti uni nell'esponente: infinito se la frazione è zero, NaN altrimenti.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italiano il separatore decimale è la virgola, quindi fixed point e floating point diventano virgola fissa e virgola mobile. Mantissa è il termine tradizionale per le cifre significative; lo standard chiama la parte memorizzata frazione. Il bit nascosto è l'1 iniziale non memorizzato. I numeri denormalizzati si dicono anche subnormali.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Gli interi ammettono più rappresentazioni, scelte secondo l'uso. La virgola fissa memorizza una frazione come intero scalato, con errore assoluto costante e la velocità dell'aritmetica intera. La virgola mobile memorizza mantissa ed esponente, con un intervallo enorme ed errore relativo approssimativamente costante. IEEE 754 è lo standard universale, con configurazioni speciali per lo zero, l'infinito e NaN. Su un processore privo dell'estensione F, la virgola fissa è la scelta naturale. La prossima lezione è la prima parte di Verm1, in cui il contenuto delle ultime quattro lezioni viene messo al lavoro.
Stato di apprendimento, riepilogo. DA COMPRENDERE OGGI: la virgola fissa; complemento a uno ed eccesso k; la virgola mobile IEEE 754; il nome RV32IMAC. DA UTILIZZARE OGGI: il programma completo, gli strumenti di PRG32 (si usa, non si studia, in questo corso). DA COMPRENDERE PIÙ AVANTI: niente. Una slide senza etichetta è contesto: una storia, un esempio, una domanda, un esercizio. Il filo della lezione: Senza l'estensione F, le frazioni sono interi con una scala concordata: Verm1 muoverà la testa di frazioni di cella proprio così. Prossimo passo: la prima parte del progetto. Biglietto d'uscita (da due a quattro minuti, da soli, su carta): 1. Leggete RV32IMAC lettera per lettera. Uno studente scrive fmul.s in una cartuccia per il kit: che cosa succede, e perché Verm1 si muove con numeri in virgola fissa? 2. In Q24.8, quale numero reale rappresenta la parola 0x00000180? Come si sommano due numeri Q24.8, e come si moltiplicano?
Per il docente: A seguire: Verm1, parte 1, dove le prime quattro lezioni vanno a lavorare in un programma vero. Poi l'algebra di Boole.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06: Rappresentazione dei numeri (reali)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i reali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Complemento a uno, eccesso k, virgola fissa e virgola mobile IEEE 754</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06-Architettura_dei_Calcolatori-Rappresentazione_dei_Numeri_Reali-Lab.pptx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interi con segno in complemento a uno e in eccesso k, e dire a che cosa serve ciascuno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Rappresentare una grandezza frazionaria in virgola fissa e calcolarci con istruzioni intere</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mantissa, esponente e normalizzazione nella virgola mobile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un numero in IEEE 754 a singola precisione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zero, numeri denormalizzati, infinito e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l'ESP32-C6 non ha istruzioni in virgola mobile e che cosa fanno invece i giochi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uno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sono rappresentati da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0000 e 1111: si rappresentano 2^n - 1 numeri, come in segno e modulo</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usarlo? Cambiare segno è banale: si complementa ogni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e -6 = 1001; 5 = 0101 e -5 = 1010; 1 = 0001 e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complemento a uno di un numero si ottiene invertendo tutti i suoi bit</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uno</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Nessuna correzione</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nessun riporto uscente: il risultato è giusto</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Risultato positivo</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L'addizionatore lavora modulo 2^n - 1: ogni volta che c'è un riporto uscente dal bit più significativo, al risultato va sommato 1 (riporto circolare)</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correzione serve quando entrambi gli operandi sono negativi, o quando hanno segno opposto e la somma è positiva</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Bastano ancora un addizionatore e un complementatore, ma il passo in più e il doppio zero hanno fatto vincere il complemento a due</a:t>
            </a:r>
            <a:endParaRPr lang="en-US" sz="2100" dirty="0"/>
          </a:p>
        </p:txBody>
      </p:sp>
      <p:sp>
        <p:nvSpPr>
          <p:cNvPr id="24" name="Shape 22"/>
          <p:cNvSpPr/>
          <p:nvPr/>
        </p:nvSpPr>
        <p:spPr>
          <a:xfrm>
            <a:off x="7263714" y="91440"/>
            <a:ext cx="4379341" cy="274320"/>
          </a:xfrm>
          <a:prstGeom prst="rect">
            <a:avLst/>
          </a:prstGeom>
          <a:solidFill>
            <a:srgbClr val="E0F2FE"/>
          </a:solidFill>
          <a:ln w="12700">
            <a:solidFill>
              <a:srgbClr val="0369A1"/>
            </a:solidFill>
            <a:prstDash val="solid"/>
          </a:ln>
        </p:spPr>
      </p:sp>
      <p:sp>
        <p:nvSpPr>
          <p:cNvPr id="25" name="Shape 23"/>
          <p:cNvSpPr/>
          <p:nvPr/>
        </p:nvSpPr>
        <p:spPr>
          <a:xfrm>
            <a:off x="7263714"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7" name="Text 24"/>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Rappresentazione in eccesso k (polarizzata)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numero è traslato verso l'alto di una costante k: X = x + k, tipicamente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L'ordine si conserva: se x1 &gt; x2 allora X1 &gt; X2, quindi i numeri con segno si confrontano come naturali</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somma va corretta sottraendo k; moltiplicazione e divisione sono molto più scomode che con i complementi</a:t>
            </a:r>
            <a:endParaRPr lang="en-US" sz="2200" dirty="0"/>
          </a:p>
        </p:txBody>
      </p:sp>
      <p:sp>
        <p:nvSpPr>
          <p:cNvPr id="9" name="Shape 7"/>
          <p:cNvSpPr/>
          <p:nvPr/>
        </p:nvSpPr>
        <p:spPr>
          <a:xfrm>
            <a:off x="548640" y="50046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826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Preferita dove servono solo somme e confronti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codifica dell'esponente nei numeri in virgola mobile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su quattro bit con k = 8: la configurazione 0000 significa -8, 1000 significa 0, 1111 significa +7</a:t>
            </a:r>
            <a:endParaRPr lang="en-US" sz="1900" dirty="0"/>
          </a:p>
        </p:txBody>
      </p:sp>
      <p:sp>
        <p:nvSpPr>
          <p:cNvPr id="16" name="Shape 14"/>
          <p:cNvSpPr/>
          <p:nvPr/>
        </p:nvSpPr>
        <p:spPr>
          <a:xfrm>
            <a:off x="7263714" y="91440"/>
            <a:ext cx="4379341" cy="274320"/>
          </a:xfrm>
          <a:prstGeom prst="rect">
            <a:avLst/>
          </a:prstGeom>
          <a:solidFill>
            <a:srgbClr val="E0F2FE"/>
          </a:solidFill>
          <a:ln w="12700">
            <a:solidFill>
              <a:srgbClr val="0369A1"/>
            </a:solidFill>
            <a:prstDash val="solid"/>
          </a:ln>
        </p:spPr>
      </p:sp>
      <p:sp>
        <p:nvSpPr>
          <p:cNvPr id="17" name="Shape 15"/>
          <p:cNvSpPr/>
          <p:nvPr/>
        </p:nvSpPr>
        <p:spPr>
          <a:xfrm>
            <a:off x="726371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9" name="Text 16"/>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cinque letture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96891"/>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Segno e modulo e complemento a uno hanno due zeri (evidenziati): 0000 e 1000, oppure 0000 e 1111</a:t>
            </a:r>
            <a:endParaRPr lang="en-US" sz="17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6900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Complemento a due ed eccesso 8 coprono lo stesso intervallo, da -8 a +7, con un solo zero</a:t>
            </a:r>
            <a:endParaRPr lang="en-US" sz="1700" dirty="0"/>
          </a:p>
        </p:txBody>
      </p:sp>
      <p:sp>
        <p:nvSpPr>
          <p:cNvPr id="9" name="Shape 5"/>
          <p:cNvSpPr/>
          <p:nvPr/>
        </p:nvSpPr>
        <p:spPr>
          <a:xfrm>
            <a:off x="548640" y="5976493"/>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Solo l'eccesso k mantiene le configurazioni nello stesso ordine dei numeri</a:t>
            </a:r>
            <a:endParaRPr lang="en-US" sz="1700" dirty="0"/>
          </a:p>
        </p:txBody>
      </p:sp>
      <p:sp>
        <p:nvSpPr>
          <p:cNvPr id="11" name="Shape 7"/>
          <p:cNvSpPr/>
          <p:nvPr/>
        </p:nvSpPr>
        <p:spPr>
          <a:xfrm>
            <a:off x="7263714" y="91440"/>
            <a:ext cx="4379341" cy="274320"/>
          </a:xfrm>
          <a:prstGeom prst="rect">
            <a:avLst/>
          </a:prstGeom>
          <a:solidFill>
            <a:srgbClr val="E0F2FE"/>
          </a:solidFill>
          <a:ln w="12700">
            <a:solidFill>
              <a:srgbClr val="0369A1"/>
            </a:solidFill>
            <a:prstDash val="solid"/>
          </a:ln>
        </p:spPr>
      </p:sp>
      <p:sp>
        <p:nvSpPr>
          <p:cNvPr id="12" name="Shape 8"/>
          <p:cNvSpPr/>
          <p:nvPr/>
        </p:nvSpPr>
        <p:spPr>
          <a:xfrm>
            <a:off x="726371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14" name="Text 9"/>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complemento a uno ed eccesso 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in virgola fissa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intera e parte frazionaria sono memorizzate fianco a fianco in un'unica parola</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posizione della virgola è fissa e implicita: non è memorizzata, la conosce il programma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f bit frazionari l'intero memorizzato è X = x per 2^f, e la risoluzione è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parte usa una delle rappresentazioni già viste: di solito l'intera parola è in complemento a due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Notazione Qm.f: m bit interi e f bit frazionari, per esempio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 memorizza il numero moltiplicato per una potenza di due; scorrendo a destra di f bit si riottiene la parte intera</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razionali: l'errore di approssimazione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reali sono densi: anche in un intervallo limitato non tutti i numeri sono rappresentabili</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Approssimazione: a ogni numero si associa il più vicino tra quelli rappresentabili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 Q24.8, 0,1 diventa 26/256 = 0,1015625: un errore dell'1,6% circa</a:t>
            </a:r>
            <a:endParaRPr lang="en-US" sz="2100" dirty="0"/>
          </a:p>
        </p:txBody>
      </p:sp>
      <p:sp>
        <p:nvSpPr>
          <p:cNvPr id="7" name="Shape 5"/>
          <p:cNvSpPr/>
          <p:nvPr/>
        </p:nvSpPr>
        <p:spPr>
          <a:xfrm>
            <a:off x="548640" y="38652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L'errore di approssimazione è al più metà della risoluzione: 1/512 con otto bit frazionari</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Underflow: un numero vicino a zero, ma non zero, è rappresentato da zero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virgola fissa l'errore assoluto è lo stesso lungo tutta la retta dei numeri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risoluzione di otto bit frazionari: nulla di più piccolo si distingue da zero</a:t>
            </a:r>
            <a:endParaRPr lang="en-US" sz="1900" dirty="0"/>
          </a:p>
        </p:txBody>
      </p:sp>
      <p:sp>
        <p:nvSpPr>
          <p:cNvPr id="16" name="Shape 14"/>
          <p:cNvSpPr/>
          <p:nvPr/>
        </p:nvSpPr>
        <p:spPr>
          <a:xfrm>
            <a:off x="8182940" y="91440"/>
            <a:ext cx="3460115" cy="274320"/>
          </a:xfrm>
          <a:prstGeom prst="rect">
            <a:avLst/>
          </a:prstGeom>
          <a:solidFill>
            <a:srgbClr val="E0F2FE"/>
          </a:solidFill>
          <a:ln w="12700">
            <a:solidFill>
              <a:srgbClr val="0369A1"/>
            </a:solidFill>
            <a:prstDash val="solid"/>
          </a:ln>
        </p:spPr>
      </p:sp>
      <p:sp>
        <p:nvSpPr>
          <p:cNvPr id="17" name="Shape 15"/>
          <p:cNvSpPr/>
          <p:nvPr/>
        </p:nvSpPr>
        <p:spPr>
          <a:xfrm>
            <a:off x="818294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9" name="Text 16"/>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reali in virgola mobile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numero reale x è rappresentato da una coppia (m, e) tale che x = m per b^e</a:t>
            </a:r>
            <a:endParaRPr lang="en-US" sz="2200" dirty="0"/>
          </a:p>
        </p:txBody>
      </p:sp>
      <p:sp>
        <p:nvSpPr>
          <p:cNvPr id="5" name="Shape 3"/>
          <p:cNvSpPr/>
          <p:nvPr/>
        </p:nvSpPr>
        <p:spPr>
          <a:xfrm>
            <a:off x="548640" y="2483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6932"/>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è la mantissa, e l'esponente, b la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è mobile: l'esponente dice dove si trova</a:t>
            </a:r>
            <a:endParaRPr lang="en-US" sz="2200" dirty="0"/>
          </a:p>
        </p:txBody>
      </p:sp>
      <p:sp>
        <p:nvSpPr>
          <p:cNvPr id="7" name="Shape 5"/>
          <p:cNvSpPr/>
          <p:nvPr/>
        </p:nvSpPr>
        <p:spPr>
          <a:xfrm>
            <a:off x="548640" y="3727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102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 coppie rappresentano lo stesso numero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497154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normalizzazione sceglie un unico rappresentante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va subito dopo la prima cifra significativa: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ed esponente: la notazione scientifica del laboratorio, in binario</a:t>
            </a:r>
            <a:endParaRPr lang="en-US" sz="19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Approssimazione: errore assoluto e relativo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L'errore assoluto non è costante: la precisione è finissima vicino a zero e diminuisce al crescere dei numeri</a:t>
            </a:r>
            <a:endParaRPr lang="en-US" sz="2200" dirty="0"/>
          </a:p>
        </p:txBody>
      </p:sp>
      <p:sp>
        <p:nvSpPr>
          <p:cNvPr id="5" name="Shape 3"/>
          <p:cNvSpPr/>
          <p:nvPr/>
        </p:nvSpPr>
        <p:spPr>
          <a:xfrm>
            <a:off x="548640" y="27174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0993"/>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 zero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meno 1,000 x 10^-99</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al limite superiore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meno 9,998 x 10^99</a:t>
            </a:r>
            <a:endParaRPr lang="en-US" sz="2200" dirty="0"/>
          </a:p>
        </p:txBody>
      </p:sp>
      <p:sp>
        <p:nvSpPr>
          <p:cNvPr id="9" name="Shape 7"/>
          <p:cNvSpPr/>
          <p:nvPr/>
        </p:nvSpPr>
        <p:spPr>
          <a:xfrm>
            <a:off x="548640" y="5084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852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assoluto: piccolo sui numeri piccoli, grande sui numeri grandi</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relativo: costante lungo tutto l'asse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cifre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stesso numero di cifre significative ovunque: errore relativo costante, qualunque sia la grandezza del numero</a:t>
            </a:r>
            <a:endParaRPr lang="en-US" sz="1900" dirty="0"/>
          </a:p>
        </p:txBody>
      </p:sp>
      <p:sp>
        <p:nvSpPr>
          <p:cNvPr id="16" name="Shape 14"/>
          <p:cNvSpPr/>
          <p:nvPr/>
        </p:nvSpPr>
        <p:spPr>
          <a:xfrm>
            <a:off x="7526350" y="91440"/>
            <a:ext cx="4116705" cy="274320"/>
          </a:xfrm>
          <a:prstGeom prst="rect">
            <a:avLst/>
          </a:prstGeom>
          <a:solidFill>
            <a:srgbClr val="E0F2FE"/>
          </a:solidFill>
          <a:ln w="12700">
            <a:solidFill>
              <a:srgbClr val="0369A1"/>
            </a:solidFill>
            <a:prstDash val="solid"/>
          </a:ln>
        </p:spPr>
      </p:sp>
      <p:sp>
        <p:nvSpPr>
          <p:cNvPr id="17" name="Shape 15"/>
          <p:cNvSpPr/>
          <p:nvPr/>
        </p:nvSpPr>
        <p:spPr>
          <a:xfrm>
            <a:off x="752635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9" name="Text 16"/>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 singola precisione: 32 bit</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segno</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negativo</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esponente: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eccesso 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23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modulo, dopo l'1 nascosto</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valore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mantissa è in segno e modulo: un bit di segno e 23 bit di modulo</a:t>
            </a:r>
            <a:endParaRPr lang="en-US" sz="1800" dirty="0"/>
          </a:p>
        </p:txBody>
      </p:sp>
      <p:sp>
        <p:nvSpPr>
          <p:cNvPr id="17" name="Shape 15"/>
          <p:cNvSpPr/>
          <p:nvPr/>
        </p:nvSpPr>
        <p:spPr>
          <a:xfrm>
            <a:off x="548640" y="4566666"/>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49122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mantissa binaria normalizzata comincia sempre con 1: quel bit è nascosto, non memorizzato, e si guadagna un bit di precisione</a:t>
            </a:r>
            <a:endParaRPr lang="en-US" sz="1800" dirty="0"/>
          </a:p>
        </p:txBody>
      </p:sp>
      <p:sp>
        <p:nvSpPr>
          <p:cNvPr id="19" name="Shape 17"/>
          <p:cNvSpPr/>
          <p:nvPr/>
        </p:nvSpPr>
        <p:spPr>
          <a:xfrm>
            <a:off x="548640" y="5267706"/>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19226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L'esponente è in eccesso 127, non 128: gli esponenti veri vanno da -126 a +127</a:t>
            </a:r>
            <a:endParaRPr lang="en-US" sz="1800" dirty="0"/>
          </a:p>
        </p:txBody>
      </p:sp>
      <p:sp>
        <p:nvSpPr>
          <p:cNvPr id="21" name="Shape 19"/>
          <p:cNvSpPr/>
          <p:nvPr/>
        </p:nvSpPr>
        <p:spPr>
          <a:xfrm>
            <a:off x="548640" y="5689854"/>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configurazioni E = 0 ed E = 255 sono riservate: zero e numeri denormalizzati, infinito e NaN</a:t>
            </a:r>
            <a:endParaRPr lang="en-US" sz="1800" dirty="0"/>
          </a:p>
        </p:txBody>
      </p:sp>
      <p:sp>
        <p:nvSpPr>
          <p:cNvPr id="23" name="Shape 21"/>
          <p:cNvSpPr/>
          <p:nvPr/>
        </p:nvSpPr>
        <p:spPr>
          <a:xfrm>
            <a:off x="7526350" y="91440"/>
            <a:ext cx="4116705" cy="274320"/>
          </a:xfrm>
          <a:prstGeom prst="rect">
            <a:avLst/>
          </a:prstGeom>
          <a:solidFill>
            <a:srgbClr val="E0F2FE"/>
          </a:solidFill>
          <a:ln w="12700">
            <a:solidFill>
              <a:srgbClr val="0369A1"/>
            </a:solidFill>
            <a:prstDash val="solid"/>
          </a:ln>
        </p:spPr>
      </p:sp>
      <p:sp>
        <p:nvSpPr>
          <p:cNvPr id="24" name="Shape 22"/>
          <p:cNvSpPr/>
          <p:nvPr/>
        </p:nvSpPr>
        <p:spPr>
          <a:xfrm>
            <a:off x="752635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6" name="Text 2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svolto: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convertono le due parti: 5 = 101 e 0,125 = 1/8 = 0,001, quindi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normalizza: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Segno S = 1; esponente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Frazione F = 01001 seguita da zeri: l'1 iniziale è nascosto</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7526350" y="91440"/>
            <a:ext cx="4116705" cy="274320"/>
          </a:xfrm>
          <a:prstGeom prst="rect">
            <a:avLst/>
          </a:prstGeom>
          <a:solidFill>
            <a:srgbClr val="E0F2FE"/>
          </a:solidFill>
          <a:ln w="12700">
            <a:solidFill>
              <a:srgbClr val="0369A1"/>
            </a:solidFill>
            <a:prstDash val="solid"/>
          </a:ln>
        </p:spPr>
      </p:sp>
      <p:sp>
        <p:nvSpPr>
          <p:cNvPr id="21" name="Shape 19"/>
          <p:cNvSpPr/>
          <p:nvPr/>
        </p:nvSpPr>
        <p:spPr>
          <a:xfrm>
            <a:off x="7526350"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3" name="Text 20"/>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in sintesi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Singola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Doppia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totali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segno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frazione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52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Codifica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Intervallo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-126 ...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-1022 ...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2^-126, circa 1,2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2^-1022, circa 2,2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Massimo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2^128, 3,4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2^1024, 1,8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denormalizzato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1,4 x 10^-45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4,9 x 10^-324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Cifre decimali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che cosa significano le configurazioni</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Tipo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Esponente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Frazione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qualsiasi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+infinito o -infinito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un risultato non valido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526350" y="91440"/>
            <a:ext cx="4116705" cy="274320"/>
          </a:xfrm>
          <a:prstGeom prst="rect">
            <a:avLst/>
          </a:prstGeom>
          <a:solidFill>
            <a:srgbClr val="E0F2FE"/>
          </a:solidFill>
          <a:ln w="12700">
            <a:solidFill>
              <a:srgbClr val="0369A1"/>
            </a:solidFill>
            <a:prstDash val="solid"/>
          </a:ln>
        </p:spPr>
      </p:sp>
      <p:sp>
        <p:nvSpPr>
          <p:cNvPr id="5" name="Shape 2"/>
          <p:cNvSpPr/>
          <p:nvPr/>
        </p:nvSpPr>
        <p:spPr>
          <a:xfrm>
            <a:off x="752635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7" name="Text 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su RISC-V, e sul vostro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con le estensioni F e 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Altri trentadue registri, da f0 a f31, per i valori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Istruzioni come fadd.s, fmul.s, flw e fsw lavorano su numeri IEEE 754</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converte in intero, fcvt.s.w da intero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 trovano sui processori RISC-V per portatili, server e supercalcolatori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Né F né D: non esiste alcuna istruzione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programma C può comunque usare float: il compilatore chiama routine software come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chiamata costa da decine a centinaia di istruzioni intere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 giochi PRG32 usano interi e virgola fissa: veloci, abbastanza esatti, e visibili nel debugger</a:t>
            </a:r>
            <a:endParaRPr lang="en-US" sz="1900" dirty="0"/>
          </a:p>
        </p:txBody>
      </p:sp>
      <p:sp>
        <p:nvSpPr>
          <p:cNvPr id="9" name="Shape 7"/>
          <p:cNvSpPr/>
          <p:nvPr/>
        </p:nvSpPr>
        <p:spPr>
          <a:xfrm>
            <a:off x="7526350" y="91440"/>
            <a:ext cx="4116705" cy="274320"/>
          </a:xfrm>
          <a:prstGeom prst="rect">
            <a:avLst/>
          </a:prstGeom>
          <a:solidFill>
            <a:srgbClr val="E0F2FE"/>
          </a:solidFill>
          <a:ln w="12700">
            <a:solidFill>
              <a:srgbClr val="0369A1"/>
            </a:solidFill>
            <a:prstDash val="solid"/>
          </a:ln>
        </p:spPr>
      </p:sp>
      <p:sp>
        <p:nvSpPr>
          <p:cNvPr id="10" name="Shape 8"/>
          <p:cNvSpPr/>
          <p:nvPr/>
        </p:nvSpPr>
        <p:spPr>
          <a:xfrm>
            <a:off x="752635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2" name="Text 9"/>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mobile IEEE 754</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il nome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aggiunge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Sull'ESP32-C6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insieme intero di base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registri a 32 bit, somma, logica, load e store, salti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moltiplicazione e divisione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e le forme senza segno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atomiche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per la condivisione sicura tra task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codifiche a 16 bit delle istruzioni più comuni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da f0 a f31 e istruzioni IEEE 754 a 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IEEE 754 a 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82940" y="91440"/>
            <a:ext cx="3460115" cy="274320"/>
          </a:xfrm>
          <a:prstGeom prst="rect">
            <a:avLst/>
          </a:prstGeom>
          <a:solidFill>
            <a:srgbClr val="E0F2FE"/>
          </a:solidFill>
          <a:ln w="12700">
            <a:solidFill>
              <a:srgbClr val="0369A1"/>
            </a:solidFill>
            <a:prstDash val="solid"/>
          </a:ln>
        </p:spPr>
      </p:sp>
      <p:sp>
        <p:nvSpPr>
          <p:cNvPr id="5" name="Shape 2"/>
          <p:cNvSpPr/>
          <p:nvPr/>
        </p:nvSpPr>
        <p:spPr>
          <a:xfrm>
            <a:off x="818294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7" name="Text 3"/>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nome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codifica con segno mantiene le configurazioni di bit nello stesso ordine dei numeri?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Segno e modulo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uno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due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Eccesso 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virgola fissa Q24.8, quale numero reale rappresenta la parola 0x00000180?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reale è la configurazione IEEE 754 a singola precisione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un campo esponente di tutti uni con frazione di tutti zeri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denormalizzato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interi hanno diverse rappresentazioni: 8, 16, 32 o 64 bit, con o senza segno, complementi o eccesso</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fissa memorizza una frazione come intero scalato: errore assoluto costante, velocità degli interi</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mobile memorizza mantissa ed esponente: intervallo enorme, errore relativo costante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IEEE 754 è lo standard universale della virgola mobile, con configurazioni speciali per zero, infinito e NaN</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 un processore senza l'estensione F, la virgola fissa è la scelta naturale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paragrafo 3.5</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appendice: The PRG32 Runtime Interface (playfield e parallasse)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i reali</dc:title>
  <dc:subject>Lezione 06</dc:subject>
  <dc:creator>Raffaele Montella</dc:creator>
  <cp:lastModifiedBy>Raffaele Montella</cp:lastModifiedBy>
  <cp:revision>1</cp:revision>
  <dcterms:created xsi:type="dcterms:W3CDTF">2026-10-17T07:16:49Z</dcterms:created>
  <dcterms:modified xsi:type="dcterms:W3CDTF">2026-10-17T07:16:49Z</dcterms:modified>
</cp:coreProperties>
</file>