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3a283a3d-438c-4f54-c2e3-7936b6d83bae}">
          <p14:sldIdLst>
            <p14:sldId id="256"/>
            <p14:sldId id="257"/>
          </p14:sldIdLst>
        </p14:section>
        <p14:section name="Altre codifiche per gli interi con segno" id="{50213fdf-dc3c-cbd1-e365-5358ce56be31}">
          <p14:sldIdLst>
            <p14:sldId id="258"/>
            <p14:sldId id="259"/>
            <p14:sldId id="260"/>
            <p14:sldId id="261"/>
          </p14:sldIdLst>
        </p14:section>
        <p14:section name="Virgola fissa" id="{b04fcad5-a603-386f-7a05-ecc380313e79}">
          <p14:sldIdLst>
            <p14:sldId id="262"/>
            <p14:sldId id="263"/>
          </p14:sldIdLst>
        </p14:section>
        <p14:section name="Virgola mobile" id="{8dcce291-4393-c56b-3a28-ac6b5fe5933b}">
          <p14:sldIdLst>
            <p14:sldId id="264"/>
            <p14:sldId id="265"/>
            <p14:sldId id="266"/>
            <p14:sldId id="267"/>
            <p14:sldId id="268"/>
            <p14:sldId id="269"/>
          </p14:sldIdLst>
        </p14:section>
        <p14:section name="Ritorno alla macchina" id="{ae96f7ff-86cc-0b63-8c16-143af77aa42c}">
          <p14:sldIdLst>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lezione precedente ha trattato gli interi; questa tratta i numeri con una parte frazionaria. Comincia da un problema ingegneristico concreto: una pallina deve muoversi di meno di un pixel per frame, su un processore privo di istruzioni per i numeri reali. La prima soluzione, la virgola fissa, non usa nulla al di là dell'aritmetica intera già compresa. La virgola mobile emerge poi come soluzione generale, insieme allo standard a cui si conforma sostanzialmente ogni calcolatore, IEEE 754. La lezione è quindi organizzata come una progressione da un vincolo specifico a una teoria generale, e di nuovo al vincolo.
Stato di apprendimento: DA COMPRENDERE OGGI, alla fine di questa lezione lo spiegate, lo seguite passo passo e lo applicate da soli; DA UTILIZZARE OGGI, oggi seguite e usate la ricetta; come funziona dentro si spiega più avanti, o non fa parte del corso; DA COMPRENDERE PIÙ AVANTI, riconoscete il nome e lo scopo; lo spiega una lezione successiva. Una slide senza etichetta è contesto: una storia, un esempio, una domanda, un esercizio.
Stato di apprendimento di questa lezione. DA COMPRENDERE OGGI: la virgola fissa; complemento a uno ed eccesso k; la virgola mobile IEEE 754; il nome RV32IMAC. DA UTILIZZARE OGGI: il programma completo, gli strumenti di PRG32 (si usa, non si studia, in questo corso). DA COMPRENDERE PIÙ AVANTI: niente. Una slide senza etichetta è contesto: una storia, un esempio, una domanda, un esercizio.
Per il docente: Spirale: la lezione si apre con una palla che deve muoversi di meno di un pixel per frame su un processore senza unità in virgola mobile. La virgola fissa risolve il problema; la virgola mobile viene poi presentata come risposta generale, con IEEE 754.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 risultati di apprendimento. Due ulteriori codifiche degli interi con segno, il complemento a uno e l'eccesso k, completano la lezione precedente e sono prerequisiti della virgola mobile. Segue la rappresentazione in virgola fissa, che il progetto del corso userà. Poi la virgola mobile: mantissa, esponente e normalizzazione, codifica e decodifica in precisione singola, e le configurazioni speciali. L'ultimo risultato riguarda il kit dello studente: il suo processore non ha istruzioni in virgola mobile, e lo studente deve saper spiegare che cosa fanno invece i programmi, e perché.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complemento a uno un numero negativo si ottiene invertendo ogni bit del suo corrispondente positivo: 6 è 0110, -6 è 1001. Il cambio di segno non potrebbe essere più semplice. Il costo è quello già pagato da segno e modulo: lo zero ha due rappresentazioni, 0000 e 1111, e l'intervallo è simmetrico, da -7 a +7 su quattro bit. L'istruzione RISC-V not calcola esattamente il complemento a uno di un registro, e la lezione precedente ha mostrato che sommandogli 1 si ottiene il complemento a due.
DA COMPRENDERE OGGI: complemento a uno ed eccesso k.
Per il docente: Detto anche complemento alla base diminuita. La not bit a bit di RISC-V calcola esattamente questo.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somma in complemento a uno usa un normale sommatore binario con una correzione: quando un riporto esce dalla posizione più significativa, al risultato va sommato 1, un'operazione nota come riporto circolare. Il primo esempio non richiede correzione; nel secondo e nel terzo il riporto uscente viene riportato in fondo e sommato. Questo passo in più, insieme al doppio zero, spiega perché nel progetto delle unità aritmetiche si è affermato il complemento a due, in cui il riporto uscente si scarta semplicemente.
DA COMPRENDERE OGGI: complemento a uno ed eccesso k.
Per il docente: Le slide originali chiamano il riporto «overflow nell'aritmetica degli interi positivi»: è il riporto uscente dell'addizionatore dei naturali, reinterpretato come necessità di una correzione.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Nella rappresentazione in eccesso k ogni numero è spostato verso l'alto di una costante: X = x + k. Con quattro bit e k = 8, la configurazione 0000 indica -8, 1000 indica zero e 1111 indica +7. La sua proprietà preziosa è la conservazione dell'ordine: un numero più grande ha sempre una configurazione più grande, quindi due valori con segno si possono confrontare come se fossero numeri naturali. L'aritmetica è meno comoda, perché ogni somma va corretta sottraendo k. È proprio la codifica dell'esponente nei formati in virgola mobile, dove il confronto rapido conta più della somma comoda.
DA COMPRENDERE OGGI: complemento a uno ed eccesso k.
Per il docente: Eccesso 8 su quattro bit: 0000 = -8, 1000 = 0, 1111 = +7. Si confronti con il complemento a due: stesso intervallo, con il bit più significativo invertito.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tabella della Lezione 05, estesa di due colonne: le stesse sedici configurazioni lette senza segno, in segno e modulo, in complemento a uno, in complemento a due e in eccesso 8. Tre osservazioni. Segno e modulo e complemento a uno hanno ciascuno due zeri, evidenziati. Complemento a due ed eccesso 8 coprono lo stesso intervallo, da -8 a +7, e differiscono solo nel bit più a sinistra. E l'eccesso 8 è l'unica colonna in cui i valori crescono monotonamente dall'alto al basso della tabella, che è la proprietà di conservazione dell'ordine in forma visiva.
DA COMPRENDERE OGGI: complemento a uno ed eccesso k.
Per il docente: Questa tabella sostituisce la figura di confronto della presentazione originale («Numeri relativi: complementi»).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virgola fissa la parte intera e la parte frazionaria occupano posizioni adiacenti in una parola, e la posizione della virgola binaria è fissa. Non è memorizzata da nessuna parte: è una convenzione nota al programma. Se si riservano f bit alla frazione, la parola contiene il numero moltiplicato per 2^f, e il più piccolo incremento rappresentabile, la risoluzione, è 2^-f. La notazione Qm.f specifica la divisione dei bit: Q24.8 indica 24 bit interi e 8 bit frazionari. L'aritmetica è l'ordinaria aritmetica intera, con un riscalamento solo dove un prodotto o un quoziente lo richiedono.
DA COMPRENDERE OGGI: la virgola fissa.
Per il docente: La virgola fissa è il modo in cui giochi, audio e software di controllo trattano le frazioni sui processori senza unità in virgola mobile. È anche il modo in cui si dovrebbe memorizzare il denaro: centesimi interi.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numeri reali sono densi: tra due qualsiasi ce ne sono infiniti altri, quindi con un numero finito di bit la maggior parte di essi non si può rappresentare, e ciascuno viene sostituito dal suo vicino rappresentabile più prossimo. In Q24.8 il numero 0,1 diventa 26/256, circa 0,1016. L'errore non supera mai metà della risoluzione. Un valore abbastanza vicino a zero si arrotonda a zero, il che è l'underflow, ed è il motivo per cui una velocità di 0,001 pixel per frame lascerebbe la pallina immobile. In virgola fissa il limite dell'errore assoluto è lo stesso su tutto l'intervallo.
DA COMPRENDERE OGGI: la virgola fissa.
Per il docente: 0,1 x 256 = 25,6, arrotondato a 26. Con SPEED_Q8 = 1 la palla si muove di 1/256 di pixel per frame; una velocità di 0,001 pixel per frame va in underflow a zero e la palla non si muove mai.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numero reale si rappresenta come una coppia: una mantissa m e un esponente e, tali che x sia uguale a m moltiplicato per la base elevata a e. È la notazione scientifica del laboratorio di fisica, e la virgola "galleggia" perché è l'esponente a determinarne la posizione. Poiché lo stesso numero ammette infinite coppie di questo tipo, se ne sceglie una canonica con la normalizzazione: la virgola si colloca subito dopo la prima cifra significativa, così che 346,09801 diventa 3,4609801 con esponente 2. La normalizzazione garantisce l'unicità e massimizza il numero di cifre significative conservate.
DA COMPRENDERE OGGI: la virgola mobile IEEE 754.
Per il docente: In altre parole, la notazione scientifica. La virgola fissa spende i bit su un intervallo fisso; la virgola mobile ne spende alcuni per dire dove si trova l'intervallo.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virgola mobile la distanza tra numeri rappresentabili consecutivi non è uniforme: è molto fine vicino a zero e grossolana vicino al limite superiore dell'intervallo. L'errore assoluto cresce quindi con il modulo del numero. Ciò che resta approssimativamente costante è l'errore relativo, perché ogni numero porta lo stesso numero di cifre significative, quattro in questo esempio. La virgola fissa mostra il comportamento opposto: errore assoluto costante, con un errore relativo che diventa grande vicino a zero. La scelta tra le due è una scelta su quale errore conti per l'applicazione.
DA COMPRENDERE OGGI: la virgola mobile IEEE 754.
Per il docente: È l'opposto della virgola fissa, dove l'errore assoluto è costante e quello relativo esplode vicino a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formato IEEE 754 in precisione singola divide 32 bit in tre campi: un bit di segno, otto bit di esponente e ventitré bit di frazione, con il valore dato dalla formula al centro. Due decisioni di progetto meritano attenzione. Una mantissa binaria normalizzata comincia sempre con 1, quindi quel bit non va memorizzato: è il bit nascosto, che dà gratis un bit di precisione in più. E l'esponente è memorizzato in eccesso 127, la codifica della sezione precedente, così che numeri in virgola mobile dello stesso segno si possono confrontare come numeri naturali.
DA COMPRENDERE OGGI: la virgola mobile IEEE 754.
Per il docente: IEEE 754 è del 1985 (rivisto nel 2008 e nel 2019). Prima ogni costruttore aveva il proprio formato e i programmi davano risultati diversi su macchine diverse.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esempio svolto completo: -5,125. Parte intera e parte frazionaria si convertono separatamente: 5 è 101 e 0,125 è 0,001, quindi il numero è 101,001. La normalizzazione sposta la virgola di due posti: 1,01001 per 2^2. Il bit di segno è 1. Il campo esponente è 2 + 127 = 129, cioè 1000 0001. Il campo frazione è 01001 seguito da zeri, senza l'1 iniziale. Concatenando i tre campi e raggruppando a quattro bit si ottiene 0xC0A40000. L'esempio va riprodotto su carta e poi ripetuto con un numero scelto da sé.
DA COMPRENDERE OGGI: la virgola mobile IEEE 754.
Per il docente: Verificare il raggruppamento in nibble: 1100 = C, 0000 = 0, 1010 = A, 0100 = 4, poi zeri. Qui sono unite tre slide della presentazione originale.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Precisione singola e doppia a confronto. La precisione doppia usa 64 bit, con 11 bit di esponente in eccesso 1023 e 52 bit di frazione. Due righe valgono come ordini di grandezza da ricordare: la precisione singola offre circa 7 cifre decimali significative e un intervallo che arriva a circa 10^38; la doppia circa 16 cifre e un intervallo che arriva a circa 10^308. I tipi C float e double corrispondono a questi due formati praticamente su ogni piattaforma moderna.
DA COMPRENDERE OGGI: la virgola mobile IEEE 754.
Per il docente: Correzioni alla tabella originale: l'esponente in doppia precisione è in eccesso 1023 (non 1024), e gli intervalli decimali sono circa 10^38 e 10^308.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 ogni configurazione codifica un numero ordinario. Un campo esponente strettamente compreso tra i suoi estremi indica un numero normalizzato. Un esponente tutto a zero indica lo zero, se anche la frazione è zero, oppure un numero denormalizzato, che riempie il vuoto attorno allo zero con precisione gradualmente decrescente. Un esponente tutto a uno indica l'infinito, se la frazione è zero, oppure NaN, "not a number", il risultato di un'operazione non valida come zero diviso zero. Due conseguenze sono controintuitive e vanno notate: ci sono due zeri, positivo e negativo, e NaN risulta diverso da tutto, sé stesso compreso.
DA COMPRENDERE OGGI: la virgola mobile IEEE 754.
Per il docente: I numeri denormalizzati (subnormali) riempiono il vuoto dell'underflow attorno allo zero con precisione via via decrescente. 1/0 dà infinito; 0/0 e la radice quadrata di -1 danno NaN. NaN non è uguale a nulla, nemmeno a se stesso.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RISC-V supporta la virgola mobile con due estensioni facoltative, F per la precisione singola e D per la doppia, che aggiungono trentadue registri, da f0 a f31, e istruzioni come fadd.s. Il processore del kit, RV32IMAC, non implementa né l'una né l'altra. Un programma C può comunque usare float, ma ogni operazione viene allora compilata come chiamata a una routine software che costa decine o centinaia di istruzioni intere. È per questo che i giochi PRG32 usano interi e virgola fissa: sono veloci, sufficientemente precisi per lo scopo e trasparenti nel debugger.
DA COMPRENDERE OGGI: la virgola mobile IEEE 754.
Per il docente: Le routine software realizzano esattamente l'algoritmo di questa lezione con scorrimenti, maschere e somme intere: un buon esercizio di lettura per la fine del corso.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nome RV32IMAC si può ora leggere lettera per lettera. RV32I è la base: registri a 32 bit e le istruzioni intere. M aggiunge moltiplicazione e divisione. A aggiunge le istruzioni atomiche, per la condivisione sicura di dati tra attività concorrenti. C aggiunge codifiche compresse a 16 bit delle istruzioni più frequenti. F e D, le estensioni in virgola mobile, sono assenti. Questa modularità è un principio di progetto centrale di RISC-V: una piccola base obbligatoria ed estensioni facoltative, così che la stessa architettura possa servire un microcontrollore economico e un supercalcolatore.
DA COMPRENDERE OGGI: il nome RV32IMAC.
Per il docente: RISC-V è modulare: una piccola base obbligatoria più estensioni facoltative. Un microcontrollore prende ciò che gli serve; è una delle ragioni per cui la stessa architettura va da un chip da due euro a un supercalcolatore.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la prima domanda conviene considerare che cosa fa ogni codifica all'ordinamento. In segno e modulo e in entrambi i complementi i numeri negativi hanno un 1 a sinistra e quindi, letti come configurazioni, seguono quelli positivi. Solo una codifica che somma una costante a ogni numero conserva l'ordine.
Per la seconda, Q24.8 significa che la parola contiene il numero moltiplicato per 256. 0x180 si legge come intero e si divide per 256; in alternativa lo si divide direttamente in parte intera 0x01 e frazione 0x80, cioè 128/256.
Per il docente: 1. Risposta: D. In eccesso k, X = x + k: a un numero maggiore corrisponde sempre una configurazione maggiore. Per questo codifica gli esponenti della virgola mobile, che vanno confrontati in fretta.
2. Risposta: B. 0x180 = 384; 384 / 256 = 1,5. Parte intera 0x01, frazione 0x80 = 128/256 =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la prima domanda le prime cifre esadecimali si scrivono in binario e si separano i campi: un bit di segno, otto bit di esponente, poi la frazione. Dall'esponente si sottrae la polarizzazione di 127, e davanti alla frazione si ripristina l'1 nascosto.
Per la seconda va consultata la tabella delle configurazioni speciali. Un esponente tutto a uno è riservato; la domanda è quale dei suoi due casi abbia una frazione tutta a zero.
Per il docente: 1. Risposta: B. 0100 0000 0100 0000 ...: S = 0, E = 1000 0000 = 128, F = 100...: 1,1 (binario) x 2^(128-127) = 1,5 x 2 = 3,0.
2. Risposta: C. Tutti uni nell'esponente: infinito se la frazione è zero, NaN altrimenti.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Dodici termini. In italiano il separatore decimale è la virgola, quindi fixed point e floating point diventano virgola fissa e virgola mobile. Mantissa è il termine tradizionale per le cifre significative; lo standard chiama la parte memorizzata frazione. Il bit nascosto è l'1 iniziale non memorizzato. I numeri denormalizzati si dicono anche subnormali.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conclusioni. Gli interi ammettono più rappresentazioni, scelte secondo l'uso. La virgola fissa memorizza una frazione come intero scalato, con errore assoluto costante e la velocità dell'aritmetica intera. La virgola mobile memorizza mantissa ed esponente, con un intervallo enorme ed errore relativo approssimativamente costante. IEEE 754 è lo standard universale, con configurazioni speciali per lo zero, l'infinito e NaN. Su un processore privo dell'estensione F, la virgola fissa è la scelta naturale. La prossima lezione è la prima parte di Verm1, in cui il contenuto delle ultime quattro lezioni viene messo al lavoro.
Stato di apprendimento, riepilogo. DA COMPRENDERE OGGI: la virgola fissa; complemento a uno ed eccesso k; la virgola mobile IEEE 754; il nome RV32IMAC. DA UTILIZZARE OGGI: il programma completo, gli strumenti di PRG32 (si usa, non si studia, in questo corso). DA COMPRENDERE PIÙ AVANTI: niente. Una slide senza etichetta è contesto: una storia, un esempio, una domanda, un esercizio.
Per il docente: A seguire: Verm1, parte 1, dove le prime quattro lezioni vanno a lavorare in un programma vero. Poi l'algebra di Boole.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06: Rappresentazione dei numeri (reali)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06</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Rappresentazione dei numeri: i reali</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2200" dirty="0">
                <a:solidFill>
                  <a:srgbClr val="CFE3EA"/>
                </a:solidFill>
                <a:latin typeface="Calibri" pitchFamily="34" charset="0"/>
                <a:ea typeface="Calibri" pitchFamily="34" charset="-122"/>
                <a:cs typeface="Calibri" pitchFamily="34" charset="-120"/>
              </a:rPr>
              <a:t>Complemento a uno, eccesso k, virgola fissa e virgola mobile IEEE 754</a:t>
            </a:r>
            <a:endParaRPr lang="en-US" sz="22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“Conterò poco, è vero: - diceva l'Uno ar Zero - ma tu che vali? Gnente: propio gnente.”</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Trilussa, Nummeri, 1944</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Presentazione della lezione. I listati, il programma completo e come provarlo sono nella presentazione del codice:</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06-Architettura_dei_Calcolatori-Rappresentazione_dei_Numeri_Reali-Lab.pptx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game_raycaster.png">    </p:cNvPr>
          <p:cNvPicPr>
            <a:picLocks noChangeAspect="1"/>
          </p:cNvPicPr>
          <p:nvPr/>
        </p:nvPicPr>
        <p:blipFill>
          <a:blip r:embed="rId1"/>
          <a:stretch>
            <a:fillRect/>
          </a:stretch>
        </p:blipFill>
        <p:spPr>
          <a:xfrm>
            <a:off x="8915095" y="4251960"/>
            <a:ext cx="2438400" cy="1828800"/>
          </a:xfrm>
          <a:prstGeom prst="rect">
            <a:avLst/>
          </a:prstGeom>
        </p:spPr>
      </p:pic>
      <p:sp>
        <p:nvSpPr>
          <p:cNvPr id="15" name="Shape 12"/>
          <p:cNvSpPr/>
          <p:nvPr/>
        </p:nvSpPr>
        <p:spPr>
          <a:xfrm>
            <a:off x="8910777" y="91440"/>
            <a:ext cx="2732278" cy="274320"/>
          </a:xfrm>
          <a:prstGeom prst="rect">
            <a:avLst/>
          </a:prstGeom>
          <a:solidFill>
            <a:srgbClr val="F3E8FF"/>
          </a:solidFill>
          <a:ln w="12700">
            <a:solidFill>
              <a:srgbClr val="7E22CE"/>
            </a:solidFill>
            <a:prstDash val="dash"/>
          </a:ln>
        </p:spPr>
      </p:sp>
      <p:sp>
        <p:nvSpPr>
          <p:cNvPr id="16" name="Shape 13"/>
          <p:cNvSpPr/>
          <p:nvPr/>
        </p:nvSpPr>
        <p:spPr>
          <a:xfrm>
            <a:off x="8938209" y="128016"/>
            <a:ext cx="45720" cy="45720"/>
          </a:xfrm>
          <a:prstGeom prst="rect">
            <a:avLst/>
          </a:prstGeom>
          <a:solidFill>
            <a:srgbClr val="7E22CE"/>
          </a:solidFill>
          <a:ln w="12700">
            <a:solidFill>
              <a:srgbClr val="7E22CE"/>
            </a:solidFill>
            <a:prstDash val="solid"/>
          </a:ln>
        </p:spPr>
      </p:sp>
      <p:sp>
        <p:nvSpPr>
          <p:cNvPr id="17" name="Shape 14"/>
          <p:cNvSpPr/>
          <p:nvPr/>
        </p:nvSpPr>
        <p:spPr>
          <a:xfrm>
            <a:off x="8938209" y="205740"/>
            <a:ext cx="45720" cy="45720"/>
          </a:xfrm>
          <a:prstGeom prst="rect">
            <a:avLst/>
          </a:prstGeom>
          <a:solidFill>
            <a:srgbClr val="7E22CE"/>
          </a:solidFill>
          <a:ln w="12700">
            <a:solidFill>
              <a:srgbClr val="7E22CE"/>
            </a:solidFill>
            <a:prstDash val="solid"/>
          </a:ln>
        </p:spPr>
      </p:sp>
      <p:sp>
        <p:nvSpPr>
          <p:cNvPr id="18" name="Shape 15"/>
          <p:cNvSpPr/>
          <p:nvPr/>
        </p:nvSpPr>
        <p:spPr>
          <a:xfrm>
            <a:off x="8938209"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038793" y="128016"/>
            <a:ext cx="201168" cy="201168"/>
          </a:xfrm>
          <a:prstGeom prst="rect">
            <a:avLst/>
          </a:prstGeom>
        </p:spPr>
      </p:pic>
      <p:sp>
        <p:nvSpPr>
          <p:cNvPr id="20" name="Text 16"/>
          <p:cNvSpPr txBox="1"/>
          <p:nvPr/>
        </p:nvSpPr>
        <p:spPr>
          <a:xfrm>
            <a:off x="9294825" y="91440"/>
            <a:ext cx="2311654"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endParaRPr lang="en-US" sz="1100" dirty="0"/>
          </a:p>
        </p:txBody>
      </p:sp>
      <p:sp>
        <p:nvSpPr>
          <p:cNvPr id="21" name="Shape 17"/>
          <p:cNvSpPr/>
          <p:nvPr/>
        </p:nvSpPr>
        <p:spPr>
          <a:xfrm>
            <a:off x="6675069" y="91440"/>
            <a:ext cx="2125980" cy="274320"/>
          </a:xfrm>
          <a:prstGeom prst="rect">
            <a:avLst/>
          </a:prstGeom>
          <a:solidFill>
            <a:srgbClr val="FEF3C7"/>
          </a:solidFill>
          <a:ln w="12700">
            <a:solidFill>
              <a:srgbClr val="B45309"/>
            </a:solidFill>
            <a:prstDash val="solid"/>
          </a:ln>
        </p:spPr>
      </p:sp>
      <p:sp>
        <p:nvSpPr>
          <p:cNvPr id="22" name="Shape 18"/>
          <p:cNvSpPr/>
          <p:nvPr/>
        </p:nvSpPr>
        <p:spPr>
          <a:xfrm>
            <a:off x="6675069" y="91440"/>
            <a:ext cx="27432" cy="274320"/>
          </a:xfrm>
          <a:prstGeom prst="rect">
            <a:avLst/>
          </a:prstGeom>
          <a:solidFill>
            <a:srgbClr val="B45309"/>
          </a:solidFill>
          <a:ln w="12700">
            <a:solidFill>
              <a:srgbClr val="B45309"/>
            </a:solidFill>
            <a:prstDash val="solid"/>
          </a:ln>
        </p:spPr>
      </p:sp>
      <p:sp>
        <p:nvSpPr>
          <p:cNvPr id="23" name="Shape 19"/>
          <p:cNvSpPr/>
          <p:nvPr/>
        </p:nvSpPr>
        <p:spPr>
          <a:xfrm>
            <a:off x="672993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6803085" y="128016"/>
            <a:ext cx="201168" cy="201168"/>
          </a:xfrm>
          <a:prstGeom prst="rect">
            <a:avLst/>
          </a:prstGeom>
        </p:spPr>
      </p:pic>
      <p:sp>
        <p:nvSpPr>
          <p:cNvPr id="25" name="Text 20"/>
          <p:cNvSpPr txBox="1"/>
          <p:nvPr/>
        </p:nvSpPr>
        <p:spPr>
          <a:xfrm>
            <a:off x="7059117" y="91440"/>
            <a:ext cx="1705356"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endParaRPr lang="en-US" sz="1100" dirty="0"/>
          </a:p>
        </p:txBody>
      </p:sp>
      <p:sp>
        <p:nvSpPr>
          <p:cNvPr id="26" name="Shape 21"/>
          <p:cNvSpPr/>
          <p:nvPr/>
        </p:nvSpPr>
        <p:spPr>
          <a:xfrm>
            <a:off x="4352747" y="91440"/>
            <a:ext cx="2212594" cy="274320"/>
          </a:xfrm>
          <a:prstGeom prst="rect">
            <a:avLst/>
          </a:prstGeom>
          <a:solidFill>
            <a:srgbClr val="E0F2FE"/>
          </a:solidFill>
          <a:ln w="12700">
            <a:solidFill>
              <a:srgbClr val="0369A1"/>
            </a:solidFill>
            <a:prstDash val="solid"/>
          </a:ln>
        </p:spPr>
      </p:sp>
      <p:sp>
        <p:nvSpPr>
          <p:cNvPr id="27" name="Shape 22"/>
          <p:cNvSpPr/>
          <p:nvPr/>
        </p:nvSpPr>
        <p:spPr>
          <a:xfrm>
            <a:off x="435274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4480763" y="128016"/>
            <a:ext cx="201168" cy="201168"/>
          </a:xfrm>
          <a:prstGeom prst="rect">
            <a:avLst/>
          </a:prstGeom>
        </p:spPr>
      </p:pic>
      <p:sp>
        <p:nvSpPr>
          <p:cNvPr id="29" name="Text 23"/>
          <p:cNvSpPr txBox="1"/>
          <p:nvPr/>
        </p:nvSpPr>
        <p:spPr>
          <a:xfrm>
            <a:off x="4736795" y="91440"/>
            <a:ext cx="17919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 cosa saprete fare alla fine</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Codificare interi con segno in complemento a uno e in eccesso k, e dire a che cosa serve ciascuno</a:t>
            </a:r>
            <a:endParaRPr lang="en-US" sz="2200" dirty="0"/>
          </a:p>
        </p:txBody>
      </p:sp>
      <p:sp>
        <p:nvSpPr>
          <p:cNvPr id="5" name="Text 3"/>
          <p:cNvSpPr txBox="1"/>
          <p:nvPr/>
        </p:nvSpPr>
        <p:spPr>
          <a:xfrm>
            <a:off x="548640" y="2395931"/>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377643"/>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Rappresentare una grandezza frazionaria in virgola fissa e calcolarci con istruzioni intere</a:t>
            </a:r>
            <a:endParaRPr lang="en-US" sz="2200" dirty="0"/>
          </a:p>
        </p:txBody>
      </p:sp>
      <p:sp>
        <p:nvSpPr>
          <p:cNvPr id="7" name="Text 5"/>
          <p:cNvSpPr txBox="1"/>
          <p:nvPr/>
        </p:nvSpPr>
        <p:spPr>
          <a:xfrm>
            <a:off x="548640" y="335625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33796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Spiegare mantissa, esponente e normalizzazione nella virgola mobile</a:t>
            </a:r>
            <a:endParaRPr lang="en-US" sz="2200" dirty="0"/>
          </a:p>
        </p:txBody>
      </p:sp>
      <p:sp>
        <p:nvSpPr>
          <p:cNvPr id="9" name="Text 7"/>
          <p:cNvSpPr txBox="1"/>
          <p:nvPr/>
        </p:nvSpPr>
        <p:spPr>
          <a:xfrm>
            <a:off x="548640" y="407375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05546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Codificare e decodificare un numero in IEEE 754 a singola precisione</a:t>
            </a:r>
            <a:endParaRPr lang="en-US" sz="2200" dirty="0"/>
          </a:p>
        </p:txBody>
      </p:sp>
      <p:sp>
        <p:nvSpPr>
          <p:cNvPr id="11" name="Text 9"/>
          <p:cNvSpPr txBox="1"/>
          <p:nvPr/>
        </p:nvSpPr>
        <p:spPr>
          <a:xfrm>
            <a:off x="548640" y="4791253"/>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772965"/>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Riconoscere zero, numeri denormalizzati, infinito e NaN</a:t>
            </a:r>
            <a:endParaRPr lang="en-US" sz="2200" dirty="0"/>
          </a:p>
        </p:txBody>
      </p:sp>
      <p:sp>
        <p:nvSpPr>
          <p:cNvPr id="13" name="Text 11"/>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Dire perché l'ESP32-C6 non ha istruzioni in virgola mobile e che cosa fanno invece i giochi PRG32</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Complemento a uno</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 numeri non negativi, 0 &lt;= x &lt; 2^(n-1), sono rappresentati da se stessi: X = x</a:t>
            </a:r>
            <a:endParaRPr lang="en-US" sz="2200" dirty="0"/>
          </a:p>
        </p:txBody>
      </p:sp>
      <p:sp>
        <p:nvSpPr>
          <p:cNvPr id="5" name="Shape 3"/>
          <p:cNvSpPr/>
          <p:nvPr/>
        </p:nvSpPr>
        <p:spPr>
          <a:xfrm>
            <a:off x="548640" y="238569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79269"/>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 numeri negativi sono rappresentati da X = 2^n - 1 - |x|</a:t>
            </a:r>
            <a:endParaRPr lang="en-US" sz="2200" dirty="0"/>
          </a:p>
        </p:txBody>
      </p:sp>
      <p:sp>
        <p:nvSpPr>
          <p:cNvPr id="7" name="Shape 5"/>
          <p:cNvSpPr/>
          <p:nvPr/>
        </p:nvSpPr>
        <p:spPr>
          <a:xfrm>
            <a:off x="548640" y="3247644"/>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41218"/>
            <a:ext cx="6565392"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Intervallo: da -(2^(n-1) - 1) a +(2^(n-1) - 1)</a:t>
            </a:r>
            <a:endParaRPr lang="en-US" sz="2200" dirty="0"/>
          </a:p>
        </p:txBody>
      </p:sp>
      <p:sp>
        <p:nvSpPr>
          <p:cNvPr id="9" name="Shape 7"/>
          <p:cNvSpPr/>
          <p:nvPr/>
        </p:nvSpPr>
        <p:spPr>
          <a:xfrm>
            <a:off x="548640" y="376872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662299"/>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Lo zero ha due rappresentazioni, 0000 e 1111: si rappresentano 2^n - 1 numeri, come in segno e modulo</a:t>
            </a:r>
            <a:endParaRPr lang="en-US" sz="2200" dirty="0"/>
          </a:p>
        </p:txBody>
      </p:sp>
      <p:sp>
        <p:nvSpPr>
          <p:cNvPr id="11" name="Shape 9"/>
          <p:cNvSpPr/>
          <p:nvPr/>
        </p:nvSpPr>
        <p:spPr>
          <a:xfrm>
            <a:off x="548640" y="497154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865116"/>
            <a:ext cx="6565392" cy="130708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Perché usarlo? Cambiare segno è banale: si complementa ogni bit</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6 = 0110 e -6 = 1001; 5 = 0101 e -5 = 1010; 1 = 0001 e -1 = 1110</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5900" b="1" dirty="0">
                <a:solidFill>
                  <a:srgbClr val="FFFFFF"/>
                </a:solidFill>
                <a:latin typeface="Cambria" pitchFamily="34" charset="0"/>
                <a:ea typeface="Cambria" pitchFamily="34" charset="-122"/>
                <a:cs typeface="Cambria" pitchFamily="34" charset="-120"/>
              </a:rPr>
              <a:t>-x = not x</a:t>
            </a:r>
            <a:endParaRPr lang="en-US" sz="59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il complemento a uno di un numero si ottiene invertendo tutti i suoi bit</a:t>
            </a:r>
            <a:endParaRPr lang="en-US" sz="1900" dirty="0"/>
          </a:p>
        </p:txBody>
      </p:sp>
      <p:sp>
        <p:nvSpPr>
          <p:cNvPr id="16" name="Shape 14"/>
          <p:cNvSpPr/>
          <p:nvPr/>
        </p:nvSpPr>
        <p:spPr>
          <a:xfrm>
            <a:off x="7263714" y="91440"/>
            <a:ext cx="4379341" cy="274320"/>
          </a:xfrm>
          <a:prstGeom prst="rect">
            <a:avLst/>
          </a:prstGeom>
          <a:solidFill>
            <a:srgbClr val="E0F2FE"/>
          </a:solidFill>
          <a:ln w="12700">
            <a:solidFill>
              <a:srgbClr val="0369A1"/>
            </a:solidFill>
            <a:prstDash val="solid"/>
          </a:ln>
        </p:spPr>
      </p:sp>
      <p:sp>
        <p:nvSpPr>
          <p:cNvPr id="17" name="Shape 15"/>
          <p:cNvSpPr/>
          <p:nvPr/>
        </p:nvSpPr>
        <p:spPr>
          <a:xfrm>
            <a:off x="7263714"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7391730" y="128016"/>
            <a:ext cx="201168" cy="201168"/>
          </a:xfrm>
          <a:prstGeom prst="rect">
            <a:avLst/>
          </a:prstGeom>
        </p:spPr>
      </p:pic>
      <p:sp>
        <p:nvSpPr>
          <p:cNvPr id="19" name="Text 16"/>
          <p:cNvSpPr txBox="1"/>
          <p:nvPr/>
        </p:nvSpPr>
        <p:spPr>
          <a:xfrm>
            <a:off x="7647762" y="91440"/>
            <a:ext cx="395871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complemento a uno ed eccesso k</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Aritmetica in complemento a uno</a:t>
            </a:r>
            <a:endParaRPr lang="en-US" sz="3200" dirty="0"/>
          </a:p>
        </p:txBody>
      </p:sp>
      <p:sp>
        <p:nvSpPr>
          <p:cNvPr id="3" name="Shape 1"/>
          <p:cNvSpPr/>
          <p:nvPr/>
        </p:nvSpPr>
        <p:spPr>
          <a:xfrm>
            <a:off x="548640" y="1463040"/>
            <a:ext cx="3515258" cy="2240280"/>
          </a:xfrm>
          <a:prstGeom prst="roundRect">
            <a:avLst>
              <a:gd name="adj" fmla="val 3265"/>
            </a:avLst>
          </a:prstGeom>
          <a:solidFill>
            <a:srgbClr val="EEF2F4"/>
          </a:solidFill>
          <a:ln w="12700">
            <a:solidFill>
              <a:srgbClr val="EEF2F4"/>
            </a:solidFill>
            <a:prstDash val="solid"/>
          </a:ln>
        </p:spPr>
      </p:sp>
      <p:sp>
        <p:nvSpPr>
          <p:cNvPr id="4" name="Text 2"/>
          <p:cNvSpPr txBox="1"/>
          <p:nvPr/>
        </p:nvSpPr>
        <p:spPr>
          <a:xfrm>
            <a:off x="731520" y="1554480"/>
            <a:ext cx="3149498" cy="32004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Nessuna correzione</a:t>
            </a:r>
            <a:endParaRPr lang="en-US" sz="1400" dirty="0"/>
          </a:p>
        </p:txBody>
      </p:sp>
      <p:sp>
        <p:nvSpPr>
          <p:cNvPr id="5" name="Text 3"/>
          <p:cNvSpPr txBox="1"/>
          <p:nvPr/>
        </p:nvSpPr>
        <p:spPr>
          <a:xfrm>
            <a:off x="731520" y="1920240"/>
            <a:ext cx="1054578" cy="1280160"/>
          </a:xfrm>
          <a:prstGeom prst="rect">
            <a:avLst/>
          </a:prstGeom>
          <a:noFill/>
          <a:ln/>
        </p:spPr>
        <p:txBody>
          <a:bodyPr wrap="square" lIns="0" tIns="0" rIns="0" bIns="0" rtlCol="0" anchor="t"/>
          <a:lstStyle/>
          <a:p>
            <a:pPr algn="r" indent="0" marL="0">
              <a:buNone/>
            </a:pPr>
            <a:r>
              <a:rPr lang="en-US" sz="1500" dirty="0">
                <a:solidFill>
                  <a:srgbClr val="5B6B78"/>
                </a:solidFill>
                <a:latin typeface="Courier New" pitchFamily="34" charset="0"/>
                <a:ea typeface="Courier New" pitchFamily="34" charset="-122"/>
                <a:cs typeface="Courier New" pitchFamily="34" charset="-120"/>
              </a:rPr>
              <a:t>3 +</a:t>
            </a:r>
            <a:endParaRPr lang="en-US" sz="1500" dirty="0"/>
          </a:p>
          <a:p>
            <a:pPr algn="r" indent="0" marL="0">
              <a:buNone/>
            </a:pPr>
            <a:r>
              <a:rPr lang="en-US" sz="1500" dirty="0">
                <a:solidFill>
                  <a:srgbClr val="5B6B78"/>
                </a:solidFill>
                <a:latin typeface="Courier New" pitchFamily="34" charset="0"/>
                <a:ea typeface="Courier New" pitchFamily="34" charset="-122"/>
                <a:cs typeface="Courier New" pitchFamily="34" charset="-120"/>
              </a:rPr>
              <a:t>-4 =</a:t>
            </a:r>
            <a:endParaRPr lang="en-US" sz="1500" dirty="0"/>
          </a:p>
          <a:p>
            <a:pPr algn="r" indent="0" marL="0">
              <a:buNone/>
            </a:pPr>
            <a:r>
              <a:rPr lang="en-US" sz="1500" dirty="0">
                <a:solidFill>
                  <a:srgbClr val="5B6B78"/>
                </a:solidFill>
                <a:latin typeface="Courier New" pitchFamily="34" charset="0"/>
                <a:ea typeface="Courier New" pitchFamily="34" charset="-122"/>
                <a:cs typeface="Courier New" pitchFamily="34" charset="-120"/>
              </a:rPr>
              <a:t>-1</a:t>
            </a:r>
            <a:endParaRPr lang="en-US" sz="1500" dirty="0"/>
          </a:p>
        </p:txBody>
      </p:sp>
      <p:sp>
        <p:nvSpPr>
          <p:cNvPr id="6" name="Text 4"/>
          <p:cNvSpPr txBox="1"/>
          <p:nvPr/>
        </p:nvSpPr>
        <p:spPr>
          <a:xfrm>
            <a:off x="1814133" y="1920240"/>
            <a:ext cx="2021165" cy="1280160"/>
          </a:xfrm>
          <a:prstGeom prst="rect">
            <a:avLst/>
          </a:prstGeom>
          <a:noFill/>
          <a:ln/>
        </p:spPr>
        <p:txBody>
          <a:bodyPr wrap="square" lIns="0" tIns="0" rIns="0" bIns="0" rtlCol="0" anchor="t"/>
          <a:lstStyle/>
          <a:p>
            <a:pPr algn="r" indent="0" marL="0">
              <a:buNone/>
            </a:pPr>
            <a:r>
              <a:rPr lang="en-US" sz="1500" b="1" dirty="0">
                <a:solidFill>
                  <a:srgbClr val="1B2530"/>
                </a:solidFill>
                <a:latin typeface="Courier New" pitchFamily="34" charset="0"/>
                <a:ea typeface="Courier New" pitchFamily="34" charset="-122"/>
                <a:cs typeface="Courier New" pitchFamily="34" charset="-120"/>
              </a:rPr>
              <a:t>0011 +</a:t>
            </a:r>
            <a:endParaRPr lang="en-US" sz="1500" dirty="0"/>
          </a:p>
          <a:p>
            <a:pPr algn="r" indent="0" marL="0">
              <a:buNone/>
            </a:pPr>
            <a:r>
              <a:rPr lang="en-US" sz="1500" b="1" dirty="0">
                <a:solidFill>
                  <a:srgbClr val="1B2530"/>
                </a:solidFill>
                <a:latin typeface="Courier New" pitchFamily="34" charset="0"/>
                <a:ea typeface="Courier New" pitchFamily="34" charset="-122"/>
                <a:cs typeface="Courier New" pitchFamily="34" charset="-120"/>
              </a:rPr>
              <a:t>1011 =</a:t>
            </a:r>
            <a:endParaRPr lang="en-US" sz="1500" dirty="0"/>
          </a:p>
          <a:p>
            <a:pPr algn="r" indent="0" marL="0">
              <a:buNone/>
            </a:pPr>
            <a:r>
              <a:rPr lang="en-US" sz="1500" b="1" dirty="0">
                <a:solidFill>
                  <a:srgbClr val="1B2530"/>
                </a:solidFill>
                <a:latin typeface="Courier New" pitchFamily="34" charset="0"/>
                <a:ea typeface="Courier New" pitchFamily="34" charset="-122"/>
                <a:cs typeface="Courier New" pitchFamily="34" charset="-120"/>
              </a:rPr>
              <a:t>1110</a:t>
            </a:r>
            <a:endParaRPr lang="en-US" sz="1500" dirty="0"/>
          </a:p>
        </p:txBody>
      </p:sp>
      <p:sp>
        <p:nvSpPr>
          <p:cNvPr id="7" name="Text 5"/>
          <p:cNvSpPr txBox="1"/>
          <p:nvPr/>
        </p:nvSpPr>
        <p:spPr>
          <a:xfrm>
            <a:off x="731520" y="3246120"/>
            <a:ext cx="3149498" cy="411480"/>
          </a:xfrm>
          <a:prstGeom prst="rect">
            <a:avLst/>
          </a:prstGeom>
          <a:noFill/>
          <a:ln/>
        </p:spPr>
        <p:txBody>
          <a:bodyPr wrap="square" lIns="0" tIns="0" rIns="0" bIns="0" rtlCol="0" anchor="ctr"/>
          <a:lstStyle/>
          <a:p>
            <a:pPr indent="0" marL="0">
              <a:buNone/>
            </a:pPr>
            <a:r>
              <a:rPr lang="en-US" sz="1250" i="1" dirty="0">
                <a:solidFill>
                  <a:srgbClr val="5B6B78"/>
                </a:solidFill>
                <a:latin typeface="Calibri" pitchFamily="34" charset="0"/>
                <a:ea typeface="Calibri" pitchFamily="34" charset="-122"/>
                <a:cs typeface="Calibri" pitchFamily="34" charset="-120"/>
              </a:rPr>
              <a:t>nessun riporto uscente: il risultato è giusto</a:t>
            </a:r>
            <a:endParaRPr lang="en-US" sz="1250" dirty="0"/>
          </a:p>
        </p:txBody>
      </p:sp>
      <p:sp>
        <p:nvSpPr>
          <p:cNvPr id="8" name="Shape 6"/>
          <p:cNvSpPr/>
          <p:nvPr/>
        </p:nvSpPr>
        <p:spPr>
          <a:xfrm>
            <a:off x="4338218" y="1463040"/>
            <a:ext cx="3515258" cy="2240280"/>
          </a:xfrm>
          <a:prstGeom prst="roundRect">
            <a:avLst>
              <a:gd name="adj" fmla="val 3265"/>
            </a:avLst>
          </a:prstGeom>
          <a:solidFill>
            <a:srgbClr val="EEF2F4"/>
          </a:solidFill>
          <a:ln w="12700">
            <a:solidFill>
              <a:srgbClr val="EEF2F4"/>
            </a:solidFill>
            <a:prstDash val="solid"/>
          </a:ln>
        </p:spPr>
      </p:sp>
      <p:sp>
        <p:nvSpPr>
          <p:cNvPr id="9" name="Text 7"/>
          <p:cNvSpPr txBox="1"/>
          <p:nvPr/>
        </p:nvSpPr>
        <p:spPr>
          <a:xfrm>
            <a:off x="4521098" y="1554480"/>
            <a:ext cx="3149498" cy="320040"/>
          </a:xfrm>
          <a:prstGeom prst="rect">
            <a:avLst/>
          </a:prstGeom>
          <a:noFill/>
          <a:ln/>
        </p:spPr>
        <p:txBody>
          <a:bodyPr wrap="square" lIns="0" tIns="0" rIns="0" bIns="0" rtlCol="0" anchor="t"/>
          <a:lstStyle/>
          <a:p>
            <a:pPr indent="0" marL="0">
              <a:buNone/>
            </a:pPr>
            <a:r>
              <a:rPr lang="en-US" sz="1400" b="1" dirty="0">
                <a:solidFill>
                  <a:srgbClr val="B23A48"/>
                </a:solidFill>
                <a:latin typeface="Calibri" pitchFamily="34" charset="0"/>
                <a:ea typeface="Calibri" pitchFamily="34" charset="-122"/>
                <a:cs typeface="Calibri" pitchFamily="34" charset="-120"/>
              </a:rPr>
              <a:t>Due negativi</a:t>
            </a:r>
            <a:endParaRPr lang="en-US" sz="1400" dirty="0"/>
          </a:p>
        </p:txBody>
      </p:sp>
      <p:sp>
        <p:nvSpPr>
          <p:cNvPr id="10" name="Text 8"/>
          <p:cNvSpPr txBox="1"/>
          <p:nvPr/>
        </p:nvSpPr>
        <p:spPr>
          <a:xfrm>
            <a:off x="4521098" y="1920240"/>
            <a:ext cx="1054578" cy="1280160"/>
          </a:xfrm>
          <a:prstGeom prst="rect">
            <a:avLst/>
          </a:prstGeom>
          <a:noFill/>
          <a:ln/>
        </p:spPr>
        <p:txBody>
          <a:bodyPr wrap="square" lIns="0" tIns="0" rIns="0" bIns="0" rtlCol="0" anchor="t"/>
          <a:lstStyle/>
          <a:p>
            <a:pPr algn="r" indent="0" marL="0">
              <a:buNone/>
            </a:pPr>
            <a:r>
              <a:rPr lang="en-US" sz="1500" dirty="0">
                <a:solidFill>
                  <a:srgbClr val="5B6B78"/>
                </a:solidFill>
                <a:latin typeface="Courier New" pitchFamily="34" charset="0"/>
                <a:ea typeface="Courier New" pitchFamily="34" charset="-122"/>
                <a:cs typeface="Courier New" pitchFamily="34" charset="-120"/>
              </a:rPr>
              <a:t>-2 +</a:t>
            </a:r>
            <a:endParaRPr lang="en-US" sz="1500" dirty="0"/>
          </a:p>
          <a:p>
            <a:pPr algn="r" indent="0" marL="0">
              <a:buNone/>
            </a:pPr>
            <a:r>
              <a:rPr lang="en-US" sz="1500" dirty="0">
                <a:solidFill>
                  <a:srgbClr val="5B6B78"/>
                </a:solidFill>
                <a:latin typeface="Courier New" pitchFamily="34" charset="0"/>
                <a:ea typeface="Courier New" pitchFamily="34" charset="-122"/>
                <a:cs typeface="Courier New" pitchFamily="34" charset="-120"/>
              </a:rPr>
              <a:t>-3 =</a:t>
            </a:r>
            <a:endParaRPr lang="en-US" sz="1500" dirty="0"/>
          </a:p>
          <a:p>
            <a:pPr algn="r" indent="0" marL="0">
              <a:buNone/>
            </a:pPr>
            <a:endParaRPr lang="en-US" sz="1500" dirty="0"/>
          </a:p>
          <a:p>
            <a:pPr algn="r" indent="0" marL="0">
              <a:buNone/>
            </a:pPr>
            <a:r>
              <a:rPr lang="en-US" sz="1500" dirty="0">
                <a:solidFill>
                  <a:srgbClr val="5B6B78"/>
                </a:solidFill>
                <a:latin typeface="Courier New" pitchFamily="34" charset="0"/>
                <a:ea typeface="Courier New" pitchFamily="34" charset="-122"/>
                <a:cs typeface="Courier New" pitchFamily="34" charset="-120"/>
              </a:rPr>
              <a:t>-5</a:t>
            </a:r>
            <a:endParaRPr lang="en-US" sz="1500" dirty="0"/>
          </a:p>
        </p:txBody>
      </p:sp>
      <p:sp>
        <p:nvSpPr>
          <p:cNvPr id="11" name="Text 9"/>
          <p:cNvSpPr txBox="1"/>
          <p:nvPr/>
        </p:nvSpPr>
        <p:spPr>
          <a:xfrm>
            <a:off x="5603711" y="1920240"/>
            <a:ext cx="2021165" cy="1280160"/>
          </a:xfrm>
          <a:prstGeom prst="rect">
            <a:avLst/>
          </a:prstGeom>
          <a:noFill/>
          <a:ln/>
        </p:spPr>
        <p:txBody>
          <a:bodyPr wrap="square" lIns="0" tIns="0" rIns="0" bIns="0" rtlCol="0" anchor="t"/>
          <a:lstStyle/>
          <a:p>
            <a:pPr algn="r" indent="0" marL="0">
              <a:buNone/>
            </a:pPr>
            <a:r>
              <a:rPr lang="en-US" sz="1500" b="1" dirty="0">
                <a:solidFill>
                  <a:srgbClr val="1B2530"/>
                </a:solidFill>
                <a:latin typeface="Courier New" pitchFamily="34" charset="0"/>
                <a:ea typeface="Courier New" pitchFamily="34" charset="-122"/>
                <a:cs typeface="Courier New" pitchFamily="34" charset="-120"/>
              </a:rPr>
              <a:t>1101 +</a:t>
            </a:r>
            <a:endParaRPr lang="en-US" sz="1500" dirty="0"/>
          </a:p>
          <a:p>
            <a:pPr algn="r" indent="0" marL="0">
              <a:buNone/>
            </a:pPr>
            <a:r>
              <a:rPr lang="en-US" sz="1500" b="1" dirty="0">
                <a:solidFill>
                  <a:srgbClr val="1B2530"/>
                </a:solidFill>
                <a:latin typeface="Courier New" pitchFamily="34" charset="0"/>
                <a:ea typeface="Courier New" pitchFamily="34" charset="-122"/>
                <a:cs typeface="Courier New" pitchFamily="34" charset="-120"/>
              </a:rPr>
              <a:t>1100 =</a:t>
            </a:r>
            <a:endParaRPr lang="en-US" sz="1500" dirty="0"/>
          </a:p>
          <a:p>
            <a:pPr algn="r" indent="0" marL="0">
              <a:buNone/>
            </a:pPr>
            <a:r>
              <a:rPr lang="en-US" sz="1500" b="1" dirty="0">
                <a:solidFill>
                  <a:srgbClr val="1B2530"/>
                </a:solidFill>
                <a:latin typeface="Courier New" pitchFamily="34" charset="0"/>
                <a:ea typeface="Courier New" pitchFamily="34" charset="-122"/>
                <a:cs typeface="Courier New" pitchFamily="34" charset="-120"/>
              </a:rPr>
              <a:t>1 1001 + 1 =</a:t>
            </a:r>
            <a:endParaRPr lang="en-US" sz="1500" dirty="0"/>
          </a:p>
          <a:p>
            <a:pPr algn="r" indent="0" marL="0">
              <a:buNone/>
            </a:pPr>
            <a:r>
              <a:rPr lang="en-US" sz="1500" b="1" dirty="0">
                <a:solidFill>
                  <a:srgbClr val="1B2530"/>
                </a:solidFill>
                <a:latin typeface="Courier New" pitchFamily="34" charset="0"/>
                <a:ea typeface="Courier New" pitchFamily="34" charset="-122"/>
                <a:cs typeface="Courier New" pitchFamily="34" charset="-120"/>
              </a:rPr>
              <a:t>1010</a:t>
            </a:r>
            <a:endParaRPr lang="en-US" sz="1500" dirty="0"/>
          </a:p>
        </p:txBody>
      </p:sp>
      <p:sp>
        <p:nvSpPr>
          <p:cNvPr id="12" name="Text 10"/>
          <p:cNvSpPr txBox="1"/>
          <p:nvPr/>
        </p:nvSpPr>
        <p:spPr>
          <a:xfrm>
            <a:off x="4521098" y="3246120"/>
            <a:ext cx="3149498" cy="411480"/>
          </a:xfrm>
          <a:prstGeom prst="rect">
            <a:avLst/>
          </a:prstGeom>
          <a:noFill/>
          <a:ln/>
        </p:spPr>
        <p:txBody>
          <a:bodyPr wrap="square" lIns="0" tIns="0" rIns="0" bIns="0" rtlCol="0" anchor="ctr"/>
          <a:lstStyle/>
          <a:p>
            <a:pPr indent="0" marL="0">
              <a:buNone/>
            </a:pPr>
            <a:r>
              <a:rPr lang="en-US" sz="1250" i="1" dirty="0">
                <a:solidFill>
                  <a:srgbClr val="B23A48"/>
                </a:solidFill>
                <a:latin typeface="Calibri" pitchFamily="34" charset="0"/>
                <a:ea typeface="Calibri" pitchFamily="34" charset="-122"/>
                <a:cs typeface="Calibri" pitchFamily="34" charset="-120"/>
              </a:rPr>
              <a:t>riporto uscente: va risommato</a:t>
            </a:r>
            <a:endParaRPr lang="en-US" sz="1250" dirty="0"/>
          </a:p>
        </p:txBody>
      </p:sp>
      <p:sp>
        <p:nvSpPr>
          <p:cNvPr id="13" name="Shape 11"/>
          <p:cNvSpPr/>
          <p:nvPr/>
        </p:nvSpPr>
        <p:spPr>
          <a:xfrm>
            <a:off x="8127797" y="1463040"/>
            <a:ext cx="3515258" cy="2240280"/>
          </a:xfrm>
          <a:prstGeom prst="roundRect">
            <a:avLst>
              <a:gd name="adj" fmla="val 3265"/>
            </a:avLst>
          </a:prstGeom>
          <a:solidFill>
            <a:srgbClr val="EEF2F4"/>
          </a:solidFill>
          <a:ln w="12700">
            <a:solidFill>
              <a:srgbClr val="EEF2F4"/>
            </a:solidFill>
            <a:prstDash val="solid"/>
          </a:ln>
        </p:spPr>
      </p:sp>
      <p:sp>
        <p:nvSpPr>
          <p:cNvPr id="14" name="Text 12"/>
          <p:cNvSpPr txBox="1"/>
          <p:nvPr/>
        </p:nvSpPr>
        <p:spPr>
          <a:xfrm>
            <a:off x="8310677" y="1554480"/>
            <a:ext cx="3149498" cy="320040"/>
          </a:xfrm>
          <a:prstGeom prst="rect">
            <a:avLst/>
          </a:prstGeom>
          <a:noFill/>
          <a:ln/>
        </p:spPr>
        <p:txBody>
          <a:bodyPr wrap="square" lIns="0" tIns="0" rIns="0" bIns="0" rtlCol="0" anchor="t"/>
          <a:lstStyle/>
          <a:p>
            <a:pPr indent="0" marL="0">
              <a:buNone/>
            </a:pPr>
            <a:r>
              <a:rPr lang="en-US" sz="1400" b="1" dirty="0">
                <a:solidFill>
                  <a:srgbClr val="B23A48"/>
                </a:solidFill>
                <a:latin typeface="Calibri" pitchFamily="34" charset="0"/>
                <a:ea typeface="Calibri" pitchFamily="34" charset="-122"/>
                <a:cs typeface="Calibri" pitchFamily="34" charset="-120"/>
              </a:rPr>
              <a:t>Risultato positivo</a:t>
            </a:r>
            <a:endParaRPr lang="en-US" sz="1400" dirty="0"/>
          </a:p>
        </p:txBody>
      </p:sp>
      <p:sp>
        <p:nvSpPr>
          <p:cNvPr id="15" name="Text 13"/>
          <p:cNvSpPr txBox="1"/>
          <p:nvPr/>
        </p:nvSpPr>
        <p:spPr>
          <a:xfrm>
            <a:off x="8310677" y="1920240"/>
            <a:ext cx="1054578" cy="1280160"/>
          </a:xfrm>
          <a:prstGeom prst="rect">
            <a:avLst/>
          </a:prstGeom>
          <a:noFill/>
          <a:ln/>
        </p:spPr>
        <p:txBody>
          <a:bodyPr wrap="square" lIns="0" tIns="0" rIns="0" bIns="0" rtlCol="0" anchor="t"/>
          <a:lstStyle/>
          <a:p>
            <a:pPr algn="r" indent="0" marL="0">
              <a:buNone/>
            </a:pPr>
            <a:r>
              <a:rPr lang="en-US" sz="1500" dirty="0">
                <a:solidFill>
                  <a:srgbClr val="5B6B78"/>
                </a:solidFill>
                <a:latin typeface="Courier New" pitchFamily="34" charset="0"/>
                <a:ea typeface="Courier New" pitchFamily="34" charset="-122"/>
                <a:cs typeface="Courier New" pitchFamily="34" charset="-120"/>
              </a:rPr>
              <a:t>5 +</a:t>
            </a:r>
            <a:endParaRPr lang="en-US" sz="1500" dirty="0"/>
          </a:p>
          <a:p>
            <a:pPr algn="r" indent="0" marL="0">
              <a:buNone/>
            </a:pPr>
            <a:r>
              <a:rPr lang="en-US" sz="1500" dirty="0">
                <a:solidFill>
                  <a:srgbClr val="5B6B78"/>
                </a:solidFill>
                <a:latin typeface="Courier New" pitchFamily="34" charset="0"/>
                <a:ea typeface="Courier New" pitchFamily="34" charset="-122"/>
                <a:cs typeface="Courier New" pitchFamily="34" charset="-120"/>
              </a:rPr>
              <a:t>-2 =</a:t>
            </a:r>
            <a:endParaRPr lang="en-US" sz="1500" dirty="0"/>
          </a:p>
          <a:p>
            <a:pPr algn="r" indent="0" marL="0">
              <a:buNone/>
            </a:pPr>
            <a:endParaRPr lang="en-US" sz="1500" dirty="0"/>
          </a:p>
          <a:p>
            <a:pPr algn="r" indent="0" marL="0">
              <a:buNone/>
            </a:pPr>
            <a:r>
              <a:rPr lang="en-US" sz="1500" dirty="0">
                <a:solidFill>
                  <a:srgbClr val="5B6B78"/>
                </a:solidFill>
                <a:latin typeface="Courier New" pitchFamily="34" charset="0"/>
                <a:ea typeface="Courier New" pitchFamily="34" charset="-122"/>
                <a:cs typeface="Courier New" pitchFamily="34" charset="-120"/>
              </a:rPr>
              <a:t>3</a:t>
            </a:r>
            <a:endParaRPr lang="en-US" sz="1500" dirty="0"/>
          </a:p>
        </p:txBody>
      </p:sp>
      <p:sp>
        <p:nvSpPr>
          <p:cNvPr id="16" name="Text 14"/>
          <p:cNvSpPr txBox="1"/>
          <p:nvPr/>
        </p:nvSpPr>
        <p:spPr>
          <a:xfrm>
            <a:off x="9393290" y="1920240"/>
            <a:ext cx="2021165" cy="1280160"/>
          </a:xfrm>
          <a:prstGeom prst="rect">
            <a:avLst/>
          </a:prstGeom>
          <a:noFill/>
          <a:ln/>
        </p:spPr>
        <p:txBody>
          <a:bodyPr wrap="square" lIns="0" tIns="0" rIns="0" bIns="0" rtlCol="0" anchor="t"/>
          <a:lstStyle/>
          <a:p>
            <a:pPr algn="r" indent="0" marL="0">
              <a:buNone/>
            </a:pPr>
            <a:r>
              <a:rPr lang="en-US" sz="1500" b="1" dirty="0">
                <a:solidFill>
                  <a:srgbClr val="1B2530"/>
                </a:solidFill>
                <a:latin typeface="Courier New" pitchFamily="34" charset="0"/>
                <a:ea typeface="Courier New" pitchFamily="34" charset="-122"/>
                <a:cs typeface="Courier New" pitchFamily="34" charset="-120"/>
              </a:rPr>
              <a:t>0101 +</a:t>
            </a:r>
            <a:endParaRPr lang="en-US" sz="1500" dirty="0"/>
          </a:p>
          <a:p>
            <a:pPr algn="r" indent="0" marL="0">
              <a:buNone/>
            </a:pPr>
            <a:r>
              <a:rPr lang="en-US" sz="1500" b="1" dirty="0">
                <a:solidFill>
                  <a:srgbClr val="1B2530"/>
                </a:solidFill>
                <a:latin typeface="Courier New" pitchFamily="34" charset="0"/>
                <a:ea typeface="Courier New" pitchFamily="34" charset="-122"/>
                <a:cs typeface="Courier New" pitchFamily="34" charset="-120"/>
              </a:rPr>
              <a:t>1101 =</a:t>
            </a:r>
            <a:endParaRPr lang="en-US" sz="1500" dirty="0"/>
          </a:p>
          <a:p>
            <a:pPr algn="r" indent="0" marL="0">
              <a:buNone/>
            </a:pPr>
            <a:r>
              <a:rPr lang="en-US" sz="1500" b="1" dirty="0">
                <a:solidFill>
                  <a:srgbClr val="1B2530"/>
                </a:solidFill>
                <a:latin typeface="Courier New" pitchFamily="34" charset="0"/>
                <a:ea typeface="Courier New" pitchFamily="34" charset="-122"/>
                <a:cs typeface="Courier New" pitchFamily="34" charset="-120"/>
              </a:rPr>
              <a:t>1 0010 + 1 =</a:t>
            </a:r>
            <a:endParaRPr lang="en-US" sz="1500" dirty="0"/>
          </a:p>
          <a:p>
            <a:pPr algn="r" indent="0" marL="0">
              <a:buNone/>
            </a:pPr>
            <a:r>
              <a:rPr lang="en-US" sz="1500" b="1" dirty="0">
                <a:solidFill>
                  <a:srgbClr val="1B2530"/>
                </a:solidFill>
                <a:latin typeface="Courier New" pitchFamily="34" charset="0"/>
                <a:ea typeface="Courier New" pitchFamily="34" charset="-122"/>
                <a:cs typeface="Courier New" pitchFamily="34" charset="-120"/>
              </a:rPr>
              <a:t>0011</a:t>
            </a:r>
            <a:endParaRPr lang="en-US" sz="1500" dirty="0"/>
          </a:p>
        </p:txBody>
      </p:sp>
      <p:sp>
        <p:nvSpPr>
          <p:cNvPr id="17" name="Text 15"/>
          <p:cNvSpPr txBox="1"/>
          <p:nvPr/>
        </p:nvSpPr>
        <p:spPr>
          <a:xfrm>
            <a:off x="8310677" y="3246120"/>
            <a:ext cx="3149498" cy="411480"/>
          </a:xfrm>
          <a:prstGeom prst="rect">
            <a:avLst/>
          </a:prstGeom>
          <a:noFill/>
          <a:ln/>
        </p:spPr>
        <p:txBody>
          <a:bodyPr wrap="square" lIns="0" tIns="0" rIns="0" bIns="0" rtlCol="0" anchor="ctr"/>
          <a:lstStyle/>
          <a:p>
            <a:pPr indent="0" marL="0">
              <a:buNone/>
            </a:pPr>
            <a:r>
              <a:rPr lang="en-US" sz="1250" i="1" dirty="0">
                <a:solidFill>
                  <a:srgbClr val="B23A48"/>
                </a:solidFill>
                <a:latin typeface="Calibri" pitchFamily="34" charset="0"/>
                <a:ea typeface="Calibri" pitchFamily="34" charset="-122"/>
                <a:cs typeface="Calibri" pitchFamily="34" charset="-120"/>
              </a:rPr>
              <a:t>riporto uscente: va risommato</a:t>
            </a:r>
            <a:endParaRPr lang="en-US" sz="1250" dirty="0"/>
          </a:p>
        </p:txBody>
      </p:sp>
      <p:sp>
        <p:nvSpPr>
          <p:cNvPr id="18" name="Shape 16"/>
          <p:cNvSpPr/>
          <p:nvPr/>
        </p:nvSpPr>
        <p:spPr>
          <a:xfrm>
            <a:off x="548640" y="4030599"/>
            <a:ext cx="146304" cy="146304"/>
          </a:xfrm>
          <a:prstGeom prst="rect">
            <a:avLst/>
          </a:prstGeom>
          <a:solidFill>
            <a:srgbClr val="0E7C86"/>
          </a:solidFill>
          <a:ln w="12700">
            <a:solidFill>
              <a:srgbClr val="0E7C86"/>
            </a:solidFill>
            <a:prstDash val="solid"/>
          </a:ln>
        </p:spPr>
      </p:sp>
      <p:sp>
        <p:nvSpPr>
          <p:cNvPr id="19" name="Text 17"/>
          <p:cNvSpPr txBox="1"/>
          <p:nvPr/>
        </p:nvSpPr>
        <p:spPr>
          <a:xfrm>
            <a:off x="932688" y="3931920"/>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L'addizionatore lavora modulo 2^n - 1: ogni volta che c'è un riporto uscente dal bit più significativo, al risultato va sommato 1 (riporto circolare)</a:t>
            </a:r>
            <a:endParaRPr lang="en-US" sz="2100" dirty="0"/>
          </a:p>
        </p:txBody>
      </p:sp>
      <p:sp>
        <p:nvSpPr>
          <p:cNvPr id="20" name="Shape 18"/>
          <p:cNvSpPr/>
          <p:nvPr/>
        </p:nvSpPr>
        <p:spPr>
          <a:xfrm>
            <a:off x="548640" y="4825365"/>
            <a:ext cx="146304" cy="146304"/>
          </a:xfrm>
          <a:prstGeom prst="rect">
            <a:avLst/>
          </a:prstGeom>
          <a:solidFill>
            <a:srgbClr val="C7791B"/>
          </a:solidFill>
          <a:ln w="12700">
            <a:solidFill>
              <a:srgbClr val="C7791B"/>
            </a:solidFill>
            <a:prstDash val="solid"/>
          </a:ln>
        </p:spPr>
      </p:sp>
      <p:sp>
        <p:nvSpPr>
          <p:cNvPr id="21" name="Text 19"/>
          <p:cNvSpPr txBox="1"/>
          <p:nvPr/>
        </p:nvSpPr>
        <p:spPr>
          <a:xfrm>
            <a:off x="932688" y="4726686"/>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La correzione serve quando entrambi gli operandi sono negativi, o quando hanno segno opposto e la somma è positiva</a:t>
            </a:r>
            <a:endParaRPr lang="en-US" sz="2100" dirty="0"/>
          </a:p>
        </p:txBody>
      </p:sp>
      <p:sp>
        <p:nvSpPr>
          <p:cNvPr id="22" name="Shape 20"/>
          <p:cNvSpPr/>
          <p:nvPr/>
        </p:nvSpPr>
        <p:spPr>
          <a:xfrm>
            <a:off x="548640" y="5620131"/>
            <a:ext cx="146304" cy="146304"/>
          </a:xfrm>
          <a:prstGeom prst="rect">
            <a:avLst/>
          </a:prstGeom>
          <a:solidFill>
            <a:srgbClr val="0E7C86"/>
          </a:solidFill>
          <a:ln w="12700">
            <a:solidFill>
              <a:srgbClr val="0E7C86"/>
            </a:solidFill>
            <a:prstDash val="solid"/>
          </a:ln>
        </p:spPr>
      </p:sp>
      <p:sp>
        <p:nvSpPr>
          <p:cNvPr id="23" name="Text 21"/>
          <p:cNvSpPr txBox="1"/>
          <p:nvPr/>
        </p:nvSpPr>
        <p:spPr>
          <a:xfrm>
            <a:off x="932688" y="5521452"/>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Bastano ancora un addizionatore e un complementatore, ma il passo in più e il doppio zero hanno fatto vincere il complemento a due</a:t>
            </a:r>
            <a:endParaRPr lang="en-US" sz="2100" dirty="0"/>
          </a:p>
        </p:txBody>
      </p:sp>
      <p:sp>
        <p:nvSpPr>
          <p:cNvPr id="24" name="Shape 22"/>
          <p:cNvSpPr/>
          <p:nvPr/>
        </p:nvSpPr>
        <p:spPr>
          <a:xfrm>
            <a:off x="7263714" y="91440"/>
            <a:ext cx="4379341" cy="274320"/>
          </a:xfrm>
          <a:prstGeom prst="rect">
            <a:avLst/>
          </a:prstGeom>
          <a:solidFill>
            <a:srgbClr val="E0F2FE"/>
          </a:solidFill>
          <a:ln w="12700">
            <a:solidFill>
              <a:srgbClr val="0369A1"/>
            </a:solidFill>
            <a:prstDash val="solid"/>
          </a:ln>
        </p:spPr>
      </p:sp>
      <p:sp>
        <p:nvSpPr>
          <p:cNvPr id="25" name="Shape 23"/>
          <p:cNvSpPr/>
          <p:nvPr/>
        </p:nvSpPr>
        <p:spPr>
          <a:xfrm>
            <a:off x="7263714" y="91440"/>
            <a:ext cx="73152" cy="274320"/>
          </a:xfrm>
          <a:prstGeom prst="rect">
            <a:avLst/>
          </a:prstGeom>
          <a:solidFill>
            <a:srgbClr val="0369A1"/>
          </a:solidFill>
          <a:ln w="12700">
            <a:solidFill>
              <a:srgbClr val="0369A1"/>
            </a:solidFill>
            <a:prstDash val="solid"/>
          </a:ln>
        </p:spPr>
      </p:sp>
      <p:pic>
        <p:nvPicPr>
          <p:cNvPr id="26" name="Image 0" descr="preencoded.png">    </p:cNvPr>
          <p:cNvPicPr>
            <a:picLocks noChangeAspect="1"/>
          </p:cNvPicPr>
          <p:nvPr/>
        </p:nvPicPr>
        <p:blipFill>
          <a:blip r:embed="rId1"/>
          <a:stretch>
            <a:fillRect/>
          </a:stretch>
        </p:blipFill>
        <p:spPr>
          <a:xfrm>
            <a:off x="7391730" y="128016"/>
            <a:ext cx="201168" cy="201168"/>
          </a:xfrm>
          <a:prstGeom prst="rect">
            <a:avLst/>
          </a:prstGeom>
        </p:spPr>
      </p:pic>
      <p:sp>
        <p:nvSpPr>
          <p:cNvPr id="27" name="Text 24"/>
          <p:cNvSpPr txBox="1"/>
          <p:nvPr/>
        </p:nvSpPr>
        <p:spPr>
          <a:xfrm>
            <a:off x="7647762" y="91440"/>
            <a:ext cx="395871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complemento a uno ed eccesso k</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Rappresentazione in eccesso k (polarizzata)</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Ogni numero è traslato verso l'alto di una costante k: X = x + k, tipicamente k = 2^(n-1)</a:t>
            </a:r>
            <a:endParaRPr lang="en-US" sz="2200" dirty="0"/>
          </a:p>
        </p:txBody>
      </p:sp>
      <p:sp>
        <p:nvSpPr>
          <p:cNvPr id="5" name="Shape 3"/>
          <p:cNvSpPr/>
          <p:nvPr/>
        </p:nvSpPr>
        <p:spPr>
          <a:xfrm>
            <a:off x="548640" y="245681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50389"/>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L'ordine si conserva: se x1 &gt; x2 allora X1 &gt; X2, quindi i numeri con segno si confrontano come naturali</a:t>
            </a:r>
            <a:endParaRPr lang="en-US" sz="2200" dirty="0"/>
          </a:p>
        </p:txBody>
      </p:sp>
      <p:sp>
        <p:nvSpPr>
          <p:cNvPr id="7" name="Shape 5"/>
          <p:cNvSpPr/>
          <p:nvPr/>
        </p:nvSpPr>
        <p:spPr>
          <a:xfrm>
            <a:off x="548640" y="373075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24326"/>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Una somma va corretta sottraendo k; moltiplicazione e divisione sono molto più scomode che con i complementi</a:t>
            </a:r>
            <a:endParaRPr lang="en-US" sz="2200" dirty="0"/>
          </a:p>
        </p:txBody>
      </p:sp>
      <p:sp>
        <p:nvSpPr>
          <p:cNvPr id="9" name="Shape 7"/>
          <p:cNvSpPr/>
          <p:nvPr/>
        </p:nvSpPr>
        <p:spPr>
          <a:xfrm>
            <a:off x="548640" y="5004689"/>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898263"/>
            <a:ext cx="6565392"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Preferita dove servono solo somme e confronti</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È la codifica dell'esponente nei numeri in virgola mobile</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5900" b="1" dirty="0">
                <a:solidFill>
                  <a:srgbClr val="FFFFFF"/>
                </a:solidFill>
                <a:latin typeface="Cambria" pitchFamily="34" charset="0"/>
                <a:ea typeface="Cambria" pitchFamily="34" charset="-122"/>
                <a:cs typeface="Cambria" pitchFamily="34" charset="-120"/>
              </a:rPr>
              <a:t>X = x + k</a:t>
            </a:r>
            <a:endParaRPr lang="en-US" sz="59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su quattro bit con k = 8: la configurazione 0000 significa -8, 1000 significa 0, 1111 significa +7</a:t>
            </a:r>
            <a:endParaRPr lang="en-US" sz="1900" dirty="0"/>
          </a:p>
        </p:txBody>
      </p:sp>
      <p:sp>
        <p:nvSpPr>
          <p:cNvPr id="16" name="Shape 14"/>
          <p:cNvSpPr/>
          <p:nvPr/>
        </p:nvSpPr>
        <p:spPr>
          <a:xfrm>
            <a:off x="7263714" y="91440"/>
            <a:ext cx="4379341" cy="274320"/>
          </a:xfrm>
          <a:prstGeom prst="rect">
            <a:avLst/>
          </a:prstGeom>
          <a:solidFill>
            <a:srgbClr val="E0F2FE"/>
          </a:solidFill>
          <a:ln w="12700">
            <a:solidFill>
              <a:srgbClr val="0369A1"/>
            </a:solidFill>
            <a:prstDash val="solid"/>
          </a:ln>
        </p:spPr>
      </p:sp>
      <p:sp>
        <p:nvSpPr>
          <p:cNvPr id="17" name="Shape 15"/>
          <p:cNvSpPr/>
          <p:nvPr/>
        </p:nvSpPr>
        <p:spPr>
          <a:xfrm>
            <a:off x="7263714"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7391730" y="128016"/>
            <a:ext cx="201168" cy="201168"/>
          </a:xfrm>
          <a:prstGeom prst="rect">
            <a:avLst/>
          </a:prstGeom>
        </p:spPr>
      </p:pic>
      <p:sp>
        <p:nvSpPr>
          <p:cNvPr id="19" name="Text 16"/>
          <p:cNvSpPr txBox="1"/>
          <p:nvPr/>
        </p:nvSpPr>
        <p:spPr>
          <a:xfrm>
            <a:off x="7647762" y="91440"/>
            <a:ext cx="395871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complemento a uno ed eccesso k</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Quattro bit, cinque letture</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349240" cy="914400"/>
        </p:xfrm>
        <a:graphic>
          <a:graphicData uri="http://schemas.openxmlformats.org/drawingml/2006/table">
            <a:tbl>
              <a:tblPr/>
              <a:tblGrid>
                <a:gridCol w="822960"/>
                <a:gridCol w="868680"/>
                <a:gridCol w="960120"/>
                <a:gridCol w="868680"/>
                <a:gridCol w="868680"/>
                <a:gridCol w="960120"/>
              </a:tblGrid>
              <a:tr h="38404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Bit</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 segno</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Segno-m.</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 a 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 a 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Ecc. 8</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0000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0001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0010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0011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0100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0101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0110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0111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293815" y="1417320"/>
          <a:ext cx="5349240" cy="914400"/>
        </p:xfrm>
        <a:graphic>
          <a:graphicData uri="http://schemas.openxmlformats.org/drawingml/2006/table">
            <a:tbl>
              <a:tblPr/>
              <a:tblGrid>
                <a:gridCol w="822960"/>
                <a:gridCol w="868680"/>
                <a:gridCol w="960120"/>
                <a:gridCol w="868680"/>
                <a:gridCol w="868680"/>
                <a:gridCol w="960120"/>
              </a:tblGrid>
              <a:tr h="38404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Bit</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 segno</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Segno-m.</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 a 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 a 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Ecc. 8</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1000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1001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9</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1010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1011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1100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1101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13</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1110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14</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1111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5" name="Shape 1"/>
          <p:cNvSpPr/>
          <p:nvPr/>
        </p:nvSpPr>
        <p:spPr>
          <a:xfrm>
            <a:off x="548640" y="5096891"/>
            <a:ext cx="146304" cy="146304"/>
          </a:xfrm>
          <a:prstGeom prst="rect">
            <a:avLst/>
          </a:prstGeom>
          <a:solidFill>
            <a:srgbClr val="0E7C86"/>
          </a:solidFill>
          <a:ln w="12700">
            <a:solidFill>
              <a:srgbClr val="0E7C86"/>
            </a:solidFill>
            <a:prstDash val="solid"/>
          </a:ln>
        </p:spPr>
      </p:sp>
      <p:sp>
        <p:nvSpPr>
          <p:cNvPr id="6" name="Text 2"/>
          <p:cNvSpPr txBox="1"/>
          <p:nvPr/>
        </p:nvSpPr>
        <p:spPr>
          <a:xfrm>
            <a:off x="932688" y="5029200"/>
            <a:ext cx="10710367" cy="263398"/>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Segno e modulo e complemento a uno hanno due zeri (evidenziati): 0000 e 1000, oppure 0000 e 1111</a:t>
            </a:r>
            <a:endParaRPr lang="en-US" sz="1700" dirty="0"/>
          </a:p>
        </p:txBody>
      </p:sp>
      <p:sp>
        <p:nvSpPr>
          <p:cNvPr id="7" name="Shape 3"/>
          <p:cNvSpPr/>
          <p:nvPr/>
        </p:nvSpPr>
        <p:spPr>
          <a:xfrm>
            <a:off x="548640" y="5536692"/>
            <a:ext cx="146304" cy="146304"/>
          </a:xfrm>
          <a:prstGeom prst="rect">
            <a:avLst/>
          </a:prstGeom>
          <a:solidFill>
            <a:srgbClr val="C7791B"/>
          </a:solidFill>
          <a:ln w="12700">
            <a:solidFill>
              <a:srgbClr val="C7791B"/>
            </a:solidFill>
            <a:prstDash val="solid"/>
          </a:ln>
        </p:spPr>
      </p:sp>
      <p:sp>
        <p:nvSpPr>
          <p:cNvPr id="8" name="Text 4"/>
          <p:cNvSpPr txBox="1"/>
          <p:nvPr/>
        </p:nvSpPr>
        <p:spPr>
          <a:xfrm>
            <a:off x="932688" y="5469001"/>
            <a:ext cx="10710367" cy="263398"/>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Complemento a due ed eccesso 8 coprono lo stesso intervallo, da -8 a +7, con un solo zero</a:t>
            </a:r>
            <a:endParaRPr lang="en-US" sz="1700" dirty="0"/>
          </a:p>
        </p:txBody>
      </p:sp>
      <p:sp>
        <p:nvSpPr>
          <p:cNvPr id="9" name="Shape 5"/>
          <p:cNvSpPr/>
          <p:nvPr/>
        </p:nvSpPr>
        <p:spPr>
          <a:xfrm>
            <a:off x="548640" y="5976493"/>
            <a:ext cx="146304" cy="146304"/>
          </a:xfrm>
          <a:prstGeom prst="rect">
            <a:avLst/>
          </a:prstGeom>
          <a:solidFill>
            <a:srgbClr val="0E7C86"/>
          </a:solidFill>
          <a:ln w="12700">
            <a:solidFill>
              <a:srgbClr val="0E7C86"/>
            </a:solidFill>
            <a:prstDash val="solid"/>
          </a:ln>
        </p:spPr>
      </p:sp>
      <p:sp>
        <p:nvSpPr>
          <p:cNvPr id="10" name="Text 6"/>
          <p:cNvSpPr txBox="1"/>
          <p:nvPr/>
        </p:nvSpPr>
        <p:spPr>
          <a:xfrm>
            <a:off x="932688" y="5908802"/>
            <a:ext cx="10710367" cy="263398"/>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Solo l'eccesso k mantiene le configurazioni nello stesso ordine dei numeri</a:t>
            </a:r>
            <a:endParaRPr lang="en-US" sz="1700" dirty="0"/>
          </a:p>
        </p:txBody>
      </p:sp>
      <p:sp>
        <p:nvSpPr>
          <p:cNvPr id="11" name="Shape 7"/>
          <p:cNvSpPr/>
          <p:nvPr/>
        </p:nvSpPr>
        <p:spPr>
          <a:xfrm>
            <a:off x="7263714" y="91440"/>
            <a:ext cx="4379341" cy="274320"/>
          </a:xfrm>
          <a:prstGeom prst="rect">
            <a:avLst/>
          </a:prstGeom>
          <a:solidFill>
            <a:srgbClr val="E0F2FE"/>
          </a:solidFill>
          <a:ln w="12700">
            <a:solidFill>
              <a:srgbClr val="0369A1"/>
            </a:solidFill>
            <a:prstDash val="solid"/>
          </a:ln>
        </p:spPr>
      </p:sp>
      <p:sp>
        <p:nvSpPr>
          <p:cNvPr id="12" name="Shape 8"/>
          <p:cNvSpPr/>
          <p:nvPr/>
        </p:nvSpPr>
        <p:spPr>
          <a:xfrm>
            <a:off x="7263714" y="91440"/>
            <a:ext cx="73152" cy="274320"/>
          </a:xfrm>
          <a:prstGeom prst="rect">
            <a:avLst/>
          </a:prstGeom>
          <a:solidFill>
            <a:srgbClr val="0369A1"/>
          </a:solidFill>
          <a:ln w="12700">
            <a:solidFill>
              <a:srgbClr val="0369A1"/>
            </a:solidFill>
            <a:prstDash val="solid"/>
          </a:ln>
        </p:spPr>
      </p:sp>
      <p:pic>
        <p:nvPicPr>
          <p:cNvPr id="13" name="Image 0" descr="preencoded.png">    </p:cNvPr>
          <p:cNvPicPr>
            <a:picLocks noChangeAspect="1"/>
          </p:cNvPicPr>
          <p:nvPr/>
        </p:nvPicPr>
        <p:blipFill>
          <a:blip r:embed="rId1"/>
          <a:stretch>
            <a:fillRect/>
          </a:stretch>
        </p:blipFill>
        <p:spPr>
          <a:xfrm>
            <a:off x="7391730" y="128016"/>
            <a:ext cx="201168" cy="201168"/>
          </a:xfrm>
          <a:prstGeom prst="rect">
            <a:avLst/>
          </a:prstGeom>
        </p:spPr>
      </p:pic>
      <p:sp>
        <p:nvSpPr>
          <p:cNvPr id="14" name="Text 9"/>
          <p:cNvSpPr txBox="1"/>
          <p:nvPr/>
        </p:nvSpPr>
        <p:spPr>
          <a:xfrm>
            <a:off x="7647762" y="91440"/>
            <a:ext cx="395871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complemento a uno ed eccesso k</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Numeri in virgola fissa</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Parte intera e parte frazionaria sono memorizzate fianco a fianco in un'unica parola</a:t>
            </a:r>
            <a:endParaRPr lang="en-US" sz="2200" dirty="0"/>
          </a:p>
        </p:txBody>
      </p:sp>
      <p:sp>
        <p:nvSpPr>
          <p:cNvPr id="5" name="Shape 3"/>
          <p:cNvSpPr/>
          <p:nvPr/>
        </p:nvSpPr>
        <p:spPr>
          <a:xfrm>
            <a:off x="548640" y="237159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65172"/>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La posizione della virgola è fissa e implicita: non è memorizzata, la conosce il programma</a:t>
            </a:r>
            <a:endParaRPr lang="en-US" sz="2200" dirty="0"/>
          </a:p>
        </p:txBody>
      </p:sp>
      <p:sp>
        <p:nvSpPr>
          <p:cNvPr id="7" name="Shape 5"/>
          <p:cNvSpPr/>
          <p:nvPr/>
        </p:nvSpPr>
        <p:spPr>
          <a:xfrm>
            <a:off x="548640" y="356031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53892"/>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Con f bit frazionari l'intero memorizzato è X = x per 2^f, e la risoluzione è 2^-f</a:t>
            </a:r>
            <a:endParaRPr lang="en-US" sz="2200" dirty="0"/>
          </a:p>
        </p:txBody>
      </p:sp>
      <p:sp>
        <p:nvSpPr>
          <p:cNvPr id="9" name="Shape 7"/>
          <p:cNvSpPr/>
          <p:nvPr/>
        </p:nvSpPr>
        <p:spPr>
          <a:xfrm>
            <a:off x="548640" y="4408170"/>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301744"/>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Ogni parte usa una delle rappresentazioni già viste: di solito l'intera parola è in complemento a due</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Notazione Qm.f: m bit interi e f bit frazionari, per esempio Q24.8</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5900" b="1" dirty="0">
                <a:solidFill>
                  <a:srgbClr val="FFFFFF"/>
                </a:solidFill>
                <a:latin typeface="Cambria" pitchFamily="34" charset="0"/>
                <a:ea typeface="Cambria" pitchFamily="34" charset="-122"/>
                <a:cs typeface="Cambria" pitchFamily="34" charset="-120"/>
              </a:rPr>
              <a:t>X = x 2^f</a:t>
            </a:r>
            <a:endParaRPr lang="en-US" sz="59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si memorizza il numero moltiplicato per una potenza di due; scorrendo a destra di f bit si riottiene la parte intera</a:t>
            </a:r>
            <a:endParaRPr lang="en-US" sz="1900" dirty="0"/>
          </a:p>
        </p:txBody>
      </p:sp>
      <p:sp>
        <p:nvSpPr>
          <p:cNvPr id="16" name="Shape 14"/>
          <p:cNvSpPr/>
          <p:nvPr/>
        </p:nvSpPr>
        <p:spPr>
          <a:xfrm>
            <a:off x="8182940" y="91440"/>
            <a:ext cx="3460115" cy="274320"/>
          </a:xfrm>
          <a:prstGeom prst="rect">
            <a:avLst/>
          </a:prstGeom>
          <a:solidFill>
            <a:srgbClr val="E0F2FE"/>
          </a:solidFill>
          <a:ln w="12700">
            <a:solidFill>
              <a:srgbClr val="0369A1"/>
            </a:solidFill>
            <a:prstDash val="solid"/>
          </a:ln>
        </p:spPr>
      </p:sp>
      <p:sp>
        <p:nvSpPr>
          <p:cNvPr id="17" name="Shape 15"/>
          <p:cNvSpPr/>
          <p:nvPr/>
        </p:nvSpPr>
        <p:spPr>
          <a:xfrm>
            <a:off x="8182940"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8310956" y="128016"/>
            <a:ext cx="201168" cy="201168"/>
          </a:xfrm>
          <a:prstGeom prst="rect">
            <a:avLst/>
          </a:prstGeom>
        </p:spPr>
      </p:pic>
      <p:sp>
        <p:nvSpPr>
          <p:cNvPr id="19" name="Text 16"/>
          <p:cNvSpPr txBox="1"/>
          <p:nvPr/>
        </p:nvSpPr>
        <p:spPr>
          <a:xfrm>
            <a:off x="8566988" y="91440"/>
            <a:ext cx="303949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virgola fissa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Numeri razionali: l'errore di approssimazione</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 reali sono densi: anche in un intervallo limitato non tutti i numeri sono rappresentabili</a:t>
            </a:r>
            <a:endParaRPr lang="en-US" sz="2100" dirty="0"/>
          </a:p>
        </p:txBody>
      </p:sp>
      <p:sp>
        <p:nvSpPr>
          <p:cNvPr id="5" name="Shape 3"/>
          <p:cNvSpPr/>
          <p:nvPr/>
        </p:nvSpPr>
        <p:spPr>
          <a:xfrm>
            <a:off x="548640" y="239344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94763"/>
            <a:ext cx="6565392" cy="124510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Approssimazione: a ogni numero si associa il più vicino tra quelli rappresentabili</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in Q24.8, 0,1 diventa 26/256 = 0,1015625: un errore dell'1,6% circa</a:t>
            </a:r>
            <a:endParaRPr lang="en-US" sz="2100" dirty="0"/>
          </a:p>
        </p:txBody>
      </p:sp>
      <p:sp>
        <p:nvSpPr>
          <p:cNvPr id="7" name="Shape 5"/>
          <p:cNvSpPr/>
          <p:nvPr/>
        </p:nvSpPr>
        <p:spPr>
          <a:xfrm>
            <a:off x="548640" y="386524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766566"/>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L'errore di approssimazione è al più metà della risoluzione: 1/512 con otto bit frazionari</a:t>
            </a:r>
            <a:endParaRPr lang="en-US" sz="2100" dirty="0"/>
          </a:p>
        </p:txBody>
      </p:sp>
      <p:sp>
        <p:nvSpPr>
          <p:cNvPr id="9" name="Shape 7"/>
          <p:cNvSpPr/>
          <p:nvPr/>
        </p:nvSpPr>
        <p:spPr>
          <a:xfrm>
            <a:off x="548640" y="4742688"/>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644009"/>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Underflow: un numero vicino a zero, ma non zero, è rappresentato da zero</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In virgola fissa l'errore assoluto è lo stesso lungo tutta la retta dei numeri</a:t>
            </a:r>
            <a:endParaRPr lang="en-US" sz="21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1/256</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la risoluzione di otto bit frazionari: nulla di più piccolo si distingue da zero</a:t>
            </a:r>
            <a:endParaRPr lang="en-US" sz="1900" dirty="0"/>
          </a:p>
        </p:txBody>
      </p:sp>
      <p:sp>
        <p:nvSpPr>
          <p:cNvPr id="16" name="Shape 14"/>
          <p:cNvSpPr/>
          <p:nvPr/>
        </p:nvSpPr>
        <p:spPr>
          <a:xfrm>
            <a:off x="8182940" y="91440"/>
            <a:ext cx="3460115" cy="274320"/>
          </a:xfrm>
          <a:prstGeom prst="rect">
            <a:avLst/>
          </a:prstGeom>
          <a:solidFill>
            <a:srgbClr val="E0F2FE"/>
          </a:solidFill>
          <a:ln w="12700">
            <a:solidFill>
              <a:srgbClr val="0369A1"/>
            </a:solidFill>
            <a:prstDash val="solid"/>
          </a:ln>
        </p:spPr>
      </p:sp>
      <p:sp>
        <p:nvSpPr>
          <p:cNvPr id="17" name="Shape 15"/>
          <p:cNvSpPr/>
          <p:nvPr/>
        </p:nvSpPr>
        <p:spPr>
          <a:xfrm>
            <a:off x="8182940"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8310956" y="128016"/>
            <a:ext cx="201168" cy="201168"/>
          </a:xfrm>
          <a:prstGeom prst="rect">
            <a:avLst/>
          </a:prstGeom>
        </p:spPr>
      </p:pic>
      <p:sp>
        <p:nvSpPr>
          <p:cNvPr id="19" name="Text 16"/>
          <p:cNvSpPr txBox="1"/>
          <p:nvPr/>
        </p:nvSpPr>
        <p:spPr>
          <a:xfrm>
            <a:off x="8566988" y="91440"/>
            <a:ext cx="303949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virgola fissa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Numeri reali in virgola mobile</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Un numero reale x è rappresentato da una coppia (m, e) tale che x = m per b^e</a:t>
            </a:r>
            <a:endParaRPr lang="en-US" sz="2200" dirty="0"/>
          </a:p>
        </p:txBody>
      </p:sp>
      <p:sp>
        <p:nvSpPr>
          <p:cNvPr id="5" name="Shape 3"/>
          <p:cNvSpPr/>
          <p:nvPr/>
        </p:nvSpPr>
        <p:spPr>
          <a:xfrm>
            <a:off x="548640" y="248335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76932"/>
            <a:ext cx="6565392" cy="96621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 è la mantissa, e l'esponente, b la base</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la virgola è mobile: l'esponente dice dove si trova</a:t>
            </a:r>
            <a:endParaRPr lang="en-US" sz="2200" dirty="0"/>
          </a:p>
        </p:txBody>
      </p:sp>
      <p:sp>
        <p:nvSpPr>
          <p:cNvPr id="7" name="Shape 5"/>
          <p:cNvSpPr/>
          <p:nvPr/>
        </p:nvSpPr>
        <p:spPr>
          <a:xfrm>
            <a:off x="548640" y="3727450"/>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21024"/>
            <a:ext cx="6565392" cy="96621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Infinite coppie rappresentano lo stesso numero</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346,09801 = (346,09801; 0) = (346098,01; -3) = (0,034609801; 4)</a:t>
            </a:r>
            <a:endParaRPr lang="en-US" sz="2200" dirty="0"/>
          </a:p>
        </p:txBody>
      </p:sp>
      <p:sp>
        <p:nvSpPr>
          <p:cNvPr id="9" name="Shape 7"/>
          <p:cNvSpPr/>
          <p:nvPr/>
        </p:nvSpPr>
        <p:spPr>
          <a:xfrm>
            <a:off x="548640" y="497154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865116"/>
            <a:ext cx="6565392" cy="130708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La normalizzazione sceglie un unico rappresentante</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la virgola va subito dopo la prima cifra significativa: (3,4609801; 2)</a:t>
            </a:r>
            <a:endParaRPr lang="en-US" sz="22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5900" b="1" dirty="0">
                <a:solidFill>
                  <a:srgbClr val="FFFFFF"/>
                </a:solidFill>
                <a:latin typeface="Cambria" pitchFamily="34" charset="0"/>
                <a:ea typeface="Cambria" pitchFamily="34" charset="-122"/>
                <a:cs typeface="Cambria" pitchFamily="34" charset="-120"/>
              </a:rPr>
              <a:t>x = m b^e</a:t>
            </a:r>
            <a:endParaRPr lang="en-US" sz="59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mantissa, base ed esponente: la notazione scientifica del laboratorio, in binario</a:t>
            </a:r>
            <a:endParaRPr lang="en-US" sz="1900" dirty="0"/>
          </a:p>
        </p:txBody>
      </p:sp>
      <p:sp>
        <p:nvSpPr>
          <p:cNvPr id="14" name="Shape 12"/>
          <p:cNvSpPr/>
          <p:nvPr/>
        </p:nvSpPr>
        <p:spPr>
          <a:xfrm>
            <a:off x="7526350" y="91440"/>
            <a:ext cx="4116705" cy="274320"/>
          </a:xfrm>
          <a:prstGeom prst="rect">
            <a:avLst/>
          </a:prstGeom>
          <a:solidFill>
            <a:srgbClr val="E0F2FE"/>
          </a:solidFill>
          <a:ln w="12700">
            <a:solidFill>
              <a:srgbClr val="0369A1"/>
            </a:solidFill>
            <a:prstDash val="solid"/>
          </a:ln>
        </p:spPr>
      </p:sp>
      <p:sp>
        <p:nvSpPr>
          <p:cNvPr id="15" name="Shape 13"/>
          <p:cNvSpPr/>
          <p:nvPr/>
        </p:nvSpPr>
        <p:spPr>
          <a:xfrm>
            <a:off x="7526350"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7654366" y="128016"/>
            <a:ext cx="201168" cy="201168"/>
          </a:xfrm>
          <a:prstGeom prst="rect">
            <a:avLst/>
          </a:prstGeom>
        </p:spPr>
      </p:pic>
      <p:sp>
        <p:nvSpPr>
          <p:cNvPr id="17" name="Text 14"/>
          <p:cNvSpPr txBox="1"/>
          <p:nvPr/>
        </p:nvSpPr>
        <p:spPr>
          <a:xfrm>
            <a:off x="7910398" y="91440"/>
            <a:ext cx="369608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virgola mobile IEEE 754</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Approssimazione: errore assoluto e relativo</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L'errore assoluto non è costante: la precisione è finissima vicino a zero e diminuisce al crescere dei numeri</a:t>
            </a:r>
            <a:endParaRPr lang="en-US" sz="2200" dirty="0"/>
          </a:p>
        </p:txBody>
      </p:sp>
      <p:sp>
        <p:nvSpPr>
          <p:cNvPr id="5" name="Shape 3"/>
          <p:cNvSpPr/>
          <p:nvPr/>
        </p:nvSpPr>
        <p:spPr>
          <a:xfrm>
            <a:off x="548640" y="271741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610993"/>
            <a:ext cx="6565392" cy="101269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Vicino a zero l'errore massimo è 0,001 x 10^-99</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1,001 x 10^-99 meno 1,000 x 10^-99</a:t>
            </a:r>
            <a:endParaRPr lang="en-US" sz="2200" dirty="0"/>
          </a:p>
        </p:txBody>
      </p:sp>
      <p:sp>
        <p:nvSpPr>
          <p:cNvPr id="7" name="Shape 5"/>
          <p:cNvSpPr/>
          <p:nvPr/>
        </p:nvSpPr>
        <p:spPr>
          <a:xfrm>
            <a:off x="548640" y="3901186"/>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794760"/>
            <a:ext cx="6565392" cy="101269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Vicino al limite superiore l'errore massimo è 0,001 x 10^99</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9,999 x 10^99 meno 9,998 x 10^99</a:t>
            </a:r>
            <a:endParaRPr lang="en-US" sz="2200" dirty="0"/>
          </a:p>
        </p:txBody>
      </p:sp>
      <p:sp>
        <p:nvSpPr>
          <p:cNvPr id="9" name="Shape 7"/>
          <p:cNvSpPr/>
          <p:nvPr/>
        </p:nvSpPr>
        <p:spPr>
          <a:xfrm>
            <a:off x="548640" y="5084953"/>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978527"/>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Errore assoluto: piccolo sui numeri piccoli, grande sui numeri grandi</a:t>
            </a:r>
            <a:endParaRPr lang="en-US" sz="2200" dirty="0"/>
          </a:p>
        </p:txBody>
      </p:sp>
      <p:sp>
        <p:nvSpPr>
          <p:cNvPr id="11" name="Shape 9"/>
          <p:cNvSpPr/>
          <p:nvPr/>
        </p:nvSpPr>
        <p:spPr>
          <a:xfrm>
            <a:off x="548640" y="5937758"/>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831332"/>
            <a:ext cx="6565392"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Errore relativo: costante lungo tutto l'asse</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4 cifre</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lo stesso numero di cifre significative ovunque: errore relativo costante, qualunque sia la grandezza del numero</a:t>
            </a:r>
            <a:endParaRPr lang="en-US" sz="1900" dirty="0"/>
          </a:p>
        </p:txBody>
      </p:sp>
      <p:sp>
        <p:nvSpPr>
          <p:cNvPr id="16" name="Shape 14"/>
          <p:cNvSpPr/>
          <p:nvPr/>
        </p:nvSpPr>
        <p:spPr>
          <a:xfrm>
            <a:off x="7526350" y="91440"/>
            <a:ext cx="4116705" cy="274320"/>
          </a:xfrm>
          <a:prstGeom prst="rect">
            <a:avLst/>
          </a:prstGeom>
          <a:solidFill>
            <a:srgbClr val="E0F2FE"/>
          </a:solidFill>
          <a:ln w="12700">
            <a:solidFill>
              <a:srgbClr val="0369A1"/>
            </a:solidFill>
            <a:prstDash val="solid"/>
          </a:ln>
        </p:spPr>
      </p:sp>
      <p:sp>
        <p:nvSpPr>
          <p:cNvPr id="17" name="Shape 15"/>
          <p:cNvSpPr/>
          <p:nvPr/>
        </p:nvSpPr>
        <p:spPr>
          <a:xfrm>
            <a:off x="7526350"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7654366" y="128016"/>
            <a:ext cx="201168" cy="201168"/>
          </a:xfrm>
          <a:prstGeom prst="rect">
            <a:avLst/>
          </a:prstGeom>
        </p:spPr>
      </p:pic>
      <p:sp>
        <p:nvSpPr>
          <p:cNvPr id="19" name="Text 16"/>
          <p:cNvSpPr txBox="1"/>
          <p:nvPr/>
        </p:nvSpPr>
        <p:spPr>
          <a:xfrm>
            <a:off x="7910398" y="91440"/>
            <a:ext cx="369608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virgola mobile IEEE 754</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IEEE 754 a singola precisione: 32 bit</a:t>
            </a:r>
            <a:endParaRPr lang="en-US" sz="3200" dirty="0"/>
          </a:p>
        </p:txBody>
      </p:sp>
      <p:sp>
        <p:nvSpPr>
          <p:cNvPr id="3" name="Text 1"/>
          <p:cNvSpPr txBox="1"/>
          <p:nvPr/>
        </p:nvSpPr>
        <p:spPr>
          <a:xfrm>
            <a:off x="548640" y="1737360"/>
            <a:ext cx="1027749" cy="685800"/>
          </a:xfrm>
          <a:prstGeom prst="rect">
            <a:avLst/>
          </a:prstGeom>
          <a:solidFill>
            <a:srgbClr val="B23A48"/>
          </a:solidFill>
          <a:ln w="19050">
            <a:solidFill>
              <a:srgbClr val="FFFFFF"/>
            </a:solid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S</a:t>
            </a:r>
            <a:endParaRPr lang="en-US" sz="2200" dirty="0"/>
          </a:p>
        </p:txBody>
      </p:sp>
      <p:sp>
        <p:nvSpPr>
          <p:cNvPr id="4" name="Text 2"/>
          <p:cNvSpPr txBox="1"/>
          <p:nvPr/>
        </p:nvSpPr>
        <p:spPr>
          <a:xfrm>
            <a:off x="548640" y="2478024"/>
            <a:ext cx="1027749" cy="502920"/>
          </a:xfrm>
          <a:prstGeom prst="rect">
            <a:avLst/>
          </a:prstGeom>
          <a:noFill/>
          <a:ln/>
        </p:spPr>
        <p:txBody>
          <a:bodyPr wrap="square" lIns="0" tIns="0" rIns="0" bIns="0" rtlCol="0" anchor="t"/>
          <a:lstStyle/>
          <a:p>
            <a:pPr algn="ctr" indent="0" marL="0">
              <a:buNone/>
            </a:pPr>
            <a:r>
              <a:rPr lang="en-US" sz="1500" dirty="0">
                <a:solidFill>
                  <a:srgbClr val="1B2530"/>
                </a:solidFill>
                <a:latin typeface="Calibri" pitchFamily="34" charset="0"/>
                <a:ea typeface="Calibri" pitchFamily="34" charset="-122"/>
                <a:cs typeface="Calibri" pitchFamily="34" charset="-120"/>
              </a:rPr>
              <a:t>segno</a:t>
            </a:r>
            <a:endParaRPr lang="en-US" sz="1500" dirty="0"/>
          </a:p>
          <a:p>
            <a:pPr algn="ctr" indent="0" marL="0">
              <a:buNone/>
            </a:pPr>
            <a:r>
              <a:rPr lang="en-US" sz="1500" dirty="0">
                <a:solidFill>
                  <a:srgbClr val="1B2530"/>
                </a:solidFill>
                <a:latin typeface="Calibri" pitchFamily="34" charset="0"/>
                <a:ea typeface="Calibri" pitchFamily="34" charset="-122"/>
                <a:cs typeface="Calibri" pitchFamily="34" charset="-120"/>
              </a:rPr>
              <a:t>1 = negativo</a:t>
            </a:r>
            <a:endParaRPr lang="en-US" sz="1500" dirty="0"/>
          </a:p>
        </p:txBody>
      </p:sp>
      <p:sp>
        <p:nvSpPr>
          <p:cNvPr id="5" name="Text 3"/>
          <p:cNvSpPr txBox="1"/>
          <p:nvPr/>
        </p:nvSpPr>
        <p:spPr>
          <a:xfrm>
            <a:off x="585216" y="1499616"/>
            <a:ext cx="51387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31</a:t>
            </a:r>
            <a:endParaRPr lang="en-US" sz="1050" dirty="0"/>
          </a:p>
        </p:txBody>
      </p:sp>
      <p:sp>
        <p:nvSpPr>
          <p:cNvPr id="6" name="Text 4"/>
          <p:cNvSpPr txBox="1"/>
          <p:nvPr/>
        </p:nvSpPr>
        <p:spPr>
          <a:xfrm>
            <a:off x="1576389" y="1737360"/>
            <a:ext cx="2597849" cy="685800"/>
          </a:xfrm>
          <a:prstGeom prst="rect">
            <a:avLst/>
          </a:prstGeom>
          <a:solidFill>
            <a:srgbClr val="C7791B"/>
          </a:solidFill>
          <a:ln w="19050">
            <a:solidFill>
              <a:srgbClr val="FFFFFF"/>
            </a:solid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E</a:t>
            </a:r>
            <a:endParaRPr lang="en-US" sz="2200" dirty="0"/>
          </a:p>
        </p:txBody>
      </p:sp>
      <p:sp>
        <p:nvSpPr>
          <p:cNvPr id="7" name="Text 5"/>
          <p:cNvSpPr txBox="1"/>
          <p:nvPr/>
        </p:nvSpPr>
        <p:spPr>
          <a:xfrm>
            <a:off x="1576389" y="2478024"/>
            <a:ext cx="2597849" cy="502920"/>
          </a:xfrm>
          <a:prstGeom prst="rect">
            <a:avLst/>
          </a:prstGeom>
          <a:noFill/>
          <a:ln/>
        </p:spPr>
        <p:txBody>
          <a:bodyPr wrap="square" lIns="0" tIns="0" rIns="0" bIns="0" rtlCol="0" anchor="t"/>
          <a:lstStyle/>
          <a:p>
            <a:pPr algn="ctr" indent="0" marL="0">
              <a:buNone/>
            </a:pPr>
            <a:r>
              <a:rPr lang="en-US" sz="1500" dirty="0">
                <a:solidFill>
                  <a:srgbClr val="1B2530"/>
                </a:solidFill>
                <a:latin typeface="Calibri" pitchFamily="34" charset="0"/>
                <a:ea typeface="Calibri" pitchFamily="34" charset="-122"/>
                <a:cs typeface="Calibri" pitchFamily="34" charset="-120"/>
              </a:rPr>
              <a:t>esponente: 8 bit</a:t>
            </a:r>
            <a:endParaRPr lang="en-US" sz="1500" dirty="0"/>
          </a:p>
          <a:p>
            <a:pPr algn="ctr" indent="0" marL="0">
              <a:buNone/>
            </a:pPr>
            <a:r>
              <a:rPr lang="en-US" sz="1500" dirty="0">
                <a:solidFill>
                  <a:srgbClr val="1B2530"/>
                </a:solidFill>
                <a:latin typeface="Calibri" pitchFamily="34" charset="0"/>
                <a:ea typeface="Calibri" pitchFamily="34" charset="-122"/>
                <a:cs typeface="Calibri" pitchFamily="34" charset="-120"/>
              </a:rPr>
              <a:t>eccesso 127</a:t>
            </a:r>
            <a:endParaRPr lang="en-US" sz="1500" dirty="0"/>
          </a:p>
        </p:txBody>
      </p:sp>
      <p:sp>
        <p:nvSpPr>
          <p:cNvPr id="8" name="Text 6"/>
          <p:cNvSpPr txBox="1"/>
          <p:nvPr/>
        </p:nvSpPr>
        <p:spPr>
          <a:xfrm>
            <a:off x="1612965" y="1499616"/>
            <a:ext cx="1298925"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30</a:t>
            </a:r>
            <a:endParaRPr lang="en-US" sz="1050" dirty="0"/>
          </a:p>
        </p:txBody>
      </p:sp>
      <p:sp>
        <p:nvSpPr>
          <p:cNvPr id="9" name="Text 7"/>
          <p:cNvSpPr txBox="1"/>
          <p:nvPr/>
        </p:nvSpPr>
        <p:spPr>
          <a:xfrm>
            <a:off x="2875314" y="1499616"/>
            <a:ext cx="1262349"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23</a:t>
            </a:r>
            <a:endParaRPr lang="en-US" sz="1050" dirty="0"/>
          </a:p>
        </p:txBody>
      </p:sp>
      <p:sp>
        <p:nvSpPr>
          <p:cNvPr id="10" name="Text 8"/>
          <p:cNvSpPr txBox="1"/>
          <p:nvPr/>
        </p:nvSpPr>
        <p:spPr>
          <a:xfrm>
            <a:off x="4174238" y="1737360"/>
            <a:ext cx="7468817" cy="685800"/>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F</a:t>
            </a:r>
            <a:endParaRPr lang="en-US" sz="2200" dirty="0"/>
          </a:p>
        </p:txBody>
      </p:sp>
      <p:sp>
        <p:nvSpPr>
          <p:cNvPr id="11" name="Text 9"/>
          <p:cNvSpPr txBox="1"/>
          <p:nvPr/>
        </p:nvSpPr>
        <p:spPr>
          <a:xfrm>
            <a:off x="4174238" y="2478024"/>
            <a:ext cx="7468817" cy="502920"/>
          </a:xfrm>
          <a:prstGeom prst="rect">
            <a:avLst/>
          </a:prstGeom>
          <a:noFill/>
          <a:ln/>
        </p:spPr>
        <p:txBody>
          <a:bodyPr wrap="square" lIns="0" tIns="0" rIns="0" bIns="0" rtlCol="0" anchor="t"/>
          <a:lstStyle/>
          <a:p>
            <a:pPr algn="ctr" indent="0" marL="0">
              <a:buNone/>
            </a:pPr>
            <a:r>
              <a:rPr lang="en-US" sz="1500" dirty="0">
                <a:solidFill>
                  <a:srgbClr val="1B2530"/>
                </a:solidFill>
                <a:latin typeface="Calibri" pitchFamily="34" charset="0"/>
                <a:ea typeface="Calibri" pitchFamily="34" charset="-122"/>
                <a:cs typeface="Calibri" pitchFamily="34" charset="-120"/>
              </a:rPr>
              <a:t>frazione: 23 bit</a:t>
            </a:r>
            <a:endParaRPr lang="en-US" sz="1500" dirty="0"/>
          </a:p>
          <a:p>
            <a:pPr algn="ctr" indent="0" marL="0">
              <a:buNone/>
            </a:pPr>
            <a:r>
              <a:rPr lang="en-US" sz="1500" dirty="0">
                <a:solidFill>
                  <a:srgbClr val="1B2530"/>
                </a:solidFill>
                <a:latin typeface="Calibri" pitchFamily="34" charset="0"/>
                <a:ea typeface="Calibri" pitchFamily="34" charset="-122"/>
                <a:cs typeface="Calibri" pitchFamily="34" charset="-120"/>
              </a:rPr>
              <a:t>modulo, dopo l'1 nascosto</a:t>
            </a:r>
            <a:endParaRPr lang="en-US" sz="1500" dirty="0"/>
          </a:p>
        </p:txBody>
      </p:sp>
      <p:sp>
        <p:nvSpPr>
          <p:cNvPr id="12" name="Text 10"/>
          <p:cNvSpPr txBox="1"/>
          <p:nvPr/>
        </p:nvSpPr>
        <p:spPr>
          <a:xfrm>
            <a:off x="4210814" y="1499616"/>
            <a:ext cx="3734408"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22</a:t>
            </a:r>
            <a:endParaRPr lang="en-US" sz="1050" dirty="0"/>
          </a:p>
        </p:txBody>
      </p:sp>
      <p:sp>
        <p:nvSpPr>
          <p:cNvPr id="13" name="Text 11"/>
          <p:cNvSpPr txBox="1"/>
          <p:nvPr/>
        </p:nvSpPr>
        <p:spPr>
          <a:xfrm>
            <a:off x="7908647" y="1499616"/>
            <a:ext cx="3697832"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0</a:t>
            </a:r>
            <a:endParaRPr lang="en-US" sz="1050" dirty="0"/>
          </a:p>
        </p:txBody>
      </p:sp>
      <p:sp>
        <p:nvSpPr>
          <p:cNvPr id="14" name="Text 12"/>
          <p:cNvSpPr txBox="1"/>
          <p:nvPr/>
        </p:nvSpPr>
        <p:spPr>
          <a:xfrm>
            <a:off x="548640" y="3246120"/>
            <a:ext cx="11094415" cy="548640"/>
          </a:xfrm>
          <a:prstGeom prst="rect">
            <a:avLst/>
          </a:prstGeom>
          <a:noFill/>
          <a:ln/>
        </p:spPr>
        <p:txBody>
          <a:bodyPr wrap="square" lIns="0" tIns="0" rIns="0" bIns="0" rtlCol="0" anchor="ctr"/>
          <a:lstStyle/>
          <a:p>
            <a:pPr algn="ctr" indent="0" marL="0">
              <a:buNone/>
            </a:pPr>
            <a:r>
              <a:rPr lang="en-US" sz="2600" b="1" dirty="0">
                <a:solidFill>
                  <a:srgbClr val="1B2530"/>
                </a:solidFill>
                <a:latin typeface="Courier New" pitchFamily="34" charset="0"/>
                <a:ea typeface="Courier New" pitchFamily="34" charset="-122"/>
                <a:cs typeface="Courier New" pitchFamily="34" charset="-120"/>
              </a:rPr>
              <a:t>valore = (-1)^S  x  1,F  x  2^(E - 127)</a:t>
            </a:r>
            <a:endParaRPr lang="en-US" sz="2600" dirty="0"/>
          </a:p>
        </p:txBody>
      </p:sp>
      <p:sp>
        <p:nvSpPr>
          <p:cNvPr id="15" name="Shape 13"/>
          <p:cNvSpPr/>
          <p:nvPr/>
        </p:nvSpPr>
        <p:spPr>
          <a:xfrm>
            <a:off x="548640" y="4144518"/>
            <a:ext cx="146304" cy="146304"/>
          </a:xfrm>
          <a:prstGeom prst="rect">
            <a:avLst/>
          </a:prstGeom>
          <a:solidFill>
            <a:srgbClr val="0E7C86"/>
          </a:solidFill>
          <a:ln w="12700">
            <a:solidFill>
              <a:srgbClr val="0E7C86"/>
            </a:solidFill>
            <a:prstDash val="solid"/>
          </a:ln>
        </p:spPr>
      </p:sp>
      <p:sp>
        <p:nvSpPr>
          <p:cNvPr id="16" name="Text 14"/>
          <p:cNvSpPr txBox="1"/>
          <p:nvPr/>
        </p:nvSpPr>
        <p:spPr>
          <a:xfrm>
            <a:off x="932688" y="4069080"/>
            <a:ext cx="10710367" cy="278892"/>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La mantissa è in segno e modulo: un bit di segno e 23 bit di modulo</a:t>
            </a:r>
            <a:endParaRPr lang="en-US" sz="1800" dirty="0"/>
          </a:p>
        </p:txBody>
      </p:sp>
      <p:sp>
        <p:nvSpPr>
          <p:cNvPr id="17" name="Shape 15"/>
          <p:cNvSpPr/>
          <p:nvPr/>
        </p:nvSpPr>
        <p:spPr>
          <a:xfrm>
            <a:off x="548640" y="4566666"/>
            <a:ext cx="146304" cy="146304"/>
          </a:xfrm>
          <a:prstGeom prst="rect">
            <a:avLst/>
          </a:prstGeom>
          <a:solidFill>
            <a:srgbClr val="C7791B"/>
          </a:solidFill>
          <a:ln w="12700">
            <a:solidFill>
              <a:srgbClr val="C7791B"/>
            </a:solidFill>
            <a:prstDash val="solid"/>
          </a:ln>
        </p:spPr>
      </p:sp>
      <p:sp>
        <p:nvSpPr>
          <p:cNvPr id="18" name="Text 16"/>
          <p:cNvSpPr txBox="1"/>
          <p:nvPr/>
        </p:nvSpPr>
        <p:spPr>
          <a:xfrm>
            <a:off x="932688" y="4491228"/>
            <a:ext cx="1071036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Una mantissa binaria normalizzata comincia sempre con 1: quel bit è nascosto, non memorizzato, e si guadagna un bit di precisione</a:t>
            </a:r>
            <a:endParaRPr lang="en-US" sz="1800" dirty="0"/>
          </a:p>
        </p:txBody>
      </p:sp>
      <p:sp>
        <p:nvSpPr>
          <p:cNvPr id="19" name="Shape 17"/>
          <p:cNvSpPr/>
          <p:nvPr/>
        </p:nvSpPr>
        <p:spPr>
          <a:xfrm>
            <a:off x="548640" y="5267706"/>
            <a:ext cx="146304" cy="146304"/>
          </a:xfrm>
          <a:prstGeom prst="rect">
            <a:avLst/>
          </a:prstGeom>
          <a:solidFill>
            <a:srgbClr val="0E7C86"/>
          </a:solidFill>
          <a:ln w="12700">
            <a:solidFill>
              <a:srgbClr val="0E7C86"/>
            </a:solidFill>
            <a:prstDash val="solid"/>
          </a:ln>
        </p:spPr>
      </p:sp>
      <p:sp>
        <p:nvSpPr>
          <p:cNvPr id="20" name="Text 18"/>
          <p:cNvSpPr txBox="1"/>
          <p:nvPr/>
        </p:nvSpPr>
        <p:spPr>
          <a:xfrm>
            <a:off x="932688" y="5192268"/>
            <a:ext cx="10710367" cy="278892"/>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L'esponente è in eccesso 127, non 128: gli esponenti veri vanno da -126 a +127</a:t>
            </a:r>
            <a:endParaRPr lang="en-US" sz="1800" dirty="0"/>
          </a:p>
        </p:txBody>
      </p:sp>
      <p:sp>
        <p:nvSpPr>
          <p:cNvPr id="21" name="Shape 19"/>
          <p:cNvSpPr/>
          <p:nvPr/>
        </p:nvSpPr>
        <p:spPr>
          <a:xfrm>
            <a:off x="548640" y="5689854"/>
            <a:ext cx="146304" cy="146304"/>
          </a:xfrm>
          <a:prstGeom prst="rect">
            <a:avLst/>
          </a:prstGeom>
          <a:solidFill>
            <a:srgbClr val="C7791B"/>
          </a:solidFill>
          <a:ln w="12700">
            <a:solidFill>
              <a:srgbClr val="C7791B"/>
            </a:solidFill>
            <a:prstDash val="solid"/>
          </a:ln>
        </p:spPr>
      </p:sp>
      <p:sp>
        <p:nvSpPr>
          <p:cNvPr id="22" name="Text 20"/>
          <p:cNvSpPr txBox="1"/>
          <p:nvPr/>
        </p:nvSpPr>
        <p:spPr>
          <a:xfrm>
            <a:off x="932688" y="5614416"/>
            <a:ext cx="1071036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Le configurazioni E = 0 ed E = 255 sono riservate: zero e numeri denormalizzati, infinito e NaN</a:t>
            </a:r>
            <a:endParaRPr lang="en-US" sz="1800" dirty="0"/>
          </a:p>
        </p:txBody>
      </p:sp>
      <p:sp>
        <p:nvSpPr>
          <p:cNvPr id="23" name="Shape 21"/>
          <p:cNvSpPr/>
          <p:nvPr/>
        </p:nvSpPr>
        <p:spPr>
          <a:xfrm>
            <a:off x="7526350" y="91440"/>
            <a:ext cx="4116705" cy="274320"/>
          </a:xfrm>
          <a:prstGeom prst="rect">
            <a:avLst/>
          </a:prstGeom>
          <a:solidFill>
            <a:srgbClr val="E0F2FE"/>
          </a:solidFill>
          <a:ln w="12700">
            <a:solidFill>
              <a:srgbClr val="0369A1"/>
            </a:solidFill>
            <a:prstDash val="solid"/>
          </a:ln>
        </p:spPr>
      </p:sp>
      <p:sp>
        <p:nvSpPr>
          <p:cNvPr id="24" name="Shape 22"/>
          <p:cNvSpPr/>
          <p:nvPr/>
        </p:nvSpPr>
        <p:spPr>
          <a:xfrm>
            <a:off x="7526350" y="91440"/>
            <a:ext cx="73152" cy="274320"/>
          </a:xfrm>
          <a:prstGeom prst="rect">
            <a:avLst/>
          </a:prstGeom>
          <a:solidFill>
            <a:srgbClr val="0369A1"/>
          </a:solidFill>
          <a:ln w="12700">
            <a:solidFill>
              <a:srgbClr val="0369A1"/>
            </a:solidFill>
            <a:prstDash val="solid"/>
          </a:ln>
        </p:spPr>
      </p:sp>
      <p:pic>
        <p:nvPicPr>
          <p:cNvPr id="25" name="Image 0" descr="preencoded.png">    </p:cNvPr>
          <p:cNvPicPr>
            <a:picLocks noChangeAspect="1"/>
          </p:cNvPicPr>
          <p:nvPr/>
        </p:nvPicPr>
        <p:blipFill>
          <a:blip r:embed="rId1"/>
          <a:stretch>
            <a:fillRect/>
          </a:stretch>
        </p:blipFill>
        <p:spPr>
          <a:xfrm>
            <a:off x="7654366" y="128016"/>
            <a:ext cx="201168" cy="201168"/>
          </a:xfrm>
          <a:prstGeom prst="rect">
            <a:avLst/>
          </a:prstGeom>
        </p:spPr>
      </p:pic>
      <p:sp>
        <p:nvSpPr>
          <p:cNvPr id="26" name="Text 23"/>
          <p:cNvSpPr txBox="1"/>
          <p:nvPr/>
        </p:nvSpPr>
        <p:spPr>
          <a:xfrm>
            <a:off x="7910398" y="91440"/>
            <a:ext cx="369608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virgola mobile IEEE 754</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Esempio svolto: -5,125 in IEEE 754</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Si convertono le due parti: 5 = 101 e 0,125 = 1/8 = 0,001, quindi 5,125 = 101,001</a:t>
            </a:r>
            <a:endParaRPr lang="en-US" sz="2400" dirty="0"/>
          </a:p>
        </p:txBody>
      </p:sp>
      <p:sp>
        <p:nvSpPr>
          <p:cNvPr id="5" name="Text 3"/>
          <p:cNvSpPr txBox="1"/>
          <p:nvPr/>
        </p:nvSpPr>
        <p:spPr>
          <a:xfrm>
            <a:off x="548640" y="240690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388616"/>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Si normalizza: 101,001 = 1,01001 x 2^2</a:t>
            </a:r>
            <a:endParaRPr lang="en-US" sz="2400" dirty="0"/>
          </a:p>
        </p:txBody>
      </p:sp>
      <p:sp>
        <p:nvSpPr>
          <p:cNvPr id="7" name="Text 5"/>
          <p:cNvSpPr txBox="1"/>
          <p:nvPr/>
        </p:nvSpPr>
        <p:spPr>
          <a:xfrm>
            <a:off x="548640" y="307340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055112"/>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Segno S = 1; esponente E = 2 + 127 = 129 = 1000 0001</a:t>
            </a:r>
            <a:endParaRPr lang="en-US" sz="2400" dirty="0"/>
          </a:p>
        </p:txBody>
      </p:sp>
      <p:sp>
        <p:nvSpPr>
          <p:cNvPr id="9" name="Text 7"/>
          <p:cNvSpPr txBox="1"/>
          <p:nvPr/>
        </p:nvSpPr>
        <p:spPr>
          <a:xfrm>
            <a:off x="548640" y="373989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3721608"/>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Frazione F = 01001 seguita da zeri: l'1 iniziale è nascosto</a:t>
            </a:r>
            <a:endParaRPr lang="en-US" sz="2400" dirty="0"/>
          </a:p>
        </p:txBody>
      </p:sp>
      <p:sp>
        <p:nvSpPr>
          <p:cNvPr id="11" name="Text 9"/>
          <p:cNvSpPr txBox="1"/>
          <p:nvPr/>
        </p:nvSpPr>
        <p:spPr>
          <a:xfrm>
            <a:off x="548640" y="4526280"/>
            <a:ext cx="623590" cy="594360"/>
          </a:xfrm>
          <a:prstGeom prst="rect">
            <a:avLst/>
          </a:prstGeom>
          <a:solidFill>
            <a:srgbClr val="B23A48"/>
          </a:solidFill>
          <a:ln w="19050">
            <a:solidFill>
              <a:srgbClr val="FFFFFF"/>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1</a:t>
            </a:r>
            <a:endParaRPr lang="en-US" sz="1700" dirty="0"/>
          </a:p>
        </p:txBody>
      </p:sp>
      <p:sp>
        <p:nvSpPr>
          <p:cNvPr id="12" name="Text 10"/>
          <p:cNvSpPr txBox="1"/>
          <p:nvPr/>
        </p:nvSpPr>
        <p:spPr>
          <a:xfrm>
            <a:off x="585216" y="4288536"/>
            <a:ext cx="311795"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31</a:t>
            </a:r>
            <a:endParaRPr lang="en-US" sz="1050" dirty="0"/>
          </a:p>
        </p:txBody>
      </p:sp>
      <p:sp>
        <p:nvSpPr>
          <p:cNvPr id="13" name="Text 11"/>
          <p:cNvSpPr txBox="1"/>
          <p:nvPr/>
        </p:nvSpPr>
        <p:spPr>
          <a:xfrm>
            <a:off x="1172230" y="4526280"/>
            <a:ext cx="2702148" cy="594360"/>
          </a:xfrm>
          <a:prstGeom prst="rect">
            <a:avLst/>
          </a:prstGeom>
          <a:solidFill>
            <a:srgbClr val="C7791B"/>
          </a:solidFill>
          <a:ln w="19050">
            <a:solidFill>
              <a:srgbClr val="FFFFFF"/>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1000 0001</a:t>
            </a:r>
            <a:endParaRPr lang="en-US" sz="1700" dirty="0"/>
          </a:p>
        </p:txBody>
      </p:sp>
      <p:sp>
        <p:nvSpPr>
          <p:cNvPr id="14" name="Text 12"/>
          <p:cNvSpPr txBox="1"/>
          <p:nvPr/>
        </p:nvSpPr>
        <p:spPr>
          <a:xfrm>
            <a:off x="1208806" y="4288536"/>
            <a:ext cx="135107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30</a:t>
            </a:r>
            <a:endParaRPr lang="en-US" sz="1050" dirty="0"/>
          </a:p>
        </p:txBody>
      </p:sp>
      <p:sp>
        <p:nvSpPr>
          <p:cNvPr id="15" name="Text 13"/>
          <p:cNvSpPr txBox="1"/>
          <p:nvPr/>
        </p:nvSpPr>
        <p:spPr>
          <a:xfrm>
            <a:off x="2523304" y="4288536"/>
            <a:ext cx="131449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23</a:t>
            </a:r>
            <a:endParaRPr lang="en-US" sz="1050" dirty="0"/>
          </a:p>
        </p:txBody>
      </p:sp>
      <p:sp>
        <p:nvSpPr>
          <p:cNvPr id="16" name="Text 14"/>
          <p:cNvSpPr txBox="1"/>
          <p:nvPr/>
        </p:nvSpPr>
        <p:spPr>
          <a:xfrm>
            <a:off x="3874378" y="4526280"/>
            <a:ext cx="7768677" cy="594360"/>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0100 1000 0000 0000 0000 000</a:t>
            </a:r>
            <a:endParaRPr lang="en-US" sz="1700" dirty="0"/>
          </a:p>
        </p:txBody>
      </p:sp>
      <p:sp>
        <p:nvSpPr>
          <p:cNvPr id="17" name="Text 15"/>
          <p:cNvSpPr txBox="1"/>
          <p:nvPr/>
        </p:nvSpPr>
        <p:spPr>
          <a:xfrm>
            <a:off x="3910954" y="4288536"/>
            <a:ext cx="3884338"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22</a:t>
            </a:r>
            <a:endParaRPr lang="en-US" sz="1050" dirty="0"/>
          </a:p>
        </p:txBody>
      </p:sp>
      <p:sp>
        <p:nvSpPr>
          <p:cNvPr id="18" name="Text 16"/>
          <p:cNvSpPr txBox="1"/>
          <p:nvPr/>
        </p:nvSpPr>
        <p:spPr>
          <a:xfrm>
            <a:off x="7758717" y="4288536"/>
            <a:ext cx="3847762"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0</a:t>
            </a:r>
            <a:endParaRPr lang="en-US" sz="1050" dirty="0"/>
          </a:p>
        </p:txBody>
      </p:sp>
      <p:sp>
        <p:nvSpPr>
          <p:cNvPr id="19" name="Text 17"/>
          <p:cNvSpPr txBox="1"/>
          <p:nvPr/>
        </p:nvSpPr>
        <p:spPr>
          <a:xfrm>
            <a:off x="548640" y="5440680"/>
            <a:ext cx="11094415" cy="548640"/>
          </a:xfrm>
          <a:prstGeom prst="rect">
            <a:avLst/>
          </a:prstGeom>
          <a:noFill/>
          <a:ln/>
        </p:spPr>
        <p:txBody>
          <a:bodyPr wrap="square" lIns="0" tIns="0" rIns="0" bIns="0" rtlCol="0" anchor="ctr"/>
          <a:lstStyle/>
          <a:p>
            <a:pPr algn="ctr" indent="0" marL="0">
              <a:buNone/>
            </a:pPr>
            <a:r>
              <a:rPr lang="en-US" sz="2100" b="1" dirty="0">
                <a:solidFill>
                  <a:srgbClr val="1B2530"/>
                </a:solidFill>
                <a:latin typeface="Courier New" pitchFamily="34" charset="0"/>
                <a:ea typeface="Courier New" pitchFamily="34" charset="-122"/>
                <a:cs typeface="Courier New" pitchFamily="34" charset="-120"/>
              </a:rPr>
              <a:t>1100 0000 1010 0100 0000 0000 0000 0000  =  0xC0A40000</a:t>
            </a:r>
            <a:endParaRPr lang="en-US" sz="2100" dirty="0"/>
          </a:p>
        </p:txBody>
      </p:sp>
      <p:sp>
        <p:nvSpPr>
          <p:cNvPr id="20" name="Shape 18"/>
          <p:cNvSpPr/>
          <p:nvPr/>
        </p:nvSpPr>
        <p:spPr>
          <a:xfrm>
            <a:off x="7526350" y="91440"/>
            <a:ext cx="4116705" cy="274320"/>
          </a:xfrm>
          <a:prstGeom prst="rect">
            <a:avLst/>
          </a:prstGeom>
          <a:solidFill>
            <a:srgbClr val="E0F2FE"/>
          </a:solidFill>
          <a:ln w="12700">
            <a:solidFill>
              <a:srgbClr val="0369A1"/>
            </a:solidFill>
            <a:prstDash val="solid"/>
          </a:ln>
        </p:spPr>
      </p:sp>
      <p:sp>
        <p:nvSpPr>
          <p:cNvPr id="21" name="Shape 19"/>
          <p:cNvSpPr/>
          <p:nvPr/>
        </p:nvSpPr>
        <p:spPr>
          <a:xfrm>
            <a:off x="7526350" y="91440"/>
            <a:ext cx="73152" cy="274320"/>
          </a:xfrm>
          <a:prstGeom prst="rect">
            <a:avLst/>
          </a:prstGeom>
          <a:solidFill>
            <a:srgbClr val="0369A1"/>
          </a:solidFill>
          <a:ln w="12700">
            <a:solidFill>
              <a:srgbClr val="0369A1"/>
            </a:solidFill>
            <a:prstDash val="solid"/>
          </a:ln>
        </p:spPr>
      </p:sp>
      <p:pic>
        <p:nvPicPr>
          <p:cNvPr id="22" name="Image 0" descr="preencoded.png">    </p:cNvPr>
          <p:cNvPicPr>
            <a:picLocks noChangeAspect="1"/>
          </p:cNvPicPr>
          <p:nvPr/>
        </p:nvPicPr>
        <p:blipFill>
          <a:blip r:embed="rId1"/>
          <a:stretch>
            <a:fillRect/>
          </a:stretch>
        </p:blipFill>
        <p:spPr>
          <a:xfrm>
            <a:off x="7654366" y="128016"/>
            <a:ext cx="201168" cy="201168"/>
          </a:xfrm>
          <a:prstGeom prst="rect">
            <a:avLst/>
          </a:prstGeom>
        </p:spPr>
      </p:pic>
      <p:sp>
        <p:nvSpPr>
          <p:cNvPr id="23" name="Text 20"/>
          <p:cNvSpPr txBox="1"/>
          <p:nvPr/>
        </p:nvSpPr>
        <p:spPr>
          <a:xfrm>
            <a:off x="7910398" y="91440"/>
            <a:ext cx="369608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virgola mobile IEEE 754</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IEEE 754 in sintesi</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910011"/>
                <a:gridCol w="4092202"/>
                <a:gridCol w="4092202"/>
              </a:tblGrid>
              <a:tr h="0">
                <a:tc>
                  <a:txBody>
                    <a:bodyPr/>
                    <a:lstStyle/>
                    <a:p>
                      <a:pPr algn="l" indent="0" marL="0">
                        <a:buNone/>
                      </a:pP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Singola precisione</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Doppia precisione</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700" b="1" dirty="0">
                          <a:solidFill>
                            <a:srgbClr val="1B2530"/>
                          </a:solidFill>
                          <a:latin typeface="Calibri" pitchFamily="34" charset="0"/>
                          <a:ea typeface="Calibri" pitchFamily="34" charset="-122"/>
                          <a:cs typeface="Calibri" pitchFamily="34" charset="-120"/>
                        </a:rPr>
                        <a:t>Bit totali</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32</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64</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700" b="1" dirty="0">
                          <a:solidFill>
                            <a:srgbClr val="1B2530"/>
                          </a:solidFill>
                          <a:latin typeface="Calibri" pitchFamily="34" charset="0"/>
                          <a:ea typeface="Calibri" pitchFamily="34" charset="-122"/>
                          <a:cs typeface="Calibri" pitchFamily="34" charset="-120"/>
                        </a:rPr>
                        <a:t>Bit di segno</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1B2530"/>
                          </a:solidFill>
                          <a:latin typeface="Calibri" pitchFamily="34" charset="0"/>
                          <a:ea typeface="Calibri" pitchFamily="34" charset="-122"/>
                          <a:cs typeface="Calibri" pitchFamily="34" charset="-120"/>
                        </a:rPr>
                        <a:t>Bit di esponente</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8</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11</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700" b="1" dirty="0">
                          <a:solidFill>
                            <a:srgbClr val="1B2530"/>
                          </a:solidFill>
                          <a:latin typeface="Calibri" pitchFamily="34" charset="0"/>
                          <a:ea typeface="Calibri" pitchFamily="34" charset="-122"/>
                          <a:cs typeface="Calibri" pitchFamily="34" charset="-120"/>
                        </a:rPr>
                        <a:t>Bit di frazione</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23</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52</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1B2530"/>
                          </a:solidFill>
                          <a:latin typeface="Calibri" pitchFamily="34" charset="0"/>
                          <a:ea typeface="Calibri" pitchFamily="34" charset="-122"/>
                          <a:cs typeface="Calibri" pitchFamily="34" charset="-120"/>
                        </a:rPr>
                        <a:t>Codifica dell'esponente</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eccesso 127</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eccesso 1023</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700" b="1" dirty="0">
                          <a:solidFill>
                            <a:srgbClr val="1B2530"/>
                          </a:solidFill>
                          <a:latin typeface="Calibri" pitchFamily="34" charset="0"/>
                          <a:ea typeface="Calibri" pitchFamily="34" charset="-122"/>
                          <a:cs typeface="Calibri" pitchFamily="34" charset="-120"/>
                        </a:rPr>
                        <a:t>Intervallo dell'esponente</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-126 ... +127</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-1022 ... +1023</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1B2530"/>
                          </a:solidFill>
                          <a:latin typeface="Calibri" pitchFamily="34" charset="0"/>
                          <a:ea typeface="Calibri" pitchFamily="34" charset="-122"/>
                          <a:cs typeface="Calibri" pitchFamily="34" charset="-120"/>
                        </a:rPr>
                        <a:t>Minimo normalizzato</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2^-126, circa 1,2 x 10^-38</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2^-1022, circa 2,2 x 10^-308</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700" b="1" dirty="0">
                          <a:solidFill>
                            <a:srgbClr val="1B2530"/>
                          </a:solidFill>
                          <a:latin typeface="Calibri" pitchFamily="34" charset="0"/>
                          <a:ea typeface="Calibri" pitchFamily="34" charset="-122"/>
                          <a:cs typeface="Calibri" pitchFamily="34" charset="-120"/>
                        </a:rPr>
                        <a:t>Massimo</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circa 2^128, 3,4 x 10^38</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circa 2^1024, 1,8 x 10^308</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1B2530"/>
                          </a:solidFill>
                          <a:latin typeface="Calibri" pitchFamily="34" charset="0"/>
                          <a:ea typeface="Calibri" pitchFamily="34" charset="-122"/>
                          <a:cs typeface="Calibri" pitchFamily="34" charset="-120"/>
                        </a:rPr>
                        <a:t>Minimo denormalizzato</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circa 1,4 x 10^-45</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circa 4,9 x 10^-324</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700" b="1" dirty="0">
                          <a:solidFill>
                            <a:srgbClr val="1B2530"/>
                          </a:solidFill>
                          <a:latin typeface="Calibri" pitchFamily="34" charset="0"/>
                          <a:ea typeface="Calibri" pitchFamily="34" charset="-122"/>
                          <a:cs typeface="Calibri" pitchFamily="34" charset="-120"/>
                        </a:rPr>
                        <a:t>Cifre decimali</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circa 7</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circa 16</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Shape 1"/>
          <p:cNvSpPr/>
          <p:nvPr/>
        </p:nvSpPr>
        <p:spPr>
          <a:xfrm>
            <a:off x="7526350" y="91440"/>
            <a:ext cx="4116705" cy="274320"/>
          </a:xfrm>
          <a:prstGeom prst="rect">
            <a:avLst/>
          </a:prstGeom>
          <a:solidFill>
            <a:srgbClr val="E0F2FE"/>
          </a:solidFill>
          <a:ln w="12700">
            <a:solidFill>
              <a:srgbClr val="0369A1"/>
            </a:solidFill>
            <a:prstDash val="solid"/>
          </a:ln>
        </p:spPr>
      </p:sp>
      <p:sp>
        <p:nvSpPr>
          <p:cNvPr id="5" name="Shape 2"/>
          <p:cNvSpPr/>
          <p:nvPr/>
        </p:nvSpPr>
        <p:spPr>
          <a:xfrm>
            <a:off x="7526350"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7654366" y="128016"/>
            <a:ext cx="201168" cy="201168"/>
          </a:xfrm>
          <a:prstGeom prst="rect">
            <a:avLst/>
          </a:prstGeom>
        </p:spPr>
      </p:pic>
      <p:sp>
        <p:nvSpPr>
          <p:cNvPr id="7" name="Text 3"/>
          <p:cNvSpPr txBox="1"/>
          <p:nvPr/>
        </p:nvSpPr>
        <p:spPr>
          <a:xfrm>
            <a:off x="7910398" y="91440"/>
            <a:ext cx="369608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virgola mobile IEEE 754</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IEEE 754: che cosa significano le configurazioni</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00632"/>
                <a:gridCol w="1091254"/>
                <a:gridCol w="1727819"/>
                <a:gridCol w="1727819"/>
                <a:gridCol w="4546891"/>
              </a:tblGrid>
              <a:tr h="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Tipo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Segno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Esponente 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Frazione F</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Valore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Normalizzato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0 o 1</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0 &lt; E &lt; max</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qualsiasi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(-1)^S x 1,F x 2^(E-bias)</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Denormalizzato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0 o 1</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tutti zeri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non zero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(-1)^S x 0,F x 2^(1-bias)</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Zero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0 o 1</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tutti zeri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tutti zeri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+0 o -0</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Infinito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0 o 1</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tutti uni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tutti zeri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+infinito o -infinito</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Not a Number</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0 o 1</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tutti uni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non zero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NaN: un risultato non valido</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7526350" y="91440"/>
            <a:ext cx="4116705" cy="274320"/>
          </a:xfrm>
          <a:prstGeom prst="rect">
            <a:avLst/>
          </a:prstGeom>
          <a:solidFill>
            <a:srgbClr val="E0F2FE"/>
          </a:solidFill>
          <a:ln w="12700">
            <a:solidFill>
              <a:srgbClr val="0369A1"/>
            </a:solidFill>
            <a:prstDash val="solid"/>
          </a:ln>
        </p:spPr>
      </p:sp>
      <p:sp>
        <p:nvSpPr>
          <p:cNvPr id="5" name="Shape 2"/>
          <p:cNvSpPr/>
          <p:nvPr/>
        </p:nvSpPr>
        <p:spPr>
          <a:xfrm>
            <a:off x="7526350"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7654366" y="128016"/>
            <a:ext cx="201168" cy="201168"/>
          </a:xfrm>
          <a:prstGeom prst="rect">
            <a:avLst/>
          </a:prstGeom>
        </p:spPr>
      </p:pic>
      <p:sp>
        <p:nvSpPr>
          <p:cNvPr id="7" name="Text 3"/>
          <p:cNvSpPr txBox="1"/>
          <p:nvPr/>
        </p:nvSpPr>
        <p:spPr>
          <a:xfrm>
            <a:off x="7910398" y="91440"/>
            <a:ext cx="369608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virgola mobile IEEE 754</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virgola mobile su RISC-V, e sul vostro kit</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RISC-V con le estensioni F e D</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Altri trentadue registri, da f0 a f31, per i valori in virgola mobile</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Istruzioni come fadd.s, fmul.s, flw e fsw lavorano su numeri IEEE 754</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fcvt.w.s converte in intero, fcvt.s.w da intero</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Si trovano sui processori RISC-V per portatili, server e supercalcolatori</a:t>
            </a:r>
            <a:endParaRPr lang="en-US" sz="19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L'ESP32-C6: RV32IMAC</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Né F né D: non esiste alcuna istruzione in virgola mobile</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Un programma C può comunque usare float: il compilatore chiama routine software come __addsf3</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Ogni chiamata costa da decine a centinaia di istruzioni intere</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I giochi PRG32 usano interi e virgola fissa: veloci, abbastanza esatti, e visibili nel debugger</a:t>
            </a:r>
            <a:endParaRPr lang="en-US" sz="1900" dirty="0"/>
          </a:p>
        </p:txBody>
      </p:sp>
      <p:sp>
        <p:nvSpPr>
          <p:cNvPr id="9" name="Shape 7"/>
          <p:cNvSpPr/>
          <p:nvPr/>
        </p:nvSpPr>
        <p:spPr>
          <a:xfrm>
            <a:off x="7526350" y="91440"/>
            <a:ext cx="4116705" cy="274320"/>
          </a:xfrm>
          <a:prstGeom prst="rect">
            <a:avLst/>
          </a:prstGeom>
          <a:solidFill>
            <a:srgbClr val="E0F2FE"/>
          </a:solidFill>
          <a:ln w="12700">
            <a:solidFill>
              <a:srgbClr val="0369A1"/>
            </a:solidFill>
            <a:prstDash val="solid"/>
          </a:ln>
        </p:spPr>
      </p:sp>
      <p:sp>
        <p:nvSpPr>
          <p:cNvPr id="10" name="Shape 8"/>
          <p:cNvSpPr/>
          <p:nvPr/>
        </p:nvSpPr>
        <p:spPr>
          <a:xfrm>
            <a:off x="7526350" y="91440"/>
            <a:ext cx="73152" cy="274320"/>
          </a:xfrm>
          <a:prstGeom prst="rect">
            <a:avLst/>
          </a:prstGeom>
          <a:solidFill>
            <a:srgbClr val="0369A1"/>
          </a:solidFill>
          <a:ln w="12700">
            <a:solidFill>
              <a:srgbClr val="0369A1"/>
            </a:solidFill>
            <a:prstDash val="solid"/>
          </a:ln>
        </p:spPr>
      </p:sp>
      <p:pic>
        <p:nvPicPr>
          <p:cNvPr id="11" name="Image 0" descr="preencoded.png">    </p:cNvPr>
          <p:cNvPicPr>
            <a:picLocks noChangeAspect="1"/>
          </p:cNvPicPr>
          <p:nvPr/>
        </p:nvPicPr>
        <p:blipFill>
          <a:blip r:embed="rId1"/>
          <a:stretch>
            <a:fillRect/>
          </a:stretch>
        </p:blipFill>
        <p:spPr>
          <a:xfrm>
            <a:off x="7654366" y="128016"/>
            <a:ext cx="201168" cy="201168"/>
          </a:xfrm>
          <a:prstGeom prst="rect">
            <a:avLst/>
          </a:prstGeom>
        </p:spPr>
      </p:pic>
      <p:sp>
        <p:nvSpPr>
          <p:cNvPr id="12" name="Text 9"/>
          <p:cNvSpPr txBox="1"/>
          <p:nvPr/>
        </p:nvSpPr>
        <p:spPr>
          <a:xfrm>
            <a:off x="7910398" y="91440"/>
            <a:ext cx="369608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virgola mobile IEEE 754</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Leggere il nome RV32IMAC</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273130"/>
                <a:gridCol w="2364384"/>
                <a:gridCol w="5456270"/>
                <a:gridCol w="2000632"/>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Lettera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Estensione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Che cosa aggiunge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Sull'ESP32-C6</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RV32I</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insieme intero di base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registri a 32 bit, somma, logica, load e store, salti</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sì</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M</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moltiplicazione e divisione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mul, mulh, div, rem e le forme senza segno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sì</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A</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atomiche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istruzioni per la condivisione sicura tra task</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sì</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C</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compresse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codifiche a 16 bit delle istruzioni più comuni</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sì</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F</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singola precisione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da f0 a f31 e istruzioni IEEE 754 a singola precisione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no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D</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doppia precisione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istruzioni IEEE 754 a doppia precisione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no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Shape 1"/>
          <p:cNvSpPr/>
          <p:nvPr/>
        </p:nvSpPr>
        <p:spPr>
          <a:xfrm>
            <a:off x="8182940" y="91440"/>
            <a:ext cx="3460115" cy="274320"/>
          </a:xfrm>
          <a:prstGeom prst="rect">
            <a:avLst/>
          </a:prstGeom>
          <a:solidFill>
            <a:srgbClr val="E0F2FE"/>
          </a:solidFill>
          <a:ln w="12700">
            <a:solidFill>
              <a:srgbClr val="0369A1"/>
            </a:solidFill>
            <a:prstDash val="solid"/>
          </a:ln>
        </p:spPr>
      </p:sp>
      <p:sp>
        <p:nvSpPr>
          <p:cNvPr id="5" name="Shape 2"/>
          <p:cNvSpPr/>
          <p:nvPr/>
        </p:nvSpPr>
        <p:spPr>
          <a:xfrm>
            <a:off x="8182940"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310956" y="128016"/>
            <a:ext cx="201168" cy="201168"/>
          </a:xfrm>
          <a:prstGeom prst="rect">
            <a:avLst/>
          </a:prstGeom>
        </p:spPr>
      </p:pic>
      <p:sp>
        <p:nvSpPr>
          <p:cNvPr id="7" name="Text 3"/>
          <p:cNvSpPr txBox="1"/>
          <p:nvPr/>
        </p:nvSpPr>
        <p:spPr>
          <a:xfrm>
            <a:off x="8566988" y="91440"/>
            <a:ext cx="303949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il nome RV32IMAC</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Quale codifica con segno mantiene le configurazioni di bit nello stesso ordine dei numeri?</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Segno e modulo</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Complemento a uno</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Complemento a due</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Eccesso k</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In virgola fissa Q24.8, quale numero reale rappresenta la parola 0x00000180?</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384</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1,5</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1,8</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0,375</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Quale numero reale è la configurazione IEEE 754 a singola precisione 0x40400000?</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2,0</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3,0</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4,0</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0,75</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In IEEE 754, un campo esponente di tutti uni con frazione di tutti zeri significa:</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zero</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un numero denormalizzato</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infinito</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NaN</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Glossario: inglese e italiano</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910011"/>
                <a:gridCol w="3273762"/>
                <a:gridCol w="2546259"/>
                <a:gridCol w="2364384"/>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Inglese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Inglese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one's complement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complemento a uno (alla base diminuita)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mantissa / fraction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mantissa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excess-k (biased)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eccesso-k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exponent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esponente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fixed point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virgola fissa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normalisation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normalizzazione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floating point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virgola mobile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hidden bit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bit nascosto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single / double precision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singola / doppia precisione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denormalised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denormalizzato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rounding</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arrotondamento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Not a Number (NaN)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non un numero (NaN)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Conclusioni e letture</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Gli interi hanno diverse rappresentazioni: 8, 16, 32 o 64 bit, con o senza segno, complementi o eccesso</a:t>
            </a:r>
            <a:endParaRPr lang="en-US" sz="2000" dirty="0"/>
          </a:p>
        </p:txBody>
      </p:sp>
      <p:sp>
        <p:nvSpPr>
          <p:cNvPr id="5" name="Shape 3"/>
          <p:cNvSpPr/>
          <p:nvPr/>
        </p:nvSpPr>
        <p:spPr>
          <a:xfrm>
            <a:off x="548640" y="2279244"/>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188312"/>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La virgola fissa memorizza una frazione come intero scalato: errore assoluto costante, velocità degli interi</a:t>
            </a:r>
            <a:endParaRPr lang="en-US" sz="2000" dirty="0"/>
          </a:p>
        </p:txBody>
      </p:sp>
      <p:sp>
        <p:nvSpPr>
          <p:cNvPr id="7" name="Shape 5"/>
          <p:cNvSpPr/>
          <p:nvPr/>
        </p:nvSpPr>
        <p:spPr>
          <a:xfrm>
            <a:off x="548640" y="305023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959303"/>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La virgola mobile memorizza mantissa ed esponente: intervallo enorme, errore relativo costante</a:t>
            </a:r>
            <a:endParaRPr lang="en-US" sz="2000" dirty="0"/>
          </a:p>
        </p:txBody>
      </p:sp>
      <p:sp>
        <p:nvSpPr>
          <p:cNvPr id="9" name="Shape 7"/>
          <p:cNvSpPr/>
          <p:nvPr/>
        </p:nvSpPr>
        <p:spPr>
          <a:xfrm>
            <a:off x="548640" y="382122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730295"/>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IEEE 754 è lo standard universale della virgola mobile, con configurazioni speciali per zero, infinito e NaN</a:t>
            </a:r>
            <a:endParaRPr lang="en-US" sz="2000" dirty="0"/>
          </a:p>
        </p:txBody>
      </p:sp>
      <p:sp>
        <p:nvSpPr>
          <p:cNvPr id="11" name="Shape 9"/>
          <p:cNvSpPr/>
          <p:nvPr/>
        </p:nvSpPr>
        <p:spPr>
          <a:xfrm>
            <a:off x="548640" y="4592218"/>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501286"/>
            <a:ext cx="10710367" cy="30988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Su un processore senza l'estensione F, la virgola fissa è la scelta naturale</a:t>
            </a:r>
            <a:endParaRPr lang="en-US" sz="2000" dirty="0"/>
          </a:p>
        </p:txBody>
      </p:sp>
      <p:sp>
        <p:nvSpPr>
          <p:cNvPr id="13" name="Shape 11"/>
          <p:cNvSpPr/>
          <p:nvPr/>
        </p:nvSpPr>
        <p:spPr>
          <a:xfrm>
            <a:off x="548640" y="5053330"/>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4962398"/>
            <a:ext cx="10710367" cy="1209802"/>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Letture</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Patterson, Hennessy: Struttura e progetto dei calcolatori, edizione RISC-V, paragrafo 3.5</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David Goldberg: What Every Computer Scientist Should Know About Floating-Point Arithmetic</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Playing with RISC-V, appendice: The PRG32 Runtime Interface (playfield e parallasse)</a:t>
            </a:r>
            <a:endParaRPr lang="en-US" sz="20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Rappresentazione dei numeri: i reali</dc:title>
  <dc:subject>Lezione 06</dc:subject>
  <dc:creator>Raffaele Montella</dc:creator>
  <cp:lastModifiedBy>Raffaele Montella</cp:lastModifiedBy>
  <cp:revision>1</cp:revision>
  <dcterms:created xsi:type="dcterms:W3CDTF">2026-10-16T20:22:25Z</dcterms:created>
  <dcterms:modified xsi:type="dcterms:W3CDTF">2026-10-16T20:22:25Z</dcterms:modified>
</cp:coreProperties>
</file>