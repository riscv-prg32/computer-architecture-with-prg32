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536758cd-361e-599a-d58e-122eba8361a3}">
          <p14:sldIdLst>
            <p14:sldId id="256"/>
            <p14:sldId id="257"/>
          </p14:sldIdLst>
        </p14:section>
        <p14:section name="Altre codifiche per gli interi con segno" id="{203b12cb-2807-4f0f-e78f-86b784e26ba6}">
          <p14:sldIdLst>
            <p14:sldId id="258"/>
            <p14:sldId id="259"/>
            <p14:sldId id="260"/>
            <p14:sldId id="261"/>
          </p14:sldIdLst>
        </p14:section>
        <p14:section name="Virgola fissa" id="{a659c8a0-ca49-2ac5-486f-2f446c14f0d1}">
          <p14:sldIdLst>
            <p14:sldId id="262"/>
            <p14:sldId id="263"/>
          </p14:sldIdLst>
        </p14:section>
        <p14:section name="Virgola mobile" id="{24db0f13-1447-a0b6-fc50-bfea36d2ab27}">
          <p14:sldIdLst>
            <p14:sldId id="264"/>
            <p14:sldId id="265"/>
            <p14:sldId id="266"/>
            <p14:sldId id="267"/>
            <p14:sldId id="268"/>
            <p14:sldId id="269"/>
          </p14:sldIdLst>
        </p14:section>
        <p14:section name="Ritorno alla macchina" id="{efe0619c-1366-e977-25af-204b96d4dc68}">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trattava i numeri interi. Questa tratta i numeri con una parte frazionaria, e parte da un problema pratico: una palla che deve spostarsi di meno di un pixel per frame, su un processore che non ha istruzioni per i numeri reali. La soluzione, la virgola fissa, usa solo ciò che già conoscete. La virgola mobile compare poi come risposta generale, con lo standard seguito da ogni calcolatore, IEEE 754.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la virgola fissa; complemento a uno ed eccesso k; la virgola mobile IEEE 754; il nome RV32IMAC. DA UTILIZZARE OGGI: il programma completo, gli strumenti di PRG32 (si usa, non si studia, in questo corso). DA COMPRENDERE PIÙ AVANTI: niente. Una slide senza etichetta è contesto: una storia, un esempio, una domanda, un esercizio.
Per il docente: Spirale: la lezione si apre con una palla che deve muoversi di meno di un pixel per frame su un processore senza unità in virgola mobile. La virgola fissa risolve il problema; la virgola mobile viene poi presentata come risposta generale, con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Due codifiche degli interi con segno che completano la lezione precedente, complemento a uno ed eccesso k: servono per capire la virgola mobile. Poi la virgola fissa, che userete nel progetto. Poi la virgola mobile: mantissa, esponente, normalizzazione, codifica e decodifica di un numero in singola precisione, e le configurazioni speciali. Infine un fatto sul vostro kit: il suo processore non ha istruzioni in virgola mobile, e saprete dire che cosa fanno invece i programmi.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complemento a uno un numero negativo si ottiene invertendo ogni bit del positivo: 6 è 0110, meno 6 è 1001. Cambiare segno non potrebbe essere più semplice. Il prezzo è lo stesso del segno e modulo: lo zero ha due rappresentazioni, 0000 e 1111, e l'intervallo è simmetrico, da meno 7 a più 7 su quattro bit. L'istruzione not di RISC-V calcola esattamente il complemento a uno di un registro.
DA COMPRENDERE OGGI: complemento a uno ed eccesso k.
Per il docente: Detto anche complemento alla base diminuita. La not bit a bit di RISC-V calcola esattamente questo.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somma in complemento a uno funziona con l'addizionatore ordinario, con una correzione: quando c'è un riporto uscente dal bit più a sinistra, al risultato va sommato 1. Si chiama riporto circolare. Il primo esempio non richiede correzione. Nel secondo e nel terzo il riporto uscente fa il giro e viene sommato. Il passo in più e il doppio zero sono le ragioni per cui ha vinto il complemento a due, in cui il riporto si scarta e basta.
DA COMPRENDERE OGGI: complemento a uno ed eccesso k.
Per il docente: Le slide originali chiamano il riporto «overflow nell'aritmetica degli interi positivi»: è il riporto uscente dell'addizionatore dei naturali, reinterpretato come necessità di una correzione.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eccesso k ogni numero è traslato verso l'alto di una costante: X = x + k. Con quattro bit e k = 8, la configurazione 0000 significa meno 8, 1000 significa zero e 1111 significa più 7. La proprietà preziosa è che l'ordine si conserva: a un numero maggiore corrisponde sempre una configurazione maggiore, quindi due numeri con segno si confrontano come se fossero naturali. L'aritmetica è meno comoda, perché ogni somma va corretta. È la codifica dell'esponente nei numeri in virgola mobile.
DA COMPRENDERE OGGI: complemento a uno ed eccesso k.
Per il docente: Eccesso 8 su quattro bit: 0000 = -8, 1000 = 0, 1111 = +7. Si confronti con il complemento a due: stesso intervallo, con il bit più significativo invertito.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della Lezione 05 con due colonne in più: le stesse sedici configurazioni lette senza segno, in segno e modulo, in complemento a uno, in complemento a due e in eccesso 8. Tre osservazioni. Segno e modulo e complemento a uno hanno due zeri, evidenziati. Complemento a due ed eccesso 8 coprono lo stesso intervallo, da meno 8 a più 7, e differiscono solo nel bit più a sinistra. E l'eccesso 8 è l'unica colonna in cui i valori crescono con regolarità dall'alto al basso della tabella.
DA COMPRENDERE OGGI: complemento a uno ed eccesso k.
Per il docente: Questa tabella sostituisce la figura di confronto della presentazione originale («Numeri relativi: complementi»).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virgola fissa la parte intera e la parte frazionaria stanno fianco a fianco in una parola, e la posizione della virgola è fissa. Non è memorizzata da nessuna parte: è un accordo che il programma conosce. Se f bit sono riservati alla frazione, la parola contiene il numero moltiplicato per 2 alla f, e il passo più piccolo rappresentabile, la risoluzione, è 2 alla meno f. La notazione Qm.f dice come sono divisi i bit: Q24.8 significa 24 bit interi e 8 bit frazionari.
DA COMPRENDERE OGGI: la virgola fissa.
Per il docente: La virgola fissa è il modo in cui giochi, audio e software di controllo trattano le frazioni sui processori senza unità in virgola mobile. È anche il modo in cui si dovrebbe memorizzare il denaro: centesimi interi.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reali sono densi: tra due qualsiasi ce ne sono infiniti altri, quindi con un numero finito di bit la maggior parte non si può rappresentare, e ciascuno è sostituito dal più vicino tra quelli rappresentabili. In Q24.8 il numero 0,1 diventa 26/256, circa 0,1016. L'errore è al più metà della risoluzione. Un numero troppo vicino a zero diventa zero: è l'underflow, ed è il motivo per cui una velocità di 0,001 pixel per frame lascerebbe ferma la palla. In virgola fissa l'errore assoluto è lo stesso ovunque.
DA COMPRENDERE OGGI: la virgola fissa.
Per il docente: 0,1 x 256 = 25,6, arrotondato a 26. Con SPEED_Q8 = 1 la palla si muove di 1/256 di pixel per frame; una velocità di 0,001 pixel per frame va in underflow a zero e la palla non si muove mai.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numero reale si scrive come una coppia: una mantissa m e un esponente e, tali che x è m per la base elevata a e. È la notazione scientifica del laboratorio di fisica. La virgola è «mobile» perché è l'esponente a dire dove si trova. Poiché lo stesso numero ha infinite coppie di questo tipo, se ne sceglie una con una regola, la normalizzazione: la virgola si mette subito dopo la prima cifra significativa, così 346,09801 diventa 3,4609801 con esponente 2.
DA COMPRENDERE OGGI: la virgola mobile IEEE 754.
Per il docente: In altre parole, la notazione scientifica. La virgola fissa spende i bit su un intervallo fisso; la virgola mobile ne spende alcuni per dire dove si trova l'intervallo.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virgola mobile la distanza tra due numeri rappresentabili consecutivi non è costante. Vicino a zero sono vicinissimi; vicino al limite superiore sono molto distanti. L'errore assoluto cresce quindi con la grandezza del numero. Ciò che resta costante è l'errore relativo, perché ogni numero ha lo stesso numero di cifre significative: quattro in questo esempio. È l'opposto della virgola fissa, dove l'errore assoluto è costante e quello relativo diventa grande vicino a zero.
DA COMPRENDERE OGGI: la virgola mobile IEEE 754.
Per il docente: È l'opposto della virgola fissa, dove l'errore assoluto è costante e quello relativo esplode vicino a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formato a singola precisione di IEEE 754 divide 32 bit in tre campi: un bit di segno, otto di esponente, ventitré di frazione. Il valore è dato dalla formula al centro. Due dettagli meritano attenzione. Una mantissa binaria normalizzata comincia sempre con 1, quindi quel bit non si memorizza: è il bit nascosto, e regala un bit di precisione in più. E l'esponente è memorizzato in eccesso 127, la codifica della sezione precedente, così gli esponenti si confrontano come numeri naturali.
DA COMPRENDERE OGGI: la virgola mobile IEEE 754.
Per il docente: IEEE 754 è del 1985 (rivisto nel 2008 e nel 2019). Prima ogni costruttore aveva il proprio formato e i programmi davano risultati diversi su macchine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esempio completo: meno 5,125. Si convertono in binario le due parti: 5 è 101 e 0,125 è 0,001, quindi il numero è 101,001. Si normalizza spostando la virgola di due posti: 1,01001 per 2 alla 2. Il bit di segno è 1. Il campo esponente è 2 più 127, 129, cioè 1000 0001. La frazione è 01001 seguita da zeri, senza l'1 iniziale. Mettendo insieme i tre campi e raggruppando a quattro a quattro si ottiene 0xC0A40000. Rifatelo su carta, poi provate con un altro numero.
DA COMPRENDERE OGGI: la virgola mobile IEEE 754.
Per il docente: Verificare il raggruppamento in nibble: 1100 = C, 0000 = 0, 1010 = A, 0100 = 4, poi zeri. Qui sono unite tre slide della presentazione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Singola e doppia precisione a confronto. La doppia precisione ha 64 bit, 11 di esponente in eccesso 1023 e 52 di frazione. Due righe vanno ricordate come ordini di grandezza: la singola precisione dà circa 7 cifre decimali significative e arriva a circa 10 alla 38; la doppia ne dà circa 16 e arriva a circa 10 alla 308. I tipi float e double del linguaggio C sono questi due formati.
DA COMPRENDERE OGGI: la virgola mobile IEEE 754.
Per il docente: Correzioni alla tabella originale: l'esponente in doppia precisione è in eccesso 1023 (non 1024), e gli intervalli decimali sono circa 10^38 e 10^308.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tutte le configurazioni sono numeri ordinari. Un campo esponente compreso tra i due estremi è un numero normalizzato. Un esponente di tutti zeri significa zero, se anche la frazione è zero, oppure un numero denormalizzato, che riempie il vuoto attorno allo zero con precisione decrescente. Un esponente di tutti uni significa infinito, se la frazione è zero, oppure NaN, «non un numero», il risultato di un'operazione non valida come zero diviso zero. Notate che gli zeri sono due, più e meno, e che NaN non è uguale a nulla, nemmeno a se stesso.
DA COMPRENDERE OGGI: la virgola mobile IEEE 754.
Per il docente: I numeri denormalizzati (subnormali) riempiono il vuoto dell'underflow attorno allo zero con precisione via via decrescente. 1/0 dà infinito; 0/0 e la radice quadrata di -1 danno NaN. NaN non è uguale a nulla, nemmeno a se stesso.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tratta la virgola mobile con due estensioni facoltative, F per la singola precisione e D per la doppia: aggiungono trentadue registri, da f0 a f31, e istruzioni come fadd.s. Il processore del kit, RV32IMAC, non ha né l'una né l'altra. Un programma C può comunque usare float, ma ogni operazione diventa la chiamata di una routine software che costa decine o centinaia di istruzioni intere. Per questo i giochi PRG32 usano interi e virgola fissa: sono veloci, abbastanza esatti, e visibili nel debugger.
DA COMPRENDERE OGGI: la virgola mobile IEEE 754.
Per il docente: Le routine software realizzano esattamente l'algoritmo di questa lezione con scorrimenti, maschere e somme intere: un buon esercizio di lettura per 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nome RV32IMAC si può ora leggere lettera per lettera. RV32I è la base: registri a 32 bit e istruzioni intere. M aggiunge moltiplicazione e divisione. A aggiunge le istruzioni atomiche per condividere dati in sicurezza tra task. C aggiunge le codifiche compresse, a 16 bit, delle istruzioni più comuni. F e D, le estensioni in virgola mobile, mancano. Questa modularità è una scelta di progetto di RISC-V: una piccola base obbligatoria ed estensioni facoltative, così che la stessa architettura vada bene per un microcontrollore economico e per un supercalcolatore.
DA COMPRENDERE OGGI: il nome RV32IMAC.
Per il docente: RISC-V è modulare: una piccola base obbligatoria più estensioni facoltative. Un microcontrollore prende ciò che gli serve; è una delle ragioni per cui la stessa architettura va da un chip da due euro a un supercalcolatore.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Pensate a che cosa fa ciascuna codifica all'ordine. In segno e modulo e nei complementi i numeri negativi hanno il bit più a sinistra a 1, quindi come configurazioni vengono dopo i positivi. Solo una codifica che somma una costante a ogni numero lascia intatto l'ordine.
Q24.8 significa che la parola è il numero moltiplicato per 256. Leggete 0x180 come intero e dividete per 256; oppure spezzatelo direttamente: parte intera 0x01, frazione 0x80, cioè 128/256.
Per il docente: 1. Risposta: D. In eccesso k, X = x + k: a un numero maggiore corrisponde sempre una configurazione maggiore. Per questo codifica gli esponenti della virgola mobile, che vanno confrontati in fretta.
2. Risposta: B. 0x180 = 384; 384 / 256 = 1,5. Parte intera 0x01, frazione 0x80 = 128/256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Scrivete in binario le prime cifre esadecimali e tagliate i campi: un bit di segno, otto di esponente, poi la frazione. Sottraete 127 dall'esponente, e non dimenticate l'1 nascosto davanti alla frazione.
Tornate alla tabella delle configurazioni speciali. Un esponente di tutti uni è riservato: quale dei suoi due casi ha la frazione di tutti zeri?
Per il docente: 1. Risposta: B. 0100 0000 0100 0000 ...: S = 0, E = 1000 0000 = 128, F = 100...: 1,1 (binario) x 2^(128-127) = 1,5 x 2 = 3,0.
2. Risposta: C. Tutti uni nell'esponente: infinito se la frazione è zero, NaN altrimenti.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In inglese il separatore decimale è il punto, quindi virgola fissa e virgola mobile sono fixed point e floating point. Mantissa è la parola tradizionale per le cifre significative; lo standard chiama fraction la parte memorizzata. Il bit nascosto, hidden bit, è l'1 iniziale che non si memorizza. I numeri denormalizzati si dicono anche subnormali.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Gli interi hanno diverse rappresentazioni, scelte in base all'uso. La virgola fissa memorizza una frazione come intero scalato: errore assoluto costante, velocità degli interi. La virgola mobile memorizza mantissa ed esponente: intervallo enorme, errore relativo costante. IEEE 754 è lo standard universale, con configurazioni speciali per zero, infinito e NaN. E su un processore senza l'estensione F la virgola fissa è la scelta naturale. Ora viene la prima parte di Verm1, dove le ultime quattro lezioni si mettono al lavoro.
Stato di apprendimento, riepilogo. DA COMPRENDERE OGGI: la virgola fissa; complemento a uno ed eccesso k; la virgola mobile IEEE 754; il nome RV32IMAC. DA UTILIZZARE OGGI: il programma completo, gli strumenti di PRG32 (si usa, non si studia, in questo corso). DA COMPRENDERE PIÙ AVANTI: niente. Una slide senza etichetta è contesto: una storia, un esempio, una domanda, un esercizio.
Per il docente: A seguire: Verm1, parte 1, dove le prime quattro lezioni vanno a lavorare in un programma vero. Poi l'algebra di Boole.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06: Rappresentazione dei numeri (reali)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Rappresentazione dei numeri: i reali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Complemento a uno, eccesso k, virgola fissa e virgola mobile IEEE 754</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“Conterò poco, è vero: - diceva l'Uno ar Zero - ma tu che vali? Gnente: propio gnente.”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06-Architettura_dei_Calcolatori-Rappresentazione_dei_Numeri_Reali-Codice.pptx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interi con segno in complemento a uno e in eccesso k, e dire a che cosa serve ciascuno</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Rappresentare una grandezza frazionaria in virgola fissa e calcolarci con istruzioni intere</a:t>
            </a:r>
            <a:endParaRPr lang="en-US" sz="2200" dirty="0"/>
          </a:p>
        </p:txBody>
      </p:sp>
      <p:sp>
        <p:nvSpPr>
          <p:cNvPr id="7" name="Text 5"/>
          <p:cNvSpPr txBox="1"/>
          <p:nvPr/>
        </p:nvSpPr>
        <p:spPr>
          <a:xfrm>
            <a:off x="548640" y="33562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79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mantissa, esponente e normalizzazione nella virgola mobile</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e decodificare un numero in IEEE 754 a singola precisione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Riconoscere zero, numeri denormalizzati, infinito e NaN</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perché l'ESP32-C6 non ha istruzioni in virgola mobile e che cosa fanno invece i giochi PRG32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Complemento a uno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non negativi, 0 &lt;= x &lt; 2^(n-1), sono rappresentati da se stessi: X = x</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negativi sono rappresentati da X = 2^n - 1 - |x|</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- 1) a +(2^(n-1) - 1)</a:t>
            </a:r>
            <a:endParaRPr lang="en-US" sz="2200" dirty="0"/>
          </a:p>
        </p:txBody>
      </p:sp>
      <p:sp>
        <p:nvSpPr>
          <p:cNvPr id="9" name="Shape 7"/>
          <p:cNvSpPr/>
          <p:nvPr/>
        </p:nvSpPr>
        <p:spPr>
          <a:xfrm>
            <a:off x="548640" y="37687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6229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zero ha due rappresentazioni, 0000 e 1111: si rappresentano 2^n - 1 numeri, come in segno e modulo</a:t>
            </a:r>
            <a:endParaRPr lang="en-US" sz="2200" dirty="0"/>
          </a:p>
        </p:txBody>
      </p:sp>
      <p:sp>
        <p:nvSpPr>
          <p:cNvPr id="11" name="Shape 9"/>
          <p:cNvSpPr/>
          <p:nvPr/>
        </p:nvSpPr>
        <p:spPr>
          <a:xfrm>
            <a:off x="548640" y="497154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Perché usarlo? Cambiare segno è banale: si complementa ogni bit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6 = 0110 e -6 = 1001; 5 = 0101 e -5 = 1010; 1 = 0001 e -1 = 1110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not x</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complemento a uno di un numero si ottiene invertendo tutti i suoi bit</a:t>
            </a:r>
            <a:endParaRPr lang="en-US" sz="1900" dirty="0"/>
          </a:p>
        </p:txBody>
      </p:sp>
      <p:sp>
        <p:nvSpPr>
          <p:cNvPr id="16" name="Shape 14"/>
          <p:cNvSpPr/>
          <p:nvPr/>
        </p:nvSpPr>
        <p:spPr>
          <a:xfrm>
            <a:off x="7263714" y="91440"/>
            <a:ext cx="4379341" cy="274320"/>
          </a:xfrm>
          <a:prstGeom prst="rect">
            <a:avLst/>
          </a:prstGeom>
          <a:solidFill>
            <a:srgbClr val="E0F2FE"/>
          </a:solidFill>
          <a:ln w="12700">
            <a:solidFill>
              <a:srgbClr val="0369A1"/>
            </a:solidFill>
            <a:prstDash val="solid"/>
          </a:ln>
        </p:spPr>
      </p:sp>
      <p:sp>
        <p:nvSpPr>
          <p:cNvPr id="17" name="Shape 15"/>
          <p:cNvSpPr/>
          <p:nvPr/>
        </p:nvSpPr>
        <p:spPr>
          <a:xfrm>
            <a:off x="726371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19" name="Text 16"/>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in complemento a uno</a:t>
            </a:r>
            <a:endParaRPr lang="en-US" sz="3200" dirty="0"/>
          </a:p>
        </p:txBody>
      </p:sp>
      <p:sp>
        <p:nvSpPr>
          <p:cNvPr id="3" name="Shape 1"/>
          <p:cNvSpPr/>
          <p:nvPr/>
        </p:nvSpPr>
        <p:spPr>
          <a:xfrm>
            <a:off x="548640" y="146304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Nessuna correzione</a:t>
            </a:r>
            <a:endParaRPr lang="en-US" sz="1400" dirty="0"/>
          </a:p>
        </p:txBody>
      </p:sp>
      <p:sp>
        <p:nvSpPr>
          <p:cNvPr id="5" name="Text 3"/>
          <p:cNvSpPr txBox="1"/>
          <p:nvPr/>
        </p:nvSpPr>
        <p:spPr>
          <a:xfrm>
            <a:off x="731520"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-4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-1</a:t>
            </a:r>
            <a:endParaRPr lang="en-US" sz="1500" dirty="0"/>
          </a:p>
        </p:txBody>
      </p:sp>
      <p:sp>
        <p:nvSpPr>
          <p:cNvPr id="6" name="Text 4"/>
          <p:cNvSpPr txBox="1"/>
          <p:nvPr/>
        </p:nvSpPr>
        <p:spPr>
          <a:xfrm>
            <a:off x="1814133"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1110</a:t>
            </a:r>
            <a:endParaRPr lang="en-US" sz="1500" dirty="0"/>
          </a:p>
        </p:txBody>
      </p:sp>
      <p:sp>
        <p:nvSpPr>
          <p:cNvPr id="7" name="Text 5"/>
          <p:cNvSpPr txBox="1"/>
          <p:nvPr/>
        </p:nvSpPr>
        <p:spPr>
          <a:xfrm>
            <a:off x="731520" y="3246120"/>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nessun riporto uscente: il risultato è giusto</a:t>
            </a:r>
            <a:endParaRPr lang="en-US" sz="1250" dirty="0"/>
          </a:p>
        </p:txBody>
      </p:sp>
      <p:sp>
        <p:nvSpPr>
          <p:cNvPr id="8" name="Shape 6"/>
          <p:cNvSpPr/>
          <p:nvPr/>
        </p:nvSpPr>
        <p:spPr>
          <a:xfrm>
            <a:off x="4338218" y="1463040"/>
            <a:ext cx="3515258" cy="2240280"/>
          </a:xfrm>
          <a:prstGeom prst="roundRect">
            <a:avLst>
              <a:gd name="adj" fmla="val 3265"/>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Due negativi</a:t>
            </a:r>
            <a:endParaRPr lang="en-US" sz="1400" dirty="0"/>
          </a:p>
        </p:txBody>
      </p:sp>
      <p:sp>
        <p:nvSpPr>
          <p:cNvPr id="10" name="Text 8"/>
          <p:cNvSpPr txBox="1"/>
          <p:nvPr/>
        </p:nvSpPr>
        <p:spPr>
          <a:xfrm>
            <a:off x="4521098"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-5</a:t>
            </a:r>
            <a:endParaRPr lang="en-US" sz="1500" dirty="0"/>
          </a:p>
        </p:txBody>
      </p:sp>
      <p:sp>
        <p:nvSpPr>
          <p:cNvPr id="11" name="Text 9"/>
          <p:cNvSpPr txBox="1"/>
          <p:nvPr/>
        </p:nvSpPr>
        <p:spPr>
          <a:xfrm>
            <a:off x="5603711"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1100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1001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1010</a:t>
            </a:r>
            <a:endParaRPr lang="en-US" sz="1500" dirty="0"/>
          </a:p>
        </p:txBody>
      </p:sp>
      <p:sp>
        <p:nvSpPr>
          <p:cNvPr id="12" name="Text 10"/>
          <p:cNvSpPr txBox="1"/>
          <p:nvPr/>
        </p:nvSpPr>
        <p:spPr>
          <a:xfrm>
            <a:off x="4521098"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riporto uscente: va risommato</a:t>
            </a:r>
            <a:endParaRPr lang="en-US" sz="1250" dirty="0"/>
          </a:p>
        </p:txBody>
      </p:sp>
      <p:sp>
        <p:nvSpPr>
          <p:cNvPr id="13" name="Shape 11"/>
          <p:cNvSpPr/>
          <p:nvPr/>
        </p:nvSpPr>
        <p:spPr>
          <a:xfrm>
            <a:off x="8127797" y="1463040"/>
            <a:ext cx="3515258" cy="2240280"/>
          </a:xfrm>
          <a:prstGeom prst="roundRect">
            <a:avLst>
              <a:gd name="adj" fmla="val 3265"/>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Risultato positivo</a:t>
            </a:r>
            <a:endParaRPr lang="en-US" sz="1400" dirty="0"/>
          </a:p>
        </p:txBody>
      </p:sp>
      <p:sp>
        <p:nvSpPr>
          <p:cNvPr id="15" name="Text 13"/>
          <p:cNvSpPr txBox="1"/>
          <p:nvPr/>
        </p:nvSpPr>
        <p:spPr>
          <a:xfrm>
            <a:off x="8310677"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5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a:t>
            </a:r>
            <a:endParaRPr lang="en-US" sz="1500" dirty="0"/>
          </a:p>
        </p:txBody>
      </p:sp>
      <p:sp>
        <p:nvSpPr>
          <p:cNvPr id="16" name="Text 14"/>
          <p:cNvSpPr txBox="1"/>
          <p:nvPr/>
        </p:nvSpPr>
        <p:spPr>
          <a:xfrm>
            <a:off x="9393290"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0010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0011</a:t>
            </a:r>
            <a:endParaRPr lang="en-US" sz="1500" dirty="0"/>
          </a:p>
        </p:txBody>
      </p:sp>
      <p:sp>
        <p:nvSpPr>
          <p:cNvPr id="17" name="Text 15"/>
          <p:cNvSpPr txBox="1"/>
          <p:nvPr/>
        </p:nvSpPr>
        <p:spPr>
          <a:xfrm>
            <a:off x="8310677"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riporto uscente: va risommato</a:t>
            </a:r>
            <a:endParaRPr lang="en-US" sz="1250" dirty="0"/>
          </a:p>
        </p:txBody>
      </p:sp>
      <p:sp>
        <p:nvSpPr>
          <p:cNvPr id="18" name="Shape 16"/>
          <p:cNvSpPr/>
          <p:nvPr/>
        </p:nvSpPr>
        <p:spPr>
          <a:xfrm>
            <a:off x="548640" y="4030599"/>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9319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L'addizionatore lavora modulo 2^n - 1: ogni volta che c'è un riporto uscente dal bit più significativo, al risultato va sommato 1 (riporto circolare)</a:t>
            </a:r>
            <a:endParaRPr lang="en-US" sz="2100" dirty="0"/>
          </a:p>
        </p:txBody>
      </p:sp>
      <p:sp>
        <p:nvSpPr>
          <p:cNvPr id="20" name="Shape 18"/>
          <p:cNvSpPr/>
          <p:nvPr/>
        </p:nvSpPr>
        <p:spPr>
          <a:xfrm>
            <a:off x="548640" y="4825365"/>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7266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correzione serve quando entrambi gli operandi sono negativi, o quando hanno segno opposto e la somma è positiva</a:t>
            </a:r>
            <a:endParaRPr lang="en-US" sz="2100" dirty="0"/>
          </a:p>
        </p:txBody>
      </p:sp>
      <p:sp>
        <p:nvSpPr>
          <p:cNvPr id="22" name="Shape 20"/>
          <p:cNvSpPr/>
          <p:nvPr/>
        </p:nvSpPr>
        <p:spPr>
          <a:xfrm>
            <a:off x="548640" y="562013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5214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Bastano ancora un addizionatore e un complementatore, ma il passo in più e il doppio zero hanno fatto vincere il complemento a due</a:t>
            </a:r>
            <a:endParaRPr lang="en-US" sz="2100" dirty="0"/>
          </a:p>
        </p:txBody>
      </p:sp>
      <p:sp>
        <p:nvSpPr>
          <p:cNvPr id="24" name="Shape 22"/>
          <p:cNvSpPr/>
          <p:nvPr/>
        </p:nvSpPr>
        <p:spPr>
          <a:xfrm>
            <a:off x="7263714" y="91440"/>
            <a:ext cx="4379341" cy="274320"/>
          </a:xfrm>
          <a:prstGeom prst="rect">
            <a:avLst/>
          </a:prstGeom>
          <a:solidFill>
            <a:srgbClr val="E0F2FE"/>
          </a:solidFill>
          <a:ln w="12700">
            <a:solidFill>
              <a:srgbClr val="0369A1"/>
            </a:solidFill>
            <a:prstDash val="solid"/>
          </a:ln>
        </p:spPr>
      </p:sp>
      <p:sp>
        <p:nvSpPr>
          <p:cNvPr id="25" name="Shape 23"/>
          <p:cNvSpPr/>
          <p:nvPr/>
        </p:nvSpPr>
        <p:spPr>
          <a:xfrm>
            <a:off x="7263714"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27" name="Text 24"/>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Rappresentazione in eccesso k (polarizzata)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numero è traslato verso l'alto di una costante k: X = x + k, tipicamente k = 2^(n-1)</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L'ordine si conserva: se x1 &gt; x2 allora X1 &gt; X2, quindi i numeri con segno si confrontano come naturali</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somma va corretta sottraendo k; moltiplicazione e divisione sono molto più scomode che con i complementi</a:t>
            </a:r>
            <a:endParaRPr lang="en-US" sz="2200" dirty="0"/>
          </a:p>
        </p:txBody>
      </p:sp>
      <p:sp>
        <p:nvSpPr>
          <p:cNvPr id="9" name="Shape 7"/>
          <p:cNvSpPr/>
          <p:nvPr/>
        </p:nvSpPr>
        <p:spPr>
          <a:xfrm>
            <a:off x="548640" y="500468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98263"/>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Preferita dove servono solo somme e confronti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la codifica dell'esponente nei numeri in virgola mobile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 k</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su quattro bit con k = 8: la configurazione 0000 significa -8, 1000 significa 0, 1111 significa +7</a:t>
            </a:r>
            <a:endParaRPr lang="en-US" sz="1900" dirty="0"/>
          </a:p>
        </p:txBody>
      </p:sp>
      <p:sp>
        <p:nvSpPr>
          <p:cNvPr id="16" name="Shape 14"/>
          <p:cNvSpPr/>
          <p:nvPr/>
        </p:nvSpPr>
        <p:spPr>
          <a:xfrm>
            <a:off x="7263714" y="91440"/>
            <a:ext cx="4379341" cy="274320"/>
          </a:xfrm>
          <a:prstGeom prst="rect">
            <a:avLst/>
          </a:prstGeom>
          <a:solidFill>
            <a:srgbClr val="E0F2FE"/>
          </a:solidFill>
          <a:ln w="12700">
            <a:solidFill>
              <a:srgbClr val="0369A1"/>
            </a:solidFill>
            <a:prstDash val="solid"/>
          </a:ln>
        </p:spPr>
      </p:sp>
      <p:sp>
        <p:nvSpPr>
          <p:cNvPr id="17" name="Shape 15"/>
          <p:cNvSpPr/>
          <p:nvPr/>
        </p:nvSpPr>
        <p:spPr>
          <a:xfrm>
            <a:off x="726371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19" name="Text 16"/>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bit, cinque letture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Segno-m.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Ecc. 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93815"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Segno-m.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Ecc. 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96891"/>
            <a:ext cx="146304" cy="146304"/>
          </a:xfrm>
          <a:prstGeom prst="rect">
            <a:avLst/>
          </a:prstGeom>
          <a:solidFill>
            <a:srgbClr val="0E7C86"/>
          </a:solidFill>
          <a:ln w="12700">
            <a:solidFill>
              <a:srgbClr val="0E7C86"/>
            </a:solidFill>
            <a:prstDash val="solid"/>
          </a:ln>
        </p:spPr>
      </p:sp>
      <p:sp>
        <p:nvSpPr>
          <p:cNvPr id="6" name="Text 2"/>
          <p:cNvSpPr txBox="1"/>
          <p:nvPr/>
        </p:nvSpPr>
        <p:spPr>
          <a:xfrm>
            <a:off x="932688" y="50292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Segno e modulo e complemento a uno hanno due zeri (evidenziati): 0000 e 1000, oppure 0000 e 1111</a:t>
            </a:r>
            <a:endParaRPr lang="en-US" sz="1700" dirty="0"/>
          </a:p>
        </p:txBody>
      </p:sp>
      <p:sp>
        <p:nvSpPr>
          <p:cNvPr id="7" name="Shape 3"/>
          <p:cNvSpPr/>
          <p:nvPr/>
        </p:nvSpPr>
        <p:spPr>
          <a:xfrm>
            <a:off x="548640" y="5536692"/>
            <a:ext cx="146304" cy="146304"/>
          </a:xfrm>
          <a:prstGeom prst="rect">
            <a:avLst/>
          </a:prstGeom>
          <a:solidFill>
            <a:srgbClr val="C7791B"/>
          </a:solidFill>
          <a:ln w="12700">
            <a:solidFill>
              <a:srgbClr val="C7791B"/>
            </a:solidFill>
            <a:prstDash val="solid"/>
          </a:ln>
        </p:spPr>
      </p:sp>
      <p:sp>
        <p:nvSpPr>
          <p:cNvPr id="8" name="Text 4"/>
          <p:cNvSpPr txBox="1"/>
          <p:nvPr/>
        </p:nvSpPr>
        <p:spPr>
          <a:xfrm>
            <a:off x="932688" y="546900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Complemento a due ed eccesso 8 coprono lo stesso intervallo, da -8 a +7, con un solo zero</a:t>
            </a:r>
            <a:endParaRPr lang="en-US" sz="1700" dirty="0"/>
          </a:p>
        </p:txBody>
      </p:sp>
      <p:sp>
        <p:nvSpPr>
          <p:cNvPr id="9" name="Shape 5"/>
          <p:cNvSpPr/>
          <p:nvPr/>
        </p:nvSpPr>
        <p:spPr>
          <a:xfrm>
            <a:off x="548640" y="5976493"/>
            <a:ext cx="146304" cy="146304"/>
          </a:xfrm>
          <a:prstGeom prst="rect">
            <a:avLst/>
          </a:prstGeom>
          <a:solidFill>
            <a:srgbClr val="0E7C86"/>
          </a:solidFill>
          <a:ln w="12700">
            <a:solidFill>
              <a:srgbClr val="0E7C86"/>
            </a:solidFill>
            <a:prstDash val="solid"/>
          </a:ln>
        </p:spPr>
      </p:sp>
      <p:sp>
        <p:nvSpPr>
          <p:cNvPr id="10" name="Text 6"/>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Solo l'eccesso k mantiene le configurazioni nello stesso ordine dei numeri</a:t>
            </a:r>
            <a:endParaRPr lang="en-US" sz="1700" dirty="0"/>
          </a:p>
        </p:txBody>
      </p:sp>
      <p:sp>
        <p:nvSpPr>
          <p:cNvPr id="11" name="Shape 7"/>
          <p:cNvSpPr/>
          <p:nvPr/>
        </p:nvSpPr>
        <p:spPr>
          <a:xfrm>
            <a:off x="7263714" y="91440"/>
            <a:ext cx="4379341" cy="274320"/>
          </a:xfrm>
          <a:prstGeom prst="rect">
            <a:avLst/>
          </a:prstGeom>
          <a:solidFill>
            <a:srgbClr val="E0F2FE"/>
          </a:solidFill>
          <a:ln w="12700">
            <a:solidFill>
              <a:srgbClr val="0369A1"/>
            </a:solidFill>
            <a:prstDash val="solid"/>
          </a:ln>
        </p:spPr>
      </p:sp>
      <p:sp>
        <p:nvSpPr>
          <p:cNvPr id="12" name="Shape 8"/>
          <p:cNvSpPr/>
          <p:nvPr/>
        </p:nvSpPr>
        <p:spPr>
          <a:xfrm>
            <a:off x="7263714"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14" name="Text 9"/>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in virgola fissa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Parte intera e parte frazionaria sono memorizzate fianco a fianco in un'unica parola</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posizione della virgola è fissa e implicita: non è memorizzata, la conosce il programma</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f bit frazionari l'intero memorizzato è X = x per 2^f, e la risoluzione è 2^-f</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parte usa una delle rappresentazioni già viste: di solito l'intera parola è in complemento a due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Notazione Qm.f: m bit interi e f bit frazionari, per esempio Q24.8</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2^f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 memorizza il numero moltiplicato per una potenza di due; scorrendo a destra di f bit si riottiene la parte intera</a:t>
            </a:r>
            <a:endParaRPr lang="en-US" sz="1900" dirty="0"/>
          </a:p>
        </p:txBody>
      </p:sp>
      <p:sp>
        <p:nvSpPr>
          <p:cNvPr id="16" name="Shape 14"/>
          <p:cNvSpPr/>
          <p:nvPr/>
        </p:nvSpPr>
        <p:spPr>
          <a:xfrm>
            <a:off x="8182940" y="91440"/>
            <a:ext cx="3460115" cy="274320"/>
          </a:xfrm>
          <a:prstGeom prst="rect">
            <a:avLst/>
          </a:prstGeom>
          <a:solidFill>
            <a:srgbClr val="E0F2FE"/>
          </a:solidFill>
          <a:ln w="12700">
            <a:solidFill>
              <a:srgbClr val="0369A1"/>
            </a:solidFill>
            <a:prstDash val="solid"/>
          </a:ln>
        </p:spPr>
      </p:sp>
      <p:sp>
        <p:nvSpPr>
          <p:cNvPr id="17" name="Shape 15"/>
          <p:cNvSpPr/>
          <p:nvPr/>
        </p:nvSpPr>
        <p:spPr>
          <a:xfrm>
            <a:off x="818294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9" name="Text 16"/>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razionali: l'errore di approssimazione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reali sono densi: anche in un intervallo limitato non tutti i numeri sono rappresentabili</a:t>
            </a:r>
            <a:endParaRPr lang="en-US" sz="2100" dirty="0"/>
          </a:p>
        </p:txBody>
      </p:sp>
      <p:sp>
        <p:nvSpPr>
          <p:cNvPr id="5" name="Shape 3"/>
          <p:cNvSpPr/>
          <p:nvPr/>
        </p:nvSpPr>
        <p:spPr>
          <a:xfrm>
            <a:off x="548640" y="23934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4763"/>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Approssimazione: a ogni numero si associa il più vicino tra quelli rappresentabili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 Q24.8, 0,1 diventa 26/256 = 0,1015625: un errore dell'1,6% circa</a:t>
            </a:r>
            <a:endParaRPr lang="en-US" sz="2100" dirty="0"/>
          </a:p>
        </p:txBody>
      </p:sp>
      <p:sp>
        <p:nvSpPr>
          <p:cNvPr id="7" name="Shape 5"/>
          <p:cNvSpPr/>
          <p:nvPr/>
        </p:nvSpPr>
        <p:spPr>
          <a:xfrm>
            <a:off x="548640" y="38652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656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L'errore di approssimazione è al più metà della risoluzione: 1/512 con otto bit frazionari</a:t>
            </a:r>
            <a:endParaRPr lang="en-US" sz="2100" dirty="0"/>
          </a:p>
        </p:txBody>
      </p:sp>
      <p:sp>
        <p:nvSpPr>
          <p:cNvPr id="9" name="Shape 7"/>
          <p:cNvSpPr/>
          <p:nvPr/>
        </p:nvSpPr>
        <p:spPr>
          <a:xfrm>
            <a:off x="548640" y="4742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400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Underflow: un numero vicino a zero, ma non zero, è rappresentato da zero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virgola fissa l'errore assoluto è lo stesso lungo tutta la retta dei numeri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risoluzione di otto bit frazionari: nulla di più piccolo si distingue da zero</a:t>
            </a:r>
            <a:endParaRPr lang="en-US" sz="1900" dirty="0"/>
          </a:p>
        </p:txBody>
      </p:sp>
      <p:sp>
        <p:nvSpPr>
          <p:cNvPr id="16" name="Shape 14"/>
          <p:cNvSpPr/>
          <p:nvPr/>
        </p:nvSpPr>
        <p:spPr>
          <a:xfrm>
            <a:off x="8182940" y="91440"/>
            <a:ext cx="3460115" cy="274320"/>
          </a:xfrm>
          <a:prstGeom prst="rect">
            <a:avLst/>
          </a:prstGeom>
          <a:solidFill>
            <a:srgbClr val="E0F2FE"/>
          </a:solidFill>
          <a:ln w="12700">
            <a:solidFill>
              <a:srgbClr val="0369A1"/>
            </a:solidFill>
            <a:prstDash val="solid"/>
          </a:ln>
        </p:spPr>
      </p:sp>
      <p:sp>
        <p:nvSpPr>
          <p:cNvPr id="17" name="Shape 15"/>
          <p:cNvSpPr/>
          <p:nvPr/>
        </p:nvSpPr>
        <p:spPr>
          <a:xfrm>
            <a:off x="818294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9" name="Text 16"/>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reali in virgola mobile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numero reale x è rappresentato da una coppia (m, e) tale che x = m per b^e</a:t>
            </a:r>
            <a:endParaRPr lang="en-US" sz="2200" dirty="0"/>
          </a:p>
        </p:txBody>
      </p:sp>
      <p:sp>
        <p:nvSpPr>
          <p:cNvPr id="5" name="Shape 3"/>
          <p:cNvSpPr/>
          <p:nvPr/>
        </p:nvSpPr>
        <p:spPr>
          <a:xfrm>
            <a:off x="548640" y="248335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6932"/>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 è la mantissa, e l'esponente, b la base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virgola è mobile: l'esponente dice dove si trova</a:t>
            </a:r>
            <a:endParaRPr lang="en-US" sz="2200" dirty="0"/>
          </a:p>
        </p:txBody>
      </p:sp>
      <p:sp>
        <p:nvSpPr>
          <p:cNvPr id="7" name="Shape 5"/>
          <p:cNvSpPr/>
          <p:nvPr/>
        </p:nvSpPr>
        <p:spPr>
          <a:xfrm>
            <a:off x="548640" y="3727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102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Infinite coppie rappresentano lo stesso numero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346,09801 = (346,09801; 0) = (346098,01; -3) = (0,034609801; 4)</a:t>
            </a:r>
            <a:endParaRPr lang="en-US" sz="2200" dirty="0"/>
          </a:p>
        </p:txBody>
      </p:sp>
      <p:sp>
        <p:nvSpPr>
          <p:cNvPr id="9" name="Shape 7"/>
          <p:cNvSpPr/>
          <p:nvPr/>
        </p:nvSpPr>
        <p:spPr>
          <a:xfrm>
            <a:off x="548640" y="497154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normalizzazione sceglie un unico rappresentante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virgola va subito dopo la prima cifra significativa: (3,4609801; 2)</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m b^e</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mantissa, base ed esponente: la notazione scientifica del laboratorio, in binario</a:t>
            </a:r>
            <a:endParaRPr lang="en-US" sz="1900" dirty="0"/>
          </a:p>
        </p:txBody>
      </p:sp>
      <p:sp>
        <p:nvSpPr>
          <p:cNvPr id="14" name="Shape 12"/>
          <p:cNvSpPr/>
          <p:nvPr/>
        </p:nvSpPr>
        <p:spPr>
          <a:xfrm>
            <a:off x="7526350" y="91440"/>
            <a:ext cx="4116705" cy="274320"/>
          </a:xfrm>
          <a:prstGeom prst="rect">
            <a:avLst/>
          </a:prstGeom>
          <a:solidFill>
            <a:srgbClr val="E0F2FE"/>
          </a:solidFill>
          <a:ln w="12700">
            <a:solidFill>
              <a:srgbClr val="0369A1"/>
            </a:solidFill>
            <a:prstDash val="solid"/>
          </a:ln>
        </p:spPr>
      </p:sp>
      <p:sp>
        <p:nvSpPr>
          <p:cNvPr id="15" name="Shape 13"/>
          <p:cNvSpPr/>
          <p:nvPr/>
        </p:nvSpPr>
        <p:spPr>
          <a:xfrm>
            <a:off x="752635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7" name="Text 14"/>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Approssimazione: errore assoluto e relativo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L'errore assoluto non è costante: la precisione è finissima vicino a zero e diminuisce al crescere dei numeri</a:t>
            </a:r>
            <a:endParaRPr lang="en-US" sz="2200" dirty="0"/>
          </a:p>
        </p:txBody>
      </p:sp>
      <p:sp>
        <p:nvSpPr>
          <p:cNvPr id="5" name="Shape 3"/>
          <p:cNvSpPr/>
          <p:nvPr/>
        </p:nvSpPr>
        <p:spPr>
          <a:xfrm>
            <a:off x="548640" y="27174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0993"/>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Vicino a zero l'errore massimo è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1,001 x 10^-99 meno 1,000 x 10^-99</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Vicino al limite superiore l'errore massimo è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9,999 x 10^99 meno 9,998 x 10^99</a:t>
            </a:r>
            <a:endParaRPr lang="en-US" sz="2200" dirty="0"/>
          </a:p>
        </p:txBody>
      </p:sp>
      <p:sp>
        <p:nvSpPr>
          <p:cNvPr id="9" name="Shape 7"/>
          <p:cNvSpPr/>
          <p:nvPr/>
        </p:nvSpPr>
        <p:spPr>
          <a:xfrm>
            <a:off x="548640" y="5084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7852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Errore assoluto: piccolo sui numeri piccoli, grande sui numeri grandi</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Errore relativo: costante lungo tutto l'asse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 cifre</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lo stesso numero di cifre significative ovunque: errore relativo costante, qualunque sia la grandezza del numero</a:t>
            </a:r>
            <a:endParaRPr lang="en-US" sz="1900" dirty="0"/>
          </a:p>
        </p:txBody>
      </p:sp>
      <p:sp>
        <p:nvSpPr>
          <p:cNvPr id="16" name="Shape 14"/>
          <p:cNvSpPr/>
          <p:nvPr/>
        </p:nvSpPr>
        <p:spPr>
          <a:xfrm>
            <a:off x="7526350" y="91440"/>
            <a:ext cx="4116705" cy="274320"/>
          </a:xfrm>
          <a:prstGeom prst="rect">
            <a:avLst/>
          </a:prstGeom>
          <a:solidFill>
            <a:srgbClr val="E0F2FE"/>
          </a:solidFill>
          <a:ln w="12700">
            <a:solidFill>
              <a:srgbClr val="0369A1"/>
            </a:solidFill>
            <a:prstDash val="solid"/>
          </a:ln>
        </p:spPr>
      </p:sp>
      <p:sp>
        <p:nvSpPr>
          <p:cNvPr id="17" name="Shape 15"/>
          <p:cNvSpPr/>
          <p:nvPr/>
        </p:nvSpPr>
        <p:spPr>
          <a:xfrm>
            <a:off x="752635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9" name="Text 16"/>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a singola precisione: 32 bit</a:t>
            </a:r>
            <a:endParaRPr lang="en-US" sz="3200" dirty="0"/>
          </a:p>
        </p:txBody>
      </p:sp>
      <p:sp>
        <p:nvSpPr>
          <p:cNvPr id="3" name="Text 1"/>
          <p:cNvSpPr txBox="1"/>
          <p:nvPr/>
        </p:nvSpPr>
        <p:spPr>
          <a:xfrm>
            <a:off x="548640" y="1737360"/>
            <a:ext cx="1027749" cy="6858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S</a:t>
            </a:r>
            <a:endParaRPr lang="en-US" sz="2200" dirty="0"/>
          </a:p>
        </p:txBody>
      </p:sp>
      <p:sp>
        <p:nvSpPr>
          <p:cNvPr id="4" name="Text 2"/>
          <p:cNvSpPr txBox="1"/>
          <p:nvPr/>
        </p:nvSpPr>
        <p:spPr>
          <a:xfrm>
            <a:off x="548640" y="2478024"/>
            <a:ext cx="10277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segno</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1 = negativo</a:t>
            </a:r>
            <a:endParaRPr lang="en-US" sz="1500" dirty="0"/>
          </a:p>
        </p:txBody>
      </p:sp>
      <p:sp>
        <p:nvSpPr>
          <p:cNvPr id="5" name="Text 3"/>
          <p:cNvSpPr txBox="1"/>
          <p:nvPr/>
        </p:nvSpPr>
        <p:spPr>
          <a:xfrm>
            <a:off x="585216" y="1499616"/>
            <a:ext cx="5138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576389" y="1737360"/>
            <a:ext cx="2597849" cy="6858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a:t>
            </a:r>
            <a:endParaRPr lang="en-US" sz="2200" dirty="0"/>
          </a:p>
        </p:txBody>
      </p:sp>
      <p:sp>
        <p:nvSpPr>
          <p:cNvPr id="7" name="Text 5"/>
          <p:cNvSpPr txBox="1"/>
          <p:nvPr/>
        </p:nvSpPr>
        <p:spPr>
          <a:xfrm>
            <a:off x="1576389" y="2478024"/>
            <a:ext cx="25978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esponente: 8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eccesso 127</a:t>
            </a:r>
            <a:endParaRPr lang="en-US" sz="1500" dirty="0"/>
          </a:p>
        </p:txBody>
      </p:sp>
      <p:sp>
        <p:nvSpPr>
          <p:cNvPr id="8" name="Text 6"/>
          <p:cNvSpPr txBox="1"/>
          <p:nvPr/>
        </p:nvSpPr>
        <p:spPr>
          <a:xfrm>
            <a:off x="1612965" y="1499616"/>
            <a:ext cx="129892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9" name="Text 7"/>
          <p:cNvSpPr txBox="1"/>
          <p:nvPr/>
        </p:nvSpPr>
        <p:spPr>
          <a:xfrm>
            <a:off x="2875314" y="1499616"/>
            <a:ext cx="126234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0" name="Text 8"/>
          <p:cNvSpPr txBox="1"/>
          <p:nvPr/>
        </p:nvSpPr>
        <p:spPr>
          <a:xfrm>
            <a:off x="4174238" y="1737360"/>
            <a:ext cx="7468817" cy="6858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F</a:t>
            </a:r>
            <a:endParaRPr lang="en-US" sz="2200" dirty="0"/>
          </a:p>
        </p:txBody>
      </p:sp>
      <p:sp>
        <p:nvSpPr>
          <p:cNvPr id="11" name="Text 9"/>
          <p:cNvSpPr txBox="1"/>
          <p:nvPr/>
        </p:nvSpPr>
        <p:spPr>
          <a:xfrm>
            <a:off x="4174238" y="2478024"/>
            <a:ext cx="7468817"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frazione: 23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modulo, dopo l'1 nascosto</a:t>
            </a:r>
            <a:endParaRPr lang="en-US" sz="1500" dirty="0"/>
          </a:p>
        </p:txBody>
      </p:sp>
      <p:sp>
        <p:nvSpPr>
          <p:cNvPr id="12" name="Text 10"/>
          <p:cNvSpPr txBox="1"/>
          <p:nvPr/>
        </p:nvSpPr>
        <p:spPr>
          <a:xfrm>
            <a:off x="4210814" y="1499616"/>
            <a:ext cx="373440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3" name="Text 11"/>
          <p:cNvSpPr txBox="1"/>
          <p:nvPr/>
        </p:nvSpPr>
        <p:spPr>
          <a:xfrm>
            <a:off x="7908647" y="1499616"/>
            <a:ext cx="369783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4" name="Text 12"/>
          <p:cNvSpPr txBox="1"/>
          <p:nvPr/>
        </p:nvSpPr>
        <p:spPr>
          <a:xfrm>
            <a:off x="548640" y="3246120"/>
            <a:ext cx="11094415" cy="548640"/>
          </a:xfrm>
          <a:prstGeom prst="rect">
            <a:avLst/>
          </a:prstGeom>
          <a:noFill/>
          <a:ln/>
        </p:spPr>
        <p:txBody>
          <a:bodyPr wrap="square" lIns="0" tIns="0" rIns="0" bIns="0" rtlCol="0" anchor="ctr"/>
          <a:lstStyle/>
          <a:p>
            <a:pPr algn="ctr" indent="0" marL="0">
              <a:buNone/>
            </a:pPr>
            <a:r>
              <a:rPr lang="en-US" sz="2600" b="1" dirty="0">
                <a:solidFill>
                  <a:srgbClr val="1B2530"/>
                </a:solidFill>
                <a:latin typeface="Courier New" pitchFamily="34" charset="0"/>
                <a:ea typeface="Courier New" pitchFamily="34" charset="-122"/>
                <a:cs typeface="Courier New" pitchFamily="34" charset="-120"/>
              </a:rPr>
              <a:t>valore = (-1)^S  x  1,F  x  2^(E - 127)</a:t>
            </a:r>
            <a:endParaRPr lang="en-US" sz="2600" dirty="0"/>
          </a:p>
        </p:txBody>
      </p:sp>
      <p:sp>
        <p:nvSpPr>
          <p:cNvPr id="15" name="Shape 13"/>
          <p:cNvSpPr/>
          <p:nvPr/>
        </p:nvSpPr>
        <p:spPr>
          <a:xfrm>
            <a:off x="548640" y="4144518"/>
            <a:ext cx="146304" cy="146304"/>
          </a:xfrm>
          <a:prstGeom prst="rect">
            <a:avLst/>
          </a:prstGeom>
          <a:solidFill>
            <a:srgbClr val="0E7C86"/>
          </a:solidFill>
          <a:ln w="12700">
            <a:solidFill>
              <a:srgbClr val="0E7C86"/>
            </a:solidFill>
            <a:prstDash val="solid"/>
          </a:ln>
        </p:spPr>
      </p:sp>
      <p:sp>
        <p:nvSpPr>
          <p:cNvPr id="16" name="Text 14"/>
          <p:cNvSpPr txBox="1"/>
          <p:nvPr/>
        </p:nvSpPr>
        <p:spPr>
          <a:xfrm>
            <a:off x="932688" y="406908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mantissa è in segno e modulo: un bit di segno e 23 bit di modulo</a:t>
            </a:r>
            <a:endParaRPr lang="en-US" sz="1800" dirty="0"/>
          </a:p>
        </p:txBody>
      </p:sp>
      <p:sp>
        <p:nvSpPr>
          <p:cNvPr id="17" name="Shape 15"/>
          <p:cNvSpPr/>
          <p:nvPr/>
        </p:nvSpPr>
        <p:spPr>
          <a:xfrm>
            <a:off x="548640" y="4566666"/>
            <a:ext cx="146304" cy="146304"/>
          </a:xfrm>
          <a:prstGeom prst="rect">
            <a:avLst/>
          </a:prstGeom>
          <a:solidFill>
            <a:srgbClr val="C7791B"/>
          </a:solidFill>
          <a:ln w="12700">
            <a:solidFill>
              <a:srgbClr val="C7791B"/>
            </a:solidFill>
            <a:prstDash val="solid"/>
          </a:ln>
        </p:spPr>
      </p:sp>
      <p:sp>
        <p:nvSpPr>
          <p:cNvPr id="18" name="Text 16"/>
          <p:cNvSpPr txBox="1"/>
          <p:nvPr/>
        </p:nvSpPr>
        <p:spPr>
          <a:xfrm>
            <a:off x="932688" y="449122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mantissa binaria normalizzata comincia sempre con 1: quel bit è nascosto, non memorizzato, e si guadagna un bit di precisione</a:t>
            </a:r>
            <a:endParaRPr lang="en-US" sz="1800" dirty="0"/>
          </a:p>
        </p:txBody>
      </p:sp>
      <p:sp>
        <p:nvSpPr>
          <p:cNvPr id="19" name="Shape 17"/>
          <p:cNvSpPr/>
          <p:nvPr/>
        </p:nvSpPr>
        <p:spPr>
          <a:xfrm>
            <a:off x="548640" y="5267706"/>
            <a:ext cx="146304" cy="146304"/>
          </a:xfrm>
          <a:prstGeom prst="rect">
            <a:avLst/>
          </a:prstGeom>
          <a:solidFill>
            <a:srgbClr val="0E7C86"/>
          </a:solidFill>
          <a:ln w="12700">
            <a:solidFill>
              <a:srgbClr val="0E7C86"/>
            </a:solidFill>
            <a:prstDash val="solid"/>
          </a:ln>
        </p:spPr>
      </p:sp>
      <p:sp>
        <p:nvSpPr>
          <p:cNvPr id="20" name="Text 18"/>
          <p:cNvSpPr txBox="1"/>
          <p:nvPr/>
        </p:nvSpPr>
        <p:spPr>
          <a:xfrm>
            <a:off x="932688" y="519226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L'esponente è in eccesso 127, non 128: gli esponenti veri vanno da -126 a +127</a:t>
            </a:r>
            <a:endParaRPr lang="en-US" sz="1800" dirty="0"/>
          </a:p>
        </p:txBody>
      </p:sp>
      <p:sp>
        <p:nvSpPr>
          <p:cNvPr id="21" name="Shape 19"/>
          <p:cNvSpPr/>
          <p:nvPr/>
        </p:nvSpPr>
        <p:spPr>
          <a:xfrm>
            <a:off x="548640" y="5689854"/>
            <a:ext cx="146304" cy="146304"/>
          </a:xfrm>
          <a:prstGeom prst="rect">
            <a:avLst/>
          </a:prstGeom>
          <a:solidFill>
            <a:srgbClr val="C7791B"/>
          </a:solidFill>
          <a:ln w="12700">
            <a:solidFill>
              <a:srgbClr val="C7791B"/>
            </a:solidFill>
            <a:prstDash val="solid"/>
          </a:ln>
        </p:spPr>
      </p:sp>
      <p:sp>
        <p:nvSpPr>
          <p:cNvPr id="22" name="Text 20"/>
          <p:cNvSpPr txBox="1"/>
          <p:nvPr/>
        </p:nvSpPr>
        <p:spPr>
          <a:xfrm>
            <a:off x="932688" y="56144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configurazioni E = 0 ed E = 255 sono riservate: zero e numeri denormalizzati, infinito e NaN</a:t>
            </a:r>
            <a:endParaRPr lang="en-US" sz="1800" dirty="0"/>
          </a:p>
        </p:txBody>
      </p:sp>
      <p:sp>
        <p:nvSpPr>
          <p:cNvPr id="23" name="Shape 21"/>
          <p:cNvSpPr/>
          <p:nvPr/>
        </p:nvSpPr>
        <p:spPr>
          <a:xfrm>
            <a:off x="7526350" y="91440"/>
            <a:ext cx="4116705" cy="274320"/>
          </a:xfrm>
          <a:prstGeom prst="rect">
            <a:avLst/>
          </a:prstGeom>
          <a:solidFill>
            <a:srgbClr val="E0F2FE"/>
          </a:solidFill>
          <a:ln w="12700">
            <a:solidFill>
              <a:srgbClr val="0369A1"/>
            </a:solidFill>
            <a:prstDash val="solid"/>
          </a:ln>
        </p:spPr>
      </p:sp>
      <p:sp>
        <p:nvSpPr>
          <p:cNvPr id="24" name="Shape 22"/>
          <p:cNvSpPr/>
          <p:nvPr/>
        </p:nvSpPr>
        <p:spPr>
          <a:xfrm>
            <a:off x="7526350"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26" name="Text 2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Esempio svolto: -5,125 in IEEE 754</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convertono le due parti: 5 = 101 e 0,125 = 1/8 = 0,001, quindi 5,125 = 101,001</a:t>
            </a:r>
            <a:endParaRPr lang="en-US" sz="2400" dirty="0"/>
          </a:p>
        </p:txBody>
      </p:sp>
      <p:sp>
        <p:nvSpPr>
          <p:cNvPr id="5" name="Text 3"/>
          <p:cNvSpPr txBox="1"/>
          <p:nvPr/>
        </p:nvSpPr>
        <p:spPr>
          <a:xfrm>
            <a:off x="548640" y="24069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8861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normalizza: 101,001 = 1,01001 x 2^2</a:t>
            </a:r>
            <a:endParaRPr lang="en-US" sz="2400" dirty="0"/>
          </a:p>
        </p:txBody>
      </p:sp>
      <p:sp>
        <p:nvSpPr>
          <p:cNvPr id="7" name="Text 5"/>
          <p:cNvSpPr txBox="1"/>
          <p:nvPr/>
        </p:nvSpPr>
        <p:spPr>
          <a:xfrm>
            <a:off x="548640" y="30734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5511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Segno S = 1; esponente E = 2 + 127 = 129 = 1000 0001</a:t>
            </a:r>
            <a:endParaRPr lang="en-US" sz="2400" dirty="0"/>
          </a:p>
        </p:txBody>
      </p:sp>
      <p:sp>
        <p:nvSpPr>
          <p:cNvPr id="9" name="Text 7"/>
          <p:cNvSpPr txBox="1"/>
          <p:nvPr/>
        </p:nvSpPr>
        <p:spPr>
          <a:xfrm>
            <a:off x="548640" y="37398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2160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Frazione F = 01001 seguita da zeri: l'1 iniziale è nascosto</a:t>
            </a:r>
            <a:endParaRPr lang="en-US" sz="2400" dirty="0"/>
          </a:p>
        </p:txBody>
      </p:sp>
      <p:sp>
        <p:nvSpPr>
          <p:cNvPr id="11" name="Text 9"/>
          <p:cNvSpPr txBox="1"/>
          <p:nvPr/>
        </p:nvSpPr>
        <p:spPr>
          <a:xfrm>
            <a:off x="548640" y="4526280"/>
            <a:ext cx="623590" cy="59436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12" name="Text 10"/>
          <p:cNvSpPr txBox="1"/>
          <p:nvPr/>
        </p:nvSpPr>
        <p:spPr>
          <a:xfrm>
            <a:off x="585216" y="4288536"/>
            <a:ext cx="31179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3" name="Text 11"/>
          <p:cNvSpPr txBox="1"/>
          <p:nvPr/>
        </p:nvSpPr>
        <p:spPr>
          <a:xfrm>
            <a:off x="1172230" y="4526280"/>
            <a:ext cx="2702148" cy="59436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1000 0001</a:t>
            </a:r>
            <a:endParaRPr lang="en-US" sz="1700" dirty="0"/>
          </a:p>
        </p:txBody>
      </p:sp>
      <p:sp>
        <p:nvSpPr>
          <p:cNvPr id="14" name="Text 12"/>
          <p:cNvSpPr txBox="1"/>
          <p:nvPr/>
        </p:nvSpPr>
        <p:spPr>
          <a:xfrm>
            <a:off x="1208806" y="4288536"/>
            <a:ext cx="13510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5" name="Text 13"/>
          <p:cNvSpPr txBox="1"/>
          <p:nvPr/>
        </p:nvSpPr>
        <p:spPr>
          <a:xfrm>
            <a:off x="2523304" y="4288536"/>
            <a:ext cx="131449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6" name="Text 14"/>
          <p:cNvSpPr txBox="1"/>
          <p:nvPr/>
        </p:nvSpPr>
        <p:spPr>
          <a:xfrm>
            <a:off x="3874378" y="4526280"/>
            <a:ext cx="7768677" cy="59436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0100 1000 0000 0000 0000 000</a:t>
            </a:r>
            <a:endParaRPr lang="en-US" sz="1700" dirty="0"/>
          </a:p>
        </p:txBody>
      </p:sp>
      <p:sp>
        <p:nvSpPr>
          <p:cNvPr id="17" name="Text 15"/>
          <p:cNvSpPr txBox="1"/>
          <p:nvPr/>
        </p:nvSpPr>
        <p:spPr>
          <a:xfrm>
            <a:off x="3910954" y="4288536"/>
            <a:ext cx="388433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8" name="Text 16"/>
          <p:cNvSpPr txBox="1"/>
          <p:nvPr/>
        </p:nvSpPr>
        <p:spPr>
          <a:xfrm>
            <a:off x="7758717" y="4288536"/>
            <a:ext cx="384776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9" name="Text 17"/>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100" b="1" dirty="0">
                <a:solidFill>
                  <a:srgbClr val="1B2530"/>
                </a:solidFill>
                <a:latin typeface="Courier New" pitchFamily="34" charset="0"/>
                <a:ea typeface="Courier New" pitchFamily="34" charset="-122"/>
                <a:cs typeface="Courier New" pitchFamily="34" charset="-120"/>
              </a:rPr>
              <a:t>1100 0000 1010 0100 0000 0000 0000 0000  =  0xC0A40000</a:t>
            </a:r>
            <a:endParaRPr lang="en-US" sz="2100" dirty="0"/>
          </a:p>
        </p:txBody>
      </p:sp>
      <p:sp>
        <p:nvSpPr>
          <p:cNvPr id="20" name="Shape 18"/>
          <p:cNvSpPr/>
          <p:nvPr/>
        </p:nvSpPr>
        <p:spPr>
          <a:xfrm>
            <a:off x="7526350" y="91440"/>
            <a:ext cx="4116705" cy="274320"/>
          </a:xfrm>
          <a:prstGeom prst="rect">
            <a:avLst/>
          </a:prstGeom>
          <a:solidFill>
            <a:srgbClr val="E0F2FE"/>
          </a:solidFill>
          <a:ln w="12700">
            <a:solidFill>
              <a:srgbClr val="0369A1"/>
            </a:solidFill>
            <a:prstDash val="solid"/>
          </a:ln>
        </p:spPr>
      </p:sp>
      <p:sp>
        <p:nvSpPr>
          <p:cNvPr id="21" name="Shape 19"/>
          <p:cNvSpPr/>
          <p:nvPr/>
        </p:nvSpPr>
        <p:spPr>
          <a:xfrm>
            <a:off x="7526350"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23" name="Text 20"/>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in sintesi</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4092202"/>
                <a:gridCol w="4092202"/>
              </a:tblGrid>
              <a:tr h="0">
                <a:tc>
                  <a:txBody>
                    <a:bodyPr/>
                    <a:lstStyle/>
                    <a:p>
                      <a:pPr algn="l" indent="0" marL="0">
                        <a:buNone/>
                      </a:pP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Singola precisione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Doppia precisione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totali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segno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frazione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52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Codifica dell'esponente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eccesso 127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eccesso 1023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Intervallo dell'esponente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-126 ... +127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-1022 ... +1023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Minimo normalizzato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2^-126, circa 1,2 x 10^-38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2^-1022, circa 2,2 x 10^-308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Massimo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2^128, 3,4 x 10^38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2^1024, 1,8 x 10^308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Minimo denormalizzato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1,4 x 10^-45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4,9 x 10^-324</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Cifre decimali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16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26350" y="91440"/>
            <a:ext cx="4116705" cy="274320"/>
          </a:xfrm>
          <a:prstGeom prst="rect">
            <a:avLst/>
          </a:prstGeom>
          <a:solidFill>
            <a:srgbClr val="E0F2FE"/>
          </a:solidFill>
          <a:ln w="12700">
            <a:solidFill>
              <a:srgbClr val="0369A1"/>
            </a:solidFill>
            <a:prstDash val="solid"/>
          </a:ln>
        </p:spPr>
      </p:sp>
      <p:sp>
        <p:nvSpPr>
          <p:cNvPr id="5" name="Shape 2"/>
          <p:cNvSpPr/>
          <p:nvPr/>
        </p:nvSpPr>
        <p:spPr>
          <a:xfrm>
            <a:off x="752635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7" name="Text 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che cosa significano le configurazioni</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091254"/>
                <a:gridCol w="1727819"/>
                <a:gridCol w="1727819"/>
                <a:gridCol w="454689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Tipo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Esponente 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Frazione 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Valore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Normalizzato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&lt; E &lt; max</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qualsiasi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1,F x 2^(E-bias)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Denormalizzato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non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0,F x 2^(1-bias)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 o -0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Infinito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uni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+infinito o -infinito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Not a Number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uni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non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NaN: un risultato non valido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526350" y="91440"/>
            <a:ext cx="4116705" cy="274320"/>
          </a:xfrm>
          <a:prstGeom prst="rect">
            <a:avLst/>
          </a:prstGeom>
          <a:solidFill>
            <a:srgbClr val="E0F2FE"/>
          </a:solidFill>
          <a:ln w="12700">
            <a:solidFill>
              <a:srgbClr val="0369A1"/>
            </a:solidFill>
            <a:prstDash val="solid"/>
          </a:ln>
        </p:spPr>
      </p:sp>
      <p:sp>
        <p:nvSpPr>
          <p:cNvPr id="5" name="Shape 2"/>
          <p:cNvSpPr/>
          <p:nvPr/>
        </p:nvSpPr>
        <p:spPr>
          <a:xfrm>
            <a:off x="752635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7" name="Text 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virgola mobile su RISC-V, e sul vostro kit</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con le estensioni F e 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Altri trentadue registri, da f0 a f31, per i valori in virgola mobile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Istruzioni come fadd.s, fmul.s, flw e fsw lavorano su numeri IEEE 754</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fcvt.w.s converte in intero, fcvt.s.w da intero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 trovano sui processori RISC-V per portatili, server e supercalcolatori</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L'ESP32-C6: RV32IMAC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Né F né D: non esiste alcuna istruzione in virgola mobile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programma C può comunque usare float: il compilatore chiama routine software come __addsf3</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chiamata costa da decine a centinaia di istruzioni intere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 giochi PRG32 usano interi e virgola fissa: veloci, abbastanza esatti, e visibili nel debugger</a:t>
            </a:r>
            <a:endParaRPr lang="en-US" sz="1900" dirty="0"/>
          </a:p>
        </p:txBody>
      </p:sp>
      <p:sp>
        <p:nvSpPr>
          <p:cNvPr id="9" name="Shape 7"/>
          <p:cNvSpPr/>
          <p:nvPr/>
        </p:nvSpPr>
        <p:spPr>
          <a:xfrm>
            <a:off x="7526350" y="91440"/>
            <a:ext cx="4116705" cy="274320"/>
          </a:xfrm>
          <a:prstGeom prst="rect">
            <a:avLst/>
          </a:prstGeom>
          <a:solidFill>
            <a:srgbClr val="E0F2FE"/>
          </a:solidFill>
          <a:ln w="12700">
            <a:solidFill>
              <a:srgbClr val="0369A1"/>
            </a:solidFill>
            <a:prstDash val="solid"/>
          </a:ln>
        </p:spPr>
      </p:sp>
      <p:sp>
        <p:nvSpPr>
          <p:cNvPr id="10" name="Shape 8"/>
          <p:cNvSpPr/>
          <p:nvPr/>
        </p:nvSpPr>
        <p:spPr>
          <a:xfrm>
            <a:off x="7526350"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2" name="Text 9"/>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Leggere il nome RV32IMAC</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2364384"/>
                <a:gridCol w="5456270"/>
                <a:gridCol w="200063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Lettera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Che cosa aggiunge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Sull'ESP32-C6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RV32I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insieme intero di base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registri a 32 bit, somma, logica, load e store, salti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moltiplicazione e divisione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 mulh, div, rem e le forme senza segno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atomiche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per la condivisione sicura tra task</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compresse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codifiche a 16 bit delle istruzioni più comuni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singola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da f0 a f31 e istruzioni IEEE 754 a singola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doppia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IEEE 754 a doppia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182940" y="91440"/>
            <a:ext cx="3460115" cy="274320"/>
          </a:xfrm>
          <a:prstGeom prst="rect">
            <a:avLst/>
          </a:prstGeom>
          <a:solidFill>
            <a:srgbClr val="E0F2FE"/>
          </a:solidFill>
          <a:ln w="12700">
            <a:solidFill>
              <a:srgbClr val="0369A1"/>
            </a:solidFill>
            <a:prstDash val="solid"/>
          </a:ln>
        </p:spPr>
      </p:sp>
      <p:sp>
        <p:nvSpPr>
          <p:cNvPr id="5" name="Shape 2"/>
          <p:cNvSpPr/>
          <p:nvPr/>
        </p:nvSpPr>
        <p:spPr>
          <a:xfrm>
            <a:off x="818294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7" name="Text 3"/>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nome RV32IMAC</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codifica con segno mantiene le configurazioni di bit nello stesso ordine dei numeri?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Segno e modulo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Complemento a uno</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Complemento a due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Eccesso 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virgola fissa Q24.8, quale numero reale rappresenta la parola 0x00000180?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384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0,375</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numero reale è la configurazione IEEE 754 a singola precisione 0x40400000?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0,75</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IEEE 754, un campo esponente di tutti uni con frazione di tutti zeri significa: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numero denormalizzato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infinito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3273762"/>
                <a:gridCol w="2546259"/>
                <a:gridCol w="236438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one's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a uno (alla base diminuita)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 / fraction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excess-k (biased)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eccesso-k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exponent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esponente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mobile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hidden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nascosto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single / double precision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singola / doppia precisione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rounding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arrotondamento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 a Number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un numero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Gli interi hanno diverse rappresentazioni: 8, 16, 32 o 64 bit, con o senza segno, complementi o eccesso</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virgola fissa memorizza una frazione come intero scalato: errore assoluto costante, velocità degli interi</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virgola mobile memorizza mantissa ed esponente: intervallo enorme, errore relativo costante</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IEEE 754 è lo standard universale della virgola mobile, con configurazioni speciali per zero, infinito e NaN</a:t>
            </a:r>
            <a:endParaRPr lang="en-US" sz="2000" dirty="0"/>
          </a:p>
        </p:txBody>
      </p:sp>
      <p:sp>
        <p:nvSpPr>
          <p:cNvPr id="11" name="Shape 9"/>
          <p:cNvSpPr/>
          <p:nvPr/>
        </p:nvSpPr>
        <p:spPr>
          <a:xfrm>
            <a:off x="548640" y="459221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0128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Su un processore senza l'estensione F, la virgola fissa è la scelta naturale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paragrafo 3.5</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David Goldberg: What Every Computer Scientist Should Know About Floating-Point Arithmetic</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appendice: The PRG32 Runtime Interface (playfield e parallasse)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Rappresentazione dei numeri: i reali</dc:title>
  <dc:subject>Lezione 06</dc:subject>
  <dc:creator>Raffaele Montella</dc:creator>
  <cp:lastModifiedBy>Raffaele Montella</cp:lastModifiedBy>
  <cp:revision>1</cp:revision>
  <dcterms:created xsi:type="dcterms:W3CDTF">2026-10-16T15:51:38Z</dcterms:created>
  <dcterms:modified xsi:type="dcterms:W3CDTF">2026-10-16T15:51:38Z</dcterms:modified>
</cp:coreProperties>
</file>