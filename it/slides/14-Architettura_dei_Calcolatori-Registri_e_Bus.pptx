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736aeee4-997c-6d4c-4a03-f81e21fcfe5a}">
          <p14:sldIdLst>
            <p14:sldId id="256"/>
            <p14:sldId id="257"/>
          </p14:sldIdLst>
        </p14:section>
        <p14:section name="Porte di parola e registri" id="{3c8f2110-e6c6-de1e-0e58-012d52d8f7d2}">
          <p14:sldIdLst>
            <p14:sldId id="258"/>
            <p14:sldId id="259"/>
          </p14:sldIdLst>
        </p14:section>
        <p14:section name="Bus" id="{8bf34aee-1ba0-7439-cb92-15cae7ac0354}">
          <p14:sldIdLst>
            <p14:sldId id="260"/>
            <p14:sldId id="261"/>
            <p14:sldId id="262"/>
            <p14:sldId id="263"/>
          </p14:sldIdLst>
        </p14:section>
        <p14:section name="Buffer a tre stati" id="{41ffb027-f86b-40c5-db1a-dec168d1ae72}">
          <p14:sldIdLst>
            <p14:sldId id="264"/>
            <p14:sldId id="265"/>
            <p14:sldId id="266"/>
          </p14:sldIdLst>
        </p14:section>
        <p14:section name="Registri a scorrimento" id="{6c0c08dc-fd49-ecb0-5ec0-39be2a634466}">
          <p14:sldIdLst>
            <p14:sldId id="267"/>
            <p14:sldId id="268"/>
            <p14:sldId id="269"/>
            <p14:sldId id="270"/>
            <p14:sldId id="271"/>
          </p14:sldIdLst>
        </p14:section>
        <p14:section name="Ritorno alla macchina" id="{bf72f5e5-8c4e-2d26-99b6-1f73bcb8bc50}">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lezione precedente ha costruito un registro con i flip-flop. Questa si chiede come i registri si parlano: come una parola passa dall'uno all'altro, lungo quali fili, e che cosa accade quando molti registri condividono gli stessi fili. Le risposte sono il bus, il buffer a tre stati e il registro a scorrimento. La battuta di Doc Brown in copertina qui è ironica: ai dati le strade servono, e un bus è esattamente una strada. Il riscaldamento parte da un fatto del kit: il suo display riceve ogni pixel un bit alla volta.
Per il docente: Spirale: il display del kit PRG32 riceve ogni pixel un bit alla volta; il riscaldamento invia un byte in serie in assembly, e la lezione costruisce le macchine che lo fanno in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obiettivi. Descrivere un registro come insieme di flip-flop con un clock comune e un segnale di caricamento. Spiegare che cos'è un bus e confrontare i bus dedicati con un bus comune. Dire perché a un bus comune servono i buffer a tre stati e che cosa significa alta impedenza. Descrivere un registro a scorrimento e le sue quattro combinazioni di ingresso e uscita seriali e paralleli. E convertire un dato da parallelo a seriale e viceversa, in hardware e in assembly.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parola è un vettore di n bit. Una porta di parola sono n porte identiche con un ingresso di controllo comune: con il controllo a 1 la parola passa invariata, con il controllo a 0 ogni bit è forzato a 0. È l'estensione naturale di una porta da un bit a una parola. Le istruzioni bit a bit di RISC-V sono porte di parola larghe trentadue bit, e con esse è costruito il multiplexer su parole della Lezione 11.
Per il docente: In inglese: word gates. Il multiplexer su parole della Lezione 11 è costruito con porte di parola.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registro memorizza un gruppo di bit: nella forma più semplice è un gruppo di flip-flop con un clock comune. L'esempio classico in un solo chip è il 74273, con otto flip-flop D, un clock e un clear. Caricare un registro significa memorizzare il dato presente ai suoi ingressi, e accade quando il segnale di caricamento è attivo, di norma in sincronia con il clock. Ciascuno dei registri da x1 a x31 di RISC-V è fatto di trentadue flip-flop di questo tipo.
Per il docente: Datasheet: ti.com/lit/ds/symlink/sn74ls273.pdf. Il 7474 contiene due flip-flop D con preset e clear. Per il flip-flop si veda la Lezione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bus è l'insieme delle linee che trasporta un dato tra i componenti di un sistema. La parola viene dal latino omnibus, «per tutti». Un bus di n linee trasporta in un passo una parola di n bit. Il trasferimento da un registro X a un registro Y è l'azione elementare da cui si costruisce tutto il resto: quasi ogni istruzione che avete scritto è, sotto sotto, una breve sequenza di trasferimenti tra registri.
Per il docente: Quasi ogni istruzione della Lezione 02 è, in fondo, una sequenza di trasferimenti tra registri.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modi di collegare i registri. Con i bus dedicati ogni possibile trasferimento ha le proprie linee: più trasferimenti possono avvenire insieme, ma i fili crescono con il quadrato del numero di registri. Con un bus comune un solo percorso serve tutti i trasferimenti: ogni volta si scelgono una sorgente e una destinazione, e un trasferimento richiede due passi, dalla sorgente al bus e dal bus alla destinazione. È economico e diffuso, al prezzo di fare un trasferimento alla volta.
Per il docente: Esistono soluzioni intermedie: più bus, ciascuno condiviso da un gruppo di registri. I processori reali le usano.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trasferimento può essere parallelo, con gli n bit che viaggiano insieme su n linee in un passo, oppure seriale, con i bit che viaggiano uno dopo l'altro su una sola linea in n passi, oppure misto, per esempio un byte alla volta. Ricordate l'ultima riga: dentro un chip i bus sono paralleli; tra chip e tra macchine oggi sono quasi sempre seriali, perché ad altissima velocità è più facile tenere pulita una linea che tenere al passo trentadue linee.
Per il docente: USB, SATA, PCI Express, HDMI ed Ethernet sono tutti seriali: ad altissima velocità è più facile tenere pulita una linea veloce che tenere al passo trentadue linee.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due metà di un trasferimento su bus comune. A sinistra, dal bus a un registro: il dato sul bus viene caricato in R quando il segnale di caricamento è attivo. A destra, da un registro al bus: le uscite di R raggiungono il bus attraverso un buffer, e solo finché il segnale di abilitazione è attivo. La domanda in fondo porta alla sezione successiva: quando l'abilitazione non è attiva, che cosa deve essere l'uscita del buffer, per non disturbare il bus?
Per il docente: Trasferimento dati su bus unico: caricamento di un registro (da bus a registro) e trasferimento da registro a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Un'uscita a tre stati ha una terza condizione oltre a 0 e 1: l'alta impedenza, indicata con z, in cui l'uscita è elettricamente scollegata dal filo. Decide un ingresso di abilitazione: quando vale 1 la porta lavora normalmente, quando vale 0 l'uscita è z. La tabella lo mostra per un AND con abilitazione: quattro righe di un AND ordinario, e un'ultima riga in cui l'uscita è flottante quali che siano gli ingressi. Elettricamente, entrambi i transistor dello stadio di uscita sono spenti.
Per il docente: AND tristate; segnale di abilitazione in logica 1-attiva. Elettricamente, entrambi i transistor di uscita sono spenti.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Applicata a un'intera parola, una porta a tre stati lascia passare un bus oppure lo scollega: quando l'abilitazione è attiva il bus di uscita riproduce quello di ingresso; altrimenti tutte le sue linee sono in alta impedenza. I piedini del chip del kit funzionano così: ciascuno può essere configurato come uscita, che pilota il filo, oppure rilasciato e usato come ingresso. I piedini del joystick sono ingressi; quelli del display sono uscite.
Per il docente: Tristate di parola. Sul kit i piedini del joystick sono configurati come ingressi (i loro buffer di uscita in alta impedenza) e quelli del display come uscite.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schema completo di un bus comune. Ogni registro sorgente raggiunge il bus attraverso un buffer a tre stati con la propria abilitazione. La regola è rigida: al più un'abilitazione è attiva alla volta, così una sorgente pilota il bus e tutte le altre sono scollegate. Dall'altro lato ogni registro destinazione è collegato al bus, e prende il dato solo quello il cui segnale di caricamento è attivo. Scegliere sorgente e destinazione è compito dei decodificatori pilotati dall'unità di controllo.
Per il docente: Collegamento di bus: OR di bus; trasferimento verso registri-destinazione. Dentro i chip moderni le lunghe linee condivise sono di solito sostituite da multiplexer, che fanno la stessa selezione senza stati di alta impedenza; tra chip i bus a tre stati restano la regola.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registro a scorrimento è una catena di celle da un bit in cui, a ogni impulso di clock, ogni bit passa alla cella adiacente. Ogni cella è un flip-flop D il cui ingresso è l'uscita della cella vicina. Il comportamento sensibile al fronte del flip-flop è essenziale: con latch trasparenti un bit attraverserebbe l'intera catena durante un solo impulso di clock. Lo scorrimento può avere un verso fisso oppure un verso scelto da una linea di controllo.
Per il docente: In inglese: shift registers. Qui i flip-flop sensibili al fronte sono essenziali: con latch trasparenti un bit attraverserebbe l'intera catena in un solo impulso di clock (Lezione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stessa catena di flip-flop dà quattro macchine, a seconda di dove entrano ed escono i dati. Ingresso seriale, uscita seriale: una linea di ritardo. Ingresso seriale, uscita parallela: raccoglie bit che arrivano uno alla volta e presenta la parola intera. Ingresso parallelo, uscita seriale: prende una parola e la manda fuori bit per bit. Ingresso parallelo, uscita parallela, senza scorrimento, è il registro ordinario. La seconda e la terza sono i due capi di ogni collegamento seriale.
Per il docente: SISO, SIPO, PISO e PIPO. La linea di clock non è disegnata.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modi di spostare una parola tra registri. In un trasferimento seriale l'uscita seriale di un registro a scorrimento alimenta l'ingresso seriale di un altro: n impulsi di clock, un filo. In un trasferimento parallelo le uscite di un registro alimentano gli ingressi di un altro: un impulso di clock, n fili. La frase a destra è il compromesso di tutta la lezione: spostare una parola di n bit costa o tempo o rame.
Per il docente: Trasferimento seriale (ingresso seriale, uscita seriale) e trasferimento parallelo (ingresso parallelo, uscita parallela).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collegamento seriale completo in cinque passi: il dato viene caricato in parallelo in un registro a scorrimento; ne esce, un bit per passo; i bit viaggiano su una sola linea; all'altro capo un secondo registro a scorrimento li raccoglie, uno per passo; e la parola ricostruita viene passata avanti in parallelo. È l'hardware del riscaldamento, ed è così che il display del kit riceve ogni pixel. Ogni standard seriale, dalla vecchia porta seriale a USB, poggia su una coppia di registri a scorrimento.
Per il docente: Trasformazione serie-parallelo di un dato. UART, SPI, I2C, I2S e USB poggiano tutti su una coppia di registri a scorrimento, uno per estremità.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registri di tre bit e un decodificatore fanno una piccola memoria. Due linee di indirizzo scelgono, attraverso il decodificatore, uno dei quattro registri; tre linee portano i dati in ingresso e tre li portano in uscita. La completano tre linee di controllo: chip select, perché la memoria risponda solo quando è selezionata; una linea che dice lettura o scrittura; e output enable, che comanda uscite a tre stati così che più memorie possano condividere un bus. Qui non c'è nulla di nuovo: decodificatore, registri, buffer a tre stati. La prossima lezione lo porta su scala più grande.
Per il docente: Memoria 4 (registri) x 3 (bit): otto ingressi (I0-I2, A0-A1, CS, RD, OE) e tre uscite. La prossima lezione porta questo schema alla scala della memoria centrale.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Pensate a due uscite collegate allo stesso filo, una a 0 e una a 1. Un buffer a tre stati non ha nulla a che vedere con la velocità, con la memorizzazione o con la conversione: scollega le sorgenti che non sono state scelte.
Un bit per impulso di clock. L'alternativa, un trasferimento parallelo, richiederebbe un impulso e trentadue fili.
Per il docente: 1. Risposta: B. Più sorgenti condividono le stesse linee; tutte tranne una devono essere elettricamente scollegate (alta impedenza), altrimenti due uscite si contenderebbero il filo.
2. Risposta: C. Un bit per impulso: n impulsi per n bit. Un trasferimento parallelo richiede un impulso e n fili.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Dieci linee di indirizzo selezionano una parola tra 2 alla 10; ogni parola ha 8 bit. Moltiplicate i due numeri. La prima opzione moltiplica le linee invece di usare la potenza.
Per il docente: Risposta: C. 2^10 = 1024 parole di 8 bit: 8192 bit, cioè 1 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Dieci termini. Three-state, o tri-state, è «a tre stati»; high impedance è l'alta impedenza. Uno shift register è un registro a scorrimento. Load e strobe indicano il segnale che fa prendere a un registro il proprio ingresso. Chip select è la linea che sceglie quale dispositivo su un bus condiviso deve rispondere.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Un registro è una forma di memoria con un modo di funzionare elementare. I registri si leggono e si scrivono attraverso i bus. A un bus comune servono circuiti a tre stati: 0, 1 e scollegato. I dati viaggiano in serie o in parallelo, e i registri a scorrimento convertono tra le due forme. E un decodificatore davanti a un gruppo di registri fa una memoria, che è l'argomento della prossima lezione.
Per il docente: Prossima lezione: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14: Registri e bus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Macchine elementari: registri e bus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800" dirty="0">
                <a:solidFill>
                  <a:srgbClr val="CFE3EA"/>
                </a:solidFill>
                <a:latin typeface="Calibri" pitchFamily="34" charset="0"/>
                <a:ea typeface="Calibri" pitchFamily="34" charset="-122"/>
                <a:cs typeface="Calibri" pitchFamily="34" charset="-120"/>
              </a:rPr>
              <a:t>Porte di parola, registri, bus, buffer a tre stati, trasferimenti seriali e paralleli</a:t>
            </a:r>
            <a:endParaRPr lang="en-US" sz="18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“Strade? Dove stiamo andando non c'è bisogno di strade.”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Dr. Emmett Brown, Ritorno al futuro, Robert Zemeckis, 1985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un registro come insieme di flip-flop con un clock comune, e spiegarne il segnale di caricamento</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cos'è un bus, e confrontare i bus dedicati con un bus comune</a:t>
            </a:r>
            <a:endParaRPr lang="en-US" sz="2200" dirty="0"/>
          </a:p>
        </p:txBody>
      </p:sp>
      <p:sp>
        <p:nvSpPr>
          <p:cNvPr id="7" name="Text 5"/>
          <p:cNvSpPr txBox="1"/>
          <p:nvPr/>
        </p:nvSpPr>
        <p:spPr>
          <a:xfrm>
            <a:off x="548640" y="33507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248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Dire perché a un bus comune servono i buffer a tre stati, e che cosa significa alta impedenza</a:t>
            </a:r>
            <a:endParaRPr lang="en-US" sz="2200" dirty="0"/>
          </a:p>
        </p:txBody>
      </p:sp>
      <p:sp>
        <p:nvSpPr>
          <p:cNvPr id="9" name="Text 7"/>
          <p:cNvSpPr txBox="1"/>
          <p:nvPr/>
        </p:nvSpPr>
        <p:spPr>
          <a:xfrm>
            <a:off x="548640" y="4429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1147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un registro a scorrimento e le sue quattro combinazioni di ingresso e uscita seriali e paralleli</a:t>
            </a:r>
            <a:endParaRPr lang="en-US" sz="2200" dirty="0"/>
          </a:p>
        </p:txBody>
      </p:sp>
      <p:sp>
        <p:nvSpPr>
          <p:cNvPr id="11" name="Text 9"/>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Convertire un dato da parallelo a seriale e viceversa, in hardware e in assembly RISC-V</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Porte di parola</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parola è un vettore V di n bit: V = (v0, v1, ..., v(n-1))</a:t>
            </a:r>
            <a:endParaRPr lang="en-US" sz="2200" dirty="0"/>
          </a:p>
        </p:txBody>
      </p:sp>
      <p:sp>
        <p:nvSpPr>
          <p:cNvPr id="5" name="Shape 3"/>
          <p:cNvSpPr/>
          <p:nvPr/>
        </p:nvSpPr>
        <p:spPr>
          <a:xfrm>
            <a:off x="548640" y="23856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926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porta di parola agisce insieme su tutti i bit di una parola</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Con un segnale di controllo a, la porta di parola calcola a AND v(i) per ogni i</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 = 1: la parola passa invariata; a = 0: ogni bit è forzato a 0</a:t>
            </a:r>
            <a:endParaRPr lang="en-US" sz="2200" dirty="0"/>
          </a:p>
        </p:txBody>
      </p:sp>
      <p:sp>
        <p:nvSpPr>
          <p:cNvPr id="9" name="Shape 7"/>
          <p:cNvSpPr/>
          <p:nvPr/>
        </p:nvSpPr>
        <p:spPr>
          <a:xfrm>
            <a:off x="548640" y="47349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2851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Sono n porte identiche con un ingresso di controllo comune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 istruzioni bit a bit and, or, xor di RISC-V sono porte di parola larghe trentadue bit</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 porte</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una porta per bit, un segnale di controllo per tutte: il mattone di ogni datapath</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registro</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 registro è un dispositivo capace di memorizzare un gruppo di bit</a:t>
            </a:r>
            <a:endParaRPr lang="en-US" sz="2000" dirty="0"/>
          </a:p>
        </p:txBody>
      </p:sp>
      <p:sp>
        <p:nvSpPr>
          <p:cNvPr id="5" name="Shape 3"/>
          <p:cNvSpPr/>
          <p:nvPr/>
        </p:nvSpPr>
        <p:spPr>
          <a:xfrm>
            <a:off x="548640" y="232371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2787"/>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Nella forma più semplice: un gruppo di flip-flop e un segnale di sincronizzazione comune, un clock o un'abilitazione</a:t>
            </a:r>
            <a:endParaRPr lang="en-US" sz="2000" dirty="0"/>
          </a:p>
        </p:txBody>
      </p:sp>
      <p:sp>
        <p:nvSpPr>
          <p:cNvPr id="7" name="Shape 5"/>
          <p:cNvSpPr/>
          <p:nvPr/>
        </p:nvSpPr>
        <p:spPr>
          <a:xfrm>
            <a:off x="548640" y="344906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58134"/>
            <a:ext cx="656539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Esempio: il 74273, un registro a 8 bit in un chip</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otto flip-flop D; un clock e un clear; ingressi da D0 a D7, uscite da Q0 a Q7</a:t>
            </a:r>
            <a:endParaRPr lang="en-US" sz="2000" dirty="0"/>
          </a:p>
        </p:txBody>
      </p:sp>
      <p:sp>
        <p:nvSpPr>
          <p:cNvPr id="9" name="Shape 7"/>
          <p:cNvSpPr/>
          <p:nvPr/>
        </p:nvSpPr>
        <p:spPr>
          <a:xfrm>
            <a:off x="548640" y="45180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27093"/>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Caricare un registro: il dato ai suoi ingressi viene memorizzato quando il segnale di caricamento è attivo, di solito in sincronia con il clock</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RISC-V ciascuno dei registri da x1 a x31 è fatto di trentadue flip-flop di questo tipo</a:t>
            </a:r>
            <a:endParaRPr lang="en-US" sz="2000" dirty="0"/>
          </a:p>
        </p:txBody>
      </p:sp>
      <p:pic>
        <p:nvPicPr>
          <p:cNvPr id="13" name="Image 0" descr="/Users/raffaelemontella/devel/riscv-prg32/computer-architecture-with-prg32/tools/assets/chip_74273.jpg">    </p:cNvPr>
          <p:cNvPicPr>
            <a:picLocks noChangeAspect="1"/>
          </p:cNvPicPr>
          <p:nvPr/>
        </p:nvPicPr>
        <p:blipFill>
          <a:blip r:embed="rId1"/>
          <a:stretch>
            <a:fillRect/>
          </a:stretch>
        </p:blipFill>
        <p:spPr>
          <a:xfrm>
            <a:off x="7863840" y="1978890"/>
            <a:ext cx="3779215" cy="317454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SN74LS273: otto flip-flop D con un clock comune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Trasferimenti di dati e bus</a:t>
            </a:r>
            <a:endParaRPr lang="en-US" sz="3200" dirty="0"/>
          </a:p>
        </p:txBody>
      </p:sp>
      <p:sp>
        <p:nvSpPr>
          <p:cNvPr id="3" name="Shape 1"/>
          <p:cNvSpPr/>
          <p:nvPr/>
        </p:nvSpPr>
        <p:spPr>
          <a:xfrm>
            <a:off x="548640" y="1417320"/>
            <a:ext cx="11094415" cy="1937004"/>
          </a:xfrm>
          <a:prstGeom prst="roundRect">
            <a:avLst>
              <a:gd name="adj" fmla="val 3777"/>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Bus</a:t>
            </a:r>
            <a:endParaRPr lang="en-US" sz="1600" dirty="0"/>
          </a:p>
        </p:txBody>
      </p:sp>
      <p:sp>
        <p:nvSpPr>
          <p:cNvPr id="5" name="Text 3"/>
          <p:cNvSpPr txBox="1"/>
          <p:nvPr/>
        </p:nvSpPr>
        <p:spPr>
          <a:xfrm>
            <a:off x="914400" y="2057400"/>
            <a:ext cx="10362895" cy="1114044"/>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Un canale di comunicazione che permette ai componenti di un sistema elettronico di scambiarsi dati trasmettendo e ricevendo segnali: l'insieme delle linee che trasporta un dato.</a:t>
            </a:r>
            <a:endParaRPr lang="en-US" sz="2300" dirty="0"/>
          </a:p>
        </p:txBody>
      </p:sp>
      <p:sp>
        <p:nvSpPr>
          <p:cNvPr id="6" name="Shape 4"/>
          <p:cNvSpPr/>
          <p:nvPr/>
        </p:nvSpPr>
        <p:spPr>
          <a:xfrm>
            <a:off x="548640" y="3844290"/>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722370"/>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Il trasferimento da un registro X a un registro Y è l'operazione fondamentale dell'architettura di un calcolatore</a:t>
            </a:r>
            <a:endParaRPr lang="en-US" sz="2400" dirty="0"/>
          </a:p>
        </p:txBody>
      </p:sp>
      <p:sp>
        <p:nvSpPr>
          <p:cNvPr id="8" name="Shape 6"/>
          <p:cNvSpPr/>
          <p:nvPr/>
        </p:nvSpPr>
        <p:spPr>
          <a:xfrm>
            <a:off x="548640" y="504520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92328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Il nome è una contrazione del latino omnibus: per tutti</a:t>
            </a:r>
            <a:endParaRPr lang="en-US" sz="2400" dirty="0"/>
          </a:p>
        </p:txBody>
      </p:sp>
      <p:sp>
        <p:nvSpPr>
          <p:cNvPr id="10" name="Shape 8"/>
          <p:cNvSpPr/>
          <p:nvPr/>
        </p:nvSpPr>
        <p:spPr>
          <a:xfrm>
            <a:off x="548640" y="587425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752338"/>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 bus di n linee trasporta in un passo una parola di n bit</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Due soluzioni tecniche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Bus dedicati</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Un insieme di linee per ogni possibile trasferimento</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Più trasferimenti possono avvenire insieme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Efficienti ma costosi: i fili crescono con il quadrato del numero di registri</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Bus comune</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Un unico percorso raccoglie molti trasferimenti potenziali</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Ogni volta si scelgono una sorgente e una destinazione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Un trasferimento richiede due passi: da sorgente a bus, da bus a destinazione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Economico e diffuso; meno efficiente, perché i trasferimenti non possono essere simultanei</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Trasferimenti paralleli, seriali e misti</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Parallelo: gli n bit della parola viaggiano insieme su n linee, in un passo</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Seriale: i bit viaggiano uno dopo l'altro su una sola linea, in n passi</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Misto: per esempio seriale sul byte: otto linee portano un byte alla volta</a:t>
            </a:r>
            <a:endParaRPr lang="en-US" sz="2200" dirty="0"/>
          </a:p>
        </p:txBody>
      </p:sp>
      <p:sp>
        <p:nvSpPr>
          <p:cNvPr id="9" name="Shape 7"/>
          <p:cNvSpPr/>
          <p:nvPr/>
        </p:nvSpPr>
        <p:spPr>
          <a:xfrm>
            <a:off x="548640" y="432295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16527"/>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Accedere a un bus significa leggerlo o scriverlo; i bus hanno dimensioni fisiche molto diverse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Dentro un chip i bus sono paralleli; tra chip e tra macchine oggi sono quasi sempre seriali</a:t>
            </a:r>
            <a:endParaRPr lang="en-US" sz="2200" dirty="0"/>
          </a:p>
        </p:txBody>
      </p:sp>
      <p:pic>
        <p:nvPicPr>
          <p:cNvPr id="13" name="Image 0" descr="/Users/raffaelemontella/devel/riscv-prg32/computer-architecture-with-prg32/tools/assets/pcb.jpg">    </p:cNvPr>
          <p:cNvPicPr>
            <a:picLocks noChangeAspect="1"/>
          </p:cNvPicPr>
          <p:nvPr/>
        </p:nvPicPr>
        <p:blipFill>
          <a:blip r:embed="rId1"/>
          <a:stretch>
            <a:fillRect/>
          </a:stretch>
        </p:blipFill>
        <p:spPr>
          <a:xfrm>
            <a:off x="7863840" y="2230837"/>
            <a:ext cx="3779215" cy="2670645"/>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Linee di bus su un circuito stampato</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 bus a registro, e da registro a bus</a:t>
            </a:r>
            <a:endParaRPr lang="en-US" sz="3200" dirty="0"/>
          </a:p>
        </p:txBody>
      </p:sp>
      <p:sp>
        <p:nvSpPr>
          <p:cNvPr id="3" name="Shape 1"/>
          <p:cNvSpPr/>
          <p:nvPr/>
        </p:nvSpPr>
        <p:spPr>
          <a:xfrm>
            <a:off x="822960" y="1874520"/>
            <a:ext cx="4937760" cy="0"/>
          </a:xfrm>
          <a:prstGeom prst="line">
            <a:avLst/>
          </a:prstGeom>
          <a:noFill/>
          <a:ln w="76200">
            <a:solidFill>
              <a:srgbClr val="C7791B"/>
            </a:solidFill>
            <a:prstDash val="solid"/>
          </a:ln>
        </p:spPr>
      </p:sp>
      <p:sp>
        <p:nvSpPr>
          <p:cNvPr id="4" name="Text 2"/>
          <p:cNvSpPr txBox="1"/>
          <p:nvPr/>
        </p:nvSpPr>
        <p:spPr>
          <a:xfrm>
            <a:off x="822960" y="1463040"/>
            <a:ext cx="1828800" cy="274320"/>
          </a:xfrm>
          <a:prstGeom prst="rect">
            <a:avLst/>
          </a:prstGeom>
          <a:noFill/>
          <a:ln/>
        </p:spPr>
        <p:txBody>
          <a:bodyPr wrap="square" lIns="0" tIns="0" rIns="0" bIns="0" rtlCol="0" anchor="t"/>
          <a:lstStyle/>
          <a:p>
            <a:pPr indent="0" marL="0">
              <a:buNone/>
            </a:pPr>
            <a:r>
              <a:rPr lang="en-US" sz="1500" b="1" dirty="0">
                <a:solidFill>
                  <a:srgbClr val="C7791B"/>
                </a:solidFill>
                <a:latin typeface="Calibri" pitchFamily="34" charset="0"/>
                <a:ea typeface="Calibri" pitchFamily="34" charset="-122"/>
                <a:cs typeface="Calibri" pitchFamily="34" charset="-120"/>
              </a:rPr>
              <a:t>bus A</a:t>
            </a:r>
            <a:endParaRPr lang="en-US" sz="1500" dirty="0"/>
          </a:p>
        </p:txBody>
      </p:sp>
      <p:sp>
        <p:nvSpPr>
          <p:cNvPr id="5" name="Text 3"/>
          <p:cNvSpPr txBox="1"/>
          <p:nvPr/>
        </p:nvSpPr>
        <p:spPr>
          <a:xfrm>
            <a:off x="2103120" y="3063240"/>
            <a:ext cx="219456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registro R</a:t>
            </a:r>
            <a:endParaRPr lang="en-US" sz="1600" dirty="0"/>
          </a:p>
        </p:txBody>
      </p:sp>
      <p:sp>
        <p:nvSpPr>
          <p:cNvPr id="6" name="Shape 4"/>
          <p:cNvSpPr/>
          <p:nvPr/>
        </p:nvSpPr>
        <p:spPr>
          <a:xfrm>
            <a:off x="3200400" y="1920240"/>
            <a:ext cx="0" cy="1115568"/>
          </a:xfrm>
          <a:prstGeom prst="line">
            <a:avLst/>
          </a:prstGeom>
          <a:noFill/>
          <a:ln w="31750">
            <a:solidFill>
              <a:srgbClr val="5B6B78"/>
            </a:solidFill>
            <a:prstDash val="solid"/>
            <a:tailEnd type="triangle"/>
          </a:ln>
        </p:spPr>
      </p:sp>
      <p:sp>
        <p:nvSpPr>
          <p:cNvPr id="7" name="Shape 5"/>
          <p:cNvSpPr/>
          <p:nvPr/>
        </p:nvSpPr>
        <p:spPr>
          <a:xfrm>
            <a:off x="1097280" y="3474720"/>
            <a:ext cx="978408" cy="0"/>
          </a:xfrm>
          <a:prstGeom prst="line">
            <a:avLst/>
          </a:prstGeom>
          <a:noFill/>
          <a:ln w="28575">
            <a:solidFill>
              <a:srgbClr val="B23A48"/>
            </a:solidFill>
            <a:prstDash val="solid"/>
            <a:tailEnd type="triangle"/>
          </a:ln>
        </p:spPr>
      </p:sp>
      <p:sp>
        <p:nvSpPr>
          <p:cNvPr id="8" name="Text 6"/>
          <p:cNvSpPr txBox="1"/>
          <p:nvPr/>
        </p:nvSpPr>
        <p:spPr>
          <a:xfrm>
            <a:off x="548640" y="3108960"/>
            <a:ext cx="118872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load c</a:t>
            </a:r>
            <a:endParaRPr lang="en-US" sz="1400" dirty="0"/>
          </a:p>
        </p:txBody>
      </p:sp>
      <p:sp>
        <p:nvSpPr>
          <p:cNvPr id="9" name="Text 7"/>
          <p:cNvSpPr txBox="1"/>
          <p:nvPr/>
        </p:nvSpPr>
        <p:spPr>
          <a:xfrm>
            <a:off x="548640" y="4251960"/>
            <a:ext cx="5303520" cy="1097280"/>
          </a:xfrm>
          <a:prstGeom prst="rect">
            <a:avLst/>
          </a:prstGeom>
          <a:noFill/>
          <a:ln/>
        </p:spPr>
        <p:txBody>
          <a:bodyPr wrap="square" lIns="0" tIns="0" rIns="0" bIns="0" rtlCol="0" anchor="t"/>
          <a:lstStyle/>
          <a:p>
            <a:pPr indent="0" marL="0">
              <a:buNone/>
            </a:pPr>
            <a:r>
              <a:rPr lang="en-US" sz="1550" dirty="0">
                <a:solidFill>
                  <a:srgbClr val="1B2530"/>
                </a:solidFill>
                <a:latin typeface="Calibri" pitchFamily="34" charset="0"/>
                <a:ea typeface="Calibri" pitchFamily="34" charset="-122"/>
                <a:cs typeface="Calibri" pitchFamily="34" charset="-120"/>
              </a:rPr>
              <a:t>Da bus a registro: il dato viene caricato in R quando è attivo il segnale di caricamento c (uno strobe, di solito in sincronia con il clock).</a:t>
            </a:r>
            <a:endParaRPr lang="en-US" sz="1550" dirty="0"/>
          </a:p>
        </p:txBody>
      </p:sp>
      <p:sp>
        <p:nvSpPr>
          <p:cNvPr id="10" name="Shape 8"/>
          <p:cNvSpPr/>
          <p:nvPr/>
        </p:nvSpPr>
        <p:spPr>
          <a:xfrm>
            <a:off x="6400800" y="1874520"/>
            <a:ext cx="5242255" cy="0"/>
          </a:xfrm>
          <a:prstGeom prst="line">
            <a:avLst/>
          </a:prstGeom>
          <a:noFill/>
          <a:ln w="76200">
            <a:solidFill>
              <a:srgbClr val="C7791B"/>
            </a:solidFill>
            <a:prstDash val="solid"/>
          </a:ln>
        </p:spPr>
      </p:sp>
      <p:sp>
        <p:nvSpPr>
          <p:cNvPr id="11" name="Text 9"/>
          <p:cNvSpPr txBox="1"/>
          <p:nvPr/>
        </p:nvSpPr>
        <p:spPr>
          <a:xfrm>
            <a:off x="6400800" y="1463040"/>
            <a:ext cx="1828800" cy="274320"/>
          </a:xfrm>
          <a:prstGeom prst="rect">
            <a:avLst/>
          </a:prstGeom>
          <a:noFill/>
          <a:ln/>
        </p:spPr>
        <p:txBody>
          <a:bodyPr wrap="square" lIns="0" tIns="0" rIns="0" bIns="0" rtlCol="0" anchor="t"/>
          <a:lstStyle/>
          <a:p>
            <a:pPr indent="0" marL="0">
              <a:buNone/>
            </a:pPr>
            <a:r>
              <a:rPr lang="en-US" sz="1500" b="1" dirty="0">
                <a:solidFill>
                  <a:srgbClr val="C7791B"/>
                </a:solidFill>
                <a:latin typeface="Calibri" pitchFamily="34" charset="0"/>
                <a:ea typeface="Calibri" pitchFamily="34" charset="-122"/>
                <a:cs typeface="Calibri" pitchFamily="34" charset="-120"/>
              </a:rPr>
              <a:t>bus A</a:t>
            </a:r>
            <a:endParaRPr lang="en-US" sz="1500" dirty="0"/>
          </a:p>
        </p:txBody>
      </p:sp>
      <p:sp>
        <p:nvSpPr>
          <p:cNvPr id="12" name="Text 10"/>
          <p:cNvSpPr txBox="1"/>
          <p:nvPr/>
        </p:nvSpPr>
        <p:spPr>
          <a:xfrm>
            <a:off x="7863840" y="3611880"/>
            <a:ext cx="219456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registro R</a:t>
            </a:r>
            <a:endParaRPr lang="en-US" sz="1600" dirty="0"/>
          </a:p>
        </p:txBody>
      </p:sp>
      <p:sp>
        <p:nvSpPr>
          <p:cNvPr id="13" name="Text 11"/>
          <p:cNvSpPr txBox="1"/>
          <p:nvPr/>
        </p:nvSpPr>
        <p:spPr>
          <a:xfrm>
            <a:off x="8412480" y="2560320"/>
            <a:ext cx="1097280" cy="502920"/>
          </a:xfrm>
          <a:prstGeom prst="roundRect">
            <a:avLst>
              <a:gd name="adj" fmla="val 10909"/>
            </a:avLst>
          </a:prstGeom>
          <a:solidFill>
            <a:srgbClr val="6B4FA0"/>
          </a:solidFill>
          <a:ln>
            <a:solidFill>
              <a:srgbClr val="6B4FA0"/>
            </a:solid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buffer</a:t>
            </a:r>
            <a:endParaRPr lang="en-US" sz="1300" dirty="0"/>
          </a:p>
        </p:txBody>
      </p:sp>
      <p:sp>
        <p:nvSpPr>
          <p:cNvPr id="14" name="Shape 12"/>
          <p:cNvSpPr/>
          <p:nvPr/>
        </p:nvSpPr>
        <p:spPr>
          <a:xfrm flipV="1">
            <a:off x="8961120" y="3090672"/>
            <a:ext cx="0" cy="493776"/>
          </a:xfrm>
          <a:prstGeom prst="line">
            <a:avLst/>
          </a:prstGeom>
          <a:noFill/>
          <a:ln w="31750">
            <a:solidFill>
              <a:srgbClr val="5B6B78"/>
            </a:solidFill>
            <a:prstDash val="solid"/>
            <a:tailEnd type="triangle"/>
          </a:ln>
        </p:spPr>
      </p:sp>
      <p:sp>
        <p:nvSpPr>
          <p:cNvPr id="15" name="Shape 13"/>
          <p:cNvSpPr/>
          <p:nvPr/>
        </p:nvSpPr>
        <p:spPr>
          <a:xfrm flipV="1">
            <a:off x="8961120" y="1920240"/>
            <a:ext cx="0" cy="612648"/>
          </a:xfrm>
          <a:prstGeom prst="line">
            <a:avLst/>
          </a:prstGeom>
          <a:noFill/>
          <a:ln w="31750">
            <a:solidFill>
              <a:srgbClr val="5B6B78"/>
            </a:solidFill>
            <a:prstDash val="solid"/>
            <a:tailEnd type="triangle"/>
          </a:ln>
        </p:spPr>
      </p:sp>
      <p:sp>
        <p:nvSpPr>
          <p:cNvPr id="16" name="Shape 14"/>
          <p:cNvSpPr/>
          <p:nvPr/>
        </p:nvSpPr>
        <p:spPr>
          <a:xfrm>
            <a:off x="7040880" y="2807208"/>
            <a:ext cx="1344168" cy="0"/>
          </a:xfrm>
          <a:prstGeom prst="line">
            <a:avLst/>
          </a:prstGeom>
          <a:noFill/>
          <a:ln w="28575">
            <a:solidFill>
              <a:srgbClr val="B23A48"/>
            </a:solidFill>
            <a:prstDash val="solid"/>
            <a:tailEnd type="triangle"/>
          </a:ln>
        </p:spPr>
      </p:sp>
      <p:sp>
        <p:nvSpPr>
          <p:cNvPr id="17" name="Text 15"/>
          <p:cNvSpPr txBox="1"/>
          <p:nvPr/>
        </p:nvSpPr>
        <p:spPr>
          <a:xfrm>
            <a:off x="6309360" y="2441448"/>
            <a:ext cx="146304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enable c</a:t>
            </a:r>
            <a:endParaRPr lang="en-US" sz="1400" dirty="0"/>
          </a:p>
        </p:txBody>
      </p:sp>
      <p:sp>
        <p:nvSpPr>
          <p:cNvPr id="18" name="Text 16"/>
          <p:cNvSpPr txBox="1"/>
          <p:nvPr/>
        </p:nvSpPr>
        <p:spPr>
          <a:xfrm>
            <a:off x="6400800" y="4709160"/>
            <a:ext cx="5242255" cy="1097280"/>
          </a:xfrm>
          <a:prstGeom prst="rect">
            <a:avLst/>
          </a:prstGeom>
          <a:noFill/>
          <a:ln/>
        </p:spPr>
        <p:txBody>
          <a:bodyPr wrap="square" lIns="0" tIns="0" rIns="0" bIns="0" rtlCol="0" anchor="t"/>
          <a:lstStyle/>
          <a:p>
            <a:pPr indent="0" marL="0">
              <a:buNone/>
            </a:pPr>
            <a:r>
              <a:rPr lang="en-US" sz="1550" dirty="0">
                <a:solidFill>
                  <a:srgbClr val="1B2530"/>
                </a:solidFill>
                <a:latin typeface="Calibri" pitchFamily="34" charset="0"/>
                <a:ea typeface="Calibri" pitchFamily="34" charset="-122"/>
                <a:cs typeface="Calibri" pitchFamily="34" charset="-120"/>
              </a:rPr>
              <a:t>Da registro a bus: le uscite di R raggiungono il bus solo finché è attivo il segnale di abilitazione c. E quando non lo è, che cosa succede al bus?</a:t>
            </a:r>
            <a:endParaRPr lang="en-US" sz="15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porta a tre stati</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01675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Se due registri pilotassero lo stesso filo, uno con 0 e uno con 1, il risultato sarebbe un cortocircuito</a:t>
            </a:r>
            <a:endParaRPr lang="en-US" sz="2000" dirty="0"/>
          </a:p>
        </p:txBody>
      </p:sp>
      <p:sp>
        <p:nvSpPr>
          <p:cNvPr id="5" name="Shape 3"/>
          <p:cNvSpPr/>
          <p:nvPr/>
        </p:nvSpPr>
        <p:spPr>
          <a:xfrm>
            <a:off x="548640" y="269697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06040"/>
            <a:ext cx="601675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Un'uscita a tre stati ha una terza condizione oltre a 0 e 1: l'alta impedenza, indicata con z</a:t>
            </a:r>
            <a:endParaRPr lang="en-US" sz="2000" dirty="0"/>
          </a:p>
        </p:txBody>
      </p:sp>
      <p:sp>
        <p:nvSpPr>
          <p:cNvPr id="7" name="Shape 5"/>
          <p:cNvSpPr/>
          <p:nvPr/>
        </p:nvSpPr>
        <p:spPr>
          <a:xfrm>
            <a:off x="548640" y="357581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84880"/>
            <a:ext cx="601675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alta impedenza l'uscita è elettricamente scollegata: non pilota il filo e non lo carica</a:t>
            </a:r>
            <a:endParaRPr lang="en-US" sz="2000" dirty="0"/>
          </a:p>
        </p:txBody>
      </p:sp>
      <p:sp>
        <p:nvSpPr>
          <p:cNvPr id="9" name="Shape 7"/>
          <p:cNvSpPr/>
          <p:nvPr/>
        </p:nvSpPr>
        <p:spPr>
          <a:xfrm>
            <a:off x="548640" y="44546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63720"/>
            <a:ext cx="601675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Decide un segnale di abilitazione a: con a = 1 la porta lavora normalmente, con a = 0 l'uscita è z</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01675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È la tecnica più diffusa per collegare più registri sorgente a un bus comune</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114800" cy="914400"/>
        </p:xfrm>
        <a:graphic>
          <a:graphicData uri="http://schemas.openxmlformats.org/drawingml/2006/table">
            <a:tbl>
              <a:tblPr/>
              <a:tblGrid>
                <a:gridCol w="914400"/>
                <a:gridCol w="914400"/>
                <a:gridCol w="914400"/>
                <a:gridCol w="1371600"/>
              </a:tblGrid>
              <a:tr h="420624">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y</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uscita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20624">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qualsiasi</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qualsiasi</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z</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14" name="Text 11"/>
          <p:cNvSpPr txBox="1"/>
          <p:nvPr/>
        </p:nvSpPr>
        <p:spPr>
          <a:xfrm>
            <a:off x="7498080" y="4160520"/>
            <a:ext cx="4114800" cy="109728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Un AND a tre stati con abilitazione attiva alta: con a = 1 è un normale AND; con a = 0 la sua uscita è flottante.</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Abilitare un bus</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Una porta di parola a tre stati tra un segnale di abilitazione a e un bus X dà un bus Y</a:t>
            </a:r>
            <a:endParaRPr lang="en-US" sz="2300" dirty="0"/>
          </a:p>
        </p:txBody>
      </p:sp>
      <p:sp>
        <p:nvSpPr>
          <p:cNvPr id="5" name="Shape 3"/>
          <p:cNvSpPr/>
          <p:nvPr/>
        </p:nvSpPr>
        <p:spPr>
          <a:xfrm>
            <a:off x="548640" y="276009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45918"/>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Y riproduce X se a è attivo; altrimenti tutte le sue linee sono in alta impedenza: Y assume il valore neutro</a:t>
            </a:r>
            <a:endParaRPr lang="en-US" sz="2300" dirty="0"/>
          </a:p>
        </p:txBody>
      </p:sp>
      <p:sp>
        <p:nvSpPr>
          <p:cNvPr id="7" name="Shape 5"/>
          <p:cNvSpPr/>
          <p:nvPr/>
        </p:nvSpPr>
        <p:spPr>
          <a:xfrm>
            <a:off x="548640" y="398868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74516"/>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Si dice che Y è sostenuto da un buffer a tre stati</a:t>
            </a:r>
            <a:endParaRPr lang="en-US" sz="2300" dirty="0"/>
          </a:p>
        </p:txBody>
      </p:sp>
      <p:sp>
        <p:nvSpPr>
          <p:cNvPr id="9" name="Shape 7"/>
          <p:cNvSpPr/>
          <p:nvPr/>
        </p:nvSpPr>
        <p:spPr>
          <a:xfrm>
            <a:off x="548640" y="48609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46752"/>
            <a:ext cx="6565392" cy="142544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 piedini GPIO dell'ESP32-C6 funzionano così: ogni piedino può essere un'uscita, oppure essere rilasciato e usato come ingresso</a:t>
            </a:r>
            <a:endParaRPr lang="en-US" sz="23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 1, z</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tre stati: basso, alto e scollegato</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Collegare i bus: l'OR di bus</a:t>
            </a:r>
            <a:endParaRPr lang="en-US" sz="3200" dirty="0"/>
          </a:p>
        </p:txBody>
      </p:sp>
      <p:sp>
        <p:nvSpPr>
          <p:cNvPr id="3" name="Text 1"/>
          <p:cNvSpPr txBox="1"/>
          <p:nvPr/>
        </p:nvSpPr>
        <p:spPr>
          <a:xfrm>
            <a:off x="73152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registro A</a:t>
            </a:r>
            <a:endParaRPr lang="en-US" sz="1400" dirty="0"/>
          </a:p>
        </p:txBody>
      </p:sp>
      <p:sp>
        <p:nvSpPr>
          <p:cNvPr id="4" name="Text 2"/>
          <p:cNvSpPr txBox="1"/>
          <p:nvPr/>
        </p:nvSpPr>
        <p:spPr>
          <a:xfrm>
            <a:off x="105156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stati</a:t>
            </a:r>
            <a:endParaRPr lang="en-US" sz="1250" dirty="0"/>
          </a:p>
        </p:txBody>
      </p:sp>
      <p:sp>
        <p:nvSpPr>
          <p:cNvPr id="5" name="Shape 3"/>
          <p:cNvSpPr/>
          <p:nvPr/>
        </p:nvSpPr>
        <p:spPr>
          <a:xfrm>
            <a:off x="1554480" y="2359152"/>
            <a:ext cx="0" cy="356616"/>
          </a:xfrm>
          <a:prstGeom prst="line">
            <a:avLst/>
          </a:prstGeom>
          <a:noFill/>
          <a:ln w="25400">
            <a:solidFill>
              <a:srgbClr val="5B6B78"/>
            </a:solidFill>
            <a:prstDash val="solid"/>
            <a:tailEnd type="triangle"/>
          </a:ln>
        </p:spPr>
      </p:sp>
      <p:sp>
        <p:nvSpPr>
          <p:cNvPr id="6" name="Shape 4"/>
          <p:cNvSpPr/>
          <p:nvPr/>
        </p:nvSpPr>
        <p:spPr>
          <a:xfrm>
            <a:off x="1554480" y="3227832"/>
            <a:ext cx="0" cy="704088"/>
          </a:xfrm>
          <a:prstGeom prst="line">
            <a:avLst/>
          </a:prstGeom>
          <a:noFill/>
          <a:ln w="25400">
            <a:solidFill>
              <a:srgbClr val="5B6B78"/>
            </a:solidFill>
            <a:prstDash val="solid"/>
            <a:tailEnd type="triangle"/>
          </a:ln>
        </p:spPr>
      </p:sp>
      <p:sp>
        <p:nvSpPr>
          <p:cNvPr id="7" name="Text 5"/>
          <p:cNvSpPr txBox="1"/>
          <p:nvPr/>
        </p:nvSpPr>
        <p:spPr>
          <a:xfrm>
            <a:off x="50292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α</a:t>
            </a:r>
            <a:endParaRPr lang="en-US" sz="1200" dirty="0"/>
          </a:p>
        </p:txBody>
      </p:sp>
      <p:sp>
        <p:nvSpPr>
          <p:cNvPr id="8" name="Text 6"/>
          <p:cNvSpPr txBox="1"/>
          <p:nvPr/>
        </p:nvSpPr>
        <p:spPr>
          <a:xfrm>
            <a:off x="274320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registro B</a:t>
            </a:r>
            <a:endParaRPr lang="en-US" sz="1400" dirty="0"/>
          </a:p>
        </p:txBody>
      </p:sp>
      <p:sp>
        <p:nvSpPr>
          <p:cNvPr id="9" name="Text 7"/>
          <p:cNvSpPr txBox="1"/>
          <p:nvPr/>
        </p:nvSpPr>
        <p:spPr>
          <a:xfrm>
            <a:off x="306324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stati</a:t>
            </a:r>
            <a:endParaRPr lang="en-US" sz="1250" dirty="0"/>
          </a:p>
        </p:txBody>
      </p:sp>
      <p:sp>
        <p:nvSpPr>
          <p:cNvPr id="10" name="Shape 8"/>
          <p:cNvSpPr/>
          <p:nvPr/>
        </p:nvSpPr>
        <p:spPr>
          <a:xfrm>
            <a:off x="3566160" y="2359152"/>
            <a:ext cx="0" cy="356616"/>
          </a:xfrm>
          <a:prstGeom prst="line">
            <a:avLst/>
          </a:prstGeom>
          <a:noFill/>
          <a:ln w="25400">
            <a:solidFill>
              <a:srgbClr val="5B6B78"/>
            </a:solidFill>
            <a:prstDash val="solid"/>
            <a:tailEnd type="triangle"/>
          </a:ln>
        </p:spPr>
      </p:sp>
      <p:sp>
        <p:nvSpPr>
          <p:cNvPr id="11" name="Shape 9"/>
          <p:cNvSpPr/>
          <p:nvPr/>
        </p:nvSpPr>
        <p:spPr>
          <a:xfrm>
            <a:off x="3566160" y="3227832"/>
            <a:ext cx="0" cy="704088"/>
          </a:xfrm>
          <a:prstGeom prst="line">
            <a:avLst/>
          </a:prstGeom>
          <a:noFill/>
          <a:ln w="25400">
            <a:solidFill>
              <a:srgbClr val="5B6B78"/>
            </a:solidFill>
            <a:prstDash val="solid"/>
            <a:tailEnd type="triangle"/>
          </a:ln>
        </p:spPr>
      </p:sp>
      <p:sp>
        <p:nvSpPr>
          <p:cNvPr id="12" name="Text 10"/>
          <p:cNvSpPr txBox="1"/>
          <p:nvPr/>
        </p:nvSpPr>
        <p:spPr>
          <a:xfrm>
            <a:off x="251460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β</a:t>
            </a:r>
            <a:endParaRPr lang="en-US" sz="1200" dirty="0"/>
          </a:p>
        </p:txBody>
      </p:sp>
      <p:sp>
        <p:nvSpPr>
          <p:cNvPr id="13" name="Text 11"/>
          <p:cNvSpPr txBox="1"/>
          <p:nvPr/>
        </p:nvSpPr>
        <p:spPr>
          <a:xfrm>
            <a:off x="4754880" y="1600200"/>
            <a:ext cx="164592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registro X</a:t>
            </a:r>
            <a:endParaRPr lang="en-US" sz="1400" dirty="0"/>
          </a:p>
        </p:txBody>
      </p:sp>
      <p:sp>
        <p:nvSpPr>
          <p:cNvPr id="14" name="Text 12"/>
          <p:cNvSpPr txBox="1"/>
          <p:nvPr/>
        </p:nvSpPr>
        <p:spPr>
          <a:xfrm>
            <a:off x="5074920" y="2743200"/>
            <a:ext cx="100584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stati</a:t>
            </a:r>
            <a:endParaRPr lang="en-US" sz="1250" dirty="0"/>
          </a:p>
        </p:txBody>
      </p:sp>
      <p:sp>
        <p:nvSpPr>
          <p:cNvPr id="15" name="Shape 13"/>
          <p:cNvSpPr/>
          <p:nvPr/>
        </p:nvSpPr>
        <p:spPr>
          <a:xfrm>
            <a:off x="5577840" y="2359152"/>
            <a:ext cx="0" cy="356616"/>
          </a:xfrm>
          <a:prstGeom prst="line">
            <a:avLst/>
          </a:prstGeom>
          <a:noFill/>
          <a:ln w="25400">
            <a:solidFill>
              <a:srgbClr val="5B6B78"/>
            </a:solidFill>
            <a:prstDash val="solid"/>
            <a:tailEnd type="triangle"/>
          </a:ln>
        </p:spPr>
      </p:sp>
      <p:sp>
        <p:nvSpPr>
          <p:cNvPr id="16" name="Shape 14"/>
          <p:cNvSpPr/>
          <p:nvPr/>
        </p:nvSpPr>
        <p:spPr>
          <a:xfrm>
            <a:off x="5577840" y="3227832"/>
            <a:ext cx="0" cy="704088"/>
          </a:xfrm>
          <a:prstGeom prst="line">
            <a:avLst/>
          </a:prstGeom>
          <a:noFill/>
          <a:ln w="25400">
            <a:solidFill>
              <a:srgbClr val="5B6B78"/>
            </a:solidFill>
            <a:prstDash val="solid"/>
            <a:tailEnd type="triangle"/>
          </a:ln>
        </p:spPr>
      </p:sp>
      <p:sp>
        <p:nvSpPr>
          <p:cNvPr id="17" name="Text 15"/>
          <p:cNvSpPr txBox="1"/>
          <p:nvPr/>
        </p:nvSpPr>
        <p:spPr>
          <a:xfrm>
            <a:off x="4526280" y="3291840"/>
            <a:ext cx="1005840" cy="274320"/>
          </a:xfrm>
          <a:prstGeom prst="rect">
            <a:avLst/>
          </a:prstGeom>
          <a:noFill/>
          <a:ln/>
        </p:spPr>
        <p:txBody>
          <a:bodyPr wrap="square" lIns="0" tIns="0" rIns="0" bIns="0" rtlCol="0" anchor="t"/>
          <a:lstStyle/>
          <a:p>
            <a:pPr indent="0" marL="0">
              <a:buNone/>
            </a:pPr>
            <a:r>
              <a:rPr lang="en-US" sz="1200" b="1" dirty="0">
                <a:solidFill>
                  <a:srgbClr val="B23A48"/>
                </a:solidFill>
                <a:latin typeface="Calibri" pitchFamily="34" charset="0"/>
                <a:ea typeface="Calibri" pitchFamily="34" charset="-122"/>
                <a:cs typeface="Calibri" pitchFamily="34" charset="-120"/>
              </a:rPr>
              <a:t>enable ξ</a:t>
            </a:r>
            <a:endParaRPr lang="en-US" sz="1200" dirty="0"/>
          </a:p>
        </p:txBody>
      </p:sp>
      <p:sp>
        <p:nvSpPr>
          <p:cNvPr id="18" name="Shape 16"/>
          <p:cNvSpPr/>
          <p:nvPr/>
        </p:nvSpPr>
        <p:spPr>
          <a:xfrm>
            <a:off x="548640" y="3977640"/>
            <a:ext cx="5852160" cy="0"/>
          </a:xfrm>
          <a:prstGeom prst="line">
            <a:avLst/>
          </a:prstGeom>
          <a:noFill/>
          <a:ln w="76200">
            <a:solidFill>
              <a:srgbClr val="C7791B"/>
            </a:solidFill>
            <a:prstDash val="solid"/>
          </a:ln>
        </p:spPr>
      </p:sp>
      <p:sp>
        <p:nvSpPr>
          <p:cNvPr id="19" name="Text 17"/>
          <p:cNvSpPr txBox="1"/>
          <p:nvPr/>
        </p:nvSpPr>
        <p:spPr>
          <a:xfrm>
            <a:off x="4480560" y="4069080"/>
            <a:ext cx="2011680" cy="274320"/>
          </a:xfrm>
          <a:prstGeom prst="rect">
            <a:avLst/>
          </a:prstGeom>
          <a:noFill/>
          <a:ln/>
        </p:spPr>
        <p:txBody>
          <a:bodyPr wrap="square" lIns="0" tIns="0" rIns="0" bIns="0" rtlCol="0" anchor="t"/>
          <a:lstStyle/>
          <a:p>
            <a:pPr indent="0" marL="0">
              <a:buNone/>
            </a:pPr>
            <a:r>
              <a:rPr lang="en-US" sz="1400" b="1" dirty="0">
                <a:solidFill>
                  <a:srgbClr val="C7791B"/>
                </a:solidFill>
                <a:latin typeface="Calibri" pitchFamily="34" charset="0"/>
                <a:ea typeface="Calibri" pitchFamily="34" charset="-122"/>
                <a:cs typeface="Calibri" pitchFamily="34" charset="-120"/>
              </a:rPr>
              <a:t>bus comune Y</a:t>
            </a:r>
            <a:endParaRPr lang="en-US" sz="1400" dirty="0"/>
          </a:p>
        </p:txBody>
      </p:sp>
      <p:sp>
        <p:nvSpPr>
          <p:cNvPr id="20" name="Text 18"/>
          <p:cNvSpPr txBox="1"/>
          <p:nvPr/>
        </p:nvSpPr>
        <p:spPr>
          <a:xfrm>
            <a:off x="2194560" y="4800600"/>
            <a:ext cx="2011680" cy="822960"/>
          </a:xfrm>
          <a:prstGeom prst="roundRect">
            <a:avLst>
              <a:gd name="adj" fmla="val 6667"/>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registri</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destinazione</a:t>
            </a:r>
            <a:endParaRPr lang="en-US" sz="1400" dirty="0"/>
          </a:p>
        </p:txBody>
      </p:sp>
      <p:sp>
        <p:nvSpPr>
          <p:cNvPr id="21" name="Shape 19"/>
          <p:cNvSpPr/>
          <p:nvPr/>
        </p:nvSpPr>
        <p:spPr>
          <a:xfrm>
            <a:off x="3200400" y="4023360"/>
            <a:ext cx="0" cy="749808"/>
          </a:xfrm>
          <a:prstGeom prst="line">
            <a:avLst/>
          </a:prstGeom>
          <a:noFill/>
          <a:ln w="25400">
            <a:solidFill>
              <a:srgbClr val="5B6B78"/>
            </a:solidFill>
            <a:prstDash val="solid"/>
            <a:tailEnd type="triangle"/>
          </a:ln>
        </p:spPr>
      </p:sp>
      <p:sp>
        <p:nvSpPr>
          <p:cNvPr id="22" name="Shape 20"/>
          <p:cNvSpPr/>
          <p:nvPr/>
        </p:nvSpPr>
        <p:spPr>
          <a:xfrm>
            <a:off x="6858000" y="1492758"/>
            <a:ext cx="146304" cy="146304"/>
          </a:xfrm>
          <a:prstGeom prst="rect">
            <a:avLst/>
          </a:prstGeom>
          <a:solidFill>
            <a:srgbClr val="0E7C86"/>
          </a:solidFill>
          <a:ln w="12700">
            <a:solidFill>
              <a:srgbClr val="0E7C86"/>
            </a:solidFill>
            <a:prstDash val="solid"/>
          </a:ln>
        </p:spPr>
      </p:sp>
      <p:sp>
        <p:nvSpPr>
          <p:cNvPr id="23" name="Text 21"/>
          <p:cNvSpPr txBox="1"/>
          <p:nvPr/>
        </p:nvSpPr>
        <p:spPr>
          <a:xfrm>
            <a:off x="7242048" y="1417320"/>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Più registri sorgente si collegano a un bus semplicemente unendone le uscite, ciascuna attraverso un buffer a tre stati</a:t>
            </a:r>
            <a:endParaRPr lang="en-US" sz="1800" dirty="0"/>
          </a:p>
        </p:txBody>
      </p:sp>
      <p:sp>
        <p:nvSpPr>
          <p:cNvPr id="24" name="Shape 22"/>
          <p:cNvSpPr/>
          <p:nvPr/>
        </p:nvSpPr>
        <p:spPr>
          <a:xfrm>
            <a:off x="6858000" y="2798826"/>
            <a:ext cx="146304" cy="146304"/>
          </a:xfrm>
          <a:prstGeom prst="rect">
            <a:avLst/>
          </a:prstGeom>
          <a:solidFill>
            <a:srgbClr val="C7791B"/>
          </a:solidFill>
          <a:ln w="12700">
            <a:solidFill>
              <a:srgbClr val="C7791B"/>
            </a:solidFill>
            <a:prstDash val="solid"/>
          </a:ln>
        </p:spPr>
      </p:sp>
      <p:sp>
        <p:nvSpPr>
          <p:cNvPr id="25" name="Text 23"/>
          <p:cNvSpPr txBox="1"/>
          <p:nvPr/>
        </p:nvSpPr>
        <p:spPr>
          <a:xfrm>
            <a:off x="7242048" y="2723388"/>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condizione: delle n sorgenti che confluiscono nel bus, al più una è abilitata alla volta. Un segnale attivo, gli altri n - 1 neutri</a:t>
            </a:r>
            <a:endParaRPr lang="en-US" sz="1800" dirty="0"/>
          </a:p>
        </p:txBody>
      </p:sp>
      <p:sp>
        <p:nvSpPr>
          <p:cNvPr id="26" name="Shape 24"/>
          <p:cNvSpPr/>
          <p:nvPr/>
        </p:nvSpPr>
        <p:spPr>
          <a:xfrm>
            <a:off x="6858000" y="4104894"/>
            <a:ext cx="146304" cy="146304"/>
          </a:xfrm>
          <a:prstGeom prst="rect">
            <a:avLst/>
          </a:prstGeom>
          <a:solidFill>
            <a:srgbClr val="0E7C86"/>
          </a:solidFill>
          <a:ln w="12700">
            <a:solidFill>
              <a:srgbClr val="0E7C86"/>
            </a:solidFill>
            <a:prstDash val="solid"/>
          </a:ln>
        </p:spPr>
      </p:sp>
      <p:sp>
        <p:nvSpPr>
          <p:cNvPr id="27" name="Text 25"/>
          <p:cNvSpPr txBox="1"/>
          <p:nvPr/>
        </p:nvSpPr>
        <p:spPr>
          <a:xfrm>
            <a:off x="7242048" y="4029456"/>
            <a:ext cx="440100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Dal lato delle destinazioni ogni registro è collegato al bus, e prende il dato solo quello il cui segnale di caricamento è attivo</a:t>
            </a:r>
            <a:endParaRPr lang="en-US" sz="1800" dirty="0"/>
          </a:p>
        </p:txBody>
      </p:sp>
      <p:sp>
        <p:nvSpPr>
          <p:cNvPr id="28" name="Shape 26"/>
          <p:cNvSpPr/>
          <p:nvPr/>
        </p:nvSpPr>
        <p:spPr>
          <a:xfrm>
            <a:off x="6858000" y="5410962"/>
            <a:ext cx="146304" cy="146304"/>
          </a:xfrm>
          <a:prstGeom prst="rect">
            <a:avLst/>
          </a:prstGeom>
          <a:solidFill>
            <a:srgbClr val="C7791B"/>
          </a:solidFill>
          <a:ln w="12700">
            <a:solidFill>
              <a:srgbClr val="C7791B"/>
            </a:solidFill>
            <a:prstDash val="solid"/>
          </a:ln>
        </p:spPr>
      </p:sp>
      <p:sp>
        <p:nvSpPr>
          <p:cNvPr id="29" name="Text 27"/>
          <p:cNvSpPr txBox="1"/>
          <p:nvPr/>
        </p:nvSpPr>
        <p:spPr>
          <a:xfrm>
            <a:off x="7242048" y="5335524"/>
            <a:ext cx="440100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Scegliere sorgente e destinazione è compito dei decodificatori, pilotati dall'unità di controllo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Registri a scorrimento</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Definizione</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Una catena di celle di memoria da un bit collegate tra loro: a ogni impulso di clock ogni bit passa da una cella a quella adiacente.</a:t>
            </a:r>
            <a:endParaRPr lang="en-US" sz="2400" dirty="0"/>
          </a:p>
        </p:txBody>
      </p:sp>
      <p:sp>
        <p:nvSpPr>
          <p:cNvPr id="6" name="Shape 4"/>
          <p:cNvSpPr/>
          <p:nvPr/>
        </p:nvSpPr>
        <p:spPr>
          <a:xfrm>
            <a:off x="548640" y="345541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Lo scorrimento può andare in un verso fisso, o in un verso scelto da una linea di controllo (registri bidirezionali)</a:t>
            </a:r>
            <a:endParaRPr lang="en-US" sz="2400" dirty="0"/>
          </a:p>
        </p:txBody>
      </p:sp>
      <p:sp>
        <p:nvSpPr>
          <p:cNvPr id="8" name="Shape 6"/>
          <p:cNvSpPr/>
          <p:nvPr/>
        </p:nvSpPr>
        <p:spPr>
          <a:xfrm>
            <a:off x="548640" y="450291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380992"/>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Facilitano la lettura e la scrittura di dati in un sistema: trasformano dati paralleli in seriali e viceversa</a:t>
            </a:r>
            <a:endParaRPr lang="en-US" sz="2400" dirty="0"/>
          </a:p>
        </p:txBody>
      </p:sp>
      <p:sp>
        <p:nvSpPr>
          <p:cNvPr id="10" name="Shape 8"/>
          <p:cNvSpPr/>
          <p:nvPr/>
        </p:nvSpPr>
        <p:spPr>
          <a:xfrm>
            <a:off x="548640" y="555040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Ogni cella è un flip-flop D il cui ingresso è l'uscita della cella vicina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tipi di registro a scorrimento</a:t>
            </a:r>
            <a:endParaRPr lang="en-US" sz="3200" dirty="0"/>
          </a:p>
        </p:txBody>
      </p:sp>
      <p:sp>
        <p:nvSpPr>
          <p:cNvPr id="3" name="Text 1"/>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Ingresso seriale, uscita seriale</a:t>
            </a:r>
            <a:endParaRPr lang="en-US" sz="1400" dirty="0"/>
          </a:p>
        </p:txBody>
      </p:sp>
      <p:sp>
        <p:nvSpPr>
          <p:cNvPr id="4" name="Text 2"/>
          <p:cNvSpPr txBox="1"/>
          <p:nvPr/>
        </p:nvSpPr>
        <p:spPr>
          <a:xfrm>
            <a:off x="128016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5" name="Shape 3"/>
          <p:cNvSpPr/>
          <p:nvPr/>
        </p:nvSpPr>
        <p:spPr>
          <a:xfrm>
            <a:off x="2176272" y="2125980"/>
            <a:ext cx="265176" cy="0"/>
          </a:xfrm>
          <a:prstGeom prst="line">
            <a:avLst/>
          </a:prstGeom>
          <a:noFill/>
          <a:ln w="25400">
            <a:solidFill>
              <a:srgbClr val="5B6B78"/>
            </a:solidFill>
            <a:prstDash val="solid"/>
            <a:tailEnd type="triangle"/>
          </a:ln>
        </p:spPr>
      </p:sp>
      <p:sp>
        <p:nvSpPr>
          <p:cNvPr id="6" name="Text 4"/>
          <p:cNvSpPr txBox="1"/>
          <p:nvPr/>
        </p:nvSpPr>
        <p:spPr>
          <a:xfrm>
            <a:off x="246888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7" name="Shape 5"/>
          <p:cNvSpPr/>
          <p:nvPr/>
        </p:nvSpPr>
        <p:spPr>
          <a:xfrm>
            <a:off x="3364992" y="2125980"/>
            <a:ext cx="265176" cy="0"/>
          </a:xfrm>
          <a:prstGeom prst="line">
            <a:avLst/>
          </a:prstGeom>
          <a:noFill/>
          <a:ln w="25400">
            <a:solidFill>
              <a:srgbClr val="5B6B78"/>
            </a:solidFill>
            <a:prstDash val="solid"/>
            <a:tailEnd type="triangle"/>
          </a:ln>
        </p:spPr>
      </p:sp>
      <p:sp>
        <p:nvSpPr>
          <p:cNvPr id="8" name="Text 6"/>
          <p:cNvSpPr txBox="1"/>
          <p:nvPr/>
        </p:nvSpPr>
        <p:spPr>
          <a:xfrm>
            <a:off x="365760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4553712" y="2125980"/>
            <a:ext cx="265176" cy="0"/>
          </a:xfrm>
          <a:prstGeom prst="line">
            <a:avLst/>
          </a:prstGeom>
          <a:noFill/>
          <a:ln w="25400">
            <a:solidFill>
              <a:srgbClr val="5B6B78"/>
            </a:solidFill>
            <a:prstDash val="solid"/>
            <a:tailEnd type="triangle"/>
          </a:ln>
        </p:spPr>
      </p:sp>
      <p:sp>
        <p:nvSpPr>
          <p:cNvPr id="10" name="Text 8"/>
          <p:cNvSpPr txBox="1"/>
          <p:nvPr/>
        </p:nvSpPr>
        <p:spPr>
          <a:xfrm>
            <a:off x="4846320" y="1783080"/>
            <a:ext cx="868680" cy="685800"/>
          </a:xfrm>
          <a:prstGeom prst="roundRect">
            <a:avLst>
              <a:gd name="adj" fmla="val 80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11" name="Shape 9"/>
          <p:cNvSpPr/>
          <p:nvPr/>
        </p:nvSpPr>
        <p:spPr>
          <a:xfrm>
            <a:off x="548640" y="2121408"/>
            <a:ext cx="704088" cy="0"/>
          </a:xfrm>
          <a:prstGeom prst="line">
            <a:avLst/>
          </a:prstGeom>
          <a:noFill/>
          <a:ln w="25400">
            <a:solidFill>
              <a:srgbClr val="5B6B78"/>
            </a:solidFill>
            <a:prstDash val="solid"/>
            <a:tailEnd type="triangle"/>
          </a:ln>
        </p:spPr>
      </p:sp>
      <p:sp>
        <p:nvSpPr>
          <p:cNvPr id="12" name="Shape 10"/>
          <p:cNvSpPr/>
          <p:nvPr/>
        </p:nvSpPr>
        <p:spPr>
          <a:xfrm>
            <a:off x="5742432" y="2121408"/>
            <a:ext cx="612648" cy="0"/>
          </a:xfrm>
          <a:prstGeom prst="line">
            <a:avLst/>
          </a:prstGeom>
          <a:noFill/>
          <a:ln w="25400">
            <a:solidFill>
              <a:srgbClr val="5B6B78"/>
            </a:solidFill>
            <a:prstDash val="solid"/>
            <a:tailEnd type="triangle"/>
          </a:ln>
        </p:spPr>
      </p:sp>
      <p:sp>
        <p:nvSpPr>
          <p:cNvPr id="13" name="Text 11"/>
          <p:cNvSpPr txBox="1"/>
          <p:nvPr/>
        </p:nvSpPr>
        <p:spPr>
          <a:xfrm>
            <a:off x="6309360" y="137160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Ingresso seriale, uscita parallela</a:t>
            </a:r>
            <a:endParaRPr lang="en-US" sz="1400" dirty="0"/>
          </a:p>
        </p:txBody>
      </p:sp>
      <p:sp>
        <p:nvSpPr>
          <p:cNvPr id="14" name="Text 12"/>
          <p:cNvSpPr txBox="1"/>
          <p:nvPr/>
        </p:nvSpPr>
        <p:spPr>
          <a:xfrm>
            <a:off x="704088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15" name="Shape 13"/>
          <p:cNvSpPr/>
          <p:nvPr/>
        </p:nvSpPr>
        <p:spPr>
          <a:xfrm>
            <a:off x="7936992" y="2125980"/>
            <a:ext cx="265176" cy="0"/>
          </a:xfrm>
          <a:prstGeom prst="line">
            <a:avLst/>
          </a:prstGeom>
          <a:noFill/>
          <a:ln w="25400">
            <a:solidFill>
              <a:srgbClr val="5B6B78"/>
            </a:solidFill>
            <a:prstDash val="solid"/>
            <a:tailEnd type="triangle"/>
          </a:ln>
        </p:spPr>
      </p:sp>
      <p:sp>
        <p:nvSpPr>
          <p:cNvPr id="16" name="Text 14"/>
          <p:cNvSpPr txBox="1"/>
          <p:nvPr/>
        </p:nvSpPr>
        <p:spPr>
          <a:xfrm>
            <a:off x="822960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17" name="Shape 15"/>
          <p:cNvSpPr/>
          <p:nvPr/>
        </p:nvSpPr>
        <p:spPr>
          <a:xfrm>
            <a:off x="9125712" y="2125980"/>
            <a:ext cx="265176" cy="0"/>
          </a:xfrm>
          <a:prstGeom prst="line">
            <a:avLst/>
          </a:prstGeom>
          <a:noFill/>
          <a:ln w="25400">
            <a:solidFill>
              <a:srgbClr val="5B6B78"/>
            </a:solidFill>
            <a:prstDash val="solid"/>
            <a:tailEnd type="triangle"/>
          </a:ln>
        </p:spPr>
      </p:sp>
      <p:sp>
        <p:nvSpPr>
          <p:cNvPr id="18" name="Text 16"/>
          <p:cNvSpPr txBox="1"/>
          <p:nvPr/>
        </p:nvSpPr>
        <p:spPr>
          <a:xfrm>
            <a:off x="941832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10314432" y="2125980"/>
            <a:ext cx="265176" cy="0"/>
          </a:xfrm>
          <a:prstGeom prst="line">
            <a:avLst/>
          </a:prstGeom>
          <a:noFill/>
          <a:ln w="25400">
            <a:solidFill>
              <a:srgbClr val="5B6B78"/>
            </a:solidFill>
            <a:prstDash val="solid"/>
            <a:tailEnd type="triangle"/>
          </a:ln>
        </p:spPr>
      </p:sp>
      <p:sp>
        <p:nvSpPr>
          <p:cNvPr id="20" name="Text 18"/>
          <p:cNvSpPr txBox="1"/>
          <p:nvPr/>
        </p:nvSpPr>
        <p:spPr>
          <a:xfrm>
            <a:off x="10607040" y="1783080"/>
            <a:ext cx="868680" cy="685800"/>
          </a:xfrm>
          <a:prstGeom prst="roundRect">
            <a:avLst>
              <a:gd name="adj" fmla="val 8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21" name="Shape 19"/>
          <p:cNvSpPr/>
          <p:nvPr/>
        </p:nvSpPr>
        <p:spPr>
          <a:xfrm>
            <a:off x="6309360" y="2121408"/>
            <a:ext cx="704088" cy="0"/>
          </a:xfrm>
          <a:prstGeom prst="line">
            <a:avLst/>
          </a:prstGeom>
          <a:noFill/>
          <a:ln w="25400">
            <a:solidFill>
              <a:srgbClr val="5B6B78"/>
            </a:solidFill>
            <a:prstDash val="solid"/>
            <a:tailEnd type="triangle"/>
          </a:ln>
        </p:spPr>
      </p:sp>
      <p:sp>
        <p:nvSpPr>
          <p:cNvPr id="22" name="Shape 20"/>
          <p:cNvSpPr/>
          <p:nvPr/>
        </p:nvSpPr>
        <p:spPr>
          <a:xfrm>
            <a:off x="7470648" y="2496312"/>
            <a:ext cx="0" cy="429768"/>
          </a:xfrm>
          <a:prstGeom prst="line">
            <a:avLst/>
          </a:prstGeom>
          <a:noFill/>
          <a:ln w="25400">
            <a:solidFill>
              <a:srgbClr val="5B6B78"/>
            </a:solidFill>
            <a:prstDash val="solid"/>
            <a:tailEnd type="triangle"/>
          </a:ln>
        </p:spPr>
      </p:sp>
      <p:sp>
        <p:nvSpPr>
          <p:cNvPr id="23" name="Shape 21"/>
          <p:cNvSpPr/>
          <p:nvPr/>
        </p:nvSpPr>
        <p:spPr>
          <a:xfrm>
            <a:off x="8659368" y="2496312"/>
            <a:ext cx="0" cy="429768"/>
          </a:xfrm>
          <a:prstGeom prst="line">
            <a:avLst/>
          </a:prstGeom>
          <a:noFill/>
          <a:ln w="25400">
            <a:solidFill>
              <a:srgbClr val="5B6B78"/>
            </a:solidFill>
            <a:prstDash val="solid"/>
            <a:tailEnd type="triangle"/>
          </a:ln>
        </p:spPr>
      </p:sp>
      <p:sp>
        <p:nvSpPr>
          <p:cNvPr id="24" name="Shape 22"/>
          <p:cNvSpPr/>
          <p:nvPr/>
        </p:nvSpPr>
        <p:spPr>
          <a:xfrm>
            <a:off x="9848088" y="2496312"/>
            <a:ext cx="0" cy="429768"/>
          </a:xfrm>
          <a:prstGeom prst="line">
            <a:avLst/>
          </a:prstGeom>
          <a:noFill/>
          <a:ln w="25400">
            <a:solidFill>
              <a:srgbClr val="5B6B78"/>
            </a:solidFill>
            <a:prstDash val="solid"/>
            <a:tailEnd type="triangle"/>
          </a:ln>
        </p:spPr>
      </p:sp>
      <p:sp>
        <p:nvSpPr>
          <p:cNvPr id="25" name="Shape 23"/>
          <p:cNvSpPr/>
          <p:nvPr/>
        </p:nvSpPr>
        <p:spPr>
          <a:xfrm>
            <a:off x="11036808" y="2496312"/>
            <a:ext cx="0" cy="429768"/>
          </a:xfrm>
          <a:prstGeom prst="line">
            <a:avLst/>
          </a:prstGeom>
          <a:noFill/>
          <a:ln w="25400">
            <a:solidFill>
              <a:srgbClr val="5B6B78"/>
            </a:solidFill>
            <a:prstDash val="solid"/>
            <a:tailEnd type="triangle"/>
          </a:ln>
        </p:spPr>
      </p:sp>
      <p:sp>
        <p:nvSpPr>
          <p:cNvPr id="26" name="Text 24"/>
          <p:cNvSpPr txBox="1"/>
          <p:nvPr/>
        </p:nvSpPr>
        <p:spPr>
          <a:xfrm>
            <a:off x="548640" y="310896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Ingresso parallelo, uscita seriale</a:t>
            </a:r>
            <a:endParaRPr lang="en-US" sz="1400" dirty="0"/>
          </a:p>
        </p:txBody>
      </p:sp>
      <p:sp>
        <p:nvSpPr>
          <p:cNvPr id="27" name="Text 25"/>
          <p:cNvSpPr txBox="1"/>
          <p:nvPr/>
        </p:nvSpPr>
        <p:spPr>
          <a:xfrm>
            <a:off x="128016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28" name="Shape 26"/>
          <p:cNvSpPr/>
          <p:nvPr/>
        </p:nvSpPr>
        <p:spPr>
          <a:xfrm>
            <a:off x="2176272" y="4274820"/>
            <a:ext cx="265176" cy="0"/>
          </a:xfrm>
          <a:prstGeom prst="line">
            <a:avLst/>
          </a:prstGeom>
          <a:noFill/>
          <a:ln w="25400">
            <a:solidFill>
              <a:srgbClr val="5B6B78"/>
            </a:solidFill>
            <a:prstDash val="solid"/>
            <a:tailEnd type="triangle"/>
          </a:ln>
        </p:spPr>
      </p:sp>
      <p:sp>
        <p:nvSpPr>
          <p:cNvPr id="29" name="Text 27"/>
          <p:cNvSpPr txBox="1"/>
          <p:nvPr/>
        </p:nvSpPr>
        <p:spPr>
          <a:xfrm>
            <a:off x="246888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30" name="Shape 28"/>
          <p:cNvSpPr/>
          <p:nvPr/>
        </p:nvSpPr>
        <p:spPr>
          <a:xfrm>
            <a:off x="3364992" y="4274820"/>
            <a:ext cx="265176" cy="0"/>
          </a:xfrm>
          <a:prstGeom prst="line">
            <a:avLst/>
          </a:prstGeom>
          <a:noFill/>
          <a:ln w="25400">
            <a:solidFill>
              <a:srgbClr val="5B6B78"/>
            </a:solidFill>
            <a:prstDash val="solid"/>
            <a:tailEnd type="triangle"/>
          </a:ln>
        </p:spPr>
      </p:sp>
      <p:sp>
        <p:nvSpPr>
          <p:cNvPr id="31" name="Text 29"/>
          <p:cNvSpPr txBox="1"/>
          <p:nvPr/>
        </p:nvSpPr>
        <p:spPr>
          <a:xfrm>
            <a:off x="365760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2" name="Shape 30"/>
          <p:cNvSpPr/>
          <p:nvPr/>
        </p:nvSpPr>
        <p:spPr>
          <a:xfrm>
            <a:off x="4553712" y="4274820"/>
            <a:ext cx="265176" cy="0"/>
          </a:xfrm>
          <a:prstGeom prst="line">
            <a:avLst/>
          </a:prstGeom>
          <a:noFill/>
          <a:ln w="25400">
            <a:solidFill>
              <a:srgbClr val="5B6B78"/>
            </a:solidFill>
            <a:prstDash val="solid"/>
            <a:tailEnd type="triangle"/>
          </a:ln>
        </p:spPr>
      </p:sp>
      <p:sp>
        <p:nvSpPr>
          <p:cNvPr id="33" name="Text 31"/>
          <p:cNvSpPr txBox="1"/>
          <p:nvPr/>
        </p:nvSpPr>
        <p:spPr>
          <a:xfrm>
            <a:off x="4846320" y="3931920"/>
            <a:ext cx="868680" cy="685800"/>
          </a:xfrm>
          <a:prstGeom prst="roundRect">
            <a:avLst>
              <a:gd name="adj" fmla="val 8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34" name="Shape 32"/>
          <p:cNvSpPr/>
          <p:nvPr/>
        </p:nvSpPr>
        <p:spPr>
          <a:xfrm>
            <a:off x="1709928" y="3474720"/>
            <a:ext cx="0" cy="429768"/>
          </a:xfrm>
          <a:prstGeom prst="line">
            <a:avLst/>
          </a:prstGeom>
          <a:noFill/>
          <a:ln w="25400">
            <a:solidFill>
              <a:srgbClr val="5B6B78"/>
            </a:solidFill>
            <a:prstDash val="solid"/>
            <a:tailEnd type="triangle"/>
          </a:ln>
        </p:spPr>
      </p:sp>
      <p:sp>
        <p:nvSpPr>
          <p:cNvPr id="35" name="Shape 33"/>
          <p:cNvSpPr/>
          <p:nvPr/>
        </p:nvSpPr>
        <p:spPr>
          <a:xfrm>
            <a:off x="2898648" y="3474720"/>
            <a:ext cx="0" cy="429768"/>
          </a:xfrm>
          <a:prstGeom prst="line">
            <a:avLst/>
          </a:prstGeom>
          <a:noFill/>
          <a:ln w="25400">
            <a:solidFill>
              <a:srgbClr val="5B6B78"/>
            </a:solidFill>
            <a:prstDash val="solid"/>
            <a:tailEnd type="triangle"/>
          </a:ln>
        </p:spPr>
      </p:sp>
      <p:sp>
        <p:nvSpPr>
          <p:cNvPr id="36" name="Shape 34"/>
          <p:cNvSpPr/>
          <p:nvPr/>
        </p:nvSpPr>
        <p:spPr>
          <a:xfrm>
            <a:off x="4087368" y="3474720"/>
            <a:ext cx="0" cy="429768"/>
          </a:xfrm>
          <a:prstGeom prst="line">
            <a:avLst/>
          </a:prstGeom>
          <a:noFill/>
          <a:ln w="25400">
            <a:solidFill>
              <a:srgbClr val="5B6B78"/>
            </a:solidFill>
            <a:prstDash val="solid"/>
            <a:tailEnd type="triangle"/>
          </a:ln>
        </p:spPr>
      </p:sp>
      <p:sp>
        <p:nvSpPr>
          <p:cNvPr id="37" name="Shape 35"/>
          <p:cNvSpPr/>
          <p:nvPr/>
        </p:nvSpPr>
        <p:spPr>
          <a:xfrm>
            <a:off x="5276088" y="3474720"/>
            <a:ext cx="0" cy="429768"/>
          </a:xfrm>
          <a:prstGeom prst="line">
            <a:avLst/>
          </a:prstGeom>
          <a:noFill/>
          <a:ln w="25400">
            <a:solidFill>
              <a:srgbClr val="5B6B78"/>
            </a:solidFill>
            <a:prstDash val="solid"/>
            <a:tailEnd type="triangle"/>
          </a:ln>
        </p:spPr>
      </p:sp>
      <p:sp>
        <p:nvSpPr>
          <p:cNvPr id="38" name="Shape 36"/>
          <p:cNvSpPr/>
          <p:nvPr/>
        </p:nvSpPr>
        <p:spPr>
          <a:xfrm>
            <a:off x="5742432" y="4270248"/>
            <a:ext cx="612648" cy="0"/>
          </a:xfrm>
          <a:prstGeom prst="line">
            <a:avLst/>
          </a:prstGeom>
          <a:noFill/>
          <a:ln w="25400">
            <a:solidFill>
              <a:srgbClr val="5B6B78"/>
            </a:solidFill>
            <a:prstDash val="solid"/>
            <a:tailEnd type="triangle"/>
          </a:ln>
        </p:spPr>
      </p:sp>
      <p:sp>
        <p:nvSpPr>
          <p:cNvPr id="39" name="Text 37"/>
          <p:cNvSpPr txBox="1"/>
          <p:nvPr/>
        </p:nvSpPr>
        <p:spPr>
          <a:xfrm>
            <a:off x="6309360" y="3108960"/>
            <a:ext cx="5486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Ingresso parallelo, uscita parallela</a:t>
            </a:r>
            <a:endParaRPr lang="en-US" sz="1400" dirty="0"/>
          </a:p>
        </p:txBody>
      </p:sp>
      <p:sp>
        <p:nvSpPr>
          <p:cNvPr id="40" name="Text 38"/>
          <p:cNvSpPr txBox="1"/>
          <p:nvPr/>
        </p:nvSpPr>
        <p:spPr>
          <a:xfrm>
            <a:off x="704088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p>
        </p:txBody>
      </p:sp>
      <p:sp>
        <p:nvSpPr>
          <p:cNvPr id="41" name="Shape 39"/>
          <p:cNvSpPr/>
          <p:nvPr/>
        </p:nvSpPr>
        <p:spPr>
          <a:xfrm>
            <a:off x="7936992" y="4274820"/>
            <a:ext cx="265176" cy="0"/>
          </a:xfrm>
          <a:prstGeom prst="line">
            <a:avLst/>
          </a:prstGeom>
          <a:noFill/>
          <a:ln w="25400">
            <a:solidFill>
              <a:srgbClr val="5B6B78"/>
            </a:solidFill>
            <a:prstDash val="solid"/>
            <a:tailEnd type="triangle"/>
          </a:ln>
        </p:spPr>
      </p:sp>
      <p:sp>
        <p:nvSpPr>
          <p:cNvPr id="42" name="Text 40"/>
          <p:cNvSpPr txBox="1"/>
          <p:nvPr/>
        </p:nvSpPr>
        <p:spPr>
          <a:xfrm>
            <a:off x="822960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F2</a:t>
            </a:r>
            <a:endParaRPr lang="en-US" sz="1500" dirty="0"/>
          </a:p>
        </p:txBody>
      </p:sp>
      <p:sp>
        <p:nvSpPr>
          <p:cNvPr id="43" name="Shape 41"/>
          <p:cNvSpPr/>
          <p:nvPr/>
        </p:nvSpPr>
        <p:spPr>
          <a:xfrm>
            <a:off x="9125712" y="4274820"/>
            <a:ext cx="265176" cy="0"/>
          </a:xfrm>
          <a:prstGeom prst="line">
            <a:avLst/>
          </a:prstGeom>
          <a:noFill/>
          <a:ln w="25400">
            <a:solidFill>
              <a:srgbClr val="5B6B78"/>
            </a:solidFill>
            <a:prstDash val="solid"/>
            <a:tailEnd type="triangle"/>
          </a:ln>
        </p:spPr>
      </p:sp>
      <p:sp>
        <p:nvSpPr>
          <p:cNvPr id="44" name="Text 42"/>
          <p:cNvSpPr txBox="1"/>
          <p:nvPr/>
        </p:nvSpPr>
        <p:spPr>
          <a:xfrm>
            <a:off x="941832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45" name="Shape 43"/>
          <p:cNvSpPr/>
          <p:nvPr/>
        </p:nvSpPr>
        <p:spPr>
          <a:xfrm>
            <a:off x="10314432" y="4274820"/>
            <a:ext cx="265176" cy="0"/>
          </a:xfrm>
          <a:prstGeom prst="line">
            <a:avLst/>
          </a:prstGeom>
          <a:noFill/>
          <a:ln w="25400">
            <a:solidFill>
              <a:srgbClr val="5B6B78"/>
            </a:solidFill>
            <a:prstDash val="solid"/>
            <a:tailEnd type="triangle"/>
          </a:ln>
        </p:spPr>
      </p:sp>
      <p:sp>
        <p:nvSpPr>
          <p:cNvPr id="46" name="Text 44"/>
          <p:cNvSpPr txBox="1"/>
          <p:nvPr/>
        </p:nvSpPr>
        <p:spPr>
          <a:xfrm>
            <a:off x="10607040" y="3931920"/>
            <a:ext cx="868680" cy="685800"/>
          </a:xfrm>
          <a:prstGeom prst="roundRect">
            <a:avLst>
              <a:gd name="adj" fmla="val 8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FN</a:t>
            </a:r>
            <a:endParaRPr lang="en-US" sz="1500" dirty="0"/>
          </a:p>
        </p:txBody>
      </p:sp>
      <p:sp>
        <p:nvSpPr>
          <p:cNvPr id="47" name="Shape 45"/>
          <p:cNvSpPr/>
          <p:nvPr/>
        </p:nvSpPr>
        <p:spPr>
          <a:xfrm>
            <a:off x="7470648" y="3474720"/>
            <a:ext cx="0" cy="429768"/>
          </a:xfrm>
          <a:prstGeom prst="line">
            <a:avLst/>
          </a:prstGeom>
          <a:noFill/>
          <a:ln w="25400">
            <a:solidFill>
              <a:srgbClr val="5B6B78"/>
            </a:solidFill>
            <a:prstDash val="solid"/>
            <a:tailEnd type="triangle"/>
          </a:ln>
        </p:spPr>
      </p:sp>
      <p:sp>
        <p:nvSpPr>
          <p:cNvPr id="48" name="Shape 46"/>
          <p:cNvSpPr/>
          <p:nvPr/>
        </p:nvSpPr>
        <p:spPr>
          <a:xfrm>
            <a:off x="7470648" y="4645152"/>
            <a:ext cx="0" cy="429768"/>
          </a:xfrm>
          <a:prstGeom prst="line">
            <a:avLst/>
          </a:prstGeom>
          <a:noFill/>
          <a:ln w="25400">
            <a:solidFill>
              <a:srgbClr val="5B6B78"/>
            </a:solidFill>
            <a:prstDash val="solid"/>
            <a:tailEnd type="triangle"/>
          </a:ln>
        </p:spPr>
      </p:sp>
      <p:sp>
        <p:nvSpPr>
          <p:cNvPr id="49" name="Shape 47"/>
          <p:cNvSpPr/>
          <p:nvPr/>
        </p:nvSpPr>
        <p:spPr>
          <a:xfrm>
            <a:off x="8659368" y="3474720"/>
            <a:ext cx="0" cy="429768"/>
          </a:xfrm>
          <a:prstGeom prst="line">
            <a:avLst/>
          </a:prstGeom>
          <a:noFill/>
          <a:ln w="25400">
            <a:solidFill>
              <a:srgbClr val="5B6B78"/>
            </a:solidFill>
            <a:prstDash val="solid"/>
            <a:tailEnd type="triangle"/>
          </a:ln>
        </p:spPr>
      </p:sp>
      <p:sp>
        <p:nvSpPr>
          <p:cNvPr id="50" name="Shape 48"/>
          <p:cNvSpPr/>
          <p:nvPr/>
        </p:nvSpPr>
        <p:spPr>
          <a:xfrm>
            <a:off x="8659368" y="4645152"/>
            <a:ext cx="0" cy="429768"/>
          </a:xfrm>
          <a:prstGeom prst="line">
            <a:avLst/>
          </a:prstGeom>
          <a:noFill/>
          <a:ln w="25400">
            <a:solidFill>
              <a:srgbClr val="5B6B78"/>
            </a:solidFill>
            <a:prstDash val="solid"/>
            <a:tailEnd type="triangle"/>
          </a:ln>
        </p:spPr>
      </p:sp>
      <p:sp>
        <p:nvSpPr>
          <p:cNvPr id="51" name="Shape 49"/>
          <p:cNvSpPr/>
          <p:nvPr/>
        </p:nvSpPr>
        <p:spPr>
          <a:xfrm>
            <a:off x="9848088" y="3474720"/>
            <a:ext cx="0" cy="429768"/>
          </a:xfrm>
          <a:prstGeom prst="line">
            <a:avLst/>
          </a:prstGeom>
          <a:noFill/>
          <a:ln w="25400">
            <a:solidFill>
              <a:srgbClr val="5B6B78"/>
            </a:solidFill>
            <a:prstDash val="solid"/>
            <a:tailEnd type="triangle"/>
          </a:ln>
        </p:spPr>
      </p:sp>
      <p:sp>
        <p:nvSpPr>
          <p:cNvPr id="52" name="Shape 50"/>
          <p:cNvSpPr/>
          <p:nvPr/>
        </p:nvSpPr>
        <p:spPr>
          <a:xfrm>
            <a:off x="9848088" y="4645152"/>
            <a:ext cx="0" cy="429768"/>
          </a:xfrm>
          <a:prstGeom prst="line">
            <a:avLst/>
          </a:prstGeom>
          <a:noFill/>
          <a:ln w="25400">
            <a:solidFill>
              <a:srgbClr val="5B6B78"/>
            </a:solidFill>
            <a:prstDash val="solid"/>
            <a:tailEnd type="triangle"/>
          </a:ln>
        </p:spPr>
      </p:sp>
      <p:sp>
        <p:nvSpPr>
          <p:cNvPr id="53" name="Shape 51"/>
          <p:cNvSpPr/>
          <p:nvPr/>
        </p:nvSpPr>
        <p:spPr>
          <a:xfrm>
            <a:off x="11036808" y="3474720"/>
            <a:ext cx="0" cy="429768"/>
          </a:xfrm>
          <a:prstGeom prst="line">
            <a:avLst/>
          </a:prstGeom>
          <a:noFill/>
          <a:ln w="25400">
            <a:solidFill>
              <a:srgbClr val="5B6B78"/>
            </a:solidFill>
            <a:prstDash val="solid"/>
            <a:tailEnd type="triangle"/>
          </a:ln>
        </p:spPr>
      </p:sp>
      <p:sp>
        <p:nvSpPr>
          <p:cNvPr id="54" name="Shape 52"/>
          <p:cNvSpPr/>
          <p:nvPr/>
        </p:nvSpPr>
        <p:spPr>
          <a:xfrm>
            <a:off x="11036808" y="4645152"/>
            <a:ext cx="0" cy="429768"/>
          </a:xfrm>
          <a:prstGeom prst="line">
            <a:avLst/>
          </a:prstGeom>
          <a:noFill/>
          <a:ln w="25400">
            <a:solidFill>
              <a:srgbClr val="5B6B78"/>
            </a:solidFill>
            <a:prstDash val="solid"/>
            <a:tailEnd type="triangle"/>
          </a:ln>
        </p:spPr>
      </p:sp>
      <p:sp>
        <p:nvSpPr>
          <p:cNvPr id="55" name="Text 53"/>
          <p:cNvSpPr txBox="1"/>
          <p:nvPr/>
        </p:nvSpPr>
        <p:spPr>
          <a:xfrm>
            <a:off x="548640" y="5440680"/>
            <a:ext cx="11094415" cy="731520"/>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La stessa catena di flip-flop, con un clock comune c; cambia dove i dati entrano e dove escono. Ingresso e uscita paralleli senza scorrimento sono il registro ordinario.</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Trasferimenti tra registri</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80289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Trasferimento seriale: l'uscita seriale di un registro a scorrimento alimenta l'ingresso seriale di un altro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impulsi di clock spostano una parola di n bit; basta un filo</a:t>
            </a:r>
            <a:endParaRPr lang="en-US" sz="2400" dirty="0"/>
          </a:p>
        </p:txBody>
      </p:sp>
      <p:sp>
        <p:nvSpPr>
          <p:cNvPr id="5" name="Shape 3"/>
          <p:cNvSpPr/>
          <p:nvPr/>
        </p:nvSpPr>
        <p:spPr>
          <a:xfrm>
            <a:off x="548640" y="354482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22904"/>
            <a:ext cx="6565392" cy="180289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Trasferimento parallelo: le uscite parallele di un registro alimentano gli ingressi paralleli di un altro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un impulso di clock sposta l'intera parola; servono n fili</a:t>
            </a:r>
            <a:endParaRPr lang="en-US" sz="2400" dirty="0"/>
          </a:p>
        </p:txBody>
      </p:sp>
      <p:sp>
        <p:nvSpPr>
          <p:cNvPr id="7" name="Shape 5"/>
          <p:cNvSpPr/>
          <p:nvPr/>
        </p:nvSpPr>
        <p:spPr>
          <a:xfrm>
            <a:off x="548640" y="55504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428488"/>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Tempo contro fili: lo stesso compromesso tra bus dedicati e bus comune</a:t>
            </a:r>
            <a:endParaRPr lang="en-US" sz="2400" dirty="0"/>
          </a:p>
        </p:txBody>
      </p:sp>
      <p:sp>
        <p:nvSpPr>
          <p:cNvPr id="9" name="Shape 7"/>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0" name="Text 8"/>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300" b="1" dirty="0">
                <a:solidFill>
                  <a:srgbClr val="FFFFFF"/>
                </a:solidFill>
                <a:latin typeface="Cambria" pitchFamily="34" charset="0"/>
                <a:ea typeface="Cambria" pitchFamily="34" charset="-122"/>
                <a:cs typeface="Cambria" pitchFamily="34" charset="-120"/>
              </a:rPr>
              <a:t>n impulsi o n fili</a:t>
            </a:r>
            <a:endParaRPr lang="en-US" sz="5300" dirty="0"/>
          </a:p>
        </p:txBody>
      </p:sp>
      <p:sp>
        <p:nvSpPr>
          <p:cNvPr id="11" name="Text 9"/>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spostare una parola di n bit costa o tempo o rame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 seriale a parallelo e ritorno</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Caricamento</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il dato di n bit è posto in parallelo nel registro R</a:t>
            </a:r>
            <a:endParaRPr lang="en-US" sz="14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Uscita seriale</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R è un registro a scorrimento: gli n bit escono uno dopo l'altro, in n passi successivi</a:t>
            </a:r>
            <a:endParaRPr lang="en-US" sz="14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Viaggio</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una sola linea li porta all'apparato a valle</a:t>
            </a:r>
            <a:endParaRPr lang="en-US" sz="14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Ingresso seriale</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un altro registro è caricato in serie in n passi, ricostruendo il dato bit per bit</a:t>
            </a:r>
            <a:endParaRPr lang="en-US" sz="14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Uso</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il dato ricostruito viene passato avanti in parallelo</a:t>
            </a:r>
            <a:endParaRPr lang="en-US" sz="14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È l'hardware del riscaldamento. Il display del kit riceve così ogni pixel, su SPI; la tastiera della Lezione 21 invia così ogni codice di tasto.</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Registri con un indirizzo: una prima memoria</a:t>
            </a:r>
            <a:endParaRPr lang="en-US" sz="3200" dirty="0"/>
          </a:p>
        </p:txBody>
      </p:sp>
      <p:sp>
        <p:nvSpPr>
          <p:cNvPr id="3" name="Text 1"/>
          <p:cNvSpPr txBox="1"/>
          <p:nvPr/>
        </p:nvSpPr>
        <p:spPr>
          <a:xfrm>
            <a:off x="1554480" y="2331720"/>
            <a:ext cx="1371600" cy="2103120"/>
          </a:xfrm>
          <a:prstGeom prst="roundRect">
            <a:avLst>
              <a:gd name="adj" fmla="val 4000"/>
            </a:avLst>
          </a:prstGeom>
          <a:solidFill>
            <a:srgbClr val="C7791B"/>
          </a:solidFill>
          <a:ln>
            <a:solidFill>
              <a:srgbClr val="C7791B"/>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decodificatore</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2-a-4</a:t>
            </a:r>
            <a:endParaRPr lang="en-US" sz="1400" dirty="0"/>
          </a:p>
        </p:txBody>
      </p:sp>
      <p:sp>
        <p:nvSpPr>
          <p:cNvPr id="4" name="Text 2"/>
          <p:cNvSpPr txBox="1"/>
          <p:nvPr/>
        </p:nvSpPr>
        <p:spPr>
          <a:xfrm>
            <a:off x="3291840" y="2011680"/>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registro 0  (3 bit)</a:t>
            </a:r>
            <a:endParaRPr lang="en-US" sz="1350" dirty="0"/>
          </a:p>
        </p:txBody>
      </p:sp>
      <p:sp>
        <p:nvSpPr>
          <p:cNvPr id="5" name="Shape 3"/>
          <p:cNvSpPr/>
          <p:nvPr/>
        </p:nvSpPr>
        <p:spPr>
          <a:xfrm>
            <a:off x="2953512" y="2286000"/>
            <a:ext cx="310896" cy="0"/>
          </a:xfrm>
          <a:prstGeom prst="line">
            <a:avLst/>
          </a:prstGeom>
          <a:noFill/>
          <a:ln w="22225">
            <a:solidFill>
              <a:srgbClr val="C7791B"/>
            </a:solidFill>
            <a:prstDash val="solid"/>
            <a:tailEnd type="triangle"/>
          </a:ln>
        </p:spPr>
      </p:sp>
      <p:sp>
        <p:nvSpPr>
          <p:cNvPr id="6" name="Text 4"/>
          <p:cNvSpPr txBox="1"/>
          <p:nvPr/>
        </p:nvSpPr>
        <p:spPr>
          <a:xfrm>
            <a:off x="3291840" y="2724912"/>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registro 1  (3 bit)</a:t>
            </a:r>
            <a:endParaRPr lang="en-US" sz="1350" dirty="0"/>
          </a:p>
        </p:txBody>
      </p:sp>
      <p:sp>
        <p:nvSpPr>
          <p:cNvPr id="7" name="Shape 5"/>
          <p:cNvSpPr/>
          <p:nvPr/>
        </p:nvSpPr>
        <p:spPr>
          <a:xfrm>
            <a:off x="2953512" y="2999232"/>
            <a:ext cx="310896" cy="0"/>
          </a:xfrm>
          <a:prstGeom prst="line">
            <a:avLst/>
          </a:prstGeom>
          <a:noFill/>
          <a:ln w="22225">
            <a:solidFill>
              <a:srgbClr val="C7791B"/>
            </a:solidFill>
            <a:prstDash val="solid"/>
            <a:tailEnd type="triangle"/>
          </a:ln>
        </p:spPr>
      </p:sp>
      <p:sp>
        <p:nvSpPr>
          <p:cNvPr id="8" name="Text 6"/>
          <p:cNvSpPr txBox="1"/>
          <p:nvPr/>
        </p:nvSpPr>
        <p:spPr>
          <a:xfrm>
            <a:off x="3291840" y="3438144"/>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registro 2  (3 bit)</a:t>
            </a:r>
            <a:endParaRPr lang="en-US" sz="1350" dirty="0"/>
          </a:p>
        </p:txBody>
      </p:sp>
      <p:sp>
        <p:nvSpPr>
          <p:cNvPr id="9" name="Shape 7"/>
          <p:cNvSpPr/>
          <p:nvPr/>
        </p:nvSpPr>
        <p:spPr>
          <a:xfrm>
            <a:off x="2953512" y="3712464"/>
            <a:ext cx="310896" cy="0"/>
          </a:xfrm>
          <a:prstGeom prst="line">
            <a:avLst/>
          </a:prstGeom>
          <a:noFill/>
          <a:ln w="22225">
            <a:solidFill>
              <a:srgbClr val="C7791B"/>
            </a:solidFill>
            <a:prstDash val="solid"/>
            <a:tailEnd type="triangle"/>
          </a:ln>
        </p:spPr>
      </p:sp>
      <p:sp>
        <p:nvSpPr>
          <p:cNvPr id="10" name="Text 8"/>
          <p:cNvSpPr txBox="1"/>
          <p:nvPr/>
        </p:nvSpPr>
        <p:spPr>
          <a:xfrm>
            <a:off x="3291840" y="4151376"/>
            <a:ext cx="2743200" cy="548640"/>
          </a:xfrm>
          <a:prstGeom prst="roundRect">
            <a:avLst>
              <a:gd name="adj" fmla="val 10000"/>
            </a:avLst>
          </a:prstGeom>
          <a:solidFill>
            <a:srgbClr val="0E7C86"/>
          </a:solidFill>
          <a:ln>
            <a:solidFill>
              <a:srgbClr val="0E7C86"/>
            </a:solidFill>
          </a:ln>
        </p:spPr>
        <p:txBody>
          <a:bodyPr wrap="square" lIns="38100" tIns="38100" rIns="38100" bIns="3810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registro 3  (3 bit)</a:t>
            </a:r>
            <a:endParaRPr lang="en-US" sz="1350" dirty="0"/>
          </a:p>
        </p:txBody>
      </p:sp>
      <p:sp>
        <p:nvSpPr>
          <p:cNvPr id="11" name="Shape 9"/>
          <p:cNvSpPr/>
          <p:nvPr/>
        </p:nvSpPr>
        <p:spPr>
          <a:xfrm>
            <a:off x="2953512" y="4425696"/>
            <a:ext cx="310896" cy="0"/>
          </a:xfrm>
          <a:prstGeom prst="line">
            <a:avLst/>
          </a:prstGeom>
          <a:noFill/>
          <a:ln w="22225">
            <a:solidFill>
              <a:srgbClr val="C7791B"/>
            </a:solidFill>
            <a:prstDash val="solid"/>
            <a:tailEnd type="triangle"/>
          </a:ln>
        </p:spPr>
      </p:sp>
      <p:sp>
        <p:nvSpPr>
          <p:cNvPr id="12" name="Shape 10"/>
          <p:cNvSpPr/>
          <p:nvPr/>
        </p:nvSpPr>
        <p:spPr>
          <a:xfrm>
            <a:off x="640080" y="3383280"/>
            <a:ext cx="886968" cy="0"/>
          </a:xfrm>
          <a:prstGeom prst="line">
            <a:avLst/>
          </a:prstGeom>
          <a:noFill/>
          <a:ln w="25400">
            <a:solidFill>
              <a:srgbClr val="5B6B78"/>
            </a:solidFill>
            <a:prstDash val="solid"/>
            <a:tailEnd type="triangle"/>
          </a:ln>
        </p:spPr>
      </p:sp>
      <p:sp>
        <p:nvSpPr>
          <p:cNvPr id="13" name="Text 11"/>
          <p:cNvSpPr txBox="1"/>
          <p:nvPr/>
        </p:nvSpPr>
        <p:spPr>
          <a:xfrm>
            <a:off x="548640" y="3017520"/>
            <a:ext cx="10058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A1 A0</a:t>
            </a:r>
            <a:endParaRPr lang="en-US" sz="1400" dirty="0"/>
          </a:p>
        </p:txBody>
      </p:sp>
      <p:sp>
        <p:nvSpPr>
          <p:cNvPr id="14" name="Shape 12"/>
          <p:cNvSpPr/>
          <p:nvPr/>
        </p:nvSpPr>
        <p:spPr>
          <a:xfrm>
            <a:off x="4663440" y="1463040"/>
            <a:ext cx="0" cy="521208"/>
          </a:xfrm>
          <a:prstGeom prst="line">
            <a:avLst/>
          </a:prstGeom>
          <a:noFill/>
          <a:ln w="25400">
            <a:solidFill>
              <a:srgbClr val="5B6B78"/>
            </a:solidFill>
            <a:prstDash val="solid"/>
            <a:tailEnd type="triangle"/>
          </a:ln>
        </p:spPr>
      </p:sp>
      <p:sp>
        <p:nvSpPr>
          <p:cNvPr id="15" name="Text 13"/>
          <p:cNvSpPr txBox="1"/>
          <p:nvPr/>
        </p:nvSpPr>
        <p:spPr>
          <a:xfrm>
            <a:off x="4846320" y="1463040"/>
            <a:ext cx="14630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I2 I1 I0</a:t>
            </a:r>
            <a:endParaRPr lang="en-US" sz="1400" dirty="0"/>
          </a:p>
        </p:txBody>
      </p:sp>
      <p:sp>
        <p:nvSpPr>
          <p:cNvPr id="16" name="Shape 14"/>
          <p:cNvSpPr/>
          <p:nvPr/>
        </p:nvSpPr>
        <p:spPr>
          <a:xfrm>
            <a:off x="4663440" y="4727448"/>
            <a:ext cx="0" cy="530352"/>
          </a:xfrm>
          <a:prstGeom prst="line">
            <a:avLst/>
          </a:prstGeom>
          <a:noFill/>
          <a:ln w="25400">
            <a:solidFill>
              <a:srgbClr val="5B6B78"/>
            </a:solidFill>
            <a:prstDash val="solid"/>
            <a:tailEnd type="triangle"/>
          </a:ln>
        </p:spPr>
      </p:sp>
      <p:sp>
        <p:nvSpPr>
          <p:cNvPr id="17" name="Text 15"/>
          <p:cNvSpPr txBox="1"/>
          <p:nvPr/>
        </p:nvSpPr>
        <p:spPr>
          <a:xfrm>
            <a:off x="4846320" y="4937760"/>
            <a:ext cx="1463040" cy="274320"/>
          </a:xfrm>
          <a:prstGeom prst="rect">
            <a:avLst/>
          </a:prstGeom>
          <a:noFill/>
          <a:ln/>
        </p:spPr>
        <p:txBody>
          <a:bodyPr wrap="square" lIns="0" tIns="0" rIns="0" bIns="0" rtlCol="0" anchor="t"/>
          <a:lstStyle/>
          <a:p>
            <a:pPr indent="0" marL="0">
              <a:buNone/>
            </a:pPr>
            <a:r>
              <a:rPr lang="en-US" sz="1400" b="1" dirty="0">
                <a:solidFill>
                  <a:srgbClr val="1B2530"/>
                </a:solidFill>
                <a:latin typeface="Courier New" pitchFamily="34" charset="0"/>
                <a:ea typeface="Courier New" pitchFamily="34" charset="-122"/>
                <a:cs typeface="Courier New" pitchFamily="34" charset="-120"/>
              </a:rPr>
              <a:t>O2 O1 O0</a:t>
            </a:r>
            <a:endParaRPr lang="en-US" sz="1400" dirty="0"/>
          </a:p>
        </p:txBody>
      </p:sp>
      <p:sp>
        <p:nvSpPr>
          <p:cNvPr id="18" name="Text 16"/>
          <p:cNvSpPr txBox="1"/>
          <p:nvPr/>
        </p:nvSpPr>
        <p:spPr>
          <a:xfrm>
            <a:off x="548640" y="4937760"/>
            <a:ext cx="2926080" cy="274320"/>
          </a:xfrm>
          <a:prstGeom prst="rect">
            <a:avLst/>
          </a:prstGeom>
          <a:noFill/>
          <a:ln/>
        </p:spPr>
        <p:txBody>
          <a:bodyPr wrap="square" lIns="0" tIns="0" rIns="0" bIns="0" rtlCol="0" anchor="t"/>
          <a:lstStyle/>
          <a:p>
            <a:pPr indent="0" marL="0">
              <a:buNone/>
            </a:pPr>
            <a:r>
              <a:rPr lang="en-US" sz="1350" b="1" dirty="0">
                <a:solidFill>
                  <a:srgbClr val="B23A48"/>
                </a:solidFill>
                <a:latin typeface="Calibri" pitchFamily="34" charset="0"/>
                <a:ea typeface="Calibri" pitchFamily="34" charset="-122"/>
                <a:cs typeface="Calibri" pitchFamily="34" charset="-120"/>
              </a:rPr>
              <a:t>controllo: CS, RD, OE</a:t>
            </a:r>
            <a:endParaRPr lang="en-US" sz="1350" dirty="0"/>
          </a:p>
        </p:txBody>
      </p:sp>
      <p:sp>
        <p:nvSpPr>
          <p:cNvPr id="19" name="Shape 17"/>
          <p:cNvSpPr/>
          <p:nvPr/>
        </p:nvSpPr>
        <p:spPr>
          <a:xfrm>
            <a:off x="6675120" y="1492758"/>
            <a:ext cx="146304" cy="146304"/>
          </a:xfrm>
          <a:prstGeom prst="rect">
            <a:avLst/>
          </a:prstGeom>
          <a:solidFill>
            <a:srgbClr val="0E7C86"/>
          </a:solidFill>
          <a:ln w="12700">
            <a:solidFill>
              <a:srgbClr val="0E7C86"/>
            </a:solidFill>
            <a:prstDash val="solid"/>
          </a:ln>
        </p:spPr>
      </p:sp>
      <p:sp>
        <p:nvSpPr>
          <p:cNvPr id="20" name="Text 18"/>
          <p:cNvSpPr txBox="1"/>
          <p:nvPr/>
        </p:nvSpPr>
        <p:spPr>
          <a:xfrm>
            <a:off x="7059168" y="1417320"/>
            <a:ext cx="458388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Quattro registri di tre bit: una memoria di 4 parole per 3 bit</a:t>
            </a:r>
            <a:endParaRPr lang="en-US" sz="1800" dirty="0"/>
          </a:p>
        </p:txBody>
      </p:sp>
      <p:sp>
        <p:nvSpPr>
          <p:cNvPr id="21" name="Shape 19"/>
          <p:cNvSpPr/>
          <p:nvPr/>
        </p:nvSpPr>
        <p:spPr>
          <a:xfrm>
            <a:off x="6675120" y="2224088"/>
            <a:ext cx="146304" cy="146304"/>
          </a:xfrm>
          <a:prstGeom prst="rect">
            <a:avLst/>
          </a:prstGeom>
          <a:solidFill>
            <a:srgbClr val="C7791B"/>
          </a:solidFill>
          <a:ln w="12700">
            <a:solidFill>
              <a:srgbClr val="C7791B"/>
            </a:solidFill>
            <a:prstDash val="solid"/>
          </a:ln>
        </p:spPr>
      </p:sp>
      <p:sp>
        <p:nvSpPr>
          <p:cNvPr id="22" name="Text 20"/>
          <p:cNvSpPr txBox="1"/>
          <p:nvPr/>
        </p:nvSpPr>
        <p:spPr>
          <a:xfrm>
            <a:off x="7059168" y="2148650"/>
            <a:ext cx="458388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Due linee di indirizzo, A1 e A0, vanno a un decodificatore che seleziona un registro</a:t>
            </a:r>
            <a:endParaRPr lang="en-US" sz="1800" dirty="0"/>
          </a:p>
        </p:txBody>
      </p:sp>
      <p:sp>
        <p:nvSpPr>
          <p:cNvPr id="23" name="Shape 21"/>
          <p:cNvSpPr/>
          <p:nvPr/>
        </p:nvSpPr>
        <p:spPr>
          <a:xfrm>
            <a:off x="6675120" y="3234309"/>
            <a:ext cx="146304" cy="146304"/>
          </a:xfrm>
          <a:prstGeom prst="rect">
            <a:avLst/>
          </a:prstGeom>
          <a:solidFill>
            <a:srgbClr val="0E7C86"/>
          </a:solidFill>
          <a:ln w="12700">
            <a:solidFill>
              <a:srgbClr val="0E7C86"/>
            </a:solidFill>
            <a:prstDash val="solid"/>
          </a:ln>
        </p:spPr>
      </p:sp>
      <p:sp>
        <p:nvSpPr>
          <p:cNvPr id="24" name="Text 22"/>
          <p:cNvSpPr txBox="1"/>
          <p:nvPr/>
        </p:nvSpPr>
        <p:spPr>
          <a:xfrm>
            <a:off x="7059168" y="3158871"/>
            <a:ext cx="458388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Tre ingressi dati e tre uscite dati, condivisi da tutti i registri</a:t>
            </a:r>
            <a:endParaRPr lang="en-US" sz="1800" dirty="0"/>
          </a:p>
        </p:txBody>
      </p:sp>
      <p:sp>
        <p:nvSpPr>
          <p:cNvPr id="25" name="Shape 23"/>
          <p:cNvSpPr/>
          <p:nvPr/>
        </p:nvSpPr>
        <p:spPr>
          <a:xfrm>
            <a:off x="6675120" y="3965639"/>
            <a:ext cx="146304" cy="146304"/>
          </a:xfrm>
          <a:prstGeom prst="rect">
            <a:avLst/>
          </a:prstGeom>
          <a:solidFill>
            <a:srgbClr val="C7791B"/>
          </a:solidFill>
          <a:ln w="12700">
            <a:solidFill>
              <a:srgbClr val="C7791B"/>
            </a:solidFill>
            <a:prstDash val="solid"/>
          </a:ln>
        </p:spPr>
      </p:sp>
      <p:sp>
        <p:nvSpPr>
          <p:cNvPr id="26" name="Text 24"/>
          <p:cNvSpPr txBox="1"/>
          <p:nvPr/>
        </p:nvSpPr>
        <p:spPr>
          <a:xfrm>
            <a:off x="7059168" y="3890201"/>
            <a:ext cx="4583887" cy="155067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Tre linee di controllo</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CS, chip select: la memoria risponde solo quando è selezionata</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RD, lettura o scrittura</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OE, output enable: uscite a tre stati, così più memorie possono condividere un bus</a:t>
            </a:r>
            <a:endParaRPr lang="en-US" sz="1800" dirty="0"/>
          </a:p>
        </p:txBody>
      </p:sp>
      <p:sp>
        <p:nvSpPr>
          <p:cNvPr id="27" name="Shape 25"/>
          <p:cNvSpPr/>
          <p:nvPr/>
        </p:nvSpPr>
        <p:spPr>
          <a:xfrm>
            <a:off x="6675120" y="5689854"/>
            <a:ext cx="146304" cy="146304"/>
          </a:xfrm>
          <a:prstGeom prst="rect">
            <a:avLst/>
          </a:prstGeom>
          <a:solidFill>
            <a:srgbClr val="0E7C86"/>
          </a:solidFill>
          <a:ln w="12700">
            <a:solidFill>
              <a:srgbClr val="0E7C86"/>
            </a:solidFill>
            <a:prstDash val="solid"/>
          </a:ln>
        </p:spPr>
      </p:sp>
      <p:sp>
        <p:nvSpPr>
          <p:cNvPr id="28" name="Text 26"/>
          <p:cNvSpPr txBox="1"/>
          <p:nvPr/>
        </p:nvSpPr>
        <p:spPr>
          <a:xfrm>
            <a:off x="7059168" y="5614416"/>
            <a:ext cx="458388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Tutto ciò che contiene viene dalle Lezioni 11, 13 e da questa</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Perché a un bus comune servono i buffer a tre stati?</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rendere più veloci i trasferimenti</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Perché solo la sorgente abilitata piloti le linee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memorizzare il dato sul bus</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convertire i dati da seriali a paralleli</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Quanti impulsi di clock richiede il trasferimento seriale di una parola di 32 bit?</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Una memoria ha 10 linee di indirizzo e 8 linee di dati. Quanti bit memorizza?</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80</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1024</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8192</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10.240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86929"/>
                <a:gridCol w="2686929"/>
                <a:gridCol w="2860279"/>
                <a:gridCol w="2860279"/>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Inglese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word gate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porta di parola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three-state (tri-state)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tre stati (tristate)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 impedance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alta impedenza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shift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 a scorrimento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dedicated / common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bus dedicato / comune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serial / parallel transfer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trasferimento seriale / parallelo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load, strobe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caricamento, strobe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chip select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selezione del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registri sono una forma evoluta di memoria con un modo di funzionare elementare</a:t>
            </a:r>
            <a:endParaRPr lang="en-US" sz="2100" dirty="0"/>
          </a:p>
        </p:txBody>
      </p:sp>
      <p:sp>
        <p:nvSpPr>
          <p:cNvPr id="5" name="Shape 3"/>
          <p:cNvSpPr/>
          <p:nvPr/>
        </p:nvSpPr>
        <p:spPr>
          <a:xfrm>
            <a:off x="548640" y="234276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090"/>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 lettura e la scrittura dei registri avvengono attraverso bus di tipo diverso</a:t>
            </a:r>
            <a:endParaRPr lang="en-US" sz="2100" dirty="0"/>
          </a:p>
        </p:txBody>
      </p:sp>
      <p:sp>
        <p:nvSpPr>
          <p:cNvPr id="7" name="Shape 5"/>
          <p:cNvSpPr/>
          <p:nvPr/>
        </p:nvSpPr>
        <p:spPr>
          <a:xfrm>
            <a:off x="548640" y="28441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4548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Perché un bus comune funzioni servono circuiti a tre stati: 0, 1 e scollegato</a:t>
            </a:r>
            <a:endParaRPr lang="en-US" sz="2100" dirty="0"/>
          </a:p>
        </p:txBody>
      </p:sp>
      <p:sp>
        <p:nvSpPr>
          <p:cNvPr id="9" name="Shape 7"/>
          <p:cNvSpPr/>
          <p:nvPr/>
        </p:nvSpPr>
        <p:spPr>
          <a:xfrm>
            <a:off x="548640" y="334556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24688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 dati si trasferiscono in serie o in parallelo; i registri a scorrimento convertono tra le due forme</a:t>
            </a:r>
            <a:endParaRPr lang="en-US" sz="2100" dirty="0"/>
          </a:p>
        </p:txBody>
      </p:sp>
      <p:sp>
        <p:nvSpPr>
          <p:cNvPr id="11" name="Shape 9"/>
          <p:cNvSpPr/>
          <p:nvPr/>
        </p:nvSpPr>
        <p:spPr>
          <a:xfrm>
            <a:off x="548640" y="41723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7365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Un decodificatore davanti a un gruppo di registri fa una memoria: l'argomento della prossima lezione</a:t>
            </a:r>
            <a:endParaRPr lang="en-US" sz="2100" dirty="0"/>
          </a:p>
        </p:txBody>
      </p:sp>
      <p:sp>
        <p:nvSpPr>
          <p:cNvPr id="13" name="Shape 11"/>
          <p:cNvSpPr/>
          <p:nvPr/>
        </p:nvSpPr>
        <p:spPr>
          <a:xfrm>
            <a:off x="548640" y="4999101"/>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00422"/>
            <a:ext cx="10710367"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Letture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Struttura e progetto dei calcolatori, edizione RISC-V, appendice 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Bucci: Architettura dei calcolatori elettronici, i capitoli su registri e bus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Repository di PRG32: docs/hardware/hardware.md</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Macchine elementari: registri e bus</dc:title>
  <dc:subject>Lezione 14</dc:subject>
  <dc:creator>Raffaele Montella</dc:creator>
  <cp:lastModifiedBy>Raffaele Montella</cp:lastModifiedBy>
  <cp:revision>1</cp:revision>
  <dcterms:created xsi:type="dcterms:W3CDTF">2026-10-13T08:56:25Z</dcterms:created>
  <dcterms:modified xsi:type="dcterms:W3CDTF">2026-10-13T08:56:25Z</dcterms:modified>
</cp:coreProperties>
</file>