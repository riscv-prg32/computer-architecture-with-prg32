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540b4bf-7598-9eef-743e-33f9e241f850}">
          <p14:sldIdLst>
            <p14:sldId id="256"/>
            <p14:sldId id="257"/>
          </p14:sldIdLst>
        </p14:section>
        <p14:section name="Porte di parola e registri" id="{f4c85e4d-23a1-b16d-6b1c-7927ef27bda5}">
          <p14:sldIdLst>
            <p14:sldId id="258"/>
            <p14:sldId id="259"/>
          </p14:sldIdLst>
        </p14:section>
        <p14:section name="Bus" id="{1d7a1e7b-295a-d66d-7561-6db1dfd16df0}">
          <p14:sldIdLst>
            <p14:sldId id="260"/>
            <p14:sldId id="261"/>
            <p14:sldId id="262"/>
            <p14:sldId id="263"/>
          </p14:sldIdLst>
        </p14:section>
        <p14:section name="Buffer a tre stati" id="{e49afc7e-760a-b232-2b00-bf507dd5aec2}">
          <p14:sldIdLst>
            <p14:sldId id="264"/>
            <p14:sldId id="265"/>
            <p14:sldId id="266"/>
          </p14:sldIdLst>
        </p14:section>
        <p14:section name="Registri a scorrimento" id="{5f721c4a-5aea-5082-27a1-3fbbf9d48afe}">
          <p14:sldIdLst>
            <p14:sldId id="267"/>
            <p14:sldId id="268"/>
            <p14:sldId id="269"/>
            <p14:sldId id="270"/>
            <p14:sldId id="271"/>
          </p14:sldIdLst>
        </p14:section>
        <p14:section name="Ritorno alla macchina" id="{1c3709af-0618-0f5c-3e05-d872f734dd5a}">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si parlano: come una parola passa dall'uno all'altro, lungo quali fili, e che cosa accade quando molti registri condividono gli stessi fili. Le risposte sono il bus, il buffer a tre stati e il registro a scorrimento. La battuta di Doc Brown in copertina qui è ironica: ai dati le strade servono, e un bus è esattamente una strada. Il riscaldamento parte da un fatto del kit: il suo display riceve ogni pixel un bit alla volta.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Descrivere un registro come insieme di flip-flop con un clock comune e un segnale di caricamento. Spiegare che cos'è un bus e confrontare i bus dedicati con un bus comune. Dire perché a un bus comune servono i buffer a tre stati e che cosa significa alta impedenza. Descrivere un registro a scorrimento e le sue quattro combinazioni di ingresso e uscita seriali e paralleli. E convertire un dato da parallelo a seriale e viceversa, in hardware e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sono n porte identiche con un ingresso di controllo comune: con il controllo a 1 la parola passa invariata, con il controllo a 0 ogni bit è forzato a 0. È l'estensione naturale di una porta da un bit a una parola. Le istruzioni bit a bit di RISC-V sono porte di parola larghe trentadue bit, e con esse è costruito il multiplexer su parole della Lezione 11.
DA COMPRENDERE OGGI: i registri come flip-flop.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forma più semplice è un gruppo di flip-flop con un clock comune. L'esempio classico in un solo chip è il 74273, con otto flip-flop D, un clock e un clear. Caricare un registro significa memorizzare il dato presente ai suoi ingressi, e accade quando il segnale di caricamento è attivo, di norma in sincronia con il clock. Ciascuno dei registri da x1 a x31 di RISC-V è fatto di trentadue flip-flop di questo tipo.
DA COMPRENDERE OGGI: i registri come flip-flop.
Per il docente: Datasheet: ti.com/lit/ds/symlink/sn74ls273.pdf. Il 7474 contiene due flip-flop D con preset e clear. Per il flip-flop si veda la Lezione 13.
Immagini: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trasporta un dato tra i componenti di un sistema. La parola viene dal latino omnibus, «per tutti». Un bus di n linee trasporta in un passo una parola di n bit. Il trasferimento da un registro X a un registro Y è l'azione elementare da cui si costruisce tutto il resto: quasi ogni istruzione che avete scritto è, sotto sotto, una breve sequenza di trasferimenti tra registri.
DA COMPRENDERE OGGI: bus e porte three-state.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registri. Con i bus dedicati ogni possibile trasferimento ha le proprie linee: più trasferimenti possono avvenire insieme, ma i fili crescono con il quadrato del numero di registri. Con un bus comune un solo percorso serve tutti i trasferimenti: ogni volta si scelgono una sorgente e una destinazione, e un trasferimento richiede due passi, dalla sorgente al bus e dal bus alla destinazione. È economico e diffuso, al prezzo di fare un trasferimento alla volta.
DA COMPRENDERE OGGI: bus e porte three-state.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oppure seriale, con i bit che viaggiano uno dopo l'altro su una sola linea in n passi, oppure misto, per esempio un byte alla volta. Ricordate l'ultima riga: dentro un chip i bus sono paralleli; tra chip e tra macchine oggi sono quasi sempre seriali, perché ad altissima velocità è più facile tenere pulita una linea che tenere al passo trentadue linee.
DA COMPRENDERE OGGI: bus e porte three-state.
Per il docente: USB, SATA, PCI Express, HDMI ed Ethernet sono tutti seriali: ad altissima velocità è più facile tenere pulita una linea veloce che tenere al passo trentadue linee.
Immagini: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finché il segnale di abilitazione è attivo. La domanda in fondo porta alla sezione successiva: quando l'abilitazione non è attiva, che cosa deve essere l'uscita del buffer, per non disturbare il bus?
DA COMPRENDERE OGGI: bus e porte three-state.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a tre stati ha una terza condizione oltre a 0 e 1: l'alta impedenza, indicata con z, in cui l'uscita è elettricamente scollegata dal filo. Decide un ingresso di abilitazione: quando vale 1 la porta lavora normalmente, quando vale 0 l'uscita è z. La tabella lo mostra per un AND con abilitazione: quattro righe di un AND ordinario, e un'ultima riga in cui l'uscita è flottante quali che siano gli ingressi. Elettricamente, entrambi i transistor dello stadio di uscita sono spenti.
DA COMPRENDERE OGGI: bus e porte three-state.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a tre stati lascia passare un bus oppure lo scollega: quando l'abilitazione è attiva il bus di uscita riproduce quello di ingresso; altrimenti tutte le sue linee sono in alta impedenza. I piedini del chip del kit funzionano così: ciascuno può essere configurato come uscita, che pilota il filo, oppure rilasciato e usato come ingresso. I piedini del joystick sono ingressi; quelli del display sono uscite.
DA COMPRENDERE OGGI: bus e porte three-state.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a tre stati con la propria abilitazione. La regola è rigida: al più un'abilitazione è attiva alla volta, così una sorgente pilota il bus e tutte le altre sono scollegate. Dall'altro lato ogni registro destinazione è collegato al bus, e prende il dato solo quello il cui segnale di caricamento è attivo. Scegliere sorgente e destinazione è compito dei decodificatori pilotati dall'unità di controllo.
DA COMPRENDERE OGGI: bus e porte three-state.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passa alla cella adiacente. Ogni cella è un flip-flop D il cui ingresso è l'uscita della cella vicina. Il comportamento sensibile al fronte del flip-flop è essenziale: con latch trasparenti un bit attraverserebbe l'intera catena durante un solo impulso di clock. Lo scorrimento può avere un verso fisso oppure un verso scelto da una linea di controllo.
DA COMPRENDERE OGGI: i registri a scorrimento.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a seconda di dove entrano ed escono i dati. Ingresso seriale, uscita seriale: una linea di ritardo. Ingresso seriale, uscita parallela: raccoglie bit che arrivano uno alla volta e presenta la parola intera. Ingresso parallelo, uscita seriale: prende una parola e la manda fuori bit per bit. Ingresso parallelo, uscita parallela, senza scorrimento, è il registro ordinario. La seconda e la terza sono i due capi di ogni collegamento seriale.
DA COMPRENDERE OGGI: i registri a scorrimento.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è il compromesso di tutta la lezione: spostare una parola di n bit costa o tempo o rame.
DA COMPRENDERE OGGI: i registri a scorrimento.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ne esce, un bit per passo; i bit viaggiano su una sola linea; all'altro capo un secondo registro a scorrimento li raccoglie, uno per passo; e la parola ricostruita viene passata avanti in parallelo. È l'hardware del riscaldamento, ed è così che il display del kit riceve ogni pixel. Ogni standard seriale, dalla vecchia porta seriale a USB, poggia su una coppia di registri a scorrimento.
DA COMPRENDERE OGGI: 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di tre bit e un decodificatore fanno una piccola memoria. Due linee di indirizzo scelgono, attraverso il decodificatore, uno dei quattro registri; tre linee portano i dati in ingresso e tre li portano in uscita. La completano tre linee di controllo: chip select, perché la memoria risponda solo quando è selezionata; una linea che dice lettura o scrittura; e output enable, che comanda uscite a tre stati così che più memorie possano condividere un bus. Qui non c'è nulla di nuovo: decodificatore, registri, buffer a tre stati. La prossima lezione lo porta su scala più grande.
DA COMPRENDERE OGGI: i registri come flip-flop. DA COMPRENDERE PIÙ AVANTI: memorie e indirizzi (si studia nella Lezione 15).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due uscite collegate allo stesso filo, una a 0 e una a 1. Un buffer a tre stati non ha nulla a che vedere con la velocità, con la memorizzazione o con la conversione: scollega le sorgenti che non sono state scelte.
Un bit per impulso di clock. L'alternativa, un trasferimento parallelo, richiederebbe un impulso e trentadue fili.
Per il docente: 1. Risposta: B. Più sorgenti condividono le stesse linee; tutte tranne una devono essere elettricamente scollegate (alta impedenza), altrimenti due uscite si contenderebbero il filo.
2.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 alla 10; ogni parola ha 8 bit. Moltiplicate i due numeri. La prima opzione moltiplica le linee invece di usare la potenza.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l'alta impedenza. Uno shift register è un registro a scorrimento. Load e strobe indicano il segnale che fa prendere a un registro il proprio ingresso. Chip select è la linea che sceglie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funzionare elementare. I registri si leggono e si scrivono attraverso i bus. A un bus comune servono circuiti a tre stati: 0, 1 e scollegato. I dati viaggiano in serie o in parallelo, e i registri a scorrimento convertono tra le due forme. E un decodificatore davanti a un gruppo di registri fa una memoria, che è l'argomento della prossima lezione.
Stato di apprendimento, riepilogo. DA COMPRENDERE OGGI: i registri a scorrimento; i registri come flip-flop; bus e porte three-state. DA UTILIZZARE OGGI: il programma completo, gli strumenti di PRG32 (si usa, non si studia, in questo corso). DA COMPRENDERE PIÙ AVANTI: l'I/O mappato in memoria (Lezione 15); memorie e indirizzi (Lezione 15). Una slide senza etichetta è contesto: una storia, un esempio, una domanda, un esercizio.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16" name="Shape 14"/>
          <p:cNvSpPr/>
          <p:nvPr/>
        </p:nvSpPr>
        <p:spPr>
          <a:xfrm>
            <a:off x="7592009" y="91440"/>
            <a:ext cx="4051046" cy="274320"/>
          </a:xfrm>
          <a:prstGeom prst="rect">
            <a:avLst/>
          </a:prstGeom>
          <a:solidFill>
            <a:srgbClr val="E0F2FE"/>
          </a:solidFill>
          <a:ln w="12700">
            <a:solidFill>
              <a:srgbClr val="0369A1"/>
            </a:solidFill>
            <a:prstDash val="solid"/>
          </a:ln>
        </p:spPr>
      </p:sp>
      <p:sp>
        <p:nvSpPr>
          <p:cNvPr id="17" name="Shape 15"/>
          <p:cNvSpPr/>
          <p:nvPr/>
        </p:nvSpPr>
        <p:spPr>
          <a:xfrm>
            <a:off x="759200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19" name="Text 16"/>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74LS273 su una scheda: otto flip-flop D con un clock comune</a:t>
            </a:r>
            <a:endParaRPr lang="en-US" sz="1200" dirty="0"/>
          </a:p>
        </p:txBody>
      </p:sp>
      <p:sp>
        <p:nvSpPr>
          <p:cNvPr id="15" name="Shape 12"/>
          <p:cNvSpPr/>
          <p:nvPr/>
        </p:nvSpPr>
        <p:spPr>
          <a:xfrm>
            <a:off x="7592009" y="91440"/>
            <a:ext cx="4051046" cy="274320"/>
          </a:xfrm>
          <a:prstGeom prst="rect">
            <a:avLst/>
          </a:prstGeom>
          <a:solidFill>
            <a:srgbClr val="E0F2FE"/>
          </a:solidFill>
          <a:ln w="12700">
            <a:solidFill>
              <a:srgbClr val="0369A1"/>
            </a:solidFill>
            <a:prstDash val="solid"/>
          </a:ln>
        </p:spPr>
      </p:sp>
      <p:sp>
        <p:nvSpPr>
          <p:cNvPr id="16" name="Shape 13"/>
          <p:cNvSpPr/>
          <p:nvPr/>
        </p:nvSpPr>
        <p:spPr>
          <a:xfrm>
            <a:off x="759200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20025" y="128016"/>
            <a:ext cx="201168" cy="201168"/>
          </a:xfrm>
          <a:prstGeom prst="rect">
            <a:avLst/>
          </a:prstGeom>
        </p:spPr>
      </p:pic>
      <p:sp>
        <p:nvSpPr>
          <p:cNvPr id="18" name="Text 14"/>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Piste di rame su un circuito stampato</a:t>
            </a:r>
            <a:endParaRPr lang="en-US" sz="12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19" name="Shape 17"/>
          <p:cNvSpPr/>
          <p:nvPr/>
        </p:nvSpPr>
        <p:spPr>
          <a:xfrm>
            <a:off x="7723327" y="91440"/>
            <a:ext cx="3919728" cy="274320"/>
          </a:xfrm>
          <a:prstGeom prst="rect">
            <a:avLst/>
          </a:prstGeom>
          <a:solidFill>
            <a:srgbClr val="E0F2FE"/>
          </a:solidFill>
          <a:ln w="12700">
            <a:solidFill>
              <a:srgbClr val="0369A1"/>
            </a:solidFill>
            <a:prstDash val="solid"/>
          </a:ln>
        </p:spPr>
      </p:sp>
      <p:sp>
        <p:nvSpPr>
          <p:cNvPr id="20" name="Shape 18"/>
          <p:cNvSpPr/>
          <p:nvPr/>
        </p:nvSpPr>
        <p:spPr>
          <a:xfrm>
            <a:off x="7723327"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2" name="Text 1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15"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6"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8"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30" name="Shape 28"/>
          <p:cNvSpPr/>
          <p:nvPr/>
        </p:nvSpPr>
        <p:spPr>
          <a:xfrm>
            <a:off x="7723327" y="91440"/>
            <a:ext cx="3919728" cy="274320"/>
          </a:xfrm>
          <a:prstGeom prst="rect">
            <a:avLst/>
          </a:prstGeom>
          <a:solidFill>
            <a:srgbClr val="E0F2FE"/>
          </a:solidFill>
          <a:ln w="12700">
            <a:solidFill>
              <a:srgbClr val="0369A1"/>
            </a:solidFill>
            <a:prstDash val="solid"/>
          </a:ln>
        </p:spPr>
      </p:sp>
      <p:sp>
        <p:nvSpPr>
          <p:cNvPr id="31" name="Shape 29"/>
          <p:cNvSpPr/>
          <p:nvPr/>
        </p:nvSpPr>
        <p:spPr>
          <a:xfrm>
            <a:off x="7723327"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33" name="Text 30"/>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porte three-state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56" name="Shape 54"/>
          <p:cNvSpPr/>
          <p:nvPr/>
        </p:nvSpPr>
        <p:spPr>
          <a:xfrm>
            <a:off x="7657668" y="91440"/>
            <a:ext cx="3985387" cy="274320"/>
          </a:xfrm>
          <a:prstGeom prst="rect">
            <a:avLst/>
          </a:prstGeom>
          <a:solidFill>
            <a:srgbClr val="E0F2FE"/>
          </a:solidFill>
          <a:ln w="12700">
            <a:solidFill>
              <a:srgbClr val="0369A1"/>
            </a:solidFill>
            <a:prstDash val="solid"/>
          </a:ln>
        </p:spPr>
      </p:sp>
      <p:sp>
        <p:nvSpPr>
          <p:cNvPr id="57" name="Shape 55"/>
          <p:cNvSpPr/>
          <p:nvPr/>
        </p:nvSpPr>
        <p:spPr>
          <a:xfrm>
            <a:off x="7657668"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9" name="Text 56"/>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12" name="Shape 10"/>
          <p:cNvSpPr/>
          <p:nvPr/>
        </p:nvSpPr>
        <p:spPr>
          <a:xfrm>
            <a:off x="7657668" y="91440"/>
            <a:ext cx="3985387" cy="274320"/>
          </a:xfrm>
          <a:prstGeom prst="rect">
            <a:avLst/>
          </a:prstGeom>
          <a:solidFill>
            <a:srgbClr val="E0F2FE"/>
          </a:solidFill>
          <a:ln w="12700">
            <a:solidFill>
              <a:srgbClr val="0369A1"/>
            </a:solidFill>
            <a:prstDash val="solid"/>
          </a:ln>
        </p:spPr>
      </p:sp>
      <p:sp>
        <p:nvSpPr>
          <p:cNvPr id="13" name="Shape 11"/>
          <p:cNvSpPr/>
          <p:nvPr/>
        </p:nvSpPr>
        <p:spPr>
          <a:xfrm>
            <a:off x="7657668"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5" name="Text 1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4" name="Shape 22"/>
          <p:cNvSpPr/>
          <p:nvPr/>
        </p:nvSpPr>
        <p:spPr>
          <a:xfrm>
            <a:off x="7657668" y="91440"/>
            <a:ext cx="3985387" cy="274320"/>
          </a:xfrm>
          <a:prstGeom prst="rect">
            <a:avLst/>
          </a:prstGeom>
          <a:solidFill>
            <a:srgbClr val="E0F2FE"/>
          </a:solidFill>
          <a:ln w="12700">
            <a:solidFill>
              <a:srgbClr val="0369A1"/>
            </a:solidFill>
            <a:prstDash val="solid"/>
          </a:ln>
        </p:spPr>
      </p:sp>
      <p:sp>
        <p:nvSpPr>
          <p:cNvPr id="25" name="Shape 23"/>
          <p:cNvSpPr/>
          <p:nvPr/>
        </p:nvSpPr>
        <p:spPr>
          <a:xfrm>
            <a:off x="7657668"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7" name="Text 24"/>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a scorrimento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9" name="Shape 27"/>
          <p:cNvSpPr/>
          <p:nvPr/>
        </p:nvSpPr>
        <p:spPr>
          <a:xfrm>
            <a:off x="6503746" y="91440"/>
            <a:ext cx="5139309" cy="274320"/>
          </a:xfrm>
          <a:prstGeom prst="rect">
            <a:avLst/>
          </a:prstGeom>
          <a:solidFill>
            <a:srgbClr val="F3E8FF"/>
          </a:solidFill>
          <a:ln w="12700">
            <a:solidFill>
              <a:srgbClr val="7E22CE"/>
            </a:solidFill>
            <a:prstDash val="dash"/>
          </a:ln>
        </p:spPr>
      </p:sp>
      <p:sp>
        <p:nvSpPr>
          <p:cNvPr id="30" name="Shape 28"/>
          <p:cNvSpPr/>
          <p:nvPr/>
        </p:nvSpPr>
        <p:spPr>
          <a:xfrm>
            <a:off x="6531178" y="128016"/>
            <a:ext cx="45720" cy="45720"/>
          </a:xfrm>
          <a:prstGeom prst="rect">
            <a:avLst/>
          </a:prstGeom>
          <a:solidFill>
            <a:srgbClr val="7E22CE"/>
          </a:solidFill>
          <a:ln w="12700">
            <a:solidFill>
              <a:srgbClr val="7E22CE"/>
            </a:solidFill>
            <a:prstDash val="solid"/>
          </a:ln>
        </p:spPr>
      </p:sp>
      <p:sp>
        <p:nvSpPr>
          <p:cNvPr id="31" name="Shape 29"/>
          <p:cNvSpPr/>
          <p:nvPr/>
        </p:nvSpPr>
        <p:spPr>
          <a:xfrm>
            <a:off x="6531178" y="205740"/>
            <a:ext cx="45720" cy="45720"/>
          </a:xfrm>
          <a:prstGeom prst="rect">
            <a:avLst/>
          </a:prstGeom>
          <a:solidFill>
            <a:srgbClr val="7E22CE"/>
          </a:solidFill>
          <a:ln w="12700">
            <a:solidFill>
              <a:srgbClr val="7E22CE"/>
            </a:solidFill>
            <a:prstDash val="solid"/>
          </a:ln>
        </p:spPr>
      </p:sp>
      <p:sp>
        <p:nvSpPr>
          <p:cNvPr id="32" name="Shape 30"/>
          <p:cNvSpPr/>
          <p:nvPr/>
        </p:nvSpPr>
        <p:spPr>
          <a:xfrm>
            <a:off x="6531178"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6631762" y="128016"/>
            <a:ext cx="201168" cy="201168"/>
          </a:xfrm>
          <a:prstGeom prst="rect">
            <a:avLst/>
          </a:prstGeom>
        </p:spPr>
      </p:pic>
      <p:sp>
        <p:nvSpPr>
          <p:cNvPr id="34" name="Text 31"/>
          <p:cNvSpPr txBox="1"/>
          <p:nvPr/>
        </p:nvSpPr>
        <p:spPr>
          <a:xfrm>
            <a:off x="6887794" y="91440"/>
            <a:ext cx="471868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memorie e indirizzi</a:t>
            </a:r>
            <a:pPr indent="0" marL="0">
              <a:buNone/>
            </a:pPr>
            <a:r>
              <a:rPr lang="en-US" sz="1100" b="1" dirty="0">
                <a:solidFill>
                  <a:srgbClr val="6B21A8"/>
                </a:solidFill>
                <a:latin typeface="Calibri" pitchFamily="34" charset="0"/>
                <a:ea typeface="Calibri" pitchFamily="34" charset="-122"/>
                <a:cs typeface="Calibri" pitchFamily="34" charset="-120"/>
              </a:rPr>
              <a:t> → Lezione 15</a:t>
            </a:r>
            <a:endParaRPr lang="en-US" sz="1100" dirty="0"/>
          </a:p>
        </p:txBody>
      </p:sp>
      <p:sp>
        <p:nvSpPr>
          <p:cNvPr id="35" name="Shape 32"/>
          <p:cNvSpPr/>
          <p:nvPr/>
        </p:nvSpPr>
        <p:spPr>
          <a:xfrm>
            <a:off x="2342972" y="91440"/>
            <a:ext cx="4051046" cy="274320"/>
          </a:xfrm>
          <a:prstGeom prst="rect">
            <a:avLst/>
          </a:prstGeom>
          <a:solidFill>
            <a:srgbClr val="E0F2FE"/>
          </a:solidFill>
          <a:ln w="12700">
            <a:solidFill>
              <a:srgbClr val="0369A1"/>
            </a:solidFill>
            <a:prstDash val="solid"/>
          </a:ln>
        </p:spPr>
      </p:sp>
      <p:sp>
        <p:nvSpPr>
          <p:cNvPr id="36" name="Shape 33"/>
          <p:cNvSpPr/>
          <p:nvPr/>
        </p:nvSpPr>
        <p:spPr>
          <a:xfrm>
            <a:off x="2342972"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2470988" y="128016"/>
            <a:ext cx="201168" cy="201168"/>
          </a:xfrm>
          <a:prstGeom prst="rect">
            <a:avLst/>
          </a:prstGeom>
        </p:spPr>
      </p:pic>
      <p:sp>
        <p:nvSpPr>
          <p:cNvPr id="38" name="Text 34"/>
          <p:cNvSpPr txBox="1"/>
          <p:nvPr/>
        </p:nvSpPr>
        <p:spPr>
          <a:xfrm>
            <a:off x="2727020"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a un bus comune servono i buffer a tre stati?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più veloci i trasferimenti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solo la sorgente abilitata piloti le linee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memorizzare il dato sul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convertire i dati da seriali a paralleli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2026-10-16T16:46:58Z</dcterms:created>
  <dcterms:modified xsi:type="dcterms:W3CDTF">2026-10-16T16:46:58Z</dcterms:modified>
</cp:coreProperties>
</file>