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5a920f2-7ff3-a1e8-7537-f59622e7aa57}">
          <p14:sldIdLst>
            <p14:sldId id="256"/>
            <p14:sldId id="257"/>
          </p14:sldIdLst>
        </p14:section>
        <p14:section name="Porte di parola e registri" id="{48f28141-e915-1e91-69f5-511ebdfd42f7}">
          <p14:sldIdLst>
            <p14:sldId id="258"/>
            <p14:sldId id="259"/>
          </p14:sldIdLst>
        </p14:section>
        <p14:section name="Bus" id="{c550bb63-ed37-c7d0-7ddb-021769e39f54}">
          <p14:sldIdLst>
            <p14:sldId id="260"/>
            <p14:sldId id="261"/>
            <p14:sldId id="262"/>
            <p14:sldId id="263"/>
          </p14:sldIdLst>
        </p14:section>
        <p14:section name="Buffer a tre stati" id="{ef9807f8-e4c5-e35f-bffb-031ff85c9bf6}">
          <p14:sldIdLst>
            <p14:sldId id="264"/>
            <p14:sldId id="265"/>
            <p14:sldId id="266"/>
          </p14:sldIdLst>
        </p14:section>
        <p14:section name="Registri a scorrimento" id="{45c5127c-77f0-4cdb-7f7a-3f2ca9167bb9}">
          <p14:sldIdLst>
            <p14:sldId id="267"/>
            <p14:sldId id="268"/>
            <p14:sldId id="269"/>
            <p14:sldId id="270"/>
            <p14:sldId id="271"/>
          </p14:sldIdLst>
        </p14:section>
        <p14:section name="Ritorno alla macchina" id="{1e48fb8d-351b-ecca-bd71-c1edf60992fa}">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costruito un registro con i flip-flop. Questa si chiede come i registri comunicano: come una parola passa dall'uno all'altro, lungo quali fili, e che cosa accade quando molti registri condividono gli stessi fili. Le risposte sono il bus, il buffer three-state e il registro a scorrimento, le macchine elementari di ogni percorso dei dati. La battuta di Doc Brown in copertina è ironica in questo contesto: i dati hanno eccome bisogno di strade, e un bus è esattamente questo. Il riscaldamento parte da un fatto sul kit: il suo display riceve ogni pixel un bit alla volta.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 il docente: Spirale: il display del kit PRG32 riceve ogni pixel un bit alla volta; il riscaldamento invia un byte in serie in assembly, e la lezione costruisce le macchine che lo fanno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un registro come un insieme di flip-flop con un clock comune e un segnale di caricamento. Spiegare che cos'è un bus e confrontare i bus dedicati con un bus comune. Dire perché un bus comune richiede buffer three-state e che cosa significa alta impedenza. Descrivere un registro a scorrimento e le sue quattro combinazioni di ingresso e uscita seriali e parallele. E convertire un dato dalla forma parallela a quella seriale e ritorno, sia in hardware sia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è un vettore di n bit. Una porta di parola consiste di n porte identiche che condividono un ingresso di controllo: con il controllo a 1 la parola passa invariata, con il controllo a 0 ogni bit è forzato a 0. È la generalizzazione naturale di una porta da un bit a una parola. Le istruzioni bit a bit di RISC-V sono porte di parola larghe trentadue bit, e il multiplexer di parole della Lezione 11 è costruito con esse.
DA COMPRENDERE OGGI: i registri come flip-flop.
Per il docente: In inglese: word gates. Il multiplexer su parole della Lezione 11 è costruito con porte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memorizza un gruppo di bit; nella sua forma più semplice è un gruppo di flip-flop con un clock comune. Il classico esempio su un solo chip è il 74273, con otto flip-flop D, un clock e un ingresso di azzeramento. Caricare un registro significa memorizzare il dato presente ai suoi ingressi, il che avviene quando il segnale di caricamento è attivo, di norma in sincronia con il clock. Ciascuno dei registri RISC-V da x1 a x31 consiste di trentadue flip-flop di questo tipo.
DA COMPRENDERE OGGI: i registri come flip-flop.
Per il docente: Datasheet: ti.com/lit/ds/symlink/sn74ls273.pdf. Il 7474 contiene due flip-flop D con preset e clear. Per il flip-flop si veda la Lezione 13.
Immagini: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l'insieme delle linee che porta un dato tra i componenti di un sistema; la parola deriva dal latino omnibus, "per tutti". Un bus di n linee porta una parola di n bit in un passo. Il trasferimento da un registro X a un registro Y è l'azione elementare di cui tutte le altre sono composte: quasi ogni istruzione scritta finora è, a livello hardware, una breve sequenza di trasferimenti tra registri, una descrizione nota come livello dei trasferimenti tra registri.
DA COMPRENDERE OGGI: bus e porte three-state.
Per il docente: Quasi ogni istruzione della Lezione 02 è, in fondo, una sequenza di trasferimenti tra registri.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interconnettere i registri. Con bus dedicati ogni trasferimento possibile ha le sue linee: più trasferimenti possono avvenire contemporaneamente, ma i collegamenti crescono con il quadrato del numero di registri. Con un bus comune un solo percorso serve ogni trasferimento: di volta in volta si scelgono una sorgente e una destinazione, e un trasferimento richiede due passi, dalla sorgente al bus e dal bus alla destinazione. È economico e diffuso, al prezzo di eseguire un trasferimento alla volta. La scelta è un compromesso archetipico tra costo e parallelismo.
DA COMPRENDERE OGGI: bus e porte three-state.
Per il docente: Esistono soluzioni intermedie: più bus, ciascuno condiviso da un gruppo di registri. I processori reali le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trasferimento può essere parallelo, con gli n bit che viaggiano insieme su n linee in un passo; seriale, con i bit che viaggiano in sequenza su una linea in n passi; o misto, per esempio un byte alla volta. L'ultima riga registra una tendenza significativa: dentro un chip i bus sono paralleli, mentre tra chip e tra macchine oggi sono quasi sempre seriali, perché ad altissima velocità è più facile tenere pulita una linea che mantenere sincronizzate trentadue linee.
DA COMPRENDERE OGGI: bus e porte three-state.
Per il docente: USB, SATA, PCI Express, HDMI ed Ethernet sono tutti seriali: ad altissima velocità è più facile tenere pulita una linea veloce che tenere al passo trentadue linee.
Immagini: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due metà di un trasferimento su bus comune. A sinistra, dal bus a un registro: il dato sul bus viene caricato in R quando il segnale di caricamento è attivo. A destra, da un registro al bus: le uscite di R raggiungono il bus attraverso un buffer, e solo mentre il segnale di abilitazione è attivo. La domanda in fondo introduce la sezione successiva: quando l'abilitazione non è attiva, che cosa deve essere l'uscita del buffer per non disturbare il bus?
DA COMPRENDERE OGGI: bus e porte three-state.
Per il docente: Trasferimento dati su bus unico: caricamento di un registro (da bus a registro) e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Un'uscita three-state ha una terza condizione oltre a 0 e 1: l'alta impedenza, scritta z, in cui l'uscita è elettricamente scollegata dal filo. Un ingresso di abilitazione decide: quando vale 1 la porta funziona normalmente, quando vale 0 l'uscita è z. La tabella lo mostra per un AND con abilitazione: quattro righe di un AND ordinario, e un'ultima riga in cui l'uscita fluttua indipendentemente dagli ingressi. Elettricamente, entrambi i transistor dello stadio di uscita sono spenti.
DA COMPRENDERE OGGI: bus e porte three-state.
Per il docente: AND tristate; segnale di abilitazione in logica 1-attiva. Elettricamente, entrambi i transistor di uscita sono spenti.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Applicata a un'intera parola, una porta three-state lascia passare un bus o lo scollega: quando è abilitata, il bus di uscita riproduce quello di ingresso; altrimenti tutte le sue linee sono in alta impedenza. I piedini del chip del kit funzionano così: ciascuno si può configurare come uscita, che pilota il suo filo, oppure rilasciare e usare come ingresso. I piedini del joystick sono ingressi; quelli del display sono uscite.
DA COMPRENDERE OGGI: bus e porte three-state.
Per il docente: Tristate di parola. Sul kit i piedini del joystick sono configurati come ingressi (i loro buffer di uscita in alta impedenza) e quelli del display come uscite.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completo di un bus comune. Ogni registro sorgente raggiunge il bus attraverso un buffer three-state con la sua abilitazione. La regola è rigorosa: al più un'abilitazione può essere attiva in ogni momento, così che esattamente una sorgente piloti il bus mentre tutte le altre sono scollegate; due sorgenti attive si contenderebbero il filo. Dal lato ricevente ogni registro destinazione è collegato al bus, e solo quello con il segnale di caricamento attivo cattura il dato. Scegliere sorgente e destinazione è compito di decoder pilotati dall'unità di controllo, che la Lezione 18 descrive.
DA COMPRENDERE OGGI: bus e porte three-state.
Per il docente: Collegamento di bus: OR di bus; trasferimento verso registri-destinazione. Dentro i chip moderni le lunghe linee condivise sono di solito sostituite da multiplexer, che fanno la stessa selezione senza stati di alta impedenza; tra chip i bus a tre stati restano la regola.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a scorrimento è una catena di celle da un bit in cui, a ogni impulso di clock, ogni bit si sposta nella cella adiacente. Ogni cella è un flip-flop D il cui ingresso è l'uscita della vicina. Il comportamento sul fronte del flip-flop è essenziale: con latch trasparenti un bit attraverserebbe di corsa l'intera catena durante un solo impulso di clock. Lo scorrimento può avvenire in una direzione fissa oppure in una direzione scelta da una linea di controllo.
DA COMPRENDERE OGGI: i registri a scorrimento.
Per il docente: In inglese: shift registers. Qui i flip-flop sensibili al fronte sono essenziali: con latch trasparenti un bit attraverserebbe l'intera catena in un solo impulso di clock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catena di flip-flop dà quattro macchine, secondo dove i dati entrano ed escono. Ingresso seriale, uscita seriale: una linea di ritardo. Ingresso seriale, uscita parallela: raccoglie i bit che arrivano uno alla volta e presenta la parola completa. Ingresso parallelo, uscita seriale: accetta una parola e la emette bit per bit. Ingresso parallelo, uscita parallela, senza scorrimento, è il registro ordinario. La seconda e la terza sono i due capi di ogni collegamento seriale.
DA COMPRENDERE OGGI: i registri a scorrimento.
Per il docente: SISO, SIPO, PISO e PIPO. La linea di clock non è 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spostare una parola tra registri. In un trasferimento seriale l'uscita seriale di un registro a scorrimento alimenta l'ingresso seriale di un altro: n impulsi di clock, un filo. In un trasferimento parallelo le uscite di un registro alimentano gli ingressi di un altro: un impulso di clock, n fili. La frase a destra enuncia il compromesso dell'intera lezione: spostare una parola di n bit costa o tempo o rame.
DA COMPRENDERE OGGI: i registri a scorrimento.
Per il docente: Trasferimento seriale (ingresso seriale, uscita seriale) e trasferimento parallelo (ingresso parallelo, uscita parallela).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collegamento seriale completo in cinque passi: il dato viene caricato in parallelo in un registro a scorrimento; viene fatto uscire, un bit per passo; i bit viaggiano su una sola linea; all'altro capo un secondo registro a scorrimento li raccoglie, uno per passo; e la parola ricostruita viene consegnata in parallelo. È la controparte hardware del riscaldamento, e il modo in cui il display del kit riceve ogni pixel. Ogni standard seriale, dalla storica porta seriale all'USB, poggia su una coppia di registri a scorrimento.
DA COMPRENDERE OGGI: i registri a scorrimento.
Per il docente: Trasformazione serie-parallelo di un dato. UART, SPI, I2C, I2S e USB poggiano tutti su una coppia di registri a scorrimento, uno per estremità.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registri da tre bit e un decoder costituiscono una piccola memoria. Due linee di indirizzo selezionano, attraverso il decoder, uno dei quattro registri; tre linee portano i dati in ingresso e tre in uscita. Tre linee di controllo completano il progetto: il chip select, così che la memoria risponda solo quando è selezionata; una linea di lettura/scrittura; e l'output enable, che controlla uscite three-state così che più memorie possano condividere un bus. Nulla qui è nuovo, solo decoder, registri e buffer three-state; la prossima lezione porta la stessa struttura alla scala della memoria centrale.
DA COMPRENDERE OGGI: i registri come flip-flop. DA COMPRENDERE PIÙ AVANTI: memorie e indirizzi (si studia nella Lezione 15).
Per il docente: Memoria 4 (registri) x 3 (bit): otto ingressi (I0-I2, A0-A1, CS, RD, OE) e tre uscite. La prossima lezione porta questo schema alla scala della memoria centrale.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immaginano due uscite collegate allo stesso filo, una a 0 e l'altra a 1. Un buffer three-state non riguarda né la velocità, né la memorizzazione, né la conversione: scollega le sorgenti che non sono state selezionate.
Per la seconda: un bit per impulso di clock. L'alternativa, un trasferimento parallelo, richiederebbe un impulso e trentadue fili.
Per il docente: 1. Risposta: B. Più sorgenti condividono le stesse linee; tutte tranne una devono essere elettricamente scollegate (alta impedenza), altrimenti due uscite si contenderebbero il filo.
2. Risposta: C. Un bit per impulso: n impulsi per n bit. Un trasferimento parallelo richiede un impulso e n fili.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linee di indirizzo selezionano una parola tra 2^10, e ogni parola ha 8 bit; i due numeri si moltiplicano. La prima opzione moltiplica i numeri di linee invece di elevare due alla potenza delle linee di indirizzo, un errore frequente.
Per il docente: Risposta: C. 2^10 = 1024 parole di 8 bit: 8192 bit, cioè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Three-state, o tri-state, è a tre stati; high impedance è alta impedenza. Uno shift register è un registro a scorrimento. Load e strobe indicano il segnale che fa catturare a un registro il suo ingresso. Il chip select è la linea che indica quale dispositivo su un bus condiviso deve rispondere.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registro è una forma di memoria con un modo di funzionamento elementare. I registri si leggono e si scrivono attraverso i bus. Un bus comune richiede circuiti a tre stati: 0, 1 e scollegato. I dati viaggiano in serie o in parallelo, e i registri a scorrimento convertono tra le due forme. E un decoder posto davanti a un gruppo di registri costituisce una memoria, che è l'argomento della prossima lezione.
Stato di apprendimento, riepilogo.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 il docente: Prossima lezione: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Porte di parola, registri, bus, buffer a tre stati, trasferimenti seriali e paralleli</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“Strade? Dove stiamo andando non c'è bisogno di strade.”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Ritorno al futuro,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14-Architettura_dei_Calcolatori-Registri_e_Bus-Lab.pptx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come insieme di flip-flop con un clock comune, e spiegarne il segnale di caricamento</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bus, e confrontare i bus dedicati con un bus comune</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a un bus comune servono i buffer a tre stati, e che cosa significa alta impedenza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a scorrimento e le sue quattro combinazioni di ingresso e uscita seriali e paralleli</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un dato da parallelo a seriale e viceversa, in hardware e in assembly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Porte di parola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parola è un vettore V di n bit: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porta di parola agisce insieme su tutti i bit di una parola</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un segnale di controllo a, la porta di parola calcola a AND v(i) per ogni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la parola passa invariata; a = 0: ogni bit è forzato a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Sono n porte identiche con un ingresso di controllo comune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istruzioni bit a bit and, or, xor di RISC-V sono porte di parola larghe trentadue bit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porte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porta per bit, un segnale di controllo per tutte: il mattone di ogni datapath</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registro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registro è un dispositivo capace di memorizzare un gruppo di bit</a:t>
            </a:r>
            <a:endParaRPr lang="en-US" sz="2000" dirty="0"/>
          </a:p>
        </p:txBody>
      </p:sp>
      <p:sp>
        <p:nvSpPr>
          <p:cNvPr id="5" name="Shape 3"/>
          <p:cNvSpPr/>
          <p:nvPr/>
        </p:nvSpPr>
        <p:spPr>
          <a:xfrm>
            <a:off x="548640" y="23237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278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Nella forma più semplice: un gruppo di flip-flop e un segnale di sincronizzazione comune, un clock o un'abilitazione</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Esempio: il 74273, un registro a 8 bit in un chip</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otto flip-flop D; un clock e un clear; ingressi da D0 a D7, uscite da Q0 a Q7</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Caricare un registro: il dato ai suoi ingressi viene memorizzato quando il segnale di caricamento è attivo, di solito in sincronia con il clock</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ciascuno dei registri da x1 a x31 è fatto di trentadue flip-flop di questo tipo</a:t>
            </a:r>
            <a:endParaRPr lang="en-US" sz="20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74LS273 su una scheda: otto flip-flop D con un clock comune</a:t>
            </a:r>
            <a:endParaRPr lang="en-US" sz="1200" dirty="0"/>
          </a:p>
        </p:txBody>
      </p:sp>
      <p:sp>
        <p:nvSpPr>
          <p:cNvPr id="15" name="Shape 12"/>
          <p:cNvSpPr/>
          <p:nvPr/>
        </p:nvSpPr>
        <p:spPr>
          <a:xfrm>
            <a:off x="7592009" y="91440"/>
            <a:ext cx="4051046" cy="274320"/>
          </a:xfrm>
          <a:prstGeom prst="rect">
            <a:avLst/>
          </a:prstGeom>
          <a:solidFill>
            <a:srgbClr val="E0F2FE"/>
          </a:solidFill>
          <a:ln w="12700">
            <a:solidFill>
              <a:srgbClr val="0369A1"/>
            </a:solidFill>
            <a:prstDash val="solid"/>
          </a:ln>
        </p:spPr>
      </p:sp>
      <p:sp>
        <p:nvSpPr>
          <p:cNvPr id="16" name="Shape 13"/>
          <p:cNvSpPr/>
          <p:nvPr/>
        </p:nvSpPr>
        <p:spPr>
          <a:xfrm>
            <a:off x="759200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720025" y="128016"/>
            <a:ext cx="201168" cy="201168"/>
          </a:xfrm>
          <a:prstGeom prst="rect">
            <a:avLst/>
          </a:prstGeom>
        </p:spPr>
      </p:pic>
      <p:sp>
        <p:nvSpPr>
          <p:cNvPr id="18" name="Text 1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di dati 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canale di comunicazione che permette ai componenti di un sistema elettronico di scambiarsi dati trasmettendo e ricevendo segnali: l'insieme delle linee che trasporta un dato.</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trasferimento da un registro X a un registro Y è l'operazione fondamentale dell'architettura di un calcolatore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nome è una contrazione del latino omnibus: per tutti</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bus di n linee trasporta in un passo una parola di n bit</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soluzioni tecniche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dedicati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insieme di linee per ogni possibile trasferimento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Più trasferimenti possono avvenire insieme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Efficienti ma costosi: i fili crescono con il quadrato del numero di registri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comune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unico percorso raccoglie molti trasferimenti potenziali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volta si scelgono una sorgente e una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trasferimento richiede due passi: da sorgente a bus, da bus 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Economico e diffuso; meno efficiente, perché i trasferimenti non possono essere simultanei</a:t>
            </a:r>
            <a:endParaRPr lang="en-US" sz="19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paralleli, seriali e misti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Parallelo: gli n bit della parola viaggiano insieme su n linee, in un passo</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Seriale: i bit viaggiano uno dopo l'altro su una sola linea, in n passi</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Misto: per esempio seriale sul byte: otto linee portano un byte alla volta</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Accedere a un bus significa leggerlo o scriverlo; i bus hanno dimensioni fisiche molto diverse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un chip i bus sono paralleli; tra chip e tra macchine oggi sono quasi sempre seriali</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Piste di rame su un circuito stampato</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bus a registro, e da registro a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bus a registro: il dato viene caricato in R quando è attivo il segnale di caricamento c (uno strobe, di solito in sincronia con il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registro a bus: le uscite di R raggiungono il bus solo finché è attivo il segnale di abilitazione c. E quando non lo è, che cosa succede al bus?</a:t>
            </a:r>
            <a:endParaRPr lang="en-US" sz="1550" dirty="0"/>
          </a:p>
        </p:txBody>
      </p:sp>
      <p:sp>
        <p:nvSpPr>
          <p:cNvPr id="19" name="Shape 17"/>
          <p:cNvSpPr/>
          <p:nvPr/>
        </p:nvSpPr>
        <p:spPr>
          <a:xfrm>
            <a:off x="7723327" y="91440"/>
            <a:ext cx="3919728" cy="274320"/>
          </a:xfrm>
          <a:prstGeom prst="rect">
            <a:avLst/>
          </a:prstGeom>
          <a:solidFill>
            <a:srgbClr val="E0F2FE"/>
          </a:solidFill>
          <a:ln w="12700">
            <a:solidFill>
              <a:srgbClr val="0369A1"/>
            </a:solidFill>
            <a:prstDash val="solid"/>
          </a:ln>
        </p:spPr>
      </p:sp>
      <p:sp>
        <p:nvSpPr>
          <p:cNvPr id="20" name="Shape 18"/>
          <p:cNvSpPr/>
          <p:nvPr/>
        </p:nvSpPr>
        <p:spPr>
          <a:xfrm>
            <a:off x="7723327"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2" name="Text 1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porta a tre stati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 due registri pilotassero lo stesso filo, uno con 0 e uno con 1, il risultato sarebbe un cortocircuito</a:t>
            </a:r>
            <a:endParaRPr lang="en-US" sz="2000" dirty="0"/>
          </a:p>
        </p:txBody>
      </p:sp>
      <p:sp>
        <p:nvSpPr>
          <p:cNvPr id="5" name="Shape 3"/>
          <p:cNvSpPr/>
          <p:nvPr/>
        </p:nvSpPr>
        <p:spPr>
          <a:xfrm>
            <a:off x="548640" y="26969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Un'uscita a tre stati ha una terza condizione oltre a 0 e 1: l'alta impedenza, indicata con z</a:t>
            </a:r>
            <a:endParaRPr lang="en-US" sz="2000" dirty="0"/>
          </a:p>
        </p:txBody>
      </p:sp>
      <p:sp>
        <p:nvSpPr>
          <p:cNvPr id="7" name="Shape 5"/>
          <p:cNvSpPr/>
          <p:nvPr/>
        </p:nvSpPr>
        <p:spPr>
          <a:xfrm>
            <a:off x="548640" y="35758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8488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alta impedenza l'uscita è elettricamente scollegata: non pilota il filo e non lo carica</a:t>
            </a:r>
            <a:endParaRPr lang="en-US" sz="2000" dirty="0"/>
          </a:p>
        </p:txBody>
      </p:sp>
      <p:sp>
        <p:nvSpPr>
          <p:cNvPr id="9" name="Shape 7"/>
          <p:cNvSpPr/>
          <p:nvPr/>
        </p:nvSpPr>
        <p:spPr>
          <a:xfrm>
            <a:off x="548640" y="44546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37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Decide un segnale di abilitazione a: con a = 1 la porta lavora normalmente, con a = 0 l'uscita è z</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È la tecnica più diffusa per collegare più registri sorgente a un bus comune</a:t>
            </a:r>
            <a:endParaRPr lang="en-US" sz="2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Un AND a tre stati con abilitazione attiva alta: con a = 1 è un normale AND; con a = 0 la sua uscita è flottante.</a:t>
            </a:r>
            <a:endParaRPr lang="en-US" sz="14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Abilitare un bus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Una porta di parola a tre stati tra un segnale di abilitazione a e un bus X dà un bus Y</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Y riproduce X se a è attivo; altrimenti tutte le sue linee sono in alta impedenza: Y assume il valore neutro</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Si dice che Y è sostenuto da un buffer a tre stati</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 piedini GPIO dell'ESP32-C6 funzionano così: ogni piedino può essere un'uscita, oppure essere rilasciato e usato come ingresso</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tre stati: basso, alto e scollegato</a:t>
            </a:r>
            <a:endParaRPr lang="en-US" sz="1900" dirty="0"/>
          </a:p>
        </p:txBody>
      </p:sp>
      <p:sp>
        <p:nvSpPr>
          <p:cNvPr id="14"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5"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7"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Collegare i bus: l'OR di bus</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bus comune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registri</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destinazione</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Più registri sorgente si collegano a un bus semplicemente unendone le uscite, ciascuna attraverso un buffer a tre stati</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condizione: delle n sorgenti che confluiscono nel bus, al più una è abilitata alla volta. Un segnale attivo, gli altri n - 1 neutri</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Dal lato delle destinazioni ogni registro è collegato al bus, e prende il dato solo quello il cui segnale di caricamento è attivo</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Scegliere sorgente e destinazione è compito dei decodificatori, pilotati dall'unità di controllo</a:t>
            </a:r>
            <a:endParaRPr lang="en-US" sz="1800" dirty="0"/>
          </a:p>
        </p:txBody>
      </p:sp>
      <p:sp>
        <p:nvSpPr>
          <p:cNvPr id="30" name="Shape 28"/>
          <p:cNvSpPr/>
          <p:nvPr/>
        </p:nvSpPr>
        <p:spPr>
          <a:xfrm>
            <a:off x="7723327" y="91440"/>
            <a:ext cx="3919728" cy="274320"/>
          </a:xfrm>
          <a:prstGeom prst="rect">
            <a:avLst/>
          </a:prstGeom>
          <a:solidFill>
            <a:srgbClr val="E0F2FE"/>
          </a:solidFill>
          <a:ln w="12700">
            <a:solidFill>
              <a:srgbClr val="0369A1"/>
            </a:solidFill>
            <a:prstDash val="solid"/>
          </a:ln>
        </p:spPr>
      </p:sp>
      <p:sp>
        <p:nvSpPr>
          <p:cNvPr id="31" name="Shape 29"/>
          <p:cNvSpPr/>
          <p:nvPr/>
        </p:nvSpPr>
        <p:spPr>
          <a:xfrm>
            <a:off x="7723327"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33" name="Text 30"/>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a scorrimento</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Una catena di celle di memoria da un bit collegate tra loro: a ogni impulso di clock ogni bit passa da una cella a quella adiacente.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scorrimento può andare in un verso fisso, o in un verso scelto da una linea di controllo (registri bidirezionali)</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Facilitano la lettura e la scrittura di dati in un sistema: trasformano dati paralleli in seriali e viceversa</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cella è un flip-flop D il cui ingresso è l'uscita della cella vicina</a:t>
            </a:r>
            <a:endParaRPr lang="en-US" sz="24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tipi di registro a scorrimento</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seriale</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parallela</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seriale</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parallela</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stessa catena di flip-flop, con un clock comune c; cambia dove i dati entrano e dove escono. Ingresso e uscita paralleli senza scorrimento sono il registro ordinario.</a:t>
            </a:r>
            <a:endParaRPr lang="en-US" sz="1500" dirty="0"/>
          </a:p>
        </p:txBody>
      </p:sp>
      <p:sp>
        <p:nvSpPr>
          <p:cNvPr id="56" name="Shape 54"/>
          <p:cNvSpPr/>
          <p:nvPr/>
        </p:nvSpPr>
        <p:spPr>
          <a:xfrm>
            <a:off x="7657668" y="91440"/>
            <a:ext cx="3985387" cy="274320"/>
          </a:xfrm>
          <a:prstGeom prst="rect">
            <a:avLst/>
          </a:prstGeom>
          <a:solidFill>
            <a:srgbClr val="E0F2FE"/>
          </a:solidFill>
          <a:ln w="12700">
            <a:solidFill>
              <a:srgbClr val="0369A1"/>
            </a:solidFill>
            <a:prstDash val="solid"/>
          </a:ln>
        </p:spPr>
      </p:sp>
      <p:sp>
        <p:nvSpPr>
          <p:cNvPr id="57" name="Shape 55"/>
          <p:cNvSpPr/>
          <p:nvPr/>
        </p:nvSpPr>
        <p:spPr>
          <a:xfrm>
            <a:off x="7657668"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9" name="Text 56"/>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tra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seriale: l'uscita seriale di un registro a scorrimento alimenta l'ingresso seriale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impulsi di clock spostano una parola di n bit; basta un filo</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parallelo: le uscite parallele di un registro alimentano gli ingressi paralleli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impulso di clock sposta l'intera parola; servono n fili</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Tempo contro fili: lo stesso compromesso tra bus dedicati e bus comune</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n impulsi o n fili</a:t>
            </a:r>
            <a:endParaRPr lang="en-US" sz="53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spostare una parola di n bit costa o tempo o rame</a:t>
            </a:r>
            <a:endParaRPr lang="en-US" sz="19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seriale a parallelo e ritorno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di n bit è posto in parallelo nel registro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Uscita seriale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è un registro a scorrimento: gli n bit escono uno dopo l'altro, in n passi successivi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Viaggio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una sola linea li porta all'apparato a valle</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Ingresso seriale</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 altro registro è caricato in serie in n passi, ricostruendo il dato bit per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Uso</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ricostruito viene passato avanti in parallelo</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È l'hardware del riscaldamento. Il display del kit riceve così ogni pixel, su SPI; la tastiera della Lezione 21 invia così ogni codice di tasto.</a:t>
            </a:r>
            <a:endParaRPr lang="en-US" sz="2000" dirty="0"/>
          </a:p>
        </p:txBody>
      </p:sp>
      <p:sp>
        <p:nvSpPr>
          <p:cNvPr id="24" name="Shape 22"/>
          <p:cNvSpPr/>
          <p:nvPr/>
        </p:nvSpPr>
        <p:spPr>
          <a:xfrm>
            <a:off x="7657668" y="91440"/>
            <a:ext cx="3985387" cy="274320"/>
          </a:xfrm>
          <a:prstGeom prst="rect">
            <a:avLst/>
          </a:prstGeom>
          <a:solidFill>
            <a:srgbClr val="E0F2FE"/>
          </a:solidFill>
          <a:ln w="12700">
            <a:solidFill>
              <a:srgbClr val="0369A1"/>
            </a:solidFill>
            <a:prstDash val="solid"/>
          </a:ln>
        </p:spPr>
      </p:sp>
      <p:sp>
        <p:nvSpPr>
          <p:cNvPr id="25" name="Shape 23"/>
          <p:cNvSpPr/>
          <p:nvPr/>
        </p:nvSpPr>
        <p:spPr>
          <a:xfrm>
            <a:off x="7657668"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7" name="Text 24"/>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con un indirizzo: una prima memoria</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2-a-4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0  (3 bit)</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1  (3 bit)</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2  (3 bit)</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3  (3 bit)</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controllo: CS, RD, OE</a:t>
            </a:r>
            <a:endParaRPr lang="en-US" sz="1350" dirty="0"/>
          </a:p>
        </p:txBody>
      </p:sp>
      <p:sp>
        <p:nvSpPr>
          <p:cNvPr id="19" name="Shape 17"/>
          <p:cNvSpPr/>
          <p:nvPr/>
        </p:nvSpPr>
        <p:spPr>
          <a:xfrm>
            <a:off x="6675120" y="1492758"/>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Quattro registri di tre bit: una memoria di 4 parole per 3 bit</a:t>
            </a:r>
            <a:endParaRPr lang="en-US" sz="1800" dirty="0"/>
          </a:p>
        </p:txBody>
      </p:sp>
      <p:sp>
        <p:nvSpPr>
          <p:cNvPr id="21" name="Shape 19"/>
          <p:cNvSpPr/>
          <p:nvPr/>
        </p:nvSpPr>
        <p:spPr>
          <a:xfrm>
            <a:off x="6675120" y="2224088"/>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48650"/>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linee di indirizzo, A1 e A0, vanno a un decodificatore che seleziona un registro</a:t>
            </a:r>
            <a:endParaRPr lang="en-US" sz="1800" dirty="0"/>
          </a:p>
        </p:txBody>
      </p:sp>
      <p:sp>
        <p:nvSpPr>
          <p:cNvPr id="23" name="Shape 21"/>
          <p:cNvSpPr/>
          <p:nvPr/>
        </p:nvSpPr>
        <p:spPr>
          <a:xfrm>
            <a:off x="6675120" y="3234309"/>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3158871"/>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ingressi dati e tre uscite dati, condivisi da tutti i registri</a:t>
            </a:r>
            <a:endParaRPr lang="en-US" sz="1800" dirty="0"/>
          </a:p>
        </p:txBody>
      </p:sp>
      <p:sp>
        <p:nvSpPr>
          <p:cNvPr id="25" name="Shape 23"/>
          <p:cNvSpPr/>
          <p:nvPr/>
        </p:nvSpPr>
        <p:spPr>
          <a:xfrm>
            <a:off x="6675120" y="3965639"/>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890201"/>
            <a:ext cx="4583887" cy="155067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linee di controllo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CS, chip select: la memoria risponde solo quando è selezionata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RD, lettura o scrittura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OE, output enable: uscite a tre stati, così più memorie possono condividere un bus</a:t>
            </a:r>
            <a:endParaRPr lang="en-US" sz="1800" dirty="0"/>
          </a:p>
        </p:txBody>
      </p:sp>
      <p:sp>
        <p:nvSpPr>
          <p:cNvPr id="27" name="Shape 25"/>
          <p:cNvSpPr/>
          <p:nvPr/>
        </p:nvSpPr>
        <p:spPr>
          <a:xfrm>
            <a:off x="6675120" y="5689854"/>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614416"/>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Tutto ciò che contiene viene dalle Lezioni 11, 13 e da questa</a:t>
            </a:r>
            <a:endParaRPr lang="en-US" sz="1800" dirty="0"/>
          </a:p>
        </p:txBody>
      </p:sp>
      <p:sp>
        <p:nvSpPr>
          <p:cNvPr id="29" name="Shape 27"/>
          <p:cNvSpPr/>
          <p:nvPr/>
        </p:nvSpPr>
        <p:spPr>
          <a:xfrm>
            <a:off x="6503746" y="91440"/>
            <a:ext cx="5139309" cy="274320"/>
          </a:xfrm>
          <a:prstGeom prst="rect">
            <a:avLst/>
          </a:prstGeom>
          <a:solidFill>
            <a:srgbClr val="F3E8FF"/>
          </a:solidFill>
          <a:ln w="12700">
            <a:solidFill>
              <a:srgbClr val="7E22CE"/>
            </a:solidFill>
            <a:prstDash val="dash"/>
          </a:ln>
        </p:spPr>
      </p:sp>
      <p:sp>
        <p:nvSpPr>
          <p:cNvPr id="30" name="Shape 28"/>
          <p:cNvSpPr/>
          <p:nvPr/>
        </p:nvSpPr>
        <p:spPr>
          <a:xfrm>
            <a:off x="6531178" y="128016"/>
            <a:ext cx="45720" cy="45720"/>
          </a:xfrm>
          <a:prstGeom prst="rect">
            <a:avLst/>
          </a:prstGeom>
          <a:solidFill>
            <a:srgbClr val="7E22CE"/>
          </a:solidFill>
          <a:ln w="12700">
            <a:solidFill>
              <a:srgbClr val="7E22CE"/>
            </a:solidFill>
            <a:prstDash val="solid"/>
          </a:ln>
        </p:spPr>
      </p:sp>
      <p:sp>
        <p:nvSpPr>
          <p:cNvPr id="31" name="Shape 29"/>
          <p:cNvSpPr/>
          <p:nvPr/>
        </p:nvSpPr>
        <p:spPr>
          <a:xfrm>
            <a:off x="6531178" y="205740"/>
            <a:ext cx="45720" cy="45720"/>
          </a:xfrm>
          <a:prstGeom prst="rect">
            <a:avLst/>
          </a:prstGeom>
          <a:solidFill>
            <a:srgbClr val="7E22CE"/>
          </a:solidFill>
          <a:ln w="12700">
            <a:solidFill>
              <a:srgbClr val="7E22CE"/>
            </a:solidFill>
            <a:prstDash val="solid"/>
          </a:ln>
        </p:spPr>
      </p:sp>
      <p:sp>
        <p:nvSpPr>
          <p:cNvPr id="32" name="Shape 30"/>
          <p:cNvSpPr/>
          <p:nvPr/>
        </p:nvSpPr>
        <p:spPr>
          <a:xfrm>
            <a:off x="6531178"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34" name="Text 31"/>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memorie e indirizzi</a:t>
            </a:r>
            <a:pPr indent="0" marL="0">
              <a:buNone/>
            </a:pPr>
            <a:r>
              <a:rPr lang="en-US" sz="1100" b="1" dirty="0">
                <a:solidFill>
                  <a:srgbClr val="6B21A8"/>
                </a:solidFill>
                <a:latin typeface="Calibri" pitchFamily="34" charset="0"/>
                <a:ea typeface="Calibri" pitchFamily="34" charset="-122"/>
                <a:cs typeface="Calibri" pitchFamily="34" charset="-120"/>
              </a:rPr>
              <a:t> → Lezione 15</a:t>
            </a:r>
            <a:endParaRPr lang="en-US" sz="1100" dirty="0"/>
          </a:p>
        </p:txBody>
      </p:sp>
      <p:sp>
        <p:nvSpPr>
          <p:cNvPr id="35" name="Shape 32"/>
          <p:cNvSpPr/>
          <p:nvPr/>
        </p:nvSpPr>
        <p:spPr>
          <a:xfrm>
            <a:off x="2342972" y="91440"/>
            <a:ext cx="4051046" cy="274320"/>
          </a:xfrm>
          <a:prstGeom prst="rect">
            <a:avLst/>
          </a:prstGeom>
          <a:solidFill>
            <a:srgbClr val="E0F2FE"/>
          </a:solidFill>
          <a:ln w="12700">
            <a:solidFill>
              <a:srgbClr val="0369A1"/>
            </a:solidFill>
            <a:prstDash val="solid"/>
          </a:ln>
        </p:spPr>
      </p:sp>
      <p:sp>
        <p:nvSpPr>
          <p:cNvPr id="36" name="Shape 33"/>
          <p:cNvSpPr/>
          <p:nvPr/>
        </p:nvSpPr>
        <p:spPr>
          <a:xfrm>
            <a:off x="2342972"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38" name="Text 34"/>
          <p:cNvSpPr txBox="1"/>
          <p:nvPr/>
        </p:nvSpPr>
        <p:spPr>
          <a:xfrm>
            <a:off x="2727020"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a un bus comune servono i buffer a tre stati?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più veloci i trasferimenti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solo la sorgente abilitata piloti le linee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memorizzare il dato sul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convertire i dati da seriali a paralleli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impulsi di clock richiede il trasferimento seriale di una parola di 32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memoria ha 10 linee di indirizzo e 8 linee di dati. Quanti bit memorizza?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registri sono una forma evoluta di memoria con un modo di funzionare elementare</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lettura e la scrittura dei registri avvengono attraverso bus di tipo diverso</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Perché un bus comune funzioni servono circuiti a tre stati: 0, 1 e scollegato</a:t>
            </a:r>
            <a:endParaRPr lang="en-US" sz="2100" dirty="0"/>
          </a:p>
        </p:txBody>
      </p:sp>
      <p:sp>
        <p:nvSpPr>
          <p:cNvPr id="9" name="Shape 7"/>
          <p:cNvSpPr/>
          <p:nvPr/>
        </p:nvSpPr>
        <p:spPr>
          <a:xfrm>
            <a:off x="548640" y="3345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4688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dati si trasferiscono in serie o in parallelo; i registri a scorrimento convertono tra le due forme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decodificatore davanti a un gruppo di registri fa una memoria: l'argomento della prossima lezione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 registri e bus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Repository di PRG32: docs/hardware/hardware.md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dc:title>
  <dc:subject>Lezione 14</dc:subject>
  <dc:creator>Raffaele Montella</dc:creator>
  <cp:lastModifiedBy>Raffaele Montella</cp:lastModifiedBy>
  <cp:revision>1</cp:revision>
  <dcterms:created xsi:type="dcterms:W3CDTF">2026-10-16T23:36:45Z</dcterms:created>
  <dcterms:modified xsi:type="dcterms:W3CDTF">2026-10-16T23:36:45Z</dcterms:modified>
</cp:coreProperties>
</file>