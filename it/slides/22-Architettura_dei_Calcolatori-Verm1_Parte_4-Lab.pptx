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7a58903e-9831-492c-a565-7d43b055b0bb}">
          <p14:sldIdLst>
            <p14:sldId id="256"/>
            <p14:sldId id="257"/>
          </p14:sldIdLst>
        </p14:section>
        <p14:section name="I listati" id="{1015caa9-b4a3-593f-1974-e642e58a2148}">
          <p14:sldIdLst>
            <p14:sldId id="258"/>
          </p14:sldIdLst>
        </p14:section>
        <p14:section name="Passo 1: il punteggio in cifre" id="{a6aeed2d-2bc6-3f19-ed43-3ab154e565b0}">
          <p14:sldIdLst>
            <p14:sldId id="259"/>
            <p14:sldId id="260"/>
            <p14:sldId id="261"/>
            <p14:sldId id="262"/>
          </p14:sldIdLst>
        </p14:section>
        <p14:section name="Passo 2: i livelli" id="{4ee3c9ae-2b47-9700-4a9d-62eec98944cb}">
          <p14:sldIdLst>
            <p14:sldId id="263"/>
            <p14:sldId id="264"/>
            <p14:sldId id="265"/>
          </p14:sldIdLst>
        </p14:section>
        <p14:section name="Passo 3: step dice che cosa ha cambiato" id="{aeaae7d8-e9da-b0ff-2f32-34fa3d337685}">
          <p14:sldIdLst>
            <p14:sldId id="266"/>
            <p14:sldId id="267"/>
            <p14:sldId id="268"/>
            <p14:sldId id="269"/>
            <p14:sldId id="270"/>
            <p14:sldId id="271"/>
            <p14:sldId id="272"/>
            <p14:sldId id="273"/>
          </p14:sldIdLst>
        </p14:section>
        <p14:section name="Passo 4: disegnare solo ciò che è cambiato" id="{6509c5e5-b7af-15ff-e849-94558226fe17}">
          <p14:sldIdLst>
            <p14:sldId id="274"/>
            <p14:sldId id="275"/>
            <p14:sldId id="276"/>
            <p14:sldId id="277"/>
            <p14:sldId id="278"/>
            <p14:sldId id="279"/>
            <p14:sldId id="280"/>
            <p14:sldId id="281"/>
            <p14:sldId id="282"/>
            <p14:sldId id="283"/>
            <p14:sldId id="284"/>
          </p14:sldIdLst>
        </p14:section>
        <p14:section name="Passo 5: misurare" id="{61c9f165-466a-a835-ba90-45683b9ea219}">
          <p14:sldIdLst>
            <p14:sldId id="285"/>
            <p14:sldId id="286"/>
            <p14:sldId id="287"/>
            <p14:sldId id="288"/>
            <p14:sldId id="289"/>
            <p14:sldId id="290"/>
            <p14:sldId id="291"/>
            <p14:sldId id="292"/>
            <p14:sldId id="293"/>
          </p14:sldIdLst>
        </p14:section>
        <p14:section name="Eseguire e provare" id="{3f3e3b23-919d-2bb8-e262-7a089b5f533f}">
          <p14:sldIdLst>
            <p14:sldId id="294"/>
            <p14:sldId id="295"/>
            <p14:sldId id="296"/>
            <p14:sldId id="297"/>
            <p14:sldId id="298"/>
          </p14:sldIdLst>
        </p14:section>
        <p14:section name="Esercizi" id="{c8b063f0-b475-b366-7ecf-f013c10c0ccb}">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22.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quoziente e resto; caratteri e stringhe; la virgola fissa; la convenzione di chiamata; gli array in memoria; macchine a stati finiti; il frame buffer; il ciclo del processore. DA UTILIZZARE OGGI: gli strumenti di PRG32, il debugger di PRG32-QT (si usa, non si studia, in questo corso). DA COMPRENDERE PIÙ AVANTI: niente.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riferimento è ~/arc12/verm1/verm1_part4.S; tools/tests/verm1_check.py lo compila e lo gioca con un giocatore programmato, e verm1_steps.py esegue i punti di controllo intermedi.
Per il docente: Procurarsi il codice una volta: git clone https://github.com/riscv-prg32/computer-architecture-with-prg32 ~/arc12. Il programma di riferimento è ~/arc12/verm1/verm1_part4.S; tools/tests/verm1_check.py lo compila e lo gioca con un giocatore programmato, e verm1_steps.py esegue i punti di controllo intermedi.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soliti due comandi. Prima di cambiare qualsiasi cosa si esegue la Parte 3 in modalità debug e si annota la telemetria durante una partita: istruzioni eseguite, frame al secondo, frame in ritardo. Queste cifre sono il riferimento della misura che chiude la lezione; senza di esse nessuna affermazione di miglioramento sarebbe sostenibile.
DA UTILIZZARE OGGI: gli strumenti di PRG32 (si usa, non si studia, in questo corso).
Per il docente: Gli stessi due comandi. Prima di cominciare, eseguite la Parte 3 in modalità debug e annotate ciò che mostra la telemetria durante una partita: istruzioni eseguite (retired), frame al secondo, frame in ritardo. I numeri vi serviranno nel passo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to_decimal dichiara il suo contratto in un commento: il valore in a0, l'indirizzo di tre caratteri in a1. Esegue tre volte la stessa operazione: remu dà il resto della divisione per dieci, gli si somma 48, sb memorizza il byte, e divu lascia il quoziente per il giro successivo. Gli spiazzamenti sono 2, 1 e 0, dalle unità alle centinaia. La funzione è una foglia: non chiama nulla e usa solo temporanei, quindi non le serve alcuno stack frame. Le istruzioni di divisione sono lente su un piccolo processore, decine di cicli ciascuna, ma dieci di esse per passo sono trascurabili.
DA COMPRENDERE OGGI: quoziente e resto.
Per il docente: I valori sopra 999 mostrerebbero solo le ultime tre cifre: un limite che nessun giocatore incontrerà presto. Le istruzioni di divisione sono lente, decine di cicli di clock ciascuna su un processore piccolo, e dieci per passo del verme non sono nulla.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draw_score sostituisce quella della Parte 3. Chiama to_decimal due volte, una per il punteggio e una per il punteggio migliore, ogni volta con un indirizzo dentro una stringa in cui vanno le cifre: best_txt+5 salta la parola BEST e lo spazio che la segue. Le due stringhe si disegnano poi come qualsiasi altro testo. Poiché il testo si disegna con il suo colore di sfondo, le nuove cifre coprono le vecchie senza bisogno di cancellarle prima.
DA COMPRENDERE OGGI: caratteri e stringhe.
Per il docente: score_txt e best_txt sono stringhe in .data, non in .rodata: il programma ci scrive dentro. Il testo viene disegnato con il suo colore di sfondo, quindi le nuove cifre coprono le vecchie senza cancellare.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nuova sezione .data. Due stringhe che il programma riempie, poste in .data e non in .rodata proprio perché il programma vi scrive. Seguono sei nuove variabili: dirty, la posizione precedente della testa, e la cella da cancellare. Non si usano fino al terzo passo, ma si scrivono ora perché la sezione si scriva una volta sola.
DA COMPRENDERE OGGI: caratteri e stringhe.
Per il docente: Scrivetela tutta adesso. Le sei variabili da dirty a erase_y non vengono usate fino al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Compilare ed eseguire. La riga in alto mostra VERM1 000 e, a destra, BEST 000; ogni pasto incrementa il primo; perdendo, BEST mostra il punteggio raggiunto. Nel debugger si può ispezionare score_txt in memoria: dopo tre pasti i suoi byte sono 30 30 33 00, i caratteri prodotti dalla divisione dello studente.
Per il docente: Questo programma intermedio, la Parte 3 con le nuove draw_score, to_decimal e .data, viene compilato ed eseguito da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costante SPEED_Q8 è sostituita da due: un minimo di 32 e un massimo di 96. Entrambi sono valori in virgola fissa in 256-esimi di cella per frame, come nella Parte 2: 32 significa un passo ogni otto frame, 96 tre passi ogni otto frame.
DA COMPRENDERE OGGI: la virgola fissa.
Per il docente: Sostituite le costanti della Parte 3. Cambiano solo le due righe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timer alla fine di play_update. La velocità è 32 più quattro volte il punteggio, calcolata con uno scorrimento di due posizioni e una somma. Un confronto conserva poi il minore tra questo valore e il massimo. Il resto è il timer consueto: la velocità si somma a un accumulatore, e si fa un passo ogni volta che supera 256. Una grandezza che segue una retta e poi resta a un limite si dice che satura, la stessa idea del clamping della Lezione 05.
DA COMPRENDERE OGGI: la virgola fissa.
Per il docente: Sostituite il timer alla fine di play_update. Una saturazione: il valore segue una retta e poi resta al limite, come il clamp del primo laboratorio. Con la virgola fissa la velocità cambia di un sessantaquattresimo di cella per frame a ogni pasto: nessuna velocità intera potrebbe essere così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Compilare ed eseguire: il verme parte più lento che nella Parte 3 e accelera a ogni pasto. Con il debugger si possono contare i frame tra due passi a punteggio zero: otto, come previsto. Raggiunti i sedici punti, si può verificare che la velocità resti costante. I più audaci possono poi provare un massimo di 256, un passo per frame.
Per il docente: Verificato da tests/verm1_steps.py: 8 passi nei primi 64 frame di una partita.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play_note sostituisce eat_sound. Il chiamante sceglie nota e durata, in a2 e a4; la funzione fornisce canale, strumento e volume e chiama prg32_audio_note. La scelta dei registri è voluta: nota e durata stanno già dove la funzione del runtime le aspetta, quindi non serve spostare nulla. Progettare un contratto attorno all'interfaccia della funzione chiamata risparmia istruzioni, un esempio piccolo ma caratteristico di progetto delle interfacce.
DA COMPRENDERE OGGI: la convenzione di chiamata.
Per il docente: Gli argomenti restano nei registri in cui prg32_audio_note li aspetta: a2 è la nota e a4 la durata in entrambe le funzioni. Progettare un contratto attorno al chiamato risparmia spostamenti.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L'inizio di step, con due memorizzazioni aggiunte: prima che la testa si muova, le sue coordinate si scrivono in old_x e old_y. Quella cella sta per smettere di essere la testa e diventare corpo, e draw dovrà ridipingerla.
DA COMPRENDERE OGGI: gli array in memoria.
Per il docente: Al codice della Parte 3 si aggiungono due store: le righe che scrivono old_x e old_y.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ramo seguito in caso di pasto. Quando il verme mangia, la coda non si muove, quindi non c'è cella da cancellare, e erase_on si pone a zero per registrarlo.
DA COMPRENDERE OGGI: gli array in memoria.
Per il docente: Si aggiungono due righe: lo store di zero in erase_on.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il verme non mangia, la coda lascia una cella: le sue coordinate si salvano in erase_x ed erase_y, ed erase_on si pone a 1. Più avanti la collisione con il corpo non si gestisce più sul posto: è diventata una sola chiamata a game_is_over.
DA COMPRENDERE OGGI: gli array in memoria.
Per il docente: L'inizio è nuovo, sette righe; la fine è più corta che nella Parte 3, perché la transizione a OVER è diventata una funzione.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nuova testa si scrive nell'anello e nella mappa esattamente come nella Parte 3. La slide compare solo perché la funzione continua nella successiva.
DA COMPRENDERE OGGI: gli array in memoria.
Per il docente: Righe invariate, mostrate perché la funzione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nuova fine di step. Prima si pone dirty a 1, perché è avvenuto un passo e draw ha del lavoro da fare. Poi, se il verme ha mangiato: un punto in più, un nuovo cibo, e una nota breve e acuta, la numero 72 per 60 millisecondi, richiesta con due istruzioni li e una chiamata, con gli argomenti passati per contratto.
DA COMPRENDERE OGGI: la convenzione di chiamata.
Per il docente: Questo sostituisce la fine di step. Nota 72 per 60 millisecondi: il suono della Parte 2, attraverso la nuova funzione.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game_is_over raccoglie in un solo punto tutto ciò che comporta la transizione da PLAY a OVER: il nuovo stato, l'aggiornamento del punteggio migliore, dirty posto a 2 perché va disegnata un'intera schermata nuova, e una nota lunga e grave, la numero 36 per 400 millisecondi. Una transizione della macchina a stati merita una funzione propria, così che i suoi effetti non possano essere sparsi o dimenticati in parte.
DA COMPRENDERE OGGI: macchine a stati finiti.
Per il docente: Una transizione della macchina a stati merita una funzione tutta sua: stato, uscite e suono in un posto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Compilare ed eseguire: il gioco appare esattamente come dopo il secondo passo. Ciò che cambia si sente: una nota grave quando ci si morde. Nel debugger si vedono erase_x ed erase_y seguire la coda con un passo di ritardo, e dirty valere 1 o 2: viene scritto, e ancora nulla lo legge.
Per il docente: Questo programma intermedio viene compilato ed eseguito da tests/verm1_steps.py: verm1_draw della Parte 3 con step, play_note e game_is_over della Parte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nuova verm1_draw legge dirty e lo azzera subito. Se valeva zero, la funzione ritorna immediatamente: nessuno stack frame, nessuna chiamata, cinque istruzioni macchina. Se valeva 1, è avvenuto un passo e si chiama draw_changes. Se valeva 2, lo stato è cambiato e draw_full ridisegna tutto. Il caso più frequente è il più economico, che è il segno di un'ottimizzazione ben concepita.
DA COMPRENDERE OGGI: il frame buffer.
Per il docente: Sostituite verm1_draw. Il frame viene creato solo se c'è qualcosa da fare: il caso comune, nulla è cambiato, costa cinque istruzioni macchina.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draw_changes dipinge al più tre celle. Se erase_on è impostato, la cella lasciata dalla coda si dipinge di nero. La vecchia testa si ridipinge nel colore del corpo. Poi si disegnano la nuova testa, il cibo e il punteggio. L'ordine conta: la testa può entrare proprio nella cella che la coda ha appena lasciato, quindi la cancellazione deve precedere il disegno della testa.
DA COMPRENDERE OGGI: il frame buffer.
Per il docente: La testa può entrare nella cella che la coda ha appena lasciato: cancellare prima e disegnare la testa dopo dà l'immagine giusta.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draw_full è il corpo della vecchia verm1_draw: cancella lo schermo e disegna il punteggio, e nello stato TITLE aggiunge l'invito e ritorna. Si chiama una volta per ogni cambio di stato, non a ogni frame.
DA COMPRENDERE OGGI: il frame buffer.
Per il docente: Chiamata una volta per ogni cambio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metà di draw_full: in PLAY e OVER disegna il verme e il cibo attraverso le loro funzioni, e in OVER aggiunge le due parole della schermata di fine partita.
DA COMPRENDERE OGGI: il frame buffer.
Per il docente: La seconda metà di draw_full.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draw_head disegna una cella in verde brillante, la voce head_i dell'anello. È una piccola funzione con una sola responsabilità, usata da draw_changes.
DA COMPRENDERE OGGI: il frame buffer.
Per il docente: Una piccola funzione usata da draw_changes.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draw_food: le tre righe che stavano dentro draw hanno ora un nome e due chiamanti, il disegno completo e quello parziale.
DA COMPRENDERE OGGI: il frame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draw_text, l'aiutante della Parte 3, invariato. Compare in una slide propria perché nella Parte 3 ne condivideva una con il testo di fine partita.
Per il docente: Invariata: era mostrata insieme al testo del game over nella Parte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con tre righe aggiunte: dirty parte da 2, perché la schermata del titolo va disegnata una volta.
DA COMPRENDERE OGGI: macchine a stati finiti.
Per il docente: Sostituite verm1_init: si aggiungono tre righe.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verm1_update la transizione da OVER di nuovo a TITLE pone ora anche dirty a 2: un nuovo stato richiede una nuova schermata.
DA COMPRENDERE OGGI: macchine a stati finiti.
Per il docente: Sostituite la stessa parte di verm1_update.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in new_game, per la transizione da TITLE a PLAY. È la regola che governa la tecnica: ogni transizione richiede un disegno completo, ogni passo uno parziale. Dimenticarne una produce il difetto caratteristico del disegno incrementale, uno schermo che rappresenta uno stato non più vero.
DA COMPRENDERE OGGI: macchine a stati finiti.
Per il docente: Ogni transizione della macchina chiede un disegno completo; ogni passo ne chiede uno parziale. Dimenticarne uno è il tipico errore di questa tecnica: lo schermo mostra uno stato che non è più vero.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Verm1 finito. Deve essere lo stesso gioco di dopo il terzo passo, pixel per pixel: l'ottimizzazione deve essere invisibile. Scie o buchi indicano che qualche cambiamento non è stato registrato, e va cercato con il debugger, a partire dalle tre variabili che step scrive.
Per il docente: Schermate prodotte da tools/tests/verm1_check.py.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Segue un'appendice: le otto parti del file invariate dalla Parte 3. Sono incluse perché questa presentazione contenga l'intero programma, e vanno tenute così come sono.
Per il docente: File di riferimento di questa parte: verm1/verm1_part4.S (565 righe).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verm1_update: la lettura dei pulsanti e il rilevatore di fronti della Parte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metà di new_game: la mappa viene azzerata e il verme steso.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guida dentro play_update: le maschere dei pulsanti e la regola che vieta l'inversione a U, dalla Parte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L'inizio di step: lo stack frame e la consultazione della direzione nelle tabelle dx e 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una cella casuale, estratta di nuovo finché non ne esce una libera.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draw_worm, che percorre l'anello all'indietro. Ora la usa solo draw_full, una volta per ogni nuova schermata.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dalle celle ai pixel: la stessa funzione dalla Parte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sezione .rodata: le stringhe e le tabelle delle direzioni.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idee per fare proprio il gioco. Una pausa sul pulsante B, che richiede un quarto stato. Una melodia sulla schermata del titolo, letta da una tabella di note. Un cibo bonus che vale di più e scompare dopo un certo tempo. Colori propri, o regole proprie. La versione pubblicata nella prossima lezione dovrebbe contenere qualcosa dell'autore, a cominciare dal titolo.
Per il docente: Pausa: uno stato PAUSED con transizioni sul fronte di B (0x20), e dirty = 2 a entrambe le transizioni. Melodia: un indice e un contatore di frame in .data; la tabella si legge come dx.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22: Verm1, parte 4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parte 4: il gioco finito: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22-Architettura_dei_Calcolatori-Verm1_Parte_4.pptx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4_play.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31 listati della Lezione 22, uno per slide: leggete il codice, poi le osservazioni numerate a fianco</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è il vostro verm1.S; il riferimento è verm1/verm1_part4.S, 565 righe, mostrato qui regione per regione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8539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8356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750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1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di lavoro, di nuovo</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to_decimal: dividere per dieci, tre volte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to_decimal:                     </a:t>
            </a:r>
            <a:pPr indent="0" marL="0">
              <a:buNone/>
            </a:pPr>
            <a:r>
              <a:rPr lang="en-US" sz="1300" dirty="0">
                <a:solidFill>
                  <a:srgbClr val="8FB3A0"/>
                </a:solidFill>
                <a:latin typeface="Courier New" pitchFamily="34" charset="0"/>
                <a:ea typeface="Courier New" pitchFamily="34" charset="-122"/>
                <a:cs typeface="Courier New" pitchFamily="34" charset="-120"/>
              </a:rPr>
              <a:t># a0 = value 0..999, a1 = address of 3 chars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t0,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units: the remainder of value /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             </a:t>
            </a:r>
            <a:pPr indent="0" marL="0">
              <a:buNone/>
            </a:pPr>
            <a:r>
              <a:rPr lang="en-US" sz="1300" dirty="0">
                <a:solidFill>
                  <a:srgbClr val="8FB3A0"/>
                </a:solidFill>
                <a:latin typeface="Courier New" pitchFamily="34" charset="0"/>
                <a:ea typeface="Courier New" pitchFamily="34" charset="-122"/>
                <a:cs typeface="Courier New" pitchFamily="34" charset="-120"/>
              </a:rPr>
              <a:t># 48 is the ASCII code of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2(a1)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tens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1(a1)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hundreds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0(a1)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                         </a:t>
            </a:r>
            <a:pPr indent="0" marL="0">
              <a:buNone/>
            </a:pPr>
            <a:r>
              <a:rPr lang="en-US" sz="1300" dirty="0">
                <a:solidFill>
                  <a:srgbClr val="8FB3A0"/>
                </a:solidFill>
                <a:latin typeface="Courier New" pitchFamily="34" charset="0"/>
                <a:ea typeface="Courier New" pitchFamily="34" charset="-122"/>
                <a:cs typeface="Courier New" pitchFamily="34" charset="-120"/>
              </a:rPr>
              <a:t># a leaf function: no stack frame needed</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Contratto: a0 = valore, a1 = dove vanno i 3 caratteri</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remu dà la cifra, divu ciò che resta</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sb memorizza un byte: scostamenti 2, 1, 0 da a1</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Una foglia: solo registri t, nessun frame</a:t>
            </a:r>
            <a:endParaRPr lang="en-US" sz="1500" dirty="0"/>
          </a:p>
        </p:txBody>
      </p:sp>
      <p:sp>
        <p:nvSpPr>
          <p:cNvPr id="17" name="Shape 15"/>
          <p:cNvSpPr/>
          <p:nvPr/>
        </p:nvSpPr>
        <p:spPr>
          <a:xfrm>
            <a:off x="8117281" y="91440"/>
            <a:ext cx="3525774" cy="274320"/>
          </a:xfrm>
          <a:prstGeom prst="rect">
            <a:avLst/>
          </a:prstGeom>
          <a:solidFill>
            <a:srgbClr val="E0F2FE"/>
          </a:solidFill>
          <a:ln w="12700">
            <a:solidFill>
              <a:srgbClr val="0369A1"/>
            </a:solidFill>
            <a:prstDash val="solid"/>
          </a:ln>
        </p:spPr>
      </p:sp>
      <p:sp>
        <p:nvSpPr>
          <p:cNvPr id="18" name="Shape 16"/>
          <p:cNvSpPr/>
          <p:nvPr/>
        </p:nvSpPr>
        <p:spPr>
          <a:xfrm>
            <a:off x="8117281"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45297" y="128016"/>
            <a:ext cx="201168" cy="201168"/>
          </a:xfrm>
          <a:prstGeom prst="rect">
            <a:avLst/>
          </a:prstGeom>
        </p:spPr>
      </p:pic>
      <p:sp>
        <p:nvSpPr>
          <p:cNvPr id="20" name="Text 17"/>
          <p:cNvSpPr txBox="1"/>
          <p:nvPr/>
        </p:nvSpPr>
        <p:spPr>
          <a:xfrm>
            <a:off x="8501329" y="91440"/>
            <a:ext cx="310515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quoziente e resto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draw_score: due numeri, due testi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             </a:t>
            </a:r>
            <a:pPr indent="0" marL="0">
              <a:buNone/>
            </a:pPr>
            <a:r>
              <a:rPr lang="en-US" sz="1300" dirty="0">
                <a:solidFill>
                  <a:srgbClr val="8FB3A0"/>
                </a:solidFill>
                <a:latin typeface="Courier New" pitchFamily="34" charset="0"/>
                <a:ea typeface="Courier New" pitchFamily="34" charset="-122"/>
                <a:cs typeface="Courier New" pitchFamily="34" charset="-120"/>
              </a:rPr>
              <a:t># the score, as three characters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best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best_txt+5         </a:t>
            </a:r>
            <a:pPr indent="0" marL="0">
              <a:buNone/>
            </a:pPr>
            <a:r>
              <a:rPr lang="en-US" sz="1300" dirty="0">
                <a:solidFill>
                  <a:srgbClr val="8FB3A0"/>
                </a:solidFill>
                <a:latin typeface="Courier New" pitchFamily="34" charset="0"/>
                <a:ea typeface="Courier New" pitchFamily="34" charset="-122"/>
                <a:cs typeface="Courier New" pitchFamily="34" charset="-120"/>
              </a:rPr>
              <a:t># after the letters "BEST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best_txt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Sostituite draw_score della Parte 3: via le tacche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Le cifre vengono scritte in una stringa in RAM</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best_txt+5: salta BEST e lo spazio, cinque caratteri</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Poi la stringa si disegna come ogni altra</a:t>
            </a:r>
            <a:endParaRPr lang="en-US" sz="1300" dirty="0"/>
          </a:p>
        </p:txBody>
      </p:sp>
      <p:sp>
        <p:nvSpPr>
          <p:cNvPr id="17" name="Shape 15"/>
          <p:cNvSpPr/>
          <p:nvPr/>
        </p:nvSpPr>
        <p:spPr>
          <a:xfrm>
            <a:off x="7920304" y="91440"/>
            <a:ext cx="3722751" cy="274320"/>
          </a:xfrm>
          <a:prstGeom prst="rect">
            <a:avLst/>
          </a:prstGeom>
          <a:solidFill>
            <a:srgbClr val="E0F2FE"/>
          </a:solidFill>
          <a:ln w="12700">
            <a:solidFill>
              <a:srgbClr val="0369A1"/>
            </a:solidFill>
            <a:prstDash val="solid"/>
          </a:ln>
        </p:spPr>
      </p:sp>
      <p:sp>
        <p:nvSpPr>
          <p:cNvPr id="18" name="Shape 16"/>
          <p:cNvSpPr/>
          <p:nvPr/>
        </p:nvSpPr>
        <p:spPr>
          <a:xfrm>
            <a:off x="792030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20" name="Text 17"/>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caratteri e stringhe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.data: le variabili della Parte 4</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.section .data                  </a:t>
            </a:r>
            <a:pPr indent="0" marL="0">
              <a:buNone/>
            </a:pPr>
            <a:r>
              <a:rPr lang="en-US" sz="1250" dirty="0">
                <a:solidFill>
                  <a:srgbClr val="8FB3A0"/>
                </a:solidFill>
                <a:latin typeface="Courier New" pitchFamily="34" charset="0"/>
                <a:ea typeface="Courier New" pitchFamily="34" charset="-122"/>
                <a:cs typeface="Courier New" pitchFamily="34" charset="-120"/>
              </a:rPr>
              <a:t># variables: they live in RAM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state:     .word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prev_btn:  .word 0              </a:t>
            </a:r>
            <a:pPr indent="0" marL="0">
              <a:buNone/>
            </a:pPr>
            <a:r>
              <a:rPr lang="en-US" sz="1250" dirty="0">
                <a:solidFill>
                  <a:srgbClr val="8FB3A0"/>
                </a:solidFill>
                <a:latin typeface="Courier New" pitchFamily="34" charset="0"/>
                <a:ea typeface="Courier New" pitchFamily="34" charset="-122"/>
                <a:cs typeface="Courier New" pitchFamily="34" charset="-120"/>
              </a:rPr>
              <a:t># the buttons one frame ago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want: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step_q8: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      .word 0              </a:t>
            </a:r>
            <a:pPr indent="0" marL="0">
              <a:buNone/>
            </a:pPr>
            <a:r>
              <a:rPr lang="en-US" sz="1250" dirty="0">
                <a:solidFill>
                  <a:srgbClr val="8FB3A0"/>
                </a:solidFill>
                <a:latin typeface="Courier New" pitchFamily="34" charset="0"/>
                <a:ea typeface="Courier New" pitchFamily="34" charset="-122"/>
                <a:cs typeface="Courier New" pitchFamily="34" charset="-120"/>
              </a:rPr>
              <a:t># lost when the power goes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head_i:    .word 0              </a:t>
            </a:r>
            <a:pPr indent="0" marL="0">
              <a:buNone/>
            </a:pPr>
            <a:r>
              <a:rPr lang="en-US" sz="1250" dirty="0">
                <a:solidFill>
                  <a:srgbClr val="8FB3A0"/>
                </a:solidFill>
                <a:latin typeface="Courier New" pitchFamily="34" charset="0"/>
                <a:ea typeface="Courier New" pitchFamily="34" charset="-122"/>
                <a:cs typeface="Courier New" pitchFamily="34" charset="-120"/>
              </a:rPr>
              <a:t># ring index of the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length:    .word 0              </a:t>
            </a:r>
            <a:pPr indent="0" marL="0">
              <a:buNone/>
            </a:pPr>
            <a:r>
              <a:rPr lang="en-US" sz="1250" dirty="0">
                <a:solidFill>
                  <a:srgbClr val="8FB3A0"/>
                </a:solidFill>
                <a:latin typeface="Courier New" pitchFamily="34" charset="0"/>
                <a:ea typeface="Courier New" pitchFamily="34" charset="-122"/>
                <a:cs typeface="Courier New" pitchFamily="34" charset="-120"/>
              </a:rPr>
              <a:t># number of cells of the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body_x:    .space 256           </a:t>
            </a:r>
            <a:pPr indent="0" marL="0">
              <a:buNone/>
            </a:pPr>
            <a:r>
              <a:rPr lang="en-US" sz="1250" dirty="0">
                <a:solidFill>
                  <a:srgbClr val="8FB3A0"/>
                </a:solidFill>
                <a:latin typeface="Courier New" pitchFamily="34" charset="0"/>
                <a:ea typeface="Courier New" pitchFamily="34" charset="-122"/>
                <a:cs typeface="Courier New" pitchFamily="34" charset="-120"/>
              </a:rPr>
              <a:t># the ring: one byte per segment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body_y:    .space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grid:      .space COLS*ROWS     </a:t>
            </a:r>
            <a:pPr indent="0" marL="0">
              <a:buNone/>
            </a:pPr>
            <a:r>
              <a:rPr lang="en-US" sz="1250" dirty="0">
                <a:solidFill>
                  <a:srgbClr val="8FB3A0"/>
                </a:solidFill>
                <a:latin typeface="Courier New" pitchFamily="34" charset="0"/>
                <a:ea typeface="Courier New" pitchFamily="34" charset="-122"/>
                <a:cs typeface="Courier New" pitchFamily="34" charset="-120"/>
              </a:rPr>
              <a:t># one byte per cell: 1 =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dirty:     .word 2              </a:t>
            </a:r>
            <a:pPr indent="0" marL="0">
              <a:buNone/>
            </a:pPr>
            <a:r>
              <a:rPr lang="en-US" sz="1250" dirty="0">
                <a:solidFill>
                  <a:srgbClr val="8FB3A0"/>
                </a:solidFill>
                <a:latin typeface="Courier New" pitchFamily="34" charset="0"/>
                <a:ea typeface="Courier New" pitchFamily="34" charset="-122"/>
                <a:cs typeface="Courier New" pitchFamily="34" charset="-120"/>
              </a:rPr>
              <a:t># 0 nothing to draw, 1 a step, 2 everything</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old_x:     .word 0              </a:t>
            </a:r>
            <a:pPr indent="0" marL="0">
              <a:buNone/>
            </a:pPr>
            <a:r>
              <a:rPr lang="en-US" sz="1250" dirty="0">
                <a:solidFill>
                  <a:srgbClr val="8FB3A0"/>
                </a:solidFill>
                <a:latin typeface="Courier New" pitchFamily="34" charset="0"/>
                <a:ea typeface="Courier New" pitchFamily="34" charset="-122"/>
                <a:cs typeface="Courier New" pitchFamily="34" charset="-120"/>
              </a:rPr>
              <a:t># where the head was before the step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erase_on:  .word 0              </a:t>
            </a:r>
            <a:pPr indent="0" marL="0">
              <a:buNone/>
            </a:pPr>
            <a:r>
              <a:rPr lang="en-US" sz="1250" dirty="0">
                <a:solidFill>
                  <a:srgbClr val="8FB3A0"/>
                </a:solidFill>
                <a:latin typeface="Courier New" pitchFamily="34" charset="0"/>
                <a:ea typeface="Courier New" pitchFamily="34" charset="-122"/>
                <a:cs typeface="Courier New" pitchFamily="34" charset="-120"/>
              </a:rPr>
              <a:t># 1 if the tail left a cell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score_txt: .asciz "000"         </a:t>
            </a:r>
            <a:pPr indent="0" marL="0">
              <a:buNone/>
            </a:pPr>
            <a:r>
              <a:rPr lang="en-US" sz="1250" dirty="0">
                <a:solidFill>
                  <a:srgbClr val="8FB3A0"/>
                </a:solidFill>
                <a:latin typeface="Courier New" pitchFamily="34" charset="0"/>
                <a:ea typeface="Courier New" pitchFamily="34" charset="-122"/>
                <a:cs typeface="Courier New" pitchFamily="34" charset="-120"/>
              </a:rPr>
              <a:t># filled in by to_decimal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best_txt:  .asciz "BEST 000"</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Sostituite la .data della Parte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Due stringhe che il programma compila</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old ed erase: usate nei passi 3 e 4</a:t>
            </a:r>
            <a:endParaRPr lang="en-US" sz="17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caratteri e stringhe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le cifre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premete A: la riga in alto dice VERM1 000 e, a destra, BEST 000</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Giocate e mangiate: 001, 002, ...</a:t>
            </a:r>
            <a:endParaRPr lang="en-US" sz="2400" dirty="0"/>
          </a:p>
        </p:txBody>
      </p:sp>
      <p:sp>
        <p:nvSpPr>
          <p:cNvPr id="8" name="Text 6"/>
          <p:cNvSpPr txBox="1"/>
          <p:nvPr/>
        </p:nvSpPr>
        <p:spPr>
          <a:xfrm>
            <a:off x="548640" y="3154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1363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Perdete: nella schermata di game over BEST mostra il vostro punteggio</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Nel debugger trovate score_txt in memoria e leggetene i byte: 30 30 33 00 dopo tre pasti</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Il punteggio e il punteggio migliore in cifre; tutto il resto come nella Parte 3.</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Costanti: due velocità invece di una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.option norelax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00" dirty="0">
                <a:solidFill>
                  <a:srgbClr val="8FB3A0"/>
                </a:solidFill>
                <a:latin typeface="Courier New" pitchFamily="34" charset="0"/>
                <a:ea typeface="Courier New" pitchFamily="34" charset="-122"/>
                <a:cs typeface="Courier New" pitchFamily="34" charset="-120"/>
              </a:rPr>
              <a:t># RGB565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WHITE, 0xffff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GREEN, 0x07e0          </a:t>
            </a:r>
            <a:pPr indent="0" marL="0">
              <a:buNone/>
            </a:pPr>
            <a:r>
              <a:rPr lang="en-US" sz="1200" dirty="0">
                <a:solidFill>
                  <a:srgbClr val="8FB3A0"/>
                </a:solidFill>
                <a:latin typeface="Courier New" pitchFamily="34" charset="0"/>
                <a:ea typeface="Courier New" pitchFamily="34" charset="-122"/>
                <a:cs typeface="Courier New" pitchFamily="34" charset="-120"/>
              </a:rPr>
              <a:t># the 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BODY,  0x03e0          </a:t>
            </a:r>
            <a:pPr indent="0" marL="0">
              <a:buNone/>
            </a:pPr>
            <a:r>
              <a:rPr lang="en-US" sz="1200" dirty="0">
                <a:solidFill>
                  <a:srgbClr val="8FB3A0"/>
                </a:solidFill>
                <a:latin typeface="Courier New" pitchFamily="34" charset="0"/>
                <a:ea typeface="Courier New" pitchFamily="34" charset="-122"/>
                <a:cs typeface="Courier New" pitchFamily="34" charset="-120"/>
              </a:rPr>
              <a:t># the body: a darker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RED,   0xf800          </a:t>
            </a:r>
            <a:pPr indent="0" marL="0">
              <a:buNone/>
            </a:pPr>
            <a:r>
              <a:rPr lang="en-US" sz="1200" dirty="0">
                <a:solidFill>
                  <a:srgbClr val="8FB3A0"/>
                </a:solidFill>
                <a:latin typeface="Courier New" pitchFamily="34" charset="0"/>
                <a:ea typeface="Courier New" pitchFamily="34" charset="-122"/>
                <a:cs typeface="Courier New" pitchFamily="34" charset="-120"/>
              </a:rPr>
              <a:t># the 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CELL,  8               </a:t>
            </a:r>
            <a:pPr indent="0" marL="0">
              <a:buNone/>
            </a:pPr>
            <a:r>
              <a:rPr lang="en-US" sz="1200" dirty="0">
                <a:solidFill>
                  <a:srgbClr val="8FB3A0"/>
                </a:solidFill>
                <a:latin typeface="Courier New" pitchFamily="34" charset="0"/>
                <a:ea typeface="Courier New" pitchFamily="34" charset="-122"/>
                <a:cs typeface="Courier New" pitchFamily="34" charset="-120"/>
              </a:rPr>
              <a:t># a cell is 8 x 8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COLS,  40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ROWS,  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TOP,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SPEED_MIN, 32          </a:t>
            </a:r>
            <a:pPr indent="0" marL="0">
              <a:buNone/>
            </a:pPr>
            <a:r>
              <a:rPr lang="en-US" sz="1200" dirty="0">
                <a:solidFill>
                  <a:srgbClr val="8FB3A0"/>
                </a:solidFill>
                <a:latin typeface="Courier New" pitchFamily="34" charset="0"/>
                <a:ea typeface="Courier New" pitchFamily="34" charset="-122"/>
                <a:cs typeface="Courier New" pitchFamily="34" charset="-120"/>
              </a:rPr>
              <a:t># 32/256 of a cell per frame at the start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SPEED_MAX, 96          </a:t>
            </a:r>
            <a:pPr indent="0" marL="0">
              <a:buNone/>
            </a:pPr>
            <a:r>
              <a:rPr lang="en-US" sz="1200" dirty="0">
                <a:solidFill>
                  <a:srgbClr val="8FB3A0"/>
                </a:solidFill>
                <a:latin typeface="Courier New" pitchFamily="34" charset="0"/>
                <a:ea typeface="Courier New" pitchFamily="34" charset="-122"/>
                <a:cs typeface="Courier New" pitchFamily="34" charset="-120"/>
              </a:rPr>
              <a:t># the worm never goes faster than this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BTN_LEFT,  0x01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BTN_RIGHT, 0x02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BTN_UP,    0x04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BTN_DOWN,  0x08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BTN_A,     0x10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00" dirty="0">
                <a:solidFill>
                  <a:srgbClr val="8FB3A0"/>
                </a:solidFill>
                <a:latin typeface="Courier New" pitchFamily="34" charset="0"/>
                <a:ea typeface="Courier New" pitchFamily="34" charset="-122"/>
                <a:cs typeface="Courier New" pitchFamily="34" charset="-120"/>
              </a:rPr>
              <a:t># bit 0 = vertical, bit 1 = backwards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DIR_DOWN,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DIR_LEFT,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DIR_UP,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TITLE, 0               </a:t>
            </a:r>
            <a:pPr indent="0" marL="0">
              <a:buNone/>
            </a:pPr>
            <a:r>
              <a:rPr lang="en-US" sz="1200" dirty="0">
                <a:solidFill>
                  <a:srgbClr val="8FB3A0"/>
                </a:solidFill>
                <a:latin typeface="Courier New" pitchFamily="34" charset="0"/>
                <a:ea typeface="Courier New" pitchFamily="34" charset="-122"/>
                <a:cs typeface="Courier New" pitchFamily="34" charset="-120"/>
              </a:rPr>
              <a:t># the three states of the game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PLAY,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OVER,  2</a:t>
            </a:r>
            <a:endParaRPr lang="en-US" sz="12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SPEED_Q8 è sostituita da un minimo e un massimo</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32/256: un passo ogni 8 frame all'inizio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96/256: al massimo tre passi ogni 8 frame</a:t>
            </a:r>
            <a:endParaRPr lang="en-US" sz="1700" dirty="0"/>
          </a:p>
        </p:txBody>
      </p:sp>
      <p:sp>
        <p:nvSpPr>
          <p:cNvPr id="14" name="Shape 12"/>
          <p:cNvSpPr/>
          <p:nvPr/>
        </p:nvSpPr>
        <p:spPr>
          <a:xfrm>
            <a:off x="8182940" y="91440"/>
            <a:ext cx="3460115" cy="274320"/>
          </a:xfrm>
          <a:prstGeom prst="rect">
            <a:avLst/>
          </a:prstGeom>
          <a:solidFill>
            <a:srgbClr val="E0F2FE"/>
          </a:solidFill>
          <a:ln w="12700">
            <a:solidFill>
              <a:srgbClr val="0369A1"/>
            </a:solidFill>
            <a:prstDash val="solid"/>
          </a:ln>
        </p:spPr>
      </p:sp>
      <p:sp>
        <p:nvSpPr>
          <p:cNvPr id="15" name="Shape 13"/>
          <p:cNvSpPr/>
          <p:nvPr/>
        </p:nvSpPr>
        <p:spPr>
          <a:xfrm>
            <a:off x="818294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17" name="Text 14"/>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play_update: una velocità che cresce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t3, t3, 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t3, t3, SPEED_MIN      </a:t>
            </a:r>
            <a:pPr indent="0" marL="0">
              <a:buNone/>
            </a:pPr>
            <a:r>
              <a:rPr lang="en-US" sz="1300" dirty="0">
                <a:solidFill>
                  <a:srgbClr val="8FB3A0"/>
                </a:solidFill>
                <a:latin typeface="Courier New" pitchFamily="34" charset="0"/>
                <a:ea typeface="Courier New" pitchFamily="34" charset="-122"/>
                <a:cs typeface="Courier New" pitchFamily="34" charset="-120"/>
              </a:rPr>
              <a:t># speed = 32 + 4 * score, in 1/256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t4, SPEED_MAX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ble  t3, t4, 8f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t3, t4                 </a:t>
            </a:r>
            <a:pPr indent="0" marL="0">
              <a:buNone/>
            </a:pPr>
            <a:r>
              <a:rPr lang="en-US" sz="1300" dirty="0">
                <a:solidFill>
                  <a:srgbClr val="8FB3A0"/>
                </a:solidFill>
                <a:latin typeface="Courier New" pitchFamily="34" charset="0"/>
                <a:ea typeface="Courier New" pitchFamily="34" charset="-122"/>
                <a:cs typeface="Courier New" pitchFamily="34" charset="-120"/>
              </a:rPr>
              <a:t># ... but never more than 96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8:  la   t0, step_q8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t1, t1, t3             </a:t>
            </a:r>
            <a:pPr indent="0" marL="0">
              <a:buNone/>
            </a:pPr>
            <a:r>
              <a:rPr lang="en-US" sz="1300" dirty="0">
                <a:solidFill>
                  <a:srgbClr val="8FB3A0"/>
                </a:solidFill>
                <a:latin typeface="Courier New" pitchFamily="34" charset="0"/>
                <a:ea typeface="Courier New" pitchFamily="34" charset="-122"/>
                <a:cs typeface="Courier New" pitchFamily="34" charset="-120"/>
              </a:rPr>
              <a:t># add a fraction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blt  t1, t2, 6f             </a:t>
            </a:r>
            <a:pPr indent="0" marL="0">
              <a:buNone/>
            </a:pPr>
            <a:r>
              <a:rPr lang="en-US" sz="1300" dirty="0">
                <a:solidFill>
                  <a:srgbClr val="8FB3A0"/>
                </a:solidFill>
                <a:latin typeface="Courier New" pitchFamily="34" charset="0"/>
                <a:ea typeface="Courier New" pitchFamily="34" charset="-122"/>
                <a:cs typeface="Courier New" pitchFamily="34" charset="-120"/>
              </a:rPr>
              <a:t># less than one whole cell: wait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sub  t1, t1, t2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step                   </a:t>
            </a:r>
            <a:pPr indent="0" marL="0">
              <a:buNone/>
            </a:pPr>
            <a:r>
              <a:rPr lang="en-US" sz="1300" dirty="0">
                <a:solidFill>
                  <a:srgbClr val="8FB3A0"/>
                </a:solidFill>
                <a:latin typeface="Courier New" pitchFamily="34" charset="0"/>
                <a:ea typeface="Courier New" pitchFamily="34" charset="-122"/>
                <a:cs typeface="Courier New" pitchFamily="34" charset="-120"/>
              </a:rPr>
              <a:t># one whole cell: move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7f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6: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7: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 32 + 4 x score: uno scorrimento e una somma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ble e mv: il minore tra speed e 96</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resto è il timer che conoscete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limite si raggiunge a 16 punti</a:t>
            </a:r>
            <a:endParaRPr lang="en-US" sz="1200" dirty="0"/>
          </a:p>
        </p:txBody>
      </p:sp>
      <p:sp>
        <p:nvSpPr>
          <p:cNvPr id="17" name="Shape 15"/>
          <p:cNvSpPr/>
          <p:nvPr/>
        </p:nvSpPr>
        <p:spPr>
          <a:xfrm>
            <a:off x="8182940" y="91440"/>
            <a:ext cx="3460115" cy="274320"/>
          </a:xfrm>
          <a:prstGeom prst="rect">
            <a:avLst/>
          </a:prstGeom>
          <a:solidFill>
            <a:srgbClr val="E0F2FE"/>
          </a:solidFill>
          <a:ln w="12700">
            <a:solidFill>
              <a:srgbClr val="0369A1"/>
            </a:solidFill>
            <a:prstDash val="solid"/>
          </a:ln>
        </p:spPr>
      </p:sp>
      <p:sp>
        <p:nvSpPr>
          <p:cNvPr id="18" name="Shape 16"/>
          <p:cNvSpPr/>
          <p:nvPr/>
        </p:nvSpPr>
        <p:spPr>
          <a:xfrm>
            <a:off x="818294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20" name="Text 17"/>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sempre più veloce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56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38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il verme parte più lento che nella Parte 3, e accelera a ogni pasto</a:t>
            </a:r>
            <a:endParaRPr lang="en-US" sz="2400" dirty="0"/>
          </a:p>
        </p:txBody>
      </p:sp>
      <p:sp>
        <p:nvSpPr>
          <p:cNvPr id="6" name="Text 4"/>
          <p:cNvSpPr txBox="1"/>
          <p:nvPr/>
        </p:nvSpPr>
        <p:spPr>
          <a:xfrm>
            <a:off x="548640" y="26578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63956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Contate con il debugger i frame tra due passi a punteggio 0: otto</a:t>
            </a:r>
            <a:endParaRPr lang="en-US" sz="2400" dirty="0"/>
          </a:p>
        </p:txBody>
      </p:sp>
      <p:sp>
        <p:nvSpPr>
          <p:cNvPr id="8" name="Text 6"/>
          <p:cNvSpPr txBox="1"/>
          <p:nvPr/>
        </p:nvSpPr>
        <p:spPr>
          <a:xfrm>
            <a:off x="548640" y="35539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53568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Arrivate a 16 punti: la velocità non cambia più</a:t>
            </a:r>
            <a:endParaRPr lang="en-US" sz="2400" dirty="0"/>
          </a:p>
        </p:txBody>
      </p:sp>
      <p:sp>
        <p:nvSpPr>
          <p:cNvPr id="10" name="Text 8"/>
          <p:cNvSpPr txBox="1"/>
          <p:nvPr/>
        </p:nvSpPr>
        <p:spPr>
          <a:xfrm>
            <a:off x="548640" y="4450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317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Provate SPEED_MAX = 256, se ne avete il coraggio</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Una partenza lenta, un passo ogni 8 frame, e un'accelerazione visibile nei primi pasti.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play_note: una funzione, ogni nota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play_note:                      </a:t>
            </a:r>
            <a:pPr indent="0" marL="0">
              <a:buNone/>
            </a:pPr>
            <a:r>
              <a:rPr lang="en-US" sz="1450" dirty="0">
                <a:solidFill>
                  <a:srgbClr val="8FB3A0"/>
                </a:solidFill>
                <a:latin typeface="Courier New" pitchFamily="34" charset="0"/>
                <a:ea typeface="Courier New" pitchFamily="34" charset="-122"/>
                <a:cs typeface="Courier New" pitchFamily="34" charset="-120"/>
              </a:rPr>
              <a:t># a2 = MIDI note, a4 = milliseconds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0                  </a:t>
            </a:r>
            <a:pPr indent="0" marL="0">
              <a:buNone/>
            </a:pPr>
            <a:r>
              <a:rPr lang="en-US" sz="1450" dirty="0">
                <a:solidFill>
                  <a:srgbClr val="8FB3A0"/>
                </a:solidFill>
                <a:latin typeface="Courier New" pitchFamily="34" charset="0"/>
                <a:ea typeface="Courier New" pitchFamily="34" charset="-122"/>
                <a:cs typeface="Courier New" pitchFamily="34" charset="-120"/>
              </a:rPr>
              <a:t># channel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0                  </a:t>
            </a:r>
            <a:pPr indent="0" marL="0">
              <a:buNone/>
            </a:pPr>
            <a:r>
              <a:rPr lang="en-US" sz="1450" dirty="0">
                <a:solidFill>
                  <a:srgbClr val="8FB3A0"/>
                </a:solidFill>
                <a:latin typeface="Courier New" pitchFamily="34" charset="0"/>
                <a:ea typeface="Courier New" pitchFamily="34" charset="-122"/>
                <a:cs typeface="Courier New" pitchFamily="34" charset="-120"/>
              </a:rPr>
              <a:t># instrument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255                </a:t>
            </a:r>
            <a:pPr indent="0" marL="0">
              <a:buNone/>
            </a:pPr>
            <a:r>
              <a:rPr lang="en-US" sz="1450" dirty="0">
                <a:solidFill>
                  <a:srgbClr val="8FB3A0"/>
                </a:solidFill>
                <a:latin typeface="Courier New" pitchFamily="34" charset="0"/>
                <a:ea typeface="Courier New" pitchFamily="34" charset="-122"/>
                <a:cs typeface="Courier New" pitchFamily="34" charset="-120"/>
              </a:rPr>
              <a:t># volume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prg32_audio_note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Sostituite eat_sound con play_note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chiamante sceglie nota e durata: a2 e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funzione compila gli altri tre argomenti</a:t>
            </a:r>
            <a:endParaRPr lang="en-US" sz="1700" dirty="0"/>
          </a:p>
        </p:txBody>
      </p:sp>
      <p:sp>
        <p:nvSpPr>
          <p:cNvPr id="14" name="Shape 12"/>
          <p:cNvSpPr/>
          <p:nvPr/>
        </p:nvSpPr>
        <p:spPr>
          <a:xfrm>
            <a:off x="7526350" y="91440"/>
            <a:ext cx="4116705" cy="274320"/>
          </a:xfrm>
          <a:prstGeom prst="rect">
            <a:avLst/>
          </a:prstGeom>
          <a:solidFill>
            <a:srgbClr val="E0F2FE"/>
          </a:solidFill>
          <a:ln w="12700">
            <a:solidFill>
              <a:srgbClr val="0369A1"/>
            </a:solidFill>
            <a:prstDash val="solid"/>
          </a:ln>
        </p:spPr>
      </p:sp>
      <p:sp>
        <p:nvSpPr>
          <p:cNvPr id="15" name="Shape 13"/>
          <p:cNvSpPr/>
          <p:nvPr/>
        </p:nvSpPr>
        <p:spPr>
          <a:xfrm>
            <a:off x="752635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7" name="Text 14"/>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convenzione di chiamata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step: ricordare la vecchia testa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head_i</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t5, 0(t0)              </a:t>
            </a:r>
            <a:pPr indent="0" marL="0">
              <a:buNone/>
            </a:pPr>
            <a:r>
              <a:rPr lang="en-US" sz="1150" dirty="0">
                <a:solidFill>
                  <a:srgbClr val="8FB3A0"/>
                </a:solidFill>
                <a:latin typeface="Courier New" pitchFamily="34" charset="0"/>
                <a:ea typeface="Courier New" pitchFamily="34" charset="-122"/>
                <a:cs typeface="Courier New" pitchFamily="34" charset="-120"/>
              </a:rPr>
              <a:t># t5 = ring index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s0, 0(t0)              </a:t>
            </a:r>
            <a:pPr indent="0" marL="0">
              <a:buNone/>
            </a:pPr>
            <a:r>
              <a:rPr lang="en-US" sz="1150" dirty="0">
                <a:solidFill>
                  <a:srgbClr val="8FB3A0"/>
                </a:solidFill>
                <a:latin typeface="Courier New" pitchFamily="34" charset="0"/>
                <a:ea typeface="Courier New" pitchFamily="34" charset="-122"/>
                <a:cs typeface="Courier New" pitchFamily="34" charset="-120"/>
              </a:rPr>
              <a:t># one byte: the column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s0,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where the head was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s0, s0,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s0,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COLS-1             </a:t>
            </a:r>
            <a:pPr indent="0" marL="0">
              <a:buNone/>
            </a:pPr>
            <a:r>
              <a:rPr lang="en-US" sz="1150" dirty="0">
                <a:solidFill>
                  <a:srgbClr val="8FB3A0"/>
                </a:solidFill>
                <a:latin typeface="Courier New" pitchFamily="34" charset="0"/>
                <a:ea typeface="Courier New" pitchFamily="34" charset="-122"/>
                <a:cs typeface="Courier New" pitchFamily="34" charset="-120"/>
              </a:rPr>
              <a:t># off the left edge: wrap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li   t4, 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s0, t4,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s1, s1, t3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s1,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ROWS-1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li   t4, 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s1, t4,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a:t>
            </a:r>
            <a:endParaRPr lang="en-US" sz="11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Sostituite la stessa parte di step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old_x, old_y: la cella che la testa sta lasciando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 la ridipingerà con il colore del corpo</a:t>
            </a:r>
            <a:endParaRPr lang="en-US" sz="17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array in memoria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step: c'è una cella da cancellare?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    la   t0, food_x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food_y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t2, t2, s1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or   s2, t1, t2             </a:t>
            </a:r>
            <a:pPr indent="0" marL="0">
              <a:buNone/>
            </a:pPr>
            <a:r>
              <a:rPr lang="en-US" sz="1000" dirty="0">
                <a:solidFill>
                  <a:srgbClr val="8FB3A0"/>
                </a:solidFill>
                <a:latin typeface="Courier New" pitchFamily="34" charset="0"/>
                <a:ea typeface="Courier New" pitchFamily="34" charset="-122"/>
                <a:cs typeface="Courier New" pitchFamily="34" charset="-120"/>
              </a:rPr>
              <a:t># s2 = 0 if the new head is on the food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s2, 5f                 </a:t>
            </a:r>
            <a:pPr indent="0" marL="0">
              <a:buNone/>
            </a:pPr>
            <a:r>
              <a:rPr lang="en-US" sz="1000" dirty="0">
                <a:solidFill>
                  <a:srgbClr val="8FB3A0"/>
                </a:solidFill>
                <a:latin typeface="Courier New" pitchFamily="34" charset="0"/>
                <a:ea typeface="Courier New" pitchFamily="34" charset="-122"/>
                <a:cs typeface="Courier New" pitchFamily="34" charset="-120"/>
              </a:rPr>
              <a:t># not eating: the tail moves 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t2, 255</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t1, t2, 5f             </a:t>
            </a:r>
            <a:pPr indent="0" marL="0">
              <a:buNone/>
            </a:pPr>
            <a:r>
              <a:rPr lang="en-US" sz="1000" dirty="0">
                <a:solidFill>
                  <a:srgbClr val="8FB3A0"/>
                </a:solidFill>
                <a:latin typeface="Courier New" pitchFamily="34" charset="0"/>
                <a:ea typeface="Courier New" pitchFamily="34" charset="-122"/>
                <a:cs typeface="Courier New" pitchFamily="34" charset="-120"/>
              </a:rPr>
              <a:t># the ring is full: no more growth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t1, t1,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t1, 0(t0)              </a:t>
            </a:r>
            <a:pPr indent="0" marL="0">
              <a:buNone/>
            </a:pPr>
            <a:r>
              <a:rPr lang="en-US" sz="1000" dirty="0">
                <a:solidFill>
                  <a:srgbClr val="8FB3A0"/>
                </a:solidFill>
                <a:latin typeface="Courier New" pitchFamily="34" charset="0"/>
                <a:ea typeface="Courier New" pitchFamily="34" charset="-122"/>
                <a:cs typeface="Courier New" pitchFamily="34" charset="-120"/>
              </a:rPr>
              <a:t># eating: one cell longer, the tail stays</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erase_on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zero, 0(t0)            </a:t>
            </a:r>
            <a:pPr indent="0" marL="0">
              <a:buNone/>
            </a:pPr>
            <a:r>
              <a:rPr lang="en-US" sz="1000" dirty="0">
                <a:solidFill>
                  <a:srgbClr val="8FB3A0"/>
                </a:solidFill>
                <a:latin typeface="Courier New" pitchFamily="34" charset="0"/>
                <a:ea typeface="Courier New" pitchFamily="34" charset="-122"/>
                <a:cs typeface="Courier New" pitchFamily="34" charset="-120"/>
              </a:rPr>
              <a:t># ... so there is no cell to erase</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6f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5: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t2, t2,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t2, t2,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t2, t2,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the tail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t3,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t4, 0(t0)</a:t>
            </a:r>
            <a:endParaRPr lang="en-US" sz="10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Mangiando: la coda resta, niente da cancellare</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0 lo dice a draw</a:t>
            </a:r>
            <a:endParaRPr lang="en-US" sz="1700" dirty="0"/>
          </a:p>
        </p:txBody>
      </p:sp>
      <p:sp>
        <p:nvSpPr>
          <p:cNvPr id="11" name="Shape 9"/>
          <p:cNvSpPr/>
          <p:nvPr/>
        </p:nvSpPr>
        <p:spPr>
          <a:xfrm>
            <a:off x="7920304" y="91440"/>
            <a:ext cx="3722751" cy="274320"/>
          </a:xfrm>
          <a:prstGeom prst="rect">
            <a:avLst/>
          </a:prstGeom>
          <a:solidFill>
            <a:srgbClr val="E0F2FE"/>
          </a:solidFill>
          <a:ln w="12700">
            <a:solidFill>
              <a:srgbClr val="0369A1"/>
            </a:solidFill>
            <a:prstDash val="solid"/>
          </a:ln>
        </p:spPr>
      </p:sp>
      <p:sp>
        <p:nvSpPr>
          <p:cNvPr id="12" name="Shape 10"/>
          <p:cNvSpPr/>
          <p:nvPr/>
        </p:nvSpPr>
        <p:spPr>
          <a:xfrm>
            <a:off x="7920304"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4" name="Text 11"/>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array in memoria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step: annotare la coda, chiamare la fine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la   t0, erase_x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t3, 0(t0)              </a:t>
            </a:r>
            <a:pPr indent="0" marL="0">
              <a:buNone/>
            </a:pPr>
            <a:r>
              <a:rPr lang="en-US" sz="1250" dirty="0">
                <a:solidFill>
                  <a:srgbClr val="8FB3A0"/>
                </a:solidFill>
                <a:latin typeface="Courier New" pitchFamily="34" charset="0"/>
                <a:ea typeface="Courier New" pitchFamily="34" charset="-122"/>
                <a:cs typeface="Courier New" pitchFamily="34" charset="-120"/>
              </a:rPr>
              <a:t># remember the cell the tail leaves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erase_y</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t4,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t5,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t4,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t3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tail = row * 40 + column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sb   zero, 0(t0)            </a:t>
            </a:r>
            <a:pPr indent="0" marL="0">
              <a:buNone/>
            </a:pPr>
            <a:r>
              <a:rPr lang="en-US" sz="1250" dirty="0">
                <a:solidFill>
                  <a:srgbClr val="8FB3A0"/>
                </a:solidFill>
                <a:latin typeface="Courier New" pitchFamily="34" charset="0"/>
                <a:ea typeface="Courier New" pitchFamily="34" charset="-122"/>
                <a:cs typeface="Courier New" pitchFamily="34" charset="-120"/>
              </a:rPr>
              <a:t># the tail cell is free again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6: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s1,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s0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new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lbu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7f                 </a:t>
            </a:r>
            <a:pPr indent="0" marL="0">
              <a:buNone/>
            </a:pPr>
            <a:r>
              <a:rPr lang="en-US" sz="1250" dirty="0">
                <a:solidFill>
                  <a:srgbClr val="8FB3A0"/>
                </a:solidFill>
                <a:latin typeface="Courier New" pitchFamily="34" charset="0"/>
                <a:ea typeface="Courier New" pitchFamily="34" charset="-122"/>
                <a:cs typeface="Courier New" pitchFamily="34" charset="-120"/>
              </a:rPr>
              <a:t># a free cell: go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game_is_over           </a:t>
            </a:r>
            <a:pPr indent="0" marL="0">
              <a:buNone/>
            </a:pPr>
            <a:r>
              <a:rPr lang="en-US" sz="1250" dirty="0">
                <a:solidFill>
                  <a:srgbClr val="8FB3A0"/>
                </a:solidFill>
                <a:latin typeface="Courier New" pitchFamily="34" charset="0"/>
                <a:ea typeface="Courier New" pitchFamily="34" charset="-122"/>
                <a:cs typeface="Courier New" pitchFamily="34" charset="-120"/>
              </a:rPr>
              <a:t># the worm bit itself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9f</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coda lascia una cella: ricordare quale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1: draw deve dipingerla di nero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collisione ora è una chiamata: game_is_over</a:t>
            </a:r>
            <a:endParaRPr lang="en-US" sz="17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array in memoria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step: scrivere la nuova testa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7:  li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t1, 0(t0)              </a:t>
            </a:r>
            <a:pPr indent="0" marL="0">
              <a:buNone/>
            </a:pPr>
            <a:r>
              <a:rPr lang="en-US" sz="1450" dirty="0">
                <a:solidFill>
                  <a:srgbClr val="8FB3A0"/>
                </a:solidFill>
                <a:latin typeface="Courier New" pitchFamily="34" charset="0"/>
                <a:ea typeface="Courier New" pitchFamily="34" charset="-122"/>
                <a:cs typeface="Courier New" pitchFamily="34" charset="-120"/>
              </a:rPr>
              <a:t># occupy the new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head_i</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t1,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t1, t1, 255            </a:t>
            </a:r>
            <a:pPr indent="0" marL="0">
              <a:buNone/>
            </a:pPr>
            <a:r>
              <a:rPr lang="en-US" sz="1450" dirty="0">
                <a:solidFill>
                  <a:srgbClr val="8FB3A0"/>
                </a:solidFill>
                <a:latin typeface="Courier New" pitchFamily="34" charset="0"/>
                <a:ea typeface="Courier New" pitchFamily="34" charset="-122"/>
                <a:cs typeface="Courier New" pitchFamily="34" charset="-120"/>
              </a:rPr>
              <a:t># the ring wraps after entry 255</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s0, 0(t0)              </a:t>
            </a:r>
            <a:pPr indent="0" marL="0">
              <a:buNone/>
            </a:pPr>
            <a:r>
              <a:rPr lang="en-US" sz="1450" dirty="0">
                <a:solidFill>
                  <a:srgbClr val="8FB3A0"/>
                </a:solidFill>
                <a:latin typeface="Courier New" pitchFamily="34" charset="0"/>
                <a:ea typeface="Courier New" pitchFamily="34" charset="-122"/>
                <a:cs typeface="Courier New" pitchFamily="34" charset="-120"/>
              </a:rPr>
              <a:t># write the new head into the ring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s1, 0(t0)</a:t>
            </a:r>
            <a:endParaRPr lang="en-US" sz="14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Come nella Parte 3, fino ai due sb</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fine della funzione è nella prossima slide</a:t>
            </a:r>
            <a:endParaRPr lang="en-US" sz="1700" dirty="0"/>
          </a:p>
        </p:txBody>
      </p:sp>
      <p:sp>
        <p:nvSpPr>
          <p:cNvPr id="11" name="Shape 9"/>
          <p:cNvSpPr/>
          <p:nvPr/>
        </p:nvSpPr>
        <p:spPr>
          <a:xfrm>
            <a:off x="7920304" y="91440"/>
            <a:ext cx="3722751" cy="274320"/>
          </a:xfrm>
          <a:prstGeom prst="rect">
            <a:avLst/>
          </a:prstGeom>
          <a:solidFill>
            <a:srgbClr val="E0F2FE"/>
          </a:solidFill>
          <a:ln w="12700">
            <a:solidFill>
              <a:srgbClr val="0369A1"/>
            </a:solidFill>
            <a:prstDash val="solid"/>
          </a:ln>
        </p:spPr>
      </p:sp>
      <p:sp>
        <p:nvSpPr>
          <p:cNvPr id="12" name="Shape 10"/>
          <p:cNvSpPr/>
          <p:nvPr/>
        </p:nvSpPr>
        <p:spPr>
          <a:xfrm>
            <a:off x="7920304"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4" name="Text 11"/>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array in memoria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step: qualcosa è cambiato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    la   t0, dirty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the screen must follow: a few cells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bnez s2, 9f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score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place_food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a2, 72                 </a:t>
            </a:r>
            <a:pPr indent="0" marL="0">
              <a:buNone/>
            </a:pPr>
            <a:r>
              <a:rPr lang="en-US" sz="1400" dirty="0">
                <a:solidFill>
                  <a:srgbClr val="8FB3A0"/>
                </a:solidFill>
                <a:latin typeface="Courier New" pitchFamily="34" charset="0"/>
                <a:ea typeface="Courier New" pitchFamily="34" charset="-122"/>
                <a:cs typeface="Courier New" pitchFamily="34" charset="-120"/>
              </a:rPr>
              <a:t># a short high 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60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play_note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9:  lw   s2, 0(sp)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s1, 4(sp)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s0, 8(sp)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1: c'è stato un passo, draw ha da fare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pasto: un punto, nuovo cibo, una nota breve e acuta</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li a2 e li a4, poi call: argomenti per contratto</a:t>
            </a:r>
            <a:endParaRPr lang="en-US" sz="1700" dirty="0"/>
          </a:p>
        </p:txBody>
      </p:sp>
      <p:sp>
        <p:nvSpPr>
          <p:cNvPr id="14" name="Shape 12"/>
          <p:cNvSpPr/>
          <p:nvPr/>
        </p:nvSpPr>
        <p:spPr>
          <a:xfrm>
            <a:off x="7526350" y="91440"/>
            <a:ext cx="4116705" cy="274320"/>
          </a:xfrm>
          <a:prstGeom prst="rect">
            <a:avLst/>
          </a:prstGeom>
          <a:solidFill>
            <a:srgbClr val="E0F2FE"/>
          </a:solidFill>
          <a:ln w="12700">
            <a:solidFill>
              <a:srgbClr val="0369A1"/>
            </a:solidFill>
            <a:prstDash val="solid"/>
          </a:ln>
        </p:spPr>
      </p:sp>
      <p:sp>
        <p:nvSpPr>
          <p:cNvPr id="15" name="Shape 13"/>
          <p:cNvSpPr/>
          <p:nvPr/>
        </p:nvSpPr>
        <p:spPr>
          <a:xfrm>
            <a:off x="752635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7" name="Text 14"/>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convenzione di chiamata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game_is_over: la transizione, in un posto solo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game_is_over: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PLAY --&gt;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dirty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screen: draw everything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best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t2,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ble  t1, t2,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best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a2, 36                 </a:t>
            </a:r>
            <a:pPr indent="0" marL="0">
              <a:buNone/>
            </a:pPr>
            <a:r>
              <a:rPr lang="en-US" sz="1350" dirty="0">
                <a:solidFill>
                  <a:srgbClr val="8FB3A0"/>
                </a:solidFill>
                <a:latin typeface="Courier New" pitchFamily="34" charset="0"/>
                <a:ea typeface="Courier New" pitchFamily="34" charset="-122"/>
                <a:cs typeface="Courier New" pitchFamily="34" charset="-120"/>
              </a:rPr>
              <a:t># a long low 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400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play_note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Da PLAY a OVER, e il punteggio migliore, come nella Parte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va disegnata una nuova schermata</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Una nota lunga e bassa: 36, per 400 millisecondi</a:t>
            </a:r>
            <a:endParaRPr lang="en-US" sz="1700" dirty="0"/>
          </a:p>
        </p:txBody>
      </p:sp>
      <p:sp>
        <p:nvSpPr>
          <p:cNvPr id="14" name="Shape 12"/>
          <p:cNvSpPr/>
          <p:nvPr/>
        </p:nvSpPr>
        <p:spPr>
          <a:xfrm>
            <a:off x="7723327" y="91440"/>
            <a:ext cx="3919728" cy="274320"/>
          </a:xfrm>
          <a:prstGeom prst="rect">
            <a:avLst/>
          </a:prstGeom>
          <a:solidFill>
            <a:srgbClr val="E0F2FE"/>
          </a:solidFill>
          <a:ln w="12700">
            <a:solidFill>
              <a:srgbClr val="0369A1"/>
            </a:solidFill>
            <a:prstDash val="solid"/>
          </a:ln>
        </p:spPr>
      </p:sp>
      <p:sp>
        <p:nvSpPr>
          <p:cNvPr id="15" name="Shape 13"/>
          <p:cNvSpPr/>
          <p:nvPr/>
        </p:nvSpPr>
        <p:spPr>
          <a:xfrm>
            <a:off x="7723327"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17" name="Text 14"/>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macchine a stati finiti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il suono della sconfitta</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il gioco appare esattamente come dopo il passo 2</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pasto suona come prima; mordersi dà una nota lunga e bassa</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Nel debugger guardate erase_x ed erase_y seguire la coda, un passo indietro</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dirty resta a 1 o 2: nessuno lo legge ancora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Nessun cambiamento visibile: lo schermo viene ancora disegnato per intero a ogni frame. Le nuove variabili vengono scritte e non ancora usate.</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draw: niente, poco, o tutto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t1, 3f                 </a:t>
            </a:r>
            <a:pPr indent="0" marL="0">
              <a:buNone/>
            </a:pPr>
            <a:r>
              <a:rPr lang="en-US" sz="1450" dirty="0">
                <a:solidFill>
                  <a:srgbClr val="8FB3A0"/>
                </a:solidFill>
                <a:latin typeface="Courier New" pitchFamily="34" charset="0"/>
                <a:ea typeface="Courier New" pitchFamily="34" charset="-122"/>
                <a:cs typeface="Courier New" pitchFamily="34" charset="-120"/>
              </a:rPr>
              <a:t># nothing changed: nothing to 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  t1, t2,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draw_changes           </a:t>
            </a:r>
            <a:pPr indent="0" marL="0">
              <a:buNone/>
            </a:pPr>
            <a:r>
              <a:rPr lang="en-US" sz="1450" dirty="0">
                <a:solidFill>
                  <a:srgbClr val="8FB3A0"/>
                </a:solidFill>
                <a:latin typeface="Courier New" pitchFamily="34" charset="0"/>
                <a:ea typeface="Courier New" pitchFamily="34" charset="-122"/>
                <a:cs typeface="Courier New" pitchFamily="34" charset="-120"/>
              </a:rPr>
              <a:t># one step: a few cells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j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call draw_full              </a:t>
            </a:r>
            <a:pPr indent="0" marL="0">
              <a:buNone/>
            </a:pPr>
            <a:r>
              <a:rPr lang="en-US" sz="1450" dirty="0">
                <a:solidFill>
                  <a:srgbClr val="8FB3A0"/>
                </a:solidFill>
                <a:latin typeface="Courier New" pitchFamily="34" charset="0"/>
                <a:ea typeface="Courier New" pitchFamily="34" charset="-122"/>
                <a:cs typeface="Courier New" pitchFamily="34" charset="-120"/>
              </a:rPr>
              <a:t># a new screen: everything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ret</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dirty = 0: ritorno immediato, niente frame né chiamate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dirty = 1: c'è stato un passo, disegna i cambiamenti</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dirty = 2: una nuova schermata, disegna tutto</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Il flag viene azzerato appena letto</a:t>
            </a:r>
            <a:endParaRPr lang="en-US" sz="1400" dirty="0"/>
          </a:p>
        </p:txBody>
      </p:sp>
      <p:sp>
        <p:nvSpPr>
          <p:cNvPr id="17" name="Shape 15"/>
          <p:cNvSpPr/>
          <p:nvPr/>
        </p:nvSpPr>
        <p:spPr>
          <a:xfrm>
            <a:off x="8248599" y="91440"/>
            <a:ext cx="3394456" cy="274320"/>
          </a:xfrm>
          <a:prstGeom prst="rect">
            <a:avLst/>
          </a:prstGeom>
          <a:solidFill>
            <a:srgbClr val="E0F2FE"/>
          </a:solidFill>
          <a:ln w="12700">
            <a:solidFill>
              <a:srgbClr val="0369A1"/>
            </a:solidFill>
            <a:prstDash val="solid"/>
          </a:ln>
        </p:spPr>
      </p:sp>
      <p:sp>
        <p:nvSpPr>
          <p:cNvPr id="18" name="Shape 16"/>
          <p:cNvSpPr/>
          <p:nvPr/>
        </p:nvSpPr>
        <p:spPr>
          <a:xfrm>
            <a:off x="824859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20" name="Text 17"/>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draw_changes: tre celle e il punteggio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draw_changes: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cell the tail has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old_x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old_y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old head is now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La cella lasciata dalla coda, se c'è: nera</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La vecchia testa: colore del corpo</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Poi la nuova testa, il cibo, il punteggio</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L'ordine conta: la testa si disegna dopo la cancellazione</a:t>
            </a:r>
            <a:endParaRPr lang="en-US" sz="1300" dirty="0"/>
          </a:p>
        </p:txBody>
      </p:sp>
      <p:sp>
        <p:nvSpPr>
          <p:cNvPr id="17" name="Shape 15"/>
          <p:cNvSpPr/>
          <p:nvPr/>
        </p:nvSpPr>
        <p:spPr>
          <a:xfrm>
            <a:off x="8248599" y="91440"/>
            <a:ext cx="3394456" cy="274320"/>
          </a:xfrm>
          <a:prstGeom prst="rect">
            <a:avLst/>
          </a:prstGeom>
          <a:solidFill>
            <a:srgbClr val="E0F2FE"/>
          </a:solidFill>
          <a:ln w="12700">
            <a:solidFill>
              <a:srgbClr val="0369A1"/>
            </a:solidFill>
            <a:prstDash val="solid"/>
          </a:ln>
        </p:spPr>
      </p:sp>
      <p:sp>
        <p:nvSpPr>
          <p:cNvPr id="18" name="Shape 16"/>
          <p:cNvSpPr/>
          <p:nvPr/>
        </p:nvSpPr>
        <p:spPr>
          <a:xfrm>
            <a:off x="824859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20" name="Text 17"/>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draw_full: una schermata intera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draw_full: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draw_score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132                </a:t>
            </a:r>
            <a:pPr indent="0" marL="0">
              <a:buNone/>
            </a:pPr>
            <a:r>
              <a:rPr lang="en-US" sz="1500" dirty="0">
                <a:solidFill>
                  <a:srgbClr val="8FB3A0"/>
                </a:solidFill>
                <a:latin typeface="Courier New" pitchFamily="34" charset="0"/>
                <a:ea typeface="Courier New" pitchFamily="34" charset="-122"/>
                <a:cs typeface="Courier New" pitchFamily="34" charset="-120"/>
              </a:rPr>
              <a:t># TITLE: only an invitation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press_a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2f</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corpo della vecchia verm1_draw</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punteggio si disegna anche nella schermata del titolo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TITLE: l'invito, e nient'altro</a:t>
            </a:r>
            <a:endParaRPr lang="en-US" sz="1700" dirty="0"/>
          </a:p>
        </p:txBody>
      </p:sp>
      <p:sp>
        <p:nvSpPr>
          <p:cNvPr id="14" name="Shape 12"/>
          <p:cNvSpPr/>
          <p:nvPr/>
        </p:nvSpPr>
        <p:spPr>
          <a:xfrm>
            <a:off x="8248599" y="91440"/>
            <a:ext cx="3394456" cy="274320"/>
          </a:xfrm>
          <a:prstGeom prst="rect">
            <a:avLst/>
          </a:prstGeom>
          <a:solidFill>
            <a:srgbClr val="E0F2FE"/>
          </a:solidFill>
          <a:ln w="12700">
            <a:solidFill>
              <a:srgbClr val="0369A1"/>
            </a:solidFill>
            <a:prstDash val="solid"/>
          </a:ln>
        </p:spPr>
      </p:sp>
      <p:sp>
        <p:nvSpPr>
          <p:cNvPr id="15" name="Shape 13"/>
          <p:cNvSpPr/>
          <p:nvPr/>
        </p:nvSpPr>
        <p:spPr>
          <a:xfrm>
            <a:off x="8248599"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17" name="Text 14"/>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draw_full: PLAY e OVER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1:  call draw_worm              </a:t>
            </a:r>
            <a:pPr indent="0" marL="0">
              <a:buNone/>
            </a:pPr>
            <a:r>
              <a:rPr lang="en-US" sz="1500" dirty="0">
                <a:solidFill>
                  <a:srgbClr val="8FB3A0"/>
                </a:solidFill>
                <a:latin typeface="Courier New" pitchFamily="34" charset="0"/>
                <a:ea typeface="Courier New" pitchFamily="34" charset="-122"/>
                <a:cs typeface="Courier New" pitchFamily="34" charset="-120"/>
              </a:rPr>
              <a:t># PLAY and OVER: the whole scene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draw_food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2f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124</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game_over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2: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verme e il cibo, con le loro funzioni</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aggiunge le due parole</a:t>
            </a:r>
            <a:endParaRPr lang="en-US" sz="1700" dirty="0"/>
          </a:p>
        </p:txBody>
      </p:sp>
      <p:sp>
        <p:nvSpPr>
          <p:cNvPr id="11" name="Shape 9"/>
          <p:cNvSpPr/>
          <p:nvPr/>
        </p:nvSpPr>
        <p:spPr>
          <a:xfrm>
            <a:off x="8248599" y="91440"/>
            <a:ext cx="3394456" cy="274320"/>
          </a:xfrm>
          <a:prstGeom prst="rect">
            <a:avLst/>
          </a:prstGeom>
          <a:solidFill>
            <a:srgbClr val="E0F2FE"/>
          </a:solidFill>
          <a:ln w="12700">
            <a:solidFill>
              <a:srgbClr val="0369A1"/>
            </a:solidFill>
            <a:prstDash val="solid"/>
          </a:ln>
        </p:spPr>
      </p:sp>
      <p:sp>
        <p:nvSpPr>
          <p:cNvPr id="12" name="Shape 10"/>
          <p:cNvSpPr/>
          <p:nvPr/>
        </p:nvSpPr>
        <p:spPr>
          <a:xfrm>
            <a:off x="8248599"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14" name="Text 11"/>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draw_head: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head_i</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testa è la voce head_i dell'anello</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Una cella, verde brillante</a:t>
            </a:r>
            <a:endParaRPr lang="en-US" sz="1700" dirty="0"/>
          </a:p>
        </p:txBody>
      </p:sp>
      <p:sp>
        <p:nvSpPr>
          <p:cNvPr id="11" name="Shape 9"/>
          <p:cNvSpPr/>
          <p:nvPr/>
        </p:nvSpPr>
        <p:spPr>
          <a:xfrm>
            <a:off x="8248599" y="91440"/>
            <a:ext cx="3394456" cy="274320"/>
          </a:xfrm>
          <a:prstGeom prst="rect">
            <a:avLst/>
          </a:prstGeom>
          <a:solidFill>
            <a:srgbClr val="E0F2FE"/>
          </a:solidFill>
          <a:ln w="12700">
            <a:solidFill>
              <a:srgbClr val="0369A1"/>
            </a:solidFill>
            <a:prstDash val="solid"/>
          </a:ln>
        </p:spPr>
      </p:sp>
      <p:sp>
        <p:nvSpPr>
          <p:cNvPr id="12" name="Shape 10"/>
          <p:cNvSpPr/>
          <p:nvPr/>
        </p:nvSpPr>
        <p:spPr>
          <a:xfrm>
            <a:off x="8248599"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14" name="Text 11"/>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draw_food: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 tre righe che stavano dentro draw</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Ora hanno un nome, e due chiamanti</a:t>
            </a:r>
            <a:endParaRPr lang="en-US" sz="1700" dirty="0"/>
          </a:p>
        </p:txBody>
      </p:sp>
      <p:sp>
        <p:nvSpPr>
          <p:cNvPr id="11" name="Shape 9"/>
          <p:cNvSpPr/>
          <p:nvPr/>
        </p:nvSpPr>
        <p:spPr>
          <a:xfrm>
            <a:off x="8248599" y="91440"/>
            <a:ext cx="3394456" cy="274320"/>
          </a:xfrm>
          <a:prstGeom prst="rect">
            <a:avLst/>
          </a:prstGeom>
          <a:solidFill>
            <a:srgbClr val="E0F2FE"/>
          </a:solidFill>
          <a:ln w="12700">
            <a:solidFill>
              <a:srgbClr val="0369A1"/>
            </a:solidFill>
            <a:prstDash val="solid"/>
          </a:ln>
        </p:spPr>
      </p:sp>
      <p:sp>
        <p:nvSpPr>
          <p:cNvPr id="12" name="Shape 10"/>
          <p:cNvSpPr/>
          <p:nvPr/>
        </p:nvSpPr>
        <p:spPr>
          <a:xfrm>
            <a:off x="8248599"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14" name="Text 11"/>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draw_text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draw_text:                      </a:t>
            </a:r>
            <a:pPr indent="0" marL="0">
              <a:buNone/>
            </a:pPr>
            <a:r>
              <a:rPr lang="en-US" sz="1300" dirty="0">
                <a:solidFill>
                  <a:srgbClr val="8FB3A0"/>
                </a:solidFill>
                <a:latin typeface="Courier New" pitchFamily="34" charset="0"/>
                <a:ea typeface="Courier New" pitchFamily="34" charset="-122"/>
                <a:cs typeface="Courier New" pitchFamily="34" charset="-120"/>
              </a:rPr>
              <a:t># a0 = x, a1 = y, a2 = address of the string</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prg32_gfx_text8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funzione di servizio della Parte 3, in una slide tutta sua</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init: chiedere la prima schermata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.section .text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verm1_update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            </a:t>
            </a:r>
            <a:pPr indent="0" marL="0">
              <a:buNone/>
            </a:pPr>
            <a:r>
              <a:rPr lang="en-US" sz="1450" dirty="0">
                <a:solidFill>
                  <a:srgbClr val="8FB3A0"/>
                </a:solidFill>
                <a:latin typeface="Courier New" pitchFamily="34" charset="0"/>
                <a:ea typeface="Courier New" pitchFamily="34" charset="-122"/>
                <a:cs typeface="Courier New" pitchFamily="34" charset="-120"/>
              </a:rPr>
              <a:t># start on the title screen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prev_btn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t1,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              </a:t>
            </a:r>
            <a:pPr indent="0" marL="0">
              <a:buNone/>
            </a:pPr>
            <a:r>
              <a:rPr lang="en-US" sz="1450" dirty="0">
                <a:solidFill>
                  <a:srgbClr val="8FB3A0"/>
                </a:solidFill>
                <a:latin typeface="Courier New" pitchFamily="34" charset="0"/>
                <a:ea typeface="Courier New" pitchFamily="34" charset="-122"/>
                <a:cs typeface="Courier New" pitchFamily="34" charset="-120"/>
              </a:rPr>
              <a:t># draw the whole title screen, once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la schermata del titolo va disegnata una volta</a:t>
            </a:r>
            <a:endParaRPr lang="en-US" sz="1700" dirty="0"/>
          </a:p>
        </p:txBody>
      </p:sp>
      <p:sp>
        <p:nvSpPr>
          <p:cNvPr id="8" name="Shape 6"/>
          <p:cNvSpPr/>
          <p:nvPr/>
        </p:nvSpPr>
        <p:spPr>
          <a:xfrm>
            <a:off x="7723327" y="91440"/>
            <a:ext cx="3919728" cy="274320"/>
          </a:xfrm>
          <a:prstGeom prst="rect">
            <a:avLst/>
          </a:prstGeom>
          <a:solidFill>
            <a:srgbClr val="E0F2FE"/>
          </a:solidFill>
          <a:ln w="12700">
            <a:solidFill>
              <a:srgbClr val="0369A1"/>
            </a:solidFill>
            <a:prstDash val="solid"/>
          </a:ln>
        </p:spPr>
      </p:sp>
      <p:sp>
        <p:nvSpPr>
          <p:cNvPr id="9" name="Shape 7"/>
          <p:cNvSpPr/>
          <p:nvPr/>
        </p:nvSpPr>
        <p:spPr>
          <a:xfrm>
            <a:off x="7723327" y="91440"/>
            <a:ext cx="73152" cy="274320"/>
          </a:xfrm>
          <a:prstGeom prst="rect">
            <a:avLst/>
          </a:prstGeom>
          <a:solidFill>
            <a:srgbClr val="0369A1"/>
          </a:solidFill>
          <a:ln w="12700">
            <a:solidFill>
              <a:srgbClr val="0369A1"/>
            </a:solidFill>
            <a:prstDash val="solid"/>
          </a:ln>
        </p:spPr>
      </p:sp>
      <p:pic>
        <p:nvPicPr>
          <p:cNvPr id="10"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11" name="Text 8"/>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macchine a stati finiti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update: un nuovo stato è una nuova schermata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present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s1, BTN_A          </a:t>
            </a:r>
            <a:pPr indent="0" marL="0">
              <a:buNone/>
            </a:pPr>
            <a:r>
              <a:rPr lang="en-US" sz="1150" dirty="0">
                <a:solidFill>
                  <a:srgbClr val="8FB3A0"/>
                </a:solidFill>
                <a:latin typeface="Courier New" pitchFamily="34" charset="0"/>
                <a:ea typeface="Courier New" pitchFamily="34" charset="-122"/>
                <a:cs typeface="Courier New" pitchFamily="34" charset="-120"/>
              </a:rPr>
              <a:t># TITLE or OVER: wait for a new press of A</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OVER --A--&gt;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dirty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t1, 0(t0)              </a:t>
            </a:r>
            <a:pPr indent="0" marL="0">
              <a:buNone/>
            </a:pPr>
            <a:r>
              <a:rPr lang="en-US" sz="1150" dirty="0">
                <a:solidFill>
                  <a:srgbClr val="8FB3A0"/>
                </a:solidFill>
                <a:latin typeface="Courier New" pitchFamily="34" charset="0"/>
                <a:ea typeface="Courier New" pitchFamily="34" charset="-122"/>
                <a:cs typeface="Courier New" pitchFamily="34" charset="-120"/>
              </a:rPr>
              <a:t># a new screen: draw everything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new_game               </a:t>
            </a:r>
            <a:pPr indent="0" marL="0">
              <a:buNone/>
            </a:pPr>
            <a:r>
              <a:rPr lang="en-US" sz="1150" dirty="0">
                <a:solidFill>
                  <a:srgbClr val="8FB3A0"/>
                </a:solidFill>
                <a:latin typeface="Courier New" pitchFamily="34" charset="0"/>
                <a:ea typeface="Courier New" pitchFamily="34" charset="-122"/>
                <a:cs typeface="Courier New" pitchFamily="34" charset="-120"/>
              </a:rPr>
              <a:t># TITLE --A--&gt;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mv   a0, s0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play_update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s1, 4(sp)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s0, 8(sp)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Da OVER a TITLE: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Si aggiungono tre righe, dopo lo store dello stato</a:t>
            </a:r>
            <a:endParaRPr lang="en-US" sz="1700" dirty="0"/>
          </a:p>
        </p:txBody>
      </p:sp>
      <p:sp>
        <p:nvSpPr>
          <p:cNvPr id="11" name="Shape 9"/>
          <p:cNvSpPr/>
          <p:nvPr/>
        </p:nvSpPr>
        <p:spPr>
          <a:xfrm>
            <a:off x="7723327" y="91440"/>
            <a:ext cx="3919728" cy="274320"/>
          </a:xfrm>
          <a:prstGeom prst="rect">
            <a:avLst/>
          </a:prstGeom>
          <a:solidFill>
            <a:srgbClr val="E0F2FE"/>
          </a:solidFill>
          <a:ln w="12700">
            <a:solidFill>
              <a:srgbClr val="0369A1"/>
            </a:solidFill>
            <a:prstDash val="solid"/>
          </a:ln>
        </p:spPr>
      </p:sp>
      <p:sp>
        <p:nvSpPr>
          <p:cNvPr id="12" name="Shape 10"/>
          <p:cNvSpPr/>
          <p:nvPr/>
        </p:nvSpPr>
        <p:spPr>
          <a:xfrm>
            <a:off x="7723327"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14" name="Text 11"/>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macchine a stati finiti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new_game: e anche qui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    la   t0, head_i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the head is entry 2 of the ring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length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step_q8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place_food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dirty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a new screen: draw everything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Da TITLE a PLAY: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Si aggiungono tre righe, prima del ritorno</a:t>
            </a:r>
            <a:endParaRPr lang="en-US" sz="1700" dirty="0"/>
          </a:p>
        </p:txBody>
      </p:sp>
      <p:sp>
        <p:nvSpPr>
          <p:cNvPr id="11" name="Shape 9"/>
          <p:cNvSpPr/>
          <p:nvPr/>
        </p:nvSpPr>
        <p:spPr>
          <a:xfrm>
            <a:off x="7723327" y="91440"/>
            <a:ext cx="3919728" cy="274320"/>
          </a:xfrm>
          <a:prstGeom prst="rect">
            <a:avLst/>
          </a:prstGeom>
          <a:solidFill>
            <a:srgbClr val="E0F2FE"/>
          </a:solidFill>
          <a:ln w="12700">
            <a:solidFill>
              <a:srgbClr val="0369A1"/>
            </a:solidFill>
            <a:prstDash val="solid"/>
          </a:ln>
        </p:spPr>
      </p:sp>
      <p:sp>
        <p:nvSpPr>
          <p:cNvPr id="12" name="Shape 10"/>
          <p:cNvSpPr/>
          <p:nvPr/>
        </p:nvSpPr>
        <p:spPr>
          <a:xfrm>
            <a:off x="7723327"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14" name="Text 11"/>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macchine a stati finiti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il Verm1 finito</a:t>
            </a:r>
            <a:endParaRPr lang="en-US" sz="3200" dirty="0"/>
          </a:p>
        </p:txBody>
      </p:sp>
      <p:sp>
        <p:nvSpPr>
          <p:cNvPr id="3" name="Shape 1"/>
          <p:cNvSpPr/>
          <p:nvPr/>
        </p:nvSpPr>
        <p:spPr>
          <a:xfrm>
            <a:off x="548640" y="1417320"/>
            <a:ext cx="5410048"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4_play.png">    </p:cNvPr>
          <p:cNvPicPr>
            <a:picLocks noChangeAspect="1"/>
          </p:cNvPicPr>
          <p:nvPr/>
        </p:nvPicPr>
        <p:blipFill>
          <a:blip r:embed="rId1"/>
          <a:stretch>
            <a:fillRect/>
          </a:stretch>
        </p:blipFill>
        <p:spPr>
          <a:xfrm>
            <a:off x="803072" y="1554480"/>
            <a:ext cx="4901184" cy="3063240"/>
          </a:xfrm>
          <a:prstGeom prst="rect">
            <a:avLst/>
          </a:prstGeom>
        </p:spPr>
      </p:pic>
      <p:sp>
        <p:nvSpPr>
          <p:cNvPr id="5" name="Text 2"/>
          <p:cNvSpPr txBox="1"/>
          <p:nvPr/>
        </p:nvSpPr>
        <p:spPr>
          <a:xfrm>
            <a:off x="685800"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Punteggio 004, sette celle</a:t>
            </a:r>
            <a:endParaRPr lang="en-US" sz="1500" dirty="0"/>
          </a:p>
        </p:txBody>
      </p:sp>
      <p:sp>
        <p:nvSpPr>
          <p:cNvPr id="6" name="Shape 3"/>
          <p:cNvSpPr/>
          <p:nvPr/>
        </p:nvSpPr>
        <p:spPr>
          <a:xfrm>
            <a:off x="6233008" y="1417320"/>
            <a:ext cx="5410048" cy="3931920"/>
          </a:xfrm>
          <a:prstGeom prst="roundRect">
            <a:avLst>
              <a:gd name="adj" fmla="val 1860"/>
            </a:avLst>
          </a:prstGeom>
          <a:solidFill>
            <a:srgbClr val="EEF2F4"/>
          </a:solidFill>
          <a:ln w="12700">
            <a:solidFill>
              <a:srgbClr val="EEF2F4"/>
            </a:solidFill>
            <a:prstDash val="solid"/>
          </a:ln>
        </p:spPr>
      </p:sp>
      <p:pic>
        <p:nvPicPr>
          <p:cNvPr id="7" name="Image 1" descr="/Users/raffaelemontella/devel/riscv-prg32/computer-architecture-with-prg32/tools/assets/verm1_p4_over.png">    </p:cNvPr>
          <p:cNvPicPr>
            <a:picLocks noChangeAspect="1"/>
          </p:cNvPicPr>
          <p:nvPr/>
        </p:nvPicPr>
        <p:blipFill>
          <a:blip r:embed="rId2"/>
          <a:stretch>
            <a:fillRect/>
          </a:stretch>
        </p:blipFill>
        <p:spPr>
          <a:xfrm>
            <a:off x="6487439" y="1554480"/>
            <a:ext cx="4901184" cy="3063240"/>
          </a:xfrm>
          <a:prstGeom prst="rect">
            <a:avLst/>
          </a:prstGeom>
        </p:spPr>
      </p:pic>
      <p:sp>
        <p:nvSpPr>
          <p:cNvPr id="8" name="Text 4"/>
          <p:cNvSpPr txBox="1"/>
          <p:nvPr/>
        </p:nvSpPr>
        <p:spPr>
          <a:xfrm>
            <a:off x="6370168"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La fine di una partita</a:t>
            </a:r>
            <a:endParaRPr lang="en-US" sz="1500" dirty="0"/>
          </a:p>
        </p:txBody>
      </p:sp>
      <p:sp>
        <p:nvSpPr>
          <p:cNvPr id="9" name="Text 5"/>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Atteso: lo stesso gioco di dopo il passo 3, pixel per pixel. Se vedete scie o buchi, un cambiamento non è stato annotato: usate il debugger.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Appendice: le funzioni che non sono cambiate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Otto parti del file sono quelle della Parte 3: tenetele come sono</a:t>
            </a:r>
            <a:endParaRPr lang="en-US" sz="2400" dirty="0"/>
          </a:p>
        </p:txBody>
      </p:sp>
      <p:sp>
        <p:nvSpPr>
          <p:cNvPr id="5" name="Shape 3"/>
          <p:cNvSpPr/>
          <p:nvPr/>
        </p:nvSpPr>
        <p:spPr>
          <a:xfrm>
            <a:off x="548640" y="25511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2925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Sono nelle prossime slide, così questa presentazione contiene l'intero programma</a:t>
            </a:r>
            <a:endParaRPr lang="en-US" sz="2400" dirty="0"/>
          </a:p>
        </p:txBody>
      </p:sp>
      <p:sp>
        <p:nvSpPr>
          <p:cNvPr id="7" name="Shape 5"/>
          <p:cNvSpPr/>
          <p:nvPr/>
        </p:nvSpPr>
        <p:spPr>
          <a:xfrm>
            <a:off x="548640" y="375208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016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update, new_game (prima metà), play_update (sterzata), step (ricerca in tabella), place_food, draw_worm, draw_cell, .rodata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update: pulsanti e fronti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8(sp)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s1, 4(sp)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s0, a0                 </a:t>
            </a:r>
            <a:pPr indent="0" marL="0">
              <a:buNone/>
            </a:pPr>
            <a:r>
              <a:rPr lang="en-US" sz="1500" dirty="0">
                <a:solidFill>
                  <a:srgbClr val="8FB3A0"/>
                </a:solidFill>
                <a:latin typeface="Courier New" pitchFamily="34" charset="0"/>
                <a:ea typeface="Courier New" pitchFamily="34" charset="-122"/>
                <a:cs typeface="Courier New" pitchFamily="34" charset="-120"/>
              </a:rPr>
              <a:t># s0 = buttons held in this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prev_btn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buttons held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not  t1,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  s1, s0, t1             </a:t>
            </a:r>
            <a:pPr indent="0" marL="0">
              <a:buNone/>
            </a:pPr>
            <a:r>
              <a:rPr lang="en-US" sz="1500" dirty="0">
                <a:solidFill>
                  <a:srgbClr val="8FB3A0"/>
                </a:solidFill>
                <a:latin typeface="Courier New" pitchFamily="34" charset="0"/>
                <a:ea typeface="Courier New" pitchFamily="34" charset="-122"/>
                <a:cs typeface="Courier New" pitchFamily="34" charset="-120"/>
              </a:rPr>
              <a:t># s1 = buttons pressed just now</a:t>
            </a:r>
            <a:endParaRPr lang="en-US" sz="15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rilevatore di fronte della Parte 3</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new_game: la mappa e il verme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new_game: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COLS*ROWS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sb   zero, 0(t0)            </a:t>
            </a:r>
            <a:pPr indent="0" marL="0">
              <a:buNone/>
            </a:pPr>
            <a:r>
              <a:rPr lang="en-US" sz="1150" dirty="0">
                <a:solidFill>
                  <a:srgbClr val="8FB3A0"/>
                </a:solidFill>
                <a:latin typeface="Courier New" pitchFamily="34" charset="0"/>
                <a:ea typeface="Courier New" pitchFamily="34" charset="-122"/>
                <a:cs typeface="Courier New" pitchFamily="34" charset="-120"/>
              </a:rPr>
              <a:t># empty the grid, one byte per cell</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t0, t0,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bnez t1, 1b</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0                  </a:t>
            </a:r>
            <a:pPr indent="0" marL="0">
              <a:buNone/>
            </a:pPr>
            <a:r>
              <a:rPr lang="en-US" sz="1150" dirty="0">
                <a:solidFill>
                  <a:srgbClr val="8FB3A0"/>
                </a:solidFill>
                <a:latin typeface="Courier New" pitchFamily="34" charset="0"/>
                <a:ea typeface="Courier New" pitchFamily="34" charset="-122"/>
                <a:cs typeface="Courier New" pitchFamily="34" charset="-120"/>
              </a:rPr>
              <a:t># i = 0, 1, 2: three cells in row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t2, t1,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t2, 0(t0)              </a:t>
            </a:r>
            <a:pPr indent="0" marL="0">
              <a:buNone/>
            </a:pPr>
            <a:r>
              <a:rPr lang="en-US" sz="1150" dirty="0">
                <a:solidFill>
                  <a:srgbClr val="8FB3A0"/>
                </a:solidFill>
                <a:latin typeface="Courier New" pitchFamily="34" charset="0"/>
                <a:ea typeface="Courier New" pitchFamily="34" charset="-122"/>
                <a:cs typeface="Courier New" pitchFamily="34" charset="-120"/>
              </a:rPr>
              <a:t># columns 3, 4, 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grid+12*COLS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              </a:t>
            </a:r>
            <a:pPr indent="0" marL="0">
              <a:buNone/>
            </a:pPr>
            <a:r>
              <a:rPr lang="en-US" sz="1150" dirty="0">
                <a:solidFill>
                  <a:srgbClr val="8FB3A0"/>
                </a:solidFill>
                <a:latin typeface="Courier New" pitchFamily="34" charset="0"/>
                <a:ea typeface="Courier New" pitchFamily="34" charset="-122"/>
                <a:cs typeface="Courier New" pitchFamily="34" charset="-120"/>
              </a:rPr>
              <a:t># mark the cell as occupied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t1, t3, 2b</a:t>
            </a:r>
            <a:endParaRPr lang="en-US" sz="11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prima metà di new_game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play_update: la sterzata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play_update:                    </a:t>
            </a:r>
            <a:pPr indent="0" marL="0">
              <a:buNone/>
            </a:pPr>
            <a:r>
              <a:rPr lang="en-US" sz="1200" dirty="0">
                <a:solidFill>
                  <a:srgbClr val="8FB3A0"/>
                </a:solidFill>
                <a:latin typeface="Courier New" pitchFamily="34" charset="0"/>
                <a:ea typeface="Courier New" pitchFamily="34" charset="-122"/>
                <a:cs typeface="Courier New" pitchFamily="34" charset="-120"/>
              </a:rPr>
              <a:t># a0 = buttons held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direction of the last step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              </a:t>
            </a:r>
            <a:pPr indent="0" marL="0">
              <a:buNone/>
            </a:pPr>
            <a:r>
              <a:rPr lang="en-US" sz="1200" dirty="0">
                <a:solidFill>
                  <a:srgbClr val="8FB3A0"/>
                </a:solidFill>
                <a:latin typeface="Courier New" pitchFamily="34" charset="0"/>
                <a:ea typeface="Courier New" pitchFamily="34" charset="-122"/>
                <a:cs typeface="Courier New" pitchFamily="34" charset="-120"/>
              </a:rPr>
              <a:t># t2 = wanted direction, so far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t3, a0, BTN_RIGHT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andi t3, a0, BTN_DOWN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andi t3, a0, BTN_LEFT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3f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3:  andi t3, a0, BTN_UP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4f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4:  xor  t3, t2, t1             </a:t>
            </a:r>
            <a:pPr indent="0" marL="0">
              <a:buNone/>
            </a:pPr>
            <a:r>
              <a:rPr lang="en-US" sz="1200" dirty="0">
                <a:solidFill>
                  <a:srgbClr val="8FB3A0"/>
                </a:solidFill>
                <a:latin typeface="Courier New" pitchFamily="34" charset="0"/>
                <a:ea typeface="Courier New" pitchFamily="34" charset="-122"/>
                <a:cs typeface="Courier New" pitchFamily="34" charset="-120"/>
              </a:rPr>
              <a:t># opposite directions differ in bit 1 only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t4,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  t3, t4, 5f             </a:t>
            </a:r>
            <a:pPr indent="0" marL="0">
              <a:buNone/>
            </a:pPr>
            <a:r>
              <a:rPr lang="en-US" sz="1200" dirty="0">
                <a:solidFill>
                  <a:srgbClr val="8FB3A0"/>
                </a:solidFill>
                <a:latin typeface="Courier New" pitchFamily="34" charset="0"/>
                <a:ea typeface="Courier New" pitchFamily="34" charset="-122"/>
                <a:cs typeface="Courier New" pitchFamily="34" charset="-120"/>
              </a:rPr>
              <a:t># a U-turn: ignore the request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5:</a:t>
            </a:r>
            <a:endParaRPr lang="en-US" sz="12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 maschere e la regola dell'inversione a U della Parte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step: la ricerca in tabella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              </a:t>
            </a:r>
            <a:pPr indent="0" marL="0">
              <a:buNone/>
            </a:pPr>
            <a:r>
              <a:rPr lang="en-US" sz="1300" dirty="0">
                <a:solidFill>
                  <a:srgbClr val="8FB3A0"/>
                </a:solidFill>
                <a:latin typeface="Courier New" pitchFamily="34" charset="0"/>
                <a:ea typeface="Courier New" pitchFamily="34" charset="-122"/>
                <a:cs typeface="Courier New" pitchFamily="34" charset="-120"/>
              </a:rPr>
              <a:t># s0 = column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s1, 4(sp)              </a:t>
            </a:r>
            <a:pPr indent="0" marL="0">
              <a:buNone/>
            </a:pPr>
            <a:r>
              <a:rPr lang="en-US" sz="1300" dirty="0">
                <a:solidFill>
                  <a:srgbClr val="8FB3A0"/>
                </a:solidFill>
                <a:latin typeface="Courier New" pitchFamily="34" charset="0"/>
                <a:ea typeface="Courier New" pitchFamily="34" charset="-122"/>
                <a:cs typeface="Courier New" pitchFamily="34" charset="-120"/>
              </a:rPr>
              <a:t># s1 = row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s2, 0(sp)              </a:t>
            </a:r>
            <a:pPr indent="0" marL="0">
              <a:buNone/>
            </a:pPr>
            <a:r>
              <a:rPr lang="en-US" sz="1300" dirty="0">
                <a:solidFill>
                  <a:srgbClr val="8FB3A0"/>
                </a:solidFill>
                <a:latin typeface="Courier New" pitchFamily="34" charset="0"/>
                <a:ea typeface="Courier New" pitchFamily="34" charset="-122"/>
                <a:cs typeface="Courier New" pitchFamily="34" charset="-120"/>
              </a:rPr>
              <a:t># s2 = 0 when the worm eats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frame e le tabelle dx, dy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place_food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COLS-1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mv   s0, a0                 </a:t>
            </a:r>
            <a:pPr indent="0" marL="0">
              <a:buNone/>
            </a:pPr>
            <a:r>
              <a:rPr lang="en-US" sz="1100" dirty="0">
                <a:solidFill>
                  <a:srgbClr val="8FB3A0"/>
                </a:solidFill>
                <a:latin typeface="Courier New" pitchFamily="34" charset="0"/>
                <a:ea typeface="Courier New" pitchFamily="34" charset="-122"/>
                <a:cs typeface="Courier New" pitchFamily="34" charset="-120"/>
              </a:rPr>
              <a:t># s0 = a column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ROWS-1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100" dirty="0">
                <a:solidFill>
                  <a:srgbClr val="8FB3A0"/>
                </a:solidFill>
                <a:latin typeface="Courier New" pitchFamily="34" charset="0"/>
                <a:ea typeface="Courier New" pitchFamily="34" charset="-122"/>
                <a:cs typeface="Courier New" pitchFamily="34" charset="-120"/>
              </a:rPr>
              <a:t># a0 = a row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t1, COLS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mul  t2, a0,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t2, t2,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grid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t3, 1b                 </a:t>
            </a:r>
            <a:pPr indent="0" marL="0">
              <a:buNone/>
            </a:pPr>
            <a:r>
              <a:rPr lang="en-US" sz="1100" dirty="0">
                <a:solidFill>
                  <a:srgbClr val="8FB3A0"/>
                </a:solidFill>
                <a:latin typeface="Courier New" pitchFamily="34" charset="0"/>
                <a:ea typeface="Courier New" pitchFamily="34" charset="-122"/>
                <a:cs typeface="Courier New" pitchFamily="34" charset="-120"/>
              </a:rPr>
              <a:t># on the worm: try again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Una cella libera a caso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draw_worm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draw_worm:</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s0, 0                  </a:t>
            </a:r>
            <a:pPr indent="0" marL="0">
              <a:buNone/>
            </a:pPr>
            <a:r>
              <a:rPr lang="en-US" sz="1000" dirty="0">
                <a:solidFill>
                  <a:srgbClr val="8FB3A0"/>
                </a:solidFill>
                <a:latin typeface="Courier New" pitchFamily="34" charset="0"/>
                <a:ea typeface="Courier New" pitchFamily="34" charset="-122"/>
                <a:cs typeface="Courier New" pitchFamily="34" charset="-120"/>
              </a:rPr>
              <a:t># s0 = i: segment 0 is the head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1: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s0, t1, 3f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segment 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a0,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BODY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s0, 2f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GREEN              </a:t>
            </a:r>
            <a:pPr indent="0" marL="0">
              <a:buNone/>
            </a:pPr>
            <a:r>
              <a:rPr lang="en-US" sz="1000" dirty="0">
                <a:solidFill>
                  <a:srgbClr val="8FB3A0"/>
                </a:solidFill>
                <a:latin typeface="Courier New" pitchFamily="34" charset="0"/>
                <a:ea typeface="Courier New" pitchFamily="34" charset="-122"/>
                <a:cs typeface="Courier New" pitchFamily="34" charset="-120"/>
              </a:rPr>
              <a:t># the head is brighter</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2:  call draw_cell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s0, s0,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1b</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3:  lw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ret</a:t>
            </a:r>
            <a:endParaRPr lang="en-US" sz="10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Usata solo da draw_full, una volta per nuova schermata</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draw_cell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Dalle celle ai pixel, dalla Parte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INVARIATO  .rodata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.section .rodata                </a:t>
            </a:r>
            <a:pPr indent="0" marL="0">
              <a:buNone/>
            </a:pPr>
            <a:r>
              <a:rPr lang="en-US" sz="1300" dirty="0">
                <a:solidFill>
                  <a:srgbClr val="8FB3A0"/>
                </a:solidFill>
                <a:latin typeface="Courier New" pitchFamily="34" charset="0"/>
                <a:ea typeface="Courier New" pitchFamily="34" charset="-122"/>
                <a:cs typeface="Courier New" pitchFamily="34" charset="-120"/>
              </a:rPr>
              <a:t># constants: they stay in the cartridge file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title:     .asciz "VERM1"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press_a:   .asciz "PRESS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game_over: .asciz "GAME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dx:        .word  1, 0, -1,  0  </a:t>
            </a:r>
            <a:pPr indent="0" marL="0">
              <a:buNone/>
            </a:pPr>
            <a:r>
              <a:rPr lang="en-US" sz="1300" dirty="0">
                <a:solidFill>
                  <a:srgbClr val="8FB3A0"/>
                </a:solidFill>
                <a:latin typeface="Courier New" pitchFamily="34" charset="0"/>
                <a:ea typeface="Courier New" pitchFamily="34" charset="-122"/>
                <a:cs typeface="Courier New" pitchFamily="34" charset="-120"/>
              </a:rPr>
              <a:t># right, down, left, up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dy:        .word  0, 1,  0, -1</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Stringhe e tabelle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il gioco finito: il punteggio e il punteggio migliore in cifre, un verme che va più veloce al crescere del punteggio, una nota breve per un pasto e una lunga e grave per la fine.</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avvia una partita; guidate con il joystick</a:t>
            </a:r>
            <a:endParaRPr lang="en-US" sz="2400" dirty="0"/>
          </a:p>
        </p:txBody>
      </p:sp>
      <p:pic>
        <p:nvPicPr>
          <p:cNvPr id="7" name="Image 0" descr="/Users/raffaelemontella/devel/riscv-prg32/computer-architecture-with-prg32/tools/assets/verm1_p4_play.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Fatelo vostro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Una pausa: il pulsante B ferma il gioco e scrive PAUSE; di nuovo B lo riprende. Un quarto stato</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Una melodia nella schermata del titolo: una tabella di note in .rodata, una nota ogni 15 frame</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Cibo bonus: un pezzo su cinque è giallo, vale tre punti, e scompare dopo 100 frame</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 vostri colori con prg32_palette_set, o le vostre regole: ora il gioco è vostro</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 versione che pubblicherete nella Lezione 23 dovrebbe avere qualcosa di vostro. Cambiate anche la stringa del titolo.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4: il gioco finito: il codice</dc:title>
  <dc:subject>Lezione 22</dc:subject>
  <dc:creator>Raffaele Montella</dc:creator>
  <cp:lastModifiedBy>Raffaele Montella</cp:lastModifiedBy>
  <cp:revision>1</cp:revision>
  <dcterms:created xsi:type="dcterms:W3CDTF">2026-10-16T20:22:26Z</dcterms:created>
  <dcterms:modified xsi:type="dcterms:W3CDTF">2026-10-16T20:22:26Z</dcterms:modified>
</cp:coreProperties>
</file>