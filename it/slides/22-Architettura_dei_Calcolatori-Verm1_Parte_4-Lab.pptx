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535f02dc-80ae-d5e4-3237-ca224c86926a}">
          <p14:sldIdLst>
            <p14:sldId id="256"/>
            <p14:sldId id="257"/>
          </p14:sldIdLst>
        </p14:section>
        <p14:section name="I listati" id="{747b9458-bb2b-c1bb-c0b0-7e86ed226219}">
          <p14:sldIdLst>
            <p14:sldId id="258"/>
          </p14:sldIdLst>
        </p14:section>
        <p14:section name="Passo 1: il punteggio in cifre" id="{14dfa0cb-76b3-b591-350b-5448f83b3e5f}">
          <p14:sldIdLst>
            <p14:sldId id="259"/>
            <p14:sldId id="260"/>
            <p14:sldId id="261"/>
            <p14:sldId id="262"/>
          </p14:sldIdLst>
        </p14:section>
        <p14:section name="Passo 2: i livelli" id="{089702ec-00b2-2571-d6d5-0e3f0f8b7776}">
          <p14:sldIdLst>
            <p14:sldId id="263"/>
            <p14:sldId id="264"/>
            <p14:sldId id="265"/>
          </p14:sldIdLst>
        </p14:section>
        <p14:section name="Passo 3: step dice che cosa ha cambiato" id="{9dc44f71-225b-a314-ef05-64a606a0a862}">
          <p14:sldIdLst>
            <p14:sldId id="266"/>
            <p14:sldId id="267"/>
            <p14:sldId id="268"/>
            <p14:sldId id="269"/>
            <p14:sldId id="270"/>
            <p14:sldId id="271"/>
            <p14:sldId id="272"/>
            <p14:sldId id="273"/>
          </p14:sldIdLst>
        </p14:section>
        <p14:section name="Passo 4: disegnare solo ciò che è cambiato" id="{ae13417d-0dd3-09ab-4de9-ce97a3b6c1f8}">
          <p14:sldIdLst>
            <p14:sldId id="274"/>
            <p14:sldId id="275"/>
            <p14:sldId id="276"/>
            <p14:sldId id="277"/>
            <p14:sldId id="278"/>
            <p14:sldId id="279"/>
            <p14:sldId id="280"/>
            <p14:sldId id="281"/>
            <p14:sldId id="282"/>
            <p14:sldId id="283"/>
            <p14:sldId id="284"/>
          </p14:sldIdLst>
        </p14:section>
        <p14:section name="Passo 5: misurare" id="{97ce6f01-90e2-60ca-83a4-2b544c78777a}">
          <p14:sldIdLst>
            <p14:sldId id="285"/>
            <p14:sldId id="286"/>
            <p14:sldId id="287"/>
            <p14:sldId id="288"/>
            <p14:sldId id="289"/>
            <p14:sldId id="290"/>
            <p14:sldId id="291"/>
            <p14:sldId id="292"/>
            <p14:sldId id="293"/>
          </p14:sldIdLst>
        </p14:section>
        <p14:section name="Eseguire e provare" id="{bbd016b5-8618-411d-90d5-3b8542021980}">
          <p14:sldIdLst>
            <p14:sldId id="294"/>
            <p14:sldId id="295"/>
            <p14:sldId id="296"/>
            <p14:sldId id="297"/>
            <p14:sldId id="298"/>
          </p14:sldIdLst>
        </p14:section>
        <p14:section name="Esercizi" id="{f9ebe38a-9c71-b881-7f9d-115ad16d75c4}">
          <p14:sldIdLst>
            <p14:sldId id="29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è la presentazione del codice della Lezione 22. Mentre la presentazione della lezione sviluppa i concetti, questa raccoglie tutto ciò che si scrive e si esegue: ogni listato con il suo commento, il programma completo della lezione, il risultato che deve produrre, e la procedura per provarlo su ciascuno dei tre host. Le due presentazioni vanno lette insieme: i concetti spiegano il codice, e il codice dà ai concetti una conseguenza osservabile.
Stato di apprendimento: DA COMPRENDERE OGGI, alla fine di questa lezione lo spiegate, lo seguite passo passo e lo applicate da soli; DA UTILIZZARE OGGI, oggi seguite e usate la ricetta; come funziona dentro si spiega più avanti, o non fa parte del corso; DA COMPRENDERE PIÙ AVANTI, riconoscete il nome e lo scopo; lo spiega una lezione successiva. Una slide senza etichetta è contesto: una storia, un esempio, una domanda, un esercizio.
Stato di apprendimento di questa lezione. DA COMPRENDERE OGGI: quoziente e resto; caratteri e stringhe; la virgola fissa; la convenzione di chiamata; gli array in memoria; macchine a stati finiti; il frame buffer; il ciclo del processore. DA UTILIZZARE OGGI: gli strumenti di PRG32, il debugger di PRG32-QT (si usa, non si studia, in questo corso). DA COMPRENDERE PIÙ AVANTI: niente. Una slide senza etichetta è contesto: una storia, un esempio, una domanda, un esercizio.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contenuto della presentazione, nell'ordine delle slide. Il programma della lezione è un file sorgente completo, che si può compilare ed eseguire così com'è. Il percorso consigliato è eseguirlo per primo, osservarne il comportamento, e poi tornare ai singoli listati per capire come ciascuna parte contribuisce a quel comportamento. Il programma di riferimento è ~/arc12/verm1/verm1_part4.S; tools/tests/verm1_check.py lo compila e lo gioca con un giocatore programmato, e verm1_steps.py esegue i punti di controllo intermedi.
Per il docente: Procurarsi il codice una volta: git clone https://github.com/riscv-prg32/computer-architecture-with-prg32 ~/arc12. Il programma di riferimento è ~/arc12/verm1/verm1_part4.S; tools/tests/verm1_check.py lo compila e lo gioca con un giocatore programmato, e verm1_steps.py esegue i punti di controllo intermedi. Ogni listato di queste slide è letto dalla compilazione da un file provato, o verificato da tools/tests: si veda il suo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soliti due comandi. Prima di cambiare qualsiasi cosa si esegue la Parte 3 in modalità debug e si annota la telemetria durante una partita: istruzioni eseguite, frame al secondo, frame in ritardo. Queste cifre sono il riferimento della misura che chiude la lezione; senza di esse nessuna affermazione di miglioramento sarebbe sostenibile.
DA UTILIZZARE OGGI: gli strumenti di PRG32 (si usa, non si studia, in questo corso).
Per il docente: Gli stessi due comandi. Prima di cominciare, eseguite la Parte 3 in modalità debug e annotate ciò che mostra la telemetria durante una partita: istruzioni eseguite (retired), frame al secondo, frame in ritardo. I numeri vi serviranno nel passo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to_decimal dichiara il suo contratto in un commento: il valore in a0, l'indirizzo di tre caratteri in a1. Esegue tre volte la stessa operazione: remu dà il resto della divisione per dieci, gli si somma 48, sb memorizza il byte, e divu lascia il quoziente per il giro successivo. Gli spiazzamenti sono 2, 1 e 0, dalle unità alle centinaia. La funzione è una foglia: non chiama nulla e usa solo temporanei, quindi non le serve alcuno stack frame. Le istruzioni di divisione sono lente su un piccolo processore, decine di cicli ciascuna, ma dieci di esse per passo sono trascurabili.
DA COMPRENDERE OGGI: quoziente e resto.
Per il docente: I valori sopra 999 mostrerebbero solo le ultime tre cifre: un limite che nessun giocatore incontrerà presto. Le istruzioni di divisione sono lente, decine di cicli di clock ciascuna su un processore piccolo, e dieci per passo del verme non sono nulla.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draw_score sostituisce quella della Parte 3. Chiama to_decimal due volte, una per il punteggio e una per il punteggio migliore, ogni volta con un indirizzo dentro una stringa in cui vanno le cifre: best_txt+5 salta la parola BEST e lo spazio che la segue. Le due stringhe si disegnano poi come qualsiasi altro testo. Poiché il testo si disegna con il suo colore di sfondo, le nuove cifre coprono le vecchie senza bisogno di cancellarle prima.
DA COMPRENDERE OGGI: caratteri e stringhe.
Per il docente: score_txt e best_txt sono stringhe in .data, non in .rodata: il programma ci scrive dentro. Il testo viene disegnato con il suo colore di sfondo, quindi le nuove cifre coprono le vecchie senza cancellare.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nuova sezione .data. Due stringhe che il programma riempie, poste in .data e non in .rodata proprio perché il programma vi scrive. Seguono sei nuove variabili: dirty, la posizione precedente della testa, e la cella da cancellare. Non si usano fino al terzo passo, ma si scrivono ora perché la sezione si scriva una volta sola.
DA COMPRENDERE OGGI: caratteri e stringhe.
Per il docente: Scrivetela tutta adesso. Le sei variabili da dirty a erase_y non vengono usate fino al passo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Compilare ed eseguire. La riga in alto mostra VERM1 000 e, a destra, BEST 000; ogni pasto incrementa il primo; perdendo, BEST mostra il punteggio raggiunto. Nel debugger si può ispezionare score_txt in memoria: dopo tre pasti i suoi byte sono 30 30 33 00, i caratteri prodotti dalla divisione dello studente.
Per il docente: Questo programma intermedio, la Parte 3 con le nuove draw_score, to_decimal e .data, viene compilato ed eseguito da tests/verm1_steps.py.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costante SPEED_Q8 è sostituita da due: un minimo di 32 e un massimo di 96. Entrambi sono valori in virgola fissa in 256-esimi di cella per frame, come nella Parte 2: 32 significa un passo ogni otto frame, 96 tre passi ogni otto frame.
DA COMPRENDERE OGGI: la virgola fissa.
Per il docente: Sostituite le costanti della Parte 3. Cambiano solo le due righe SPEED.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timer alla fine di play_update. La velocità è 32 più quattro volte il punteggio, calcolata con uno scorrimento di due posizioni e una somma. Un confronto conserva poi il minore tra questo valore e il massimo. Il resto è il timer consueto: la velocità si somma a un accumulatore, e si fa un passo ogni volta che supera 256. Una grandezza che segue una retta e poi resta a un limite si dice che satura, la stessa idea del clamping della Lezione 05.
DA COMPRENDERE OGGI: la virgola fissa.
Per il docente: Sostituite il timer alla fine di play_update. Una saturazione: il valore segue una retta e poi resta al limite, come il clamp del primo laboratorio. Con la virgola fissa la velocità cambia di un sessantaquattresimo di cella per frame a ogni pasto: nessuna velocità intera potrebbe essere così fine.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Compilare ed eseguire: il verme parte più lento che nella Parte 3 e accelera a ogni pasto. Con il debugger si possono contare i frame tra due passi a punteggio zero: otto, come previsto. Raggiunti i sedici punti, si può verificare che la velocità resti costante. I più audaci possono poi provare un massimo di 256, un passo per frame.
Per il docente: Verificato da tests/verm1_steps.py: 8 passi nei primi 64 frame di una partita.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play_note sostituisce eat_sound. Il chiamante sceglie nota e durata, in a2 e a4; la funzione fornisce canale, strumento e volume e chiama prg32_audio_note. La scelta dei registri è voluta: nota e durata stanno già dove la funzione del runtime le aspetta, quindi non serve spostare nulla. Progettare un contratto attorno all'interfaccia della funzione chiamata risparmia istruzioni, un esempio piccolo ma caratteristico di progetto delle interfacce.
DA COMPRENDERE OGGI: la convenzione di chiamata.
Per il docente: Gli argomenti restano nei registri in cui prg32_audio_note li aspetta: a2 è la nota e a4 la durata in entrambe le funzioni. Progettare un contratto attorno al chiamato risparmia spostamenti.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L'inizio di step, con due memorizzazioni aggiunte: prima che la testa si muova, le sue coordinate si scrivono in old_x e old_y. Quella cella sta per smettere di essere la testa e diventare corpo, e draw dovrà ridipingerla.
DA COMPRENDERE OGGI: gli array in memoria.
Per il docente: Al codice della Parte 3 si aggiungono due store: le righe che scrivono old_x e old_y.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ramo seguito in caso di pasto. Quando il verme mangia, la coda non si muove, quindi non c'è cella da cancellare, e erase_on si pone a zero per registrarlo.
DA COMPRENDERE OGGI: gli array in memoria.
Per il docente: Si aggiungono due righe: lo store di zero in erase_on.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Quando il verme non mangia, la coda lascia una cella: le sue coordinate si salvano in erase_x ed erase_y, ed erase_on si pone a 1. Più avanti la collisione con il corpo non si gestisce più sul posto: è diventata una sola chiamata a game_is_over.
DA COMPRENDERE OGGI: gli array in memoria.
Per il docente: L'inizio è nuovo, sette righe; la fine è più corta che nella Parte 3, perché la transizione a OVER è diventata una funzione.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nuova testa si scrive nell'anello e nella mappa esattamente come nella Parte 3. La slide compare solo perché la funzione continua nella successiva.
DA COMPRENDERE OGGI: gli array in memoria.
Per il docente: Righe invariate, mostrate perché la funzione continua.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nuova fine di step. Prima si pone dirty a 1, perché è avvenuto un passo e draw ha del lavoro da fare. Poi, se il verme ha mangiato: un punto in più, un nuovo cibo, e una nota breve e acuta, la numero 72 per 60 millisecondi, richiesta con due istruzioni li e una chiamata, con gli argomenti passati per contratto.
DA COMPRENDERE OGGI: la convenzione di chiamata.
Per il docente: Questo sostituisce la fine di step. Nota 72 per 60 millisecondi: il suono della Parte 2, attraverso la nuova funzione.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game_is_over raccoglie in un solo punto tutto ciò che comporta la transizione da PLAY a OVER: il nuovo stato, l'aggiornamento del punteggio migliore, dirty posto a 2 perché va disegnata un'intera schermata nuova, e una nota lunga e grave, la numero 36 per 400 millisecondi. Una transizione della macchina a stati merita una funzione propria, così che i suoi effetti non possano essere sparsi o dimenticati in parte.
DA COMPRENDERE OGGI: macchine a stati finiti.
Per il docente: Una transizione della macchina a stati merita una funzione tutta sua: stato, uscite e suono in un posto solo.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Compilare ed eseguire: il gioco appare esattamente come dopo il secondo passo. Ciò che cambia si sente: una nota grave quando ci si morde. Nel debugger si vedono erase_x ed erase_y seguire la coda con un passo di ritardo, e dirty valere 1 o 2: viene scritto, e ancora nulla lo legge.
Per il docente: Questo programma intermedio viene compilato ed eseguito da tests/verm1_steps.py: verm1_draw della Parte 3 con step, play_note e game_is_over della Parte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nuova verm1_draw legge dirty e lo azzera subito. Se valeva zero, la funzione ritorna immediatamente: nessuno stack frame, nessuna chiamata, cinque istruzioni macchina. Se valeva 1, è avvenuto un passo e si chiama draw_changes. Se valeva 2, lo stato è cambiato e draw_full ridisegna tutto. Il caso più frequente è il più economico, che è il segno di un'ottimizzazione ben concepita.
DA COMPRENDERE OGGI: il frame buffer.
Per il docente: Sostituite verm1_draw. Il frame viene creato solo se c'è qualcosa da fare: il caso comune, nulla è cambiato, costa cinque istruzioni macchina.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draw_changes dipinge al più tre celle. Se erase_on è impostato, la cella lasciata dalla coda si dipinge di nero. La vecchia testa si ridipinge nel colore del corpo. Poi si disegnano la nuova testa, il cibo e il punteggio. L'ordine conta: la testa può entrare proprio nella cella che la coda ha appena lasciato, quindi la cancellazione deve precedere il disegno della testa.
DA COMPRENDERE OGGI: il frame buffer.
Per il docente: La testa può entrare nella cella che la coda ha appena lasciato: cancellare prima e disegnare la testa dopo dà l'immagine giusta.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draw_full è il corpo della vecchia verm1_draw: cancella lo schermo e disegna il punteggio, e nello stato TITLE aggiunge l'invito e ritorna. Si chiama una volta per ogni cambio di stato, non a ogni frame.
DA COMPRENDERE OGGI: il frame buffer.
Per il docente: Chiamata una volta per ogni cambio di stato.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seconda metà di draw_full: in PLAY e OVER disegna il verme e il cibo attraverso le loro funzioni, e in OVER aggiunge le due parole della schermata di fine partita.
DA COMPRENDERE OGGI: il frame buffer.
Per il docente: La seconda metà di draw_full.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draw_head disegna una cella in verde brillante, la voce head_i dell'anello. È una piccola funzione con una sola responsabilità, usata da draw_changes.
DA COMPRENDERE OGGI: il frame buffer.
Per il docente: Una piccola funzione usata da draw_changes.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draw_food: le tre righe che stavano dentro draw hanno ora un nome e due chiamanti, il disegno completo e quello parziale.
DA COMPRENDERE OGGI: il frame buffer.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draw_text, l'aiutante della Parte 3, invariato. Compare in una slide propria perché nella Parte 3 ne condivideva una con il testo di fine partita.
Per il docente: Invariata: era mostrata insieme al testo del game over nella Parte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verm1_init con tre righe aggiunte: dirty parte da 2, perché la schermata del titolo va disegnata una volta.
DA COMPRENDERE OGGI: macchine a stati finiti.
Per il docente: Sostituite verm1_init: si aggiungono tre righe.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verm1_update la transizione da OVER di nuovo a TITLE pone ora anche dirty a 2: un nuovo stato richiede una nuova schermata.
DA COMPRENDERE OGGI: macchine a stati finiti.
Per il docente: Sostituite la stessa parte di verm1_update.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stesso in new_game, per la transizione da TITLE a PLAY. È la regola che governa la tecnica: ogni transizione richiede un disegno completo, ogni passo uno parziale. Dimenticarne una produce il difetto caratteristico del disegno incrementale, uno schermo che rappresenta uno stato non più vero.
DA COMPRENDERE OGGI: macchine a stati finiti.
Per il docente: Ogni transizione della macchina chiede un disegno completo; ogni passo ne chiede uno parziale. Dimenticarne uno è il tipico errore di questa tecnica: lo schermo mostra uno stato che non è più vero.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Verm1 finito. Deve essere lo stesso gioco di dopo il terzo passo, pixel per pixel: l'ottimizzazione deve essere invisibile. Scie o buchi indicano che qualche cambiamento non è stato registrato, e va cercato con il debugger, a partire dalle tre variabili che step scrive.
Per il docente: Schermate prodotte da tools/tests/verm1_check.py.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Segue un'appendice: le otto parti del file invariate dalla Parte 3. Sono incluse perché questa presentazione contenga l'intero programma, e vanno tenute così come sono.
Per il docente: File di riferimento di questa parte: verm1/verm1_part4.S (565 righe).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verm1_update: la lettura dei pulsanti e il rilevatore di fronti della Parte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prima metà di new_game: la mappa viene azzerata e il verme steso.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guida dentro play_update: le maschere dei pulsanti e la regola che vieta l'inversione a U, dalla Parte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L'inizio di step: lo stack frame e la consultazione della direzione nelle tabelle dx e 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place_food: una cella casuale, estratta di nuovo finché non ne esce una libera.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draw_worm, che percorre l'anello all'indietro. Ora la usa solo draw_full, una volta per ogni nuova schermata.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draw_cell, dalle celle ai pixel: la stessa funzione dalla Parte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sezione .rodata: le stringhe e le tabelle delle direzioni.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comportamento atteso del programma, e l'ingresso che richiede. Il risultato va previsto prima di eseguire: ogni differenza tra la previsione e lo schermo è un'informazione sul proprio modello della macchina, e conviene spiegarla prima di correggerla. L'immagine è stata prodotta dal test automatico, non disegnata a mano.
Per il docente: L'immagine è il frame che l'esecutore senza interfaccia di PRG32-QT ha prodotto nel test di questo programma. Su QEMU e sulla scheda l'area di gioco è la stessa, 320 per 200 pixel, tra le due bande di stato.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via più diretta: PRG32-QT sul proprio computer, in quattro passi, ciascuno con il suo comando. Per gli strumenti PRG32-QT si presenta come una scheda in ascolto sulla porta 8080, ed è per questo che il comando di caricamento nomina l'esp32c6. Con la modalità debug attiva si può fermare l'esecuzione su qualsiasi istruzione e ispezionare registri e memoria.
DA UTILIZZARE OGGI: gli strumenti di PRG32 (si usa, non si studia, in questo corso).
Per il docente: Eseguito dai test: la cartuccia di questa slide è compilata con questo comando ed eseguita sull'esecutore senza interfaccia di PRG32-QT. Senza la toolchain: importate il file .prg32 in PRG32-QT e scegliete Run Cartridge. Tasti: frecce o WASD per il joystick, Z o J per A, X o K per B, Invio per Start, Esc per tornare a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stesso programma sull'emulatore. QEMU esegue il firmware vero su un chip emulato, quindi la cartuccia va compilata per l'architettura qemu e caricata mentre QEMU non è in esecuzione. Il firmware si avvia sul menu Setup, da cui si scelgono Run Cartridge e lo slot. La tastiera è letta dal terminale da cui QEMU è stato avviato, non dalla finestra che mostra l'immagine.
DA UTILIZZARE OGGI: gli strumenti di PRG32 (si usa, non si studia, in questo corso).
Per il docente: Verificato dai test fino al caricamento: la cartuccia è compilata per l'architettura qemu e accettata nell'immagine flash dell'emulatore. Ciò che l'emulatore poi mostra non è verificato automaticamente: il QEMU di Espressif ha bisogno della sua finestra. Dall'ottobre 2026 il firmware parte da Setup: scegliete Run Cartridge, poi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stesso programma sul kit fisico. Il firmware si scrive una volta, via USB; da quel momento le cartucce viaggiano sul Wi-Fi con lo stesso comando di caricamento usato per PRG32-QT, indirizzato alla scheda. È l'unico host non esercitato dai test automatici, quindi le osservazioni fatte sulla scheda sono particolarmente preziose e vanno riferite.
DA UTILIZZARE OGGI: gli strumenti di PRG32 (si usa, non si studia, in questo corso).
Per il docente: Non eseguito dai test: sulla macchina di prova non c'è una scheda. La cartuccia per l'architettura esp32c6 è compilata dai test; i passi sono quelli della documentazione di PRG32. Se la porta seriale non viene trovata, passatela esplicitamente. Per usare il Wi-Fi dell'aula: python3 -m prg32 wifi set --ssid NOME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cinque sintomi più frequenti, il loro significato e il rimedio. Il messaggio di errore va letto per intero prima di cambiare qualsiasi cosa: quasi sempre nomina la causa. Quando si chiede aiuto, vanno riportati alla lettera il comando e il messaggio completo.
DA UTILIZZARE OGGI: gli strumenti di PRG32 (si usa, non si studia, in questo corso).
Per il docente: Le prime tre righe coprono la maggior parte dei casi. Quando chiedete aiuto, incollate il comando e l'intero messaggio come testo. docs/usage/troubleshooting.md del repository di PRG32 ha l'elenco completo.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Quattro idee per fare proprio il gioco. Una pausa sul pulsante B, che richiede un quarto stato. Una melodia sulla schermata del titolo, letta da una tabella di note. Un cibo bonus che vale di più e scompare dopo un certo tempo. Colori propri, o regole proprie. La versione pubblicata nella prossima lezione dovrebbe contenere qualcosa dell'autore, a cominciare dal titolo.
Per il docente: Pausa: uno stato PAUSED con transizioni sul fronte di B (0x20), e dirty = 2 a entrambe le transizioni. Melodia: un indice e un contatore di frame in .data; la tabella si legge come dx.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22: Verm1, parte 4 (codice)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2.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22</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Verm1, parte 4: il gioco finito: il codice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Presentazione del codice: ogni listato spiegato, il programma completo, e come provarlo su PRG32-QT, su QEMU e sulla scheda</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548640" y="6419088"/>
            <a:ext cx="8229600" cy="274320"/>
          </a:xfrm>
          <a:prstGeom prst="rect">
            <a:avLst/>
          </a:prstGeom>
          <a:noFill/>
          <a:ln/>
        </p:spPr>
        <p:txBody>
          <a:bodyPr wrap="square" lIns="0" tIns="0" rIns="0" bIns="0" rtlCol="0" anchor="t"/>
          <a:lstStyle/>
          <a:p>
            <a:pPr indent="0" marL="0">
              <a:buNone/>
            </a:pPr>
            <a:r>
              <a:rPr lang="en-US" sz="1200" i="1" dirty="0">
                <a:solidFill>
                  <a:srgbClr val="CFE3EA"/>
                </a:solidFill>
                <a:latin typeface="Calibri" pitchFamily="34" charset="0"/>
                <a:ea typeface="Calibri" pitchFamily="34" charset="-122"/>
                <a:cs typeface="Calibri" pitchFamily="34" charset="-120"/>
              </a:rPr>
              <a:t>Implementazione di riferimento di Verm1: contributo di Giuseppe Coviello</a:t>
            </a:r>
            <a:endParaRPr lang="en-US" sz="12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Presentazione del codice. I concetti, le figure e le domande sono nella presentazione della lezione:</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22-Architettura_dei_Calcolatori-Verm1_Parte_4.pptx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verm1_p4_play.png">    </p:cNvPr>
          <p:cNvPicPr>
            <a:picLocks noChangeAspect="1"/>
          </p:cNvPicPr>
          <p:nvPr/>
        </p:nvPicPr>
        <p:blipFill>
          <a:blip r:embed="rId1"/>
          <a:stretch>
            <a:fillRect/>
          </a:stretch>
        </p:blipFill>
        <p:spPr>
          <a:xfrm>
            <a:off x="8716975" y="4280535"/>
            <a:ext cx="2834640" cy="1771650"/>
          </a:xfrm>
          <a:prstGeom prst="rect">
            <a:avLst/>
          </a:prstGeom>
        </p:spPr>
      </p:pic>
      <p:sp>
        <p:nvSpPr>
          <p:cNvPr id="15" name="Shape 12"/>
          <p:cNvSpPr/>
          <p:nvPr/>
        </p:nvSpPr>
        <p:spPr>
          <a:xfrm>
            <a:off x="8910777" y="91440"/>
            <a:ext cx="2732278" cy="274320"/>
          </a:xfrm>
          <a:prstGeom prst="rect">
            <a:avLst/>
          </a:prstGeom>
          <a:solidFill>
            <a:srgbClr val="F3E8FF"/>
          </a:solidFill>
          <a:ln w="12700">
            <a:solidFill>
              <a:srgbClr val="7E22CE"/>
            </a:solidFill>
            <a:prstDash val="dash"/>
          </a:ln>
        </p:spPr>
      </p:sp>
      <p:sp>
        <p:nvSpPr>
          <p:cNvPr id="16" name="Shape 13"/>
          <p:cNvSpPr/>
          <p:nvPr/>
        </p:nvSpPr>
        <p:spPr>
          <a:xfrm>
            <a:off x="8938209" y="128016"/>
            <a:ext cx="45720" cy="45720"/>
          </a:xfrm>
          <a:prstGeom prst="rect">
            <a:avLst/>
          </a:prstGeom>
          <a:solidFill>
            <a:srgbClr val="7E22CE"/>
          </a:solidFill>
          <a:ln w="12700">
            <a:solidFill>
              <a:srgbClr val="7E22CE"/>
            </a:solidFill>
            <a:prstDash val="solid"/>
          </a:ln>
        </p:spPr>
      </p:sp>
      <p:sp>
        <p:nvSpPr>
          <p:cNvPr id="17" name="Shape 14"/>
          <p:cNvSpPr/>
          <p:nvPr/>
        </p:nvSpPr>
        <p:spPr>
          <a:xfrm>
            <a:off x="8938209" y="205740"/>
            <a:ext cx="45720" cy="45720"/>
          </a:xfrm>
          <a:prstGeom prst="rect">
            <a:avLst/>
          </a:prstGeom>
          <a:solidFill>
            <a:srgbClr val="7E22CE"/>
          </a:solidFill>
          <a:ln w="12700">
            <a:solidFill>
              <a:srgbClr val="7E22CE"/>
            </a:solidFill>
            <a:prstDash val="solid"/>
          </a:ln>
        </p:spPr>
      </p:sp>
      <p:sp>
        <p:nvSpPr>
          <p:cNvPr id="18" name="Shape 15"/>
          <p:cNvSpPr/>
          <p:nvPr/>
        </p:nvSpPr>
        <p:spPr>
          <a:xfrm>
            <a:off x="8938209"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038793" y="128016"/>
            <a:ext cx="201168" cy="201168"/>
          </a:xfrm>
          <a:prstGeom prst="rect">
            <a:avLst/>
          </a:prstGeom>
        </p:spPr>
      </p:pic>
      <p:sp>
        <p:nvSpPr>
          <p:cNvPr id="20" name="Text 16"/>
          <p:cNvSpPr txBox="1"/>
          <p:nvPr/>
        </p:nvSpPr>
        <p:spPr>
          <a:xfrm>
            <a:off x="9294825" y="91440"/>
            <a:ext cx="2311654"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endParaRPr lang="en-US" sz="1100" dirty="0"/>
          </a:p>
        </p:txBody>
      </p:sp>
      <p:sp>
        <p:nvSpPr>
          <p:cNvPr id="21" name="Shape 17"/>
          <p:cNvSpPr/>
          <p:nvPr/>
        </p:nvSpPr>
        <p:spPr>
          <a:xfrm>
            <a:off x="6675069" y="91440"/>
            <a:ext cx="2125980" cy="274320"/>
          </a:xfrm>
          <a:prstGeom prst="rect">
            <a:avLst/>
          </a:prstGeom>
          <a:solidFill>
            <a:srgbClr val="FEF3C7"/>
          </a:solidFill>
          <a:ln w="12700">
            <a:solidFill>
              <a:srgbClr val="B45309"/>
            </a:solidFill>
            <a:prstDash val="solid"/>
          </a:ln>
        </p:spPr>
      </p:sp>
      <p:sp>
        <p:nvSpPr>
          <p:cNvPr id="22" name="Shape 18"/>
          <p:cNvSpPr/>
          <p:nvPr/>
        </p:nvSpPr>
        <p:spPr>
          <a:xfrm>
            <a:off x="6675069" y="91440"/>
            <a:ext cx="27432" cy="274320"/>
          </a:xfrm>
          <a:prstGeom prst="rect">
            <a:avLst/>
          </a:prstGeom>
          <a:solidFill>
            <a:srgbClr val="B45309"/>
          </a:solidFill>
          <a:ln w="12700">
            <a:solidFill>
              <a:srgbClr val="B45309"/>
            </a:solidFill>
            <a:prstDash val="solid"/>
          </a:ln>
        </p:spPr>
      </p:sp>
      <p:sp>
        <p:nvSpPr>
          <p:cNvPr id="23" name="Shape 19"/>
          <p:cNvSpPr/>
          <p:nvPr/>
        </p:nvSpPr>
        <p:spPr>
          <a:xfrm>
            <a:off x="672993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6803085" y="128016"/>
            <a:ext cx="201168" cy="201168"/>
          </a:xfrm>
          <a:prstGeom prst="rect">
            <a:avLst/>
          </a:prstGeom>
        </p:spPr>
      </p:pic>
      <p:sp>
        <p:nvSpPr>
          <p:cNvPr id="25" name="Text 20"/>
          <p:cNvSpPr txBox="1"/>
          <p:nvPr/>
        </p:nvSpPr>
        <p:spPr>
          <a:xfrm>
            <a:off x="7059117" y="91440"/>
            <a:ext cx="1705356"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endParaRPr lang="en-US" sz="1100" dirty="0"/>
          </a:p>
        </p:txBody>
      </p:sp>
      <p:sp>
        <p:nvSpPr>
          <p:cNvPr id="26" name="Shape 21"/>
          <p:cNvSpPr/>
          <p:nvPr/>
        </p:nvSpPr>
        <p:spPr>
          <a:xfrm>
            <a:off x="4352747" y="91440"/>
            <a:ext cx="2212594" cy="274320"/>
          </a:xfrm>
          <a:prstGeom prst="rect">
            <a:avLst/>
          </a:prstGeom>
          <a:solidFill>
            <a:srgbClr val="E0F2FE"/>
          </a:solidFill>
          <a:ln w="12700">
            <a:solidFill>
              <a:srgbClr val="0369A1"/>
            </a:solidFill>
            <a:prstDash val="solid"/>
          </a:ln>
        </p:spPr>
      </p:sp>
      <p:sp>
        <p:nvSpPr>
          <p:cNvPr id="27" name="Shape 22"/>
          <p:cNvSpPr/>
          <p:nvPr/>
        </p:nvSpPr>
        <p:spPr>
          <a:xfrm>
            <a:off x="435274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4480763" y="128016"/>
            <a:ext cx="201168" cy="201168"/>
          </a:xfrm>
          <a:prstGeom prst="rect">
            <a:avLst/>
          </a:prstGeom>
        </p:spPr>
      </p:pic>
      <p:sp>
        <p:nvSpPr>
          <p:cNvPr id="29" name="Text 23"/>
          <p:cNvSpPr txBox="1"/>
          <p:nvPr/>
        </p:nvSpPr>
        <p:spPr>
          <a:xfrm>
            <a:off x="4736795" y="91440"/>
            <a:ext cx="17919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questa presentazione</a:t>
            </a:r>
            <a:endParaRPr lang="en-US" sz="3200" dirty="0"/>
          </a:p>
        </p:txBody>
      </p:sp>
      <p:sp>
        <p:nvSpPr>
          <p:cNvPr id="3" name="Text 1"/>
          <p:cNvSpPr txBox="1"/>
          <p:nvPr/>
        </p:nvSpPr>
        <p:spPr>
          <a:xfrm>
            <a:off x="548640" y="143713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884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 31 listati della Lezione 22, uno per slide: leggete il codice, poi le osservazioni numerate a fianco</a:t>
            </a:r>
            <a:endParaRPr lang="en-US" sz="2200" dirty="0"/>
          </a:p>
        </p:txBody>
      </p:sp>
      <p:sp>
        <p:nvSpPr>
          <p:cNvPr id="5" name="Text 3"/>
          <p:cNvSpPr txBox="1"/>
          <p:nvPr/>
        </p:nvSpPr>
        <p:spPr>
          <a:xfrm>
            <a:off x="548640" y="25760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55778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Il programma è il vostro verm1.S; il riferimento è verm1/verm1_part4.S, 565 righe, mostrato qui regione per regione</a:t>
            </a:r>
            <a:endParaRPr lang="en-US" sz="2200" dirty="0"/>
          </a:p>
        </p:txBody>
      </p:sp>
      <p:sp>
        <p:nvSpPr>
          <p:cNvPr id="7" name="Text 5"/>
          <p:cNvSpPr txBox="1"/>
          <p:nvPr/>
        </p:nvSpPr>
        <p:spPr>
          <a:xfrm>
            <a:off x="548640" y="371500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9671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Che cosa dovreste vedere quando gira, verificato sull'esecutore senza interfaccia di PRG32-QT</a:t>
            </a:r>
            <a:endParaRPr lang="en-US" sz="2200" dirty="0"/>
          </a:p>
        </p:txBody>
      </p:sp>
      <p:sp>
        <p:nvSpPr>
          <p:cNvPr id="9" name="Text 7"/>
          <p:cNvSpPr txBox="1"/>
          <p:nvPr/>
        </p:nvSpPr>
        <p:spPr>
          <a:xfrm>
            <a:off x="548640" y="485394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83565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Come provarlo, passo per passo: su PRG32-QT, su QEMU, sulla scheda</a:t>
            </a:r>
            <a:endParaRPr lang="en-US" sz="2200" dirty="0"/>
          </a:p>
        </p:txBody>
      </p:sp>
      <p:sp>
        <p:nvSpPr>
          <p:cNvPr id="11" name="Text 9"/>
          <p:cNvSpPr txBox="1"/>
          <p:nvPr/>
        </p:nvSpPr>
        <p:spPr>
          <a:xfrm>
            <a:off x="548640" y="57500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73176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Gli esercizi: modificare il programma, prevedere, eseguire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ciclo di lavoro, di nuovo</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8FB3A0"/>
                </a:solidFill>
                <a:latin typeface="Courier New" pitchFamily="34" charset="0"/>
                <a:ea typeface="Courier New" pitchFamily="34" charset="-122"/>
                <a:cs typeface="Courier New" pitchFamily="34" charset="-120"/>
              </a:rPr>
              <a:t># 1. build the cartridge (from your PRG32 folder, toolchain active)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--entry-prefix verm1 --name verm1 --out ~/verm1/verm1.prg32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2. send it to PRG32-QT, running on the same computer</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python3 -m prg32 esp32c6 upload-and-run ~/verm1/verm1.prg32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--url http://localhost:8080 --slot cart0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or: in PRG32-QT, import the file verm1.prg32 and choose Run Cartridge</a:t>
            </a:r>
            <a:endParaRPr lang="en-US" sz="1800" dirty="0"/>
          </a:p>
        </p:txBody>
      </p:sp>
      <p:sp>
        <p:nvSpPr>
          <p:cNvPr id="5" name="Shape 3"/>
          <p:cNvSpPr/>
          <p:nvPr/>
        </p:nvSpPr>
        <p:spPr>
          <a:xfrm>
            <a:off x="7875600" y="91440"/>
            <a:ext cx="3767455" cy="274320"/>
          </a:xfrm>
          <a:prstGeom prst="rect">
            <a:avLst/>
          </a:prstGeom>
          <a:solidFill>
            <a:srgbClr val="FEF3C7"/>
          </a:solidFill>
          <a:ln w="12700">
            <a:solidFill>
              <a:srgbClr val="B45309"/>
            </a:solidFill>
            <a:prstDash val="solid"/>
          </a:ln>
        </p:spPr>
      </p:sp>
      <p:sp>
        <p:nvSpPr>
          <p:cNvPr id="6" name="Shape 4"/>
          <p:cNvSpPr/>
          <p:nvPr/>
        </p:nvSpPr>
        <p:spPr>
          <a:xfrm>
            <a:off x="7875600" y="91440"/>
            <a:ext cx="27432" cy="274320"/>
          </a:xfrm>
          <a:prstGeom prst="rect">
            <a:avLst/>
          </a:prstGeom>
          <a:solidFill>
            <a:srgbClr val="B45309"/>
          </a:solidFill>
          <a:ln w="12700">
            <a:solidFill>
              <a:srgbClr val="B45309"/>
            </a:solidFill>
            <a:prstDash val="solid"/>
          </a:ln>
        </p:spPr>
      </p:sp>
      <p:sp>
        <p:nvSpPr>
          <p:cNvPr id="7" name="Shape 5"/>
          <p:cNvSpPr/>
          <p:nvPr/>
        </p:nvSpPr>
        <p:spPr>
          <a:xfrm>
            <a:off x="7930464"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9" name="Text 6"/>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NUOVO  to_decimal: dividere per dieci, tre volte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to_decimal:                     </a:t>
            </a:r>
            <a:pPr indent="0" marL="0">
              <a:buNone/>
            </a:pPr>
            <a:r>
              <a:rPr lang="en-US" sz="1300" dirty="0">
                <a:solidFill>
                  <a:srgbClr val="8FB3A0"/>
                </a:solidFill>
                <a:latin typeface="Courier New" pitchFamily="34" charset="0"/>
                <a:ea typeface="Courier New" pitchFamily="34" charset="-122"/>
                <a:cs typeface="Courier New" pitchFamily="34" charset="-120"/>
              </a:rPr>
              <a:t># a0 = value 0..999, a1 = address of 3 chars</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t0, 10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remu t1, a0, t0             </a:t>
            </a:r>
            <a:pPr indent="0" marL="0">
              <a:buNone/>
            </a:pPr>
            <a:r>
              <a:rPr lang="en-US" sz="1300" dirty="0">
                <a:solidFill>
                  <a:srgbClr val="8FB3A0"/>
                </a:solidFill>
                <a:latin typeface="Courier New" pitchFamily="34" charset="0"/>
                <a:ea typeface="Courier New" pitchFamily="34" charset="-122"/>
                <a:cs typeface="Courier New" pitchFamily="34" charset="-120"/>
              </a:rPr>
              <a:t># the units: the remainder of value / 10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t1, t1, 48             </a:t>
            </a:r>
            <a:pPr indent="0" marL="0">
              <a:buNone/>
            </a:pPr>
            <a:r>
              <a:rPr lang="en-US" sz="1300" dirty="0">
                <a:solidFill>
                  <a:srgbClr val="8FB3A0"/>
                </a:solidFill>
                <a:latin typeface="Courier New" pitchFamily="34" charset="0"/>
                <a:ea typeface="Courier New" pitchFamily="34" charset="-122"/>
                <a:cs typeface="Courier New" pitchFamily="34" charset="-120"/>
              </a:rPr>
              <a:t># 48 is the ASCII code of '0'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sb   t1, 2(a1)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divu a0, a0, 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remu t1, a0, t0             </a:t>
            </a:r>
            <a:pPr indent="0" marL="0">
              <a:buNone/>
            </a:pPr>
            <a:r>
              <a:rPr lang="en-US" sz="1300" dirty="0">
                <a:solidFill>
                  <a:srgbClr val="8FB3A0"/>
                </a:solidFill>
                <a:latin typeface="Courier New" pitchFamily="34" charset="0"/>
                <a:ea typeface="Courier New" pitchFamily="34" charset="-122"/>
                <a:cs typeface="Courier New" pitchFamily="34" charset="-120"/>
              </a:rPr>
              <a:t># the tens</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t1, t1, 48</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sb   t1, 1(a1)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divu a0, a0, 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remu t1, a0, t0             </a:t>
            </a:r>
            <a:pPr indent="0" marL="0">
              <a:buNone/>
            </a:pPr>
            <a:r>
              <a:rPr lang="en-US" sz="1300" dirty="0">
                <a:solidFill>
                  <a:srgbClr val="8FB3A0"/>
                </a:solidFill>
                <a:latin typeface="Courier New" pitchFamily="34" charset="0"/>
                <a:ea typeface="Courier New" pitchFamily="34" charset="-122"/>
                <a:cs typeface="Courier New" pitchFamily="34" charset="-120"/>
              </a:rPr>
              <a:t># the hundreds</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t1, t1, 48</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sb   t1, 0(a1)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ret                         </a:t>
            </a:r>
            <a:pPr indent="0" marL="0">
              <a:buNone/>
            </a:pPr>
            <a:r>
              <a:rPr lang="en-US" sz="1300" dirty="0">
                <a:solidFill>
                  <a:srgbClr val="8FB3A0"/>
                </a:solidFill>
                <a:latin typeface="Courier New" pitchFamily="34" charset="0"/>
                <a:ea typeface="Courier New" pitchFamily="34" charset="-122"/>
                <a:cs typeface="Courier New" pitchFamily="34" charset="-120"/>
              </a:rPr>
              <a:t># a leaf function: no stack frame needed</a:t>
            </a:r>
            <a:endParaRPr lang="en-US" sz="13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Contratto: a0 = valore, a1 = dove vanno i 3 caratteri</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remu dà la cifra, divu ciò che resta</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sb memorizza un byte: scostamenti 2, 1, 0 da a1</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Una foglia: solo registri t, nessun frame</a:t>
            </a:r>
            <a:endParaRPr lang="en-US" sz="1500" dirty="0"/>
          </a:p>
        </p:txBody>
      </p:sp>
      <p:sp>
        <p:nvSpPr>
          <p:cNvPr id="17" name="Shape 15"/>
          <p:cNvSpPr/>
          <p:nvPr/>
        </p:nvSpPr>
        <p:spPr>
          <a:xfrm>
            <a:off x="8117281" y="91440"/>
            <a:ext cx="3525774" cy="274320"/>
          </a:xfrm>
          <a:prstGeom prst="rect">
            <a:avLst/>
          </a:prstGeom>
          <a:solidFill>
            <a:srgbClr val="E0F2FE"/>
          </a:solidFill>
          <a:ln w="12700">
            <a:solidFill>
              <a:srgbClr val="0369A1"/>
            </a:solidFill>
            <a:prstDash val="solid"/>
          </a:ln>
        </p:spPr>
      </p:sp>
      <p:sp>
        <p:nvSpPr>
          <p:cNvPr id="18" name="Shape 16"/>
          <p:cNvSpPr/>
          <p:nvPr/>
        </p:nvSpPr>
        <p:spPr>
          <a:xfrm>
            <a:off x="8117281"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245297" y="128016"/>
            <a:ext cx="201168" cy="201168"/>
          </a:xfrm>
          <a:prstGeom prst="rect">
            <a:avLst/>
          </a:prstGeom>
        </p:spPr>
      </p:pic>
      <p:sp>
        <p:nvSpPr>
          <p:cNvPr id="20" name="Text 17"/>
          <p:cNvSpPr txBox="1"/>
          <p:nvPr/>
        </p:nvSpPr>
        <p:spPr>
          <a:xfrm>
            <a:off x="8501329" y="91440"/>
            <a:ext cx="310515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quoziente e resto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MODIFICATO  draw_score: due numeri, due testi</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draw_score: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score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a0, 0(t0)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a1, score_txt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call to_decimal             </a:t>
            </a:r>
            <a:pPr indent="0" marL="0">
              <a:buNone/>
            </a:pPr>
            <a:r>
              <a:rPr lang="en-US" sz="1300" dirty="0">
                <a:solidFill>
                  <a:srgbClr val="8FB3A0"/>
                </a:solidFill>
                <a:latin typeface="Courier New" pitchFamily="34" charset="0"/>
                <a:ea typeface="Courier New" pitchFamily="34" charset="-122"/>
                <a:cs typeface="Courier New" pitchFamily="34" charset="-120"/>
              </a:rPr>
              <a:t># the score, as three characters</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a0, 56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a1, 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a2, score_txt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call draw_text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best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a0, 0(t0)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a1, best_txt+5         </a:t>
            </a:r>
            <a:pPr indent="0" marL="0">
              <a:buNone/>
            </a:pPr>
            <a:r>
              <a:rPr lang="en-US" sz="1300" dirty="0">
                <a:solidFill>
                  <a:srgbClr val="8FB3A0"/>
                </a:solidFill>
                <a:latin typeface="Courier New" pitchFamily="34" charset="0"/>
                <a:ea typeface="Courier New" pitchFamily="34" charset="-122"/>
                <a:cs typeface="Courier New" pitchFamily="34" charset="-120"/>
              </a:rPr>
              <a:t># after the letters "BEST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call to_decimal</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a0, 256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a1, 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a2, best_txt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call draw_text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ret</a:t>
            </a:r>
            <a:endParaRPr lang="en-US" sz="13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Sostituite draw_score della Parte 3: via le tacche</a:t>
            </a:r>
            <a:endParaRPr lang="en-US" sz="13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Le cifre vengono scritte in una stringa in RAM</a:t>
            </a:r>
            <a:endParaRPr lang="en-US" sz="13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best_txt+5: salta BEST e lo spazio, cinque caratteri</a:t>
            </a:r>
            <a:endParaRPr lang="en-US" sz="13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Poi la stringa si disegna come ogni altra</a:t>
            </a:r>
            <a:endParaRPr lang="en-US" sz="1300" dirty="0"/>
          </a:p>
        </p:txBody>
      </p:sp>
      <p:sp>
        <p:nvSpPr>
          <p:cNvPr id="17" name="Shape 15"/>
          <p:cNvSpPr/>
          <p:nvPr/>
        </p:nvSpPr>
        <p:spPr>
          <a:xfrm>
            <a:off x="7920304" y="91440"/>
            <a:ext cx="3722751" cy="274320"/>
          </a:xfrm>
          <a:prstGeom prst="rect">
            <a:avLst/>
          </a:prstGeom>
          <a:solidFill>
            <a:srgbClr val="E0F2FE"/>
          </a:solidFill>
          <a:ln w="12700">
            <a:solidFill>
              <a:srgbClr val="0369A1"/>
            </a:solidFill>
            <a:prstDash val="solid"/>
          </a:ln>
        </p:spPr>
      </p:sp>
      <p:sp>
        <p:nvSpPr>
          <p:cNvPr id="18" name="Shape 16"/>
          <p:cNvSpPr/>
          <p:nvPr/>
        </p:nvSpPr>
        <p:spPr>
          <a:xfrm>
            <a:off x="7920304"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048320" y="128016"/>
            <a:ext cx="201168" cy="201168"/>
          </a:xfrm>
          <a:prstGeom prst="rect">
            <a:avLst/>
          </a:prstGeom>
        </p:spPr>
      </p:pic>
      <p:sp>
        <p:nvSpPr>
          <p:cNvPr id="20" name="Text 17"/>
          <p:cNvSpPr txBox="1"/>
          <p:nvPr/>
        </p:nvSpPr>
        <p:spPr>
          <a:xfrm>
            <a:off x="8304352" y="91440"/>
            <a:ext cx="330212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caratteri e stringhe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MODIFICATO  .data: le variabili della Parte 4</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50" dirty="0">
                <a:solidFill>
                  <a:srgbClr val="E6EDF2"/>
                </a:solidFill>
                <a:latin typeface="Courier New" pitchFamily="34" charset="0"/>
                <a:ea typeface="Courier New" pitchFamily="34" charset="-122"/>
                <a:cs typeface="Courier New" pitchFamily="34" charset="-120"/>
              </a:rPr>
              <a:t>.section .data                  </a:t>
            </a:r>
            <a:pPr indent="0" marL="0">
              <a:buNone/>
            </a:pPr>
            <a:r>
              <a:rPr lang="en-US" sz="1250" dirty="0">
                <a:solidFill>
                  <a:srgbClr val="8FB3A0"/>
                </a:solidFill>
                <a:latin typeface="Courier New" pitchFamily="34" charset="0"/>
                <a:ea typeface="Courier New" pitchFamily="34" charset="-122"/>
                <a:cs typeface="Courier New" pitchFamily="34" charset="-120"/>
              </a:rPr>
              <a:t># variables: they live in RAM</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state:     .word TITLE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prev_btn:  .word 0              </a:t>
            </a:r>
            <a:pPr indent="0" marL="0">
              <a:buNone/>
            </a:pPr>
            <a:r>
              <a:rPr lang="en-US" sz="1250" dirty="0">
                <a:solidFill>
                  <a:srgbClr val="8FB3A0"/>
                </a:solidFill>
                <a:latin typeface="Courier New" pitchFamily="34" charset="0"/>
                <a:ea typeface="Courier New" pitchFamily="34" charset="-122"/>
                <a:cs typeface="Courier New" pitchFamily="34" charset="-120"/>
              </a:rPr>
              <a:t># the buttons one frame ago</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dir:       .word 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want:      .word 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step_q8:   .word 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score:     .word 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best:      .word 0              </a:t>
            </a:r>
            <a:pPr indent="0" marL="0">
              <a:buNone/>
            </a:pPr>
            <a:r>
              <a:rPr lang="en-US" sz="1250" dirty="0">
                <a:solidFill>
                  <a:srgbClr val="8FB3A0"/>
                </a:solidFill>
                <a:latin typeface="Courier New" pitchFamily="34" charset="0"/>
                <a:ea typeface="Courier New" pitchFamily="34" charset="-122"/>
                <a:cs typeface="Courier New" pitchFamily="34" charset="-120"/>
              </a:rPr>
              <a:t># lost when the power goes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food_x:    .word 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food_y:    .word 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head_i:    .word 0              </a:t>
            </a:r>
            <a:pPr indent="0" marL="0">
              <a:buNone/>
            </a:pPr>
            <a:r>
              <a:rPr lang="en-US" sz="1250" dirty="0">
                <a:solidFill>
                  <a:srgbClr val="8FB3A0"/>
                </a:solidFill>
                <a:latin typeface="Courier New" pitchFamily="34" charset="0"/>
                <a:ea typeface="Courier New" pitchFamily="34" charset="-122"/>
                <a:cs typeface="Courier New" pitchFamily="34" charset="-120"/>
              </a:rPr>
              <a:t># ring index of the head</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length:    .word 0              </a:t>
            </a:r>
            <a:pPr indent="0" marL="0">
              <a:buNone/>
            </a:pPr>
            <a:r>
              <a:rPr lang="en-US" sz="1250" dirty="0">
                <a:solidFill>
                  <a:srgbClr val="8FB3A0"/>
                </a:solidFill>
                <a:latin typeface="Courier New" pitchFamily="34" charset="0"/>
                <a:ea typeface="Courier New" pitchFamily="34" charset="-122"/>
                <a:cs typeface="Courier New" pitchFamily="34" charset="-120"/>
              </a:rPr>
              <a:t># number of cells of the worm</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body_x:    .space 256           </a:t>
            </a:r>
            <a:pPr indent="0" marL="0">
              <a:buNone/>
            </a:pPr>
            <a:r>
              <a:rPr lang="en-US" sz="1250" dirty="0">
                <a:solidFill>
                  <a:srgbClr val="8FB3A0"/>
                </a:solidFill>
                <a:latin typeface="Courier New" pitchFamily="34" charset="0"/>
                <a:ea typeface="Courier New" pitchFamily="34" charset="-122"/>
                <a:cs typeface="Courier New" pitchFamily="34" charset="-120"/>
              </a:rPr>
              <a:t># the ring: one byte per segment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body_y:    .space 256</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grid:      .space COLS*ROWS     </a:t>
            </a:r>
            <a:pPr indent="0" marL="0">
              <a:buNone/>
            </a:pPr>
            <a:r>
              <a:rPr lang="en-US" sz="1250" dirty="0">
                <a:solidFill>
                  <a:srgbClr val="8FB3A0"/>
                </a:solidFill>
                <a:latin typeface="Courier New" pitchFamily="34" charset="0"/>
                <a:ea typeface="Courier New" pitchFamily="34" charset="-122"/>
                <a:cs typeface="Courier New" pitchFamily="34" charset="-120"/>
              </a:rPr>
              <a:t># one byte per cell: 1 = worm</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dirty:     .word 2              </a:t>
            </a:r>
            <a:pPr indent="0" marL="0">
              <a:buNone/>
            </a:pPr>
            <a:r>
              <a:rPr lang="en-US" sz="1250" dirty="0">
                <a:solidFill>
                  <a:srgbClr val="8FB3A0"/>
                </a:solidFill>
                <a:latin typeface="Courier New" pitchFamily="34" charset="0"/>
                <a:ea typeface="Courier New" pitchFamily="34" charset="-122"/>
                <a:cs typeface="Courier New" pitchFamily="34" charset="-120"/>
              </a:rPr>
              <a:t># 0 nothing to draw, 1 a step, 2 everything</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old_x:     .word 0              </a:t>
            </a:r>
            <a:pPr indent="0" marL="0">
              <a:buNone/>
            </a:pPr>
            <a:r>
              <a:rPr lang="en-US" sz="1250" dirty="0">
                <a:solidFill>
                  <a:srgbClr val="8FB3A0"/>
                </a:solidFill>
                <a:latin typeface="Courier New" pitchFamily="34" charset="0"/>
                <a:ea typeface="Courier New" pitchFamily="34" charset="-122"/>
                <a:cs typeface="Courier New" pitchFamily="34" charset="-120"/>
              </a:rPr>
              <a:t># where the head was before the step</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old_y:     .word 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erase_on:  .word 0              </a:t>
            </a:r>
            <a:pPr indent="0" marL="0">
              <a:buNone/>
            </a:pPr>
            <a:r>
              <a:rPr lang="en-US" sz="1250" dirty="0">
                <a:solidFill>
                  <a:srgbClr val="8FB3A0"/>
                </a:solidFill>
                <a:latin typeface="Courier New" pitchFamily="34" charset="0"/>
                <a:ea typeface="Courier New" pitchFamily="34" charset="-122"/>
                <a:cs typeface="Courier New" pitchFamily="34" charset="-120"/>
              </a:rPr>
              <a:t># 1 if the tail left a cell</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erase_x:   .word 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erase_y:   .word 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score_txt: .asciz "000"         </a:t>
            </a:r>
            <a:pPr indent="0" marL="0">
              <a:buNone/>
            </a:pPr>
            <a:r>
              <a:rPr lang="en-US" sz="1250" dirty="0">
                <a:solidFill>
                  <a:srgbClr val="8FB3A0"/>
                </a:solidFill>
                <a:latin typeface="Courier New" pitchFamily="34" charset="0"/>
                <a:ea typeface="Courier New" pitchFamily="34" charset="-122"/>
                <a:cs typeface="Courier New" pitchFamily="34" charset="-120"/>
              </a:rPr>
              <a:t># filled in by to_decimal</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best_txt:  .asciz "BEST 000"</a:t>
            </a:r>
            <a:endParaRPr lang="en-US" sz="125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Sostituite la .data della Parte 3</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Due stringhe che il programma compila</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dirty, old ed erase: usate nei passi 3 e 4</a:t>
            </a:r>
            <a:endParaRPr lang="en-US" sz="1700" dirty="0"/>
          </a:p>
        </p:txBody>
      </p:sp>
      <p:sp>
        <p:nvSpPr>
          <p:cNvPr id="14" name="Shape 12"/>
          <p:cNvSpPr/>
          <p:nvPr/>
        </p:nvSpPr>
        <p:spPr>
          <a:xfrm>
            <a:off x="7920304" y="91440"/>
            <a:ext cx="3722751" cy="274320"/>
          </a:xfrm>
          <a:prstGeom prst="rect">
            <a:avLst/>
          </a:prstGeom>
          <a:solidFill>
            <a:srgbClr val="E0F2FE"/>
          </a:solidFill>
          <a:ln w="12700">
            <a:solidFill>
              <a:srgbClr val="0369A1"/>
            </a:solidFill>
            <a:prstDash val="solid"/>
          </a:ln>
        </p:spPr>
      </p:sp>
      <p:sp>
        <p:nvSpPr>
          <p:cNvPr id="15" name="Shape 13"/>
          <p:cNvSpPr/>
          <p:nvPr/>
        </p:nvSpPr>
        <p:spPr>
          <a:xfrm>
            <a:off x="7920304"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048320" y="128016"/>
            <a:ext cx="201168" cy="201168"/>
          </a:xfrm>
          <a:prstGeom prst="rect">
            <a:avLst/>
          </a:prstGeom>
        </p:spPr>
      </p:pic>
      <p:sp>
        <p:nvSpPr>
          <p:cNvPr id="17" name="Text 14"/>
          <p:cNvSpPr txBox="1"/>
          <p:nvPr/>
        </p:nvSpPr>
        <p:spPr>
          <a:xfrm>
            <a:off x="8304352" y="91440"/>
            <a:ext cx="330212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caratteri e stringhe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Eseguite: le cifre</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PROVA TU</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Compilate ed eseguite, premete A: la riga in alto dice VERM1 000 e, a destra, BEST 000</a:t>
            </a:r>
            <a:endParaRPr lang="en-US" sz="2400" dirty="0"/>
          </a:p>
        </p:txBody>
      </p:sp>
      <p:sp>
        <p:nvSpPr>
          <p:cNvPr id="6" name="Text 4"/>
          <p:cNvSpPr txBox="1"/>
          <p:nvPr/>
        </p:nvSpPr>
        <p:spPr>
          <a:xfrm>
            <a:off x="548640" y="24475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429256"/>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Giocate e mangiate: 001, 002, ...</a:t>
            </a:r>
            <a:endParaRPr lang="en-US" sz="2400" dirty="0"/>
          </a:p>
        </p:txBody>
      </p:sp>
      <p:sp>
        <p:nvSpPr>
          <p:cNvPr id="8" name="Text 6"/>
          <p:cNvSpPr txBox="1"/>
          <p:nvPr/>
        </p:nvSpPr>
        <p:spPr>
          <a:xfrm>
            <a:off x="548640" y="31546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136392"/>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Perdete: nella schermata di game over BEST mostra il vostro punteggio</a:t>
            </a:r>
            <a:endParaRPr lang="en-US" sz="2400" dirty="0"/>
          </a:p>
        </p:txBody>
      </p:sp>
      <p:sp>
        <p:nvSpPr>
          <p:cNvPr id="10" name="Text 8"/>
          <p:cNvSpPr txBox="1"/>
          <p:nvPr/>
        </p:nvSpPr>
        <p:spPr>
          <a:xfrm>
            <a:off x="548640" y="41666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4148328"/>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Nel debugger trovate score_txt in memoria e leggetene i byte: 30 30 33 00 dopo tre pasti</a:t>
            </a:r>
            <a:endParaRPr lang="en-US" sz="2400" dirty="0"/>
          </a:p>
        </p:txBody>
      </p:sp>
      <p:sp>
        <p:nvSpPr>
          <p:cNvPr id="12" name="Shape 10"/>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3" name="Text 11"/>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Risultato atteso</a:t>
            </a:r>
            <a:endParaRPr lang="en-US" sz="1300" dirty="0"/>
          </a:p>
        </p:txBody>
      </p:sp>
      <p:sp>
        <p:nvSpPr>
          <p:cNvPr id="14" name="Text 12"/>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Il punteggio e il punteggio migliore in cifre; tutto il resto come nella Parte 3.</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MODIFICATO  Costanti: due velocità invece di una</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00" dirty="0">
                <a:solidFill>
                  <a:srgbClr val="E6EDF2"/>
                </a:solidFill>
                <a:latin typeface="Courier New" pitchFamily="34" charset="0"/>
                <a:ea typeface="Courier New" pitchFamily="34" charset="-122"/>
                <a:cs typeface="Courier New" pitchFamily="34" charset="-120"/>
              </a:rPr>
              <a:t>.option norelax</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BLACK, 0x0000          </a:t>
            </a:r>
            <a:pPr indent="0" marL="0">
              <a:buNone/>
            </a:pPr>
            <a:r>
              <a:rPr lang="en-US" sz="1200" dirty="0">
                <a:solidFill>
                  <a:srgbClr val="8FB3A0"/>
                </a:solidFill>
                <a:latin typeface="Courier New" pitchFamily="34" charset="0"/>
                <a:ea typeface="Courier New" pitchFamily="34" charset="-122"/>
                <a:cs typeface="Courier New" pitchFamily="34" charset="-120"/>
              </a:rPr>
              <a:t># RGB565 colours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WHITE, 0xffff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GREEN, 0x07e0          </a:t>
            </a:r>
            <a:pPr indent="0" marL="0">
              <a:buNone/>
            </a:pPr>
            <a:r>
              <a:rPr lang="en-US" sz="1200" dirty="0">
                <a:solidFill>
                  <a:srgbClr val="8FB3A0"/>
                </a:solidFill>
                <a:latin typeface="Courier New" pitchFamily="34" charset="0"/>
                <a:ea typeface="Courier New" pitchFamily="34" charset="-122"/>
                <a:cs typeface="Courier New" pitchFamily="34" charset="-120"/>
              </a:rPr>
              <a:t># the head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BODY,  0x03e0          </a:t>
            </a:r>
            <a:pPr indent="0" marL="0">
              <a:buNone/>
            </a:pPr>
            <a:r>
              <a:rPr lang="en-US" sz="1200" dirty="0">
                <a:solidFill>
                  <a:srgbClr val="8FB3A0"/>
                </a:solidFill>
                <a:latin typeface="Courier New" pitchFamily="34" charset="0"/>
                <a:ea typeface="Courier New" pitchFamily="34" charset="-122"/>
                <a:cs typeface="Courier New" pitchFamily="34" charset="-120"/>
              </a:rPr>
              <a:t># the body: a darker green</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RED,   0xf800          </a:t>
            </a:r>
            <a:pPr indent="0" marL="0">
              <a:buNone/>
            </a:pPr>
            <a:r>
              <a:rPr lang="en-US" sz="1200" dirty="0">
                <a:solidFill>
                  <a:srgbClr val="8FB3A0"/>
                </a:solidFill>
                <a:latin typeface="Courier New" pitchFamily="34" charset="0"/>
                <a:ea typeface="Courier New" pitchFamily="34" charset="-122"/>
                <a:cs typeface="Courier New" pitchFamily="34" charset="-120"/>
              </a:rPr>
              <a:t># the food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CELL,  8               </a:t>
            </a:r>
            <a:pPr indent="0" marL="0">
              <a:buNone/>
            </a:pPr>
            <a:r>
              <a:rPr lang="en-US" sz="1200" dirty="0">
                <a:solidFill>
                  <a:srgbClr val="8FB3A0"/>
                </a:solidFill>
                <a:latin typeface="Courier New" pitchFamily="34" charset="0"/>
                <a:ea typeface="Courier New" pitchFamily="34" charset="-122"/>
                <a:cs typeface="Courier New" pitchFamily="34" charset="-120"/>
              </a:rPr>
              <a:t># a cell is 8 x 8 pixels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COLS,  40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ROWS,  24</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TOP,   8</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SPEED_MIN, 32          </a:t>
            </a:r>
            <a:pPr indent="0" marL="0">
              <a:buNone/>
            </a:pPr>
            <a:r>
              <a:rPr lang="en-US" sz="1200" dirty="0">
                <a:solidFill>
                  <a:srgbClr val="8FB3A0"/>
                </a:solidFill>
                <a:latin typeface="Courier New" pitchFamily="34" charset="0"/>
                <a:ea typeface="Courier New" pitchFamily="34" charset="-122"/>
                <a:cs typeface="Courier New" pitchFamily="34" charset="-120"/>
              </a:rPr>
              <a:t># 32/256 of a cell per frame at the start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SPEED_MAX, 96          </a:t>
            </a:r>
            <a:pPr indent="0" marL="0">
              <a:buNone/>
            </a:pPr>
            <a:r>
              <a:rPr lang="en-US" sz="1200" dirty="0">
                <a:solidFill>
                  <a:srgbClr val="8FB3A0"/>
                </a:solidFill>
                <a:latin typeface="Courier New" pitchFamily="34" charset="0"/>
                <a:ea typeface="Courier New" pitchFamily="34" charset="-122"/>
                <a:cs typeface="Courier New" pitchFamily="34" charset="-120"/>
              </a:rPr>
              <a:t># the worm never goes faster than this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BTN_LEFT,  0x01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BTN_RIGHT, 0x02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BTN_UP,    0x04</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BTN_DOWN,  0x08</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BTN_A,     0x10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DIR_RIGHT, 0           </a:t>
            </a:r>
            <a:pPr indent="0" marL="0">
              <a:buNone/>
            </a:pPr>
            <a:r>
              <a:rPr lang="en-US" sz="1200" dirty="0">
                <a:solidFill>
                  <a:srgbClr val="8FB3A0"/>
                </a:solidFill>
                <a:latin typeface="Courier New" pitchFamily="34" charset="0"/>
                <a:ea typeface="Courier New" pitchFamily="34" charset="-122"/>
                <a:cs typeface="Courier New" pitchFamily="34" charset="-120"/>
              </a:rPr>
              <a:t># bit 0 = vertical, bit 1 = backwards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DIR_DOWN,  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DIR_LEFT,  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DIR_UP,    3</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TITLE, 0               </a:t>
            </a:r>
            <a:pPr indent="0" marL="0">
              <a:buNone/>
            </a:pPr>
            <a:r>
              <a:rPr lang="en-US" sz="1200" dirty="0">
                <a:solidFill>
                  <a:srgbClr val="8FB3A0"/>
                </a:solidFill>
                <a:latin typeface="Courier New" pitchFamily="34" charset="0"/>
                <a:ea typeface="Courier New" pitchFamily="34" charset="-122"/>
                <a:cs typeface="Courier New" pitchFamily="34" charset="-120"/>
              </a:rPr>
              <a:t># the three states of the game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PLAY,  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OVER,  2</a:t>
            </a:r>
            <a:endParaRPr lang="en-US" sz="120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SPEED_Q8 è sostituita da un minimo e un massimo</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32/256: un passo ogni 8 frame all'inizio</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96/256: al massimo tre passi ogni 8 frame</a:t>
            </a:r>
            <a:endParaRPr lang="en-US" sz="1700" dirty="0"/>
          </a:p>
        </p:txBody>
      </p:sp>
      <p:sp>
        <p:nvSpPr>
          <p:cNvPr id="14" name="Shape 12"/>
          <p:cNvSpPr/>
          <p:nvPr/>
        </p:nvSpPr>
        <p:spPr>
          <a:xfrm>
            <a:off x="8182940" y="91440"/>
            <a:ext cx="3460115" cy="274320"/>
          </a:xfrm>
          <a:prstGeom prst="rect">
            <a:avLst/>
          </a:prstGeom>
          <a:solidFill>
            <a:srgbClr val="E0F2FE"/>
          </a:solidFill>
          <a:ln w="12700">
            <a:solidFill>
              <a:srgbClr val="0369A1"/>
            </a:solidFill>
            <a:prstDash val="solid"/>
          </a:ln>
        </p:spPr>
      </p:sp>
      <p:sp>
        <p:nvSpPr>
          <p:cNvPr id="15" name="Shape 13"/>
          <p:cNvSpPr/>
          <p:nvPr/>
        </p:nvSpPr>
        <p:spPr>
          <a:xfrm>
            <a:off x="8182940"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310956" y="128016"/>
            <a:ext cx="201168" cy="201168"/>
          </a:xfrm>
          <a:prstGeom prst="rect">
            <a:avLst/>
          </a:prstGeom>
        </p:spPr>
      </p:pic>
      <p:sp>
        <p:nvSpPr>
          <p:cNvPr id="17" name="Text 14"/>
          <p:cNvSpPr txBox="1"/>
          <p:nvPr/>
        </p:nvSpPr>
        <p:spPr>
          <a:xfrm>
            <a:off x="8566988" y="91440"/>
            <a:ext cx="303949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virgola fissa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MODIFICATO  play_update: una velocità che cresce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    la   t0, score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t3, 0(t0)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slli t3, t3, 2</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t3, t3, SPEED_MIN      </a:t>
            </a:r>
            <a:pPr indent="0" marL="0">
              <a:buNone/>
            </a:pPr>
            <a:r>
              <a:rPr lang="en-US" sz="1300" dirty="0">
                <a:solidFill>
                  <a:srgbClr val="8FB3A0"/>
                </a:solidFill>
                <a:latin typeface="Courier New" pitchFamily="34" charset="0"/>
                <a:ea typeface="Courier New" pitchFamily="34" charset="-122"/>
                <a:cs typeface="Courier New" pitchFamily="34" charset="-120"/>
              </a:rPr>
              <a:t># speed = 32 + 4 * score, in 1/256 of a cell</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t4, SPEED_MAX</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ble  t3, t4, 8f</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mv   t3, t4                 </a:t>
            </a:r>
            <a:pPr indent="0" marL="0">
              <a:buNone/>
            </a:pPr>
            <a:r>
              <a:rPr lang="en-US" sz="1300" dirty="0">
                <a:solidFill>
                  <a:srgbClr val="8FB3A0"/>
                </a:solidFill>
                <a:latin typeface="Courier New" pitchFamily="34" charset="0"/>
                <a:ea typeface="Courier New" pitchFamily="34" charset="-122"/>
                <a:cs typeface="Courier New" pitchFamily="34" charset="-120"/>
              </a:rPr>
              <a:t># ... but never more than 96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8:  la   t0, step_q8</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t1, 0(t0)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  t1, t1, t3             </a:t>
            </a:r>
            <a:pPr indent="0" marL="0">
              <a:buNone/>
            </a:pPr>
            <a:r>
              <a:rPr lang="en-US" sz="1300" dirty="0">
                <a:solidFill>
                  <a:srgbClr val="8FB3A0"/>
                </a:solidFill>
                <a:latin typeface="Courier New" pitchFamily="34" charset="0"/>
                <a:ea typeface="Courier New" pitchFamily="34" charset="-122"/>
                <a:cs typeface="Courier New" pitchFamily="34" charset="-120"/>
              </a:rPr>
              <a:t># add a fraction of a cell</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t2, 256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blt  t1, t2, 6f             </a:t>
            </a:r>
            <a:pPr indent="0" marL="0">
              <a:buNone/>
            </a:pPr>
            <a:r>
              <a:rPr lang="en-US" sz="1300" dirty="0">
                <a:solidFill>
                  <a:srgbClr val="8FB3A0"/>
                </a:solidFill>
                <a:latin typeface="Courier New" pitchFamily="34" charset="0"/>
                <a:ea typeface="Courier New" pitchFamily="34" charset="-122"/>
                <a:cs typeface="Courier New" pitchFamily="34" charset="-120"/>
              </a:rPr>
              <a:t># less than one whole cell: wait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sub  t1, t1, t2</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t1, 0(t0)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call step                   </a:t>
            </a:r>
            <a:pPr indent="0" marL="0">
              <a:buNone/>
            </a:pPr>
            <a:r>
              <a:rPr lang="en-US" sz="1300" dirty="0">
                <a:solidFill>
                  <a:srgbClr val="8FB3A0"/>
                </a:solidFill>
                <a:latin typeface="Courier New" pitchFamily="34" charset="0"/>
                <a:ea typeface="Courier New" pitchFamily="34" charset="-122"/>
                <a:cs typeface="Courier New" pitchFamily="34" charset="-120"/>
              </a:rPr>
              <a:t># one whole cell: move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j    7f</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6:  sw   t1, 0(t0)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7:  lw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ret</a:t>
            </a:r>
            <a:endParaRPr lang="en-US" sz="13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speed = 32 + 4 x score: uno scorrimento e una somma</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ble e mv: il minore tra speed e 96</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Il resto è il timer che conoscete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Il limite si raggiunge a 16 punti</a:t>
            </a:r>
            <a:endParaRPr lang="en-US" sz="1200" dirty="0"/>
          </a:p>
        </p:txBody>
      </p:sp>
      <p:sp>
        <p:nvSpPr>
          <p:cNvPr id="17" name="Shape 15"/>
          <p:cNvSpPr/>
          <p:nvPr/>
        </p:nvSpPr>
        <p:spPr>
          <a:xfrm>
            <a:off x="8182940" y="91440"/>
            <a:ext cx="3460115" cy="274320"/>
          </a:xfrm>
          <a:prstGeom prst="rect">
            <a:avLst/>
          </a:prstGeom>
          <a:solidFill>
            <a:srgbClr val="E0F2FE"/>
          </a:solidFill>
          <a:ln w="12700">
            <a:solidFill>
              <a:srgbClr val="0369A1"/>
            </a:solidFill>
            <a:prstDash val="solid"/>
          </a:ln>
        </p:spPr>
      </p:sp>
      <p:sp>
        <p:nvSpPr>
          <p:cNvPr id="18" name="Shape 16"/>
          <p:cNvSpPr/>
          <p:nvPr/>
        </p:nvSpPr>
        <p:spPr>
          <a:xfrm>
            <a:off x="8182940"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310956" y="128016"/>
            <a:ext cx="201168" cy="201168"/>
          </a:xfrm>
          <a:prstGeom prst="rect">
            <a:avLst/>
          </a:prstGeom>
        </p:spPr>
      </p:pic>
      <p:sp>
        <p:nvSpPr>
          <p:cNvPr id="20" name="Text 17"/>
          <p:cNvSpPr txBox="1"/>
          <p:nvPr/>
        </p:nvSpPr>
        <p:spPr>
          <a:xfrm>
            <a:off x="8566988" y="91440"/>
            <a:ext cx="303949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virgola fissa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Eseguite: sempre più veloce</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PROVA TU</a:t>
            </a:r>
            <a:endParaRPr lang="en-US" sz="1500" dirty="0"/>
          </a:p>
        </p:txBody>
      </p:sp>
      <p:sp>
        <p:nvSpPr>
          <p:cNvPr id="4" name="Text 2"/>
          <p:cNvSpPr txBox="1"/>
          <p:nvPr/>
        </p:nvSpPr>
        <p:spPr>
          <a:xfrm>
            <a:off x="548640" y="14569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38656"/>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Compilate ed eseguite: il verme parte più lento che nella Parte 3, e accelera a ogni pasto</a:t>
            </a:r>
            <a:endParaRPr lang="en-US" sz="2400" dirty="0"/>
          </a:p>
        </p:txBody>
      </p:sp>
      <p:sp>
        <p:nvSpPr>
          <p:cNvPr id="6" name="Text 4"/>
          <p:cNvSpPr txBox="1"/>
          <p:nvPr/>
        </p:nvSpPr>
        <p:spPr>
          <a:xfrm>
            <a:off x="548640" y="265785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639568"/>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Contate con il debugger i frame tra due passi a punteggio 0: otto</a:t>
            </a:r>
            <a:endParaRPr lang="en-US" sz="2400" dirty="0"/>
          </a:p>
        </p:txBody>
      </p:sp>
      <p:sp>
        <p:nvSpPr>
          <p:cNvPr id="8" name="Text 6"/>
          <p:cNvSpPr txBox="1"/>
          <p:nvPr/>
        </p:nvSpPr>
        <p:spPr>
          <a:xfrm>
            <a:off x="548640" y="35539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535680"/>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Arrivate a 16 punti: la velocità non cambia più</a:t>
            </a:r>
            <a:endParaRPr lang="en-US" sz="2400" dirty="0"/>
          </a:p>
        </p:txBody>
      </p:sp>
      <p:sp>
        <p:nvSpPr>
          <p:cNvPr id="10" name="Text 8"/>
          <p:cNvSpPr txBox="1"/>
          <p:nvPr/>
        </p:nvSpPr>
        <p:spPr>
          <a:xfrm>
            <a:off x="548640" y="44500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4431792"/>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Provate SPEED_MAX = 256, se ne avete il coraggio</a:t>
            </a:r>
            <a:endParaRPr lang="en-US" sz="2400" dirty="0"/>
          </a:p>
        </p:txBody>
      </p:sp>
      <p:sp>
        <p:nvSpPr>
          <p:cNvPr id="12" name="Shape 10"/>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3" name="Text 11"/>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Risultato atteso</a:t>
            </a:r>
            <a:endParaRPr lang="en-US" sz="1300" dirty="0"/>
          </a:p>
        </p:txBody>
      </p:sp>
      <p:sp>
        <p:nvSpPr>
          <p:cNvPr id="14" name="Text 12"/>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Una partenza lenta, un passo ogni 8 frame, e un'accelerazione visibile nei primi pasti.</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MODIFICATO  play_note: una funzione, ogni nota</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E6EDF2"/>
                </a:solidFill>
                <a:latin typeface="Courier New" pitchFamily="34" charset="0"/>
                <a:ea typeface="Courier New" pitchFamily="34" charset="-122"/>
                <a:cs typeface="Courier New" pitchFamily="34" charset="-120"/>
              </a:rPr>
              <a:t>play_note:                      </a:t>
            </a:r>
            <a:pPr indent="0" marL="0">
              <a:buNone/>
            </a:pPr>
            <a:r>
              <a:rPr lang="en-US" sz="1450" dirty="0">
                <a:solidFill>
                  <a:srgbClr val="8FB3A0"/>
                </a:solidFill>
                <a:latin typeface="Courier New" pitchFamily="34" charset="0"/>
                <a:ea typeface="Courier New" pitchFamily="34" charset="-122"/>
                <a:cs typeface="Courier New" pitchFamily="34" charset="-120"/>
              </a:rPr>
              <a:t># a2 = MIDI note, a4 = milliseconds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sp, sp, -16</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sw   ra, 12(sp)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a0, 0                  </a:t>
            </a:r>
            <a:pPr indent="0" marL="0">
              <a:buNone/>
            </a:pPr>
            <a:r>
              <a:rPr lang="en-US" sz="1450" dirty="0">
                <a:solidFill>
                  <a:srgbClr val="8FB3A0"/>
                </a:solidFill>
                <a:latin typeface="Courier New" pitchFamily="34" charset="0"/>
                <a:ea typeface="Courier New" pitchFamily="34" charset="-122"/>
                <a:cs typeface="Courier New" pitchFamily="34" charset="-120"/>
              </a:rPr>
              <a:t># channel</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a1, 0                  </a:t>
            </a:r>
            <a:pPr indent="0" marL="0">
              <a:buNone/>
            </a:pPr>
            <a:r>
              <a:rPr lang="en-US" sz="1450" dirty="0">
                <a:solidFill>
                  <a:srgbClr val="8FB3A0"/>
                </a:solidFill>
                <a:latin typeface="Courier New" pitchFamily="34" charset="0"/>
                <a:ea typeface="Courier New" pitchFamily="34" charset="-122"/>
                <a:cs typeface="Courier New" pitchFamily="34" charset="-120"/>
              </a:rPr>
              <a:t># instrument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a3, 255                </a:t>
            </a:r>
            <a:pPr indent="0" marL="0">
              <a:buNone/>
            </a:pPr>
            <a:r>
              <a:rPr lang="en-US" sz="1450" dirty="0">
                <a:solidFill>
                  <a:srgbClr val="8FB3A0"/>
                </a:solidFill>
                <a:latin typeface="Courier New" pitchFamily="34" charset="0"/>
                <a:ea typeface="Courier New" pitchFamily="34" charset="-122"/>
                <a:cs typeface="Courier New" pitchFamily="34" charset="-120"/>
              </a:rPr>
              <a:t># volume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call prg32_audio_note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lw   ra, 12(sp)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sp, sp, 16</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ret</a:t>
            </a:r>
            <a:endParaRPr lang="en-US" sz="145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Sostituite eat_sound con play_note</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Il chiamante sceglie nota e durata: a2 e a4</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La funzione compila gli altri tre argomenti</a:t>
            </a:r>
            <a:endParaRPr lang="en-US" sz="1700" dirty="0"/>
          </a:p>
        </p:txBody>
      </p:sp>
      <p:sp>
        <p:nvSpPr>
          <p:cNvPr id="14" name="Shape 12"/>
          <p:cNvSpPr/>
          <p:nvPr/>
        </p:nvSpPr>
        <p:spPr>
          <a:xfrm>
            <a:off x="7526350" y="91440"/>
            <a:ext cx="4116705" cy="274320"/>
          </a:xfrm>
          <a:prstGeom prst="rect">
            <a:avLst/>
          </a:prstGeom>
          <a:solidFill>
            <a:srgbClr val="E0F2FE"/>
          </a:solidFill>
          <a:ln w="12700">
            <a:solidFill>
              <a:srgbClr val="0369A1"/>
            </a:solidFill>
            <a:prstDash val="solid"/>
          </a:ln>
        </p:spPr>
      </p:sp>
      <p:sp>
        <p:nvSpPr>
          <p:cNvPr id="15" name="Shape 13"/>
          <p:cNvSpPr/>
          <p:nvPr/>
        </p:nvSpPr>
        <p:spPr>
          <a:xfrm>
            <a:off x="7526350"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7654366" y="128016"/>
            <a:ext cx="201168" cy="201168"/>
          </a:xfrm>
          <a:prstGeom prst="rect">
            <a:avLst/>
          </a:prstGeom>
        </p:spPr>
      </p:pic>
      <p:sp>
        <p:nvSpPr>
          <p:cNvPr id="17" name="Text 14"/>
          <p:cNvSpPr txBox="1"/>
          <p:nvPr/>
        </p:nvSpPr>
        <p:spPr>
          <a:xfrm>
            <a:off x="7910398" y="91440"/>
            <a:ext cx="369608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convenzione di chiamata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MODIFICATO  step: ricordare la vecchia testa</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150" dirty="0">
                <a:solidFill>
                  <a:srgbClr val="E6EDF2"/>
                </a:solidFill>
                <a:latin typeface="Courier New" pitchFamily="34" charset="0"/>
                <a:ea typeface="Courier New" pitchFamily="34" charset="-122"/>
                <a:cs typeface="Courier New" pitchFamily="34" charset="-120"/>
              </a:rPr>
              <a:t>    la   t0, head_i</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lw   t5, 0(t0)              </a:t>
            </a:r>
            <a:pPr indent="0" marL="0">
              <a:buNone/>
            </a:pPr>
            <a:r>
              <a:rPr lang="en-US" sz="1150" dirty="0">
                <a:solidFill>
                  <a:srgbClr val="8FB3A0"/>
                </a:solidFill>
                <a:latin typeface="Courier New" pitchFamily="34" charset="0"/>
                <a:ea typeface="Courier New" pitchFamily="34" charset="-122"/>
                <a:cs typeface="Courier New" pitchFamily="34" charset="-120"/>
              </a:rPr>
              <a:t># t5 = ring index of the head</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body_x</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  t0, t0, t5</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lbu  s0, 0(t0)              </a:t>
            </a:r>
            <a:pPr indent="0" marL="0">
              <a:buNone/>
            </a:pPr>
            <a:r>
              <a:rPr lang="en-US" sz="1150" dirty="0">
                <a:solidFill>
                  <a:srgbClr val="8FB3A0"/>
                </a:solidFill>
                <a:latin typeface="Courier New" pitchFamily="34" charset="0"/>
                <a:ea typeface="Courier New" pitchFamily="34" charset="-122"/>
                <a:cs typeface="Courier New" pitchFamily="34" charset="-120"/>
              </a:rPr>
              <a:t># one byte: the column of the head</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old_x</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sw   s0, 0(t0)              </a:t>
            </a:r>
            <a:pPr indent="0" marL="0">
              <a:buNone/>
            </a:pPr>
            <a:r>
              <a:rPr lang="en-US" sz="1150" dirty="0">
                <a:solidFill>
                  <a:srgbClr val="8FB3A0"/>
                </a:solidFill>
                <a:latin typeface="Courier New" pitchFamily="34" charset="0"/>
                <a:ea typeface="Courier New" pitchFamily="34" charset="-122"/>
                <a:cs typeface="Courier New" pitchFamily="34" charset="-120"/>
              </a:rPr>
              <a:t># remember where the head was</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  s0, s0, t2</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bgez s0, 1f</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s0, COLS-1             </a:t>
            </a:r>
            <a:pPr indent="0" marL="0">
              <a:buNone/>
            </a:pPr>
            <a:r>
              <a:rPr lang="en-US" sz="1150" dirty="0">
                <a:solidFill>
                  <a:srgbClr val="8FB3A0"/>
                </a:solidFill>
                <a:latin typeface="Courier New" pitchFamily="34" charset="0"/>
                <a:ea typeface="Courier New" pitchFamily="34" charset="-122"/>
                <a:cs typeface="Courier New" pitchFamily="34" charset="-120"/>
              </a:rPr>
              <a:t># off the left edge: wrap</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1:  li   t4, COLS</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blt  s0, t4, 2f</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s0, 0</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2:  la   t0, body_y</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  t0, t0, t5</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lbu  s1, 0(t0)</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old_y</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sw   s1, 0(t0)</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  s1, s1, t3</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bgez s1, 3f</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s1, ROWS-1</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3:  li   t4, ROWS</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blt  s1, t4, 4f</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s1, 0</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4:</a:t>
            </a:r>
            <a:endParaRPr lang="en-US" sz="115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Sostituite la stessa parte di step</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old_x, old_y: la cella che la testa sta lasciando</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draw la ridipingerà con il colore del corpo</a:t>
            </a:r>
            <a:endParaRPr lang="en-US" sz="1700" dirty="0"/>
          </a:p>
        </p:txBody>
      </p:sp>
      <p:sp>
        <p:nvSpPr>
          <p:cNvPr id="14" name="Shape 12"/>
          <p:cNvSpPr/>
          <p:nvPr/>
        </p:nvSpPr>
        <p:spPr>
          <a:xfrm>
            <a:off x="7920304" y="91440"/>
            <a:ext cx="3722751" cy="274320"/>
          </a:xfrm>
          <a:prstGeom prst="rect">
            <a:avLst/>
          </a:prstGeom>
          <a:solidFill>
            <a:srgbClr val="E0F2FE"/>
          </a:solidFill>
          <a:ln w="12700">
            <a:solidFill>
              <a:srgbClr val="0369A1"/>
            </a:solidFill>
            <a:prstDash val="solid"/>
          </a:ln>
        </p:spPr>
      </p:sp>
      <p:sp>
        <p:nvSpPr>
          <p:cNvPr id="15" name="Shape 13"/>
          <p:cNvSpPr/>
          <p:nvPr/>
        </p:nvSpPr>
        <p:spPr>
          <a:xfrm>
            <a:off x="7920304"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048320" y="128016"/>
            <a:ext cx="201168" cy="201168"/>
          </a:xfrm>
          <a:prstGeom prst="rect">
            <a:avLst/>
          </a:prstGeom>
        </p:spPr>
      </p:pic>
      <p:sp>
        <p:nvSpPr>
          <p:cNvPr id="17" name="Text 14"/>
          <p:cNvSpPr txBox="1"/>
          <p:nvPr/>
        </p:nvSpPr>
        <p:spPr>
          <a:xfrm>
            <a:off x="8304352" y="91440"/>
            <a:ext cx="330212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gli array in memoria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MODIFICATO  step: c'è una cella da cancellare?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000" dirty="0">
                <a:solidFill>
                  <a:srgbClr val="E6EDF2"/>
                </a:solidFill>
                <a:latin typeface="Courier New" pitchFamily="34" charset="0"/>
                <a:ea typeface="Courier New" pitchFamily="34" charset="-122"/>
                <a:cs typeface="Courier New" pitchFamily="34" charset="-120"/>
              </a:rPr>
              <a:t>    la   t0, food_x</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lw   t1, 0(t0)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xor  t1, t1, s0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la   t0, food_y</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lw   t2, 0(t0)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xor  t2, t2, s1</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or   s2, t1, t2             </a:t>
            </a:r>
            <a:pPr indent="0" marL="0">
              <a:buNone/>
            </a:pPr>
            <a:r>
              <a:rPr lang="en-US" sz="1000" dirty="0">
                <a:solidFill>
                  <a:srgbClr val="8FB3A0"/>
                </a:solidFill>
                <a:latin typeface="Courier New" pitchFamily="34" charset="0"/>
                <a:ea typeface="Courier New" pitchFamily="34" charset="-122"/>
                <a:cs typeface="Courier New" pitchFamily="34" charset="-120"/>
              </a:rPr>
              <a:t># s2 = 0 if the new head is on the food</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la   t0, length</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lw   t1, 0(t0)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bnez s2, 5f                 </a:t>
            </a:r>
            <a:pPr indent="0" marL="0">
              <a:buNone/>
            </a:pPr>
            <a:r>
              <a:rPr lang="en-US" sz="1000" dirty="0">
                <a:solidFill>
                  <a:srgbClr val="8FB3A0"/>
                </a:solidFill>
                <a:latin typeface="Courier New" pitchFamily="34" charset="0"/>
                <a:ea typeface="Courier New" pitchFamily="34" charset="-122"/>
                <a:cs typeface="Courier New" pitchFamily="34" charset="-120"/>
              </a:rPr>
              <a:t># not eating: the tail moves on</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li   t2, 255</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bge  t1, t2, 5f             </a:t>
            </a:r>
            <a:pPr indent="0" marL="0">
              <a:buNone/>
            </a:pPr>
            <a:r>
              <a:rPr lang="en-US" sz="1000" dirty="0">
                <a:solidFill>
                  <a:srgbClr val="8FB3A0"/>
                </a:solidFill>
                <a:latin typeface="Courier New" pitchFamily="34" charset="0"/>
                <a:ea typeface="Courier New" pitchFamily="34" charset="-122"/>
                <a:cs typeface="Courier New" pitchFamily="34" charset="-120"/>
              </a:rPr>
              <a:t># the ring is full: no more growth</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addi t1, t1, 1</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sw   t1, 0(t0)              </a:t>
            </a:r>
            <a:pPr indent="0" marL="0">
              <a:buNone/>
            </a:pPr>
            <a:r>
              <a:rPr lang="en-US" sz="1000" dirty="0">
                <a:solidFill>
                  <a:srgbClr val="8FB3A0"/>
                </a:solidFill>
                <a:latin typeface="Courier New" pitchFamily="34" charset="0"/>
                <a:ea typeface="Courier New" pitchFamily="34" charset="-122"/>
                <a:cs typeface="Courier New" pitchFamily="34" charset="-120"/>
              </a:rPr>
              <a:t># eating: one cell longer, the tail stays</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la   t0, erase_on</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sw   zero, 0(t0)            </a:t>
            </a:r>
            <a:pPr indent="0" marL="0">
              <a:buNone/>
            </a:pPr>
            <a:r>
              <a:rPr lang="en-US" sz="1000" dirty="0">
                <a:solidFill>
                  <a:srgbClr val="8FB3A0"/>
                </a:solidFill>
                <a:latin typeface="Courier New" pitchFamily="34" charset="0"/>
                <a:ea typeface="Courier New" pitchFamily="34" charset="-122"/>
                <a:cs typeface="Courier New" pitchFamily="34" charset="-120"/>
              </a:rPr>
              <a:t># ... so there is no cell to erase</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j    6f</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5:  la   t0, head_i</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lw   t2, 0(t0)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sub  t2, t2, t1</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addi t2, t2, 1</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andi t2, t2, 255            </a:t>
            </a:r>
            <a:pPr indent="0" marL="0">
              <a:buNone/>
            </a:pPr>
            <a:r>
              <a:rPr lang="en-US" sz="1000" dirty="0">
                <a:solidFill>
                  <a:srgbClr val="8FB3A0"/>
                </a:solidFill>
                <a:latin typeface="Courier New" pitchFamily="34" charset="0"/>
                <a:ea typeface="Courier New" pitchFamily="34" charset="-122"/>
                <a:cs typeface="Courier New" pitchFamily="34" charset="-120"/>
              </a:rPr>
              <a:t># ring index of the tail</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la   t0, body_x</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add  t0, t0, t2</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lbu  t3, 0(t0)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la   t0, body_y</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add  t0, t0, t2</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lbu  t4, 0(t0)</a:t>
            </a:r>
            <a:endParaRPr lang="en-US" sz="1000" dirty="0"/>
          </a:p>
        </p:txBody>
      </p:sp>
      <p:sp>
        <p:nvSpPr>
          <p:cNvPr id="5" name="Shape 3"/>
          <p:cNvSpPr/>
          <p:nvPr/>
        </p:nvSpPr>
        <p:spPr>
          <a:xfrm>
            <a:off x="8961120" y="1417320"/>
            <a:ext cx="2681935" cy="2276856"/>
          </a:xfrm>
          <a:prstGeom prst="roundRect">
            <a:avLst>
              <a:gd name="adj" fmla="val 3213"/>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Mangiando: la coda resta, niente da cancellare</a:t>
            </a:r>
            <a:endParaRPr lang="en-US" sz="1700" dirty="0"/>
          </a:p>
        </p:txBody>
      </p:sp>
      <p:sp>
        <p:nvSpPr>
          <p:cNvPr id="8" name="Shape 6"/>
          <p:cNvSpPr/>
          <p:nvPr/>
        </p:nvSpPr>
        <p:spPr>
          <a:xfrm>
            <a:off x="8961120" y="3895344"/>
            <a:ext cx="2681935" cy="2276856"/>
          </a:xfrm>
          <a:prstGeom prst="roundRect">
            <a:avLst>
              <a:gd name="adj" fmla="val 3213"/>
            </a:avLst>
          </a:prstGeom>
          <a:solidFill>
            <a:srgbClr val="EEF2F4"/>
          </a:solidFill>
          <a:ln w="12700">
            <a:solidFill>
              <a:srgbClr val="EEF2F4"/>
            </a:solidFill>
            <a:prstDash val="solid"/>
          </a:ln>
        </p:spPr>
      </p:sp>
      <p:sp>
        <p:nvSpPr>
          <p:cNvPr id="9" name="Text 7"/>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4032504"/>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erase_on = 0 lo dice a draw</a:t>
            </a:r>
            <a:endParaRPr lang="en-US" sz="1700" dirty="0"/>
          </a:p>
        </p:txBody>
      </p:sp>
      <p:sp>
        <p:nvSpPr>
          <p:cNvPr id="11" name="Shape 9"/>
          <p:cNvSpPr/>
          <p:nvPr/>
        </p:nvSpPr>
        <p:spPr>
          <a:xfrm>
            <a:off x="7920304" y="91440"/>
            <a:ext cx="3722751" cy="274320"/>
          </a:xfrm>
          <a:prstGeom prst="rect">
            <a:avLst/>
          </a:prstGeom>
          <a:solidFill>
            <a:srgbClr val="E0F2FE"/>
          </a:solidFill>
          <a:ln w="12700">
            <a:solidFill>
              <a:srgbClr val="0369A1"/>
            </a:solidFill>
            <a:prstDash val="solid"/>
          </a:ln>
        </p:spPr>
      </p:sp>
      <p:sp>
        <p:nvSpPr>
          <p:cNvPr id="12" name="Shape 10"/>
          <p:cNvSpPr/>
          <p:nvPr/>
        </p:nvSpPr>
        <p:spPr>
          <a:xfrm>
            <a:off x="7920304" y="91440"/>
            <a:ext cx="73152" cy="274320"/>
          </a:xfrm>
          <a:prstGeom prst="rect">
            <a:avLst/>
          </a:prstGeom>
          <a:solidFill>
            <a:srgbClr val="0369A1"/>
          </a:solidFill>
          <a:ln w="12700">
            <a:solidFill>
              <a:srgbClr val="0369A1"/>
            </a:solidFill>
            <a:prstDash val="solid"/>
          </a:ln>
        </p:spPr>
      </p:sp>
      <p:pic>
        <p:nvPicPr>
          <p:cNvPr id="13" name="Image 0" descr="preencoded.png">    </p:cNvPr>
          <p:cNvPicPr>
            <a:picLocks noChangeAspect="1"/>
          </p:cNvPicPr>
          <p:nvPr/>
        </p:nvPicPr>
        <p:blipFill>
          <a:blip r:embed="rId1"/>
          <a:stretch>
            <a:fillRect/>
          </a:stretch>
        </p:blipFill>
        <p:spPr>
          <a:xfrm>
            <a:off x="8048320" y="128016"/>
            <a:ext cx="201168" cy="201168"/>
          </a:xfrm>
          <a:prstGeom prst="rect">
            <a:avLst/>
          </a:prstGeom>
        </p:spPr>
      </p:pic>
      <p:sp>
        <p:nvSpPr>
          <p:cNvPr id="14" name="Text 11"/>
          <p:cNvSpPr txBox="1"/>
          <p:nvPr/>
        </p:nvSpPr>
        <p:spPr>
          <a:xfrm>
            <a:off x="8304352" y="91440"/>
            <a:ext cx="330212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gli array in memoria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MODIFICATO  step: annotare la coda, chiamare la fine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50" dirty="0">
                <a:solidFill>
                  <a:srgbClr val="E6EDF2"/>
                </a:solidFill>
                <a:latin typeface="Courier New" pitchFamily="34" charset="0"/>
                <a:ea typeface="Courier New" pitchFamily="34" charset="-122"/>
                <a:cs typeface="Courier New" pitchFamily="34" charset="-120"/>
              </a:rPr>
              <a:t>    la   t0, erase_x</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sw   t3, 0(t0)              </a:t>
            </a:r>
            <a:pPr indent="0" marL="0">
              <a:buNone/>
            </a:pPr>
            <a:r>
              <a:rPr lang="en-US" sz="1250" dirty="0">
                <a:solidFill>
                  <a:srgbClr val="8FB3A0"/>
                </a:solidFill>
                <a:latin typeface="Courier New" pitchFamily="34" charset="0"/>
                <a:ea typeface="Courier New" pitchFamily="34" charset="-122"/>
                <a:cs typeface="Courier New" pitchFamily="34" charset="-120"/>
              </a:rPr>
              <a:t># remember the cell the tail leaves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la   t0, erase_y</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sw   t4, 0(t0)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la   t0, erase_on</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li   t5, 1</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sw   t5, 0(t0)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li   t5, COLS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mul  t4, t4, t5</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  t4, t4, t3             </a:t>
            </a:r>
            <a:pPr indent="0" marL="0">
              <a:buNone/>
            </a:pPr>
            <a:r>
              <a:rPr lang="en-US" sz="1250" dirty="0">
                <a:solidFill>
                  <a:srgbClr val="8FB3A0"/>
                </a:solidFill>
                <a:latin typeface="Courier New" pitchFamily="34" charset="0"/>
                <a:ea typeface="Courier New" pitchFamily="34" charset="-122"/>
                <a:cs typeface="Courier New" pitchFamily="34" charset="-120"/>
              </a:rPr>
              <a:t># cell number of the tail = row * 40 + column</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la   t0, grid</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  t0, t0, t4</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sb   zero, 0(t0)            </a:t>
            </a:r>
            <a:pPr indent="0" marL="0">
              <a:buNone/>
            </a:pPr>
            <a:r>
              <a:rPr lang="en-US" sz="1250" dirty="0">
                <a:solidFill>
                  <a:srgbClr val="8FB3A0"/>
                </a:solidFill>
                <a:latin typeface="Courier New" pitchFamily="34" charset="0"/>
                <a:ea typeface="Courier New" pitchFamily="34" charset="-122"/>
                <a:cs typeface="Courier New" pitchFamily="34" charset="-120"/>
              </a:rPr>
              <a:t># the tail cell is free again</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6:  li   t5, COLS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mul  t4, s1, t5</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  t4, t4, s0             </a:t>
            </a:r>
            <a:pPr indent="0" marL="0">
              <a:buNone/>
            </a:pPr>
            <a:r>
              <a:rPr lang="en-US" sz="1250" dirty="0">
                <a:solidFill>
                  <a:srgbClr val="8FB3A0"/>
                </a:solidFill>
                <a:latin typeface="Courier New" pitchFamily="34" charset="0"/>
                <a:ea typeface="Courier New" pitchFamily="34" charset="-122"/>
                <a:cs typeface="Courier New" pitchFamily="34" charset="-120"/>
              </a:rPr>
              <a:t># cell number of the new head</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la   t0, grid</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  t0, t0, t4</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lbu  t1, 0(t0)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beqz t1, 7f                 </a:t>
            </a:r>
            <a:pPr indent="0" marL="0">
              <a:buNone/>
            </a:pPr>
            <a:r>
              <a:rPr lang="en-US" sz="1250" dirty="0">
                <a:solidFill>
                  <a:srgbClr val="8FB3A0"/>
                </a:solidFill>
                <a:latin typeface="Courier New" pitchFamily="34" charset="0"/>
                <a:ea typeface="Courier New" pitchFamily="34" charset="-122"/>
                <a:cs typeface="Courier New" pitchFamily="34" charset="-120"/>
              </a:rPr>
              <a:t># a free cell: go on</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call game_is_over           </a:t>
            </a:r>
            <a:pPr indent="0" marL="0">
              <a:buNone/>
            </a:pPr>
            <a:r>
              <a:rPr lang="en-US" sz="1250" dirty="0">
                <a:solidFill>
                  <a:srgbClr val="8FB3A0"/>
                </a:solidFill>
                <a:latin typeface="Courier New" pitchFamily="34" charset="0"/>
                <a:ea typeface="Courier New" pitchFamily="34" charset="-122"/>
                <a:cs typeface="Courier New" pitchFamily="34" charset="-120"/>
              </a:rPr>
              <a:t># the worm bit itself</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j    9f</a:t>
            </a:r>
            <a:endParaRPr lang="en-US" sz="125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La coda lascia una cella: ricordare quale</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erase_on = 1: draw deve dipingerla di nero</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La collisione ora è una chiamata: game_is_over</a:t>
            </a:r>
            <a:endParaRPr lang="en-US" sz="1700" dirty="0"/>
          </a:p>
        </p:txBody>
      </p:sp>
      <p:sp>
        <p:nvSpPr>
          <p:cNvPr id="14" name="Shape 12"/>
          <p:cNvSpPr/>
          <p:nvPr/>
        </p:nvSpPr>
        <p:spPr>
          <a:xfrm>
            <a:off x="7920304" y="91440"/>
            <a:ext cx="3722751" cy="274320"/>
          </a:xfrm>
          <a:prstGeom prst="rect">
            <a:avLst/>
          </a:prstGeom>
          <a:solidFill>
            <a:srgbClr val="E0F2FE"/>
          </a:solidFill>
          <a:ln w="12700">
            <a:solidFill>
              <a:srgbClr val="0369A1"/>
            </a:solidFill>
            <a:prstDash val="solid"/>
          </a:ln>
        </p:spPr>
      </p:sp>
      <p:sp>
        <p:nvSpPr>
          <p:cNvPr id="15" name="Shape 13"/>
          <p:cNvSpPr/>
          <p:nvPr/>
        </p:nvSpPr>
        <p:spPr>
          <a:xfrm>
            <a:off x="7920304"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048320" y="128016"/>
            <a:ext cx="201168" cy="201168"/>
          </a:xfrm>
          <a:prstGeom prst="rect">
            <a:avLst/>
          </a:prstGeom>
        </p:spPr>
      </p:pic>
      <p:sp>
        <p:nvSpPr>
          <p:cNvPr id="17" name="Text 14"/>
          <p:cNvSpPr txBox="1"/>
          <p:nvPr/>
        </p:nvSpPr>
        <p:spPr>
          <a:xfrm>
            <a:off x="8304352" y="91440"/>
            <a:ext cx="330212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gli array in memoria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MODIFICATO  step: scrivere la nuova testa</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E6EDF2"/>
                </a:solidFill>
                <a:latin typeface="Courier New" pitchFamily="34" charset="0"/>
                <a:ea typeface="Courier New" pitchFamily="34" charset="-122"/>
                <a:cs typeface="Courier New" pitchFamily="34" charset="-120"/>
              </a:rPr>
              <a:t>7:  li   t1, 1</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sb   t1, 0(t0)              </a:t>
            </a:r>
            <a:pPr indent="0" marL="0">
              <a:buNone/>
            </a:pPr>
            <a:r>
              <a:rPr lang="en-US" sz="1450" dirty="0">
                <a:solidFill>
                  <a:srgbClr val="8FB3A0"/>
                </a:solidFill>
                <a:latin typeface="Courier New" pitchFamily="34" charset="0"/>
                <a:ea typeface="Courier New" pitchFamily="34" charset="-122"/>
                <a:cs typeface="Courier New" pitchFamily="34" charset="-120"/>
              </a:rPr>
              <a:t># occupy the new cell</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la   t0, head_i</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lw   t1, 0(t0)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t1, t1, 1</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andi t1, t1, 255            </a:t>
            </a:r>
            <a:pPr indent="0" marL="0">
              <a:buNone/>
            </a:pPr>
            <a:r>
              <a:rPr lang="en-US" sz="1450" dirty="0">
                <a:solidFill>
                  <a:srgbClr val="8FB3A0"/>
                </a:solidFill>
                <a:latin typeface="Courier New" pitchFamily="34" charset="0"/>
                <a:ea typeface="Courier New" pitchFamily="34" charset="-122"/>
                <a:cs typeface="Courier New" pitchFamily="34" charset="-120"/>
              </a:rPr>
              <a:t># the ring wraps after entry 255</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sw   t1, 0(t0)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la   t0, body_x</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  t0, t0, t1</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sb   s0, 0(t0)              </a:t>
            </a:r>
            <a:pPr indent="0" marL="0">
              <a:buNone/>
            </a:pPr>
            <a:r>
              <a:rPr lang="en-US" sz="1450" dirty="0">
                <a:solidFill>
                  <a:srgbClr val="8FB3A0"/>
                </a:solidFill>
                <a:latin typeface="Courier New" pitchFamily="34" charset="0"/>
                <a:ea typeface="Courier New" pitchFamily="34" charset="-122"/>
                <a:cs typeface="Courier New" pitchFamily="34" charset="-120"/>
              </a:rPr>
              <a:t># write the new head into the ring</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la   t0, body_y</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  t0, t0, t1</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sb   s1, 0(t0)</a:t>
            </a:r>
            <a:endParaRPr lang="en-US" sz="1450" dirty="0"/>
          </a:p>
        </p:txBody>
      </p:sp>
      <p:sp>
        <p:nvSpPr>
          <p:cNvPr id="5" name="Shape 3"/>
          <p:cNvSpPr/>
          <p:nvPr/>
        </p:nvSpPr>
        <p:spPr>
          <a:xfrm>
            <a:off x="8961120" y="1417320"/>
            <a:ext cx="2681935" cy="2276856"/>
          </a:xfrm>
          <a:prstGeom prst="roundRect">
            <a:avLst>
              <a:gd name="adj" fmla="val 3213"/>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Come nella Parte 3, fino ai due sb</a:t>
            </a:r>
            <a:endParaRPr lang="en-US" sz="1700" dirty="0"/>
          </a:p>
        </p:txBody>
      </p:sp>
      <p:sp>
        <p:nvSpPr>
          <p:cNvPr id="8" name="Shape 6"/>
          <p:cNvSpPr/>
          <p:nvPr/>
        </p:nvSpPr>
        <p:spPr>
          <a:xfrm>
            <a:off x="8961120" y="3895344"/>
            <a:ext cx="2681935" cy="2276856"/>
          </a:xfrm>
          <a:prstGeom prst="roundRect">
            <a:avLst>
              <a:gd name="adj" fmla="val 3213"/>
            </a:avLst>
          </a:prstGeom>
          <a:solidFill>
            <a:srgbClr val="EEF2F4"/>
          </a:solidFill>
          <a:ln w="12700">
            <a:solidFill>
              <a:srgbClr val="EEF2F4"/>
            </a:solidFill>
            <a:prstDash val="solid"/>
          </a:ln>
        </p:spPr>
      </p:sp>
      <p:sp>
        <p:nvSpPr>
          <p:cNvPr id="9" name="Text 7"/>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4032504"/>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La fine della funzione è nella prossima slide</a:t>
            </a:r>
            <a:endParaRPr lang="en-US" sz="1700" dirty="0"/>
          </a:p>
        </p:txBody>
      </p:sp>
      <p:sp>
        <p:nvSpPr>
          <p:cNvPr id="11" name="Shape 9"/>
          <p:cNvSpPr/>
          <p:nvPr/>
        </p:nvSpPr>
        <p:spPr>
          <a:xfrm>
            <a:off x="7920304" y="91440"/>
            <a:ext cx="3722751" cy="274320"/>
          </a:xfrm>
          <a:prstGeom prst="rect">
            <a:avLst/>
          </a:prstGeom>
          <a:solidFill>
            <a:srgbClr val="E0F2FE"/>
          </a:solidFill>
          <a:ln w="12700">
            <a:solidFill>
              <a:srgbClr val="0369A1"/>
            </a:solidFill>
            <a:prstDash val="solid"/>
          </a:ln>
        </p:spPr>
      </p:sp>
      <p:sp>
        <p:nvSpPr>
          <p:cNvPr id="12" name="Shape 10"/>
          <p:cNvSpPr/>
          <p:nvPr/>
        </p:nvSpPr>
        <p:spPr>
          <a:xfrm>
            <a:off x="7920304" y="91440"/>
            <a:ext cx="73152" cy="274320"/>
          </a:xfrm>
          <a:prstGeom prst="rect">
            <a:avLst/>
          </a:prstGeom>
          <a:solidFill>
            <a:srgbClr val="0369A1"/>
          </a:solidFill>
          <a:ln w="12700">
            <a:solidFill>
              <a:srgbClr val="0369A1"/>
            </a:solidFill>
            <a:prstDash val="solid"/>
          </a:ln>
        </p:spPr>
      </p:sp>
      <p:pic>
        <p:nvPicPr>
          <p:cNvPr id="13" name="Image 0" descr="preencoded.png">    </p:cNvPr>
          <p:cNvPicPr>
            <a:picLocks noChangeAspect="1"/>
          </p:cNvPicPr>
          <p:nvPr/>
        </p:nvPicPr>
        <p:blipFill>
          <a:blip r:embed="rId1"/>
          <a:stretch>
            <a:fillRect/>
          </a:stretch>
        </p:blipFill>
        <p:spPr>
          <a:xfrm>
            <a:off x="8048320" y="128016"/>
            <a:ext cx="201168" cy="201168"/>
          </a:xfrm>
          <a:prstGeom prst="rect">
            <a:avLst/>
          </a:prstGeom>
        </p:spPr>
      </p:pic>
      <p:sp>
        <p:nvSpPr>
          <p:cNvPr id="14" name="Text 11"/>
          <p:cNvSpPr txBox="1"/>
          <p:nvPr/>
        </p:nvSpPr>
        <p:spPr>
          <a:xfrm>
            <a:off x="8304352" y="91440"/>
            <a:ext cx="330212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gli array in memoria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NUOVO  step: qualcosa è cambiato</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00" dirty="0">
                <a:solidFill>
                  <a:srgbClr val="E6EDF2"/>
                </a:solidFill>
                <a:latin typeface="Courier New" pitchFamily="34" charset="0"/>
                <a:ea typeface="Courier New" pitchFamily="34" charset="-122"/>
                <a:cs typeface="Courier New" pitchFamily="34" charset="-120"/>
              </a:rPr>
              <a:t>    la   t0, dirty</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li   t1, 1</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sw   t1, 0(t0)              </a:t>
            </a:r>
            <a:pPr indent="0" marL="0">
              <a:buNone/>
            </a:pPr>
            <a:r>
              <a:rPr lang="en-US" sz="1400" dirty="0">
                <a:solidFill>
                  <a:srgbClr val="8FB3A0"/>
                </a:solidFill>
                <a:latin typeface="Courier New" pitchFamily="34" charset="0"/>
                <a:ea typeface="Courier New" pitchFamily="34" charset="-122"/>
                <a:cs typeface="Courier New" pitchFamily="34" charset="-120"/>
              </a:rPr>
              <a:t># the screen must follow: a few cells</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bnez s2, 9f</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la   t0, score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lw   t1, 0(t0)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addi t1, t1, 1</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sw   t1, 0(t0)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call place_food</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li   a2, 72                 </a:t>
            </a:r>
            <a:pPr indent="0" marL="0">
              <a:buNone/>
            </a:pPr>
            <a:r>
              <a:rPr lang="en-US" sz="1400" dirty="0">
                <a:solidFill>
                  <a:srgbClr val="8FB3A0"/>
                </a:solidFill>
                <a:latin typeface="Courier New" pitchFamily="34" charset="0"/>
                <a:ea typeface="Courier New" pitchFamily="34" charset="-122"/>
                <a:cs typeface="Courier New" pitchFamily="34" charset="-120"/>
              </a:rPr>
              <a:t># a short high note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li   a4, 60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call play_note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9:  lw   s2, 0(sp)</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lw   s1, 4(sp)</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lw   s0, 8(sp)</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lw   ra, 12(sp)</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addi sp, sp, 16</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ret</a:t>
            </a:r>
            <a:endParaRPr lang="en-US" sz="140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dirty = 1: c'è stato un passo, draw ha da fare</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Un pasto: un punto, nuovo cibo, una nota breve e acuta</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li a2 e li a4, poi call: argomenti per contratto</a:t>
            </a:r>
            <a:endParaRPr lang="en-US" sz="1700" dirty="0"/>
          </a:p>
        </p:txBody>
      </p:sp>
      <p:sp>
        <p:nvSpPr>
          <p:cNvPr id="14" name="Shape 12"/>
          <p:cNvSpPr/>
          <p:nvPr/>
        </p:nvSpPr>
        <p:spPr>
          <a:xfrm>
            <a:off x="7526350" y="91440"/>
            <a:ext cx="4116705" cy="274320"/>
          </a:xfrm>
          <a:prstGeom prst="rect">
            <a:avLst/>
          </a:prstGeom>
          <a:solidFill>
            <a:srgbClr val="E0F2FE"/>
          </a:solidFill>
          <a:ln w="12700">
            <a:solidFill>
              <a:srgbClr val="0369A1"/>
            </a:solidFill>
            <a:prstDash val="solid"/>
          </a:ln>
        </p:spPr>
      </p:sp>
      <p:sp>
        <p:nvSpPr>
          <p:cNvPr id="15" name="Shape 13"/>
          <p:cNvSpPr/>
          <p:nvPr/>
        </p:nvSpPr>
        <p:spPr>
          <a:xfrm>
            <a:off x="7526350"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7654366" y="128016"/>
            <a:ext cx="201168" cy="201168"/>
          </a:xfrm>
          <a:prstGeom prst="rect">
            <a:avLst/>
          </a:prstGeom>
        </p:spPr>
      </p:pic>
      <p:sp>
        <p:nvSpPr>
          <p:cNvPr id="17" name="Text 14"/>
          <p:cNvSpPr txBox="1"/>
          <p:nvPr/>
        </p:nvSpPr>
        <p:spPr>
          <a:xfrm>
            <a:off x="7910398" y="91440"/>
            <a:ext cx="369608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convenzione di chiamata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NUOVO  game_is_over: la transizione, in un posto solo</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game_is_over:</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sp, sp, -16</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ra, 12(sp)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state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t1, OVER</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t1, 0(t0)              </a:t>
            </a:r>
            <a:pPr indent="0" marL="0">
              <a:buNone/>
            </a:pPr>
            <a:r>
              <a:rPr lang="en-US" sz="1350" dirty="0">
                <a:solidFill>
                  <a:srgbClr val="8FB3A0"/>
                </a:solidFill>
                <a:latin typeface="Courier New" pitchFamily="34" charset="0"/>
                <a:ea typeface="Courier New" pitchFamily="34" charset="-122"/>
                <a:cs typeface="Courier New" pitchFamily="34" charset="-120"/>
              </a:rPr>
              <a:t># PLAY --&gt; OVER</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dirty</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t1, 2</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t1, 0(t0)              </a:t>
            </a:r>
            <a:pPr indent="0" marL="0">
              <a:buNone/>
            </a:pPr>
            <a:r>
              <a:rPr lang="en-US" sz="1350" dirty="0">
                <a:solidFill>
                  <a:srgbClr val="8FB3A0"/>
                </a:solidFill>
                <a:latin typeface="Courier New" pitchFamily="34" charset="0"/>
                <a:ea typeface="Courier New" pitchFamily="34" charset="-122"/>
                <a:cs typeface="Courier New" pitchFamily="34" charset="-120"/>
              </a:rPr>
              <a:t># a new screen: draw everything</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score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t1,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best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t2,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ble  t1, t2, 1f</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t1, 0(t0)              </a:t>
            </a:r>
            <a:pPr indent="0" marL="0">
              <a:buNone/>
            </a:pPr>
            <a:r>
              <a:rPr lang="en-US" sz="1350" dirty="0">
                <a:solidFill>
                  <a:srgbClr val="8FB3A0"/>
                </a:solidFill>
                <a:latin typeface="Courier New" pitchFamily="34" charset="0"/>
                <a:ea typeface="Courier New" pitchFamily="34" charset="-122"/>
                <a:cs typeface="Courier New" pitchFamily="34" charset="-120"/>
              </a:rPr>
              <a:t># a new best score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1:  li   a2, 36                 </a:t>
            </a:r>
            <a:pPr indent="0" marL="0">
              <a:buNone/>
            </a:pPr>
            <a:r>
              <a:rPr lang="en-US" sz="1350" dirty="0">
                <a:solidFill>
                  <a:srgbClr val="8FB3A0"/>
                </a:solidFill>
                <a:latin typeface="Courier New" pitchFamily="34" charset="0"/>
                <a:ea typeface="Courier New" pitchFamily="34" charset="-122"/>
                <a:cs typeface="Courier New" pitchFamily="34" charset="-120"/>
              </a:rPr>
              <a:t># a long low note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a4, 400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call play_note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ra, 12(sp)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sp, sp, 16</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ret</a:t>
            </a:r>
            <a:endParaRPr lang="en-US" sz="135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Da PLAY a OVER, e il punteggio migliore, come nella Parte 3</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dirty = 2: va disegnata una nuova schermata</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Una nota lunga e bassa: 36, per 400 millisecondi</a:t>
            </a:r>
            <a:endParaRPr lang="en-US" sz="1700" dirty="0"/>
          </a:p>
        </p:txBody>
      </p:sp>
      <p:sp>
        <p:nvSpPr>
          <p:cNvPr id="14" name="Shape 12"/>
          <p:cNvSpPr/>
          <p:nvPr/>
        </p:nvSpPr>
        <p:spPr>
          <a:xfrm>
            <a:off x="7723327" y="91440"/>
            <a:ext cx="3919728" cy="274320"/>
          </a:xfrm>
          <a:prstGeom prst="rect">
            <a:avLst/>
          </a:prstGeom>
          <a:solidFill>
            <a:srgbClr val="E0F2FE"/>
          </a:solidFill>
          <a:ln w="12700">
            <a:solidFill>
              <a:srgbClr val="0369A1"/>
            </a:solidFill>
            <a:prstDash val="solid"/>
          </a:ln>
        </p:spPr>
      </p:sp>
      <p:sp>
        <p:nvSpPr>
          <p:cNvPr id="15" name="Shape 13"/>
          <p:cNvSpPr/>
          <p:nvPr/>
        </p:nvSpPr>
        <p:spPr>
          <a:xfrm>
            <a:off x="7723327"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7851343" y="128016"/>
            <a:ext cx="201168" cy="201168"/>
          </a:xfrm>
          <a:prstGeom prst="rect">
            <a:avLst/>
          </a:prstGeom>
        </p:spPr>
      </p:pic>
      <p:sp>
        <p:nvSpPr>
          <p:cNvPr id="17" name="Text 14"/>
          <p:cNvSpPr txBox="1"/>
          <p:nvPr/>
        </p:nvSpPr>
        <p:spPr>
          <a:xfrm>
            <a:off x="8107375" y="91440"/>
            <a:ext cx="349910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macchine a stati finiti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Eseguite: il suono della sconfitta</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PROVA TU</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Compilate ed eseguite: il gioco appare esattamente come dopo il passo 2</a:t>
            </a:r>
            <a:endParaRPr lang="en-US" sz="2400" dirty="0"/>
          </a:p>
        </p:txBody>
      </p:sp>
      <p:sp>
        <p:nvSpPr>
          <p:cNvPr id="6" name="Text 4"/>
          <p:cNvSpPr txBox="1"/>
          <p:nvPr/>
        </p:nvSpPr>
        <p:spPr>
          <a:xfrm>
            <a:off x="548640" y="25491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530856"/>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Un pasto suona come prima; mordersi dà una nota lunga e bassa</a:t>
            </a:r>
            <a:endParaRPr lang="en-US" sz="2400" dirty="0"/>
          </a:p>
        </p:txBody>
      </p:sp>
      <p:sp>
        <p:nvSpPr>
          <p:cNvPr id="8" name="Text 6"/>
          <p:cNvSpPr txBox="1"/>
          <p:nvPr/>
        </p:nvSpPr>
        <p:spPr>
          <a:xfrm>
            <a:off x="548640" y="33578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339592"/>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Nel debugger guardate erase_x ed erase_y seguire la coda, un passo indietro</a:t>
            </a:r>
            <a:endParaRPr lang="en-US" sz="2400" dirty="0"/>
          </a:p>
        </p:txBody>
      </p:sp>
      <p:sp>
        <p:nvSpPr>
          <p:cNvPr id="10" name="Text 8"/>
          <p:cNvSpPr txBox="1"/>
          <p:nvPr/>
        </p:nvSpPr>
        <p:spPr>
          <a:xfrm>
            <a:off x="548640" y="44714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4453128"/>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dirty resta a 1 o 2: nessuno lo legge ancora</a:t>
            </a:r>
            <a:endParaRPr lang="en-US" sz="2400" dirty="0"/>
          </a:p>
        </p:txBody>
      </p:sp>
      <p:sp>
        <p:nvSpPr>
          <p:cNvPr id="12" name="Shape 10"/>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3" name="Text 11"/>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Risultato atteso</a:t>
            </a:r>
            <a:endParaRPr lang="en-US" sz="1300" dirty="0"/>
          </a:p>
        </p:txBody>
      </p:sp>
      <p:sp>
        <p:nvSpPr>
          <p:cNvPr id="14" name="Text 12"/>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Nessun cambiamento visibile: lo schermo viene ancora disegnato per intero a ogni frame. Le nuove variabili vengono scritte e non ancora usate.</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MODIFICATO  draw: niente, poco, o tutto</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E6EDF2"/>
                </a:solidFill>
                <a:latin typeface="Courier New" pitchFamily="34" charset="0"/>
                <a:ea typeface="Courier New" pitchFamily="34" charset="-122"/>
                <a:cs typeface="Courier New" pitchFamily="34" charset="-120"/>
              </a:rPr>
              <a:t>verm1_draw:</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la   t0, dirty</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lw   t1, 0(t0)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beqz t1, 3f                 </a:t>
            </a:r>
            <a:pPr indent="0" marL="0">
              <a:buNone/>
            </a:pPr>
            <a:r>
              <a:rPr lang="en-US" sz="1450" dirty="0">
                <a:solidFill>
                  <a:srgbClr val="8FB3A0"/>
                </a:solidFill>
                <a:latin typeface="Courier New" pitchFamily="34" charset="0"/>
                <a:ea typeface="Courier New" pitchFamily="34" charset="-122"/>
                <a:cs typeface="Courier New" pitchFamily="34" charset="-120"/>
              </a:rPr>
              <a:t># nothing changed: nothing to draw</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sw   zero, 0(t0)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sp, sp, -16</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sw   ra, 12(sp)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t2, 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beq  t1, t2, 1f</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call draw_changes           </a:t>
            </a:r>
            <a:pPr indent="0" marL="0">
              <a:buNone/>
            </a:pPr>
            <a:r>
              <a:rPr lang="en-US" sz="1450" dirty="0">
                <a:solidFill>
                  <a:srgbClr val="8FB3A0"/>
                </a:solidFill>
                <a:latin typeface="Courier New" pitchFamily="34" charset="0"/>
                <a:ea typeface="Courier New" pitchFamily="34" charset="-122"/>
                <a:cs typeface="Courier New" pitchFamily="34" charset="-120"/>
              </a:rPr>
              <a:t># one step: a few cells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j    2f</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1:  call draw_full              </a:t>
            </a:r>
            <a:pPr indent="0" marL="0">
              <a:buNone/>
            </a:pPr>
            <a:r>
              <a:rPr lang="en-US" sz="1450" dirty="0">
                <a:solidFill>
                  <a:srgbClr val="8FB3A0"/>
                </a:solidFill>
                <a:latin typeface="Courier New" pitchFamily="34" charset="0"/>
                <a:ea typeface="Courier New" pitchFamily="34" charset="-122"/>
                <a:cs typeface="Courier New" pitchFamily="34" charset="-120"/>
              </a:rPr>
              <a:t># a new screen: everything</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2:  lw   ra, 12(sp)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sp, sp, 16</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3:  ret</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dirty = 0: ritorno immediato, niente frame né chiamate</a:t>
            </a:r>
            <a:endParaRPr lang="en-US" sz="14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dirty = 1: c'è stato un passo, disegna i cambiamenti</a:t>
            </a:r>
            <a:endParaRPr lang="en-US" sz="14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dirty = 2: una nuova schermata, disegna tutto</a:t>
            </a:r>
            <a:endParaRPr lang="en-US" sz="14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Il flag viene azzerato appena letto</a:t>
            </a:r>
            <a:endParaRPr lang="en-US" sz="1400" dirty="0"/>
          </a:p>
        </p:txBody>
      </p:sp>
      <p:sp>
        <p:nvSpPr>
          <p:cNvPr id="17" name="Shape 15"/>
          <p:cNvSpPr/>
          <p:nvPr/>
        </p:nvSpPr>
        <p:spPr>
          <a:xfrm>
            <a:off x="8248599" y="91440"/>
            <a:ext cx="3394456" cy="274320"/>
          </a:xfrm>
          <a:prstGeom prst="rect">
            <a:avLst/>
          </a:prstGeom>
          <a:solidFill>
            <a:srgbClr val="E0F2FE"/>
          </a:solidFill>
          <a:ln w="12700">
            <a:solidFill>
              <a:srgbClr val="0369A1"/>
            </a:solidFill>
            <a:prstDash val="solid"/>
          </a:ln>
        </p:spPr>
      </p:sp>
      <p:sp>
        <p:nvSpPr>
          <p:cNvPr id="18" name="Shape 16"/>
          <p:cNvSpPr/>
          <p:nvPr/>
        </p:nvSpPr>
        <p:spPr>
          <a:xfrm>
            <a:off x="8248599"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376615" y="128016"/>
            <a:ext cx="201168" cy="201168"/>
          </a:xfrm>
          <a:prstGeom prst="rect">
            <a:avLst/>
          </a:prstGeom>
        </p:spPr>
      </p:pic>
      <p:sp>
        <p:nvSpPr>
          <p:cNvPr id="20" name="Text 17"/>
          <p:cNvSpPr txBox="1"/>
          <p:nvPr/>
        </p:nvSpPr>
        <p:spPr>
          <a:xfrm>
            <a:off x="8632647" y="91440"/>
            <a:ext cx="297383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il frame buffer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NUOVO  draw_changes: tre celle e il punteggio</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00" dirty="0">
                <a:solidFill>
                  <a:srgbClr val="E6EDF2"/>
                </a:solidFill>
                <a:latin typeface="Courier New" pitchFamily="34" charset="0"/>
                <a:ea typeface="Courier New" pitchFamily="34" charset="-122"/>
                <a:cs typeface="Courier New" pitchFamily="34" charset="-120"/>
              </a:rPr>
              <a:t>draw_changes: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-16</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ra, 12(sp)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erase_on</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t1,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beqz t1, 1f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erase_x</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a0,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erase_y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a1,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a2, BLACK</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draw_cell              </a:t>
            </a:r>
            <a:pPr indent="0" marL="0">
              <a:buNone/>
            </a:pPr>
            <a:r>
              <a:rPr lang="en-US" sz="1200" dirty="0">
                <a:solidFill>
                  <a:srgbClr val="8FB3A0"/>
                </a:solidFill>
                <a:latin typeface="Courier New" pitchFamily="34" charset="0"/>
                <a:ea typeface="Courier New" pitchFamily="34" charset="-122"/>
                <a:cs typeface="Courier New" pitchFamily="34" charset="-120"/>
              </a:rPr>
              <a:t># the cell the tail has left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1:  la   t0, old_x</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a0,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old_y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a1,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a2, BODY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draw_cell              </a:t>
            </a:r>
            <a:pPr indent="0" marL="0">
              <a:buNone/>
            </a:pPr>
            <a:r>
              <a:rPr lang="en-US" sz="1200" dirty="0">
                <a:solidFill>
                  <a:srgbClr val="8FB3A0"/>
                </a:solidFill>
                <a:latin typeface="Courier New" pitchFamily="34" charset="0"/>
                <a:ea typeface="Courier New" pitchFamily="34" charset="-122"/>
                <a:cs typeface="Courier New" pitchFamily="34" charset="-120"/>
              </a:rPr>
              <a:t># the old head is now body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draw_head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draw_food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draw_score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ra, 12(sp)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16</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ret</a:t>
            </a:r>
            <a:endParaRPr lang="en-US" sz="12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La cella lasciata dalla coda, se c'è: nera</a:t>
            </a:r>
            <a:endParaRPr lang="en-US" sz="13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La vecchia testa: colore del corpo</a:t>
            </a:r>
            <a:endParaRPr lang="en-US" sz="13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Poi la nuova testa, il cibo, il punteggio</a:t>
            </a:r>
            <a:endParaRPr lang="en-US" sz="13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L'ordine conta: la testa si disegna dopo la cancellazione</a:t>
            </a:r>
            <a:endParaRPr lang="en-US" sz="1300" dirty="0"/>
          </a:p>
        </p:txBody>
      </p:sp>
      <p:sp>
        <p:nvSpPr>
          <p:cNvPr id="17" name="Shape 15"/>
          <p:cNvSpPr/>
          <p:nvPr/>
        </p:nvSpPr>
        <p:spPr>
          <a:xfrm>
            <a:off x="8248599" y="91440"/>
            <a:ext cx="3394456" cy="274320"/>
          </a:xfrm>
          <a:prstGeom prst="rect">
            <a:avLst/>
          </a:prstGeom>
          <a:solidFill>
            <a:srgbClr val="E0F2FE"/>
          </a:solidFill>
          <a:ln w="12700">
            <a:solidFill>
              <a:srgbClr val="0369A1"/>
            </a:solidFill>
            <a:prstDash val="solid"/>
          </a:ln>
        </p:spPr>
      </p:sp>
      <p:sp>
        <p:nvSpPr>
          <p:cNvPr id="18" name="Shape 16"/>
          <p:cNvSpPr/>
          <p:nvPr/>
        </p:nvSpPr>
        <p:spPr>
          <a:xfrm>
            <a:off x="8248599"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376615" y="128016"/>
            <a:ext cx="201168" cy="201168"/>
          </a:xfrm>
          <a:prstGeom prst="rect">
            <a:avLst/>
          </a:prstGeom>
        </p:spPr>
      </p:pic>
      <p:sp>
        <p:nvSpPr>
          <p:cNvPr id="20" name="Text 17"/>
          <p:cNvSpPr txBox="1"/>
          <p:nvPr/>
        </p:nvSpPr>
        <p:spPr>
          <a:xfrm>
            <a:off x="8632647" y="91440"/>
            <a:ext cx="297383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il frame buffer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NUOVO  draw_full: una schermata intera</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draw_full:</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sp, sp, -16</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ra, 12(sp)</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a0, BLACK</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prg32_gfx_clear</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a0, 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a1, 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a2, title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draw_text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draw_score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t0, state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t1, 0(t0)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t2, TITLE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bne  t1, t2, 1f</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a0, 132                </a:t>
            </a:r>
            <a:pPr indent="0" marL="0">
              <a:buNone/>
            </a:pPr>
            <a:r>
              <a:rPr lang="en-US" sz="1500" dirty="0">
                <a:solidFill>
                  <a:srgbClr val="8FB3A0"/>
                </a:solidFill>
                <a:latin typeface="Courier New" pitchFamily="34" charset="0"/>
                <a:ea typeface="Courier New" pitchFamily="34" charset="-122"/>
                <a:cs typeface="Courier New" pitchFamily="34" charset="-120"/>
              </a:rPr>
              <a:t># TITLE: only an invitation</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a1, 96</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a2, press_a</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draw_text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j    2f</a:t>
            </a:r>
            <a:endParaRPr lang="en-US" sz="150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Il corpo della vecchia verm1_draw</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Il punteggio si disegna anche nella schermata del titolo</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TITLE: l'invito, e nient'altro</a:t>
            </a:r>
            <a:endParaRPr lang="en-US" sz="1700" dirty="0"/>
          </a:p>
        </p:txBody>
      </p:sp>
      <p:sp>
        <p:nvSpPr>
          <p:cNvPr id="14" name="Shape 12"/>
          <p:cNvSpPr/>
          <p:nvPr/>
        </p:nvSpPr>
        <p:spPr>
          <a:xfrm>
            <a:off x="8248599" y="91440"/>
            <a:ext cx="3394456" cy="274320"/>
          </a:xfrm>
          <a:prstGeom prst="rect">
            <a:avLst/>
          </a:prstGeom>
          <a:solidFill>
            <a:srgbClr val="E0F2FE"/>
          </a:solidFill>
          <a:ln w="12700">
            <a:solidFill>
              <a:srgbClr val="0369A1"/>
            </a:solidFill>
            <a:prstDash val="solid"/>
          </a:ln>
        </p:spPr>
      </p:sp>
      <p:sp>
        <p:nvSpPr>
          <p:cNvPr id="15" name="Shape 13"/>
          <p:cNvSpPr/>
          <p:nvPr/>
        </p:nvSpPr>
        <p:spPr>
          <a:xfrm>
            <a:off x="8248599"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376615" y="128016"/>
            <a:ext cx="201168" cy="201168"/>
          </a:xfrm>
          <a:prstGeom prst="rect">
            <a:avLst/>
          </a:prstGeom>
        </p:spPr>
      </p:pic>
      <p:sp>
        <p:nvSpPr>
          <p:cNvPr id="17" name="Text 14"/>
          <p:cNvSpPr txBox="1"/>
          <p:nvPr/>
        </p:nvSpPr>
        <p:spPr>
          <a:xfrm>
            <a:off x="8632647" y="91440"/>
            <a:ext cx="297383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il frame buffer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NUOVO  draw_full: PLAY e OVER</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1:  call draw_worm              </a:t>
            </a:r>
            <a:pPr indent="0" marL="0">
              <a:buNone/>
            </a:pPr>
            <a:r>
              <a:rPr lang="en-US" sz="1500" dirty="0">
                <a:solidFill>
                  <a:srgbClr val="8FB3A0"/>
                </a:solidFill>
                <a:latin typeface="Courier New" pitchFamily="34" charset="0"/>
                <a:ea typeface="Courier New" pitchFamily="34" charset="-122"/>
                <a:cs typeface="Courier New" pitchFamily="34" charset="-120"/>
              </a:rPr>
              <a:t># PLAY and OVER: the whole scene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draw_food</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t0, state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t1, 0(t0)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t2, OVER</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bne  t1, t2, 2f</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a0, 124</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a1, 96</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a2, game_over</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draw_text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2:  lw   ra, 12(sp)</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sp, sp, 16</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ret</a:t>
            </a:r>
            <a:endParaRPr lang="en-US" sz="1500" dirty="0"/>
          </a:p>
        </p:txBody>
      </p:sp>
      <p:sp>
        <p:nvSpPr>
          <p:cNvPr id="5" name="Shape 3"/>
          <p:cNvSpPr/>
          <p:nvPr/>
        </p:nvSpPr>
        <p:spPr>
          <a:xfrm>
            <a:off x="8961120" y="1417320"/>
            <a:ext cx="2681935" cy="2276856"/>
          </a:xfrm>
          <a:prstGeom prst="roundRect">
            <a:avLst>
              <a:gd name="adj" fmla="val 3213"/>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Il verme e il cibo, con le loro funzioni</a:t>
            </a:r>
            <a:endParaRPr lang="en-US" sz="1700" dirty="0"/>
          </a:p>
        </p:txBody>
      </p:sp>
      <p:sp>
        <p:nvSpPr>
          <p:cNvPr id="8" name="Shape 6"/>
          <p:cNvSpPr/>
          <p:nvPr/>
        </p:nvSpPr>
        <p:spPr>
          <a:xfrm>
            <a:off x="8961120" y="3895344"/>
            <a:ext cx="2681935" cy="2276856"/>
          </a:xfrm>
          <a:prstGeom prst="roundRect">
            <a:avLst>
              <a:gd name="adj" fmla="val 3213"/>
            </a:avLst>
          </a:prstGeom>
          <a:solidFill>
            <a:srgbClr val="EEF2F4"/>
          </a:solidFill>
          <a:ln w="12700">
            <a:solidFill>
              <a:srgbClr val="EEF2F4"/>
            </a:solidFill>
            <a:prstDash val="solid"/>
          </a:ln>
        </p:spPr>
      </p:sp>
      <p:sp>
        <p:nvSpPr>
          <p:cNvPr id="9" name="Text 7"/>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4032504"/>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OVER aggiunge le due parole</a:t>
            </a:r>
            <a:endParaRPr lang="en-US" sz="1700" dirty="0"/>
          </a:p>
        </p:txBody>
      </p:sp>
      <p:sp>
        <p:nvSpPr>
          <p:cNvPr id="11" name="Shape 9"/>
          <p:cNvSpPr/>
          <p:nvPr/>
        </p:nvSpPr>
        <p:spPr>
          <a:xfrm>
            <a:off x="8248599" y="91440"/>
            <a:ext cx="3394456" cy="274320"/>
          </a:xfrm>
          <a:prstGeom prst="rect">
            <a:avLst/>
          </a:prstGeom>
          <a:solidFill>
            <a:srgbClr val="E0F2FE"/>
          </a:solidFill>
          <a:ln w="12700">
            <a:solidFill>
              <a:srgbClr val="0369A1"/>
            </a:solidFill>
            <a:prstDash val="solid"/>
          </a:ln>
        </p:spPr>
      </p:sp>
      <p:sp>
        <p:nvSpPr>
          <p:cNvPr id="12" name="Shape 10"/>
          <p:cNvSpPr/>
          <p:nvPr/>
        </p:nvSpPr>
        <p:spPr>
          <a:xfrm>
            <a:off x="8248599" y="91440"/>
            <a:ext cx="73152" cy="274320"/>
          </a:xfrm>
          <a:prstGeom prst="rect">
            <a:avLst/>
          </a:prstGeom>
          <a:solidFill>
            <a:srgbClr val="0369A1"/>
          </a:solidFill>
          <a:ln w="12700">
            <a:solidFill>
              <a:srgbClr val="0369A1"/>
            </a:solidFill>
            <a:prstDash val="solid"/>
          </a:ln>
        </p:spPr>
      </p:sp>
      <p:pic>
        <p:nvPicPr>
          <p:cNvPr id="13" name="Image 0" descr="preencoded.png">    </p:cNvPr>
          <p:cNvPicPr>
            <a:picLocks noChangeAspect="1"/>
          </p:cNvPicPr>
          <p:nvPr/>
        </p:nvPicPr>
        <p:blipFill>
          <a:blip r:embed="rId1"/>
          <a:stretch>
            <a:fillRect/>
          </a:stretch>
        </p:blipFill>
        <p:spPr>
          <a:xfrm>
            <a:off x="8376615" y="128016"/>
            <a:ext cx="201168" cy="201168"/>
          </a:xfrm>
          <a:prstGeom prst="rect">
            <a:avLst/>
          </a:prstGeom>
        </p:spPr>
      </p:pic>
      <p:sp>
        <p:nvSpPr>
          <p:cNvPr id="14" name="Text 11"/>
          <p:cNvSpPr txBox="1"/>
          <p:nvPr/>
        </p:nvSpPr>
        <p:spPr>
          <a:xfrm>
            <a:off x="8632647" y="91440"/>
            <a:ext cx="297383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il frame buffer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NUOVO  draw_head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draw_head:</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la   t0, head_i</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t1,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la   t0, body_x</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  t0, t0, t1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lbu  a0,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la   t0, body_y</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  t0, t0, t1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lbu  a1,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a2, GREEN</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draw_cell</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5" name="Shape 3"/>
          <p:cNvSpPr/>
          <p:nvPr/>
        </p:nvSpPr>
        <p:spPr>
          <a:xfrm>
            <a:off x="8961120" y="1417320"/>
            <a:ext cx="2681935" cy="2276856"/>
          </a:xfrm>
          <a:prstGeom prst="roundRect">
            <a:avLst>
              <a:gd name="adj" fmla="val 3213"/>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La testa è la voce head_i dell'anello</a:t>
            </a:r>
            <a:endParaRPr lang="en-US" sz="1700" dirty="0"/>
          </a:p>
        </p:txBody>
      </p:sp>
      <p:sp>
        <p:nvSpPr>
          <p:cNvPr id="8" name="Shape 6"/>
          <p:cNvSpPr/>
          <p:nvPr/>
        </p:nvSpPr>
        <p:spPr>
          <a:xfrm>
            <a:off x="8961120" y="3895344"/>
            <a:ext cx="2681935" cy="2276856"/>
          </a:xfrm>
          <a:prstGeom prst="roundRect">
            <a:avLst>
              <a:gd name="adj" fmla="val 3213"/>
            </a:avLst>
          </a:prstGeom>
          <a:solidFill>
            <a:srgbClr val="EEF2F4"/>
          </a:solidFill>
          <a:ln w="12700">
            <a:solidFill>
              <a:srgbClr val="EEF2F4"/>
            </a:solidFill>
            <a:prstDash val="solid"/>
          </a:ln>
        </p:spPr>
      </p:sp>
      <p:sp>
        <p:nvSpPr>
          <p:cNvPr id="9" name="Text 7"/>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4032504"/>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Una cella, verde brillante</a:t>
            </a:r>
            <a:endParaRPr lang="en-US" sz="1700" dirty="0"/>
          </a:p>
        </p:txBody>
      </p:sp>
      <p:sp>
        <p:nvSpPr>
          <p:cNvPr id="11" name="Shape 9"/>
          <p:cNvSpPr/>
          <p:nvPr/>
        </p:nvSpPr>
        <p:spPr>
          <a:xfrm>
            <a:off x="8248599" y="91440"/>
            <a:ext cx="3394456" cy="274320"/>
          </a:xfrm>
          <a:prstGeom prst="rect">
            <a:avLst/>
          </a:prstGeom>
          <a:solidFill>
            <a:srgbClr val="E0F2FE"/>
          </a:solidFill>
          <a:ln w="12700">
            <a:solidFill>
              <a:srgbClr val="0369A1"/>
            </a:solidFill>
            <a:prstDash val="solid"/>
          </a:ln>
        </p:spPr>
      </p:sp>
      <p:sp>
        <p:nvSpPr>
          <p:cNvPr id="12" name="Shape 10"/>
          <p:cNvSpPr/>
          <p:nvPr/>
        </p:nvSpPr>
        <p:spPr>
          <a:xfrm>
            <a:off x="8248599" y="91440"/>
            <a:ext cx="73152" cy="274320"/>
          </a:xfrm>
          <a:prstGeom prst="rect">
            <a:avLst/>
          </a:prstGeom>
          <a:solidFill>
            <a:srgbClr val="0369A1"/>
          </a:solidFill>
          <a:ln w="12700">
            <a:solidFill>
              <a:srgbClr val="0369A1"/>
            </a:solidFill>
            <a:prstDash val="solid"/>
          </a:ln>
        </p:spPr>
      </p:sp>
      <p:pic>
        <p:nvPicPr>
          <p:cNvPr id="13" name="Image 0" descr="preencoded.png">    </p:cNvPr>
          <p:cNvPicPr>
            <a:picLocks noChangeAspect="1"/>
          </p:cNvPicPr>
          <p:nvPr/>
        </p:nvPicPr>
        <p:blipFill>
          <a:blip r:embed="rId1"/>
          <a:stretch>
            <a:fillRect/>
          </a:stretch>
        </p:blipFill>
        <p:spPr>
          <a:xfrm>
            <a:off x="8376615" y="128016"/>
            <a:ext cx="201168" cy="201168"/>
          </a:xfrm>
          <a:prstGeom prst="rect">
            <a:avLst/>
          </a:prstGeom>
        </p:spPr>
      </p:pic>
      <p:sp>
        <p:nvSpPr>
          <p:cNvPr id="14" name="Text 11"/>
          <p:cNvSpPr txBox="1"/>
          <p:nvPr/>
        </p:nvSpPr>
        <p:spPr>
          <a:xfrm>
            <a:off x="8632647" y="91440"/>
            <a:ext cx="297383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il frame buffer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NUOVO  draw_food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draw_food:</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la   t0, food_x</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a0,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la   t0, food_y</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a1,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a2, RED</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draw_cell</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5" name="Shape 3"/>
          <p:cNvSpPr/>
          <p:nvPr/>
        </p:nvSpPr>
        <p:spPr>
          <a:xfrm>
            <a:off x="8961120" y="1417320"/>
            <a:ext cx="2681935" cy="2276856"/>
          </a:xfrm>
          <a:prstGeom prst="roundRect">
            <a:avLst>
              <a:gd name="adj" fmla="val 3213"/>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Le tre righe che stavano dentro draw</a:t>
            </a:r>
            <a:endParaRPr lang="en-US" sz="1700" dirty="0"/>
          </a:p>
        </p:txBody>
      </p:sp>
      <p:sp>
        <p:nvSpPr>
          <p:cNvPr id="8" name="Shape 6"/>
          <p:cNvSpPr/>
          <p:nvPr/>
        </p:nvSpPr>
        <p:spPr>
          <a:xfrm>
            <a:off x="8961120" y="3895344"/>
            <a:ext cx="2681935" cy="2276856"/>
          </a:xfrm>
          <a:prstGeom prst="roundRect">
            <a:avLst>
              <a:gd name="adj" fmla="val 3213"/>
            </a:avLst>
          </a:prstGeom>
          <a:solidFill>
            <a:srgbClr val="EEF2F4"/>
          </a:solidFill>
          <a:ln w="12700">
            <a:solidFill>
              <a:srgbClr val="EEF2F4"/>
            </a:solidFill>
            <a:prstDash val="solid"/>
          </a:ln>
        </p:spPr>
      </p:sp>
      <p:sp>
        <p:nvSpPr>
          <p:cNvPr id="9" name="Text 7"/>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4032504"/>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Ora hanno un nome, e due chiamanti</a:t>
            </a:r>
            <a:endParaRPr lang="en-US" sz="1700" dirty="0"/>
          </a:p>
        </p:txBody>
      </p:sp>
      <p:sp>
        <p:nvSpPr>
          <p:cNvPr id="11" name="Shape 9"/>
          <p:cNvSpPr/>
          <p:nvPr/>
        </p:nvSpPr>
        <p:spPr>
          <a:xfrm>
            <a:off x="8248599" y="91440"/>
            <a:ext cx="3394456" cy="274320"/>
          </a:xfrm>
          <a:prstGeom prst="rect">
            <a:avLst/>
          </a:prstGeom>
          <a:solidFill>
            <a:srgbClr val="E0F2FE"/>
          </a:solidFill>
          <a:ln w="12700">
            <a:solidFill>
              <a:srgbClr val="0369A1"/>
            </a:solidFill>
            <a:prstDash val="solid"/>
          </a:ln>
        </p:spPr>
      </p:sp>
      <p:sp>
        <p:nvSpPr>
          <p:cNvPr id="12" name="Shape 10"/>
          <p:cNvSpPr/>
          <p:nvPr/>
        </p:nvSpPr>
        <p:spPr>
          <a:xfrm>
            <a:off x="8248599" y="91440"/>
            <a:ext cx="73152" cy="274320"/>
          </a:xfrm>
          <a:prstGeom prst="rect">
            <a:avLst/>
          </a:prstGeom>
          <a:solidFill>
            <a:srgbClr val="0369A1"/>
          </a:solidFill>
          <a:ln w="12700">
            <a:solidFill>
              <a:srgbClr val="0369A1"/>
            </a:solidFill>
            <a:prstDash val="solid"/>
          </a:ln>
        </p:spPr>
      </p:sp>
      <p:pic>
        <p:nvPicPr>
          <p:cNvPr id="13" name="Image 0" descr="preencoded.png">    </p:cNvPr>
          <p:cNvPicPr>
            <a:picLocks noChangeAspect="1"/>
          </p:cNvPicPr>
          <p:nvPr/>
        </p:nvPicPr>
        <p:blipFill>
          <a:blip r:embed="rId1"/>
          <a:stretch>
            <a:fillRect/>
          </a:stretch>
        </p:blipFill>
        <p:spPr>
          <a:xfrm>
            <a:off x="8376615" y="128016"/>
            <a:ext cx="201168" cy="201168"/>
          </a:xfrm>
          <a:prstGeom prst="rect">
            <a:avLst/>
          </a:prstGeom>
        </p:spPr>
      </p:pic>
      <p:sp>
        <p:nvSpPr>
          <p:cNvPr id="14" name="Text 11"/>
          <p:cNvSpPr txBox="1"/>
          <p:nvPr/>
        </p:nvSpPr>
        <p:spPr>
          <a:xfrm>
            <a:off x="8632647" y="91440"/>
            <a:ext cx="297383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il frame buffer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INVARIATO  draw_text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draw_text:                      </a:t>
            </a:r>
            <a:pPr indent="0" marL="0">
              <a:buNone/>
            </a:pPr>
            <a:r>
              <a:rPr lang="en-US" sz="1300" dirty="0">
                <a:solidFill>
                  <a:srgbClr val="8FB3A0"/>
                </a:solidFill>
                <a:latin typeface="Courier New" pitchFamily="34" charset="0"/>
                <a:ea typeface="Courier New" pitchFamily="34" charset="-122"/>
                <a:cs typeface="Courier New" pitchFamily="34" charset="-120"/>
              </a:rPr>
              <a:t># a0 = x, a1 = y, a2 = address of the string</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a3, WHITE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li   a4, BLACK</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call prg32_gfx_text8</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ret</a:t>
            </a:r>
            <a:endParaRPr lang="en-US" sz="1300" dirty="0"/>
          </a:p>
        </p:txBody>
      </p:sp>
      <p:sp>
        <p:nvSpPr>
          <p:cNvPr id="5" name="Shape 3"/>
          <p:cNvSpPr/>
          <p:nvPr/>
        </p:nvSpPr>
        <p:spPr>
          <a:xfrm>
            <a:off x="8961120" y="1417320"/>
            <a:ext cx="2681935" cy="4754880"/>
          </a:xfrm>
          <a:prstGeom prst="roundRect">
            <a:avLst>
              <a:gd name="adj" fmla="val 272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44805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La funzione di servizio della Parte 3, in una slide tutta sua</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MODIFICATO  init: chiedere la prima schermata</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E6EDF2"/>
                </a:solidFill>
                <a:latin typeface="Courier New" pitchFamily="34" charset="0"/>
                <a:ea typeface="Courier New" pitchFamily="34" charset="-122"/>
                <a:cs typeface="Courier New" pitchFamily="34" charset="-120"/>
              </a:rPr>
              <a:t>.section .text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.global verm1_init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.global verm1_update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.global verm1_draw</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verm1_init: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la   t0, state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sw   zero, 0(t0)            </a:t>
            </a:r>
            <a:pPr indent="0" marL="0">
              <a:buNone/>
            </a:pPr>
            <a:r>
              <a:rPr lang="en-US" sz="1450" dirty="0">
                <a:solidFill>
                  <a:srgbClr val="8FB3A0"/>
                </a:solidFill>
                <a:latin typeface="Courier New" pitchFamily="34" charset="0"/>
                <a:ea typeface="Courier New" pitchFamily="34" charset="-122"/>
                <a:cs typeface="Courier New" pitchFamily="34" charset="-120"/>
              </a:rPr>
              <a:t># start on the title screen</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la   t0, prev_btn</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sw   zero, 0(t0)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la   t0, dirty</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t1, 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sw   t1, 0(t0)              </a:t>
            </a:r>
            <a:pPr indent="0" marL="0">
              <a:buNone/>
            </a:pPr>
            <a:r>
              <a:rPr lang="en-US" sz="1450" dirty="0">
                <a:solidFill>
                  <a:srgbClr val="8FB3A0"/>
                </a:solidFill>
                <a:latin typeface="Courier New" pitchFamily="34" charset="0"/>
                <a:ea typeface="Courier New" pitchFamily="34" charset="-122"/>
                <a:cs typeface="Courier New" pitchFamily="34" charset="-120"/>
              </a:rPr>
              <a:t># draw the whole title screen, once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ret</a:t>
            </a:r>
            <a:endParaRPr lang="en-US" sz="1450" dirty="0"/>
          </a:p>
        </p:txBody>
      </p:sp>
      <p:sp>
        <p:nvSpPr>
          <p:cNvPr id="5" name="Shape 3"/>
          <p:cNvSpPr/>
          <p:nvPr/>
        </p:nvSpPr>
        <p:spPr>
          <a:xfrm>
            <a:off x="8961120" y="1417320"/>
            <a:ext cx="2681935" cy="4754880"/>
          </a:xfrm>
          <a:prstGeom prst="roundRect">
            <a:avLst>
              <a:gd name="adj" fmla="val 272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44805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dirty = 2: la schermata del titolo va disegnata una volta</a:t>
            </a:r>
            <a:endParaRPr lang="en-US" sz="1700" dirty="0"/>
          </a:p>
        </p:txBody>
      </p:sp>
      <p:sp>
        <p:nvSpPr>
          <p:cNvPr id="8" name="Shape 6"/>
          <p:cNvSpPr/>
          <p:nvPr/>
        </p:nvSpPr>
        <p:spPr>
          <a:xfrm>
            <a:off x="7723327" y="91440"/>
            <a:ext cx="3919728" cy="274320"/>
          </a:xfrm>
          <a:prstGeom prst="rect">
            <a:avLst/>
          </a:prstGeom>
          <a:solidFill>
            <a:srgbClr val="E0F2FE"/>
          </a:solidFill>
          <a:ln w="12700">
            <a:solidFill>
              <a:srgbClr val="0369A1"/>
            </a:solidFill>
            <a:prstDash val="solid"/>
          </a:ln>
        </p:spPr>
      </p:sp>
      <p:sp>
        <p:nvSpPr>
          <p:cNvPr id="9" name="Shape 7"/>
          <p:cNvSpPr/>
          <p:nvPr/>
        </p:nvSpPr>
        <p:spPr>
          <a:xfrm>
            <a:off x="7723327" y="91440"/>
            <a:ext cx="73152" cy="274320"/>
          </a:xfrm>
          <a:prstGeom prst="rect">
            <a:avLst/>
          </a:prstGeom>
          <a:solidFill>
            <a:srgbClr val="0369A1"/>
          </a:solidFill>
          <a:ln w="12700">
            <a:solidFill>
              <a:srgbClr val="0369A1"/>
            </a:solidFill>
            <a:prstDash val="solid"/>
          </a:ln>
        </p:spPr>
      </p:sp>
      <p:pic>
        <p:nvPicPr>
          <p:cNvPr id="10" name="Image 0" descr="preencoded.png">    </p:cNvPr>
          <p:cNvPicPr>
            <a:picLocks noChangeAspect="1"/>
          </p:cNvPicPr>
          <p:nvPr/>
        </p:nvPicPr>
        <p:blipFill>
          <a:blip r:embed="rId1"/>
          <a:stretch>
            <a:fillRect/>
          </a:stretch>
        </p:blipFill>
        <p:spPr>
          <a:xfrm>
            <a:off x="7851343" y="128016"/>
            <a:ext cx="201168" cy="201168"/>
          </a:xfrm>
          <a:prstGeom prst="rect">
            <a:avLst/>
          </a:prstGeom>
        </p:spPr>
      </p:pic>
      <p:sp>
        <p:nvSpPr>
          <p:cNvPr id="11" name="Text 8"/>
          <p:cNvSpPr txBox="1"/>
          <p:nvPr/>
        </p:nvSpPr>
        <p:spPr>
          <a:xfrm>
            <a:off x="8107375" y="91440"/>
            <a:ext cx="349910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macchine a stati finiti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MODIFICATO  update: un nuovo stato è una nuova schermata</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150" dirty="0">
                <a:solidFill>
                  <a:srgbClr val="E6EDF2"/>
                </a:solidFill>
                <a:latin typeface="Courier New" pitchFamily="34" charset="0"/>
                <a:ea typeface="Courier New" pitchFamily="34" charset="-122"/>
                <a:cs typeface="Courier New" pitchFamily="34" charset="-120"/>
              </a:rPr>
              <a:t>    la   t0, state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lw   t1, 0(t0)              </a:t>
            </a:r>
            <a:pPr indent="0" marL="0">
              <a:buNone/>
            </a:pPr>
            <a:r>
              <a:rPr lang="en-US" sz="1150" dirty="0">
                <a:solidFill>
                  <a:srgbClr val="8FB3A0"/>
                </a:solidFill>
                <a:latin typeface="Courier New" pitchFamily="34" charset="0"/>
                <a:ea typeface="Courier New" pitchFamily="34" charset="-122"/>
                <a:cs typeface="Courier New" pitchFamily="34" charset="-120"/>
              </a:rPr>
              <a:t># t1 = present state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t2, PLAY</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beq  t1, t2, u_play</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andi t3, s1, BTN_A          </a:t>
            </a:r>
            <a:pPr indent="0" marL="0">
              <a:buNone/>
            </a:pPr>
            <a:r>
              <a:rPr lang="en-US" sz="1150" dirty="0">
                <a:solidFill>
                  <a:srgbClr val="8FB3A0"/>
                </a:solidFill>
                <a:latin typeface="Courier New" pitchFamily="34" charset="0"/>
                <a:ea typeface="Courier New" pitchFamily="34" charset="-122"/>
                <a:cs typeface="Courier New" pitchFamily="34" charset="-120"/>
              </a:rPr>
              <a:t># TITLE or OVER: wait for a new press of A</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beqz t3, u_done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t2, TITLE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beq  t1, t2, u_start</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sw   t2, 0(t0)              </a:t>
            </a:r>
            <a:pPr indent="0" marL="0">
              <a:buNone/>
            </a:pPr>
            <a:r>
              <a:rPr lang="en-US" sz="1150" dirty="0">
                <a:solidFill>
                  <a:srgbClr val="8FB3A0"/>
                </a:solidFill>
                <a:latin typeface="Courier New" pitchFamily="34" charset="0"/>
                <a:ea typeface="Courier New" pitchFamily="34" charset="-122"/>
                <a:cs typeface="Courier New" pitchFamily="34" charset="-120"/>
              </a:rPr>
              <a:t># OVER --A--&gt; TITLE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dirty</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t1, 2</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sw   t1, 0(t0)              </a:t>
            </a:r>
            <a:pPr indent="0" marL="0">
              <a:buNone/>
            </a:pPr>
            <a:r>
              <a:rPr lang="en-US" sz="1150" dirty="0">
                <a:solidFill>
                  <a:srgbClr val="8FB3A0"/>
                </a:solidFill>
                <a:latin typeface="Courier New" pitchFamily="34" charset="0"/>
                <a:ea typeface="Courier New" pitchFamily="34" charset="-122"/>
                <a:cs typeface="Courier New" pitchFamily="34" charset="-120"/>
              </a:rPr>
              <a:t># a new screen: draw everything</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j    u_done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u_start:</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call new_game               </a:t>
            </a:r>
            <a:pPr indent="0" marL="0">
              <a:buNone/>
            </a:pPr>
            <a:r>
              <a:rPr lang="en-US" sz="1150" dirty="0">
                <a:solidFill>
                  <a:srgbClr val="8FB3A0"/>
                </a:solidFill>
                <a:latin typeface="Courier New" pitchFamily="34" charset="0"/>
                <a:ea typeface="Courier New" pitchFamily="34" charset="-122"/>
                <a:cs typeface="Courier New" pitchFamily="34" charset="-120"/>
              </a:rPr>
              <a:t># TITLE --A--&gt; PLAY</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j    u_done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u_play:</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mv   a0, s0</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call play_update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u_done: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lw   s1, 4(sp)</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lw   s0, 8(sp)</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lw   ra, 12(sp)</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sp, sp, 16</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ret</a:t>
            </a:r>
            <a:endParaRPr lang="en-US" sz="1150" dirty="0"/>
          </a:p>
        </p:txBody>
      </p:sp>
      <p:sp>
        <p:nvSpPr>
          <p:cNvPr id="5" name="Shape 3"/>
          <p:cNvSpPr/>
          <p:nvPr/>
        </p:nvSpPr>
        <p:spPr>
          <a:xfrm>
            <a:off x="8961120" y="1417320"/>
            <a:ext cx="2681935" cy="2276856"/>
          </a:xfrm>
          <a:prstGeom prst="roundRect">
            <a:avLst>
              <a:gd name="adj" fmla="val 3213"/>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Da OVER a TITLE: dirty = 2</a:t>
            </a:r>
            <a:endParaRPr lang="en-US" sz="1700" dirty="0"/>
          </a:p>
        </p:txBody>
      </p:sp>
      <p:sp>
        <p:nvSpPr>
          <p:cNvPr id="8" name="Shape 6"/>
          <p:cNvSpPr/>
          <p:nvPr/>
        </p:nvSpPr>
        <p:spPr>
          <a:xfrm>
            <a:off x="8961120" y="3895344"/>
            <a:ext cx="2681935" cy="2276856"/>
          </a:xfrm>
          <a:prstGeom prst="roundRect">
            <a:avLst>
              <a:gd name="adj" fmla="val 3213"/>
            </a:avLst>
          </a:prstGeom>
          <a:solidFill>
            <a:srgbClr val="EEF2F4"/>
          </a:solidFill>
          <a:ln w="12700">
            <a:solidFill>
              <a:srgbClr val="EEF2F4"/>
            </a:solidFill>
            <a:prstDash val="solid"/>
          </a:ln>
        </p:spPr>
      </p:sp>
      <p:sp>
        <p:nvSpPr>
          <p:cNvPr id="9" name="Text 7"/>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4032504"/>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Si aggiungono tre righe, dopo lo store dello stato</a:t>
            </a:r>
            <a:endParaRPr lang="en-US" sz="1700" dirty="0"/>
          </a:p>
        </p:txBody>
      </p:sp>
      <p:sp>
        <p:nvSpPr>
          <p:cNvPr id="11" name="Shape 9"/>
          <p:cNvSpPr/>
          <p:nvPr/>
        </p:nvSpPr>
        <p:spPr>
          <a:xfrm>
            <a:off x="7723327" y="91440"/>
            <a:ext cx="3919728" cy="274320"/>
          </a:xfrm>
          <a:prstGeom prst="rect">
            <a:avLst/>
          </a:prstGeom>
          <a:solidFill>
            <a:srgbClr val="E0F2FE"/>
          </a:solidFill>
          <a:ln w="12700">
            <a:solidFill>
              <a:srgbClr val="0369A1"/>
            </a:solidFill>
            <a:prstDash val="solid"/>
          </a:ln>
        </p:spPr>
      </p:sp>
      <p:sp>
        <p:nvSpPr>
          <p:cNvPr id="12" name="Shape 10"/>
          <p:cNvSpPr/>
          <p:nvPr/>
        </p:nvSpPr>
        <p:spPr>
          <a:xfrm>
            <a:off x="7723327" y="91440"/>
            <a:ext cx="73152" cy="274320"/>
          </a:xfrm>
          <a:prstGeom prst="rect">
            <a:avLst/>
          </a:prstGeom>
          <a:solidFill>
            <a:srgbClr val="0369A1"/>
          </a:solidFill>
          <a:ln w="12700">
            <a:solidFill>
              <a:srgbClr val="0369A1"/>
            </a:solidFill>
            <a:prstDash val="solid"/>
          </a:ln>
        </p:spPr>
      </p:sp>
      <p:pic>
        <p:nvPicPr>
          <p:cNvPr id="13" name="Image 0" descr="preencoded.png">    </p:cNvPr>
          <p:cNvPicPr>
            <a:picLocks noChangeAspect="1"/>
          </p:cNvPicPr>
          <p:nvPr/>
        </p:nvPicPr>
        <p:blipFill>
          <a:blip r:embed="rId1"/>
          <a:stretch>
            <a:fillRect/>
          </a:stretch>
        </p:blipFill>
        <p:spPr>
          <a:xfrm>
            <a:off x="7851343" y="128016"/>
            <a:ext cx="201168" cy="201168"/>
          </a:xfrm>
          <a:prstGeom prst="rect">
            <a:avLst/>
          </a:prstGeom>
        </p:spPr>
      </p:pic>
      <p:sp>
        <p:nvSpPr>
          <p:cNvPr id="14" name="Text 11"/>
          <p:cNvSpPr txBox="1"/>
          <p:nvPr/>
        </p:nvSpPr>
        <p:spPr>
          <a:xfrm>
            <a:off x="8107375" y="91440"/>
            <a:ext cx="349910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macchine a stati finiti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MODIFICATO  new_game: e anche qui</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00" dirty="0">
                <a:solidFill>
                  <a:srgbClr val="E6EDF2"/>
                </a:solidFill>
                <a:latin typeface="Courier New" pitchFamily="34" charset="0"/>
                <a:ea typeface="Courier New" pitchFamily="34" charset="-122"/>
                <a:cs typeface="Courier New" pitchFamily="34" charset="-120"/>
              </a:rPr>
              <a:t>    la   t0, head_i</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t1, 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t1, 0(t0)              </a:t>
            </a:r>
            <a:pPr indent="0" marL="0">
              <a:buNone/>
            </a:pPr>
            <a:r>
              <a:rPr lang="en-US" sz="1200" dirty="0">
                <a:solidFill>
                  <a:srgbClr val="8FB3A0"/>
                </a:solidFill>
                <a:latin typeface="Courier New" pitchFamily="34" charset="0"/>
                <a:ea typeface="Courier New" pitchFamily="34" charset="-122"/>
                <a:cs typeface="Courier New" pitchFamily="34" charset="-120"/>
              </a:rPr>
              <a:t># the head is entry 2 of the ring</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length</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t1, 3</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t1,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dir</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zero,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want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zero,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step_q8</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zero,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score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zero,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place_food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state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t1, PLAY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t1,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dirty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t1, 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t1, 0(t0)              </a:t>
            </a:r>
            <a:pPr indent="0" marL="0">
              <a:buNone/>
            </a:pPr>
            <a:r>
              <a:rPr lang="en-US" sz="1200" dirty="0">
                <a:solidFill>
                  <a:srgbClr val="8FB3A0"/>
                </a:solidFill>
                <a:latin typeface="Courier New" pitchFamily="34" charset="0"/>
                <a:ea typeface="Courier New" pitchFamily="34" charset="-122"/>
                <a:cs typeface="Courier New" pitchFamily="34" charset="-120"/>
              </a:rPr>
              <a:t># a new screen: draw everything</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ra, 12(sp)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16</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ret</a:t>
            </a:r>
            <a:endParaRPr lang="en-US" sz="1200" dirty="0"/>
          </a:p>
        </p:txBody>
      </p:sp>
      <p:sp>
        <p:nvSpPr>
          <p:cNvPr id="5" name="Shape 3"/>
          <p:cNvSpPr/>
          <p:nvPr/>
        </p:nvSpPr>
        <p:spPr>
          <a:xfrm>
            <a:off x="8961120" y="1417320"/>
            <a:ext cx="2681935" cy="2276856"/>
          </a:xfrm>
          <a:prstGeom prst="roundRect">
            <a:avLst>
              <a:gd name="adj" fmla="val 3213"/>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Da TITLE a PLAY: dirty = 2</a:t>
            </a:r>
            <a:endParaRPr lang="en-US" sz="1700" dirty="0"/>
          </a:p>
        </p:txBody>
      </p:sp>
      <p:sp>
        <p:nvSpPr>
          <p:cNvPr id="8" name="Shape 6"/>
          <p:cNvSpPr/>
          <p:nvPr/>
        </p:nvSpPr>
        <p:spPr>
          <a:xfrm>
            <a:off x="8961120" y="3895344"/>
            <a:ext cx="2681935" cy="2276856"/>
          </a:xfrm>
          <a:prstGeom prst="roundRect">
            <a:avLst>
              <a:gd name="adj" fmla="val 3213"/>
            </a:avLst>
          </a:prstGeom>
          <a:solidFill>
            <a:srgbClr val="EEF2F4"/>
          </a:solidFill>
          <a:ln w="12700">
            <a:solidFill>
              <a:srgbClr val="EEF2F4"/>
            </a:solidFill>
            <a:prstDash val="solid"/>
          </a:ln>
        </p:spPr>
      </p:sp>
      <p:sp>
        <p:nvSpPr>
          <p:cNvPr id="9" name="Text 7"/>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4032504"/>
            <a:ext cx="1813255" cy="2002536"/>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Si aggiungono tre righe, prima del ritorno</a:t>
            </a:r>
            <a:endParaRPr lang="en-US" sz="1700" dirty="0"/>
          </a:p>
        </p:txBody>
      </p:sp>
      <p:sp>
        <p:nvSpPr>
          <p:cNvPr id="11" name="Shape 9"/>
          <p:cNvSpPr/>
          <p:nvPr/>
        </p:nvSpPr>
        <p:spPr>
          <a:xfrm>
            <a:off x="7723327" y="91440"/>
            <a:ext cx="3919728" cy="274320"/>
          </a:xfrm>
          <a:prstGeom prst="rect">
            <a:avLst/>
          </a:prstGeom>
          <a:solidFill>
            <a:srgbClr val="E0F2FE"/>
          </a:solidFill>
          <a:ln w="12700">
            <a:solidFill>
              <a:srgbClr val="0369A1"/>
            </a:solidFill>
            <a:prstDash val="solid"/>
          </a:ln>
        </p:spPr>
      </p:sp>
      <p:sp>
        <p:nvSpPr>
          <p:cNvPr id="12" name="Shape 10"/>
          <p:cNvSpPr/>
          <p:nvPr/>
        </p:nvSpPr>
        <p:spPr>
          <a:xfrm>
            <a:off x="7723327" y="91440"/>
            <a:ext cx="73152" cy="274320"/>
          </a:xfrm>
          <a:prstGeom prst="rect">
            <a:avLst/>
          </a:prstGeom>
          <a:solidFill>
            <a:srgbClr val="0369A1"/>
          </a:solidFill>
          <a:ln w="12700">
            <a:solidFill>
              <a:srgbClr val="0369A1"/>
            </a:solidFill>
            <a:prstDash val="solid"/>
          </a:ln>
        </p:spPr>
      </p:sp>
      <p:pic>
        <p:nvPicPr>
          <p:cNvPr id="13" name="Image 0" descr="preencoded.png">    </p:cNvPr>
          <p:cNvPicPr>
            <a:picLocks noChangeAspect="1"/>
          </p:cNvPicPr>
          <p:nvPr/>
        </p:nvPicPr>
        <p:blipFill>
          <a:blip r:embed="rId1"/>
          <a:stretch>
            <a:fillRect/>
          </a:stretch>
        </p:blipFill>
        <p:spPr>
          <a:xfrm>
            <a:off x="7851343" y="128016"/>
            <a:ext cx="201168" cy="201168"/>
          </a:xfrm>
          <a:prstGeom prst="rect">
            <a:avLst/>
          </a:prstGeom>
        </p:spPr>
      </p:pic>
      <p:sp>
        <p:nvSpPr>
          <p:cNvPr id="14" name="Text 11"/>
          <p:cNvSpPr txBox="1"/>
          <p:nvPr/>
        </p:nvSpPr>
        <p:spPr>
          <a:xfrm>
            <a:off x="8107375" y="91440"/>
            <a:ext cx="349910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macchine a stati finiti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Eseguite: il Verm1 finito</a:t>
            </a:r>
            <a:endParaRPr lang="en-US" sz="3200" dirty="0"/>
          </a:p>
        </p:txBody>
      </p:sp>
      <p:sp>
        <p:nvSpPr>
          <p:cNvPr id="3" name="Shape 1"/>
          <p:cNvSpPr/>
          <p:nvPr/>
        </p:nvSpPr>
        <p:spPr>
          <a:xfrm>
            <a:off x="548640" y="1417320"/>
            <a:ext cx="5410048" cy="3931920"/>
          </a:xfrm>
          <a:prstGeom prst="roundRect">
            <a:avLst>
              <a:gd name="adj" fmla="val 1860"/>
            </a:avLst>
          </a:prstGeom>
          <a:solidFill>
            <a:srgbClr val="EEF2F4"/>
          </a:solidFill>
          <a:ln w="12700">
            <a:solidFill>
              <a:srgbClr val="EEF2F4"/>
            </a:solidFill>
            <a:prstDash val="solid"/>
          </a:ln>
        </p:spPr>
      </p:sp>
      <p:pic>
        <p:nvPicPr>
          <p:cNvPr id="4" name="Image 0" descr="/Users/raffaelemontella/devel/riscv-prg32/computer-architecture-with-prg32/tools/assets/verm1_p4_play.png">    </p:cNvPr>
          <p:cNvPicPr>
            <a:picLocks noChangeAspect="1"/>
          </p:cNvPicPr>
          <p:nvPr/>
        </p:nvPicPr>
        <p:blipFill>
          <a:blip r:embed="rId1"/>
          <a:stretch>
            <a:fillRect/>
          </a:stretch>
        </p:blipFill>
        <p:spPr>
          <a:xfrm>
            <a:off x="803072" y="1554480"/>
            <a:ext cx="4901184" cy="3063240"/>
          </a:xfrm>
          <a:prstGeom prst="rect">
            <a:avLst/>
          </a:prstGeom>
        </p:spPr>
      </p:pic>
      <p:sp>
        <p:nvSpPr>
          <p:cNvPr id="5" name="Text 2"/>
          <p:cNvSpPr txBox="1"/>
          <p:nvPr/>
        </p:nvSpPr>
        <p:spPr>
          <a:xfrm>
            <a:off x="685800" y="4663440"/>
            <a:ext cx="513572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Punteggio 004, sette celle</a:t>
            </a:r>
            <a:endParaRPr lang="en-US" sz="1500" dirty="0"/>
          </a:p>
        </p:txBody>
      </p:sp>
      <p:sp>
        <p:nvSpPr>
          <p:cNvPr id="6" name="Shape 3"/>
          <p:cNvSpPr/>
          <p:nvPr/>
        </p:nvSpPr>
        <p:spPr>
          <a:xfrm>
            <a:off x="6233008" y="1417320"/>
            <a:ext cx="5410048" cy="3931920"/>
          </a:xfrm>
          <a:prstGeom prst="roundRect">
            <a:avLst>
              <a:gd name="adj" fmla="val 1860"/>
            </a:avLst>
          </a:prstGeom>
          <a:solidFill>
            <a:srgbClr val="EEF2F4"/>
          </a:solidFill>
          <a:ln w="12700">
            <a:solidFill>
              <a:srgbClr val="EEF2F4"/>
            </a:solidFill>
            <a:prstDash val="solid"/>
          </a:ln>
        </p:spPr>
      </p:sp>
      <p:pic>
        <p:nvPicPr>
          <p:cNvPr id="7" name="Image 1" descr="/Users/raffaelemontella/devel/riscv-prg32/computer-architecture-with-prg32/tools/assets/verm1_p4_over.png">    </p:cNvPr>
          <p:cNvPicPr>
            <a:picLocks noChangeAspect="1"/>
          </p:cNvPicPr>
          <p:nvPr/>
        </p:nvPicPr>
        <p:blipFill>
          <a:blip r:embed="rId2"/>
          <a:stretch>
            <a:fillRect/>
          </a:stretch>
        </p:blipFill>
        <p:spPr>
          <a:xfrm>
            <a:off x="6487439" y="1554480"/>
            <a:ext cx="4901184" cy="3063240"/>
          </a:xfrm>
          <a:prstGeom prst="rect">
            <a:avLst/>
          </a:prstGeom>
        </p:spPr>
      </p:pic>
      <p:sp>
        <p:nvSpPr>
          <p:cNvPr id="8" name="Text 4"/>
          <p:cNvSpPr txBox="1"/>
          <p:nvPr/>
        </p:nvSpPr>
        <p:spPr>
          <a:xfrm>
            <a:off x="6370168" y="4663440"/>
            <a:ext cx="513572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La fine di una partita</a:t>
            </a:r>
            <a:endParaRPr lang="en-US" sz="1500" dirty="0"/>
          </a:p>
        </p:txBody>
      </p:sp>
      <p:sp>
        <p:nvSpPr>
          <p:cNvPr id="9" name="Text 5"/>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Atteso: lo stesso gioco di dopo il passo 3, pixel per pixel. Se vedete scie o buchi, un cambiamento non è stato annotato: usate il debugger.</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Appendice: le funzioni che non sono cambiate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Otto parti del file sono quelle della Parte 3: tenetele come sono</a:t>
            </a:r>
            <a:endParaRPr lang="en-US" sz="2400" dirty="0"/>
          </a:p>
        </p:txBody>
      </p:sp>
      <p:sp>
        <p:nvSpPr>
          <p:cNvPr id="5" name="Shape 3"/>
          <p:cNvSpPr/>
          <p:nvPr/>
        </p:nvSpPr>
        <p:spPr>
          <a:xfrm>
            <a:off x="548640" y="255117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29256"/>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Sono nelle prossime slide, così questa presentazione contiene l'intero programma</a:t>
            </a:r>
            <a:endParaRPr lang="en-US" sz="2400" dirty="0"/>
          </a:p>
        </p:txBody>
      </p:sp>
      <p:sp>
        <p:nvSpPr>
          <p:cNvPr id="7" name="Shape 5"/>
          <p:cNvSpPr/>
          <p:nvPr/>
        </p:nvSpPr>
        <p:spPr>
          <a:xfrm>
            <a:off x="548640" y="375208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30168"/>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update, new_game (prima metà), play_update (sterzata), step (ricerca in tabella), place_food, draw_worm, draw_cell, .rodata</a:t>
            </a:r>
            <a:endParaRPr lang="en-US" sz="2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INVARIATO  update: pulsanti e fronti</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verm1_update: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sp, sp, -16</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ra, 12(sp)</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s0, 8(sp)</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s1, 4(sp)</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prg32_input_read</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mv   s0, a0                 </a:t>
            </a:r>
            <a:pPr indent="0" marL="0">
              <a:buNone/>
            </a:pPr>
            <a:r>
              <a:rPr lang="en-US" sz="1500" dirty="0">
                <a:solidFill>
                  <a:srgbClr val="8FB3A0"/>
                </a:solidFill>
                <a:latin typeface="Courier New" pitchFamily="34" charset="0"/>
                <a:ea typeface="Courier New" pitchFamily="34" charset="-122"/>
                <a:cs typeface="Courier New" pitchFamily="34" charset="-120"/>
              </a:rPr>
              <a:t># s0 = buttons held in this frame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t0, prev_btn</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t1, 0(t0)              </a:t>
            </a:r>
            <a:pPr indent="0" marL="0">
              <a:buNone/>
            </a:pPr>
            <a:r>
              <a:rPr lang="en-US" sz="1500" dirty="0">
                <a:solidFill>
                  <a:srgbClr val="8FB3A0"/>
                </a:solidFill>
                <a:latin typeface="Courier New" pitchFamily="34" charset="0"/>
                <a:ea typeface="Courier New" pitchFamily="34" charset="-122"/>
                <a:cs typeface="Courier New" pitchFamily="34" charset="-120"/>
              </a:rPr>
              <a:t># t1 = buttons held one frame ago</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s0, 0(t0)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not  t1, t1</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and  s1, s0, t1             </a:t>
            </a:r>
            <a:pPr indent="0" marL="0">
              <a:buNone/>
            </a:pPr>
            <a:r>
              <a:rPr lang="en-US" sz="1500" dirty="0">
                <a:solidFill>
                  <a:srgbClr val="8FB3A0"/>
                </a:solidFill>
                <a:latin typeface="Courier New" pitchFamily="34" charset="0"/>
                <a:ea typeface="Courier New" pitchFamily="34" charset="-122"/>
                <a:cs typeface="Courier New" pitchFamily="34" charset="-120"/>
              </a:rPr>
              <a:t># s1 = buttons pressed just now</a:t>
            </a:r>
            <a:endParaRPr lang="en-US" sz="1500" dirty="0"/>
          </a:p>
        </p:txBody>
      </p:sp>
      <p:sp>
        <p:nvSpPr>
          <p:cNvPr id="5" name="Shape 3"/>
          <p:cNvSpPr/>
          <p:nvPr/>
        </p:nvSpPr>
        <p:spPr>
          <a:xfrm>
            <a:off x="8961120" y="1417320"/>
            <a:ext cx="2681935" cy="4754880"/>
          </a:xfrm>
          <a:prstGeom prst="roundRect">
            <a:avLst>
              <a:gd name="adj" fmla="val 272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44805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Il rilevatore di fronte della Parte 3</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INVARIATO  new_game: la mappa e il verme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150" dirty="0">
                <a:solidFill>
                  <a:srgbClr val="E6EDF2"/>
                </a:solidFill>
                <a:latin typeface="Courier New" pitchFamily="34" charset="0"/>
                <a:ea typeface="Courier New" pitchFamily="34" charset="-122"/>
                <a:cs typeface="Courier New" pitchFamily="34" charset="-120"/>
              </a:rPr>
              <a:t>new_game: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sp, sp, -16</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sw   ra, 12(sp)</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grid</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t1, COLS*ROWS</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1:  sb   zero, 0(t0)            </a:t>
            </a:r>
            <a:pPr indent="0" marL="0">
              <a:buNone/>
            </a:pPr>
            <a:r>
              <a:rPr lang="en-US" sz="1150" dirty="0">
                <a:solidFill>
                  <a:srgbClr val="8FB3A0"/>
                </a:solidFill>
                <a:latin typeface="Courier New" pitchFamily="34" charset="0"/>
                <a:ea typeface="Courier New" pitchFamily="34" charset="-122"/>
                <a:cs typeface="Courier New" pitchFamily="34" charset="-120"/>
              </a:rPr>
              <a:t># empty the grid, one byte per cell</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t0, t0, 1</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t1, t1, -1</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bnez t1, 1b</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t1, 0                  </a:t>
            </a:r>
            <a:pPr indent="0" marL="0">
              <a:buNone/>
            </a:pPr>
            <a:r>
              <a:rPr lang="en-US" sz="1150" dirty="0">
                <a:solidFill>
                  <a:srgbClr val="8FB3A0"/>
                </a:solidFill>
                <a:latin typeface="Courier New" pitchFamily="34" charset="0"/>
                <a:ea typeface="Courier New" pitchFamily="34" charset="-122"/>
                <a:cs typeface="Courier New" pitchFamily="34" charset="-120"/>
              </a:rPr>
              <a:t># i = 0, 1, 2: three cells in row 12</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2:  la   t0, body_x</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  t0, t0, t1</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t2, t1, 3</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sb   t2, 0(t0)              </a:t>
            </a:r>
            <a:pPr indent="0" marL="0">
              <a:buNone/>
            </a:pPr>
            <a:r>
              <a:rPr lang="en-US" sz="1150" dirty="0">
                <a:solidFill>
                  <a:srgbClr val="8FB3A0"/>
                </a:solidFill>
                <a:latin typeface="Courier New" pitchFamily="34" charset="0"/>
                <a:ea typeface="Courier New" pitchFamily="34" charset="-122"/>
                <a:cs typeface="Courier New" pitchFamily="34" charset="-120"/>
              </a:rPr>
              <a:t># columns 3, 4, 5</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body_y</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  t0, t0, t1</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t3, 12</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sb   t3, 0(t0)</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grid+12*COLS</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  t0, t0, t2</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t3, 1</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sb   t3, 0(t0)              </a:t>
            </a:r>
            <a:pPr indent="0" marL="0">
              <a:buNone/>
            </a:pPr>
            <a:r>
              <a:rPr lang="en-US" sz="1150" dirty="0">
                <a:solidFill>
                  <a:srgbClr val="8FB3A0"/>
                </a:solidFill>
                <a:latin typeface="Courier New" pitchFamily="34" charset="0"/>
                <a:ea typeface="Courier New" pitchFamily="34" charset="-122"/>
                <a:cs typeface="Courier New" pitchFamily="34" charset="-120"/>
              </a:rPr>
              <a:t># mark the cell as occupied</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t1, t1, 1</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t3, 3</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blt  t1, t3, 2b</a:t>
            </a:r>
            <a:endParaRPr lang="en-US" sz="1150" dirty="0"/>
          </a:p>
        </p:txBody>
      </p:sp>
      <p:sp>
        <p:nvSpPr>
          <p:cNvPr id="5" name="Shape 3"/>
          <p:cNvSpPr/>
          <p:nvPr/>
        </p:nvSpPr>
        <p:spPr>
          <a:xfrm>
            <a:off x="8961120" y="1417320"/>
            <a:ext cx="2681935" cy="4754880"/>
          </a:xfrm>
          <a:prstGeom prst="roundRect">
            <a:avLst>
              <a:gd name="adj" fmla="val 272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44805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La prima metà di new_game</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INVARIATO  play_update: la sterzata</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00" dirty="0">
                <a:solidFill>
                  <a:srgbClr val="E6EDF2"/>
                </a:solidFill>
                <a:latin typeface="Courier New" pitchFamily="34" charset="0"/>
                <a:ea typeface="Courier New" pitchFamily="34" charset="-122"/>
                <a:cs typeface="Courier New" pitchFamily="34" charset="-120"/>
              </a:rPr>
              <a:t>play_update:                    </a:t>
            </a:r>
            <a:pPr indent="0" marL="0">
              <a:buNone/>
            </a:pPr>
            <a:r>
              <a:rPr lang="en-US" sz="1200" dirty="0">
                <a:solidFill>
                  <a:srgbClr val="8FB3A0"/>
                </a:solidFill>
                <a:latin typeface="Courier New" pitchFamily="34" charset="0"/>
                <a:ea typeface="Courier New" pitchFamily="34" charset="-122"/>
                <a:cs typeface="Courier New" pitchFamily="34" charset="-120"/>
              </a:rPr>
              <a:t># a0 = buttons held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-16</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ra, 12(sp)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dir</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t1, 0(t0)              </a:t>
            </a:r>
            <a:pPr indent="0" marL="0">
              <a:buNone/>
            </a:pPr>
            <a:r>
              <a:rPr lang="en-US" sz="1200" dirty="0">
                <a:solidFill>
                  <a:srgbClr val="8FB3A0"/>
                </a:solidFill>
                <a:latin typeface="Courier New" pitchFamily="34" charset="0"/>
                <a:ea typeface="Courier New" pitchFamily="34" charset="-122"/>
                <a:cs typeface="Courier New" pitchFamily="34" charset="-120"/>
              </a:rPr>
              <a:t># t1 = direction of the last step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want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t2, 0(t0)              </a:t>
            </a:r>
            <a:pPr indent="0" marL="0">
              <a:buNone/>
            </a:pPr>
            <a:r>
              <a:rPr lang="en-US" sz="1200" dirty="0">
                <a:solidFill>
                  <a:srgbClr val="8FB3A0"/>
                </a:solidFill>
                <a:latin typeface="Courier New" pitchFamily="34" charset="0"/>
                <a:ea typeface="Courier New" pitchFamily="34" charset="-122"/>
                <a:cs typeface="Courier New" pitchFamily="34" charset="-120"/>
              </a:rPr>
              <a:t># t2 = wanted direction, so far</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andi t3, a0, BTN_RIGHT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beqz t3, 1f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t2, DIR_RIGHT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1:  andi t3, a0, BTN_DOWN</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beqz t3, 2f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t2, DIR_DOWN</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2:  andi t3, a0, BTN_LEFT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beqz t3, 3f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t2, DIR_LEFT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3:  andi t3, a0, BTN_UP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beqz t3, 4f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t2, DIR_UP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4:  xor  t3, t2, t1             </a:t>
            </a:r>
            <a:pPr indent="0" marL="0">
              <a:buNone/>
            </a:pPr>
            <a:r>
              <a:rPr lang="en-US" sz="1200" dirty="0">
                <a:solidFill>
                  <a:srgbClr val="8FB3A0"/>
                </a:solidFill>
                <a:latin typeface="Courier New" pitchFamily="34" charset="0"/>
                <a:ea typeface="Courier New" pitchFamily="34" charset="-122"/>
                <a:cs typeface="Courier New" pitchFamily="34" charset="-120"/>
              </a:rPr>
              <a:t># opposite directions differ in bit 1 only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t4, 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  t3, t4, 5f             </a:t>
            </a:r>
            <a:pPr indent="0" marL="0">
              <a:buNone/>
            </a:pPr>
            <a:r>
              <a:rPr lang="en-US" sz="1200" dirty="0">
                <a:solidFill>
                  <a:srgbClr val="8FB3A0"/>
                </a:solidFill>
                <a:latin typeface="Courier New" pitchFamily="34" charset="0"/>
                <a:ea typeface="Courier New" pitchFamily="34" charset="-122"/>
                <a:cs typeface="Courier New" pitchFamily="34" charset="-120"/>
              </a:rPr>
              <a:t># a U-turn: ignore the request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t2,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5:</a:t>
            </a:r>
            <a:endParaRPr lang="en-US" sz="1200" dirty="0"/>
          </a:p>
        </p:txBody>
      </p:sp>
      <p:sp>
        <p:nvSpPr>
          <p:cNvPr id="5" name="Shape 3"/>
          <p:cNvSpPr/>
          <p:nvPr/>
        </p:nvSpPr>
        <p:spPr>
          <a:xfrm>
            <a:off x="8961120" y="1417320"/>
            <a:ext cx="2681935" cy="4754880"/>
          </a:xfrm>
          <a:prstGeom prst="roundRect">
            <a:avLst>
              <a:gd name="adj" fmla="val 272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44805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Le maschere e la regola dell'inversione a U della Parte 2</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INVARIATO  step: la ricerca in tabella</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step: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s0, 8(sp)              </a:t>
            </a:r>
            <a:pPr indent="0" marL="0">
              <a:buNone/>
            </a:pPr>
            <a:r>
              <a:rPr lang="en-US" sz="1300" dirty="0">
                <a:solidFill>
                  <a:srgbClr val="8FB3A0"/>
                </a:solidFill>
                <a:latin typeface="Courier New" pitchFamily="34" charset="0"/>
                <a:ea typeface="Courier New" pitchFamily="34" charset="-122"/>
                <a:cs typeface="Courier New" pitchFamily="34" charset="-120"/>
              </a:rPr>
              <a:t># s0 = column of the new head</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s1, 4(sp)              </a:t>
            </a:r>
            <a:pPr indent="0" marL="0">
              <a:buNone/>
            </a:pPr>
            <a:r>
              <a:rPr lang="en-US" sz="1300" dirty="0">
                <a:solidFill>
                  <a:srgbClr val="8FB3A0"/>
                </a:solidFill>
                <a:latin typeface="Courier New" pitchFamily="34" charset="0"/>
                <a:ea typeface="Courier New" pitchFamily="34" charset="-122"/>
                <a:cs typeface="Courier New" pitchFamily="34" charset="-120"/>
              </a:rPr>
              <a:t># s1 = row of the new head</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s2, 0(sp)              </a:t>
            </a:r>
            <a:pPr indent="0" marL="0">
              <a:buNone/>
            </a:pPr>
            <a:r>
              <a:rPr lang="en-US" sz="1300" dirty="0">
                <a:solidFill>
                  <a:srgbClr val="8FB3A0"/>
                </a:solidFill>
                <a:latin typeface="Courier New" pitchFamily="34" charset="0"/>
                <a:ea typeface="Courier New" pitchFamily="34" charset="-122"/>
                <a:cs typeface="Courier New" pitchFamily="34" charset="-120"/>
              </a:rPr>
              <a:t># s2 = 0 when the worm eats</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want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t1, 0(t0)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dir</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t1, 0(t0)              </a:t>
            </a:r>
            <a:pPr indent="0" marL="0">
              <a:buNone/>
            </a:pPr>
            <a:r>
              <a:rPr lang="en-US" sz="1300" dirty="0">
                <a:solidFill>
                  <a:srgbClr val="8FB3A0"/>
                </a:solidFill>
                <a:latin typeface="Courier New" pitchFamily="34" charset="0"/>
                <a:ea typeface="Courier New" pitchFamily="34" charset="-122"/>
                <a:cs typeface="Courier New" pitchFamily="34" charset="-120"/>
              </a:rPr>
              <a:t># the wanted direction is now the direction</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slli t1, t1, 2              </a:t>
            </a:r>
            <a:pPr indent="0" marL="0">
              <a:buNone/>
            </a:pPr>
            <a:r>
              <a:rPr lang="en-US" sz="1300" dirty="0">
                <a:solidFill>
                  <a:srgbClr val="8FB3A0"/>
                </a:solidFill>
                <a:latin typeface="Courier New" pitchFamily="34" charset="0"/>
                <a:ea typeface="Courier New" pitchFamily="34" charset="-122"/>
                <a:cs typeface="Courier New" pitchFamily="34" charset="-120"/>
              </a:rPr>
              <a:t># table offset = direction * 4 bytes</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dx</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  t0, t0, t1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t2, 0(t0)              </a:t>
            </a:r>
            <a:pPr indent="0" marL="0">
              <a:buNone/>
            </a:pPr>
            <a:r>
              <a:rPr lang="en-US" sz="1300" dirty="0">
                <a:solidFill>
                  <a:srgbClr val="8FB3A0"/>
                </a:solidFill>
                <a:latin typeface="Courier New" pitchFamily="34" charset="0"/>
                <a:ea typeface="Courier New" pitchFamily="34" charset="-122"/>
                <a:cs typeface="Courier New" pitchFamily="34" charset="-120"/>
              </a:rPr>
              <a:t># t2 = dx[direction]</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dy</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  t0, t0, t1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t3, 0(t0)              </a:t>
            </a:r>
            <a:pPr indent="0" marL="0">
              <a:buNone/>
            </a:pPr>
            <a:r>
              <a:rPr lang="en-US" sz="1300" dirty="0">
                <a:solidFill>
                  <a:srgbClr val="8FB3A0"/>
                </a:solidFill>
                <a:latin typeface="Courier New" pitchFamily="34" charset="0"/>
                <a:ea typeface="Courier New" pitchFamily="34" charset="-122"/>
                <a:cs typeface="Courier New" pitchFamily="34" charset="-120"/>
              </a:rPr>
              <a:t># t3 = dy[direction]</a:t>
            </a:r>
            <a:endParaRPr lang="en-US" sz="1300" dirty="0"/>
          </a:p>
        </p:txBody>
      </p:sp>
      <p:sp>
        <p:nvSpPr>
          <p:cNvPr id="5" name="Shape 3"/>
          <p:cNvSpPr/>
          <p:nvPr/>
        </p:nvSpPr>
        <p:spPr>
          <a:xfrm>
            <a:off x="8961120" y="1417320"/>
            <a:ext cx="2681935" cy="4754880"/>
          </a:xfrm>
          <a:prstGeom prst="roundRect">
            <a:avLst>
              <a:gd name="adj" fmla="val 272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44805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Il frame e le tabelle dx, dy</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INVARIATO  place_food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100" dirty="0">
                <a:solidFill>
                  <a:srgbClr val="E6EDF2"/>
                </a:solidFill>
                <a:latin typeface="Courier New" pitchFamily="34" charset="0"/>
                <a:ea typeface="Courier New" pitchFamily="34" charset="-122"/>
                <a:cs typeface="Courier New" pitchFamily="34" charset="-120"/>
              </a:rPr>
              <a:t>place_food:</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addi sp, sp, -16</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sw   ra, 12(sp)</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sw   s0, 8(sp)</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1:  li   a0, 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a1, COLS-1</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call prg32_random_number</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mv   s0, a0                 </a:t>
            </a:r>
            <a:pPr indent="0" marL="0">
              <a:buNone/>
            </a:pPr>
            <a:r>
              <a:rPr lang="en-US" sz="1100" dirty="0">
                <a:solidFill>
                  <a:srgbClr val="8FB3A0"/>
                </a:solidFill>
                <a:latin typeface="Courier New" pitchFamily="34" charset="0"/>
                <a:ea typeface="Courier New" pitchFamily="34" charset="-122"/>
                <a:cs typeface="Courier New" pitchFamily="34" charset="-120"/>
              </a:rPr>
              <a:t># s0 = a column</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a0, 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a1, ROWS-1</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call prg32_random_number    </a:t>
            </a:r>
            <a:pPr indent="0" marL="0">
              <a:buNone/>
            </a:pPr>
            <a:r>
              <a:rPr lang="en-US" sz="1100" dirty="0">
                <a:solidFill>
                  <a:srgbClr val="8FB3A0"/>
                </a:solidFill>
                <a:latin typeface="Courier New" pitchFamily="34" charset="0"/>
                <a:ea typeface="Courier New" pitchFamily="34" charset="-122"/>
                <a:cs typeface="Courier New" pitchFamily="34" charset="-120"/>
              </a:rPr>
              <a:t># a0 = a row</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t1, COLS</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mul  t2, a0, t1</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  t2, t2, s0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t0, grid</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  t0, t0, t2</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lbu  t3,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bnez t3, 1b                 </a:t>
            </a:r>
            <a:pPr indent="0" marL="0">
              <a:buNone/>
            </a:pPr>
            <a:r>
              <a:rPr lang="en-US" sz="1100" dirty="0">
                <a:solidFill>
                  <a:srgbClr val="8FB3A0"/>
                </a:solidFill>
                <a:latin typeface="Courier New" pitchFamily="34" charset="0"/>
                <a:ea typeface="Courier New" pitchFamily="34" charset="-122"/>
                <a:cs typeface="Courier New" pitchFamily="34" charset="-120"/>
              </a:rPr>
              <a:t># on the worm: try again</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t0, food_x</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sw   s0,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t0, food_y</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sw   a0,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lw   s0, 8(sp)</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lw   ra, 12(sp)</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addi sp, sp, 16</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ret</a:t>
            </a:r>
            <a:endParaRPr lang="en-US" sz="1100" dirty="0"/>
          </a:p>
        </p:txBody>
      </p:sp>
      <p:sp>
        <p:nvSpPr>
          <p:cNvPr id="5" name="Shape 3"/>
          <p:cNvSpPr/>
          <p:nvPr/>
        </p:nvSpPr>
        <p:spPr>
          <a:xfrm>
            <a:off x="8961120" y="1417320"/>
            <a:ext cx="2681935" cy="4754880"/>
          </a:xfrm>
          <a:prstGeom prst="roundRect">
            <a:avLst>
              <a:gd name="adj" fmla="val 272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44805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Una cella libera a caso</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INVARIATO  draw_worm</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000" dirty="0">
                <a:solidFill>
                  <a:srgbClr val="E6EDF2"/>
                </a:solidFill>
                <a:latin typeface="Courier New" pitchFamily="34" charset="0"/>
                <a:ea typeface="Courier New" pitchFamily="34" charset="-122"/>
                <a:cs typeface="Courier New" pitchFamily="34" charset="-120"/>
              </a:rPr>
              <a:t>draw_worm:</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addi sp, sp, -16</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sw   ra, 12(sp)</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sw   s0, 8(sp)</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li   s0, 0                  </a:t>
            </a:r>
            <a:pPr indent="0" marL="0">
              <a:buNone/>
            </a:pPr>
            <a:r>
              <a:rPr lang="en-US" sz="1000" dirty="0">
                <a:solidFill>
                  <a:srgbClr val="8FB3A0"/>
                </a:solidFill>
                <a:latin typeface="Courier New" pitchFamily="34" charset="0"/>
                <a:ea typeface="Courier New" pitchFamily="34" charset="-122"/>
                <a:cs typeface="Courier New" pitchFamily="34" charset="-120"/>
              </a:rPr>
              <a:t># s0 = i: segment 0 is the head</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1:  la   t0, length</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lw   t1, 0(t0)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bge  s0, t1, 3f</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la   t0, head_i</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lw   t1, 0(t0)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sub  t1, t1, s0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andi t1, t1, 255            </a:t>
            </a:r>
            <a:pPr indent="0" marL="0">
              <a:buNone/>
            </a:pPr>
            <a:r>
              <a:rPr lang="en-US" sz="1000" dirty="0">
                <a:solidFill>
                  <a:srgbClr val="8FB3A0"/>
                </a:solidFill>
                <a:latin typeface="Courier New" pitchFamily="34" charset="0"/>
                <a:ea typeface="Courier New" pitchFamily="34" charset="-122"/>
                <a:cs typeface="Courier New" pitchFamily="34" charset="-120"/>
              </a:rPr>
              <a:t># ring index of segment i</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la   t0, body_x</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add  t0, t0, t1</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lbu  a0, 0(t0)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la   t0, body_y</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add  t0, t0, t1</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lbu  a1, 0(t0)</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li   a2, BODY</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bnez s0, 2f</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li   a2, GREEN              </a:t>
            </a:r>
            <a:pPr indent="0" marL="0">
              <a:buNone/>
            </a:pPr>
            <a:r>
              <a:rPr lang="en-US" sz="1000" dirty="0">
                <a:solidFill>
                  <a:srgbClr val="8FB3A0"/>
                </a:solidFill>
                <a:latin typeface="Courier New" pitchFamily="34" charset="0"/>
                <a:ea typeface="Courier New" pitchFamily="34" charset="-122"/>
                <a:cs typeface="Courier New" pitchFamily="34" charset="-120"/>
              </a:rPr>
              <a:t># the head is brighter</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2:  call draw_cell</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addi s0, s0, 1</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j    1b</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3:  lw   s0, 8(sp)</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lw   ra, 12(sp)</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addi sp, sp, 16</a:t>
            </a:r>
            <a:endParaRPr lang="en-US" sz="1000" dirty="0"/>
          </a:p>
          <a:p>
            <a:pPr indent="0" marL="0">
              <a:buNone/>
            </a:pPr>
            <a:r>
              <a:rPr lang="en-US" sz="1000" dirty="0">
                <a:solidFill>
                  <a:srgbClr val="E6EDF2"/>
                </a:solidFill>
                <a:latin typeface="Courier New" pitchFamily="34" charset="0"/>
                <a:ea typeface="Courier New" pitchFamily="34" charset="-122"/>
                <a:cs typeface="Courier New" pitchFamily="34" charset="-120"/>
              </a:rPr>
              <a:t>    ret</a:t>
            </a:r>
            <a:endParaRPr lang="en-US" sz="1000" dirty="0"/>
          </a:p>
        </p:txBody>
      </p:sp>
      <p:sp>
        <p:nvSpPr>
          <p:cNvPr id="5" name="Shape 3"/>
          <p:cNvSpPr/>
          <p:nvPr/>
        </p:nvSpPr>
        <p:spPr>
          <a:xfrm>
            <a:off x="8961120" y="1417320"/>
            <a:ext cx="2681935" cy="4754880"/>
          </a:xfrm>
          <a:prstGeom prst="roundRect">
            <a:avLst>
              <a:gd name="adj" fmla="val 272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44805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Usata solo da draw_full, una volta per nuova schermata</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INVARIATO  draw_cell</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E6EDF2"/>
                </a:solidFill>
                <a:latin typeface="Courier New" pitchFamily="34" charset="0"/>
                <a:ea typeface="Courier New" pitchFamily="34" charset="-122"/>
                <a:cs typeface="Courier New" pitchFamily="34" charset="-120"/>
              </a:rPr>
              <a:t>draw_cell:                      </a:t>
            </a:r>
            <a:pPr indent="0" marL="0">
              <a:buNone/>
            </a:pPr>
            <a:r>
              <a:rPr lang="en-US" sz="1450" dirty="0">
                <a:solidFill>
                  <a:srgbClr val="8FB3A0"/>
                </a:solidFill>
                <a:latin typeface="Courier New" pitchFamily="34" charset="0"/>
                <a:ea typeface="Courier New" pitchFamily="34" charset="-122"/>
                <a:cs typeface="Courier New" pitchFamily="34" charset="-120"/>
              </a:rPr>
              <a:t># a0 = column, a1 = row, a2 = colour</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sp, sp, -16</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sw   ra, 12(sp)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slli a0, a0, 3              </a:t>
            </a:r>
            <a:pPr indent="0" marL="0">
              <a:buNone/>
            </a:pPr>
            <a:r>
              <a:rPr lang="en-US" sz="1450" dirty="0">
                <a:solidFill>
                  <a:srgbClr val="8FB3A0"/>
                </a:solidFill>
                <a:latin typeface="Courier New" pitchFamily="34" charset="0"/>
                <a:ea typeface="Courier New" pitchFamily="34" charset="-122"/>
                <a:cs typeface="Courier New" pitchFamily="34" charset="-120"/>
              </a:rPr>
              <a:t># x = column * 8</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slli a1, a1, 3</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a1, a1, TOP            </a:t>
            </a:r>
            <a:pPr indent="0" marL="0">
              <a:buNone/>
            </a:pPr>
            <a:r>
              <a:rPr lang="en-US" sz="1450" dirty="0">
                <a:solidFill>
                  <a:srgbClr val="8FB3A0"/>
                </a:solidFill>
                <a:latin typeface="Courier New" pitchFamily="34" charset="0"/>
                <a:ea typeface="Courier New" pitchFamily="34" charset="-122"/>
                <a:cs typeface="Courier New" pitchFamily="34" charset="-120"/>
              </a:rPr>
              <a:t># y = row * 8 + 8</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mv   a4, a2                 </a:t>
            </a:r>
            <a:pPr indent="0" marL="0">
              <a:buNone/>
            </a:pPr>
            <a:r>
              <a:rPr lang="en-US" sz="1450" dirty="0">
                <a:solidFill>
                  <a:srgbClr val="8FB3A0"/>
                </a:solidFill>
                <a:latin typeface="Courier New" pitchFamily="34" charset="0"/>
                <a:ea typeface="Courier New" pitchFamily="34" charset="-122"/>
                <a:cs typeface="Courier New" pitchFamily="34" charset="-120"/>
              </a:rPr>
              <a:t># the colour is the fifth argument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a2, CELL</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a3, CELL</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call prg32_gfx_rect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lw   ra, 12(sp)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sp, sp, 16</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ret</a:t>
            </a:r>
            <a:endParaRPr lang="en-US" sz="1450" dirty="0"/>
          </a:p>
        </p:txBody>
      </p:sp>
      <p:sp>
        <p:nvSpPr>
          <p:cNvPr id="5" name="Shape 3"/>
          <p:cNvSpPr/>
          <p:nvPr/>
        </p:nvSpPr>
        <p:spPr>
          <a:xfrm>
            <a:off x="8961120" y="1417320"/>
            <a:ext cx="2681935" cy="4754880"/>
          </a:xfrm>
          <a:prstGeom prst="roundRect">
            <a:avLst>
              <a:gd name="adj" fmla="val 272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44805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Dalle celle ai pixel, dalla Parte 2</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INVARIATO  .rodata</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.section .rodata                </a:t>
            </a:r>
            <a:pPr indent="0" marL="0">
              <a:buNone/>
            </a:pPr>
            <a:r>
              <a:rPr lang="en-US" sz="1300" dirty="0">
                <a:solidFill>
                  <a:srgbClr val="8FB3A0"/>
                </a:solidFill>
                <a:latin typeface="Courier New" pitchFamily="34" charset="0"/>
                <a:ea typeface="Courier New" pitchFamily="34" charset="-122"/>
                <a:cs typeface="Courier New" pitchFamily="34" charset="-120"/>
              </a:rPr>
              <a:t># constants: they stay in the cartridge file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title:     .asciz "VERM1"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press_a:   .asciz "PRESS A"</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game_over: .asciz "GAME OVER"</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dx:        .word  1, 0, -1,  0  </a:t>
            </a:r>
            <a:pPr indent="0" marL="0">
              <a:buNone/>
            </a:pPr>
            <a:r>
              <a:rPr lang="en-US" sz="1300" dirty="0">
                <a:solidFill>
                  <a:srgbClr val="8FB3A0"/>
                </a:solidFill>
                <a:latin typeface="Courier New" pitchFamily="34" charset="0"/>
                <a:ea typeface="Courier New" pitchFamily="34" charset="-122"/>
                <a:cs typeface="Courier New" pitchFamily="34" charset="-120"/>
              </a:rPr>
              <a:t># right, down, left, up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dy:        .word  0, 1,  0, -1</a:t>
            </a:r>
            <a:endParaRPr lang="en-US" sz="1300" dirty="0"/>
          </a:p>
        </p:txBody>
      </p:sp>
      <p:sp>
        <p:nvSpPr>
          <p:cNvPr id="5" name="Shape 3"/>
          <p:cNvSpPr/>
          <p:nvPr/>
        </p:nvSpPr>
        <p:spPr>
          <a:xfrm>
            <a:off x="8961120" y="1417320"/>
            <a:ext cx="2681935" cy="4754880"/>
          </a:xfrm>
          <a:prstGeom prst="roundRect">
            <a:avLst>
              <a:gd name="adj" fmla="val 272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44805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Stringhe e tabelle</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Eseguite: che cosa dovreste vedere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203530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Sullo schermo</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il gioco finito: il punteggio e il punteggio migliore in cifre, un verme che va più veloce al crescere del punteggio, una nota breve per un pasto e una lunga e grave per la fine.</a:t>
            </a:r>
            <a:endParaRPr lang="en-US" sz="2400" dirty="0"/>
          </a:p>
        </p:txBody>
      </p:sp>
      <p:sp>
        <p:nvSpPr>
          <p:cNvPr id="5" name="Shape 3"/>
          <p:cNvSpPr/>
          <p:nvPr/>
        </p:nvSpPr>
        <p:spPr>
          <a:xfrm>
            <a:off x="548640" y="421462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4092702"/>
            <a:ext cx="5468112" cy="1059180"/>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Che cosa premere</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A avvia una partita; guidate con il joystick</a:t>
            </a:r>
            <a:endParaRPr lang="en-US" sz="2400" dirty="0"/>
          </a:p>
        </p:txBody>
      </p:sp>
      <p:pic>
        <p:nvPicPr>
          <p:cNvPr id="7" name="Image 0" descr="/Users/raffaelemontella/devel/riscv-prg32/computer-architecture-with-prg32/tools/assets/verm1_p4_play.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Il frame scritto dal test automatico su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Provatelo su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verm1 --name verm1 --out verm1.prg32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verm1.prg32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deve essere in esecuzione: risponde sulla porta 8080, come una scheda</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Si compila una volta, dalla cartella PRG32, con ESP-IDF attivo nel terminale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memorizza la cartuccia nello slot cart0 e la avvia</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Modalità debug, in Settings: fermare il programma, leggere registri e memoria</a:t>
            </a:r>
            <a:endParaRPr lang="en-US" sz="1200" dirty="0"/>
          </a:p>
        </p:txBody>
      </p:sp>
      <p:sp>
        <p:nvSpPr>
          <p:cNvPr id="17" name="Shape 15"/>
          <p:cNvSpPr/>
          <p:nvPr/>
        </p:nvSpPr>
        <p:spPr>
          <a:xfrm>
            <a:off x="7875600" y="91440"/>
            <a:ext cx="3767455" cy="274320"/>
          </a:xfrm>
          <a:prstGeom prst="rect">
            <a:avLst/>
          </a:prstGeom>
          <a:solidFill>
            <a:srgbClr val="FEF3C7"/>
          </a:solidFill>
          <a:ln w="12700">
            <a:solidFill>
              <a:srgbClr val="B45309"/>
            </a:solidFill>
            <a:prstDash val="solid"/>
          </a:ln>
        </p:spPr>
      </p:sp>
      <p:sp>
        <p:nvSpPr>
          <p:cNvPr id="18" name="Shape 16"/>
          <p:cNvSpPr/>
          <p:nvPr/>
        </p:nvSpPr>
        <p:spPr>
          <a:xfrm>
            <a:off x="7875600" y="91440"/>
            <a:ext cx="27432" cy="274320"/>
          </a:xfrm>
          <a:prstGeom prst="rect">
            <a:avLst/>
          </a:prstGeom>
          <a:solidFill>
            <a:srgbClr val="B45309"/>
          </a:solidFill>
          <a:ln w="12700">
            <a:solidFill>
              <a:srgbClr val="B45309"/>
            </a:solidFill>
            <a:prstDash val="solid"/>
          </a:ln>
        </p:spPr>
      </p:sp>
      <p:sp>
        <p:nvSpPr>
          <p:cNvPr id="19" name="Shape 17"/>
          <p:cNvSpPr/>
          <p:nvPr/>
        </p:nvSpPr>
        <p:spPr>
          <a:xfrm>
            <a:off x="7930464"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21" name="Text 18"/>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Provatelo su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verm1 --name verm1 --architecture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verm1-qemu.prg32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verm1-qemu.prg32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L'emulatore esegue il firmware vero su un chip emulato: si compila una volta</a:t>
            </a:r>
            <a:endParaRPr lang="en-US" sz="11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La cartuccia è compilata per l'architettura qemu: lo stesso sorgente, un altro file</a:t>
            </a:r>
            <a:endParaRPr lang="en-US" sz="11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Si carica la cartuccia con QEMU chiuso, poi lo si avvia e si sceglie Run Cartridge</a:t>
            </a:r>
            <a:endParaRPr lang="en-US" sz="11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I tasti vanno al terminale: frecce o WASD, Z o J per A, X o K per B</a:t>
            </a:r>
            <a:endParaRPr lang="en-US" sz="1100" dirty="0"/>
          </a:p>
        </p:txBody>
      </p:sp>
      <p:sp>
        <p:nvSpPr>
          <p:cNvPr id="17" name="Shape 15"/>
          <p:cNvSpPr/>
          <p:nvPr/>
        </p:nvSpPr>
        <p:spPr>
          <a:xfrm>
            <a:off x="7875600" y="91440"/>
            <a:ext cx="3767455" cy="274320"/>
          </a:xfrm>
          <a:prstGeom prst="rect">
            <a:avLst/>
          </a:prstGeom>
          <a:solidFill>
            <a:srgbClr val="FEF3C7"/>
          </a:solidFill>
          <a:ln w="12700">
            <a:solidFill>
              <a:srgbClr val="B45309"/>
            </a:solidFill>
            <a:prstDash val="solid"/>
          </a:ln>
        </p:spPr>
      </p:sp>
      <p:sp>
        <p:nvSpPr>
          <p:cNvPr id="18" name="Shape 16"/>
          <p:cNvSpPr/>
          <p:nvPr/>
        </p:nvSpPr>
        <p:spPr>
          <a:xfrm>
            <a:off x="7875600" y="91440"/>
            <a:ext cx="27432" cy="274320"/>
          </a:xfrm>
          <a:prstGeom prst="rect">
            <a:avLst/>
          </a:prstGeom>
          <a:solidFill>
            <a:srgbClr val="B45309"/>
          </a:solidFill>
          <a:ln w="12700">
            <a:solidFill>
              <a:srgbClr val="B45309"/>
            </a:solidFill>
            <a:prstDash val="solid"/>
          </a:ln>
        </p:spPr>
      </p:sp>
      <p:sp>
        <p:nvSpPr>
          <p:cNvPr id="19" name="Shape 17"/>
          <p:cNvSpPr/>
          <p:nvPr/>
        </p:nvSpPr>
        <p:spPr>
          <a:xfrm>
            <a:off x="7930464"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21" name="Text 18"/>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Provatelo sulla scheda</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verm1 --name verm1 --architecture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verm1-esp32c6.prg32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verm1-esp32c6.prg32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Il firmware si scrive una volta per scheda, attraverso il cavo USB</a:t>
            </a:r>
            <a:endParaRPr lang="en-US" sz="11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La scheda crea la rete Wi-Fi PRG32: collegatevi con il vostro computer</a:t>
            </a:r>
            <a:endParaRPr lang="en-US" sz="11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Lo stesso comando di caricamento di PRG32-QT, con l'indirizzo della scheda</a:t>
            </a:r>
            <a:endParaRPr lang="en-US" sz="11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Schermo nero: confrontate il cablaggio del display con il firmware</a:t>
            </a:r>
            <a:endParaRPr lang="en-US" sz="1100" dirty="0"/>
          </a:p>
        </p:txBody>
      </p:sp>
      <p:sp>
        <p:nvSpPr>
          <p:cNvPr id="17" name="Shape 15"/>
          <p:cNvSpPr/>
          <p:nvPr/>
        </p:nvSpPr>
        <p:spPr>
          <a:xfrm>
            <a:off x="7875600" y="91440"/>
            <a:ext cx="3767455" cy="274320"/>
          </a:xfrm>
          <a:prstGeom prst="rect">
            <a:avLst/>
          </a:prstGeom>
          <a:solidFill>
            <a:srgbClr val="FEF3C7"/>
          </a:solidFill>
          <a:ln w="12700">
            <a:solidFill>
              <a:srgbClr val="B45309"/>
            </a:solidFill>
            <a:prstDash val="solid"/>
          </a:ln>
        </p:spPr>
      </p:sp>
      <p:sp>
        <p:nvSpPr>
          <p:cNvPr id="18" name="Shape 16"/>
          <p:cNvSpPr/>
          <p:nvPr/>
        </p:nvSpPr>
        <p:spPr>
          <a:xfrm>
            <a:off x="7875600" y="91440"/>
            <a:ext cx="27432" cy="274320"/>
          </a:xfrm>
          <a:prstGeom prst="rect">
            <a:avLst/>
          </a:prstGeom>
          <a:solidFill>
            <a:srgbClr val="B45309"/>
          </a:solidFill>
          <a:ln w="12700">
            <a:solidFill>
              <a:srgbClr val="B45309"/>
            </a:solidFill>
            <a:prstDash val="solid"/>
          </a:ln>
        </p:spPr>
      </p:sp>
      <p:sp>
        <p:nvSpPr>
          <p:cNvPr id="19" name="Shape 17"/>
          <p:cNvSpPr/>
          <p:nvPr/>
        </p:nvSpPr>
        <p:spPr>
          <a:xfrm>
            <a:off x="7930464"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21" name="Text 18"/>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Se non funziona</a:t>
            </a:r>
            <a:endParaRPr lang="en-US" sz="32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Vedete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Significa</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Fate così</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manca un punto di ingresso</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il prefisso non è quello del sorgente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verm1; controllate le tre righe .global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non è attivo in questo terminale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eseguite export.sh, o aprite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l'host non ascolta a quell'indirizzo</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avviate PRG32-QT; usate l'indirizzo della sua schermata Setup</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schermo nero, o di nuovo il menu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una funzione non ritorna, o ra non è stato salvato</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modalità debug: passo-passo in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ignora i tasti</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la tastiera va al terminale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fate clic sul terminale che ha lanciato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7875600" y="91440"/>
            <a:ext cx="3767455" cy="274320"/>
          </a:xfrm>
          <a:prstGeom prst="rect">
            <a:avLst/>
          </a:prstGeom>
          <a:solidFill>
            <a:srgbClr val="FEF3C7"/>
          </a:solidFill>
          <a:ln w="12700">
            <a:solidFill>
              <a:srgbClr val="B45309"/>
            </a:solidFill>
            <a:prstDash val="solid"/>
          </a:ln>
        </p:spPr>
      </p:sp>
      <p:sp>
        <p:nvSpPr>
          <p:cNvPr id="5" name="Shape 2"/>
          <p:cNvSpPr/>
          <p:nvPr/>
        </p:nvSpPr>
        <p:spPr>
          <a:xfrm>
            <a:off x="7875600" y="91440"/>
            <a:ext cx="27432" cy="274320"/>
          </a:xfrm>
          <a:prstGeom prst="rect">
            <a:avLst/>
          </a:prstGeom>
          <a:solidFill>
            <a:srgbClr val="B45309"/>
          </a:solidFill>
          <a:ln w="12700">
            <a:solidFill>
              <a:srgbClr val="B45309"/>
            </a:solidFill>
            <a:prstDash val="solid"/>
          </a:ln>
        </p:spPr>
      </p:sp>
      <p:sp>
        <p:nvSpPr>
          <p:cNvPr id="6" name="Shape 3"/>
          <p:cNvSpPr/>
          <p:nvPr/>
        </p:nvSpPr>
        <p:spPr>
          <a:xfrm>
            <a:off x="7930464"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8" name="Text 4"/>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Fatelo vostro</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PROVA TU</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Una pausa: il pulsante B ferma il gioco e scrive PAUSE; di nuovo B lo riprende. Un quarto stato</a:t>
            </a:r>
            <a:endParaRPr lang="en-US" sz="2400" dirty="0"/>
          </a:p>
        </p:txBody>
      </p:sp>
      <p:sp>
        <p:nvSpPr>
          <p:cNvPr id="6" name="Text 4"/>
          <p:cNvSpPr txBox="1"/>
          <p:nvPr/>
        </p:nvSpPr>
        <p:spPr>
          <a:xfrm>
            <a:off x="548640" y="23459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327656"/>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Una melodia nella schermata del titolo: una tabella di note in .rodata, una nota ogni 15 frame</a:t>
            </a:r>
            <a:endParaRPr lang="en-US" sz="2400" dirty="0"/>
          </a:p>
        </p:txBody>
      </p:sp>
      <p:sp>
        <p:nvSpPr>
          <p:cNvPr id="8" name="Text 6"/>
          <p:cNvSpPr txBox="1"/>
          <p:nvPr/>
        </p:nvSpPr>
        <p:spPr>
          <a:xfrm>
            <a:off x="548640" y="32562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237992"/>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Cibo bonus: un pezzo su cinque è giallo, vale tre punti, e scompare dopo 100 frame</a:t>
            </a:r>
            <a:endParaRPr lang="en-US" sz="2400" dirty="0"/>
          </a:p>
        </p:txBody>
      </p:sp>
      <p:sp>
        <p:nvSpPr>
          <p:cNvPr id="10" name="Text 8"/>
          <p:cNvSpPr txBox="1"/>
          <p:nvPr/>
        </p:nvSpPr>
        <p:spPr>
          <a:xfrm>
            <a:off x="548640" y="41666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4148328"/>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I vostri colori con prg32_palette_set, o le vostre regole: ora il gioco è vostro</a:t>
            </a:r>
            <a:endParaRPr lang="en-US" sz="2400" dirty="0"/>
          </a:p>
        </p:txBody>
      </p:sp>
      <p:sp>
        <p:nvSpPr>
          <p:cNvPr id="12" name="Shape 10"/>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3" name="Text 11"/>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Risultato atteso</a:t>
            </a:r>
            <a:endParaRPr lang="en-US" sz="1300" dirty="0"/>
          </a:p>
        </p:txBody>
      </p:sp>
      <p:sp>
        <p:nvSpPr>
          <p:cNvPr id="14" name="Text 12"/>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La versione che pubblicherete nella Lezione 23 dovrebbe avere qualcosa di vostro. Cambiate anche la stringa del titolo.</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Verm1, parte 4: il gioco finito: il codice</dc:title>
  <dc:subject>Lezione 22</dc:subject>
  <dc:creator>Raffaele Montella</dc:creator>
  <cp:lastModifiedBy>Raffaele Montella</cp:lastModifiedBy>
  <cp:revision>1</cp:revision>
  <dcterms:created xsi:type="dcterms:W3CDTF">2026-10-16T23:36:45Z</dcterms:created>
  <dcterms:modified xsi:type="dcterms:W3CDTF">2026-10-16T23:36:45Z</dcterms:modified>
</cp:coreProperties>
</file>