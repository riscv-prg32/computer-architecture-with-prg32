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1c35cc2a-d6fb-8ef6-7ed6-43e8204e027d}">
          <p14:sldIdLst>
            <p14:sldId id="256"/>
            <p14:sldId id="257"/>
          </p14:sldIdLst>
        </p14:section>
        <p14:section name="Riscaldamento sulla macchina" id="{7aec510c-eabf-12f2-a1d2-3392c23ac4fe}">
          <p14:sldIdLst>
            <p14:sldId id="258"/>
          </p14:sldIdLst>
        </p14:section>
        <p14:section name="Il programma completo" id="{1ba3d9b6-7d9e-d7f2-9f32-f44ded1db071}">
          <p14:sldIdLst>
            <p14:sldId id="259"/>
            <p14:sldId id="260"/>
          </p14:sldIdLst>
        </p14:section>
        <p14:section name="Eseguire e provare" id="{cd9a533c-d2d2-f187-4448-dd3ad7ad80e6}">
          <p14:sldIdLst>
            <p14:sldId id="261"/>
            <p14:sldId id="262"/>
            <p14:sldId id="263"/>
            <p14:sldId id="264"/>
            <p14:sldId id="265"/>
          </p14:sldIdLst>
        </p14:section>
        <p14:section name="Esercizi" id="{1e0accbc-95c5-4211-0da3-65048ce91b94}">
          <p14:sldIdLst>
            <p14:sldId id="26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Questa è la presentazione del codice della Lezione 20. Mentre la presentazione della lezione sviluppa i concetti, questa raccoglie tutto ciò che si scrive e si esegue: ogni listato con il suo commento, il programma completo della lezione, il risultato che deve produrre, e la procedura per provarlo su ciascuno dei tre host. Le due presentazioni vanno lette insieme: i concetti spiegano il codice, e il codice dà ai concetti una conseguenza osservabile.
Stato di apprendimento: DA COMPRENDERE OGGI, alla fine di questa lezione lo spiegate, lo seguite passo passo e lo applicate da soli; DA UTILIZZARE OGGI, oggi seguite e usate la ricetta; come funziona dentro si spiega più avanti, o non fa parte del corso; DA COMPRENDERE PIÙ AVANTI, riconoscete il nome e lo scopo; lo spiega una lezione successiva. Una slide senza etichetta è contesto: una storia, un esempio, una domanda, un esercizio.
Stato di apprendimento di questa lezione. DA COMPRENDERE OGGI: il frame buffer; i controllori delle periferiche; bus e banda; la scheda video; GPU e GPGPU. DA UTILIZZARE OGGI: il programma completo, gli strumenti di PRG32 (si usa, non si studia, in questo corso). DA COMPRENDERE PIÙ AVANTI: niente. Una slide senza etichetta è contesto: una storia, un esempio, una domanda, un esercizio.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contenuto della presentazione, nell'ordine delle slide. Il programma della lezione è un file sorgente completo, che si può compilare ed eseguire così com'è. Il percorso consigliato è eseguirlo per primo, osservarne il comportamento, e poi tornare ai singoli listati per capire come ciascuna parte contribuisce a quel comportamento. Il programma di questa lezione è ~/arc12/code/l20.S; tools/tests/cartridges/run.py lo compila, lo esegue su PRG32-QT con ingressi programmati e controlla i pixel del frame.
Per il docente: Procurarsi il codice una volta: git clone https://github.com/riscv-prg32/computer-architecture-with-prg32 ~/arc12. Il programma di questa lezione è ~/arc12/code/l20.S; tools/tests/cartridges/run.py lo compila, lo esegue su PRG32-QT con ingressi programmati e controlla i pixel del frame. Ogni listato di queste slide è letto dalla compilazione da un file provato, o verificato da tools/tests: si veda il suo README.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riscaldamento. Le prime quattro righe appartengono al programma: x in a0, y in a1, un colore in a2, e una chiamata a prg32_gfx_pixel. La seconda metà mostra in linea di principio, non come sorgente letterale del runtime, che cosa se ne fa: y si moltiplica per 320, si somma x, si somma l'indirizzo base del frame buffer, e lì si memorizza un byte. Lo schermo è quindi un array in memoria con un elemento per pixel, e disegnare un pixel è un'istruzione di memorizzazione. Nulla compare finché il frame non viene trasmesso al display. In un PC, conservare il frame e trasmetterlo sono le due funzioni della scheda video.
DA COMPRENDERE OGGI: il frame buffer.
Per il docente: La seconda metà è uno schema di principio, non il sorgente del runtime: t3 sta per l'indice di palette che il runtime ricava dal colore RGB565 in a2. Sull'ESP32-C6 il frame buffer di PRG32 è di 320 x 200 byte, un indice di palette per pixel (docs/hardware/ili9341.md).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riprodotta esattamente com'è nel repository. Va letta dall'inizio. L'intestazione dice che cosa mostra il programma e come si compila; seguono i tre punti di ingresso, init, update e draw, e le sezioni dei dati chiudono il file. Le righe già incontrate nei listati della lezione hanno qui gli stessi commenti, così che ogni frammento si possa ritrovare nell'insieme.
DA UTILIZZARE OGGI: il programma completo (si usa, non si studia, in questo corso).
Per il docente: code/l20.S,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Una pagina del programma completo, riprodotta esattamente com'è nel repository. Va letta dall'inizio. L'intestazione dice che cosa mostra il programma e come si compila; seguono i tre punti di ingresso, init, update e draw, e le sezioni dei dati chiudono il file. Le righe già incontrate nei listati della lezione hanno qui gli stessi commenti, così che ogni frammento si possa ritrovare nell'insieme.
DA UTILIZZARE OGGI: il programma completo (si usa, non si studia, in questo corso).
Per il docente: code/l20.S, come viene compilato ed eseguito dai test. I commenti fanno parte del programma, e sono in inglese come in tutti i listati: leggeteli con il codice.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comportamento atteso del programma, e l'ingresso che richiede. Il risultato va previsto prima di eseguire: ogni differenza tra la previsione e lo schermo è un'informazione sul proprio modello della macchina, e conviene spiegarla prima di correggerla. L'immagine è stata prodotta dal test automatico, non disegnata a mano.
Per il docente: L'immagine è il frame che l'esecutore senza interfaccia di PRG32-QT ha prodotto nel test di questo programma. Su QEMU e sulla scheda l'area di gioco è la stessa, 320 per 200 pixel, tra le due bande di stato.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via più diretta: PRG32-QT sul proprio computer, in quattro passi, ciascuno con il suo comando. Per gli strumenti PRG32-QT si presenta come una scheda in ascolto sulla porta 8080, ed è per questo che il comando di caricamento nomina l'esp32c6. Con la modalità debug attiva si può fermare l'esecuzione su qualsiasi istruzione e ispezionare registri e memoria.
DA UTILIZZARE OGGI: gli strumenti di PRG32 (si usa, non si studia, in questo corso).
Per il docente: Eseguito dai test: la cartuccia di questa slide è compilata con questo comando ed eseguita sull'esecutore senza interfaccia di PRG32-QT. Senza la toolchain: importate il file .prg32 in PRG32-QT e scegliete Run Cartridge. Tasti: frecce o WASD per il joystick, Z o J per A, X o K per B, Invio per Start, Esc per tornare a Setup.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sull'emulatore. QEMU esegue il firmware vero su un chip emulato, quindi la cartuccia va compilata per l'architettura qemu e caricata mentre QEMU non è in esecuzione. Il firmware si avvia sul menu Setup, da cui si scelgono Run Cartridge e lo slot. La tastiera è letta dal terminale da cui QEMU è stato avviato, non dalla finestra che mostra l'immagine.
DA UTILIZZARE OGGI: gli strumenti di PRG32 (si usa, non si studia, in questo corso).
Per il docente: Verificato dai test fino al caricamento: la cartuccia è compilata per l'architettura qemu e accettata nell'immagine flash dell'emulatore. Ciò che l'emulatore poi mostra non è verificato automaticamente: il QEMU di Espressif ha bisogno della sua finestra. Dall'ottobre 2026 il firmware parte da Setup: scegliete Run Cartridge, poi cart0.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stesso programma sul kit fisico. Il firmware si scrive una volta, via USB; da quel momento le cartucce viaggiano sul Wi-Fi con lo stesso comando di caricamento usato per PRG32-QT, indirizzato alla scheda. È l'unico host non esercitato dai test automatici, quindi le osservazioni fatte sulla scheda sono particolarmente preziose e vanno riferite.
DA UTILIZZARE OGGI: gli strumenti di PRG32 (si usa, non si studia, in questo corso).
Per il docente: Non eseguito dai test: sulla macchina di prova non c'è una scheda. La cartuccia per l'architettura esp32c6 è compilata dai test; i passi sono quelli della documentazione di PRG32. Se la porta seriale non viene trovata, passatela esplicitamente. Per usare il Wi-Fi dell'aula: python3 -m prg32 wifi set --ssid NOME --password PASSWORD --mode sta.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cinque sintomi più frequenti, il loro significato e il rimedio. Il messaggio di errore va letto per intero prima di cambiare qualsiasi cosa: quasi sempre nomina la causa. Quando si chiede aiuto, vanno riportati alla lettera il comando e il messaggio completo.
DA UTILIZZARE OGGI: gli strumenti di PRG32 (si usa, non si studia, in questo corso).
Per il docente: Le prime tre righe coprono la maggior parte dei casi. Quando chiedete aiuto, incollate il comando e l'intero messaggio come testo. docs/usage/troubleshooting.md del repository di PRG32 ha l'elenco completo.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esercizi. Calcolare la memoria di un frame 4K in True Color e i byte al secondo richiesti a 60 frame al secondo. Calcolare quanto impiega il bus del display di PRG32 a inviare 20 righe. Disegnare una linea diagonale pixel per pixel. Riempire lo schermo una volta con una sola chiamata e una volta con 64.000 chiamate, e confrontare i frame al secondo, il che rende quantitativo il costo delle chiamate per pixel. Infine modificare una voce della palette a ogni frame: ogni pixel che la usa cambia insieme agli altri senza essere ridisegnato, il che dimostra la potenza dell'indirezione che un frame buffer indicizzato offre.
Per il docente: L'ultimo esercizio mostra perché il colore indicizzato piaceva tanto ai programmatori di giochi: uno store cambia migliaia di pixel. Chiamate dell'API dall'appendice del libro (prg32_palette_set, prg32_gfx_clear, prg32_gfx_pixel).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20: La scheda video (codice)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20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 bus e la scheda video: il codice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codice: ogni listato spiegato, il programma completo, e come provarlo su PRG32-QT, su QEMU e sulla scheda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4693615" y="566928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 codice. I concetti, le figure e le domande sono nella presentazione della lezione:</a:t>
            </a:r>
            <a:endParaRPr lang="en-US" sz="1300" dirty="0"/>
          </a:p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20-Architettura_dei_Calcolatori-Scheda_Video.pptx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3" name="Image 0" descr="/Users/raffaelemontella/devel/riscv-prg32/computer-architecture-with-prg32/tools/assets/game_raycast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15095" y="4251960"/>
            <a:ext cx="2438400" cy="1828800"/>
          </a:xfrm>
          <a:prstGeom prst="rect">
            <a:avLst/>
          </a:prstGeom>
        </p:spPr>
      </p:pic>
      <p:sp>
        <p:nvSpPr>
          <p:cNvPr id="14" name="Shape 11"/>
          <p:cNvSpPr/>
          <p:nvPr/>
        </p:nvSpPr>
        <p:spPr>
          <a:xfrm>
            <a:off x="8910777" y="91440"/>
            <a:ext cx="2732278" cy="274320"/>
          </a:xfrm>
          <a:prstGeom prst="rect">
            <a:avLst/>
          </a:prstGeom>
          <a:solidFill>
            <a:srgbClr val="F3E8FF"/>
          </a:solidFill>
          <a:ln w="12700">
            <a:solidFill>
              <a:srgbClr val="7E22CE"/>
            </a:solidFill>
            <a:prstDash val="dash"/>
          </a:ln>
        </p:spPr>
      </p:sp>
      <p:sp>
        <p:nvSpPr>
          <p:cNvPr id="15" name="Shape 12"/>
          <p:cNvSpPr/>
          <p:nvPr/>
        </p:nvSpPr>
        <p:spPr>
          <a:xfrm>
            <a:off x="8938209" y="128016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6" name="Shape 13"/>
          <p:cNvSpPr/>
          <p:nvPr/>
        </p:nvSpPr>
        <p:spPr>
          <a:xfrm>
            <a:off x="8938209" y="205740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938209" y="283464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pic>
        <p:nvPicPr>
          <p:cNvPr id="18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8793" y="128016"/>
            <a:ext cx="201168" cy="201168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9294825" y="91440"/>
            <a:ext cx="23116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PIÙ AVANTI</a:t>
            </a:r>
            <a:endParaRPr lang="en-US" sz="1100" dirty="0"/>
          </a:p>
        </p:txBody>
      </p:sp>
      <p:sp>
        <p:nvSpPr>
          <p:cNvPr id="20" name="Shape 16"/>
          <p:cNvSpPr/>
          <p:nvPr/>
        </p:nvSpPr>
        <p:spPr>
          <a:xfrm>
            <a:off x="6675069" y="91440"/>
            <a:ext cx="2125980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1" name="Shape 17"/>
          <p:cNvSpPr/>
          <p:nvPr/>
        </p:nvSpPr>
        <p:spPr>
          <a:xfrm>
            <a:off x="667506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72993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085" y="128016"/>
            <a:ext cx="201168" cy="201168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7059117" y="91440"/>
            <a:ext cx="17053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endParaRPr lang="en-US" sz="1100" dirty="0"/>
          </a:p>
        </p:txBody>
      </p:sp>
      <p:sp>
        <p:nvSpPr>
          <p:cNvPr id="25" name="Shape 20"/>
          <p:cNvSpPr/>
          <p:nvPr/>
        </p:nvSpPr>
        <p:spPr>
          <a:xfrm>
            <a:off x="4352747" y="91440"/>
            <a:ext cx="2212594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6" name="Shape 21"/>
          <p:cNvSpPr/>
          <p:nvPr/>
        </p:nvSpPr>
        <p:spPr>
          <a:xfrm>
            <a:off x="435274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763" y="128016"/>
            <a:ext cx="201168" cy="201168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4736795" y="91440"/>
            <a:ext cx="17919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questa presentazione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58544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540256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listato della Lezione 20: leggete il codice, poi le osservazioni numerate a fianco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69748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67919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programma completo: code/l20.S, 32 righe, stampato per intero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59359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575304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dovreste vedere quando gira, verificato sull'esecutore senza interfaccia di PRG32-QT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473252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4714240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 provarlo, passo per passo: su PRG32-QT, su QEMU, sulla scheda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62864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5610352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Gli esercizi: modificare il programma, prevedere, eseguire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pixel, per favore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740664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694944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100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x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50   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y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0xf800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red, in RGB565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prg32_gfx_pixel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... where does it go?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what the runtime does, in principle: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t0, 320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mul  t1, a1, t0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y * 320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t1, t1, a0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+ x  =  position in the frame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la   t2, framebuffer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  t2, t2, t1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ADDRESS of that pixel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sb   t3, 0(t2)           </a:t>
            </a:r>
            <a:pPr indent="0" marL="0">
              <a:buNone/>
            </a:pPr>
            <a:r>
              <a:rPr lang="en-US" sz="13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store its palette index (one byte)</a:t>
            </a:r>
            <a:endParaRPr lang="en-US" sz="1350" dirty="0"/>
          </a:p>
        </p:txBody>
      </p:sp>
      <p:sp>
        <p:nvSpPr>
          <p:cNvPr id="5" name="Shape 3"/>
          <p:cNvSpPr/>
          <p:nvPr/>
        </p:nvSpPr>
        <p:spPr>
          <a:xfrm>
            <a:off x="8229600" y="1417320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39419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8915400" y="1554480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schermo è un array in memoria, un elemento per pixel: il frame buffer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229600" y="2656332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839419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8915400" y="2793492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Disegnare un pixel è un'istruzione di store all'indirizzo base + y x 320 + x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229600" y="3895344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39419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8915400" y="4032504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compare nulla finché il frame non viene inviato al display: prg32_gfx_present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229600" y="5134356"/>
            <a:ext cx="341345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39419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8915400" y="5271516"/>
            <a:ext cx="254477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un PC questi due compiti, conservare il frame e inviarlo al monitor, spettano alla scheda video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248599" y="91440"/>
            <a:ext cx="3394456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8248599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376615" y="128016"/>
            <a:ext cx="201168" cy="201168"/>
          </a:xfrm>
          <a:prstGeom prst="rect">
            <a:avLst/>
          </a:prstGeom>
        </p:spPr>
      </p:pic>
      <p:sp>
        <p:nvSpPr>
          <p:cNvPr id="20" name="Text 17"/>
          <p:cNvSpPr txBox="1"/>
          <p:nvPr/>
        </p:nvSpPr>
        <p:spPr>
          <a:xfrm>
            <a:off x="8632647" y="91440"/>
            <a:ext cx="29738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frame buffer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l20.S (1 di 2)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ARC12 Computer Architecture - Lecture 20: Buses and the Video Card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l20.S: one pixel, please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On the screen: a single red pixel at x = 100, y = 50 on a black screen. Look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closely.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Build: python3 -m prg32 cartridge build l20.S --portable \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           --entry-prefix l20 --name l20 --out l20.prg32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.option norelax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.section .text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l20_init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l20_update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.global l20_draw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l20_init: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l20_update:</a:t>
            </a:r>
            <a:endParaRPr lang="en-US" sz="1500" dirty="0"/>
          </a:p>
          <a:p>
            <a:pPr indent="0" marL="0">
              <a:buNone/>
            </a:pPr>
            <a:r>
              <a:rPr lang="en-US" sz="15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programma completo: l20.S (2 di 2)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11094415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10637215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l20_draw: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-16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sw   ra, 12(sp)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0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prg32_gfx_clear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a0, 100   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x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a1, 50    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y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li   a2, 0xf800     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red, in RGB565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call prg32_gfx_pixel     </a:t>
            </a:r>
            <a:pPr indent="0" marL="0">
              <a:buNone/>
            </a:pPr>
            <a:r>
              <a:rPr lang="en-US" sz="180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... where does it go?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lw   ra, 12(sp)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addi sp, sp, 16</a:t>
            </a:r>
            <a:endParaRPr lang="en-US" sz="1800" dirty="0"/>
          </a:p>
          <a:p>
            <a:pPr indent="0" marL="0">
              <a:buNone/>
            </a:pPr>
            <a:r>
              <a:rPr lang="en-US" sz="180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ret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7941259" y="91440"/>
            <a:ext cx="3701796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94125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9612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69275" y="128016"/>
            <a:ext cx="201168" cy="201168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325307" y="91440"/>
            <a:ext cx="32811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programma completo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Eseguite: che cosa dovreste vedere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72212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600200"/>
            <a:ext cx="5468112" cy="138455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Sullo schermo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un solo pixel rosso a x = 100, y = 50 su uno schermo nero. Guardate da vicino.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548640" y="3563874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3441954"/>
            <a:ext cx="5468112" cy="733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4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 cosa premere</a:t>
            </a:r>
            <a:endParaRPr lang="en-US" sz="24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niente: il programma va da solo</a:t>
            </a:r>
            <a:endParaRPr lang="en-US" sz="2400" dirty="0"/>
          </a:p>
        </p:txBody>
      </p:sp>
      <p:pic>
        <p:nvPicPr>
          <p:cNvPr id="7" name="Image 0" descr="/Users/raffaelemontella/devel/riscv-prg32/computer-architecture-with-prg32/tools/assets/lab_l2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66560" y="2042255"/>
            <a:ext cx="4876495" cy="304781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6766560" y="5788152"/>
            <a:ext cx="487649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frame scritto dal test automatico su PRG32-QT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PRG32-QT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start PRG32-QT on this computer (it listens on port 8080)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in the PRG32 folder, with ESP-IDF active: build the cartridge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~/arc12/code/l20.S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l20 --name l20 --out l20.prg32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send it to PRG32-QT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l20.prg32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http://localhost:8080 --slot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look, press, compare with the previous slide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PRG32-QT deve essere in esecuzione: risponde sulla porta 8080, come una scheda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compila una volta, dalla cartella PRG32, con ESP-IDF attivo nel terminale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upload-and-run memorizza la cartuccia nello slot cart0 e la avvia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Modalità debug, in Settings: fermare il programma, leggere registri e memoria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 QEMU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once: build the firmware for QEMU (several minutes)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build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build the cartridge for the emulated chip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~/arc12/code/l20.S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l20 --name l20 --architecture qemu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l20-qemu.prg32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with QEMU closed, stage the cartridge into its flash image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upload l20-qemu.prg32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start the emulator; on Setup choose Run Cartridge, then cart0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qemu run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L'emulatore esegue il firmware vero su un chip emulato: si compila una volta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cartuccia è compilata per l'architettura qemu: lo stesso sorgente, un altro file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carica la cartuccia con QEMU chiuso, poi lo si avvia e si sceglie Run Cartridge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tasti vanno al terminale: frecce o WASD, Z o J per A, X o K per B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Provatelo sulla scheda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8138160" cy="4754880"/>
          </a:xfrm>
          <a:prstGeom prst="roundRect">
            <a:avLst>
              <a:gd name="adj" fmla="val 1538"/>
            </a:avLst>
          </a:prstGeom>
          <a:solidFill>
            <a:srgbClr val="12202B"/>
          </a:solidFill>
          <a:ln w="12700">
            <a:solidFill>
              <a:srgbClr val="12202B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00200"/>
            <a:ext cx="7680960" cy="4389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1. once per board: write the firmware through the USB cable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build-and-flash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2. join the Wi-Fi network of the board: PRG32, password prg32game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3. build the cartridge for the board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cartridge build ~/arc12/code/l20.S --portable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--entry-prefix l20 --name l20 --architecture esp32c6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--out l20-esp32c6.prg32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 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8FB3A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4. send it over Wi-Fi and start it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python3 -m prg32 esp32c6 upload-and-run l20-esp32c6.prg32 \</a:t>
            </a:r>
            <a:endParaRPr lang="en-US" sz="1450" dirty="0"/>
          </a:p>
          <a:p>
            <a:pPr indent="0" marL="0">
              <a:buNone/>
            </a:pPr>
            <a:r>
              <a:rPr lang="en-US" sz="1450" dirty="0">
                <a:solidFill>
                  <a:srgbClr val="E6EDF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   --url http://192.168.4.1 --slot cart0</a:t>
            </a:r>
            <a:endParaRPr lang="en-US" sz="1450" dirty="0"/>
          </a:p>
        </p:txBody>
      </p:sp>
      <p:sp>
        <p:nvSpPr>
          <p:cNvPr id="5" name="Shape 3"/>
          <p:cNvSpPr/>
          <p:nvPr/>
        </p:nvSpPr>
        <p:spPr>
          <a:xfrm>
            <a:off x="8961120" y="1417320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25712" y="1581912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46920" y="1554480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firmware si scrive una volta per scheda, attraverso il cavo USB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8961120" y="2656332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25712" y="28209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9646920" y="2793492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scheda crea la rete Wi-Fi PRG32: collegatevi con il vostro computer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961120" y="3895344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25712" y="4059936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9646920" y="4032504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stesso comando di caricamento di PRG32-QT, con l'indirizzo della scheda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961120" y="5134356"/>
            <a:ext cx="2681935" cy="1037844"/>
          </a:xfrm>
          <a:prstGeom prst="roundRect">
            <a:avLst>
              <a:gd name="adj" fmla="val 704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25712" y="5298948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9646920" y="5271516"/>
            <a:ext cx="1813255" cy="7635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Schermo nero: confrontate il cablaggio del display con il firmware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non funziona</a:t>
            </a:r>
            <a:endParaRPr lang="en-US" sz="32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3025750"/>
                <a:gridCol w="3866236"/>
                <a:gridCol w="420243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Vedete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Significa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così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manca un punto di ingresso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prefisso non è quello del sorgente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--entry-prefix l20; controllate le tre righe .global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idf.py: command not found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ESP-IDF non è attivo in questo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eseguite export.sh, o aprite ESP-IDF PowerShell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upload: connection refused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l'host non ascolta a quell'indirizzo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avviate PRG32-QT; usate l'indirizzo della sua schermata Setup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schermo nero, o di nuovo il menu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 funzione non ritorna, o ra non è stato salvato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modalità debug: passo-passo in init, update, draw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QEMU ignora i tasti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 tastiera va al terminale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5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fate clic sul terminale che ha lanciato QEMU</a:t>
                      </a:r>
                      <a:endParaRPr lang="en-US" sz="15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7875600" y="91440"/>
            <a:ext cx="3767455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875600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930464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03616" y="128016"/>
            <a:ext cx="201168" cy="20116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259648" y="91440"/>
            <a:ext cx="3346831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pPr indent="0" marL="0">
              <a:buNone/>
            </a:pPr>
            <a:r>
              <a:rPr lang="en-US" sz="11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gli strumenti di PRG32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Esercizi: prima su carta, poi su PRG32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10088575" y="566928"/>
            <a:ext cx="1554480" cy="457200"/>
          </a:xfrm>
          <a:prstGeom prst="roundRect">
            <a:avLst>
              <a:gd name="adj" fmla="val 16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PROVA TU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1207008" y="1417320"/>
            <a:ext cx="1043604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Calcolate la memoria per un frame 4K in True Color, e i byte al secondo a 60 frame al secondo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2194560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207008" y="2176272"/>
            <a:ext cx="1043604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bus del display di PRG32 lavora a 27 MHz: quanto tempo serve per inviare 20 righe di 320 pixel a 16 bit per pixel?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953512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207008" y="2935224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Disegnate una linea diagonale pixel per pixel con prg32_gfx_pixel in un ciclo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353161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1207008" y="3513328"/>
            <a:ext cx="1043604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Riempite lo schermo una volta con prg32_gfx_clear e una volta con 64.000 chiamate a prg32_gfx_pixel: confrontate le frequenze dei frame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548640" y="429056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207008" y="4272280"/>
            <a:ext cx="10436047" cy="619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0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Cambiate a ogni frame una voce della palette con prg32_palette_set e guardate cambiare insieme tutti i pixel che la usano</a:t>
            </a:r>
            <a:endParaRPr lang="en-US" sz="2000" dirty="0"/>
          </a:p>
        </p:txBody>
      </p:sp>
      <p:sp>
        <p:nvSpPr>
          <p:cNvPr id="14" name="Shape 12"/>
          <p:cNvSpPr/>
          <p:nvPr/>
        </p:nvSpPr>
        <p:spPr>
          <a:xfrm>
            <a:off x="548640" y="5120640"/>
            <a:ext cx="11094415" cy="1051560"/>
          </a:xfrm>
          <a:prstGeom prst="roundRect">
            <a:avLst>
              <a:gd name="adj" fmla="val 6957"/>
            </a:avLst>
          </a:prstGeom>
          <a:solidFill>
            <a:srgbClr val="DCEEE3"/>
          </a:solidFill>
          <a:ln w="12700">
            <a:solidFill>
              <a:srgbClr val="DCEEE3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822960" y="52120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Risultato atteso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822960" y="5504688"/>
            <a:ext cx="10545775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carta: 24.883.200 byte per frame, circa 1,5 GB al secondo; 102.400 bit, circa 3,8 ms. Su PRG32: il ciclo della palette anima lo schermo senza ridisegnare un solo pixel.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I bus e la scheda video: il codice</dc:title>
  <dc:subject>Lezione 20</dc:subject>
  <dc:creator>Raffaele Montella</dc:creator>
  <cp:lastModifiedBy>Raffaele Montella</cp:lastModifiedBy>
  <cp:revision>1</cp:revision>
  <dcterms:created xsi:type="dcterms:W3CDTF">2026-10-16T23:36:45Z</dcterms:created>
  <dcterms:modified xsi:type="dcterms:W3CDTF">2026-10-16T23:36:45Z</dcterms:modified>
</cp:coreProperties>
</file>