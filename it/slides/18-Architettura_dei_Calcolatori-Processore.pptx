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46a6482-b0f8-9a8e-751d-66f61429587f}">
          <p14:sldIdLst>
            <p14:sldId id="256"/>
            <p14:sldId id="257"/>
          </p14:sldIdLst>
        </p14:section>
        <p14:section name="Il processore" id="{6b900852-fbb3-5276-3b76-1052d82b2c32}">
          <p14:sldIdLst>
            <p14:sldId id="258"/>
            <p14:sldId id="259"/>
            <p14:sldId id="260"/>
            <p14:sldId id="261"/>
            <p14:sldId id="262"/>
          </p14:sldIdLst>
        </p14:section>
        <p14:section name="I registri" id="{493db1d5-400e-c567-bf04-63853a142700}">
          <p14:sldIdLst>
            <p14:sldId id="263"/>
            <p14:sldId id="264"/>
            <p14:sldId id="265"/>
            <p14:sldId id="266"/>
          </p14:sldIdLst>
        </p14:section>
        <p14:section name="Lo stack" id="{40c4a898-9a1c-52e4-1d34-0831b475cc05}">
          <p14:sldIdLst>
            <p14:sldId id="267"/>
          </p14:sldIdLst>
        </p14:section>
        <p14:section name="Modelli di processore" id="{9a76535b-01d8-23e8-ed53-9ccfb7f85e31}">
          <p14:sldIdLst>
            <p14:sldId id="268"/>
            <p14:sldId id="269"/>
          </p14:sldIdLst>
        </p14:section>
        <p14:section name="La ALU e il quadro d'insieme" id="{e384407f-8346-6c24-b091-baaca81b0bd2}">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blocco del corso apre la macchina che ha eseguito ogni programma scritto finora. Questa lezione presenta il processore due volte: prima come modello generale di riferimento, valido per qualsiasi processore, con la sua unità di controllo, i registri, lo stack e l'unità aritmetica; poi come RISC-V, il processore programmato dalle prime settimane. Ogni elemento astratto del modello ha già, per lo studente, un nome familiare, e il metodo della lezione è rendere esplicita quella corrispondenza. L'anello della citazione è il processore stesso: l'unico componente che comanda tutti gli altri.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accumulatore, pila, registri; il modello del processore; i registri di RISC-V; la convenzione di chiamata; la pila; il processore RV32. DA UTILIZZARE OGGI: il programma completo, gli strumenti di PRG32 (si usa, non si studia, in questo corso). DA COMPRENDERE PIÙ AVANTI: interruzioni e trap (Lezione 19). Una slide senza etichetta è contesto: una storia, un esempio, una domanda, un esercizio.
Per il docente: La presentazione originale esponeva un modello generale di processore e finiva con l'architettura del Motorola MC68000. Qui il modello generale resta e il riferimento è RISC-V (RV32IMAC, come sull'ESP32-C6 del kit PRG32): gli studenti lo programmano dai primi giorni, quindi ogni elemento astratto ha un nome che conoscono già.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Nominare i componenti di un processore. Distinguere i registri interni dai registri di macchina, e i registri di uso generale da quelli speciali. Spiegare come funziona uno stack e come RISC-V realizza push e pop. Confrontare tre modelli di processore, ad accumulatore, a stack e a registri generali, sullo stesso calcolo. Descrivere RISC-V come architettura load-store a registri generali e leggere il nome RV32IMAC. E far corrispondere ogni elemento del modello al processore del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richiamo e una definizione. Un calcolatore comprende tre sottosistemi, processore, memoria centrale e ingresso/uscita, collegati da bus. Il processore può eseguire solo un insieme fisso di istruzioni, da qualche decina a qualche centinaio, e il linguaggio macchina è l'insieme delle stringhe di bit che le codificano. Le istruzioni richiedono due tipi di azione: trasferimenti di informazione, e operazioni aritmetiche o logiche. Programmi e dati risiedono entrambi nella memoria centrale, come prescrive il modello di von Neumann della Lezione 03.
DA COMPRENDERE OGGI: il modello del processore.
Per il docente: RV32I, la base di RISC-V, ha circa quaranta istruzioni; con le estensioni M, A e C del kit, circa cento codifiche. Il Motorola 68000 aveva cinquantasei tipi di istruzione con molte varianti ciascuno.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modello di riferimento. L'unità di controllo contiene il program counter, che tiene l'indirizzo della prossima istruzione; un registro di decodifica, che tiene l'istruzione in esecuzione; e la rete che emette i segnali di controllo. I registri di macchina da R0 a Rn-1 sono quelli usati dal programmatore. L'unità aritmetico-logica ha due registri operando e un registro risultato. Due coppie di registri collegano il processore al mondo esterno: MA e MB verso la memoria, RI e RU verso ingresso e uscita. Un bus interno li collega tutti, alla maniera del bus comune della Lezione 14.
DA COMPRENDERE OGGI: il modello del processore.
Per il docente: Modello di riferimento. Pur basati sullo stesso schema logico, e quindi fatti di componenti abbastanza simili, i processori in commercio possono essere molto diversi tra loro.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elemento del modello, e la sua controparte in RISC-V. Il program counter è pc. I registri di macchina sono da x0 a x31, con i loro nomi familiari. I registri della ALU e quelli dell'interfaccia di memoria esistono nell'hardware ma sono invisibili al programmatore. Due righe dicono "assente", ed entrambe sono scelte di progetto deliberate: non ci sono registri per ingresso e uscita, perché i dispositivi sono mappati in memoria, e non c'è un registro di stato con i flag. I registri speciali sono i CSR, riservati al software privilegiato e trattati nella Lezione 19.
DA COMPRENDERE OGGI: il modello del processore.
Per il docente: Le due righe «assente» sono semplificazioni volute di RISC-V, spiegate più avanti in questa lezione e nella Lezione 15. L'MC68000 della presentazione originale aveva tutti gli elementi del modello: otto registri dati e otto registri indirizzi, un registro di stato con i codici di condizione, e una circuiteria separata per le interruzioni.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classi di registri. I registri interni sono necessari al funzionamento del processore ma invisibili al programmatore: il program counter, i registri dell'interfaccia di memoria, quelli della ALU. I registri di macchina definiscono il modello di programmazione, essendo quelli nominati nelle istruzioni. Il processore tratta tre tipi di informazione, istruzioni, indirizzi e dati, ciascuno dei quali potrebbe in linea di principio avere la sua larghezza. In RV32 tutti e tre sono larghi 32 bit, il che conferisce alla macchina una spiccata regolarità.
DA COMPRENDERE OGGI: il modello del processore.
Per il docente: Tipi di dato del processore. Il «32» di RV32 è la larghezza dei registri; RV64 ha registri e indirizzi a 64 bit e le stesse istruzioni a 32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ha almeno due stati di funzionamento. Nello stato supervisore esegue il sistema operativo e può eseguire ogni istruzione. Nello stato utente esegue un programma ordinario e può eseguire tutto tranne le istruzioni privilegiate, quelle il cui uso improprio potrebbe compromettere il sistema. RISC-V chiama questi stati modi: il modo macchina, il più privilegiato e l'unico obbligatorio, il modo supervisore e il modo utente. Il chip del kit implementa i modi macchina e utente. Il passaggio dall'uno all'altro avviene attraverso le trap della prossima lezione.
DA COMPRENDERE OGGI: il modello del processore. DA COMPRENDERE PIÙ AVANTI: interruzioni e trap (si studia nella Lezione 19).
Per il docente: Stato utente o stato supervisore. RISC-V definisce tre modi di privilegio: M, il più privilegiato e l'unico obbligatorio, esegue il firmware; S esegue il kernel di un sistema operativo come Linux; U esegue le applicazioni. L'ESP32-C6 realizza M e U. Il cambio di modo avviene attraverso le trap (Lezione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funzioni dei registri. Transito: portare dati tra memoria e registri. Accumulazione: contenere operandi e risultati dell'aritmetica. Indirizzamento: contenere un indirizzo o parte di esso, come fanno i registri base e indice. Puntatore allo stack: indicare la cima di uno stack in memoria. Flag: singoli bit che registrano eventi come zero, segno, overflow e riporto, che condizionano le istruzioni successive. In RISC-V i registri generali svolgono le prime quattro funzioni; la quinta non esiste affatto come registro.
DA COMPRENDERE OGGI: i registri di RISC-V.
Per il docente: Funzione dei registri. In RISC-V le prime quattro funzioni sono svolte tutte dai registri generici; la quinta non esiste come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completa dei registri RISC-V, con numeri, nomi e ruoli. La maggior parte è in uso da settimane: zero, ra, sp, i temporanei da t0 a t6, gli argomenti da a0 ad a7, i registri salvati da s0 a s11; gp e tp sono nuovi, usati da compilatori e sistemi operativi. L'hardware tratta in modo identico i registri da x1 a x31 e solo x0 è speciale; i ruoli derivano dalla convenzione di chiamata, incontrata nella Lezione 02 e qui enunciata come regola. Una chiamata può sovrascrivere ra e i registri t e a, che sono salvati dal chiamante: un chiamante che ne ha ancora bisogno li salva prima della chiamata. Una chiamata deve restituire invariati i registri s e sp, che sono salvati dal chiamato: una funzione che ne usa uno lo salva nel suo frame e lo ripristina prima di ret. Il program counter non fa parte del banco dei registri.
DA COMPRENDERE OGGI: i registri di RISC-V; la convenzione di chiamata.
Per il docente: L'hardware tratta allo stesso modo i registri da x1 a x31; solo x0 è speciale. I ruoli vengono dalla convenzione di chiamata, incontrata nella Lezione 02 e qui enunciata come regola: una chiamata può distruggere ra e i registri t e a (salvati dal chiamante: salvateli prima della chiamata se vi servono ancora); deve restituire invariati i registri s e sp (salvati dal chiamato: una funzione che li usa li salva nel suo frame e li ripristina prima di ret). L'MC68000 separava invece i registri dati D0-D7 dai registri indirizzi A0-A7, con A7 come puntatore allo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processori hanno un registro di stato i cui bit, i flag, registrano l'esito dell'ultima operazione: zero, negativo, overflow, riporto. Un'istruzione li imposta e un successivo salto condizionato li verifica. RISC-V non ne ha. Un salto confronta due registri e salta, in una sola istruzione; slt scrive il risultato di un confronto in un registro ordinario; riporto e overflow si calcolano quando servono, come nella Lezione 05. Meno stato nascosto significa un processore più semplice, una pipeline più semplice e una gestione delle interruzioni più semplice, perché non c'è stato implicito da salvare.
DA COMPRENDERE OGGI: i registri di RISC-V.
Per il docente: Registro di stato. La presentazione originale elencava Z, N, P (positivo), V, C e un bit di parità.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speciali di RISC-V sono i registri di controllo e di stato, CSR: un banco separato, letto e scritto solo da codice privilegiato con istruzioni dedicate. Cinque meritano di essere conosciuti per nome: mstatus, che contiene l'abilitazione globale delle interruzioni; mtvec, l'indirizzo della routine di gestione delle trap; mepc, l'indirizzo dell'istruzione interrotta; mcause, la causa della trap; e la coppia mie e mip, con un bit per sorgente di interruzione. La prossima lezione li usa tutti.
DA COMPRENDERE OGGI: i registri di RISC-V. DA COMPRENDERE PIÙ AVANTI: interruzioni e trap (si studia nella Lezione 19).
Per il docente: Registri di controllo e stato: un banco separato di al più 4096 registri, letti e scritti solo con le istruzioni csrrw, csrrs e csrrc, e solo da codice privilegiato. Sono i «registri delle interruzioni» del modello generale, e l'argomento della Lezione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stack supporta due operazioni: push pone un elemento in cima, pop rimuove l'elemento più in alto. Opera sempre in cima, quindi non serve specificare alcuna posizione: l'ultimo entrato è il primo a uscire. Serve a mettere da parte il contenuto dei registri che vanno liberati per un compito e a ripristinarlo poi, nelle chiamate di sottoprogramma come nelle interruzioni. Si realizza con un puntatore che indica l'ultimo elemento memorizzato. I programmi accurati verificano il trabocco su un push e lo stack vuoto su un pop. Lo stack frame della Lezione 02 si vede ora nella sua forma generale.
DA COMPRENDERE OGGI: la pila; la convenzione di chiamata.
Per il docente: LIFO, last in, first out. Lo usate dalla Lezione 02 per salvare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architetture di processore. Con registri generali il processore ha un insieme di registri intercambiabili. Con un accumulatore, le istruzioni aritmetiche hanno un operando implicito, un registro speciale. In una macchina a stack non c'è né l'uno né l'altro, solo un puntatore allo stack, e le istruzioni operano sulla cima dello stack. Un'architettura ortogonale ha un solo banco di registri generali, alcuni dei quali possono fungere anche da puntatore allo stack o avere altri ruoli speciali. RISC-V appartiene a quest'ultima classe.
DA COMPRENDERE OGGI: accumulatore, pila, registri.
Per il docente: Modello a registri generici, ad accumulatore, a stack; architetture ortogonali. La definizione originale di ortogonale cita anche un registro di stato; RISC-V è ortogonale e non ha nemmeno quello.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è un processore load-store a registri generali. Solo i caricamenti e le memorizzazioni accedono alla memoria; ogni altra istruzione opera da registro a registro, il che è più veloce. Le istruzioni hanno tre operandi, due sorgenti e una destinazione, così che nessun valore venga distrutto se non lo sceglie il programmatore. Ogni istruzione esegue un'operazione semplice e ha dimensione fissa, il che la rende facile da decodificare e da eseguire in una pipeline. È questo il significato di RISC. Le sette righe del riscaldamento sono il prezzo del progetto, e la semplicità di ciascuna riga è il suo guadagno.
DA COMPRENDERE OGGI: accumulatore, pila, registri.
Per il docente: Da registro a registro: [REGX] + [REGY] dà [REGZ]. Le forme da memoria a registro e da registro a memoria della presentazione originale esistono nei processori CISC e sono esattamente ciò a cui RISC rinuncia.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a blocchi di un processore RV32, letto da sinistra a destra. Il PC fornisce l'indirizzo dell'istruzione, che viene prelevata dalla memoria. Il decodificatore ne separa i campi e l'unità di controllo emette i segnali corrispondenti. Il banco dei registri fornisce gli operandi. La ALU calcola un risultato o forma un indirizzo. La memoria dati viene letta o scritta da caricamenti e memorizzazioni. Due percorsi tornano indietro: il risultato torna al registro nominato da rd, e il PC successivo è PC + 4 oppure la destinazione del salto. Ogni istruzione scritta nel corso percorre questa strada, e le macchine delle Lezioni 11, 13 e 14 si possono tutte collocare su di essa.
DA COMPRENDERE OGGI: il processore RV32.
Per il docente: Il classico datapath RISC-V a ciclo singolo di Patterson e Hennessy, ridotto ai suoi blocchi; memoria istruzioni e memoria dati sono lo stesso spazio di indirizzi, disegnato due volte per chiarezza. Sostituisce la slide «Architettura del processore MC68000».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processore del kit, in cifre: insieme di istruzioni RV32IMAC; un core principale fino a 160 MHz con una pipeline a quattro stadi, e un secondo core a basso consumo; modi macchina e utente; nessuna virgola mobile; 512 KB di SRAM, 320 KB di ROM e una flash esterna; radio e periferiche sullo stesso chip. Un calcolatore completo in pochi millimetri quadrati, al costo di circa due euro, in cui processore, memoria e ingresso/uscita sono tutti presenti esattamente come nel modello.
DA COMPRENDERE OGGI: il processore RV32.
Per il docente: Dal datasheet Espressif dell'ESP32-C6. Un calcolatore completo su un chip di pochi millimetri quadrati che costa circa due euro: processore, memoria e ingresso/uscita ci sono tutti, come nel modello delle prime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torna alla tabella che affianca il modello a RISC-V e si cercano le righe marcate "assente"; una di esse è tra le opzioni.
Per la seconda si ricorda il riscaldamento: quali istruzioni accedevano alla memoria, e quali solo ai registri? La risposta è la definizione di un'architettura load-store.
Per il docente: 1. Risposta: B. RISC-V non ha codici di condizione: i salti confrontano direttamente i registri.
2. Risposta: C. È un'architettura load-store: lw, lh, lb, sw, sh, sb e le forme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seguono le due istruzioni una dopo l'altra: il puntatore scende di una parola, e poi un valore viene memorizzato all'indirizzo che ora contiene. Un valore è stato posto sullo stack.
Per la seconda: in una macchina ad accumulatore l'accumulatore è l'operando implicito, fa da uno dei due addendi e riceve il risultato, mentre l'operando scritto nell'istruzione viene solo letto.
Per il docente: 1. Risposta: B. Il puntatore scende di una parola e il valore è memorizzato sulla nuova cima: un push.
2. Risposta: B. L'accumulatore è l'operando implicito e la destinazione.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La control unit è l'unità di controllo. Un registro di macchina è uno visibile al programmatore. I flag si chiamano in italiano anche indicatori. Lo stato supervisore e lo stato utente sono i due livelli di privilegio. Un'istruzione privilegiata si può eseguire solo nello stato supervisore.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Il processore comanda e controlla, appoggiandosi alla memoria e all'ingresso/uscita. I registri sono locazioni di memorizzazione, interne o visibili al programmatore. I tipi di registri e il loro uso determinano il modello di processore: ad accumulatore, a stack o a registri generali. La ALU esegue le operazioni. E RISC-V è un processore load-store a registri generali, senza flag e senza istruzioni di I/O: pochi elementi, ciascuno semplice. La prossima lezione segue un'istruzione per l'intera sua vita.
Stato di apprendimento, riepilogo. DA COMPRENDERE OGGI: accumulatore, pila, registri; il modello del processore; i registri di RISC-V; la convenzione di chiamata; la pila; il processore RV32. DA UTILIZZARE OGGI: il programma completo, gli strumenti di PRG32 (si usa, non si studia, in questo corso). DA COMPRENDERE PIÙ AVANTI: interruzioni e trap (Lezione 19). Una slide senza etichetta è contesto: una storia, un esempio, una domanda, un esercizio.
Per il docente: Prossima lezione: istruzioni e interruzioni.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18: Il processore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Il processore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Unità di controllo, registri, stack e ALU: il modello generale, e RISC-V come processore di riferimento</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Anello per domarli...”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J. R. R. Tolkien, Il Signore degli Anelli, 1954-1955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18-Architettura_dei_Calcolatori-Processore-Lab.pptx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i componenti di un processore: unità di controllo, ALU, registri, collegamenti con memoria e ingresso/uscita</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i registri interni dai registri di macchina, e i registri generici da quelli speciali</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funziona uno stack e come RISC-V realizza push e pop</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Confrontare sullo stesso calcolo i modelli ad accumulatore, a stack e a registri generici</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RISC-V come processore load-store a registri generici, e leggere il nome RV32IMAC</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Riportare ogni elemento del modello generale sul processore del kit PRG32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calcolatore e il suo processore</a:t>
            </a:r>
            <a:endParaRPr lang="en-US" sz="3200" dirty="0"/>
          </a:p>
        </p:txBody>
      </p:sp>
      <p:sp>
        <p:nvSpPr>
          <p:cNvPr id="3" name="Shape 1"/>
          <p:cNvSpPr/>
          <p:nvPr/>
        </p:nvSpPr>
        <p:spPr>
          <a:xfrm>
            <a:off x="548640" y="147726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Un calcolatore elettronico è un sistema numerico, automatico, a programma memorizzato, costruito con circuiti elettronici</a:t>
            </a:r>
            <a:endParaRPr lang="en-US" sz="1600" dirty="0"/>
          </a:p>
        </p:txBody>
      </p:sp>
      <p:sp>
        <p:nvSpPr>
          <p:cNvPr id="5" name="Shape 3"/>
          <p:cNvSpPr/>
          <p:nvPr/>
        </p:nvSpPr>
        <p:spPr>
          <a:xfrm>
            <a:off x="548640" y="2243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3232"/>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Tre sottosistemi: processore (CPU), memoria centrale, ingresso/uscita, collegati da bus</a:t>
            </a:r>
            <a:endParaRPr lang="en-US" sz="1600" dirty="0"/>
          </a:p>
        </p:txBody>
      </p:sp>
      <p:sp>
        <p:nvSpPr>
          <p:cNvPr id="7" name="Shape 5"/>
          <p:cNvSpPr/>
          <p:nvPr/>
        </p:nvSpPr>
        <p:spPr>
          <a:xfrm>
            <a:off x="548640" y="300908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9143"/>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Il processore può eseguire soltanto un insieme di istruzioni, da qualche decina a poche centinaia, più o meno complesse</a:t>
            </a:r>
            <a:endParaRPr lang="en-US" sz="1600" dirty="0"/>
          </a:p>
        </p:txBody>
      </p:sp>
      <p:sp>
        <p:nvSpPr>
          <p:cNvPr id="9" name="Shape 7"/>
          <p:cNvSpPr/>
          <p:nvPr/>
        </p:nvSpPr>
        <p:spPr>
          <a:xfrm>
            <a:off x="548640" y="377499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15055"/>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Linguaggio macchina: le stringhe di bit che codificano le istruzioni eseguibili dai circuiti di un processore</a:t>
            </a:r>
            <a:endParaRPr lang="en-US" sz="1600" dirty="0"/>
          </a:p>
        </p:txBody>
      </p:sp>
      <p:sp>
        <p:nvSpPr>
          <p:cNvPr id="11" name="Shape 9"/>
          <p:cNvSpPr/>
          <p:nvPr/>
        </p:nvSpPr>
        <p:spPr>
          <a:xfrm>
            <a:off x="548640" y="454091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480966"/>
            <a:ext cx="6565392" cy="92532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Le istruzioni richiedono</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trasferimenti di informazione, dentro il calcolatore e da o verso i dispositivi di I/O</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operazioni aritmetiche e logiche</a:t>
            </a:r>
            <a:endParaRPr lang="en-US" sz="1600" dirty="0"/>
          </a:p>
        </p:txBody>
      </p:sp>
      <p:sp>
        <p:nvSpPr>
          <p:cNvPr id="13" name="Shape 11"/>
          <p:cNvSpPr/>
          <p:nvPr/>
        </p:nvSpPr>
        <p:spPr>
          <a:xfrm>
            <a:off x="548640" y="5736336"/>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676392"/>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Dati e istruzioni di un programma sono memorizzati nella memoria centrale</a:t>
            </a:r>
            <a:endParaRPr lang="en-US" sz="1600" dirty="0"/>
          </a:p>
        </p:txBody>
      </p:sp>
      <p:sp>
        <p:nvSpPr>
          <p:cNvPr id="15" name="Shape 13"/>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6" name="Text 14"/>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CPU</a:t>
            </a:r>
            <a:endParaRPr lang="en-US" sz="6000" dirty="0"/>
          </a:p>
        </p:txBody>
      </p:sp>
      <p:sp>
        <p:nvSpPr>
          <p:cNvPr id="17" name="Text 15"/>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unità centrale di elaborazione: l'unico anello che governa memoria e ingresso/uscita</a:t>
            </a:r>
            <a:endParaRPr lang="en-US" sz="1900" dirty="0"/>
          </a:p>
        </p:txBody>
      </p:sp>
      <p:sp>
        <p:nvSpPr>
          <p:cNvPr id="18" name="Shape 16"/>
          <p:cNvSpPr/>
          <p:nvPr/>
        </p:nvSpPr>
        <p:spPr>
          <a:xfrm>
            <a:off x="7592009" y="91440"/>
            <a:ext cx="4051046" cy="274320"/>
          </a:xfrm>
          <a:prstGeom prst="rect">
            <a:avLst/>
          </a:prstGeom>
          <a:solidFill>
            <a:srgbClr val="E0F2FE"/>
          </a:solidFill>
          <a:ln w="12700">
            <a:solidFill>
              <a:srgbClr val="0369A1"/>
            </a:solidFill>
            <a:prstDash val="solid"/>
          </a:ln>
        </p:spPr>
      </p:sp>
      <p:sp>
        <p:nvSpPr>
          <p:cNvPr id="19" name="Shape 17"/>
          <p:cNvSpPr/>
          <p:nvPr/>
        </p:nvSpPr>
        <p:spPr>
          <a:xfrm>
            <a:off x="7592009"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1" name="Text 18"/>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processore: un modello di riferimento</a:t>
            </a:r>
            <a:endParaRPr lang="en-US" sz="3200" dirty="0"/>
          </a:p>
        </p:txBody>
      </p:sp>
      <p:sp>
        <p:nvSpPr>
          <p:cNvPr id="3" name="Shape 1"/>
          <p:cNvSpPr/>
          <p:nvPr/>
        </p:nvSpPr>
        <p:spPr>
          <a:xfrm>
            <a:off x="548640" y="1463040"/>
            <a:ext cx="6675120" cy="4251960"/>
          </a:xfrm>
          <a:prstGeom prst="roundRect">
            <a:avLst>
              <a:gd name="adj" fmla="val 1720"/>
            </a:avLst>
          </a:prstGeom>
          <a:solidFill>
            <a:srgbClr val="EEF2F4"/>
          </a:solidFill>
          <a:ln w="12700">
            <a:solidFill>
              <a:srgbClr val="EEF2F4"/>
            </a:solidFill>
            <a:prstDash val="solid"/>
          </a:ln>
        </p:spPr>
      </p:sp>
      <p:sp>
        <p:nvSpPr>
          <p:cNvPr id="4" name="Text 2"/>
          <p:cNvSpPr txBox="1"/>
          <p:nvPr/>
        </p:nvSpPr>
        <p:spPr>
          <a:xfrm>
            <a:off x="685800" y="1508760"/>
            <a:ext cx="914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CPU</a:t>
            </a:r>
            <a:endParaRPr lang="en-US" sz="1400" dirty="0"/>
          </a:p>
        </p:txBody>
      </p:sp>
      <p:sp>
        <p:nvSpPr>
          <p:cNvPr id="5" name="Text 3"/>
          <p:cNvSpPr txBox="1"/>
          <p:nvPr/>
        </p:nvSpPr>
        <p:spPr>
          <a:xfrm>
            <a:off x="822960" y="1920240"/>
            <a:ext cx="1554480" cy="1371600"/>
          </a:xfrm>
          <a:prstGeom prst="roundRect">
            <a:avLst>
              <a:gd name="adj" fmla="val 40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rete di</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controllo</a:t>
            </a:r>
            <a:endParaRPr lang="en-US" sz="1500" dirty="0"/>
          </a:p>
        </p:txBody>
      </p:sp>
      <p:sp>
        <p:nvSpPr>
          <p:cNvPr id="6" name="Text 4"/>
          <p:cNvSpPr txBox="1"/>
          <p:nvPr/>
        </p:nvSpPr>
        <p:spPr>
          <a:xfrm>
            <a:off x="82296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p:txBody>
      </p:sp>
      <p:sp>
        <p:nvSpPr>
          <p:cNvPr id="7" name="Text 5"/>
          <p:cNvSpPr txBox="1"/>
          <p:nvPr/>
        </p:nvSpPr>
        <p:spPr>
          <a:xfrm>
            <a:off x="164592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8" name="Text 6"/>
          <p:cNvSpPr txBox="1"/>
          <p:nvPr/>
        </p:nvSpPr>
        <p:spPr>
          <a:xfrm>
            <a:off x="2834640" y="192024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R0</a:t>
            </a:r>
            <a:endParaRPr lang="en-US" sz="1400" dirty="0"/>
          </a:p>
        </p:txBody>
      </p:sp>
      <p:sp>
        <p:nvSpPr>
          <p:cNvPr id="9" name="Text 7"/>
          <p:cNvSpPr txBox="1"/>
          <p:nvPr/>
        </p:nvSpPr>
        <p:spPr>
          <a:xfrm>
            <a:off x="2834640" y="246888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10" name="Text 8"/>
          <p:cNvSpPr txBox="1"/>
          <p:nvPr/>
        </p:nvSpPr>
        <p:spPr>
          <a:xfrm>
            <a:off x="2834640" y="301752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 .</a:t>
            </a:r>
            <a:endParaRPr lang="en-US" sz="1400" dirty="0"/>
          </a:p>
        </p:txBody>
      </p:sp>
      <p:sp>
        <p:nvSpPr>
          <p:cNvPr id="11" name="Text 9"/>
          <p:cNvSpPr txBox="1"/>
          <p:nvPr/>
        </p:nvSpPr>
        <p:spPr>
          <a:xfrm>
            <a:off x="2834640" y="356616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Rn-1</a:t>
            </a:r>
            <a:endParaRPr lang="en-US" sz="1400" dirty="0"/>
          </a:p>
        </p:txBody>
      </p:sp>
      <p:sp>
        <p:nvSpPr>
          <p:cNvPr id="12" name="Text 10"/>
          <p:cNvSpPr txBox="1"/>
          <p:nvPr/>
        </p:nvSpPr>
        <p:spPr>
          <a:xfrm>
            <a:off x="484632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O1</a:t>
            </a:r>
            <a:endParaRPr lang="en-US" sz="1400" dirty="0"/>
          </a:p>
        </p:txBody>
      </p:sp>
      <p:sp>
        <p:nvSpPr>
          <p:cNvPr id="13" name="Text 11"/>
          <p:cNvSpPr txBox="1"/>
          <p:nvPr/>
        </p:nvSpPr>
        <p:spPr>
          <a:xfrm>
            <a:off x="594360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O2</a:t>
            </a:r>
            <a:endParaRPr lang="en-US" sz="1400" dirty="0"/>
          </a:p>
        </p:txBody>
      </p:sp>
      <p:sp>
        <p:nvSpPr>
          <p:cNvPr id="14" name="Text 12"/>
          <p:cNvSpPr txBox="1"/>
          <p:nvPr/>
        </p:nvSpPr>
        <p:spPr>
          <a:xfrm>
            <a:off x="4846320" y="251460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ALU</a:t>
            </a:r>
            <a:endParaRPr lang="en-US" sz="1800" dirty="0"/>
          </a:p>
        </p:txBody>
      </p:sp>
      <p:sp>
        <p:nvSpPr>
          <p:cNvPr id="15" name="Text 13"/>
          <p:cNvSpPr txBox="1"/>
          <p:nvPr/>
        </p:nvSpPr>
        <p:spPr>
          <a:xfrm>
            <a:off x="5394960" y="347472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a:t>
            </a:r>
            <a:endParaRPr lang="en-US" sz="1400" dirty="0"/>
          </a:p>
        </p:txBody>
      </p:sp>
      <p:sp>
        <p:nvSpPr>
          <p:cNvPr id="16" name="Shape 14"/>
          <p:cNvSpPr/>
          <p:nvPr/>
        </p:nvSpPr>
        <p:spPr>
          <a:xfrm>
            <a:off x="822960" y="4343400"/>
            <a:ext cx="6126480" cy="0"/>
          </a:xfrm>
          <a:prstGeom prst="line">
            <a:avLst/>
          </a:prstGeom>
          <a:noFill/>
          <a:ln w="63500">
            <a:solidFill>
              <a:srgbClr val="C7791B"/>
            </a:solidFill>
            <a:prstDash val="solid"/>
          </a:ln>
        </p:spPr>
      </p:sp>
      <p:sp>
        <p:nvSpPr>
          <p:cNvPr id="17" name="Text 15"/>
          <p:cNvSpPr txBox="1"/>
          <p:nvPr/>
        </p:nvSpPr>
        <p:spPr>
          <a:xfrm>
            <a:off x="5394960" y="4023360"/>
            <a:ext cx="1645920" cy="274320"/>
          </a:xfrm>
          <a:prstGeom prst="rect">
            <a:avLst/>
          </a:prstGeom>
          <a:noFill/>
          <a:ln/>
        </p:spPr>
        <p:txBody>
          <a:bodyPr wrap="square" lIns="0" tIns="0" rIns="0" bIns="0" rtlCol="0" anchor="t"/>
          <a:lstStyle/>
          <a:p>
            <a:pPr indent="0" marL="0">
              <a:buNone/>
            </a:pPr>
            <a:r>
              <a:rPr lang="en-US" sz="1200" b="1" dirty="0">
                <a:solidFill>
                  <a:srgbClr val="C7791B"/>
                </a:solidFill>
                <a:latin typeface="Calibri" pitchFamily="34" charset="0"/>
                <a:ea typeface="Calibri" pitchFamily="34" charset="-122"/>
                <a:cs typeface="Calibri" pitchFamily="34" charset="-120"/>
              </a:rPr>
              <a:t>bus interno</a:t>
            </a:r>
            <a:endParaRPr lang="en-US" sz="1200" dirty="0"/>
          </a:p>
        </p:txBody>
      </p:sp>
      <p:sp>
        <p:nvSpPr>
          <p:cNvPr id="18" name="Text 16"/>
          <p:cNvSpPr txBox="1"/>
          <p:nvPr/>
        </p:nvSpPr>
        <p:spPr>
          <a:xfrm>
            <a:off x="1005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a:t>
            </a:r>
            <a:endParaRPr lang="en-US" sz="1500" dirty="0"/>
          </a:p>
        </p:txBody>
      </p:sp>
      <p:sp>
        <p:nvSpPr>
          <p:cNvPr id="19" name="Text 17"/>
          <p:cNvSpPr txBox="1"/>
          <p:nvPr/>
        </p:nvSpPr>
        <p:spPr>
          <a:xfrm>
            <a:off x="210312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t>
            </a:r>
            <a:endParaRPr lang="en-US" sz="1500" dirty="0"/>
          </a:p>
        </p:txBody>
      </p:sp>
      <p:sp>
        <p:nvSpPr>
          <p:cNvPr id="20" name="Text 18"/>
          <p:cNvSpPr txBox="1"/>
          <p:nvPr/>
        </p:nvSpPr>
        <p:spPr>
          <a:xfrm>
            <a:off x="448056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RI</a:t>
            </a:r>
            <a:endParaRPr lang="en-US" sz="1500" dirty="0"/>
          </a:p>
        </p:txBody>
      </p:sp>
      <p:sp>
        <p:nvSpPr>
          <p:cNvPr id="21" name="Text 19"/>
          <p:cNvSpPr txBox="1"/>
          <p:nvPr/>
        </p:nvSpPr>
        <p:spPr>
          <a:xfrm>
            <a:off x="5577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a:t>
            </a:r>
            <a:endParaRPr lang="en-US" sz="1500" dirty="0"/>
          </a:p>
        </p:txBody>
      </p:sp>
      <p:sp>
        <p:nvSpPr>
          <p:cNvPr id="22" name="Text 20"/>
          <p:cNvSpPr txBox="1"/>
          <p:nvPr/>
        </p:nvSpPr>
        <p:spPr>
          <a:xfrm>
            <a:off x="914400" y="5349240"/>
            <a:ext cx="219456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collegamento con la memoria</a:t>
            </a:r>
            <a:endParaRPr lang="en-US" sz="1200" dirty="0"/>
          </a:p>
        </p:txBody>
      </p:sp>
      <p:sp>
        <p:nvSpPr>
          <p:cNvPr id="23" name="Text 21"/>
          <p:cNvSpPr txBox="1"/>
          <p:nvPr/>
        </p:nvSpPr>
        <p:spPr>
          <a:xfrm>
            <a:off x="4297680" y="5349240"/>
            <a:ext cx="237744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collegamento con l'I/O</a:t>
            </a:r>
            <a:endParaRPr lang="en-US" sz="1200" dirty="0"/>
          </a:p>
        </p:txBody>
      </p:sp>
      <p:sp>
        <p:nvSpPr>
          <p:cNvPr id="24" name="Shape 22"/>
          <p:cNvSpPr/>
          <p:nvPr/>
        </p:nvSpPr>
        <p:spPr>
          <a:xfrm>
            <a:off x="7680960" y="1485011"/>
            <a:ext cx="146304" cy="146304"/>
          </a:xfrm>
          <a:prstGeom prst="rect">
            <a:avLst/>
          </a:prstGeom>
          <a:solidFill>
            <a:srgbClr val="0E7C86"/>
          </a:solidFill>
          <a:ln w="12700">
            <a:solidFill>
              <a:srgbClr val="0E7C86"/>
            </a:solidFill>
            <a:prstDash val="solid"/>
          </a:ln>
        </p:spPr>
      </p:sp>
      <p:sp>
        <p:nvSpPr>
          <p:cNvPr id="25" name="Text 23"/>
          <p:cNvSpPr txBox="1"/>
          <p:nvPr/>
        </p:nvSpPr>
        <p:spPr>
          <a:xfrm>
            <a:off x="8065008" y="1417320"/>
            <a:ext cx="3578047" cy="167462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Unità di controllo</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program counter (PC): la prossima istruzione</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registro di decodifica (D): l'istruzione in esecuzione</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la rete di controllo che emette i comandi</a:t>
            </a:r>
            <a:endParaRPr lang="en-US" sz="1700" dirty="0"/>
          </a:p>
        </p:txBody>
      </p:sp>
      <p:sp>
        <p:nvSpPr>
          <p:cNvPr id="26" name="Shape 24"/>
          <p:cNvSpPr/>
          <p:nvPr/>
        </p:nvSpPr>
        <p:spPr>
          <a:xfrm>
            <a:off x="7680960" y="3301873"/>
            <a:ext cx="146304" cy="146304"/>
          </a:xfrm>
          <a:prstGeom prst="rect">
            <a:avLst/>
          </a:prstGeom>
          <a:solidFill>
            <a:srgbClr val="C7791B"/>
          </a:solidFill>
          <a:ln w="12700">
            <a:solidFill>
              <a:srgbClr val="C7791B"/>
            </a:solidFill>
            <a:prstDash val="solid"/>
          </a:ln>
        </p:spPr>
      </p:sp>
      <p:sp>
        <p:nvSpPr>
          <p:cNvPr id="27" name="Text 25"/>
          <p:cNvSpPr txBox="1"/>
          <p:nvPr/>
        </p:nvSpPr>
        <p:spPr>
          <a:xfrm>
            <a:off x="8065008" y="3234182"/>
            <a:ext cx="35780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Registri di macchina R0 ... Rn-1</a:t>
            </a:r>
            <a:endParaRPr lang="en-US" sz="1700" dirty="0"/>
          </a:p>
        </p:txBody>
      </p:sp>
      <p:sp>
        <p:nvSpPr>
          <p:cNvPr id="28" name="Shape 26"/>
          <p:cNvSpPr/>
          <p:nvPr/>
        </p:nvSpPr>
        <p:spPr>
          <a:xfrm>
            <a:off x="7680960" y="3707511"/>
            <a:ext cx="146304" cy="146304"/>
          </a:xfrm>
          <a:prstGeom prst="rect">
            <a:avLst/>
          </a:prstGeom>
          <a:solidFill>
            <a:srgbClr val="0E7C86"/>
          </a:solidFill>
          <a:ln w="12700">
            <a:solidFill>
              <a:srgbClr val="0E7C86"/>
            </a:solidFill>
            <a:prstDash val="solid"/>
          </a:ln>
        </p:spPr>
      </p:sp>
      <p:sp>
        <p:nvSpPr>
          <p:cNvPr id="29" name="Text 27"/>
          <p:cNvSpPr txBox="1"/>
          <p:nvPr/>
        </p:nvSpPr>
        <p:spPr>
          <a:xfrm>
            <a:off x="8065008" y="3639820"/>
            <a:ext cx="3578047" cy="73380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Unità aritmetico-logica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due registri operando O1 e O2, un registro risultato U</a:t>
            </a:r>
            <a:endParaRPr lang="en-US" sz="1700" dirty="0"/>
          </a:p>
        </p:txBody>
      </p:sp>
      <p:sp>
        <p:nvSpPr>
          <p:cNvPr id="30" name="Shape 28"/>
          <p:cNvSpPr/>
          <p:nvPr/>
        </p:nvSpPr>
        <p:spPr>
          <a:xfrm>
            <a:off x="7680960" y="4583557"/>
            <a:ext cx="146304" cy="146304"/>
          </a:xfrm>
          <a:prstGeom prst="rect">
            <a:avLst/>
          </a:prstGeom>
          <a:solidFill>
            <a:srgbClr val="C7791B"/>
          </a:solidFill>
          <a:ln w="12700">
            <a:solidFill>
              <a:srgbClr val="C7791B"/>
            </a:solidFill>
            <a:prstDash val="solid"/>
          </a:ln>
        </p:spPr>
      </p:sp>
      <p:sp>
        <p:nvSpPr>
          <p:cNvPr id="31" name="Text 29"/>
          <p:cNvSpPr txBox="1"/>
          <p:nvPr/>
        </p:nvSpPr>
        <p:spPr>
          <a:xfrm>
            <a:off x="8065008" y="4515866"/>
            <a:ext cx="3578047" cy="73380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Collegamento con la memoria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indirizzo di memoria (MA) e dato di memoria (MB)</a:t>
            </a:r>
            <a:endParaRPr lang="en-US" sz="1700" dirty="0"/>
          </a:p>
        </p:txBody>
      </p:sp>
      <p:sp>
        <p:nvSpPr>
          <p:cNvPr id="32" name="Shape 30"/>
          <p:cNvSpPr/>
          <p:nvPr/>
        </p:nvSpPr>
        <p:spPr>
          <a:xfrm>
            <a:off x="7680960" y="5459603"/>
            <a:ext cx="146304" cy="146304"/>
          </a:xfrm>
          <a:prstGeom prst="rect">
            <a:avLst/>
          </a:prstGeom>
          <a:solidFill>
            <a:srgbClr val="0E7C86"/>
          </a:solidFill>
          <a:ln w="12700">
            <a:solidFill>
              <a:srgbClr val="0E7C86"/>
            </a:solidFill>
            <a:prstDash val="solid"/>
          </a:ln>
        </p:spPr>
      </p:sp>
      <p:sp>
        <p:nvSpPr>
          <p:cNvPr id="33" name="Text 31"/>
          <p:cNvSpPr txBox="1"/>
          <p:nvPr/>
        </p:nvSpPr>
        <p:spPr>
          <a:xfrm>
            <a:off x="8065008" y="5391912"/>
            <a:ext cx="3578047" cy="78028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Collegamento con l'ingresso/uscita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registri di transito RI e RU</a:t>
            </a:r>
            <a:endParaRPr lang="en-US" sz="1700" dirty="0"/>
          </a:p>
        </p:txBody>
      </p:sp>
      <p:sp>
        <p:nvSpPr>
          <p:cNvPr id="34" name="Shape 32"/>
          <p:cNvSpPr/>
          <p:nvPr/>
        </p:nvSpPr>
        <p:spPr>
          <a:xfrm>
            <a:off x="7592009" y="91440"/>
            <a:ext cx="4051046" cy="274320"/>
          </a:xfrm>
          <a:prstGeom prst="rect">
            <a:avLst/>
          </a:prstGeom>
          <a:solidFill>
            <a:srgbClr val="E0F2FE"/>
          </a:solidFill>
          <a:ln w="12700">
            <a:solidFill>
              <a:srgbClr val="0369A1"/>
            </a:solidFill>
            <a:prstDash val="solid"/>
          </a:ln>
        </p:spPr>
      </p:sp>
      <p:sp>
        <p:nvSpPr>
          <p:cNvPr id="35" name="Shape 33"/>
          <p:cNvSpPr/>
          <p:nvPr/>
        </p:nvSpPr>
        <p:spPr>
          <a:xfrm>
            <a:off x="7592009" y="91440"/>
            <a:ext cx="73152" cy="274320"/>
          </a:xfrm>
          <a:prstGeom prst="rect">
            <a:avLst/>
          </a:prstGeom>
          <a:solidFill>
            <a:srgbClr val="0369A1"/>
          </a:solidFill>
          <a:ln w="12700">
            <a:solidFill>
              <a:srgbClr val="0369A1"/>
            </a:solidFill>
            <a:prstDash val="solid"/>
          </a:ln>
        </p:spPr>
      </p:sp>
      <p:pic>
        <p:nvPicPr>
          <p:cNvPr id="3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37" name="Text 34"/>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modello e RISC-V, fianco a fianco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73762"/>
                <a:gridCol w="4183140"/>
                <a:gridCol w="363751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Elemento del modello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Visto dal programmatore?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 program counter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pc,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indirettamente: lo usano salti e auipc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D, registro di decodifica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il registro istruzione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R0 ... Rn-1, registri di macchina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x0 ... x31, trentadue registri di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sì: zero, ra, sp, t0, a0, s0, ...</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O1, O2, U, registri della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gli ingressi e l'uscita della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MA, MB, collegamento con la memoria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indirizzo e dato di un load o di uno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RI, RU, collegamento con l'I/O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assenti: i dispositivi sono mappati in memoria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registro di stato con i flag</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assente: nessun codice di condizione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registri speciali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 registri di controllo e stato (CSR)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solo dal software privilegiato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interni e registri di macchina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Registri interni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non direttamente visibili al programmatore, e necessari al funzionamento del processore: PC, MA, MB, D, O1, O2, U, ...</a:t>
            </a:r>
            <a:endParaRPr lang="en-US" sz="1900" dirty="0"/>
          </a:p>
        </p:txBody>
      </p:sp>
      <p:sp>
        <p:nvSpPr>
          <p:cNvPr id="5" name="Shape 3"/>
          <p:cNvSpPr/>
          <p:nvPr/>
        </p:nvSpPr>
        <p:spPr>
          <a:xfrm>
            <a:off x="548640" y="26962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3067"/>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Registri di macchina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definiscono il modello di programmazione; si dividono in registri generici e registri speciali</a:t>
            </a:r>
            <a:endParaRPr lang="en-US" sz="1900" dirty="0"/>
          </a:p>
        </p:txBody>
      </p:sp>
      <p:sp>
        <p:nvSpPr>
          <p:cNvPr id="7" name="Shape 5"/>
          <p:cNvSpPr/>
          <p:nvPr/>
        </p:nvSpPr>
        <p:spPr>
          <a:xfrm>
            <a:off x="548640" y="38920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08815"/>
            <a:ext cx="6565392" cy="140563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processore tratta tre tipi di informazione: istruzioni, indirizzi di memoria e dati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dimensione di MA e PC dipende da quella degli indirizzi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dimensione dei registri della ALU dipende da quella dei dati</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RV32 tutti e tre sono larghi 32 bit: una sola dimensione per registri, indirizzi e istruzioni</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RV32</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registri di 32 bit, indirizzi di 32 bit, istruzioni di 32 bit</a:t>
            </a:r>
            <a:endParaRPr lang="en-US" sz="1900" dirty="0"/>
          </a:p>
        </p:txBody>
      </p:sp>
      <p:sp>
        <p:nvSpPr>
          <p:cNvPr id="14" name="Shape 12"/>
          <p:cNvSpPr/>
          <p:nvPr/>
        </p:nvSpPr>
        <p:spPr>
          <a:xfrm>
            <a:off x="7592009" y="91440"/>
            <a:ext cx="4051046" cy="274320"/>
          </a:xfrm>
          <a:prstGeom prst="rect">
            <a:avLst/>
          </a:prstGeom>
          <a:solidFill>
            <a:srgbClr val="E0F2FE"/>
          </a:solidFill>
          <a:ln w="12700">
            <a:solidFill>
              <a:srgbClr val="0369A1"/>
            </a:solidFill>
            <a:prstDash val="solid"/>
          </a:ln>
        </p:spPr>
      </p:sp>
      <p:sp>
        <p:nvSpPr>
          <p:cNvPr id="15" name="Shape 13"/>
          <p:cNvSpPr/>
          <p:nvPr/>
        </p:nvSpPr>
        <p:spPr>
          <a:xfrm>
            <a:off x="759200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7" name="Text 14"/>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Stato utente e stato supervisore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364384"/>
                <a:gridCol w="3273762"/>
                <a:gridCol w="3819389"/>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Stato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Chi vi gira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Che cosa può fare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Nome in RISC-V</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supervisore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sistema operativo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ogni istruzione dell'insieme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modo macchina (M); modo supervisore (S) dove c'è un sistema operativo completo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utente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programma utente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tutto tranne le istruzioni privilegiate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modo utente (U)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Il processore è in stato supervisore quando esegue il sistema operativo, in stato utente quando esegue un programma utente.</a:t>
            </a:r>
            <a:endParaRPr lang="en-US" sz="1400" dirty="0"/>
          </a:p>
        </p:txBody>
      </p:sp>
      <p:sp>
        <p:nvSpPr>
          <p:cNvPr id="5" name="Shape 2"/>
          <p:cNvSpPr/>
          <p:nvPr/>
        </p:nvSpPr>
        <p:spPr>
          <a:xfrm>
            <a:off x="6503746" y="91440"/>
            <a:ext cx="5139309" cy="274320"/>
          </a:xfrm>
          <a:prstGeom prst="rect">
            <a:avLst/>
          </a:prstGeom>
          <a:solidFill>
            <a:srgbClr val="F3E8FF"/>
          </a:solidFill>
          <a:ln w="12700">
            <a:solidFill>
              <a:srgbClr val="7E22CE"/>
            </a:solidFill>
            <a:prstDash val="dash"/>
          </a:ln>
        </p:spPr>
      </p:sp>
      <p:sp>
        <p:nvSpPr>
          <p:cNvPr id="6" name="Shape 3"/>
          <p:cNvSpPr/>
          <p:nvPr/>
        </p:nvSpPr>
        <p:spPr>
          <a:xfrm>
            <a:off x="6531178" y="128016"/>
            <a:ext cx="45720" cy="45720"/>
          </a:xfrm>
          <a:prstGeom prst="rect">
            <a:avLst/>
          </a:prstGeom>
          <a:solidFill>
            <a:srgbClr val="7E22CE"/>
          </a:solidFill>
          <a:ln w="12700">
            <a:solidFill>
              <a:srgbClr val="7E22CE"/>
            </a:solidFill>
            <a:prstDash val="solid"/>
          </a:ln>
        </p:spPr>
      </p:sp>
      <p:sp>
        <p:nvSpPr>
          <p:cNvPr id="7" name="Shape 4"/>
          <p:cNvSpPr/>
          <p:nvPr/>
        </p:nvSpPr>
        <p:spPr>
          <a:xfrm>
            <a:off x="6531178" y="205740"/>
            <a:ext cx="45720" cy="45720"/>
          </a:xfrm>
          <a:prstGeom prst="rect">
            <a:avLst/>
          </a:prstGeom>
          <a:solidFill>
            <a:srgbClr val="7E22CE"/>
          </a:solidFill>
          <a:ln w="12700">
            <a:solidFill>
              <a:srgbClr val="7E22CE"/>
            </a:solidFill>
            <a:prstDash val="solid"/>
          </a:ln>
        </p:spPr>
      </p:sp>
      <p:sp>
        <p:nvSpPr>
          <p:cNvPr id="8" name="Shape 5"/>
          <p:cNvSpPr/>
          <p:nvPr/>
        </p:nvSpPr>
        <p:spPr>
          <a:xfrm>
            <a:off x="6531178"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6631762" y="128016"/>
            <a:ext cx="201168" cy="201168"/>
          </a:xfrm>
          <a:prstGeom prst="rect">
            <a:avLst/>
          </a:prstGeom>
        </p:spPr>
      </p:pic>
      <p:sp>
        <p:nvSpPr>
          <p:cNvPr id="10" name="Text 6"/>
          <p:cNvSpPr txBox="1"/>
          <p:nvPr/>
        </p:nvSpPr>
        <p:spPr>
          <a:xfrm>
            <a:off x="6887794" y="91440"/>
            <a:ext cx="471868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interruzioni e trap</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11" name="Shape 7"/>
          <p:cNvSpPr/>
          <p:nvPr/>
        </p:nvSpPr>
        <p:spPr>
          <a:xfrm>
            <a:off x="2342972" y="91440"/>
            <a:ext cx="4051046" cy="274320"/>
          </a:xfrm>
          <a:prstGeom prst="rect">
            <a:avLst/>
          </a:prstGeom>
          <a:solidFill>
            <a:srgbClr val="E0F2FE"/>
          </a:solidFill>
          <a:ln w="12700">
            <a:solidFill>
              <a:srgbClr val="0369A1"/>
            </a:solidFill>
            <a:prstDash val="solid"/>
          </a:ln>
        </p:spPr>
      </p:sp>
      <p:sp>
        <p:nvSpPr>
          <p:cNvPr id="12" name="Shape 8"/>
          <p:cNvSpPr/>
          <p:nvPr/>
        </p:nvSpPr>
        <p:spPr>
          <a:xfrm>
            <a:off x="2342972" y="91440"/>
            <a:ext cx="73152" cy="274320"/>
          </a:xfrm>
          <a:prstGeom prst="rect">
            <a:avLst/>
          </a:prstGeom>
          <a:solidFill>
            <a:srgbClr val="0369A1"/>
          </a:solidFill>
          <a:ln w="12700">
            <a:solidFill>
              <a:srgbClr val="0369A1"/>
            </a:solidFill>
            <a:prstDash val="solid"/>
          </a:ln>
        </p:spPr>
      </p:sp>
      <p:pic>
        <p:nvPicPr>
          <p:cNvPr id="13" name="Image 1" descr="preencoded.png">    </p:cNvPr>
          <p:cNvPicPr>
            <a:picLocks noChangeAspect="1"/>
          </p:cNvPicPr>
          <p:nvPr/>
        </p:nvPicPr>
        <p:blipFill>
          <a:blip r:embed="rId2"/>
          <a:stretch>
            <a:fillRect/>
          </a:stretch>
        </p:blipFill>
        <p:spPr>
          <a:xfrm>
            <a:off x="2470988" y="128016"/>
            <a:ext cx="201168" cy="201168"/>
          </a:xfrm>
          <a:prstGeom prst="rect">
            <a:avLst/>
          </a:prstGeom>
        </p:spPr>
      </p:pic>
      <p:sp>
        <p:nvSpPr>
          <p:cNvPr id="14" name="Text 9"/>
          <p:cNvSpPr txBox="1"/>
          <p:nvPr/>
        </p:nvSpPr>
        <p:spPr>
          <a:xfrm>
            <a:off x="2727020"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funzioni dei registri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Transito dei dati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da memoria a registro, da registro a registro, da registro a memoria: load, move, store</a:t>
            </a:r>
            <a:endParaRPr lang="en-US" sz="2100" dirty="0"/>
          </a:p>
        </p:txBody>
      </p:sp>
      <p:sp>
        <p:nvSpPr>
          <p:cNvPr id="5" name="Shape 3"/>
          <p:cNvSpPr/>
          <p:nvPr/>
        </p:nvSpPr>
        <p:spPr>
          <a:xfrm>
            <a:off x="548640" y="23959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724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Accumulo dei risultati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necessario per aritmetica e logica: R := (op) R, oppure R := R (op) X</a:t>
            </a:r>
            <a:endParaRPr lang="en-US" sz="2100" dirty="0"/>
          </a:p>
        </p:txBody>
      </p:sp>
      <p:sp>
        <p:nvSpPr>
          <p:cNvPr id="7" name="Shape 5"/>
          <p:cNvSpPr/>
          <p:nvPr/>
        </p:nvSpPr>
        <p:spPr>
          <a:xfrm>
            <a:off x="548640" y="32758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159"/>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Indirizzamento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trovare l'indirizzo di un operando: registri indice, registri base</a:t>
            </a:r>
            <a:endParaRPr lang="en-US" sz="2100" dirty="0"/>
          </a:p>
        </p:txBody>
      </p:sp>
      <p:sp>
        <p:nvSpPr>
          <p:cNvPr id="9" name="Shape 7"/>
          <p:cNvSpPr/>
          <p:nvPr/>
        </p:nvSpPr>
        <p:spPr>
          <a:xfrm>
            <a:off x="548640" y="41557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57078"/>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Puntatori allo stack</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gestione di uno stack realizzato in memoria</a:t>
            </a:r>
            <a:endParaRPr lang="en-US" sz="2100" dirty="0"/>
          </a:p>
        </p:txBody>
      </p:sp>
      <p:sp>
        <p:nvSpPr>
          <p:cNvPr id="11" name="Shape 9"/>
          <p:cNvSpPr/>
          <p:nvPr/>
        </p:nvSpPr>
        <p:spPr>
          <a:xfrm>
            <a:off x="548640" y="503567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36998"/>
            <a:ext cx="10710367"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Indicatori, o flag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informazione binaria su eventi: zero, segno, overflow, riporto, indirizzi o codici illeciti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prodotti durante l'esecuzione di un'istruzione, possono condizionare le successive</a:t>
            </a:r>
            <a:endParaRPr lang="en-US" sz="2100" dirty="0"/>
          </a:p>
        </p:txBody>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trentadue registri di RISC-V</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1182192"/>
                <a:gridCol w="2910011"/>
                <a:gridCol w="1364067"/>
                <a:gridCol w="1273130"/>
                <a:gridCol w="3182824"/>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Funzione, per convenzione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Funzione, per convenzione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x0</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zero</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sempre 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x8 - x9</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s0 - s1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salvati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ra</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indirizzo di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x10 - x11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a0 - a1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argomenti, risultati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allo stack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x12 - x17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a2 - a7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argomenti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x3</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gp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globale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x18 - x27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s2 - s11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salvati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x4</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al thread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x28 - x31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t3 - t6</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temporanei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x5 - x7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t0 - t2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temporanei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pc</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program counter (fuori dal banco)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La regola della convenzione: una chiamata può distruggere ra, t e a (salvati dal chiamante); s e sp tornano invariati (salvati dal chiamato).</a:t>
            </a:r>
            <a:endParaRPr lang="en-US" sz="1300" dirty="0"/>
          </a:p>
        </p:txBody>
      </p:sp>
      <p:sp>
        <p:nvSpPr>
          <p:cNvPr id="5" name="Shape 2"/>
          <p:cNvSpPr/>
          <p:nvPr/>
        </p:nvSpPr>
        <p:spPr>
          <a:xfrm>
            <a:off x="7920304" y="91440"/>
            <a:ext cx="3722751" cy="274320"/>
          </a:xfrm>
          <a:prstGeom prst="rect">
            <a:avLst/>
          </a:prstGeom>
          <a:solidFill>
            <a:srgbClr val="E0F2FE"/>
          </a:solidFill>
          <a:ln w="12700">
            <a:solidFill>
              <a:srgbClr val="0369A1"/>
            </a:solidFill>
            <a:prstDash val="solid"/>
          </a:ln>
        </p:spPr>
      </p:sp>
      <p:sp>
        <p:nvSpPr>
          <p:cNvPr id="6" name="Shape 3"/>
          <p:cNvSpPr/>
          <p:nvPr/>
        </p:nvSpPr>
        <p:spPr>
          <a:xfrm>
            <a:off x="792030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8" name="Text 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flag: il registro di stato, e la sua assenza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Processori con registro di stato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Bit di flag accessibili dal programma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Z zero, N negativo, V overflow, C riporto, a volte la parità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Un'istruzione li imposta; un salto condizionato successivo li esamina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MC68000: il registro dei codici di condizione; x86: il registro dei flag</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nessun flag</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salto confronta due registri e salta, in una sola istruzione: beq, bne, blt, bge, bltu, bgeu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slt e sltu scrivono il risultato di un confronto in un registro generico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Riporto e overflow si calcolano quando servono (Lezione 05)</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Meno stato nascosto: pipeline più semplici, interruzioni più semplici</a:t>
            </a:r>
            <a:endParaRPr lang="en-US" sz="1900" dirty="0"/>
          </a:p>
        </p:txBody>
      </p:sp>
      <p:sp>
        <p:nvSpPr>
          <p:cNvPr id="9" name="Shape 7"/>
          <p:cNvSpPr/>
          <p:nvPr/>
        </p:nvSpPr>
        <p:spPr>
          <a:xfrm>
            <a:off x="7920304" y="91440"/>
            <a:ext cx="3722751" cy="274320"/>
          </a:xfrm>
          <a:prstGeom prst="rect">
            <a:avLst/>
          </a:prstGeom>
          <a:solidFill>
            <a:srgbClr val="E0F2FE"/>
          </a:solidFill>
          <a:ln w="12700">
            <a:solidFill>
              <a:srgbClr val="0369A1"/>
            </a:solidFill>
            <a:prstDash val="solid"/>
          </a:ln>
        </p:spPr>
      </p:sp>
      <p:sp>
        <p:nvSpPr>
          <p:cNvPr id="10" name="Shape 8"/>
          <p:cNvSpPr/>
          <p:nvPr/>
        </p:nvSpPr>
        <p:spPr>
          <a:xfrm>
            <a:off x="792030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2" name="Text 9"/>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speciali di RISC-V: i CSR</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3273762"/>
                <a:gridCol w="618377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 cosa contiene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mstatus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della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l'abilitazione globale delle interruzioni e il modo di privilegio precedente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mtvec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delle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l'indirizzo della routine che gestisce interruzioni ed eccezioni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mepc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 counter dell'eccezione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l'indirizzo dell'istruzione che è stata interrotta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mcause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causa della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codice che dice perché è avvenuta la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mie, mip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interruzioni abilitate, interruzioni pendenti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bit per sorgente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6503746" y="91440"/>
            <a:ext cx="5139309" cy="274320"/>
          </a:xfrm>
          <a:prstGeom prst="rect">
            <a:avLst/>
          </a:prstGeom>
          <a:solidFill>
            <a:srgbClr val="F3E8FF"/>
          </a:solidFill>
          <a:ln w="12700">
            <a:solidFill>
              <a:srgbClr val="7E22CE"/>
            </a:solidFill>
            <a:prstDash val="dash"/>
          </a:ln>
        </p:spPr>
      </p:sp>
      <p:sp>
        <p:nvSpPr>
          <p:cNvPr id="5" name="Shape 2"/>
          <p:cNvSpPr/>
          <p:nvPr/>
        </p:nvSpPr>
        <p:spPr>
          <a:xfrm>
            <a:off x="6531178" y="128016"/>
            <a:ext cx="45720" cy="45720"/>
          </a:xfrm>
          <a:prstGeom prst="rect">
            <a:avLst/>
          </a:prstGeom>
          <a:solidFill>
            <a:srgbClr val="7E22CE"/>
          </a:solidFill>
          <a:ln w="12700">
            <a:solidFill>
              <a:srgbClr val="7E22CE"/>
            </a:solidFill>
            <a:prstDash val="solid"/>
          </a:ln>
        </p:spPr>
      </p:sp>
      <p:sp>
        <p:nvSpPr>
          <p:cNvPr id="6" name="Shape 3"/>
          <p:cNvSpPr/>
          <p:nvPr/>
        </p:nvSpPr>
        <p:spPr>
          <a:xfrm>
            <a:off x="6531178" y="205740"/>
            <a:ext cx="45720" cy="45720"/>
          </a:xfrm>
          <a:prstGeom prst="rect">
            <a:avLst/>
          </a:prstGeom>
          <a:solidFill>
            <a:srgbClr val="7E22CE"/>
          </a:solidFill>
          <a:ln w="12700">
            <a:solidFill>
              <a:srgbClr val="7E22CE"/>
            </a:solidFill>
            <a:prstDash val="solid"/>
          </a:ln>
        </p:spPr>
      </p:sp>
      <p:sp>
        <p:nvSpPr>
          <p:cNvPr id="7" name="Shape 4"/>
          <p:cNvSpPr/>
          <p:nvPr/>
        </p:nvSpPr>
        <p:spPr>
          <a:xfrm>
            <a:off x="6531178"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6631762" y="128016"/>
            <a:ext cx="201168" cy="201168"/>
          </a:xfrm>
          <a:prstGeom prst="rect">
            <a:avLst/>
          </a:prstGeom>
        </p:spPr>
      </p:pic>
      <p:sp>
        <p:nvSpPr>
          <p:cNvPr id="9" name="Text 5"/>
          <p:cNvSpPr txBox="1"/>
          <p:nvPr/>
        </p:nvSpPr>
        <p:spPr>
          <a:xfrm>
            <a:off x="6887794" y="91440"/>
            <a:ext cx="471868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interruzioni e trap</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10" name="Shape 6"/>
          <p:cNvSpPr/>
          <p:nvPr/>
        </p:nvSpPr>
        <p:spPr>
          <a:xfrm>
            <a:off x="2671267" y="91440"/>
            <a:ext cx="3722751" cy="274320"/>
          </a:xfrm>
          <a:prstGeom prst="rect">
            <a:avLst/>
          </a:prstGeom>
          <a:solidFill>
            <a:srgbClr val="E0F2FE"/>
          </a:solidFill>
          <a:ln w="12700">
            <a:solidFill>
              <a:srgbClr val="0369A1"/>
            </a:solidFill>
            <a:prstDash val="solid"/>
          </a:ln>
        </p:spPr>
      </p:sp>
      <p:sp>
        <p:nvSpPr>
          <p:cNvPr id="11" name="Shape 7"/>
          <p:cNvSpPr/>
          <p:nvPr/>
        </p:nvSpPr>
        <p:spPr>
          <a:xfrm>
            <a:off x="2671267"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2799283" y="128016"/>
            <a:ext cx="201168" cy="201168"/>
          </a:xfrm>
          <a:prstGeom prst="rect">
            <a:avLst/>
          </a:prstGeom>
        </p:spPr>
      </p:pic>
      <p:sp>
        <p:nvSpPr>
          <p:cNvPr id="13" name="Text 8"/>
          <p:cNvSpPr txBox="1"/>
          <p:nvPr/>
        </p:nvSpPr>
        <p:spPr>
          <a:xfrm>
            <a:off x="3055315"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struttura dati astratta con due operazioni: push memorizza un elemento come ultimo della pila, pop toglie l'ultimo elemento</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Lavora sempre e solo sulla cima: non occorre dire dove memorizzare o prelevare</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Serve a mettere da parte il contenuto dei registri da liberare per svolgere un compito, e a ripristinarlo dopo: sottoprogrammi, interruzioni</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Realizzato con un puntatore, in memoria o in un registro dedicato, che indica in ogni istante la posizione dell'ultimo elemento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operazioni sullo stack dovrebbero controllare l'overflow su un push e lo stack vuoto su un pop</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LIFO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l'ultimo valore inserito è il primo a essere estratto</a:t>
            </a:r>
            <a:endParaRPr lang="en-US" sz="1900" dirty="0"/>
          </a:p>
        </p:txBody>
      </p:sp>
      <p:sp>
        <p:nvSpPr>
          <p:cNvPr id="16" name="Shape 14"/>
          <p:cNvSpPr/>
          <p:nvPr/>
        </p:nvSpPr>
        <p:spPr>
          <a:xfrm>
            <a:off x="8773871" y="91440"/>
            <a:ext cx="2869184" cy="274320"/>
          </a:xfrm>
          <a:prstGeom prst="rect">
            <a:avLst/>
          </a:prstGeom>
          <a:solidFill>
            <a:srgbClr val="E0F2FE"/>
          </a:solidFill>
          <a:ln w="12700">
            <a:solidFill>
              <a:srgbClr val="0369A1"/>
            </a:solidFill>
            <a:prstDash val="solid"/>
          </a:ln>
        </p:spPr>
      </p:sp>
      <p:sp>
        <p:nvSpPr>
          <p:cNvPr id="17" name="Shape 15"/>
          <p:cNvSpPr/>
          <p:nvPr/>
        </p:nvSpPr>
        <p:spPr>
          <a:xfrm>
            <a:off x="877387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901887" y="128016"/>
            <a:ext cx="201168" cy="201168"/>
          </a:xfrm>
          <a:prstGeom prst="rect">
            <a:avLst/>
          </a:prstGeom>
        </p:spPr>
      </p:pic>
      <p:sp>
        <p:nvSpPr>
          <p:cNvPr id="19" name="Text 16"/>
          <p:cNvSpPr txBox="1"/>
          <p:nvPr/>
        </p:nvSpPr>
        <p:spPr>
          <a:xfrm>
            <a:off x="9157919" y="91440"/>
            <a:ext cx="244856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pila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architetture del processore</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Registri generici</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Il processore ha un insieme di registri REG0, REG1, ..., REGN-1 utilizzabili in modo intercambiabile.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Accumulatore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Tutte le istruzioni aritmetiche, logiche e di confronto hanno un operando implicito: un registro speciale, l'accumulatore.</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Non ci sono né accumulatori né registri generici, solo il puntatore allo stack; le istruzioni lavorano sui dati in cima allo stack.</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Ortogonale</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 unico banco di registri generici, alcuni dei quali fanno, quando serve, da puntatore allo stack o da altri registri speciali.</a:t>
            </a:r>
            <a:endParaRPr lang="en-US" sz="1900" dirty="0"/>
          </a:p>
        </p:txBody>
      </p:sp>
      <p:sp>
        <p:nvSpPr>
          <p:cNvPr id="19" name="Shape 17"/>
          <p:cNvSpPr/>
          <p:nvPr/>
        </p:nvSpPr>
        <p:spPr>
          <a:xfrm>
            <a:off x="7395032" y="91440"/>
            <a:ext cx="4248023" cy="274320"/>
          </a:xfrm>
          <a:prstGeom prst="rect">
            <a:avLst/>
          </a:prstGeom>
          <a:solidFill>
            <a:srgbClr val="E0F2FE"/>
          </a:solidFill>
          <a:ln w="12700">
            <a:solidFill>
              <a:srgbClr val="0369A1"/>
            </a:solidFill>
            <a:prstDash val="solid"/>
          </a:ln>
        </p:spPr>
      </p:sp>
      <p:sp>
        <p:nvSpPr>
          <p:cNvPr id="20" name="Shape 18"/>
          <p:cNvSpPr/>
          <p:nvPr/>
        </p:nvSpPr>
        <p:spPr>
          <a:xfrm>
            <a:off x="7395032"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22" name="Text 19"/>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accumulatore, pila, registri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un processore load-store a registri generici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istruzioni che lavorano sui registri sono più veloci di quelle che lavorano su locazioni di memoria: i dati più usati si tengono nei registri</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Solo load e store toccano la memoria; ogni altra istruzione lavora da registro a registro</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operandi: due sorgenti e una destinazione, così nessun valore viene distrutto se non lo si vuole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istruzione fa una cosa semplice e ha dimensione fissa: facile da decodificare, facile da eseguire in pipeline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È questo il significato di RISC: reduced instruction set computer</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load, calcolo, store</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ritmo di ogni programma RISC-V, dal primo contatore all'ultimo gioco</a:t>
            </a:r>
            <a:endParaRPr lang="en-US" sz="1900" dirty="0"/>
          </a:p>
        </p:txBody>
      </p:sp>
      <p:sp>
        <p:nvSpPr>
          <p:cNvPr id="16" name="Shape 14"/>
          <p:cNvSpPr/>
          <p:nvPr/>
        </p:nvSpPr>
        <p:spPr>
          <a:xfrm>
            <a:off x="7395032" y="91440"/>
            <a:ext cx="4248023" cy="274320"/>
          </a:xfrm>
          <a:prstGeom prst="rect">
            <a:avLst/>
          </a:prstGeom>
          <a:solidFill>
            <a:srgbClr val="E0F2FE"/>
          </a:solidFill>
          <a:ln w="12700">
            <a:solidFill>
              <a:srgbClr val="0369A1"/>
            </a:solidFill>
            <a:prstDash val="solid"/>
          </a:ln>
        </p:spPr>
      </p:sp>
      <p:sp>
        <p:nvSpPr>
          <p:cNvPr id="17" name="Shape 15"/>
          <p:cNvSpPr/>
          <p:nvPr/>
        </p:nvSpPr>
        <p:spPr>
          <a:xfrm>
            <a:off x="7395032"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19" name="Text 16"/>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accumulatore, pila, registri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L'architettura di un processore RV32</a:t>
            </a:r>
            <a:endParaRPr lang="en-US" sz="3200" dirty="0"/>
          </a:p>
        </p:txBody>
      </p:sp>
      <p:sp>
        <p:nvSpPr>
          <p:cNvPr id="3" name="Text 1"/>
          <p:cNvSpPr txBox="1"/>
          <p:nvPr/>
        </p:nvSpPr>
        <p:spPr>
          <a:xfrm>
            <a:off x="548640" y="2240280"/>
            <a:ext cx="1188720" cy="1463040"/>
          </a:xfrm>
          <a:prstGeom prst="roundRect">
            <a:avLst>
              <a:gd name="adj" fmla="val 4615"/>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indirizzo</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dell'istruzione</a:t>
            </a:r>
            <a:endParaRPr lang="en-US" sz="1500" dirty="0"/>
          </a:p>
        </p:txBody>
      </p:sp>
      <p:sp>
        <p:nvSpPr>
          <p:cNvPr id="4" name="Shape 2"/>
          <p:cNvSpPr/>
          <p:nvPr/>
        </p:nvSpPr>
        <p:spPr>
          <a:xfrm>
            <a:off x="1773936" y="2971800"/>
            <a:ext cx="371795" cy="0"/>
          </a:xfrm>
          <a:prstGeom prst="line">
            <a:avLst/>
          </a:prstGeom>
          <a:noFill/>
          <a:ln w="31750">
            <a:solidFill>
              <a:srgbClr val="5B6B78"/>
            </a:solidFill>
            <a:prstDash val="solid"/>
            <a:tailEnd type="triangle"/>
          </a:ln>
        </p:spPr>
      </p:sp>
      <p:sp>
        <p:nvSpPr>
          <p:cNvPr id="5" name="Text 3"/>
          <p:cNvSpPr txBox="1"/>
          <p:nvPr/>
        </p:nvSpPr>
        <p:spPr>
          <a:xfrm>
            <a:off x="2182307" y="2240280"/>
            <a:ext cx="1554480" cy="1463040"/>
          </a:xfrm>
          <a:prstGeom prst="roundRect">
            <a:avLst>
              <a:gd name="adj" fmla="val 375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memoria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istruzioni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prelievo</a:t>
            </a:r>
            <a:endParaRPr lang="en-US" sz="1500" dirty="0"/>
          </a:p>
        </p:txBody>
      </p:sp>
      <p:sp>
        <p:nvSpPr>
          <p:cNvPr id="6" name="Shape 4"/>
          <p:cNvSpPr/>
          <p:nvPr/>
        </p:nvSpPr>
        <p:spPr>
          <a:xfrm>
            <a:off x="3773363" y="2971800"/>
            <a:ext cx="371795" cy="0"/>
          </a:xfrm>
          <a:prstGeom prst="line">
            <a:avLst/>
          </a:prstGeom>
          <a:noFill/>
          <a:ln w="31750">
            <a:solidFill>
              <a:srgbClr val="5B6B78"/>
            </a:solidFill>
            <a:prstDash val="solid"/>
            <a:tailEnd type="triangle"/>
          </a:ln>
        </p:spPr>
      </p:sp>
      <p:sp>
        <p:nvSpPr>
          <p:cNvPr id="7" name="Text 5"/>
          <p:cNvSpPr txBox="1"/>
          <p:nvPr/>
        </p:nvSpPr>
        <p:spPr>
          <a:xfrm>
            <a:off x="4181734" y="2240280"/>
            <a:ext cx="1737360" cy="1463040"/>
          </a:xfrm>
          <a:prstGeom prst="roundRect">
            <a:avLst>
              <a:gd name="adj" fmla="val 375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decodificatore 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unità di controllo</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campi 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comandi</a:t>
            </a:r>
            <a:endParaRPr lang="en-US" sz="1500" dirty="0"/>
          </a:p>
        </p:txBody>
      </p:sp>
      <p:sp>
        <p:nvSpPr>
          <p:cNvPr id="8" name="Shape 6"/>
          <p:cNvSpPr/>
          <p:nvPr/>
        </p:nvSpPr>
        <p:spPr>
          <a:xfrm>
            <a:off x="5955670" y="2971800"/>
            <a:ext cx="371795" cy="0"/>
          </a:xfrm>
          <a:prstGeom prst="line">
            <a:avLst/>
          </a:prstGeom>
          <a:noFill/>
          <a:ln w="31750">
            <a:solidFill>
              <a:srgbClr val="5B6B78"/>
            </a:solidFill>
            <a:prstDash val="solid"/>
            <a:tailEnd type="triangle"/>
          </a:ln>
        </p:spPr>
      </p:sp>
      <p:sp>
        <p:nvSpPr>
          <p:cNvPr id="9" name="Text 7"/>
          <p:cNvSpPr txBox="1"/>
          <p:nvPr/>
        </p:nvSpPr>
        <p:spPr>
          <a:xfrm>
            <a:off x="6364041" y="2240280"/>
            <a:ext cx="164592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banco dei registri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x0 - x31</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32 x 32 bit</a:t>
            </a:r>
            <a:endParaRPr lang="en-US" sz="1500" dirty="0"/>
          </a:p>
        </p:txBody>
      </p:sp>
      <p:sp>
        <p:nvSpPr>
          <p:cNvPr id="10" name="Shape 8"/>
          <p:cNvSpPr/>
          <p:nvPr/>
        </p:nvSpPr>
        <p:spPr>
          <a:xfrm>
            <a:off x="8046537" y="2971800"/>
            <a:ext cx="371795" cy="0"/>
          </a:xfrm>
          <a:prstGeom prst="line">
            <a:avLst/>
          </a:prstGeom>
          <a:noFill/>
          <a:ln w="31750">
            <a:solidFill>
              <a:srgbClr val="5B6B78"/>
            </a:solidFill>
            <a:prstDash val="solid"/>
            <a:tailEnd type="triangle"/>
          </a:ln>
        </p:spPr>
      </p:sp>
      <p:sp>
        <p:nvSpPr>
          <p:cNvPr id="11" name="Text 9"/>
          <p:cNvSpPr txBox="1"/>
          <p:nvPr/>
        </p:nvSpPr>
        <p:spPr>
          <a:xfrm>
            <a:off x="8454908" y="2240280"/>
            <a:ext cx="1371600" cy="146304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ALU</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calcola, o forma</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un indirizzo</a:t>
            </a:r>
            <a:endParaRPr lang="en-US" sz="1500" dirty="0"/>
          </a:p>
        </p:txBody>
      </p:sp>
      <p:sp>
        <p:nvSpPr>
          <p:cNvPr id="12" name="Shape 10"/>
          <p:cNvSpPr/>
          <p:nvPr/>
        </p:nvSpPr>
        <p:spPr>
          <a:xfrm>
            <a:off x="9863084" y="2971800"/>
            <a:ext cx="371795" cy="0"/>
          </a:xfrm>
          <a:prstGeom prst="line">
            <a:avLst/>
          </a:prstGeom>
          <a:noFill/>
          <a:ln w="31750">
            <a:solidFill>
              <a:srgbClr val="5B6B78"/>
            </a:solidFill>
            <a:prstDash val="solid"/>
            <a:tailEnd type="triangle"/>
          </a:ln>
        </p:spPr>
      </p:sp>
      <p:sp>
        <p:nvSpPr>
          <p:cNvPr id="13" name="Text 11"/>
          <p:cNvSpPr txBox="1"/>
          <p:nvPr/>
        </p:nvSpPr>
        <p:spPr>
          <a:xfrm>
            <a:off x="10271455" y="2240280"/>
            <a:ext cx="1371600" cy="1463040"/>
          </a:xfrm>
          <a:prstGeom prst="roundRect">
            <a:avLst>
              <a:gd name="adj" fmla="val 4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memoria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dati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load, store</a:t>
            </a:r>
            <a:endParaRPr lang="en-US" sz="1500" dirty="0"/>
          </a:p>
        </p:txBody>
      </p:sp>
      <p:sp>
        <p:nvSpPr>
          <p:cNvPr id="14" name="Shape 12"/>
          <p:cNvSpPr/>
          <p:nvPr/>
        </p:nvSpPr>
        <p:spPr>
          <a:xfrm>
            <a:off x="10957255" y="3730752"/>
            <a:ext cx="0" cy="612648"/>
          </a:xfrm>
          <a:prstGeom prst="line">
            <a:avLst/>
          </a:prstGeom>
          <a:noFill/>
          <a:ln w="31750">
            <a:solidFill>
              <a:srgbClr val="2F7D4F"/>
            </a:solidFill>
            <a:prstDash val="solid"/>
          </a:ln>
        </p:spPr>
      </p:sp>
      <p:sp>
        <p:nvSpPr>
          <p:cNvPr id="15" name="Shape 13"/>
          <p:cNvSpPr/>
          <p:nvPr/>
        </p:nvSpPr>
        <p:spPr>
          <a:xfrm flipH="1">
            <a:off x="7187001" y="4343400"/>
            <a:ext cx="3770254" cy="0"/>
          </a:xfrm>
          <a:prstGeom prst="line">
            <a:avLst/>
          </a:prstGeom>
          <a:noFill/>
          <a:ln w="31750">
            <a:solidFill>
              <a:srgbClr val="2F7D4F"/>
            </a:solidFill>
            <a:prstDash val="solid"/>
          </a:ln>
        </p:spPr>
      </p:sp>
      <p:sp>
        <p:nvSpPr>
          <p:cNvPr id="16" name="Shape 14"/>
          <p:cNvSpPr/>
          <p:nvPr/>
        </p:nvSpPr>
        <p:spPr>
          <a:xfrm flipV="1">
            <a:off x="7187001" y="3730752"/>
            <a:ext cx="0" cy="612648"/>
          </a:xfrm>
          <a:prstGeom prst="line">
            <a:avLst/>
          </a:prstGeom>
          <a:noFill/>
          <a:ln w="31750">
            <a:solidFill>
              <a:srgbClr val="2F7D4F"/>
            </a:solidFill>
            <a:prstDash val="solid"/>
            <a:tailEnd type="triangle"/>
          </a:ln>
        </p:spPr>
      </p:sp>
      <p:sp>
        <p:nvSpPr>
          <p:cNvPr id="17" name="Text 15"/>
          <p:cNvSpPr txBox="1"/>
          <p:nvPr/>
        </p:nvSpPr>
        <p:spPr>
          <a:xfrm>
            <a:off x="7187001" y="4389120"/>
            <a:ext cx="3770254" cy="274320"/>
          </a:xfrm>
          <a:prstGeom prst="rect">
            <a:avLst/>
          </a:prstGeom>
          <a:noFill/>
          <a:ln/>
        </p:spPr>
        <p:txBody>
          <a:bodyPr wrap="square" lIns="0" tIns="0" rIns="0" bIns="0" rtlCol="0" anchor="t"/>
          <a:lstStyle/>
          <a:p>
            <a:pPr algn="ctr" indent="0" marL="0">
              <a:buNone/>
            </a:pPr>
            <a:r>
              <a:rPr lang="en-US" sz="1250" b="1" dirty="0">
                <a:solidFill>
                  <a:srgbClr val="2F7D4F"/>
                </a:solidFill>
                <a:latin typeface="Calibri" pitchFamily="34" charset="0"/>
                <a:ea typeface="Calibri" pitchFamily="34" charset="-122"/>
                <a:cs typeface="Calibri" pitchFamily="34" charset="-120"/>
              </a:rPr>
              <a:t>write back: il risultato torna nel registro indicato da rd</a:t>
            </a:r>
            <a:endParaRPr lang="en-US" sz="1250" dirty="0"/>
          </a:p>
        </p:txBody>
      </p:sp>
      <p:sp>
        <p:nvSpPr>
          <p:cNvPr id="18" name="Shape 16"/>
          <p:cNvSpPr/>
          <p:nvPr/>
        </p:nvSpPr>
        <p:spPr>
          <a:xfrm>
            <a:off x="1143000" y="1691640"/>
            <a:ext cx="0" cy="521208"/>
          </a:xfrm>
          <a:prstGeom prst="line">
            <a:avLst/>
          </a:prstGeom>
          <a:noFill/>
          <a:ln w="31750">
            <a:solidFill>
              <a:srgbClr val="B23A48"/>
            </a:solidFill>
            <a:prstDash val="solid"/>
            <a:tailEnd type="triangle"/>
          </a:ln>
        </p:spPr>
      </p:sp>
      <p:sp>
        <p:nvSpPr>
          <p:cNvPr id="19" name="Shape 17"/>
          <p:cNvSpPr/>
          <p:nvPr/>
        </p:nvSpPr>
        <p:spPr>
          <a:xfrm>
            <a:off x="1143000" y="1691640"/>
            <a:ext cx="7997708" cy="0"/>
          </a:xfrm>
          <a:prstGeom prst="line">
            <a:avLst/>
          </a:prstGeom>
          <a:noFill/>
          <a:ln w="31750">
            <a:solidFill>
              <a:srgbClr val="B23A48"/>
            </a:solidFill>
            <a:prstDash val="solid"/>
          </a:ln>
        </p:spPr>
      </p:sp>
      <p:sp>
        <p:nvSpPr>
          <p:cNvPr id="20" name="Shape 18"/>
          <p:cNvSpPr/>
          <p:nvPr/>
        </p:nvSpPr>
        <p:spPr>
          <a:xfrm>
            <a:off x="9140708" y="1691640"/>
            <a:ext cx="0" cy="521208"/>
          </a:xfrm>
          <a:prstGeom prst="line">
            <a:avLst/>
          </a:prstGeom>
          <a:noFill/>
          <a:ln w="31750">
            <a:solidFill>
              <a:srgbClr val="B23A48"/>
            </a:solidFill>
            <a:prstDash val="solid"/>
          </a:ln>
        </p:spPr>
      </p:sp>
      <p:sp>
        <p:nvSpPr>
          <p:cNvPr id="21" name="Text 19"/>
          <p:cNvSpPr txBox="1"/>
          <p:nvPr/>
        </p:nvSpPr>
        <p:spPr>
          <a:xfrm>
            <a:off x="1325880" y="1371600"/>
            <a:ext cx="5486400" cy="274320"/>
          </a:xfrm>
          <a:prstGeom prst="rect">
            <a:avLst/>
          </a:prstGeom>
          <a:noFill/>
          <a:ln/>
        </p:spPr>
        <p:txBody>
          <a:bodyPr wrap="square" lIns="0" tIns="0" rIns="0" bIns="0" rtlCol="0" anchor="t"/>
          <a:lstStyle/>
          <a:p>
            <a:pPr indent="0" marL="0">
              <a:buNone/>
            </a:pPr>
            <a:r>
              <a:rPr lang="en-US" sz="1250" b="1" dirty="0">
                <a:solidFill>
                  <a:srgbClr val="B23A48"/>
                </a:solidFill>
                <a:latin typeface="Calibri" pitchFamily="34" charset="0"/>
                <a:ea typeface="Calibri" pitchFamily="34" charset="-122"/>
                <a:cs typeface="Calibri" pitchFamily="34" charset="-120"/>
              </a:rPr>
              <a:t>PC prossimo: PC + 4, oppure la destinazione del salto</a:t>
            </a:r>
            <a:endParaRPr lang="en-US" sz="1250" dirty="0"/>
          </a:p>
        </p:txBody>
      </p:sp>
      <p:sp>
        <p:nvSpPr>
          <p:cNvPr id="22" name="Text 20"/>
          <p:cNvSpPr txBox="1"/>
          <p:nvPr/>
        </p:nvSpPr>
        <p:spPr>
          <a:xfrm>
            <a:off x="548640" y="5120640"/>
            <a:ext cx="11094415" cy="1051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Accanto, fuori dal percorso principale: il banco dei registri di controllo e stato, e la logica delle trap della Lezione 19. Rispetto all'MC68000 della presentazione originale non ci sono registri dati e indirizzi separati, né registro dei codici di condizione, né registro dell'indirizzo effettivo.</a:t>
            </a:r>
            <a:endParaRPr lang="en-US" sz="1450" dirty="0"/>
          </a:p>
        </p:txBody>
      </p:sp>
      <p:sp>
        <p:nvSpPr>
          <p:cNvPr id="23" name="Shape 21"/>
          <p:cNvSpPr/>
          <p:nvPr/>
        </p:nvSpPr>
        <p:spPr>
          <a:xfrm>
            <a:off x="8051622" y="91440"/>
            <a:ext cx="3591433" cy="274320"/>
          </a:xfrm>
          <a:prstGeom prst="rect">
            <a:avLst/>
          </a:prstGeom>
          <a:solidFill>
            <a:srgbClr val="E0F2FE"/>
          </a:solidFill>
          <a:ln w="12700">
            <a:solidFill>
              <a:srgbClr val="0369A1"/>
            </a:solidFill>
            <a:prstDash val="solid"/>
          </a:ln>
        </p:spPr>
      </p:sp>
      <p:sp>
        <p:nvSpPr>
          <p:cNvPr id="24" name="Shape 22"/>
          <p:cNvSpPr/>
          <p:nvPr/>
        </p:nvSpPr>
        <p:spPr>
          <a:xfrm>
            <a:off x="8051622"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26" name="Text 23"/>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processore RV32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processore del kit PRG32</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854815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Caratteristica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Insieme di istruzioni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RV32IMAC: insieme intero di base, moltiplicazione e divisione, atomiche, istruzioni compresse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Core principale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core RISC-V a 32 bit, fino a 160 MHz, pipeline a quattro stadi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Secondo 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core RISC-V a basso consumo, fino a 20 MHz, per i compiti che girano mentre il core principale dorme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Modi di privilegio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macchina e utente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Virgola mobile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nessuna: né estensione F né 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Memoria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512 KB di SRAM, 320 KB di ROM, flash esterna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Sullo stesso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radio Wi-Fi 6, Bluetooth, Thread e Zigbee; periferiche SPI, I2S, GPIO e timer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051622" y="91440"/>
            <a:ext cx="3591433" cy="274320"/>
          </a:xfrm>
          <a:prstGeom prst="rect">
            <a:avLst/>
          </a:prstGeom>
          <a:solidFill>
            <a:srgbClr val="E0F2FE"/>
          </a:solidFill>
          <a:ln w="12700">
            <a:solidFill>
              <a:srgbClr val="0369A1"/>
            </a:solidFill>
            <a:prstDash val="solid"/>
          </a:ln>
        </p:spPr>
      </p:sp>
      <p:sp>
        <p:nvSpPr>
          <p:cNvPr id="5" name="Shape 2"/>
          <p:cNvSpPr/>
          <p:nvPr/>
        </p:nvSpPr>
        <p:spPr>
          <a:xfrm>
            <a:off x="805162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7" name="Text 3"/>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processore RV32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registro del modello generale non ha corrispettivo in RISC-V?</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program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registro di stato con i flag</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puntatore allo stack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registro istruzione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RISC-V, quali istruzioni possono leggere o scrivere la memoria centrale?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tutte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 e sub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solo load e store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solo i salti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Dopo addi sp, sp, -4 e sw t0, 0(sp), che cosa è successo?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è stato estratto dallo stack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è stato inserito sullo stack</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lo stack è stato svuotato</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è stato salvato in t0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una macchina ad accumulatore, l'istruzione ADD y significa: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y + accumulatore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accumulatore := accumulatore + [y]</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push di y, poi somma</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accumulatore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contatore di programma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machine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status register, flags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stato, indicatori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general / special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generico / speciale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supervisor / user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supervisore / utente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privileged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istruzione privilegiata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processore comanda e controlla, appoggiandosi alla memoria e ai sistemi di ingresso/uscita</a:t>
            </a:r>
            <a:endParaRPr lang="en-US" sz="1900" dirty="0"/>
          </a:p>
        </p:txBody>
      </p:sp>
      <p:sp>
        <p:nvSpPr>
          <p:cNvPr id="5" name="Shape 3"/>
          <p:cNvSpPr/>
          <p:nvPr/>
        </p:nvSpPr>
        <p:spPr>
          <a:xfrm>
            <a:off x="548640" y="22807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760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registri sono locazioni di memoria che possono stare fisicamente dentro o fuori dal processore</a:t>
            </a:r>
            <a:endParaRPr lang="en-US" sz="1900" dirty="0"/>
          </a:p>
        </p:txBody>
      </p:sp>
      <p:sp>
        <p:nvSpPr>
          <p:cNvPr id="7" name="Shape 5"/>
          <p:cNvSpPr/>
          <p:nvPr/>
        </p:nvSpPr>
        <p:spPr>
          <a:xfrm>
            <a:off x="548640" y="306108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7789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tipi di registri e il modo in cui si usano determinano il modello di processore: accumulatore, stack, registri generici</a:t>
            </a:r>
            <a:endParaRPr lang="en-US" sz="1900" dirty="0"/>
          </a:p>
        </p:txBody>
      </p:sp>
      <p:sp>
        <p:nvSpPr>
          <p:cNvPr id="9" name="Shape 7"/>
          <p:cNvSpPr/>
          <p:nvPr/>
        </p:nvSpPr>
        <p:spPr>
          <a:xfrm>
            <a:off x="548640" y="384136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5818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ALU svolge le operazioni tra operandi</a:t>
            </a:r>
            <a:endParaRPr lang="en-US" sz="1900" dirty="0"/>
          </a:p>
        </p:txBody>
      </p:sp>
      <p:sp>
        <p:nvSpPr>
          <p:cNvPr id="11" name="Shape 9"/>
          <p:cNvSpPr/>
          <p:nvPr/>
        </p:nvSpPr>
        <p:spPr>
          <a:xfrm>
            <a:off x="548640" y="43272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2440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è un processore load-store a registri generici, senza flag e senza istruzioni di I/O: pochi elementi, ciascuno semplice</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capitoli 2 e 4</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RISC-V Instruction Set Manual, volume I: Unprivileged Architecture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 capitoli su struttura e funzione del processore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Il processore</dc:title>
  <dc:subject>Lezione 18</dc:subject>
  <dc:creator>Raffaele Montella</dc:creator>
  <cp:lastModifiedBy>Raffaele Montella</cp:lastModifiedBy>
  <cp:revision>1</cp:revision>
  <dcterms:created xsi:type="dcterms:W3CDTF">2026-10-16T20:22:26Z</dcterms:created>
  <dcterms:modified xsi:type="dcterms:W3CDTF">2026-10-16T20:22:26Z</dcterms:modified>
</cp:coreProperties>
</file>