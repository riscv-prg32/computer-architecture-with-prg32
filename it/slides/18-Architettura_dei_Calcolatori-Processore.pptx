
<file path=[Content_Types].xml><?xml version="1.0" encoding="utf-8"?>
<Types xmlns="http://schemas.openxmlformats.org/package/2006/content-types">
  <Default Extension="xml" ContentType="application/xml"/>
  <Default Extension="rels" ContentType="application/vnd.openxmlformats-package.relationships+xml"/>
  <Default Extension="jpeg" ContentType="image/jpeg"/>
  <Default Extension="jpg" ContentType="image/jpg"/>
  <Default Extension="svg" ContentType="image/svg+xml"/>
  <Default Extension="png" ContentType="image/png"/>
  <Default Extension="gif" ContentType="image/gif"/>
  <Default Extension="m4v" ContentType="video/mp4"/>
  <Default Extension="mp4" ContentType="video/mp4"/>
  <Default Extension="vml" ContentType="application/vnd.openxmlformats-officedocument.vmlDrawing"/>
  <Default Extension="xlsx" ContentType="application/vnd.openxmlformats-officedocument.spreadsheetml.sheet"/>
  <Override PartName="/ppt/presentation.xml" ContentType="application/vnd.openxmlformats-officedocument.presentationml.presentation.main+xml"/>
  <Override PartName="/ppt/notesMasters/notesMaster1.xml" ContentType="application/vnd.openxmlformats-officedocument.presentationml.notesMaster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Masters/slideMaster2.xml" ContentType="application/vnd.openxmlformats-officedocument.presentationml.slideMaster+xml"/>
  <Override PartName="/ppt/slides/slide2.xml" ContentType="application/vnd.openxmlformats-officedocument.presentationml.slide+xml"/>
  <Override PartName="/ppt/slideMasters/slideMaster3.xml" ContentType="application/vnd.openxmlformats-officedocument.presentationml.slideMaster+xml"/>
  <Override PartName="/ppt/slides/slide3.xml" ContentType="application/vnd.openxmlformats-officedocument.presentationml.slide+xml"/>
  <Override PartName="/ppt/slideMasters/slideMaster4.xml" ContentType="application/vnd.openxmlformats-officedocument.presentationml.slideMaster+xml"/>
  <Override PartName="/ppt/slides/slide4.xml" ContentType="application/vnd.openxmlformats-officedocument.presentationml.slide+xml"/>
  <Override PartName="/ppt/slideMasters/slideMaster5.xml" ContentType="application/vnd.openxmlformats-officedocument.presentationml.slideMaster+xml"/>
  <Override PartName="/ppt/slides/slide5.xml" ContentType="application/vnd.openxmlformats-officedocument.presentationml.slide+xml"/>
  <Override PartName="/ppt/slideMasters/slideMaster6.xml" ContentType="application/vnd.openxmlformats-officedocument.presentationml.slideMaster+xml"/>
  <Override PartName="/ppt/slides/slide6.xml" ContentType="application/vnd.openxmlformats-officedocument.presentationml.slide+xml"/>
  <Override PartName="/ppt/slideMasters/slideMaster7.xml" ContentType="application/vnd.openxmlformats-officedocument.presentationml.slideMaster+xml"/>
  <Override PartName="/ppt/slides/slide7.xml" ContentType="application/vnd.openxmlformats-officedocument.presentationml.slide+xml"/>
  <Override PartName="/ppt/slideMasters/slideMaster8.xml" ContentType="application/vnd.openxmlformats-officedocument.presentationml.slideMaster+xml"/>
  <Override PartName="/ppt/slides/slide8.xml" ContentType="application/vnd.openxmlformats-officedocument.presentationml.slide+xml"/>
  <Override PartName="/ppt/slideMasters/slideMaster9.xml" ContentType="application/vnd.openxmlformats-officedocument.presentationml.slideMaster+xml"/>
  <Override PartName="/ppt/slides/slide9.xml" ContentType="application/vnd.openxmlformats-officedocument.presentationml.slide+xml"/>
  <Override PartName="/ppt/slideMasters/slideMaster10.xml" ContentType="application/vnd.openxmlformats-officedocument.presentationml.slideMaster+xml"/>
  <Override PartName="/ppt/slides/slide10.xml" ContentType="application/vnd.openxmlformats-officedocument.presentationml.slide+xml"/>
  <Override PartName="/ppt/slideMasters/slideMaster11.xml" ContentType="application/vnd.openxmlformats-officedocument.presentationml.slideMaster+xml"/>
  <Override PartName="/ppt/slides/slide11.xml" ContentType="application/vnd.openxmlformats-officedocument.presentationml.slide+xml"/>
  <Override PartName="/ppt/slideMasters/slideMaster12.xml" ContentType="application/vnd.openxmlformats-officedocument.presentationml.slideMaster+xml"/>
  <Override PartName="/ppt/slides/slide12.xml" ContentType="application/vnd.openxmlformats-officedocument.presentationml.slide+xml"/>
  <Override PartName="/ppt/slideMasters/slideMaster13.xml" ContentType="application/vnd.openxmlformats-officedocument.presentationml.slideMaster+xml"/>
  <Override PartName="/ppt/slides/slide13.xml" ContentType="application/vnd.openxmlformats-officedocument.presentationml.slide+xml"/>
  <Override PartName="/ppt/slideMasters/slideMaster14.xml" ContentType="application/vnd.openxmlformats-officedocument.presentationml.slideMaster+xml"/>
  <Override PartName="/ppt/slides/slide14.xml" ContentType="application/vnd.openxmlformats-officedocument.presentationml.slide+xml"/>
  <Override PartName="/ppt/slideMasters/slideMaster15.xml" ContentType="application/vnd.openxmlformats-officedocument.presentationml.slideMaster+xml"/>
  <Override PartName="/ppt/slides/slide15.xml" ContentType="application/vnd.openxmlformats-officedocument.presentationml.slide+xml"/>
  <Override PartName="/ppt/slideMasters/slideMaster16.xml" ContentType="application/vnd.openxmlformats-officedocument.presentationml.slideMaster+xml"/>
  <Override PartName="/ppt/slides/slide16.xml" ContentType="application/vnd.openxmlformats-officedocument.presentationml.slide+xml"/>
  <Override PartName="/ppt/slideMasters/slideMaster17.xml" ContentType="application/vnd.openxmlformats-officedocument.presentationml.slideMaster+xml"/>
  <Override PartName="/ppt/slides/slide17.xml" ContentType="application/vnd.openxmlformats-officedocument.presentationml.slide+xml"/>
  <Override PartName="/ppt/slideMasters/slideMaster18.xml" ContentType="application/vnd.openxmlformats-officedocument.presentationml.slideMaster+xml"/>
  <Override PartName="/ppt/slides/slide18.xml" ContentType="application/vnd.openxmlformats-officedocument.presentationml.slide+xml"/>
  <Override PartName="/ppt/slideMasters/slideMaster19.xml" ContentType="application/vnd.openxmlformats-officedocument.presentationml.slideMaster+xml"/>
  <Override PartName="/ppt/slides/slide19.xml" ContentType="application/vnd.openxmlformats-officedocument.presentationml.slide+xml"/>
  <Override PartName="/ppt/slideMasters/slideMaster20.xml" ContentType="application/vnd.openxmlformats-officedocument.presentationml.slideMaster+xml"/>
  <Override PartName="/ppt/slides/slide20.xml" ContentType="application/vnd.openxmlformats-officedocument.presentationml.slide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notesSlides/notesSlide1.xml" ContentType="application/vnd.openxmlformats-officedocument.presentationml.notesSlide+xml"/>
  <Override PartName="/ppt/notesSlides/notesSlide2.xml" ContentType="application/vnd.openxmlformats-officedocument.presentationml.notesSlide+xml"/>
  <Override PartName="/ppt/notesSlides/notesSlide3.xml" ContentType="application/vnd.openxmlformats-officedocument.presentationml.notesSlide+xml"/>
  <Override PartName="/ppt/notesSlides/notesSlide4.xml" ContentType="application/vnd.openxmlformats-officedocument.presentationml.notesSlide+xml"/>
  <Override PartName="/ppt/notesSlides/notesSlide5.xml" ContentType="application/vnd.openxmlformats-officedocument.presentationml.notesSlide+xml"/>
  <Override PartName="/ppt/notesSlides/notesSlide6.xml" ContentType="application/vnd.openxmlformats-officedocument.presentationml.notesSlide+xml"/>
  <Override PartName="/ppt/notesSlides/notesSlide7.xml" ContentType="application/vnd.openxmlformats-officedocument.presentationml.notesSlide+xml"/>
  <Override PartName="/ppt/notesSlides/notesSlide8.xml" ContentType="application/vnd.openxmlformats-officedocument.presentationml.notesSlide+xml"/>
  <Override PartName="/ppt/notesSlides/notesSlide9.xml" ContentType="application/vnd.openxmlformats-officedocument.presentationml.notesSlide+xml"/>
  <Override PartName="/ppt/notesSlides/notesSlide10.xml" ContentType="application/vnd.openxmlformats-officedocument.presentationml.notesSlide+xml"/>
  <Override PartName="/ppt/notesSlides/notesSlide11.xml" ContentType="application/vnd.openxmlformats-officedocument.presentationml.notesSlide+xml"/>
  <Override PartName="/ppt/notesSlides/notesSlide12.xml" ContentType="application/vnd.openxmlformats-officedocument.presentationml.notesSlide+xml"/>
  <Override PartName="/ppt/notesSlides/notesSlide13.xml" ContentType="application/vnd.openxmlformats-officedocument.presentationml.notesSlide+xml"/>
  <Override PartName="/ppt/notesSlides/notesSlide14.xml" ContentType="application/vnd.openxmlformats-officedocument.presentationml.notesSlide+xml"/>
  <Override PartName="/ppt/notesSlides/notesSlide15.xml" ContentType="application/vnd.openxmlformats-officedocument.presentationml.notesSlide+xml"/>
  <Override PartName="/ppt/notesSlides/notesSlide16.xml" ContentType="application/vnd.openxmlformats-officedocument.presentationml.notesSlide+xml"/>
  <Override PartName="/ppt/notesSlides/notesSlide17.xml" ContentType="application/vnd.openxmlformats-officedocument.presentationml.notesSlide+xml"/>
  <Override PartName="/ppt/notesSlides/notesSlide18.xml" ContentType="application/vnd.openxmlformats-officedocument.presentationml.notesSlide+xml"/>
  <Override PartName="/ppt/notesSlides/notesSlide19.xml" ContentType="application/vnd.openxmlformats-officedocument.presentationml.notesSlide+xml"/>
  <Override PartName="/ppt/notesSlides/notesSlide20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</Types>
</file>

<file path=_rels/.rels><?xml version="1.0" encoding="UTF-8" standalone="yes"?>
<Relationships xmlns="http://schemas.openxmlformats.org/package/2006/relationships">
		<Relationship Id="rId1" Type="http://schemas.openxmlformats.org/officeDocument/2006/relationships/extended-properties" Target="docProps/app.xml"/>
		<Relationship Id="rId2" Type="http://schemas.openxmlformats.org/package/2006/relationships/metadata/core-properties" Target="docProps/core.xml"/>
		<Relationship Id="rId3" Type="http://schemas.openxmlformats.org/officeDocument/2006/relationships/officeDocument" Target="ppt/presentation.xml"/>
		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2"/>
    <p:sldId id="257" r:id="rId3"/>
    <p:sldId id="258" r:id="rId4"/>
    <p:sldId id="259" r:id="rId5"/>
    <p:sldId id="260" r:id="rId6"/>
    <p:sldId id="261" r:id="rId7"/>
    <p:sldId id="262" r:id="rId8"/>
    <p:sldId id="263" r:id="rId9"/>
    <p:sldId id="264" r:id="rId10"/>
    <p:sldId id="265" r:id="rId11"/>
    <p:sldId id="266" r:id="rId12"/>
    <p:sldId id="267" r:id="rId13"/>
    <p:sldId id="268" r:id="rId14"/>
    <p:sldId id="269" r:id="rId15"/>
    <p:sldId id="270" r:id="rId16"/>
    <p:sldId id="271" r:id="rId17"/>
    <p:sldId id="272" r:id="rId18"/>
    <p:sldId id="273" r:id="rId19"/>
    <p:sldId id="274" r:id="rId20"/>
    <p:sldId id="275" r:id="rId21"/>
  </p:sldIdLst>
  <p:notesMasterIdLst>
    <p:notesMasterId r:id="rId22"/>
  </p:notesMasterIdLst>
  <p:sldSz cx="12192000" cy="6858000"/>
  <p:notesSz cx="6858000" cy="12192000"/>
  <p:defaultTextStyle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521415D9-36F7-43E2-AB2F-B90AF26B5E84}">
      <p14:sectionLst xmlns:p14="http://schemas.microsoft.com/office/powerpoint/2010/main">
        <p14:section name="Apertura" id="{57ff3c63-35ea-f151-20c2-9b5512670c48}">
          <p14:sldIdLst>
            <p14:sldId id="256"/>
            <p14:sldId id="257"/>
          </p14:sldIdLst>
        </p14:section>
        <p14:section name="Il processore" id="{2075b77c-df86-1fe1-9e5b-ef5e0076d0a1}">
          <p14:sldIdLst>
            <p14:sldId id="258"/>
            <p14:sldId id="259"/>
            <p14:sldId id="260"/>
            <p14:sldId id="261"/>
            <p14:sldId id="262"/>
          </p14:sldIdLst>
        </p14:section>
        <p14:section name="I registri" id="{2ae84c70-c4cd-8c48-a697-8b5cbd1eb818}">
          <p14:sldIdLst>
            <p14:sldId id="263"/>
            <p14:sldId id="264"/>
            <p14:sldId id="265"/>
            <p14:sldId id="266"/>
          </p14:sldIdLst>
        </p14:section>
        <p14:section name="Lo stack" id="{de3afd63-0a67-ca76-10e5-bd7ad63084ad}">
          <p14:sldIdLst>
            <p14:sldId id="267"/>
          </p14:sldIdLst>
        </p14:section>
        <p14:section name="Modelli di processore" id="{9fe44402-e4ca-4ca4-99b1-98c84e89c55d}">
          <p14:sldIdLst>
            <p14:sldId id="268"/>
            <p14:sldId id="269"/>
          </p14:sldIdLst>
        </p14:section>
        <p14:section name="La ALU e il quadro d'insieme" id="{698b183d-fc96-5293-2420-84edf1686e28}">
          <p14:sldIdLst>
            <p14:sldId id="270"/>
            <p14:sldId id="271"/>
            <p14:sldId id="272"/>
            <p14:sldId id="273"/>
            <p14:sldId id="274"/>
            <p14:sldId id="275"/>
          </p14:sldIdLst>
        </p14:section>
      </p14:sectionLst>
    </p:ext>
    <p:ext uri="{EFAFB233-063F-42B5-8137-9DF3F51BA10A}">
      <p15:sld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/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 horzBarState="maximized">
    <p:restoredLeft sz="15611"/>
    <p:restoredTop sz="94610"/>
  </p:normalViewPr>
  <p:slideViewPr>
    <p:cSldViewPr snapToGrid="0" snapToObjects="1">
      <p:cViewPr varScale="1">
        <p:scale>
          <a:sx n="136" d="100"/>
          <a:sy n="136" d="100"/>
        </p:scale>
        <p:origin x="216" y="312"/>
      </p:cViewPr>
      <p:guideLst/>
    </p:cSldViewPr>
  </p:slideViewPr>
  <p:notesTextViewPr>
    <p:cViewPr>
      <p:scale>
        <a:sx n="1" d="1"/>
        <a:sy n="1" d="1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slide" Target="slides/slide1.xml"/><Relationship Id="rId3" Type="http://schemas.openxmlformats.org/officeDocument/2006/relationships/slide" Target="slides/slide2.xml"/><Relationship Id="rId4" Type="http://schemas.openxmlformats.org/officeDocument/2006/relationships/slide" Target="slides/slide3.xml"/><Relationship Id="rId5" Type="http://schemas.openxmlformats.org/officeDocument/2006/relationships/slide" Target="slides/slide4.xml"/><Relationship Id="rId6" Type="http://schemas.openxmlformats.org/officeDocument/2006/relationships/slide" Target="slides/slide5.xml"/><Relationship Id="rId7" Type="http://schemas.openxmlformats.org/officeDocument/2006/relationships/slide" Target="slides/slide6.xml"/><Relationship Id="rId8" Type="http://schemas.openxmlformats.org/officeDocument/2006/relationships/slide" Target="slides/slide7.xml"/><Relationship Id="rId9" Type="http://schemas.openxmlformats.org/officeDocument/2006/relationships/slide" Target="slides/slide8.xml"/><Relationship Id="rId10" Type="http://schemas.openxmlformats.org/officeDocument/2006/relationships/slide" Target="slides/slide9.xml"/><Relationship Id="rId11" Type="http://schemas.openxmlformats.org/officeDocument/2006/relationships/slide" Target="slides/slide10.xml"/><Relationship Id="rId12" Type="http://schemas.openxmlformats.org/officeDocument/2006/relationships/slide" Target="slides/slide11.xml"/><Relationship Id="rId13" Type="http://schemas.openxmlformats.org/officeDocument/2006/relationships/slide" Target="slides/slide12.xml"/><Relationship Id="rId14" Type="http://schemas.openxmlformats.org/officeDocument/2006/relationships/slide" Target="slides/slide13.xml"/><Relationship Id="rId15" Type="http://schemas.openxmlformats.org/officeDocument/2006/relationships/slide" Target="slides/slide14.xml"/><Relationship Id="rId16" Type="http://schemas.openxmlformats.org/officeDocument/2006/relationships/slide" Target="slides/slide15.xml"/><Relationship Id="rId17" Type="http://schemas.openxmlformats.org/officeDocument/2006/relationships/slide" Target="slides/slide16.xml"/><Relationship Id="rId18" Type="http://schemas.openxmlformats.org/officeDocument/2006/relationships/slide" Target="slides/slide17.xml"/><Relationship Id="rId19" Type="http://schemas.openxmlformats.org/officeDocument/2006/relationships/slide" Target="slides/slide18.xml"/><Relationship Id="rId20" Type="http://schemas.openxmlformats.org/officeDocument/2006/relationships/slide" Target="slides/slide19.xml"/><Relationship Id="rId21" Type="http://schemas.openxmlformats.org/officeDocument/2006/relationships/slide" Target="slides/slide20.xml"/><Relationship Id="rId22" Type="http://schemas.openxmlformats.org/officeDocument/2006/relationships/notesMaster" Target="notesMasters/notesMaster1.xml"/><Relationship Id="rId23" Type="http://schemas.openxmlformats.org/officeDocument/2006/relationships/presProps" Target="presProps.xml"/><Relationship Id="rId24" Type="http://schemas.openxmlformats.org/officeDocument/2006/relationships/viewProps" Target="viewProps.xml"/><Relationship Id="rId25" Type="http://schemas.openxmlformats.org/officeDocument/2006/relationships/theme" Target="theme/theme1.xml"/><Relationship Id="rId26" Type="http://schemas.openxmlformats.org/officeDocument/2006/relationships/tableStyles" Target="tableStyles.xml"/></Relationships>
</file>

<file path=ppt/notesMasters/_rels/notesMaster1.xml.rels><?xml version="1.0" encoding="UTF-8" standalone="yes"?>
<Relationships xmlns="http://schemas.openxmlformats.org/package/2006/relationships">
		<Relationship Id="rId1" Type="http://schemas.openxmlformats.org/officeDocument/2006/relationships/theme" Target="../theme/theme1.xml"/>
		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Header Placeholder 1"/>
          <p:cNvSpPr>
            <a:spLocks noGrp="1"/>
          </p:cNvSpPr>
          <p:nvPr>
            <p:ph type="hdr" sz="quarter"/>
          </p:nvPr>
        </p:nvSpPr>
        <p:spPr>
          <a:xfrm>
            <a:off x="0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idx="1"/>
          </p:nvPr>
        </p:nvSpPr>
        <p:spPr>
          <a:xfrm>
            <a:off x="3884613" y="0"/>
            <a:ext cx="2971800" cy="458788"/>
          </a:xfrm>
          <a:prstGeom prst="rect">
            <a:avLst/>
          </a:prstGeom>
        </p:spPr>
        <p:txBody>
          <a:bodyPr vert="horz" lIns="91440" tIns="45720" rIns="91440" bIns="45720" rtlCol="0"/>
          <a:lstStyle>
            <a:lvl1pPr algn="r">
              <a:defRPr sz="1200"/>
            </a:lvl1pPr>
          </a:lstStyle>
          <a:p>
            <a:fld id="{5282F153-3F37-0F45-9E97-73ACFA13230C}" type="datetimeFigureOut">
              <a:rPr lang="en-US"/>
              <a:t>7/23/19</a:t>
            </a:fld>
            <a:endParaRPr lang="en-US"/>
          </a:p>
        </p:txBody>
      </p:sp>
      <p:sp>
        <p:nvSpPr>
          <p:cNvPr id="4" name="Slide Image Placeholder 3"/>
          <p:cNvSpPr>
            <a:spLocks noGrp="1" noRot="1" noChangeAspect="1"/>
          </p:cNvSpPr>
          <p:nvPr>
            <p:ph type="sldImg" idx="2"/>
          </p:nvPr>
        </p:nvSpPr>
        <p:spPr>
          <a:xfrm>
            <a:off x="685800" y="1143000"/>
            <a:ext cx="5486400" cy="3086100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440" tIns="45720" rIns="91440" bIns="45720" rtlCol="0" anchor="ctr"/>
          <a:lstStyle/>
          <a:p>
            <a:endParaRPr lang="en-US"/>
          </a:p>
        </p:txBody>
      </p:sp>
      <p:sp>
        <p:nvSpPr>
          <p:cNvPr id="5" name="Notes Placeholder 4"/>
          <p:cNvSpPr>
            <a:spLocks noGrp="1"/>
          </p:cNvSpPr>
          <p:nvPr>
            <p:ph type="body" sz="quarter" idx="3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vert="horz" lIns="91440" tIns="45720" rIns="91440" bIns="45720" rtlCol="0"/>
          <a:lstStyle/>
          <a:p>
            <a:pPr lvl="0"/>
            <a:r>
              <a:rPr lang="en-US"/>
              <a:t>Click to edit Master text styles</a:t>
            </a:r>
          </a:p>
          <a:p>
            <a:pPr lvl="1"/>
            <a:r>
              <a:rPr lang="en-US"/>
              <a:t>Second level</a:t>
            </a:r>
          </a:p>
          <a:p>
            <a:pPr lvl="2"/>
            <a:r>
              <a:rPr lang="en-US"/>
              <a:t>Third level</a:t>
            </a:r>
          </a:p>
          <a:p>
            <a:pPr lvl="3"/>
            <a:r>
              <a:rPr lang="en-US"/>
              <a:t>Fourth level</a:t>
            </a:r>
          </a:p>
          <a:p>
            <a:pPr lvl="4"/>
            <a:r>
              <a:rPr lang="en-US"/>
              <a:t>Fifth level</a:t>
            </a:r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4"/>
          </p:nvPr>
        </p:nvSpPr>
        <p:spPr>
          <a:xfrm>
            <a:off x="0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l">
              <a:defRPr sz="1200"/>
            </a:lvl1pPr>
          </a:lstStyle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5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</p:spPr>
        <p:txBody>
          <a:bodyPr vert="horz" lIns="91440" tIns="45720" rIns="91440" bIns="45720" rtlCol="0" anchor="b"/>
          <a:lstStyle>
            <a:lvl1pPr algn="r">
              <a:defRPr sz="1200"/>
            </a:lvl1pPr>
          </a:lstStyle>
          <a:p>
            <a:fld id="{CE5E9CC1-C706-0F49-92D6-E571CC5EEA8F}" type="slidenum">
              <a:rPr lang="en-US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.xml"/>
		</Relationships>
</file>

<file path=ppt/notesSlides/_rels/notesSlide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.xml"/>
		</Relationships>
</file>

<file path=ppt/notesSlides/_rels/notesSlide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3.xml"/>
		</Relationships>
</file>

<file path=ppt/notesSlides/_rels/notesSlide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4.xml"/>
		</Relationships>
</file>

<file path=ppt/notesSlides/_rels/notesSlide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5.xml"/>
		</Relationships>
</file>

<file path=ppt/notesSlides/_rels/notesSlide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6.xml"/>
		</Relationships>
</file>

<file path=ppt/notesSlides/_rels/notesSlide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7.xml"/>
		</Relationships>
</file>

<file path=ppt/notesSlides/_rels/notesSlide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8.xml"/>
		</Relationships>
</file>

<file path=ppt/notesSlides/_rels/notesSlide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9.xml"/>
		</Relationships>
</file>

<file path=ppt/notesSlides/_rels/notesSlide1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0.xml"/>
		</Relationships>
</file>

<file path=ppt/notesSlides/_rels/notesSlide11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1.xml"/>
		</Relationships>
</file>

<file path=ppt/notesSlides/_rels/notesSlide12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2.xml"/>
		</Relationships>
</file>

<file path=ppt/notesSlides/_rels/notesSlide13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3.xml"/>
		</Relationships>
</file>

<file path=ppt/notesSlides/_rels/notesSlide14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4.xml"/>
		</Relationships>
</file>

<file path=ppt/notesSlides/_rels/notesSlide15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5.xml"/>
		</Relationships>
</file>

<file path=ppt/notesSlides/_rels/notesSlide16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6.xml"/>
		</Relationships>
</file>

<file path=ppt/notesSlides/_rels/notesSlide17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7.xml"/>
		</Relationships>
</file>

<file path=ppt/notesSlides/_rels/notesSlide18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8.xml"/>
		</Relationships>
</file>

<file path=ppt/notesSlides/_rels/notesSlide19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19.xml"/>
		</Relationships>
</file>

<file path=ppt/notesSlides/_rels/notesSlide20.xml.rels><?xml version="1.0" encoding="UTF-8" standalone="yes"?>
		<Relationships xmlns="http://schemas.openxmlformats.org/package/2006/relationships">
			<Relationship Id="rId1" Type="http://schemas.openxmlformats.org/officeDocument/2006/relationships/notesMaster" Target="../notesMasters/notesMaster1.xml"/>
			<Relationship Id="rId2" Type="http://schemas.openxmlformats.org/officeDocument/2006/relationships/slide" Target="../slides/slide20.xml"/>
		</Relationships>
</file>

<file path=ppt/notesSlides/notesSlide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L'ultimo blocco del corso apre la macchina che finora ha eseguito i vostri programmi. Questa lezione presenta il processore due volte: prima come modello generale, valido per ogni processore, con unità di controllo, registri, stack e unità aritmetica; poi come RISC-V, il processore che programmate dai primi giorni. Ogni elemento astratto del modello ha già, per voi, un nome familiare. L'anello della citazione è il processore stesso: l'unico componente che comanda tutti gli altri.
Stato di apprendimento: DA COMPRENDERE OGGI, alla fine di questa lezione lo spiegate, lo seguite passo passo e lo applicate da soli; DA UTILIZZARE OGGI, oggi seguite e usate la ricetta; come funziona dentro si spiega più avanti, o non fa parte del corso; DA COMPRENDERE PIÙ AVANTI, riconoscete il nome e lo scopo; lo spiega una lezione successiva. Una slide senza etichetta è contesto: una storia, un esempio, una domanda, un esercizio.
Stato di apprendimento di questa lezione. DA COMPRENDERE OGGI: accumulatore, pila, registri; il modello del processore; i registri di RISC-V; la convenzione di chiamata; la pila; il processore RV32. DA UTILIZZARE OGGI: il programma completo, gli strumenti di PRG32 (si usa, non si studia, in questo corso). DA COMPRENDERE PIÙ AVANTI: interruzioni e trap (Lezione 19). Una slide senza etichetta è contesto: una storia, un esempio, una domanda, un esercizio.
Per il docente: La presentazione originale esponeva un modello generale di processore e finiva con l'architettura del Motorola MC68000. Qui il modello generale resta e il riferimento è RISC-V (RV32IMAC, come sull'ESP32-C6 del kit PRG32): gli studenti lo programmano dai primi giorni, quindi ogni elemento astratto ha un nome che conoscono già.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Sei obiettivi. Nominare i componenti di un processore. Distinguere i registri interni dai registri di macchina, e i registri generici da quelli speciali. Spiegare come funziona uno stack e come RISC-V realizza push e pop. Confrontare sullo stesso calcolo tre modelli di processore: accumulatore, stack e registri generici. Descrivere RISC-V come processore load-store a registri generici e leggere il nome RV32IMAC. E riportare ogni elemento del modello sul processore del kit.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richiamo e una definizione. Un calcolatore ha tre sottosistemi, processore, memoria centrale e ingresso/uscita, collegati da bus. Il processore può eseguire soltanto un insieme fisso di istruzioni, da poche decine a poche centinaia, e il linguaggio macchina è l'insieme delle stringhe di bit che le codificano. Le istruzioni richiedono due tipi di cose: trasferimenti di informazione e operazioni aritmetiche o logiche. Programmi e dati stanno entrambi nella memoria centrale.
DA COMPRENDERE OGGI: il modello del processore.
Per il docente: RV32I, la base di RISC-V, ha circa quaranta istruzioni; con le estensioni M, A e C del kit, circa cento codifiche. Il Motorola 68000 aveva cinquantasei tipi di istruzione con molte varianti ciascuno.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modello di riferimento. L'unità di controllo contiene il program counter, con l'indirizzo della prossima istruzione, un registro di decodifica, con l'istruzione in esecuzione, e la rete che emette i comandi. I registri di macchina da R0 a Rn-1 sono quelli che usa il programmatore. L'unità aritmetico-logica ha due registri operando e un registro risultato. Due coppie di registri collegano il processore all'esterno: MA e MB verso la memoria, RI e RU verso ingresso e uscita. Un bus interno collega tutto.
DA COMPRENDERE OGGI: il modello del processore.
Per il docente: Modello di riferimento. Pur basati sullo stesso schema logico, e quindi fatti di componenti abbastanza simili, i processori in commercio possono essere molto diversi tra loro.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Ogni elemento del modello, e che cos'è in RISC-V. Il program counter è pc. I registri di macchina sono da x0 a x31, con i nomi che conoscete. I registri della ALU e quelli verso la memoria esistono nell'hardware ma sono invisibili al programmatore. Due righe dicono «assente», e sono scelte volute: non ci sono registri per ingresso e uscita, perché i dispositivi sono mappati in memoria, e non c'è un registro di stato con i flag. I registri speciali sono i CSR, riservati al software privilegiato.
DA COMPRENDERE OGGI: il modello del processore.
Per il docente: Le due righe «assente» sono semplificazioni volute di RISC-V, spiegate più avanti in questa lezione e nella Lezione 15. L'MC68000 della presentazione originale aveva tutti gli elementi del modello: otto registri dati e otto registri indirizzi, un registro di stato con i codici di condizione, e una circuiteria separata per le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Due classi di registri. I registri interni sono necessari al funzionamento del processore ma non sono visibili al programmatore: il program counter, i registri verso la memoria, quelli della ALU. I registri di macchina definiscono il modello di programmazione: sono quelli nominati nelle istruzioni. Il processore tratta tre tipi di informazione, istruzioni, indirizzi e dati, e ciascuno potrebbe avere una dimensione propria. In RV32 tutti e tre sono larghi 32 bit, e questo rende la macchina molto regolare.
DA COMPRENDERE OGGI: il modello del processore.
Per il docente: Tipi di dato del processore. Il «32» di RV32 è la larghezza dei registri; RV64 ha registri e indirizzi a 64 bit e le stesse istruzioni a 32 bit.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 processore ha almeno due stati di funzionamento. In stato supervisore esegue il sistema operativo e può eseguire ogni istruzione. In stato utente esegue un programma qualunque e può eseguire tutto tranne le istruzioni privilegiate, quelle che potrebbero compromettere il sistema. RISC-V li chiama modi: il modo macchina, il più privilegiato e l'unico obbligatorio, il modo supervisore e il modo utente. Il chip del kit ha macchina e utente. Il passaggio dall'uno all'altro avviene attraverso le trap della prossima lezione.
DA COMPRENDERE OGGI: il modello del processore. DA COMPRENDERE PIÙ AVANTI: interruzioni e trap (si studia nella Lezione 19).
Per il docente: Stato utente o stato supervisore. RISC-V definisce tre modi di privilegio: M, il più privilegiato e l'unico obbligatorio, esegue il firmware; S esegue il kernel di un sistema operativo come Linux; U esegue le applicazioni. L'ESP32-C6 realizza M e U. Il cambio di modo avviene attraverso le trap (Lezione 19).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funzioni dei registri. Transito: portare i dati tra memoria e registri. Accumulo: contenere operandi e risultati dell'aritmetica. Indirizzamento: contenere un indirizzo o una sua parte, come fanno i registri base e indice. Puntatore allo stack: indicare la cima di uno stack in memoria. Flag: singoli bit che registrano eventi come zero, segno, overflow e riporto, per condizionare le istruzioni successive. In RISC-V i registri generici svolgono le prime quattro funzioni; la quinta non esiste come registro.
DA COMPRENDERE OGGI: i registri di RISC-V.
Per il docente: Funzione dei registri. In RISC-V le prime quattro funzioni sono svolte tutte dai registri generici; la quinta non esiste come registro.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La tabella completa dei registri di RISC-V, con numeri, nomi e ruoli. Ne avete usati la maggior parte: zero, ra, sp, i temporanei da t0 a t6, gli argomenti da a0 ad a7, i registri salvati da s0 a s11. Due sono nuovi: gp e tp, usati da compilatori e sistemi operativi. L'hardware tratta allo stesso modo i registri da x1 a x31; solo x0 è speciale. I ruoli vengono dalla convenzione di chiamata. Il program counter non sta nel banco.
DA COMPRENDERE OGGI: i registri di RISC-V; la convenzione di chiamata.
Per il docente: L'hardware tratta allo stesso modo i registri da x1 a x31; solo x0 è speciale. I ruoli vengono dalla convenzione di chiamata, incontrata nella Lezione 02 e qui enunciata come regola: una chiamata può distruggere ra e i registri t e a (salvati dal chiamante: salvateli prima della chiamata se vi servono ancora); deve restituire invariati i registri s e sp (salvati dal chiamato: una funzione che li usa li salva nel suo frame e li ripristina prima di ret). L'MC68000 separava invece i registri dati D0-D7 dai registri indirizzi A0-A7, con A7 come puntatore allo stack.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Molti processori hanno un registro di stato i cui bit, i flag, registrano l'esito dell'ultima operazione: zero, negativo, overflow, riporto. Un'istruzione li imposta, e un salto condizionato successivo li esamina. RISC-V non ne ha. Un salto confronta due registri e salta, tutto in una sola istruzione; slt scrive il risultato di un confronto in un registro ordinario; riporto e overflow si calcolano quando servono, come nella Lezione 05. Meno stato nascosto significa un processore più semplice e interruzioni più semplici.
DA COMPRENDERE OGGI: i registri di RISC-V.
Per il docente: Registro di stato. La presentazione originale elencava Z, N, P (positivo), V, C e un bit di parità.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1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 registri speciali di RISC-V sono i registri di controllo e stato, CSR: un banco separato, letto e scritto solo da codice privilegiato con istruzioni dedicate. Cinque vanno conosciuti per nome: mstatus, con l'abilitazione globale delle interruzioni; mtvec, l'indirizzo della routine che gestisce le trap; mepc, l'indirizzo dell'istruzione interrotta; mcause, la ragione della trap; e la coppia mie e mip, con un bit per sorgente di interruzione. La prossima lezione li usa tutti.
DA COMPRENDERE OGGI: i registri di RISC-V. DA COMPRENDERE PIÙ AVANTI: interruzioni e trap (si studia nella Lezione 19).
Per il docente: Registri di controllo e stato: un banco separato di al più 4096 registri, letti e scritti solo con le istruzioni csrrw, csrrs e csrrc, e solo da codice privilegiato. Sono i «registri delle interruzioni» del modello generale, e l'argomento della Lezione 19.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11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Uno stack ha due operazioni: push memorizza un elemento in cima alla pila, pop toglie l'elemento in cima. Lavora sempre sulla cima, quindi non occorre dire dove: l'ultimo a entrare è il primo a uscire. Serve a mettere da parte il contenuto dei registri da liberare per un compito e a ripristinarlo dopo. Si realizza con un puntatore che indica l'ultimo elemento. I programmi accurati controllano l'overflow su un push e lo stack vuoto su un pop.
DA COMPRENDERE OGGI: la pila; la convenzione di chiamata.
Per il docente: LIFO, last in, first out. Lo usate dalla Lezione 02 per salvare ra.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12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3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Quattro architetture. Con i registri generici il processore ha un insieme di registri intercambiabili. Con un accumulatore, le istruzioni aritmetiche hanno un operando implicito, un registro speciale. In una macchina a stack non ci sono né gli uni né l'altro, solo un puntatore allo stack, e le istruzioni lavorano sulla cima dello stack. Un'architettura ortogonale ha un unico banco di registri generici, alcuni dei quali fanno anche da puntatore allo stack o svolgono altri ruoli speciali. RISC-V è di quest'ultimo tipo.
DA COMPRENDERE OGGI: accumulatore, pila, registri.
Per il docente: Modello a registri generici, ad accumulatore, a stack; architetture ortogonali. La definizione originale di ortogonale cita anche un registro di stato; RISC-V è ortogonale e non ha nemmeno quello.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13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4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RISC-V è un processore load-store a registri generici. Solo load e store toccano la memoria; ogni altra istruzione lavora da registro a registro, che è più veloce. Le istruzioni hanno tre operandi, due sorgenti e una destinazione, così nessun valore viene distrutto se non lo si vuole. Ogni istruzione fa una cosa semplice e ha dimensione fissa, il che la rende facile da decodificare e da eseguire in pipeline. È questo il significato di RISC. Le sette righe del riscaldamento sono il prezzo, e la semplicità di ogni riga è il guadagno.
DA COMPRENDERE OGGI: accumulatore, pila, registri.
Per il docente: Da registro a registro: [REGX] + [REGY] dà [REGZ]. Le forme da memoria a registro e da registro a memoria della presentazione originale esistono nei processori CISC e sono esattamente ciò a cui RISC rinuncia.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14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5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Lo schema a blocchi di un processore RV32, da sinistra a destra. Il PC dà l'indirizzo dell'istruzione. L'istruzione viene prelevata dalla memoria. Il decodificatore ne separa i campi e l'unità di controllo emette i comandi. Il banco dei registri fornisce gli operandi. La ALU calcola, oppure forma un indirizzo. La memoria dati viene letta o scritta da load e store. Due percorsi tornano indietro: il risultato torna nel registro indicato da rd, e il prossimo valore del PC è PC più 4 oppure la destinazione di un salto. Ogni istruzione che scrivete percorre questa strada.
DA COMPRENDERE OGGI: il processore RV32.
Per il docente: Il classico datapath RISC-V a ciclo singolo di Patterson e Hennessy, ridotto ai suoi blocchi; memoria istruzioni e memoria dati sono lo stesso spazio di indirizzi, disegnato due volte per chiarezza. Sostituisce la slide «Architettura del processore MC68000».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15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6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Il processore del kit, in numeri: insieme di istruzioni RV32IMAC; un core principale fino a 160 MHz con pipeline a quattro stadi, e un secondo core a basso consumo; modi macchina e utente; nessuna virgola mobile; 512 KB di SRAM, 320 KB di ROM e una flash esterna; radio e periferiche sullo stesso chip. Un calcolatore completo in pochi millimetri quadrati, per circa due euro: processore, memoria e ingresso/uscita ci sono tutti, come nel modello.
DA COMPRENDERE OGGI: il processore RV32.
Per il docente: Dal datasheet Espressif dell'ESP32-C6. Un calcolatore completo su un chip di pochi millimetri quadrati che costa circa due euro: processore, memoria e ingresso/uscita ci sono tutti, come nel modello delle prime slide.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16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7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Tornate alla tabella che affianca il modello a RISC-V e cercate le righe con «assente». Una di esse è tra le opzioni.
Ricordate il riscaldamento: quali istruzioni toccavano la memoria, e quali solo i registri? È la definizione di architettura load-store.
Per il docente: 1. Risposta: B. RISC-V non ha codici di condizione: i salti confrontano direttamente i registri.
2. Risposta: C. È un'architettura load-store: lw, lh, lb, sw, sh, sb e le forme senza segno.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17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8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Seguite le due istruzioni: il puntatore scende di una parola, poi un valore viene memorizzato all'indirizzo che ora contiene. Un valore è stato aggiunto in cima allo stack.
In una macchina ad accumulatore l'accumulatore è l'operando implicito: è uno dei due addendi e riceve il risultato. L'operando scritto nell'istruzione viene soltanto letto.
Per il docente: 1. Risposta: B. Il puntatore scende di una parola e il valore è memorizzato sulla nuova cima: un push.
2. Risposta: B. L'accumulatore è l'operando implicito e la destinazione.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18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19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Dieci termini. Control unit è l'unità di controllo. Un machine register, registro di macchina, è un registro visibile al programmatore. I flag si dicono anche indicatori. Supervisor e user state, stato supervisore e stato utente, sono i due livelli di privilegio. Una privileged instruction, istruzione privilegiata, si può eseguire solo in stato supervisore.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19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notesSlides/notesSlide20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lide Image Placeholder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Notes Placeholder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r>
              <a:rPr lang="en-US" dirty="0"/>
              <a:t>Cinque conclusioni. Il processore comanda e controlla, appoggiandosi alla memoria e all'ingresso/uscita. I registri sono locazioni di memoria, dentro o fuori dal processore. I tipi di registri e il loro uso determinano il modello: accumulatore, stack, registri generici. La ALU svolge le operazioni. E RISC-V è un processore load-store a registri generici, senza flag e senza istruzioni di I/O: pochi elementi, ciascuno semplice. La prossima lezione segue un'istruzione per tutta la sua vita.
Stato di apprendimento, riepilogo. DA COMPRENDERE OGGI: accumulatore, pila, registri; il modello del processore; i registri di RISC-V; la convenzione di chiamata; la pila; il processore RV32. DA UTILIZZARE OGGI: il programma completo, gli strumenti di PRG32 (si usa, non si studia, in questo corso). DA COMPRENDERE PIÙ AVANTI: interruzioni e trap (Lezione 19). Una slide senza etichetta è contesto: una storia, un esempio, una domanda, un esercizio.
Per il docente: Prossima lezione: istruzioni e interruzioni.</a:t>
            </a:r>
            <a:endParaRPr lang="en-US" dirty="0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0"/>
          </p:nvPr>
        </p:nvSpPr>
        <p:spPr/>
        <p:txBody>
          <a:bodyPr/>
          <a:lstStyle/>
          <a:p>
            <a:fld id="{F7021451-1387-4CA6-816F-3879F97B5CBC}" type="slidenum">
              <a:rPr lang="en-US"/>
              <a:t>20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0240869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EFAULT"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LIGHT">
    <p:bg>
      <p:bgPr>
        <a:solidFill>
          <a:srgbClr val="FFFFFF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0"/>
          <p:cNvSpPr/>
          <p:nvPr/>
        </p:nvSpPr>
        <p:spPr>
          <a:xfrm>
            <a:off x="548640" y="6419088"/>
            <a:ext cx="96012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0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|  Lezione 18: Il processore  |  A.A. 2026/27</a:t>
            </a:r>
            <a:endParaRPr lang="en-US" sz="1000" dirty="0"/>
          </a:p>
        </p:txBody>
      </p:sp>
      <p:sp>
        <p:nvSpPr>
          <p:cNvPr id="3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rtlCol="0"/>
          <a:lstStyle>
            <a:lvl1pPr algn="l" indent="0" marL="0">
              <a:buNone/>
              <a:def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defRPr>
            </a:lvl1pPr>
          </a:lstStyle>
          <a:p>
            <a:pPr algn="l" indent="0" marL="0">
              <a:buNone/>
            </a:pPr>
            <a:endParaRPr lang="en-US" sz="3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1002</a:t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DARK">
    <p:bg>
      <p:bgPr>
        <a:solidFill>
          <a:srgbClr val="1B2530"/>
        </a:solidFill>
      </p:bgPr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1003</a:t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null</a:t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</p:sldLayoutIdLst>
  <p:hf sldNum="0" hdr="0" ftr="0" dt="0"/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-1.png"/><Relationship Id="rId2" Type="http://schemas.openxmlformats.org/officeDocument/2006/relationships/image" Target="../media/image-1-2.png"/><Relationship Id="rId3" Type="http://schemas.openxmlformats.org/officeDocument/2006/relationships/image" Target="../media/image-1-3.png"/><Relationship Id="rId4" Type="http://schemas.openxmlformats.org/officeDocument/2006/relationships/image" Target="../media/image-1-4.png"/><Relationship Id="rId5" Type="http://schemas.openxmlformats.org/officeDocument/2006/relationships/slideLayout" Target="../slideLayouts/slideLayout3.xml"/><Relationship Id="rId6" Type="http://schemas.openxmlformats.org/officeDocument/2006/relationships/notesSlide" Target="../notesSlides/notesSlide1.xml"/></Relationships>
</file>

<file path=ppt/slides/_rels/slide2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3.xml"/></Relationships>
</file>

<file path=ppt/slides/_rels/slide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4.xml"/></Relationships>
</file>

<file path=ppt/slides/_rels/slide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5.xml"/></Relationships>
</file>

<file path=ppt/slides/_rels/slide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6.xml"/></Relationships>
</file>

<file path=ppt/slides/_rels/slide7.xml.rels><?xml version="1.0" encoding="UTF-8" standalone="yes"?>
<Relationships xmlns="http://schemas.openxmlformats.org/package/2006/relationships"><Relationship Id="rId1" Type="http://schemas.openxmlformats.org/officeDocument/2006/relationships/image" Target="../media/image-7-1.png"/><Relationship Id="rId2" Type="http://schemas.openxmlformats.org/officeDocument/2006/relationships/image" Target="../media/image-7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7.xml"/></Relationships>
</file>

<file path=ppt/slides/_rels/slide8.xml.rels><?xml version="1.0" encoding="UTF-8" standalone="yes"?>
<Relationships xmlns="http://schemas.openxmlformats.org/package/2006/relationships"><Relationship Id="rId1" Type="http://schemas.openxmlformats.org/officeDocument/2006/relationships/image" Target="../media/image-8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8.xml"/></Relationships>
</file>

<file path=ppt/slides/_rels/slide9.xml.rels><?xml version="1.0" encoding="UTF-8" standalone="yes"?>
<Relationships xmlns="http://schemas.openxmlformats.org/package/2006/relationships"><Relationship Id="rId1" Type="http://schemas.openxmlformats.org/officeDocument/2006/relationships/image" Target="../media/image-9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9.xml"/></Relationships>
</file>

<file path=ppt/slides/_rels/slide10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0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0.xml"/></Relationships>
</file>

<file path=ppt/slides/_rels/slide11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1-1.png"/><Relationship Id="rId2" Type="http://schemas.openxmlformats.org/officeDocument/2006/relationships/image" Target="../media/image-11-2.png"/><Relationship Id="rId3" Type="http://schemas.openxmlformats.org/officeDocument/2006/relationships/slideLayout" Target="../slideLayouts/slideLayout2.xml"/><Relationship Id="rId4" Type="http://schemas.openxmlformats.org/officeDocument/2006/relationships/notesSlide" Target="../notesSlides/notesSlide11.xml"/></Relationships>
</file>

<file path=ppt/slides/_rels/slide12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2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2.xml"/></Relationships>
</file>

<file path=ppt/slides/_rels/slide13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3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3.xml"/></Relationships>
</file>

<file path=ppt/slides/_rels/slide14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4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4.xml"/></Relationships>
</file>

<file path=ppt/slides/_rels/slide15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5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5.xml"/></Relationships>
</file>

<file path=ppt/slides/_rels/slide16.xml.rels><?xml version="1.0" encoding="UTF-8" standalone="yes"?>
<Relationships xmlns="http://schemas.openxmlformats.org/package/2006/relationships"><Relationship Id="rId1" Type="http://schemas.openxmlformats.org/officeDocument/2006/relationships/image" Target="../media/image-16-1.png"/><Relationship Id="rId2" Type="http://schemas.openxmlformats.org/officeDocument/2006/relationships/slideLayout" Target="../slideLayouts/slideLayout2.xml"/><Relationship Id="rId3" Type="http://schemas.openxmlformats.org/officeDocument/2006/relationships/notesSlide" Target="../notesSlides/notesSlide16.xml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7.xml"/></Relationships>
</file>

<file path=ppt/slides/_rels/slide18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8.xml"/></Relationships>
</file>

<file path=ppt/slides/_rels/slide19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19.xml"/></Relationships>
</file>

<file path=ppt/slides/_rels/slide20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0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Shape 0"/>
          <p:cNvSpPr/>
          <p:nvPr/>
        </p:nvSpPr>
        <p:spPr>
          <a:xfrm>
            <a:off x="548640" y="640080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" name="Shape 1"/>
          <p:cNvSpPr/>
          <p:nvPr/>
        </p:nvSpPr>
        <p:spPr>
          <a:xfrm>
            <a:off x="768096" y="640080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4" name="Shape 2"/>
          <p:cNvSpPr/>
          <p:nvPr/>
        </p:nvSpPr>
        <p:spPr>
          <a:xfrm>
            <a:off x="768096" y="859536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5" name="Shape 3"/>
          <p:cNvSpPr/>
          <p:nvPr/>
        </p:nvSpPr>
        <p:spPr>
          <a:xfrm>
            <a:off x="987552" y="859536"/>
            <a:ext cx="201900" cy="201900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Shape 4"/>
          <p:cNvSpPr/>
          <p:nvPr/>
        </p:nvSpPr>
        <p:spPr>
          <a:xfrm>
            <a:off x="548640" y="1078992"/>
            <a:ext cx="201900" cy="201900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548640" y="1600200"/>
            <a:ext cx="11094415" cy="3657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600" b="1" spc="300" kern="0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ARC12 ARCHITETTURA DEI CALCOLATORI  ·  LEZIONE 18</a:t>
            </a:r>
            <a:endParaRPr lang="en-US" sz="1600" dirty="0"/>
          </a:p>
        </p:txBody>
      </p:sp>
      <p:sp>
        <p:nvSpPr>
          <p:cNvPr id="8" name="Text 6"/>
          <p:cNvSpPr txBox="1"/>
          <p:nvPr/>
        </p:nvSpPr>
        <p:spPr>
          <a:xfrm>
            <a:off x="548640" y="2011680"/>
            <a:ext cx="972281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48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</a:t>
            </a:r>
            <a:endParaRPr lang="en-US" sz="48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611880"/>
            <a:ext cx="9722815" cy="54864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controllo, registri, stack e ALU: il modello generale, e RISC-V come processore di riferimento</a:t>
            </a:r>
            <a:endParaRPr lang="en-US" sz="1700" dirty="0"/>
          </a:p>
        </p:txBody>
      </p:sp>
      <p:sp>
        <p:nvSpPr>
          <p:cNvPr id="10" name="Text 8"/>
          <p:cNvSpPr txBox="1"/>
          <p:nvPr/>
        </p:nvSpPr>
        <p:spPr>
          <a:xfrm>
            <a:off x="548640" y="4343400"/>
            <a:ext cx="8046720" cy="10972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i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“Un Anello per domarli...”</a:t>
            </a:r>
            <a:endParaRPr lang="en-US" sz="1900" dirty="0"/>
          </a:p>
          <a:p>
            <a:pPr indent="0" marL="0">
              <a:buNone/>
            </a:pPr>
            <a:r>
              <a:rPr lang="en-US" sz="12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J. R. R. Tolkien, Il Signore degli Anelli, 1954-1955</a:t>
            </a:r>
            <a:endParaRPr lang="en-US" sz="19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5486400"/>
            <a:ext cx="8229600" cy="91440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7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Prof. Raffaele Montella, PhD</a:t>
            </a:r>
            <a:endParaRPr lang="en-US" sz="1700" dirty="0"/>
          </a:p>
          <a:p>
            <a:pPr indent="0" marL="0">
              <a:buNone/>
            </a:pPr>
            <a:r>
              <a:rPr lang="en-US" sz="14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Università degli Studi di Napoli “Parthenope”  ·  A.A. 2026/27</a:t>
            </a:r>
            <a:endParaRPr lang="en-US" sz="1700" dirty="0"/>
          </a:p>
          <a:p>
            <a:pPr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raffaelemontella.it  ·  raffaele.montella@uniparthenope.it</a:t>
            </a:r>
            <a:endParaRPr lang="en-US" sz="1700" dirty="0"/>
          </a:p>
        </p:txBody>
      </p:sp>
      <p:sp>
        <p:nvSpPr>
          <p:cNvPr id="12" name="Text 10"/>
          <p:cNvSpPr txBox="1"/>
          <p:nvPr/>
        </p:nvSpPr>
        <p:spPr>
          <a:xfrm>
            <a:off x="4693615" y="566928"/>
            <a:ext cx="6949440" cy="6400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Presentazione della lezione. I listati, il programma completo e come provarlo sono nella presentazione del codice:</a:t>
            </a:r>
            <a:endParaRPr lang="en-US" sz="1300" dirty="0"/>
          </a:p>
          <a:p>
            <a:pPr algn="r" indent="0" marL="0">
              <a:buNone/>
            </a:pPr>
            <a:r>
              <a:rPr lang="en-US" sz="13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18-Architettura_dei_Calcolatori-Processore-Codice.pptx</a:t>
            </a:r>
            <a:endParaRPr lang="en-US" sz="1300" dirty="0"/>
          </a:p>
        </p:txBody>
      </p:sp>
      <p:sp>
        <p:nvSpPr>
          <p:cNvPr id="13" name="Shape 11"/>
          <p:cNvSpPr/>
          <p:nvPr/>
        </p:nvSpPr>
        <p:spPr>
          <a:xfrm>
            <a:off x="8625535" y="4160520"/>
            <a:ext cx="3017520" cy="2011680"/>
          </a:xfrm>
          <a:prstGeom prst="roundRect">
            <a:avLst>
              <a:gd name="adj" fmla="val 3636"/>
            </a:avLst>
          </a:prstGeom>
          <a:solidFill>
            <a:srgbClr val="000000"/>
          </a:solidFill>
          <a:ln w="12700">
            <a:solidFill>
              <a:srgbClr val="000000"/>
            </a:solidFill>
            <a:prstDash val="solid"/>
          </a:ln>
        </p:spPr>
      </p:sp>
      <p:pic>
        <p:nvPicPr>
          <p:cNvPr id="14" name="Image 0" descr="/Users/raffaelemontella/devel/riscv-prg32/computer-architecture-with-prg32/tools/assets/prg32qt_debugger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810277" y="4251960"/>
            <a:ext cx="2648036" cy="1828800"/>
          </a:xfrm>
          <a:prstGeom prst="rect">
            <a:avLst/>
          </a:prstGeom>
        </p:spPr>
      </p:pic>
      <p:sp>
        <p:nvSpPr>
          <p:cNvPr id="15" name="Shape 12"/>
          <p:cNvSpPr/>
          <p:nvPr/>
        </p:nvSpPr>
        <p:spPr>
          <a:xfrm>
            <a:off x="8910777" y="91440"/>
            <a:ext cx="2732278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16" name="Shape 13"/>
          <p:cNvSpPr/>
          <p:nvPr/>
        </p:nvSpPr>
        <p:spPr>
          <a:xfrm>
            <a:off x="8938209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7" name="Shape 14"/>
          <p:cNvSpPr/>
          <p:nvPr/>
        </p:nvSpPr>
        <p:spPr>
          <a:xfrm>
            <a:off x="8938209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18" name="Shape 15"/>
          <p:cNvSpPr/>
          <p:nvPr/>
        </p:nvSpPr>
        <p:spPr>
          <a:xfrm>
            <a:off x="8938209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19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9038793" y="128016"/>
            <a:ext cx="201168" cy="201168"/>
          </a:xfrm>
          <a:prstGeom prst="rect">
            <a:avLst/>
          </a:prstGeom>
        </p:spPr>
      </p:pic>
      <p:sp>
        <p:nvSpPr>
          <p:cNvPr id="20" name="Text 16"/>
          <p:cNvSpPr txBox="1"/>
          <p:nvPr/>
        </p:nvSpPr>
        <p:spPr>
          <a:xfrm>
            <a:off x="9294825" y="91440"/>
            <a:ext cx="23116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endParaRPr lang="en-US" sz="1100" dirty="0"/>
          </a:p>
        </p:txBody>
      </p:sp>
      <p:sp>
        <p:nvSpPr>
          <p:cNvPr id="21" name="Shape 17"/>
          <p:cNvSpPr/>
          <p:nvPr/>
        </p:nvSpPr>
        <p:spPr>
          <a:xfrm>
            <a:off x="6675069" y="91440"/>
            <a:ext cx="2125980" cy="274320"/>
          </a:xfrm>
          <a:prstGeom prst="rect">
            <a:avLst/>
          </a:prstGeom>
          <a:solidFill>
            <a:srgbClr val="FEF3C7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2" name="Shape 18"/>
          <p:cNvSpPr/>
          <p:nvPr/>
        </p:nvSpPr>
        <p:spPr>
          <a:xfrm>
            <a:off x="6675069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sp>
        <p:nvSpPr>
          <p:cNvPr id="23" name="Shape 19"/>
          <p:cNvSpPr/>
          <p:nvPr/>
        </p:nvSpPr>
        <p:spPr>
          <a:xfrm>
            <a:off x="6729933" y="91440"/>
            <a:ext cx="27432" cy="274320"/>
          </a:xfrm>
          <a:prstGeom prst="rect">
            <a:avLst/>
          </a:prstGeom>
          <a:solidFill>
            <a:srgbClr val="B45309"/>
          </a:solidFill>
          <a:ln w="12700">
            <a:solidFill>
              <a:srgbClr val="B45309"/>
            </a:solidFill>
            <a:prstDash val="solid"/>
          </a:ln>
        </p:spPr>
      </p:sp>
      <p:pic>
        <p:nvPicPr>
          <p:cNvPr id="24" name="Image 2" descr="preencoded.png">    </p:cNvPr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6803085" y="128016"/>
            <a:ext cx="201168" cy="201168"/>
          </a:xfrm>
          <a:prstGeom prst="rect">
            <a:avLst/>
          </a:prstGeom>
        </p:spPr>
      </p:pic>
      <p:sp>
        <p:nvSpPr>
          <p:cNvPr id="25" name="Text 20"/>
          <p:cNvSpPr txBox="1"/>
          <p:nvPr/>
        </p:nvSpPr>
        <p:spPr>
          <a:xfrm>
            <a:off x="7059117" y="91440"/>
            <a:ext cx="1705356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92400E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UTILIZZARE OGGI</a:t>
            </a:r>
            <a:endParaRPr lang="en-US" sz="1100" dirty="0"/>
          </a:p>
        </p:txBody>
      </p:sp>
      <p:sp>
        <p:nvSpPr>
          <p:cNvPr id="26" name="Shape 21"/>
          <p:cNvSpPr/>
          <p:nvPr/>
        </p:nvSpPr>
        <p:spPr>
          <a:xfrm>
            <a:off x="4352747" y="91440"/>
            <a:ext cx="221259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7" name="Shape 22"/>
          <p:cNvSpPr/>
          <p:nvPr/>
        </p:nvSpPr>
        <p:spPr>
          <a:xfrm>
            <a:off x="435274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8" name="Image 3" descr="preencoded.png">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4480763" y="128016"/>
            <a:ext cx="201168" cy="201168"/>
          </a:xfrm>
          <a:prstGeom prst="rect">
            <a:avLst/>
          </a:prstGeom>
        </p:spPr>
      </p:pic>
      <p:sp>
        <p:nvSpPr>
          <p:cNvPr id="29" name="Text 23"/>
          <p:cNvSpPr txBox="1"/>
          <p:nvPr/>
        </p:nvSpPr>
        <p:spPr>
          <a:xfrm>
            <a:off x="4736795" y="91440"/>
            <a:ext cx="179197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CFE3EA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</a:t>
            </a:fld>
            <a:endParaRPr lang="en-US"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Che cosa saprete fare alla fine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43560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500" dirty="0"/>
          </a:p>
        </p:txBody>
      </p:sp>
      <p:sp>
        <p:nvSpPr>
          <p:cNvPr id="4" name="Text 2"/>
          <p:cNvSpPr txBox="1"/>
          <p:nvPr/>
        </p:nvSpPr>
        <p:spPr>
          <a:xfrm>
            <a:off x="1207008" y="141732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Nominare i componenti di un processore: unità di controllo, ALU, registri, collegamenti con memoria e ingresso/uscita</a:t>
            </a:r>
            <a:endParaRPr lang="en-US" sz="2200" dirty="0"/>
          </a:p>
        </p:txBody>
      </p:sp>
      <p:sp>
        <p:nvSpPr>
          <p:cNvPr id="5" name="Text 3"/>
          <p:cNvSpPr txBox="1"/>
          <p:nvPr/>
        </p:nvSpPr>
        <p:spPr>
          <a:xfrm>
            <a:off x="548640" y="234736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1207008" y="2329078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Distinguere i registri interni dai registri di macchina, e i registri generici da quelli speciali</a:t>
            </a:r>
            <a:endParaRPr lang="en-US" sz="2200" dirty="0"/>
          </a:p>
        </p:txBody>
      </p:sp>
      <p:sp>
        <p:nvSpPr>
          <p:cNvPr id="7" name="Text 5"/>
          <p:cNvSpPr txBox="1"/>
          <p:nvPr/>
        </p:nvSpPr>
        <p:spPr>
          <a:xfrm>
            <a:off x="548640" y="3259125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1207008" y="3240837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Spiegare come funziona uno stack e come RISC-V realizza push e pop</a:t>
            </a:r>
            <a:endParaRPr lang="en-US" sz="2200" dirty="0"/>
          </a:p>
        </p:txBody>
      </p:sp>
      <p:sp>
        <p:nvSpPr>
          <p:cNvPr id="9" name="Text 7"/>
          <p:cNvSpPr txBox="1"/>
          <p:nvPr/>
        </p:nvSpPr>
        <p:spPr>
          <a:xfrm>
            <a:off x="548640" y="3928059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500" dirty="0"/>
          </a:p>
        </p:txBody>
      </p:sp>
      <p:sp>
        <p:nvSpPr>
          <p:cNvPr id="10" name="Text 8"/>
          <p:cNvSpPr txBox="1"/>
          <p:nvPr/>
        </p:nvSpPr>
        <p:spPr>
          <a:xfrm>
            <a:off x="1207008" y="3909771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Confrontare sullo stesso calcolo i modelli ad accumulatore, a stack e a registri generici</a:t>
            </a:r>
            <a:endParaRPr lang="en-US" sz="2200" dirty="0"/>
          </a:p>
        </p:txBody>
      </p:sp>
      <p:sp>
        <p:nvSpPr>
          <p:cNvPr id="11" name="Text 9"/>
          <p:cNvSpPr txBox="1"/>
          <p:nvPr/>
        </p:nvSpPr>
        <p:spPr>
          <a:xfrm>
            <a:off x="548640" y="4839818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5</a:t>
            </a:r>
            <a:endParaRPr lang="en-US" sz="1500" dirty="0"/>
          </a:p>
        </p:txBody>
      </p:sp>
      <p:sp>
        <p:nvSpPr>
          <p:cNvPr id="12" name="Text 10"/>
          <p:cNvSpPr txBox="1"/>
          <p:nvPr/>
        </p:nvSpPr>
        <p:spPr>
          <a:xfrm>
            <a:off x="1207008" y="4821530"/>
            <a:ext cx="10436047" cy="6817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Descrivere RISC-V come processore load-store a registri generici, e leggere il nome RV32IMAC</a:t>
            </a:r>
            <a:endParaRPr lang="en-US" sz="2200" dirty="0"/>
          </a:p>
        </p:txBody>
      </p:sp>
      <p:sp>
        <p:nvSpPr>
          <p:cNvPr id="13" name="Text 11"/>
          <p:cNvSpPr txBox="1"/>
          <p:nvPr/>
        </p:nvSpPr>
        <p:spPr>
          <a:xfrm>
            <a:off x="548640" y="5751576"/>
            <a:ext cx="402336" cy="402336"/>
          </a:xfrm>
          <a:prstGeom prst="roundRect">
            <a:avLst>
              <a:gd name="adj" fmla="val 18182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6</a:t>
            </a:r>
            <a:endParaRPr lang="en-US" sz="1500" dirty="0"/>
          </a:p>
        </p:txBody>
      </p:sp>
      <p:sp>
        <p:nvSpPr>
          <p:cNvPr id="14" name="Text 12"/>
          <p:cNvSpPr txBox="1"/>
          <p:nvPr/>
        </p:nvSpPr>
        <p:spPr>
          <a:xfrm>
            <a:off x="1207008" y="5733288"/>
            <a:ext cx="10436047" cy="438912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spcAft>
                <a:spcPts val="200"/>
              </a:spcAft>
              <a:buNone/>
            </a:pPr>
            <a:r>
              <a:rPr lang="en-US" sz="22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Riportare ogni elemento del modello generale sul processore del kit PRG32</a:t>
            </a:r>
            <a:endParaRPr lang="en-US" sz="22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</a:t>
            </a:fld>
            <a:endParaRPr lang="en-US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calcolatore e il suo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77264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calcolatore elettronico è un sistema numerico, automatico, a programma memorizzato, costruito con circuiti elettronici</a:t>
            </a:r>
            <a:endParaRPr lang="en-US" sz="1600" dirty="0"/>
          </a:p>
        </p:txBody>
      </p:sp>
      <p:sp>
        <p:nvSpPr>
          <p:cNvPr id="5" name="Shape 3"/>
          <p:cNvSpPr/>
          <p:nvPr/>
        </p:nvSpPr>
        <p:spPr>
          <a:xfrm>
            <a:off x="548640" y="224317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8323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sottosistemi: processore (CPU), memoria centrale, ingresso/uscita, collegati da bus</a:t>
            </a:r>
            <a:endParaRPr lang="en-US" sz="1600" dirty="0"/>
          </a:p>
        </p:txBody>
      </p:sp>
      <p:sp>
        <p:nvSpPr>
          <p:cNvPr id="7" name="Shape 5"/>
          <p:cNvSpPr/>
          <p:nvPr/>
        </p:nvSpPr>
        <p:spPr>
          <a:xfrm>
            <a:off x="548640" y="300908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49143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può eseguire soltanto un insieme di istruzioni, da qualche decina a poche centinaia, più o meno complesse</a:t>
            </a:r>
            <a:endParaRPr lang="en-US" sz="1600" dirty="0"/>
          </a:p>
        </p:txBody>
      </p:sp>
      <p:sp>
        <p:nvSpPr>
          <p:cNvPr id="9" name="Shape 7"/>
          <p:cNvSpPr/>
          <p:nvPr/>
        </p:nvSpPr>
        <p:spPr>
          <a:xfrm>
            <a:off x="548640" y="377499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15055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Linguaggio macchina: le stringhe di bit che codificano le istruzioni eseguibili dai circuiti di un processore</a:t>
            </a:r>
            <a:endParaRPr lang="en-US" sz="1600" dirty="0"/>
          </a:p>
        </p:txBody>
      </p:sp>
      <p:sp>
        <p:nvSpPr>
          <p:cNvPr id="11" name="Shape 9"/>
          <p:cNvSpPr/>
          <p:nvPr/>
        </p:nvSpPr>
        <p:spPr>
          <a:xfrm>
            <a:off x="548640" y="454091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480966"/>
            <a:ext cx="6565392" cy="9253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richiedono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trasferimenti di informazione, dentro il calcolatore e da o verso i dispositivi di I/O</a:t>
            </a:r>
            <a:endParaRPr lang="en-US" sz="16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3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operazioni aritmetiche e logiche</a:t>
            </a:r>
            <a:endParaRPr lang="en-US" sz="1600" dirty="0"/>
          </a:p>
        </p:txBody>
      </p:sp>
      <p:sp>
        <p:nvSpPr>
          <p:cNvPr id="13" name="Shape 11"/>
          <p:cNvSpPr/>
          <p:nvPr/>
        </p:nvSpPr>
        <p:spPr>
          <a:xfrm>
            <a:off x="548640" y="5736336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676392"/>
            <a:ext cx="6565392" cy="49580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 e istruzioni di un programma sono memorizzati nella memoria centrale</a:t>
            </a:r>
            <a:endParaRPr lang="en-US" sz="1600" dirty="0"/>
          </a:p>
        </p:txBody>
      </p:sp>
      <p:sp>
        <p:nvSpPr>
          <p:cNvPr id="15" name="Shape 13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CPU</a:t>
            </a:r>
            <a:endParaRPr lang="en-US" sz="6000" dirty="0"/>
          </a:p>
        </p:txBody>
      </p:sp>
      <p:sp>
        <p:nvSpPr>
          <p:cNvPr id="17" name="Text 15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centrale di elaborazione: l'unico anello che governa memoria e ingresso/uscita</a:t>
            </a:r>
            <a:endParaRPr lang="en-US" sz="1900" dirty="0"/>
          </a:p>
        </p:txBody>
      </p:sp>
      <p:sp>
        <p:nvSpPr>
          <p:cNvPr id="18" name="Shape 16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9" name="Shape 17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0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21" name="Text 18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modello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3</a:t>
            </a:fld>
            <a:endParaRPr lang="en-US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processore: un modello di riferimento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63040"/>
            <a:ext cx="6675120" cy="4251960"/>
          </a:xfrm>
          <a:prstGeom prst="roundRect">
            <a:avLst>
              <a:gd name="adj" fmla="val 1720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685800" y="1508760"/>
            <a:ext cx="914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4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CPU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822960" y="1920240"/>
            <a:ext cx="1554480" cy="1371600"/>
          </a:xfrm>
          <a:prstGeom prst="roundRect">
            <a:avLst>
              <a:gd name="adj" fmla="val 400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rete di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controllo</a:t>
            </a:r>
            <a:endParaRPr lang="en-US" sz="15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</p:txBody>
      </p:sp>
      <p:sp>
        <p:nvSpPr>
          <p:cNvPr id="7" name="Text 5"/>
          <p:cNvSpPr txBox="1"/>
          <p:nvPr/>
        </p:nvSpPr>
        <p:spPr>
          <a:xfrm>
            <a:off x="1645920" y="3520440"/>
            <a:ext cx="731520" cy="548640"/>
          </a:xfrm>
          <a:prstGeom prst="roundRect">
            <a:avLst>
              <a:gd name="adj" fmla="val 10000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500" dirty="0"/>
          </a:p>
        </p:txBody>
      </p:sp>
      <p:sp>
        <p:nvSpPr>
          <p:cNvPr id="8" name="Text 6"/>
          <p:cNvSpPr txBox="1"/>
          <p:nvPr/>
        </p:nvSpPr>
        <p:spPr>
          <a:xfrm>
            <a:off x="2834640" y="192024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R0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2834640" y="246888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R1</a:t>
            </a:r>
            <a:endParaRPr lang="en-US" sz="1400" dirty="0"/>
          </a:p>
        </p:txBody>
      </p:sp>
      <p:sp>
        <p:nvSpPr>
          <p:cNvPr id="10" name="Text 8"/>
          <p:cNvSpPr txBox="1"/>
          <p:nvPr/>
        </p:nvSpPr>
        <p:spPr>
          <a:xfrm>
            <a:off x="2834640" y="301752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. . .</a:t>
            </a:r>
            <a:endParaRPr lang="en-US" sz="1400" dirty="0"/>
          </a:p>
        </p:txBody>
      </p:sp>
      <p:sp>
        <p:nvSpPr>
          <p:cNvPr id="11" name="Text 9"/>
          <p:cNvSpPr txBox="1"/>
          <p:nvPr/>
        </p:nvSpPr>
        <p:spPr>
          <a:xfrm>
            <a:off x="2834640" y="3566160"/>
            <a:ext cx="1463040" cy="457200"/>
          </a:xfrm>
          <a:prstGeom prst="roundRect">
            <a:avLst>
              <a:gd name="adj" fmla="val 12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Rn-1</a:t>
            </a:r>
            <a:endParaRPr lang="en-US" sz="1400" dirty="0"/>
          </a:p>
        </p:txBody>
      </p:sp>
      <p:sp>
        <p:nvSpPr>
          <p:cNvPr id="12" name="Text 10"/>
          <p:cNvSpPr txBox="1"/>
          <p:nvPr/>
        </p:nvSpPr>
        <p:spPr>
          <a:xfrm>
            <a:off x="484632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O1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5943600" y="192024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O2</a:t>
            </a:r>
            <a:endParaRPr lang="en-US" sz="1400" dirty="0"/>
          </a:p>
        </p:txBody>
      </p:sp>
      <p:sp>
        <p:nvSpPr>
          <p:cNvPr id="14" name="Text 12"/>
          <p:cNvSpPr txBox="1"/>
          <p:nvPr/>
        </p:nvSpPr>
        <p:spPr>
          <a:xfrm>
            <a:off x="4846320" y="2514600"/>
            <a:ext cx="2011680" cy="822960"/>
          </a:xfrm>
          <a:prstGeom prst="roundRect">
            <a:avLst>
              <a:gd name="adj" fmla="val 6667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8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800" dirty="0"/>
          </a:p>
        </p:txBody>
      </p:sp>
      <p:sp>
        <p:nvSpPr>
          <p:cNvPr id="15" name="Text 13"/>
          <p:cNvSpPr txBox="1"/>
          <p:nvPr/>
        </p:nvSpPr>
        <p:spPr>
          <a:xfrm>
            <a:off x="5394960" y="3474720"/>
            <a:ext cx="914400" cy="457200"/>
          </a:xfrm>
          <a:prstGeom prst="roundRect">
            <a:avLst>
              <a:gd name="adj" fmla="val 12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</a:t>
            </a:r>
            <a:endParaRPr lang="en-US" sz="1400" dirty="0"/>
          </a:p>
        </p:txBody>
      </p:sp>
      <p:sp>
        <p:nvSpPr>
          <p:cNvPr id="16" name="Shape 14"/>
          <p:cNvSpPr/>
          <p:nvPr/>
        </p:nvSpPr>
        <p:spPr>
          <a:xfrm>
            <a:off x="822960" y="4343400"/>
            <a:ext cx="6126480" cy="0"/>
          </a:xfrm>
          <a:prstGeom prst="line">
            <a:avLst/>
          </a:prstGeom>
          <a:noFill/>
          <a:ln w="63500">
            <a:solidFill>
              <a:srgbClr val="C7791B"/>
            </a:solidFill>
            <a:prstDash val="solid"/>
          </a:ln>
        </p:spPr>
      </p:sp>
      <p:sp>
        <p:nvSpPr>
          <p:cNvPr id="17" name="Text 15"/>
          <p:cNvSpPr txBox="1"/>
          <p:nvPr/>
        </p:nvSpPr>
        <p:spPr>
          <a:xfrm>
            <a:off x="5394960" y="4023360"/>
            <a:ext cx="164592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00" b="1" dirty="0">
                <a:solidFill>
                  <a:srgbClr val="C7791B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bus interno</a:t>
            </a:r>
            <a:endParaRPr lang="en-US" sz="1200" dirty="0"/>
          </a:p>
        </p:txBody>
      </p:sp>
      <p:sp>
        <p:nvSpPr>
          <p:cNvPr id="18" name="Text 16"/>
          <p:cNvSpPr txBox="1"/>
          <p:nvPr/>
        </p:nvSpPr>
        <p:spPr>
          <a:xfrm>
            <a:off x="1005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MA</a:t>
            </a:r>
            <a:endParaRPr lang="en-US" sz="1500" dirty="0"/>
          </a:p>
        </p:txBody>
      </p:sp>
      <p:sp>
        <p:nvSpPr>
          <p:cNvPr id="19" name="Text 17"/>
          <p:cNvSpPr txBox="1"/>
          <p:nvPr/>
        </p:nvSpPr>
        <p:spPr>
          <a:xfrm>
            <a:off x="210312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MB</a:t>
            </a:r>
            <a:endParaRPr lang="en-US" sz="1500" dirty="0"/>
          </a:p>
        </p:txBody>
      </p:sp>
      <p:sp>
        <p:nvSpPr>
          <p:cNvPr id="20" name="Text 18"/>
          <p:cNvSpPr txBox="1"/>
          <p:nvPr/>
        </p:nvSpPr>
        <p:spPr>
          <a:xfrm>
            <a:off x="448056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</a:t>
            </a:r>
            <a:endParaRPr lang="en-US" sz="1500" dirty="0"/>
          </a:p>
        </p:txBody>
      </p:sp>
      <p:sp>
        <p:nvSpPr>
          <p:cNvPr id="21" name="Text 19"/>
          <p:cNvSpPr txBox="1"/>
          <p:nvPr/>
        </p:nvSpPr>
        <p:spPr>
          <a:xfrm>
            <a:off x="5577840" y="4754880"/>
            <a:ext cx="914400" cy="548640"/>
          </a:xfrm>
          <a:prstGeom prst="roundRect">
            <a:avLst>
              <a:gd name="adj" fmla="val 10000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RU</a:t>
            </a:r>
            <a:endParaRPr lang="en-US" sz="1500" dirty="0"/>
          </a:p>
        </p:txBody>
      </p:sp>
      <p:sp>
        <p:nvSpPr>
          <p:cNvPr id="22" name="Text 20"/>
          <p:cNvSpPr txBox="1"/>
          <p:nvPr/>
        </p:nvSpPr>
        <p:spPr>
          <a:xfrm>
            <a:off x="914400" y="5349240"/>
            <a:ext cx="2194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200" dirty="0"/>
          </a:p>
        </p:txBody>
      </p:sp>
      <p:sp>
        <p:nvSpPr>
          <p:cNvPr id="23" name="Text 21"/>
          <p:cNvSpPr txBox="1"/>
          <p:nvPr/>
        </p:nvSpPr>
        <p:spPr>
          <a:xfrm>
            <a:off x="4297680" y="5349240"/>
            <a:ext cx="237744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l'I/O</a:t>
            </a:r>
            <a:endParaRPr lang="en-US" sz="1200" dirty="0"/>
          </a:p>
        </p:txBody>
      </p:sp>
      <p:sp>
        <p:nvSpPr>
          <p:cNvPr id="24" name="Shape 22"/>
          <p:cNvSpPr/>
          <p:nvPr/>
        </p:nvSpPr>
        <p:spPr>
          <a:xfrm>
            <a:off x="7680960" y="14850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5" name="Text 23"/>
          <p:cNvSpPr txBox="1"/>
          <p:nvPr/>
        </p:nvSpPr>
        <p:spPr>
          <a:xfrm>
            <a:off x="8065008" y="1417320"/>
            <a:ext cx="3578047" cy="16746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program counter (PC): la prossima istruzione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registro di decodifica (D): l'istruzione in esecuzione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rete di controllo che emette i comandi</a:t>
            </a:r>
            <a:endParaRPr lang="en-US" sz="1700" dirty="0"/>
          </a:p>
        </p:txBody>
      </p:sp>
      <p:sp>
        <p:nvSpPr>
          <p:cNvPr id="26" name="Shape 24"/>
          <p:cNvSpPr/>
          <p:nvPr/>
        </p:nvSpPr>
        <p:spPr>
          <a:xfrm>
            <a:off x="7680960" y="330187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27" name="Text 25"/>
          <p:cNvSpPr txBox="1"/>
          <p:nvPr/>
        </p:nvSpPr>
        <p:spPr>
          <a:xfrm>
            <a:off x="8065008" y="3234182"/>
            <a:ext cx="3578047" cy="26339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 R0 ... Rn-1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7680960" y="370751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8065008" y="3639820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aritmetico-logica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due registri operando O1 e O2, un registro risultato U</a:t>
            </a:r>
            <a:endParaRPr lang="en-US" sz="1700" dirty="0"/>
          </a:p>
        </p:txBody>
      </p:sp>
      <p:sp>
        <p:nvSpPr>
          <p:cNvPr id="30" name="Shape 28"/>
          <p:cNvSpPr/>
          <p:nvPr/>
        </p:nvSpPr>
        <p:spPr>
          <a:xfrm>
            <a:off x="7680960" y="45835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31" name="Text 29"/>
          <p:cNvSpPr txBox="1"/>
          <p:nvPr/>
        </p:nvSpPr>
        <p:spPr>
          <a:xfrm>
            <a:off x="8065008" y="4515866"/>
            <a:ext cx="3578047" cy="73380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la memoria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indirizzo di memoria (MA) e dato di memoria (MB)</a:t>
            </a:r>
            <a:endParaRPr lang="en-US" sz="1700" dirty="0"/>
          </a:p>
        </p:txBody>
      </p:sp>
      <p:sp>
        <p:nvSpPr>
          <p:cNvPr id="32" name="Shape 30"/>
          <p:cNvSpPr/>
          <p:nvPr/>
        </p:nvSpPr>
        <p:spPr>
          <a:xfrm>
            <a:off x="7680960" y="5459603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33" name="Text 31"/>
          <p:cNvSpPr txBox="1"/>
          <p:nvPr/>
        </p:nvSpPr>
        <p:spPr>
          <a:xfrm>
            <a:off x="8065008" y="5391912"/>
            <a:ext cx="3578047" cy="78028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Collegamento con l'ingresso/uscita</a:t>
            </a:r>
            <a:endParaRPr lang="en-US" sz="17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4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registri di transito RI e RU</a:t>
            </a:r>
            <a:endParaRPr lang="en-US" sz="1700" dirty="0"/>
          </a:p>
        </p:txBody>
      </p:sp>
      <p:sp>
        <p:nvSpPr>
          <p:cNvPr id="34" name="Shape 32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35" name="Shape 33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3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37" name="Text 34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modello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4</a:t>
            </a:fld>
            <a:endParaRPr lang="en-US"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modello e RISC-V, fianco a fianco</a:t>
            </a:r>
            <a:endParaRPr lang="en-US" sz="3200" dirty="0"/>
          </a:p>
        </p:txBody>
      </p:sp>
      <p:graphicFrame>
        <p:nvGraphicFramePr>
          <p:cNvPr id="6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3273762"/>
                <a:gridCol w="4183140"/>
                <a:gridCol w="3637513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Elemento del modello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 RISC-V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Visto dal programmatore?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program counter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pc,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indirettamente: lo usano salti e auipc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D, registro di decodifica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registro istruzione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R0 ... Rn-1, registri di macchina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x0 ... x31, trentadue registri di 32 bit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sì: zero, ra, sp, t0, a0, s0, ...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O1, O2, U, registri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gli ingressi e l'uscita della ALU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MA, MB, collegamento con la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e dato di un load o di uno store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RI, RU, collegamento con l'I/O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assenti: i dispositivi sono mappati in memoria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 con i flag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assente: nessun codice di condizione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-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registri speciali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 registri di controllo e stato (CSR)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solo dal software privilegiato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modello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5</a:t>
            </a:fld>
            <a:endParaRPr lang="en-US"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interni e registri di macchina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interni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non direttamente visibili al programmatore, e necessari al funzionamento del processore: PC, MA, MB, D, O1, O2, U, ...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696252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613067"/>
            <a:ext cx="6565392" cy="82677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macchina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definiscono il modello di programmazione; si dividono in registri generici e registri speciali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892000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808815"/>
            <a:ext cx="6565392" cy="140563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tratta tre tipi di informazione: istruzioni, indirizzi di memoria e dati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di MA e PC dipende da quella degli indirizzi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la dimensione dei registri della ALU dipende da quella dei dati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566661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5583428"/>
            <a:ext cx="6565392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 RV32 tutti e tre sono larghi 32 bit: una sola dimensione per registri, indirizzi e istruzioni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RV32</a:t>
            </a:r>
            <a:endParaRPr lang="en-US" sz="6000" dirty="0"/>
          </a:p>
        </p:txBody>
      </p:sp>
      <p:sp>
        <p:nvSpPr>
          <p:cNvPr id="13" name="Text 11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di 32 bit, indirizzi di 32 bit, istruzioni di 32 bit</a:t>
            </a:r>
            <a:endParaRPr lang="en-US" sz="1900" dirty="0"/>
          </a:p>
        </p:txBody>
      </p:sp>
      <p:sp>
        <p:nvSpPr>
          <p:cNvPr id="14" name="Shape 12"/>
          <p:cNvSpPr/>
          <p:nvPr/>
        </p:nvSpPr>
        <p:spPr>
          <a:xfrm>
            <a:off x="7592009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>
            <a:off x="7592009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0025" y="128016"/>
            <a:ext cx="201168" cy="201168"/>
          </a:xfrm>
          <a:prstGeom prst="rect">
            <a:avLst/>
          </a:prstGeom>
        </p:spPr>
      </p:pic>
      <p:sp>
        <p:nvSpPr>
          <p:cNvPr id="17" name="Text 14"/>
          <p:cNvSpPr txBox="1"/>
          <p:nvPr/>
        </p:nvSpPr>
        <p:spPr>
          <a:xfrm>
            <a:off x="7976057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modello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6</a:t>
            </a:fld>
            <a:endParaRPr lang="en-US"/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Stato utente e stato supervisore</a:t>
            </a:r>
            <a:endParaRPr lang="en-US" sz="3200" dirty="0"/>
          </a:p>
        </p:txBody>
      </p:sp>
      <p:graphicFrame>
        <p:nvGraphicFramePr>
          <p:cNvPr id="8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2364384"/>
                <a:gridCol w="3273762"/>
                <a:gridCol w="3819389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Chi vi gira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può fare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 in RISC-V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il sistema operativo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ogni istruzione dell'insieme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macchina (M); modo supervisore (S) dove c'è un sistema operativo completo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programma utente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tutto tranne le istruzioni privilegiate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7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modo utente (U)</a:t>
                      </a:r>
                      <a:endParaRPr lang="en-US" sz="17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è in stato supervisore quando esegue il sistema operativo, in stato utente quando esegue un programma utente.</a:t>
            </a:r>
            <a:endParaRPr lang="en-US" sz="1400" dirty="0"/>
          </a:p>
        </p:txBody>
      </p:sp>
      <p:sp>
        <p:nvSpPr>
          <p:cNvPr id="5" name="Shape 2"/>
          <p:cNvSpPr/>
          <p:nvPr/>
        </p:nvSpPr>
        <p:spPr>
          <a:xfrm>
            <a:off x="6503746" y="91440"/>
            <a:ext cx="5139309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6" name="Shape 3"/>
          <p:cNvSpPr/>
          <p:nvPr/>
        </p:nvSpPr>
        <p:spPr>
          <a:xfrm>
            <a:off x="6531178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31178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8" name="Shape 5"/>
          <p:cNvSpPr/>
          <p:nvPr/>
        </p:nvSpPr>
        <p:spPr>
          <a:xfrm>
            <a:off x="6531178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9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1762" y="128016"/>
            <a:ext cx="201168" cy="201168"/>
          </a:xfrm>
          <a:prstGeom prst="rect">
            <a:avLst/>
          </a:prstGeom>
        </p:spPr>
      </p:pic>
      <p:sp>
        <p:nvSpPr>
          <p:cNvPr id="10" name="Text 6"/>
          <p:cNvSpPr txBox="1"/>
          <p:nvPr/>
        </p:nvSpPr>
        <p:spPr>
          <a:xfrm>
            <a:off x="6887794" y="91440"/>
            <a:ext cx="47186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11" name="Shape 7"/>
          <p:cNvSpPr/>
          <p:nvPr/>
        </p:nvSpPr>
        <p:spPr>
          <a:xfrm>
            <a:off x="2342972" y="91440"/>
            <a:ext cx="4051046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2" name="Shape 8"/>
          <p:cNvSpPr/>
          <p:nvPr/>
        </p:nvSpPr>
        <p:spPr>
          <a:xfrm>
            <a:off x="234297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3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470988" y="128016"/>
            <a:ext cx="201168" cy="201168"/>
          </a:xfrm>
          <a:prstGeom prst="rect">
            <a:avLst/>
          </a:prstGeom>
        </p:spPr>
      </p:pic>
      <p:sp>
        <p:nvSpPr>
          <p:cNvPr id="14" name="Text 9"/>
          <p:cNvSpPr txBox="1"/>
          <p:nvPr/>
        </p:nvSpPr>
        <p:spPr>
          <a:xfrm>
            <a:off x="2727020" y="91440"/>
            <a:ext cx="3630422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modello del processore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7</a:t>
            </a:fld>
            <a:endParaRPr lang="en-US"/>
          </a:p>
        </p:txBody>
      </p:sp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Le funzioni dei registri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Transito dei dati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da memoria a registro, da registro a registro, da registro a memoria: load, move, store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39591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297240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Accumulo dei risultati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necessario per aritmetica e logica: R := (op) R, oppure R := R (op) X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27583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177159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Indirizzamento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trovare l'indirizzo di un operando: registri indice, registri base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155757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057078"/>
            <a:ext cx="10710367" cy="64084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Puntatori allo stack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gestione di uno stack realizzato in memoria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035677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936998"/>
            <a:ext cx="10710367" cy="123520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Indicatori, o flag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informazione binaria su eventi: zero, segno, overflow, riporto, indirizzi o codici illeciti</a:t>
            </a:r>
            <a:endParaRPr lang="en-US" sz="21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8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prodotti durante l'esecuzione di un'istruzione, possono condizionare le successive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4" name="Shape 12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6" name="Text 13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di RISC-V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8</a:t>
            </a:fld>
            <a:endParaRPr lang="en-US"/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trentadue registri di RISC-V</a:t>
            </a:r>
            <a:endParaRPr lang="en-US" sz="3200" dirty="0"/>
          </a:p>
        </p:txBody>
      </p:sp>
      <p:graphicFrame>
        <p:nvGraphicFramePr>
          <p:cNvPr id="1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182192"/>
                <a:gridCol w="1182192"/>
                <a:gridCol w="2910011"/>
                <a:gridCol w="1364067"/>
                <a:gridCol w="1273130"/>
                <a:gridCol w="318282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Funzione, per convenzione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x0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zero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sempre 0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x8 - x9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s0 - s1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ra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indirizzo di ritorno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x10 - x11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a0 - a1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argomenti, risultati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x12 - x17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a2 - a7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argomenti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x3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gp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globale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x18 - x27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s2 - s11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salvati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x4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tp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 thread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x28 - x31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t3 - t6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x5 - x7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t0 - t2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temporanei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pc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-</a:t>
                      </a:r>
                      <a:endParaRPr lang="en-US" sz="16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16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(fuori dal banco)</a:t>
                      </a:r>
                      <a:endParaRPr lang="en-US" sz="16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4" name="Text 1"/>
          <p:cNvSpPr txBox="1"/>
          <p:nvPr/>
        </p:nvSpPr>
        <p:spPr>
          <a:xfrm>
            <a:off x="548640" y="5760720"/>
            <a:ext cx="11094415" cy="4114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300" i="1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regola della convenzione: una chiamata può distruggere ra, t e a (salvati dal chiamante); s e sp tornano invariati (salvati dal chiamato).</a:t>
            </a:r>
            <a:endParaRPr lang="en-US" sz="1300" dirty="0"/>
          </a:p>
        </p:txBody>
      </p:sp>
      <p:sp>
        <p:nvSpPr>
          <p:cNvPr id="5" name="Shape 2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7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8" name="Text 4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di RISC-V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9</a:t>
            </a:fld>
            <a:endParaRPr lang="en-US"/>
          </a:p>
        </p:txBody>
      </p:sp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 flag: il registro di stato, e la sua assenza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822960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Processori con registro di stato</a:t>
            </a:r>
            <a:endParaRPr lang="en-US" sz="1900" dirty="0"/>
          </a:p>
        </p:txBody>
      </p:sp>
      <p:sp>
        <p:nvSpPr>
          <p:cNvPr id="5" name="Text 3"/>
          <p:cNvSpPr txBox="1"/>
          <p:nvPr/>
        </p:nvSpPr>
        <p:spPr>
          <a:xfrm>
            <a:off x="868680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Bit di flag accessibili dal programma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Z zero, N negativo, V overflow, C riporto, a volte la parità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Un'istruzione li imposta; un salto condizionato successivo li esamina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MC68000: il registro dei codici di condizione; x86: il registro dei flag</a:t>
            </a:r>
            <a:endParaRPr lang="en-US" sz="1900" dirty="0"/>
          </a:p>
        </p:txBody>
      </p:sp>
      <p:sp>
        <p:nvSpPr>
          <p:cNvPr id="6" name="Shape 4"/>
          <p:cNvSpPr/>
          <p:nvPr/>
        </p:nvSpPr>
        <p:spPr>
          <a:xfrm>
            <a:off x="6278728" y="1417320"/>
            <a:ext cx="5364328" cy="4754880"/>
          </a:xfrm>
          <a:prstGeom prst="roundRect">
            <a:avLst>
              <a:gd name="adj" fmla="val 1538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7" name="Text 5"/>
          <p:cNvSpPr txBox="1"/>
          <p:nvPr/>
        </p:nvSpPr>
        <p:spPr>
          <a:xfrm>
            <a:off x="6553048" y="1645920"/>
            <a:ext cx="4815688" cy="548640"/>
          </a:xfrm>
          <a:prstGeom prst="roundRect">
            <a:avLst>
              <a:gd name="adj" fmla="val 13333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9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RISC-V: nessun flag</a:t>
            </a:r>
            <a:endParaRPr lang="en-US" sz="1900" dirty="0"/>
          </a:p>
        </p:txBody>
      </p:sp>
      <p:sp>
        <p:nvSpPr>
          <p:cNvPr id="8" name="Text 6"/>
          <p:cNvSpPr txBox="1"/>
          <p:nvPr/>
        </p:nvSpPr>
        <p:spPr>
          <a:xfrm>
            <a:off x="6598768" y="2423160"/>
            <a:ext cx="4724248" cy="356616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salto confronta due registri e salta, in una sola istruzione: beq, bne, blt, bge, bltu, bgeu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slt e sltu scrivono il risultato di un confronto in un registro generico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Riporto e overflow si calcolano quando servono (Lezione 05)</a:t>
            </a:r>
            <a:endParaRPr lang="en-US" sz="1900" dirty="0"/>
          </a:p>
          <a:p>
            <a:pPr marL="203200" indent="-203200">
              <a:spcAft>
                <a:spcPts val="800"/>
              </a:spcAft>
              <a:buSzPct val="100000"/>
              <a:buChar char="•"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Meno stato nascosto: pipeline più semplici, interruzioni più semplici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7920304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0" name="Shape 8"/>
          <p:cNvSpPr/>
          <p:nvPr/>
        </p:nvSpPr>
        <p:spPr>
          <a:xfrm>
            <a:off x="7920304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048320" y="128016"/>
            <a:ext cx="201168" cy="201168"/>
          </a:xfrm>
          <a:prstGeom prst="rect">
            <a:avLst/>
          </a:prstGeom>
        </p:spPr>
      </p:pic>
      <p:sp>
        <p:nvSpPr>
          <p:cNvPr id="12" name="Text 9"/>
          <p:cNvSpPr txBox="1"/>
          <p:nvPr/>
        </p:nvSpPr>
        <p:spPr>
          <a:xfrm>
            <a:off x="8304352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di RISC-V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10</a:t>
            </a:fld>
            <a:endParaRPr lang="en-US"/>
          </a:p>
        </p:txBody>
      </p:sp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1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Registri speciali di RISC-V: i CSR</a:t>
            </a:r>
            <a:endParaRPr lang="en-US" sz="3200" dirty="0"/>
          </a:p>
        </p:txBody>
      </p:sp>
      <p:graphicFrame>
        <p:nvGraphicFramePr>
          <p:cNvPr id="12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1636881"/>
                <a:gridCol w="3273762"/>
                <a:gridCol w="6183772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Nome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Che cosa contiene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mstatus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della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l'abilitazione globale delle interruzioni e il modo di privilegio precedente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mtvec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vettore delle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della routine che gestisce interruzioni ed eccezioni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mepc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 dell'eccezione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l'indirizzo dell'istruzione che è stata interrotta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mcause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causa della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codice che dice perché è avvenuta la trap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ourier New" pitchFamily="34" charset="0"/>
                          <a:ea typeface="Courier New" pitchFamily="34" charset="-122"/>
                          <a:cs typeface="Courier New" pitchFamily="34" charset="-120"/>
                        </a:rPr>
                        <a:t>mie, mip</a:t>
                      </a:r>
                      <a:endParaRPr lang="en-US" sz="2100" dirty="0">
                        <a:latin typeface="Courier New" charset="0"/>
                        <a:ea typeface="Courier New" charset="0"/>
                        <a:cs typeface="Courier New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interruzioni abilitate, interruzioni pendenti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bit per sorgente di interruzione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6503746" y="91440"/>
            <a:ext cx="5139309" cy="274320"/>
          </a:xfrm>
          <a:prstGeom prst="rect">
            <a:avLst/>
          </a:prstGeom>
          <a:solidFill>
            <a:srgbClr val="F3E8FF"/>
          </a:solidFill>
          <a:ln w="12700">
            <a:solidFill>
              <a:srgbClr val="7E22CE"/>
            </a:solidFill>
            <a:prstDash val="dash"/>
          </a:ln>
        </p:spPr>
      </p:sp>
      <p:sp>
        <p:nvSpPr>
          <p:cNvPr id="5" name="Shape 2"/>
          <p:cNvSpPr/>
          <p:nvPr/>
        </p:nvSpPr>
        <p:spPr>
          <a:xfrm>
            <a:off x="6531178" y="128016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6" name="Shape 3"/>
          <p:cNvSpPr/>
          <p:nvPr/>
        </p:nvSpPr>
        <p:spPr>
          <a:xfrm>
            <a:off x="6531178" y="205740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sp>
        <p:nvSpPr>
          <p:cNvPr id="7" name="Shape 4"/>
          <p:cNvSpPr/>
          <p:nvPr/>
        </p:nvSpPr>
        <p:spPr>
          <a:xfrm>
            <a:off x="6531178" y="283464"/>
            <a:ext cx="45720" cy="45720"/>
          </a:xfrm>
          <a:prstGeom prst="rect">
            <a:avLst/>
          </a:prstGeom>
          <a:solidFill>
            <a:srgbClr val="7E22CE"/>
          </a:solidFill>
          <a:ln w="12700">
            <a:solidFill>
              <a:srgbClr val="7E22CE"/>
            </a:solidFill>
            <a:prstDash val="solid"/>
          </a:ln>
        </p:spPr>
      </p:sp>
      <p:pic>
        <p:nvPicPr>
          <p:cNvPr id="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6631762" y="128016"/>
            <a:ext cx="201168" cy="201168"/>
          </a:xfrm>
          <a:prstGeom prst="rect">
            <a:avLst/>
          </a:prstGeom>
        </p:spPr>
      </p:pic>
      <p:sp>
        <p:nvSpPr>
          <p:cNvPr id="9" name="Text 5"/>
          <p:cNvSpPr txBox="1"/>
          <p:nvPr/>
        </p:nvSpPr>
        <p:spPr>
          <a:xfrm>
            <a:off x="6887794" y="91440"/>
            <a:ext cx="4718685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PIÙ AVANTI</a:t>
            </a:r>
            <a:pPr indent="0" marL="0">
              <a:buNone/>
            </a:pPr>
            <a:r>
              <a:rPr lang="en-US" sz="1100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interruzioni e trap</a:t>
            </a:r>
            <a:pPr indent="0" marL="0">
              <a:buNone/>
            </a:pPr>
            <a:r>
              <a:rPr lang="en-US" sz="1100" b="1" dirty="0">
                <a:solidFill>
                  <a:srgbClr val="6B21A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→ Lezione 19</a:t>
            </a:r>
            <a:endParaRPr lang="en-US" sz="1100" dirty="0"/>
          </a:p>
        </p:txBody>
      </p:sp>
      <p:sp>
        <p:nvSpPr>
          <p:cNvPr id="10" name="Shape 6"/>
          <p:cNvSpPr/>
          <p:nvPr/>
        </p:nvSpPr>
        <p:spPr>
          <a:xfrm>
            <a:off x="2671267" y="91440"/>
            <a:ext cx="3722751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1" name="Shape 7"/>
          <p:cNvSpPr/>
          <p:nvPr/>
        </p:nvSpPr>
        <p:spPr>
          <a:xfrm>
            <a:off x="2671267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2" name="Image 1" descr="preencoded.png">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799283" y="128016"/>
            <a:ext cx="201168" cy="201168"/>
          </a:xfrm>
          <a:prstGeom prst="rect">
            <a:avLst/>
          </a:prstGeom>
        </p:spPr>
      </p:pic>
      <p:sp>
        <p:nvSpPr>
          <p:cNvPr id="13" name="Text 8"/>
          <p:cNvSpPr txBox="1"/>
          <p:nvPr/>
        </p:nvSpPr>
        <p:spPr>
          <a:xfrm>
            <a:off x="3055315" y="91440"/>
            <a:ext cx="3302127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 registri di RISC-V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11</a:t>
            </a:fld>
            <a:endParaRPr lang="en-US"/>
          </a:p>
        </p:txBody>
      </p:sp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2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 stack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Una struttura dati astratta con due operazioni: push memorizza un elemento come ultimo della pila, pop toglie l'ultimo elemento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Lavora sempre e solo sulla cima: non occorre dire dove memorizzare o prelevare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Serve a mettere da parte il contenuto dei registri da liberare per svolgere un compito, e a ripristinarlo dopo: sottoprogrammi, interruzioni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Realizzato con un puntatore, in memoria o in un registro dedicato, che indica in ogni istante la posizione dell'ultimo elemento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operazioni sullo stack dovrebbero controllare l'overflow su un push e lo stack vuoto su un pop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60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LIFO</a:t>
            </a:r>
            <a:endParaRPr lang="en-US" sz="60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l'ultimo valore inserito è il primo a essere estratto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8773871" y="91440"/>
            <a:ext cx="2869184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8773871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901887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9157919" y="91440"/>
            <a:ext cx="244856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la pila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12</a:t>
            </a:fld>
            <a:endParaRPr lang="en-US"/>
          </a:p>
        </p:txBody>
      </p:sp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3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Quattro architetture del processore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777240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5" name="Text 3"/>
          <p:cNvSpPr txBox="1"/>
          <p:nvPr/>
        </p:nvSpPr>
        <p:spPr>
          <a:xfrm>
            <a:off x="1325880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Registri generici</a:t>
            </a:r>
            <a:endParaRPr lang="en-US" sz="2000" dirty="0"/>
          </a:p>
        </p:txBody>
      </p:sp>
      <p:sp>
        <p:nvSpPr>
          <p:cNvPr id="6" name="Text 4"/>
          <p:cNvSpPr txBox="1"/>
          <p:nvPr/>
        </p:nvSpPr>
        <p:spPr>
          <a:xfrm>
            <a:off x="822960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ha un insieme di registri REG0, REG1, ..., REGN-1 utilizzabili in modo intercambiabile.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6233008" y="14173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6461608" y="16459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9" name="Text 7"/>
          <p:cNvSpPr txBox="1"/>
          <p:nvPr/>
        </p:nvSpPr>
        <p:spPr>
          <a:xfrm>
            <a:off x="7010248" y="16002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</a:t>
            </a:r>
            <a:endParaRPr lang="en-US" sz="2000" dirty="0"/>
          </a:p>
        </p:txBody>
      </p:sp>
      <p:sp>
        <p:nvSpPr>
          <p:cNvPr id="10" name="Text 8"/>
          <p:cNvSpPr txBox="1"/>
          <p:nvPr/>
        </p:nvSpPr>
        <p:spPr>
          <a:xfrm>
            <a:off x="6507328" y="23317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 le istruzioni aritmetiche, logiche e di confronto hanno un operando implicito: un registro speciale, l'accumulatore.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777240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</a:t>
            </a:r>
            <a:endParaRPr lang="en-US" sz="1400" dirty="0"/>
          </a:p>
        </p:txBody>
      </p:sp>
      <p:sp>
        <p:nvSpPr>
          <p:cNvPr id="13" name="Text 11"/>
          <p:cNvSpPr txBox="1"/>
          <p:nvPr/>
        </p:nvSpPr>
        <p:spPr>
          <a:xfrm>
            <a:off x="1325880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Stack</a:t>
            </a:r>
            <a:endParaRPr lang="en-US" sz="2000" dirty="0"/>
          </a:p>
        </p:txBody>
      </p:sp>
      <p:sp>
        <p:nvSpPr>
          <p:cNvPr id="14" name="Text 12"/>
          <p:cNvSpPr txBox="1"/>
          <p:nvPr/>
        </p:nvSpPr>
        <p:spPr>
          <a:xfrm>
            <a:off x="822960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Non ci sono né accumulatori né registri generici, solo il puntatore allo stack; le istruzioni lavorano sui dati in cima allo stack.</a:t>
            </a:r>
            <a:endParaRPr lang="en-US" sz="1900" dirty="0"/>
          </a:p>
        </p:txBody>
      </p:sp>
      <p:sp>
        <p:nvSpPr>
          <p:cNvPr id="15" name="Shape 13"/>
          <p:cNvSpPr/>
          <p:nvPr/>
        </p:nvSpPr>
        <p:spPr>
          <a:xfrm>
            <a:off x="6233008" y="3931920"/>
            <a:ext cx="5410048" cy="2240280"/>
          </a:xfrm>
          <a:prstGeom prst="roundRect">
            <a:avLst>
              <a:gd name="adj" fmla="val 326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6" name="Text 14"/>
          <p:cNvSpPr txBox="1"/>
          <p:nvPr/>
        </p:nvSpPr>
        <p:spPr>
          <a:xfrm>
            <a:off x="6461608" y="4160520"/>
            <a:ext cx="384048" cy="384048"/>
          </a:xfrm>
          <a:prstGeom prst="roundRect">
            <a:avLst>
              <a:gd name="adj" fmla="val 19048"/>
            </a:avLst>
          </a:prstGeom>
          <a:solidFill>
            <a:srgbClr val="2F7D4F"/>
          </a:solidFill>
          <a:ln>
            <a:solidFill>
              <a:srgbClr val="2F7D4F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4</a:t>
            </a:r>
            <a:endParaRPr lang="en-US" sz="1400" dirty="0"/>
          </a:p>
        </p:txBody>
      </p:sp>
      <p:sp>
        <p:nvSpPr>
          <p:cNvPr id="17" name="Text 15"/>
          <p:cNvSpPr txBox="1"/>
          <p:nvPr/>
        </p:nvSpPr>
        <p:spPr>
          <a:xfrm>
            <a:off x="7010248" y="4114800"/>
            <a:ext cx="4404208" cy="685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2E4A62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Ortogonale</a:t>
            </a:r>
            <a:endParaRPr lang="en-US" sz="2000" dirty="0"/>
          </a:p>
        </p:txBody>
      </p:sp>
      <p:sp>
        <p:nvSpPr>
          <p:cNvPr id="18" name="Text 16"/>
          <p:cNvSpPr txBox="1"/>
          <p:nvPr/>
        </p:nvSpPr>
        <p:spPr>
          <a:xfrm>
            <a:off x="6507328" y="4846320"/>
            <a:ext cx="4861408" cy="11887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unico banco di registri generici, alcuni dei quali fanno, quando serve, da puntatore allo stack o da altri registri speciali.</a:t>
            </a:r>
            <a:endParaRPr lang="en-US" sz="1900" dirty="0"/>
          </a:p>
        </p:txBody>
      </p:sp>
      <p:sp>
        <p:nvSpPr>
          <p:cNvPr id="19" name="Shape 17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1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22" name="Text 19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13</a:t>
            </a:fld>
            <a:endParaRPr lang="en-US"/>
          </a:p>
        </p:txBody>
      </p:sp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4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RISC-V: un processore load-store a registri generici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15999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 istruzioni che lavorano sui registri sono più veloci di quelle che lavorano su locazioni di memoria: i dati più usati si tengono nei registri</a:t>
            </a:r>
            <a:endParaRPr lang="en-US" sz="2100" dirty="0"/>
          </a:p>
        </p:txBody>
      </p:sp>
      <p:sp>
        <p:nvSpPr>
          <p:cNvPr id="5" name="Shape 3"/>
          <p:cNvSpPr/>
          <p:nvPr/>
        </p:nvSpPr>
        <p:spPr>
          <a:xfrm>
            <a:off x="548640" y="262337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524697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 toccano la memoria; ogni altra istruzione lavora da registro a registro</a:t>
            </a:r>
            <a:endParaRPr lang="en-US" sz="2100" dirty="0"/>
          </a:p>
        </p:txBody>
      </p:sp>
      <p:sp>
        <p:nvSpPr>
          <p:cNvPr id="7" name="Shape 5"/>
          <p:cNvSpPr/>
          <p:nvPr/>
        </p:nvSpPr>
        <p:spPr>
          <a:xfrm>
            <a:off x="548640" y="3405378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3306699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Tre operandi: due sorgenti e una destinazione, così nessun valore viene distrutto se non lo si vuole</a:t>
            </a:r>
            <a:endParaRPr lang="en-US" sz="2100" dirty="0"/>
          </a:p>
        </p:txBody>
      </p:sp>
      <p:sp>
        <p:nvSpPr>
          <p:cNvPr id="9" name="Shape 7"/>
          <p:cNvSpPr/>
          <p:nvPr/>
        </p:nvSpPr>
        <p:spPr>
          <a:xfrm>
            <a:off x="548640" y="4512755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4414076"/>
            <a:ext cx="6565392" cy="97612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Ogni istruzione fa una cosa semplice e ha dimensione fissa: facile da decodificare, facile da eseguire in pipeline</a:t>
            </a:r>
            <a:endParaRPr lang="en-US" sz="2100" dirty="0"/>
          </a:p>
        </p:txBody>
      </p:sp>
      <p:sp>
        <p:nvSpPr>
          <p:cNvPr id="11" name="Shape 9"/>
          <p:cNvSpPr/>
          <p:nvPr/>
        </p:nvSpPr>
        <p:spPr>
          <a:xfrm>
            <a:off x="548640" y="562013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5521452"/>
            <a:ext cx="6565392" cy="650748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21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È questo il significato di RISC: reduced instruction set computer</a:t>
            </a:r>
            <a:endParaRPr lang="en-US" sz="2100" dirty="0"/>
          </a:p>
        </p:txBody>
      </p:sp>
      <p:sp>
        <p:nvSpPr>
          <p:cNvPr id="13" name="Shape 11"/>
          <p:cNvSpPr/>
          <p:nvPr/>
        </p:nvSpPr>
        <p:spPr>
          <a:xfrm>
            <a:off x="7863840" y="1417320"/>
            <a:ext cx="3779215" cy="4754880"/>
          </a:xfrm>
          <a:prstGeom prst="roundRect">
            <a:avLst>
              <a:gd name="adj" fmla="val 1936"/>
            </a:avLst>
          </a:prstGeom>
          <a:solidFill>
            <a:srgbClr val="1B2530"/>
          </a:solidFill>
          <a:ln w="12700">
            <a:solidFill>
              <a:srgbClr val="1B2530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8046720" y="2148840"/>
            <a:ext cx="3413455" cy="182880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3900" b="1" dirty="0">
                <a:solidFill>
                  <a:srgbClr val="FFFFFF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load, calcolo, store</a:t>
            </a:r>
            <a:endParaRPr lang="en-US" sz="3900" dirty="0"/>
          </a:p>
        </p:txBody>
      </p:sp>
      <p:sp>
        <p:nvSpPr>
          <p:cNvPr id="15" name="Text 13"/>
          <p:cNvSpPr txBox="1"/>
          <p:nvPr/>
        </p:nvSpPr>
        <p:spPr>
          <a:xfrm>
            <a:off x="8138160" y="4160520"/>
            <a:ext cx="3230575" cy="155448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900" dirty="0">
                <a:solidFill>
                  <a:srgbClr val="CFE3EA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ritmo di ogni programma RISC-V, dal primo contatore all'ultimo gioco</a:t>
            </a:r>
            <a:endParaRPr lang="en-US" sz="1900" dirty="0"/>
          </a:p>
        </p:txBody>
      </p:sp>
      <p:sp>
        <p:nvSpPr>
          <p:cNvPr id="16" name="Shape 14"/>
          <p:cNvSpPr/>
          <p:nvPr/>
        </p:nvSpPr>
        <p:spPr>
          <a:xfrm>
            <a:off x="7395032" y="91440"/>
            <a:ext cx="424802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17" name="Shape 15"/>
          <p:cNvSpPr/>
          <p:nvPr/>
        </p:nvSpPr>
        <p:spPr>
          <a:xfrm>
            <a:off x="739503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18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523048" y="128016"/>
            <a:ext cx="201168" cy="201168"/>
          </a:xfrm>
          <a:prstGeom prst="rect">
            <a:avLst/>
          </a:prstGeom>
        </p:spPr>
      </p:pic>
      <p:sp>
        <p:nvSpPr>
          <p:cNvPr id="19" name="Text 16"/>
          <p:cNvSpPr txBox="1"/>
          <p:nvPr/>
        </p:nvSpPr>
        <p:spPr>
          <a:xfrm>
            <a:off x="7779080" y="91440"/>
            <a:ext cx="382739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accumulatore, pila, registri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14</a:t>
            </a:fld>
            <a:endParaRPr lang="en-US"/>
          </a:p>
        </p:txBody>
      </p:sp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5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L'architettura di un processore RV32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2240280"/>
            <a:ext cx="1188720" cy="1463040"/>
          </a:xfrm>
          <a:prstGeom prst="roundRect">
            <a:avLst>
              <a:gd name="adj" fmla="val 4615"/>
            </a:avLst>
          </a:prstGeom>
          <a:solidFill>
            <a:srgbClr val="B23A48"/>
          </a:solidFill>
          <a:ln>
            <a:solidFill>
              <a:srgbClr val="B23A48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indirizzo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dell'istruzione</a:t>
            </a:r>
            <a:endParaRPr lang="en-US" sz="1500" dirty="0"/>
          </a:p>
        </p:txBody>
      </p:sp>
      <p:sp>
        <p:nvSpPr>
          <p:cNvPr id="4" name="Shape 2"/>
          <p:cNvSpPr/>
          <p:nvPr/>
        </p:nvSpPr>
        <p:spPr>
          <a:xfrm>
            <a:off x="1773936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5" name="Text 3"/>
          <p:cNvSpPr txBox="1"/>
          <p:nvPr/>
        </p:nvSpPr>
        <p:spPr>
          <a:xfrm>
            <a:off x="2182307" y="2240280"/>
            <a:ext cx="1554480" cy="1463040"/>
          </a:xfrm>
          <a:prstGeom prst="roundRect">
            <a:avLst>
              <a:gd name="adj" fmla="val 375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istruzioni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prelievo</a:t>
            </a:r>
            <a:endParaRPr lang="en-US" sz="1500" dirty="0"/>
          </a:p>
        </p:txBody>
      </p:sp>
      <p:sp>
        <p:nvSpPr>
          <p:cNvPr id="6" name="Shape 4"/>
          <p:cNvSpPr/>
          <p:nvPr/>
        </p:nvSpPr>
        <p:spPr>
          <a:xfrm>
            <a:off x="3773363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7" name="Text 5"/>
          <p:cNvSpPr txBox="1"/>
          <p:nvPr/>
        </p:nvSpPr>
        <p:spPr>
          <a:xfrm>
            <a:off x="4181734" y="2240280"/>
            <a:ext cx="1737360" cy="1463040"/>
          </a:xfrm>
          <a:prstGeom prst="roundRect">
            <a:avLst>
              <a:gd name="adj" fmla="val 3750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decodificatore e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unità di controllo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campi e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comandi</a:t>
            </a:r>
            <a:endParaRPr lang="en-US" sz="1500" dirty="0"/>
          </a:p>
        </p:txBody>
      </p:sp>
      <p:sp>
        <p:nvSpPr>
          <p:cNvPr id="8" name="Shape 6"/>
          <p:cNvSpPr/>
          <p:nvPr/>
        </p:nvSpPr>
        <p:spPr>
          <a:xfrm>
            <a:off x="5955670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9" name="Text 7"/>
          <p:cNvSpPr txBox="1"/>
          <p:nvPr/>
        </p:nvSpPr>
        <p:spPr>
          <a:xfrm>
            <a:off x="6364041" y="2240280"/>
            <a:ext cx="1645920" cy="1463040"/>
          </a:xfrm>
          <a:prstGeom prst="roundRect">
            <a:avLst>
              <a:gd name="adj" fmla="val 375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banco dei registri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x0 - x31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32 x 32 bit</a:t>
            </a:r>
            <a:endParaRPr lang="en-US" sz="1500" dirty="0"/>
          </a:p>
        </p:txBody>
      </p:sp>
      <p:sp>
        <p:nvSpPr>
          <p:cNvPr id="10" name="Shape 8"/>
          <p:cNvSpPr/>
          <p:nvPr/>
        </p:nvSpPr>
        <p:spPr>
          <a:xfrm>
            <a:off x="8046537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1" name="Text 9"/>
          <p:cNvSpPr txBox="1"/>
          <p:nvPr/>
        </p:nvSpPr>
        <p:spPr>
          <a:xfrm>
            <a:off x="8454908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C7791B"/>
          </a:solidFill>
          <a:ln>
            <a:solidFill>
              <a:srgbClr val="C7791B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ALU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calcola, o forma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un indirizzo</a:t>
            </a:r>
            <a:endParaRPr lang="en-US" sz="1500" dirty="0"/>
          </a:p>
        </p:txBody>
      </p:sp>
      <p:sp>
        <p:nvSpPr>
          <p:cNvPr id="12" name="Shape 10"/>
          <p:cNvSpPr/>
          <p:nvPr/>
        </p:nvSpPr>
        <p:spPr>
          <a:xfrm>
            <a:off x="9863084" y="2971800"/>
            <a:ext cx="371795" cy="0"/>
          </a:xfrm>
          <a:prstGeom prst="line">
            <a:avLst/>
          </a:prstGeom>
          <a:noFill/>
          <a:ln w="31750">
            <a:solidFill>
              <a:srgbClr val="5B6B78"/>
            </a:solidFill>
            <a:prstDash val="solid"/>
            <a:tailEnd type="triangle"/>
          </a:ln>
        </p:spPr>
      </p:sp>
      <p:sp>
        <p:nvSpPr>
          <p:cNvPr id="13" name="Text 11"/>
          <p:cNvSpPr txBox="1"/>
          <p:nvPr/>
        </p:nvSpPr>
        <p:spPr>
          <a:xfrm>
            <a:off x="10271455" y="2240280"/>
            <a:ext cx="1371600" cy="1463040"/>
          </a:xfrm>
          <a:prstGeom prst="roundRect">
            <a:avLst>
              <a:gd name="adj" fmla="val 4000"/>
            </a:avLst>
          </a:prstGeom>
          <a:solidFill>
            <a:srgbClr val="6B4FA0"/>
          </a:solidFill>
          <a:ln>
            <a:solidFill>
              <a:srgbClr val="6B4FA0"/>
            </a:solidFill>
          </a:ln>
        </p:spPr>
        <p:txBody>
          <a:bodyPr wrap="square" lIns="38100" tIns="38100" rIns="38100" bIns="38100" rtlCol="0" anchor="ctr"/>
          <a:lstStyle/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memoria</a:t>
            </a:r>
            <a:endParaRPr lang="en-US" sz="1500" dirty="0"/>
          </a:p>
          <a:p>
            <a:pPr algn="ctr" indent="0" marL="0">
              <a:buNone/>
            </a:pPr>
            <a:r>
              <a:rPr lang="en-US" sz="15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dati</a:t>
            </a:r>
            <a:endParaRPr lang="en-US" sz="1500" dirty="0"/>
          </a:p>
          <a:p>
            <a:pPr algn="ctr" indent="0" marL="0">
              <a:buNone/>
            </a:pPr>
            <a:r>
              <a:rPr lang="en-US" sz="1150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load, store</a:t>
            </a:r>
            <a:endParaRPr lang="en-US" sz="1500" dirty="0"/>
          </a:p>
        </p:txBody>
      </p:sp>
      <p:sp>
        <p:nvSpPr>
          <p:cNvPr id="14" name="Shape 12"/>
          <p:cNvSpPr/>
          <p:nvPr/>
        </p:nvSpPr>
        <p:spPr>
          <a:xfrm>
            <a:off x="10957255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5" name="Shape 13"/>
          <p:cNvSpPr/>
          <p:nvPr/>
        </p:nvSpPr>
        <p:spPr>
          <a:xfrm flipH="1">
            <a:off x="7187001" y="4343400"/>
            <a:ext cx="3770254" cy="0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</a:ln>
        </p:spPr>
      </p:sp>
      <p:sp>
        <p:nvSpPr>
          <p:cNvPr id="16" name="Shape 14"/>
          <p:cNvSpPr/>
          <p:nvPr/>
        </p:nvSpPr>
        <p:spPr>
          <a:xfrm flipV="1">
            <a:off x="7187001" y="3730752"/>
            <a:ext cx="0" cy="612648"/>
          </a:xfrm>
          <a:prstGeom prst="line">
            <a:avLst/>
          </a:prstGeom>
          <a:noFill/>
          <a:ln w="31750">
            <a:solidFill>
              <a:srgbClr val="2F7D4F"/>
            </a:solidFill>
            <a:prstDash val="solid"/>
            <a:tailEnd type="triangle"/>
          </a:ln>
        </p:spPr>
      </p:sp>
      <p:sp>
        <p:nvSpPr>
          <p:cNvPr id="17" name="Text 15"/>
          <p:cNvSpPr txBox="1"/>
          <p:nvPr/>
        </p:nvSpPr>
        <p:spPr>
          <a:xfrm>
            <a:off x="7187001" y="4389120"/>
            <a:ext cx="3770254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algn="ctr" indent="0" marL="0">
              <a:buNone/>
            </a:pPr>
            <a:r>
              <a:rPr lang="en-US" sz="1250" b="1" dirty="0">
                <a:solidFill>
                  <a:srgbClr val="2F7D4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write back: il risultato torna nel registro indicato da rd</a:t>
            </a:r>
            <a:endParaRPr lang="en-US" sz="1250" dirty="0"/>
          </a:p>
        </p:txBody>
      </p:sp>
      <p:sp>
        <p:nvSpPr>
          <p:cNvPr id="18" name="Shape 16"/>
          <p:cNvSpPr/>
          <p:nvPr/>
        </p:nvSpPr>
        <p:spPr>
          <a:xfrm>
            <a:off x="1143000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  <a:tailEnd type="triangle"/>
          </a:ln>
        </p:spPr>
      </p:sp>
      <p:sp>
        <p:nvSpPr>
          <p:cNvPr id="19" name="Shape 17"/>
          <p:cNvSpPr/>
          <p:nvPr/>
        </p:nvSpPr>
        <p:spPr>
          <a:xfrm>
            <a:off x="1143000" y="1691640"/>
            <a:ext cx="7997708" cy="0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0" name="Shape 18"/>
          <p:cNvSpPr/>
          <p:nvPr/>
        </p:nvSpPr>
        <p:spPr>
          <a:xfrm>
            <a:off x="9140708" y="1691640"/>
            <a:ext cx="0" cy="521208"/>
          </a:xfrm>
          <a:prstGeom prst="line">
            <a:avLst/>
          </a:prstGeom>
          <a:noFill/>
          <a:ln w="31750">
            <a:solidFill>
              <a:srgbClr val="B23A48"/>
            </a:solidFill>
            <a:prstDash val="solid"/>
          </a:ln>
        </p:spPr>
      </p:sp>
      <p:sp>
        <p:nvSpPr>
          <p:cNvPr id="21" name="Text 19"/>
          <p:cNvSpPr txBox="1"/>
          <p:nvPr/>
        </p:nvSpPr>
        <p:spPr>
          <a:xfrm>
            <a:off x="1325880" y="1371600"/>
            <a:ext cx="5486400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buNone/>
            </a:pPr>
            <a:r>
              <a:rPr lang="en-US" sz="1250" b="1" dirty="0">
                <a:solidFill>
                  <a:srgbClr val="B23A4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PC prossimo: PC + 4, oppure la destinazione del salto</a:t>
            </a:r>
            <a:endParaRPr lang="en-US" sz="1250" dirty="0"/>
          </a:p>
        </p:txBody>
      </p:sp>
      <p:sp>
        <p:nvSpPr>
          <p:cNvPr id="22" name="Text 20"/>
          <p:cNvSpPr txBox="1"/>
          <p:nvPr/>
        </p:nvSpPr>
        <p:spPr>
          <a:xfrm>
            <a:off x="548640" y="5120640"/>
            <a:ext cx="11094415" cy="105156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45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Accanto, fuori dal percorso principale: il banco dei registri di controllo e stato, e la logica delle trap della Lezione 19. Rispetto all'MC68000 della presentazione originale non ci sono registri dati e indirizzi separati, né registro dei codici di condizione, né registro dell'indirizzo effettivo.</a:t>
            </a:r>
            <a:endParaRPr lang="en-US" sz="1450" dirty="0"/>
          </a:p>
        </p:txBody>
      </p:sp>
      <p:sp>
        <p:nvSpPr>
          <p:cNvPr id="23" name="Shape 2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24" name="Shape 2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25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26" name="Text 2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processore RV32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15</a:t>
            </a:fld>
            <a:endParaRPr lang="en-US"/>
          </a:p>
        </p:txBody>
      </p:sp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6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Il processore del kit PRG32</a:t>
            </a:r>
            <a:endParaRPr lang="en-US" sz="3200" dirty="0"/>
          </a:p>
        </p:txBody>
      </p:sp>
      <p:graphicFrame>
        <p:nvGraphicFramePr>
          <p:cNvPr id="17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546259"/>
                <a:gridCol w="8548156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Caratteristica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ESP32-C6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di istruzioni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RV32IMAC: insieme intero di base, moltiplicazione e divisione, atomiche, istruzioni compresse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Core principale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32 bit, fino a 160 MHz, pipeline a quattro stadi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Secondo core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 core RISC-V a basso consumo, fino a 20 MHz, per i compiti che girano mentre il core principale dorme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Modi di privilegio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macchina e utente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Virgola mobile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nessuna: né estensione F né D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Memoria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512 KB di SRAM, 320 KB di ROM, flash esterna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Sullo stesso chip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0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radio Wi-Fi 6, Bluetooth, Thread e Zigbee; periferiche SPI, I2S, GPIO e timer</a:t>
                      </a:r>
                      <a:endParaRPr lang="en-US" sz="20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4" name="Shape 1"/>
          <p:cNvSpPr/>
          <p:nvPr/>
        </p:nvSpPr>
        <p:spPr>
          <a:xfrm>
            <a:off x="8051622" y="91440"/>
            <a:ext cx="3591433" cy="274320"/>
          </a:xfrm>
          <a:prstGeom prst="rect">
            <a:avLst/>
          </a:prstGeom>
          <a:solidFill>
            <a:srgbClr val="E0F2FE"/>
          </a:solidFill>
          <a:ln w="12700">
            <a:solidFill>
              <a:srgbClr val="0369A1"/>
            </a:solidFill>
            <a:prstDash val="solid"/>
          </a:ln>
        </p:spPr>
      </p:sp>
      <p:sp>
        <p:nvSpPr>
          <p:cNvPr id="5" name="Shape 2"/>
          <p:cNvSpPr/>
          <p:nvPr/>
        </p:nvSpPr>
        <p:spPr>
          <a:xfrm>
            <a:off x="8051622" y="91440"/>
            <a:ext cx="73152" cy="274320"/>
          </a:xfrm>
          <a:prstGeom prst="rect">
            <a:avLst/>
          </a:prstGeom>
          <a:solidFill>
            <a:srgbClr val="0369A1"/>
          </a:solidFill>
          <a:ln w="12700">
            <a:solidFill>
              <a:srgbClr val="0369A1"/>
            </a:solidFill>
            <a:prstDash val="solid"/>
          </a:ln>
        </p:spPr>
      </p:sp>
      <p:pic>
        <p:nvPicPr>
          <p:cNvPr id="6" name="Image 0" descr="preencoded.png">    </p:cNvPr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79638" y="128016"/>
            <a:ext cx="201168" cy="201168"/>
          </a:xfrm>
          <a:prstGeom prst="rect">
            <a:avLst/>
          </a:prstGeom>
        </p:spPr>
      </p:pic>
      <p:sp>
        <p:nvSpPr>
          <p:cNvPr id="7" name="Text 3"/>
          <p:cNvSpPr txBox="1"/>
          <p:nvPr/>
        </p:nvSpPr>
        <p:spPr>
          <a:xfrm>
            <a:off x="8435670" y="91440"/>
            <a:ext cx="3170809" cy="27432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100" b="1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DA COMPRENDERE OGGI</a:t>
            </a:r>
            <a:pPr indent="0" marL="0">
              <a:buNone/>
            </a:pPr>
            <a:r>
              <a:rPr lang="en-US" sz="1100" dirty="0">
                <a:solidFill>
                  <a:srgbClr val="075985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 · il processore RV32</a:t>
            </a:r>
            <a:endParaRPr lang="en-US" sz="11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16</a:t>
            </a:fld>
            <a:endParaRPr lang="en-US"/>
          </a:p>
        </p:txBody>
      </p:sp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7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Quale registro del modello generale non ha corrispettivo in RISC-V?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program counter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di stato con i flag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puntatore allo stack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registro istruzione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RISC-V, quali istruzioni possono leggere o scrivere la memoria centrale?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tutte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add e sub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load e store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solo i salti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17</a:t>
            </a:fld>
            <a:endParaRPr lang="en-US"/>
          </a:p>
        </p:txBody>
      </p:sp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8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Verifica la comprensione</a:t>
            </a:r>
            <a:endParaRPr lang="en-US" sz="3200" dirty="0"/>
          </a:p>
        </p:txBody>
      </p:sp>
      <p:sp>
        <p:nvSpPr>
          <p:cNvPr id="3" name="Text 1"/>
          <p:cNvSpPr txBox="1"/>
          <p:nvPr/>
        </p:nvSpPr>
        <p:spPr>
          <a:xfrm>
            <a:off x="548640" y="156362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1</a:t>
            </a:r>
            <a:endParaRPr lang="en-US" sz="1400" dirty="0"/>
          </a:p>
        </p:txBody>
      </p:sp>
      <p:sp>
        <p:nvSpPr>
          <p:cNvPr id="4" name="Text 2"/>
          <p:cNvSpPr txBox="1"/>
          <p:nvPr/>
        </p:nvSpPr>
        <p:spPr>
          <a:xfrm>
            <a:off x="1051560" y="141732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Dopo addi sp, sp, -4 e sw t0, 0(sp), che cosa è successo?</a:t>
            </a:r>
            <a:endParaRPr lang="en-US" sz="2000" dirty="0"/>
          </a:p>
        </p:txBody>
      </p:sp>
      <p:sp>
        <p:nvSpPr>
          <p:cNvPr id="5" name="Shape 3"/>
          <p:cNvSpPr/>
          <p:nvPr/>
        </p:nvSpPr>
        <p:spPr>
          <a:xfrm>
            <a:off x="548640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685800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7" name="Text 5"/>
          <p:cNvSpPr txBox="1"/>
          <p:nvPr/>
        </p:nvSpPr>
        <p:spPr>
          <a:xfrm>
            <a:off x="1170432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estratto dallo stack</a:t>
            </a:r>
            <a:endParaRPr lang="en-US" sz="1700" dirty="0"/>
          </a:p>
        </p:txBody>
      </p:sp>
      <p:sp>
        <p:nvSpPr>
          <p:cNvPr id="8" name="Shape 6"/>
          <p:cNvSpPr/>
          <p:nvPr/>
        </p:nvSpPr>
        <p:spPr>
          <a:xfrm>
            <a:off x="6233008" y="214884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9" name="Text 7"/>
          <p:cNvSpPr txBox="1"/>
          <p:nvPr/>
        </p:nvSpPr>
        <p:spPr>
          <a:xfrm>
            <a:off x="6370168" y="234657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10" name="Text 8"/>
          <p:cNvSpPr txBox="1"/>
          <p:nvPr/>
        </p:nvSpPr>
        <p:spPr>
          <a:xfrm>
            <a:off x="6854800" y="220370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t0 è stato inserito sullo stack</a:t>
            </a:r>
            <a:endParaRPr lang="en-US" sz="1700" dirty="0"/>
          </a:p>
        </p:txBody>
      </p:sp>
      <p:sp>
        <p:nvSpPr>
          <p:cNvPr id="11" name="Shape 9"/>
          <p:cNvSpPr/>
          <p:nvPr/>
        </p:nvSpPr>
        <p:spPr>
          <a:xfrm>
            <a:off x="548640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685800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13" name="Text 11"/>
          <p:cNvSpPr txBox="1"/>
          <p:nvPr/>
        </p:nvSpPr>
        <p:spPr>
          <a:xfrm>
            <a:off x="1170432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lo stack è stato svuotato</a:t>
            </a:r>
            <a:endParaRPr lang="en-US" sz="1700" dirty="0"/>
          </a:p>
        </p:txBody>
      </p:sp>
      <p:sp>
        <p:nvSpPr>
          <p:cNvPr id="14" name="Shape 12"/>
          <p:cNvSpPr/>
          <p:nvPr/>
        </p:nvSpPr>
        <p:spPr>
          <a:xfrm>
            <a:off x="6233008" y="300151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15" name="Text 13"/>
          <p:cNvSpPr txBox="1"/>
          <p:nvPr/>
        </p:nvSpPr>
        <p:spPr>
          <a:xfrm>
            <a:off x="6370168" y="319925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16" name="Text 14"/>
          <p:cNvSpPr txBox="1"/>
          <p:nvPr/>
        </p:nvSpPr>
        <p:spPr>
          <a:xfrm>
            <a:off x="6854800" y="305638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sp è stato salvato in t0</a:t>
            </a:r>
            <a:endParaRPr lang="en-US" sz="1700" dirty="0"/>
          </a:p>
        </p:txBody>
      </p:sp>
      <p:sp>
        <p:nvSpPr>
          <p:cNvPr id="17" name="Text 15"/>
          <p:cNvSpPr txBox="1"/>
          <p:nvPr/>
        </p:nvSpPr>
        <p:spPr>
          <a:xfrm>
            <a:off x="548640" y="4009644"/>
            <a:ext cx="365760" cy="365760"/>
          </a:xfrm>
          <a:prstGeom prst="roundRect">
            <a:avLst>
              <a:gd name="adj" fmla="val 20000"/>
            </a:avLst>
          </a:prstGeom>
          <a:solidFill>
            <a:srgbClr val="0E7C86"/>
          </a:solidFill>
          <a:ln>
            <a:solidFill>
              <a:srgbClr val="0E7C86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4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2</a:t>
            </a:r>
            <a:endParaRPr lang="en-US" sz="1400" dirty="0"/>
          </a:p>
        </p:txBody>
      </p:sp>
      <p:sp>
        <p:nvSpPr>
          <p:cNvPr id="18" name="Text 16"/>
          <p:cNvSpPr txBox="1"/>
          <p:nvPr/>
        </p:nvSpPr>
        <p:spPr>
          <a:xfrm>
            <a:off x="1051560" y="3863340"/>
            <a:ext cx="10591495" cy="658368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2000" b="1" dirty="0">
                <a:solidFill>
                  <a:srgbClr val="1B2530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In una macchina ad accumulatore, l'istruzione ADD y significa:</a:t>
            </a:r>
            <a:endParaRPr lang="en-US" sz="2000" dirty="0"/>
          </a:p>
        </p:txBody>
      </p:sp>
      <p:sp>
        <p:nvSpPr>
          <p:cNvPr id="19" name="Shape 17"/>
          <p:cNvSpPr/>
          <p:nvPr/>
        </p:nvSpPr>
        <p:spPr>
          <a:xfrm>
            <a:off x="548640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0" name="Text 18"/>
          <p:cNvSpPr txBox="1"/>
          <p:nvPr/>
        </p:nvSpPr>
        <p:spPr>
          <a:xfrm>
            <a:off x="685800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</a:t>
            </a:r>
            <a:endParaRPr lang="en-US" sz="1200" dirty="0"/>
          </a:p>
        </p:txBody>
      </p:sp>
      <p:sp>
        <p:nvSpPr>
          <p:cNvPr id="21" name="Text 19"/>
          <p:cNvSpPr txBox="1"/>
          <p:nvPr/>
        </p:nvSpPr>
        <p:spPr>
          <a:xfrm>
            <a:off x="1170432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y + accumulatore</a:t>
            </a:r>
            <a:endParaRPr lang="en-US" sz="1700" dirty="0"/>
          </a:p>
        </p:txBody>
      </p:sp>
      <p:sp>
        <p:nvSpPr>
          <p:cNvPr id="22" name="Shape 20"/>
          <p:cNvSpPr/>
          <p:nvPr/>
        </p:nvSpPr>
        <p:spPr>
          <a:xfrm>
            <a:off x="6233008" y="4594860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3" name="Text 21"/>
          <p:cNvSpPr txBox="1"/>
          <p:nvPr/>
        </p:nvSpPr>
        <p:spPr>
          <a:xfrm>
            <a:off x="6370168" y="4792599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B</a:t>
            </a:r>
            <a:endParaRPr lang="en-US" sz="1200" dirty="0"/>
          </a:p>
        </p:txBody>
      </p:sp>
      <p:sp>
        <p:nvSpPr>
          <p:cNvPr id="24" name="Text 22"/>
          <p:cNvSpPr txBox="1"/>
          <p:nvPr/>
        </p:nvSpPr>
        <p:spPr>
          <a:xfrm>
            <a:off x="6854800" y="4649724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accumulatore := accumulatore + [y]</a:t>
            </a:r>
            <a:endParaRPr lang="en-US" sz="1700" dirty="0"/>
          </a:p>
        </p:txBody>
      </p:sp>
      <p:sp>
        <p:nvSpPr>
          <p:cNvPr id="25" name="Shape 23"/>
          <p:cNvSpPr/>
          <p:nvPr/>
        </p:nvSpPr>
        <p:spPr>
          <a:xfrm>
            <a:off x="548640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6" name="Text 24"/>
          <p:cNvSpPr txBox="1"/>
          <p:nvPr/>
        </p:nvSpPr>
        <p:spPr>
          <a:xfrm>
            <a:off x="685800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C</a:t>
            </a:r>
            <a:endParaRPr lang="en-US" sz="1200" dirty="0"/>
          </a:p>
        </p:txBody>
      </p:sp>
      <p:sp>
        <p:nvSpPr>
          <p:cNvPr id="27" name="Text 25"/>
          <p:cNvSpPr txBox="1"/>
          <p:nvPr/>
        </p:nvSpPr>
        <p:spPr>
          <a:xfrm>
            <a:off x="1170432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push di y, poi somma</a:t>
            </a:r>
            <a:endParaRPr lang="en-US" sz="1700" dirty="0"/>
          </a:p>
        </p:txBody>
      </p:sp>
      <p:sp>
        <p:nvSpPr>
          <p:cNvPr id="28" name="Shape 26"/>
          <p:cNvSpPr/>
          <p:nvPr/>
        </p:nvSpPr>
        <p:spPr>
          <a:xfrm>
            <a:off x="6233008" y="5447538"/>
            <a:ext cx="5410048" cy="724662"/>
          </a:xfrm>
          <a:prstGeom prst="roundRect">
            <a:avLst>
              <a:gd name="adj" fmla="val 10095"/>
            </a:avLst>
          </a:prstGeom>
          <a:solidFill>
            <a:srgbClr val="EEF2F4"/>
          </a:solidFill>
          <a:ln w="12700">
            <a:solidFill>
              <a:srgbClr val="EEF2F4"/>
            </a:solidFill>
            <a:prstDash val="solid"/>
          </a:ln>
        </p:spPr>
      </p:sp>
      <p:sp>
        <p:nvSpPr>
          <p:cNvPr id="29" name="Text 27"/>
          <p:cNvSpPr txBox="1"/>
          <p:nvPr/>
        </p:nvSpPr>
        <p:spPr>
          <a:xfrm>
            <a:off x="6370168" y="5645277"/>
            <a:ext cx="329184" cy="329184"/>
          </a:xfrm>
          <a:prstGeom prst="roundRect">
            <a:avLst>
              <a:gd name="adj" fmla="val 22222"/>
            </a:avLst>
          </a:prstGeom>
          <a:solidFill>
            <a:srgbClr val="2E4A62"/>
          </a:solidFill>
          <a:ln>
            <a:solidFill>
              <a:srgbClr val="2E4A62"/>
            </a:solidFill>
          </a:ln>
        </p:spPr>
        <p:txBody>
          <a:bodyPr wrap="square" lIns="0" tIns="0" rIns="0" bIns="0" rtlCol="0" anchor="ctr"/>
          <a:lstStyle/>
          <a:p>
            <a:pPr algn="ctr" indent="0" marL="0">
              <a:buNone/>
            </a:pPr>
            <a:r>
              <a:rPr lang="en-US" sz="1200" b="1" dirty="0">
                <a:solidFill>
                  <a:srgbClr val="FFFFFF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D</a:t>
            </a:r>
            <a:endParaRPr lang="en-US" sz="1200" dirty="0"/>
          </a:p>
        </p:txBody>
      </p:sp>
      <p:sp>
        <p:nvSpPr>
          <p:cNvPr id="30" name="Text 28"/>
          <p:cNvSpPr txBox="1"/>
          <p:nvPr/>
        </p:nvSpPr>
        <p:spPr>
          <a:xfrm>
            <a:off x="6854800" y="5502402"/>
            <a:ext cx="4632808" cy="614934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indent="0" marL="0">
              <a:buNone/>
            </a:pPr>
            <a:r>
              <a:rPr lang="en-US" sz="17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y := accumulatore</a:t>
            </a:r>
            <a:endParaRPr lang="en-US" sz="17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18</a:t>
            </a:fld>
            <a:endParaRPr lang="en-US"/>
          </a:p>
        </p:txBody>
      </p:sp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19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Glossario: inglese e italiano</a:t>
            </a:r>
            <a:endParaRPr lang="en-US" sz="3200" dirty="0"/>
          </a:p>
        </p:txBody>
      </p:sp>
      <p:graphicFrame>
        <p:nvGraphicFramePr>
          <p:cNvPr id="20" name="Table 0"/>
          <p:cNvGraphicFramePr>
            <a:graphicFrameLocks noGrp="1"/>
          </p:cNvGraphicFramePr>
          <p:nvPr>
            <p:extLst>
              <p:ext uri="{D42A27DB-BD31-4B8C-83A1-F6EECF244321}">
                <p14:modId xmlns:p14="http://schemas.microsoft.com/office/powerpoint/2010/main" val="1579011935"/>
              </p:ext>
            </p:extLst>
          </p:nvPr>
        </p:nvGraphicFramePr>
        <p:xfrm>
          <a:off x="548640" y="1417320"/>
          <a:ext cx="11094415" cy="914400"/>
        </p:xfrm>
        <a:graphic>
          <a:graphicData uri="http://schemas.openxmlformats.org/drawingml/2006/table">
            <a:tbl>
              <a:tblPr/>
              <a:tblGrid>
                <a:gridCol w="2600254"/>
                <a:gridCol w="2773604"/>
                <a:gridCol w="2773604"/>
                <a:gridCol w="2946954"/>
              </a:tblGrid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Inglese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FFFFFF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Italiano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2E4A62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control unit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unità di controllo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accumulatore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program counter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contatore di programma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stack pointer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puntatore allo stack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machine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macchina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status register, flags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di stato, indicatori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general / special register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registro generico / speciale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supervisor / user state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stato supervisore / utente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0"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b="1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instruction set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insieme (set) di istruzioni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privileged instruction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  <a:tc>
                  <a:txBody>
                    <a:bodyPr/>
                    <a:lstStyle/>
                    <a:p>
                      <a:pPr algn="l" indent="0" marL="0">
                        <a:buNone/>
                      </a:pPr>
                      <a:r>
                        <a:rPr lang="en-US" sz="2100" dirty="0">
                          <a:solidFill>
                            <a:srgbClr val="1B2530"/>
                          </a:solidFill>
                          <a:latin typeface="Calibri" pitchFamily="34" charset="0"/>
                          <a:ea typeface="Calibri" pitchFamily="34" charset="-122"/>
                          <a:cs typeface="Calibri" pitchFamily="34" charset="-120"/>
                        </a:rPr>
                        <a:t>istruzione privilegiata</a:t>
                      </a:r>
                      <a:endParaRPr lang="en-US" sz="2100" dirty="0">
                        <a:latin typeface="Calibri" charset="0"/>
                        <a:ea typeface="Calibri" charset="0"/>
                        <a:cs typeface="Calibri" charset="0"/>
                      </a:endParaRPr>
                    </a:p>
                  </a:txBody>
                  <a:tcPr marL="101600" marR="101600" marT="50800" marB="50800" anchor="ctr">
                    <a:lnL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6350" cap="flat" cmpd="sng" algn="ctr">
                      <a:solidFill>
                        <a:srgbClr val="C9D2D8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4"/>
                    </a:solidFill>
                  </a:tcPr>
                </a:tc>
              </a:tr>
            </a:tbl>
          </a:graphicData>
        </a:graphic>
      </p:graphicFrame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19</a:t>
            </a:fld>
            <a:endParaRPr lang="en-US"/>
          </a:p>
        </p:txBody>
      </p:sp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 name="Slide 20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 1"/>
          <p:cNvSpPr/>
          <p:nvPr>
            <p:ph idx="101" type="title" hasCustomPrompt="1"/>
          </p:nvPr>
        </p:nvSpPr>
        <p:spPr>
          <a:xfrm>
            <a:off x="548640" y="365760"/>
            <a:ext cx="11094415" cy="868680"/>
          </a:xfrm>
          <a:prstGeom prst="rect">
            <a:avLst/>
          </a:prstGeom>
          <a:noFill/>
          <a:ln/>
        </p:spPr>
        <p:txBody>
          <a:bodyPr wrap="square" lIns="0" tIns="0" rIns="0" bIns="0" rtlCol="0" anchor="ctr"/>
          <a:lstStyle/>
          <a:p>
            <a:pPr algn="l" indent="0" marL="0">
              <a:buNone/>
            </a:pPr>
            <a:r>
              <a:rPr lang="en-US" sz="3200" b="1" dirty="0">
                <a:solidFill>
                  <a:srgbClr val="2E4A62"/>
                </a:solidFill>
                <a:latin typeface="Cambria" pitchFamily="34" charset="0"/>
                <a:ea typeface="Cambria" pitchFamily="34" charset="-122"/>
                <a:cs typeface="Cambria" pitchFamily="34" charset="-120"/>
              </a:rPr>
              <a:t>Conclusioni e letture</a:t>
            </a:r>
            <a:endParaRPr lang="en-US" sz="3200" dirty="0"/>
          </a:p>
        </p:txBody>
      </p:sp>
      <p:sp>
        <p:nvSpPr>
          <p:cNvPr id="3" name="Shape 1"/>
          <p:cNvSpPr/>
          <p:nvPr/>
        </p:nvSpPr>
        <p:spPr>
          <a:xfrm>
            <a:off x="548640" y="1500505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4" name="Text 2"/>
          <p:cNvSpPr txBox="1"/>
          <p:nvPr/>
        </p:nvSpPr>
        <p:spPr>
          <a:xfrm>
            <a:off x="932688" y="1417320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Il processore comanda e controlla, appoggiandosi alla memoria e ai sistemi di ingresso/uscita</a:t>
            </a:r>
            <a:endParaRPr lang="en-US" sz="1900" dirty="0"/>
          </a:p>
        </p:txBody>
      </p:sp>
      <p:sp>
        <p:nvSpPr>
          <p:cNvPr id="5" name="Shape 3"/>
          <p:cNvSpPr/>
          <p:nvPr/>
        </p:nvSpPr>
        <p:spPr>
          <a:xfrm>
            <a:off x="548640" y="2280793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6" name="Text 4"/>
          <p:cNvSpPr txBox="1"/>
          <p:nvPr/>
        </p:nvSpPr>
        <p:spPr>
          <a:xfrm>
            <a:off x="932688" y="2197608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registri sono locazioni di memoria che possono stare fisicamente dentro o fuori dal processore</a:t>
            </a:r>
            <a:endParaRPr lang="en-US" sz="1900" dirty="0"/>
          </a:p>
        </p:txBody>
      </p:sp>
      <p:sp>
        <p:nvSpPr>
          <p:cNvPr id="7" name="Shape 5"/>
          <p:cNvSpPr/>
          <p:nvPr/>
        </p:nvSpPr>
        <p:spPr>
          <a:xfrm>
            <a:off x="548640" y="306108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8" name="Text 6"/>
          <p:cNvSpPr txBox="1"/>
          <p:nvPr/>
        </p:nvSpPr>
        <p:spPr>
          <a:xfrm>
            <a:off x="932688" y="297789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I tipi di registri e il modo in cui si usano determinano il modello di processore: accumulatore, stack, registri generici</a:t>
            </a:r>
            <a:endParaRPr lang="en-US" sz="1900" dirty="0"/>
          </a:p>
        </p:txBody>
      </p:sp>
      <p:sp>
        <p:nvSpPr>
          <p:cNvPr id="9" name="Shape 7"/>
          <p:cNvSpPr/>
          <p:nvPr/>
        </p:nvSpPr>
        <p:spPr>
          <a:xfrm>
            <a:off x="548640" y="384136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0" name="Text 8"/>
          <p:cNvSpPr txBox="1"/>
          <p:nvPr/>
        </p:nvSpPr>
        <p:spPr>
          <a:xfrm>
            <a:off x="932688" y="3758184"/>
            <a:ext cx="10710367" cy="29438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La ALU svolge le operazioni tra operandi</a:t>
            </a:r>
            <a:endParaRPr lang="en-US" sz="1900" dirty="0"/>
          </a:p>
        </p:txBody>
      </p:sp>
      <p:sp>
        <p:nvSpPr>
          <p:cNvPr id="11" name="Shape 9"/>
          <p:cNvSpPr/>
          <p:nvPr/>
        </p:nvSpPr>
        <p:spPr>
          <a:xfrm>
            <a:off x="548640" y="4327271"/>
            <a:ext cx="146304" cy="146304"/>
          </a:xfrm>
          <a:prstGeom prst="rect">
            <a:avLst/>
          </a:prstGeom>
          <a:solidFill>
            <a:srgbClr val="0E7C86"/>
          </a:solidFill>
          <a:ln w="12700">
            <a:solidFill>
              <a:srgbClr val="0E7C86"/>
            </a:solidFill>
            <a:prstDash val="solid"/>
          </a:ln>
        </p:spPr>
      </p:sp>
      <p:sp>
        <p:nvSpPr>
          <p:cNvPr id="12" name="Text 10"/>
          <p:cNvSpPr txBox="1"/>
          <p:nvPr/>
        </p:nvSpPr>
        <p:spPr>
          <a:xfrm>
            <a:off x="932688" y="4244086"/>
            <a:ext cx="10710367" cy="588772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RISC-V è un processore load-store a registri generici, senza flag e senza istruzioni di I/O: pochi elementi, ciascuno semplice</a:t>
            </a:r>
            <a:endParaRPr lang="en-US" sz="1900" dirty="0"/>
          </a:p>
        </p:txBody>
      </p:sp>
      <p:sp>
        <p:nvSpPr>
          <p:cNvPr id="13" name="Shape 11"/>
          <p:cNvSpPr/>
          <p:nvPr/>
        </p:nvSpPr>
        <p:spPr>
          <a:xfrm>
            <a:off x="548640" y="5107559"/>
            <a:ext cx="146304" cy="146304"/>
          </a:xfrm>
          <a:prstGeom prst="rect">
            <a:avLst/>
          </a:prstGeom>
          <a:solidFill>
            <a:srgbClr val="C7791B"/>
          </a:solidFill>
          <a:ln w="12700">
            <a:solidFill>
              <a:srgbClr val="C7791B"/>
            </a:solidFill>
            <a:prstDash val="solid"/>
          </a:ln>
        </p:spPr>
      </p:sp>
      <p:sp>
        <p:nvSpPr>
          <p:cNvPr id="14" name="Text 12"/>
          <p:cNvSpPr txBox="1"/>
          <p:nvPr/>
        </p:nvSpPr>
        <p:spPr>
          <a:xfrm>
            <a:off x="932688" y="5024374"/>
            <a:ext cx="10710367" cy="1147826"/>
          </a:xfrm>
          <a:prstGeom prst="rect">
            <a:avLst/>
          </a:prstGeom>
          <a:noFill/>
          <a:ln/>
        </p:spPr>
        <p:txBody>
          <a:bodyPr wrap="square" lIns="0" tIns="0" rIns="0" bIns="0" rtlCol="0" anchor="t"/>
          <a:lstStyle/>
          <a:p>
            <a:pPr indent="0" marL="0">
              <a:spcAft>
                <a:spcPts val="200"/>
              </a:spcAft>
              <a:buNone/>
            </a:pPr>
            <a:r>
              <a:rPr lang="en-US" sz="1900" dirty="0">
                <a:solidFill>
                  <a:srgbClr val="1B2530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Letture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Patterson, Hennessy: Struttura e progetto dei calcolatori, edizione RISC-V, capitoli 2 e 4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The RISC-V Instruction Set Manual, volume I: Unprivileged Architecture</a:t>
            </a:r>
            <a:endParaRPr lang="en-US" sz="1900" dirty="0"/>
          </a:p>
          <a:p>
            <a:pPr indent="0" marL="0">
              <a:spcAft>
                <a:spcPts val="200"/>
              </a:spcAft>
              <a:buNone/>
            </a:pPr>
            <a:r>
              <a:rPr lang="en-US" sz="1600" dirty="0">
                <a:solidFill>
                  <a:srgbClr val="5B6B78"/>
                </a:solidFill>
                <a:latin typeface="Calibri" pitchFamily="34" charset="0"/>
                <a:ea typeface="Calibri" pitchFamily="34" charset="-122"/>
                <a:cs typeface="Calibri" pitchFamily="34" charset="-120"/>
              </a:rPr>
              <a:t>– Stallings: Computer Organization and Architecture, i capitoli su struttura e funzione del processore</a:t>
            </a:r>
            <a:endParaRPr lang="en-US" sz="1900" dirty="0"/>
          </a:p>
        </p:txBody>
      </p:sp>
      <p:sp>
        <p:nvSpPr>
          <p:cNvPr id="25" name="Slide Number Placeholder 0"/>
          <p:cNvSpPr>
            <a:spLocks noGrp="1"/>
          </p:cNvSpPr>
          <p:nvPr>
            <p:ph type="sldNum" sz="quarter" idx="4294967295"/>
          </p:nvPr>
        </p:nvSpPr>
        <p:spPr>
          <a:xfrm>
            <a:off x="11002975" y="6419088"/>
            <a:ext cx="640080" cy="274320"/>
          </a:xfrm>
          <a:prstGeom prst="rect">
            <a:avLst/>
          </a:prstGeom>
          <a:extLst>
            <a:ext uri="{C572A759-6A51-4108-AA02-DFA0A04FC94B}">
              <ma14:wrappingTextBoxFlag xmlns:ma14="http://schemas.microsoft.com/office/mac/drawingml/2011/main" val="0"/>
            </a:ext>
          </a:extLst>
        </p:spPr>
        <p:txBody>
          <a:bodyPr/>
          <a:lstStyle>
            <a:lvl1pPr>
              <a:defRPr sz="1000">
                <a:solidFill>
                  <a:srgbClr val="5B6B78"/>
                </a:solidFill>
                <a:latin typeface="Calibri"/>
                <a:ea typeface="Calibri"/>
                <a:cs typeface="Calibri"/>
              </a:defRPr>
            </a:lvl1pPr>
          </a:lstStyle>
          <a:p>
            <a:pPr algn="r"/>
            <a:fld id="{F7021451-1387-4CA6-816F-3879F97B5CBC}" type="slidenum">
              <a:rPr b="0" lang="en-US"/>
              <a:t>20</a:t>
            </a:fld>
            <a:endParaRPr lang="en-US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4472C4"/>
      </a:accent1>
      <a:accent2>
        <a:srgbClr val="ED7D31"/>
      </a:accent2>
      <a:accent3>
        <a:srgbClr val="A5A5A5"/>
      </a:accent3>
      <a:accent4>
        <a:srgbClr val="FFC000"/>
      </a:accent4>
      <a:accent5>
        <a:srgbClr val="5B9BD5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mbria"/>
        <a:ea typeface=""/>
        <a:cs typeface=""/>
        <a:font script="Jpan" typeface="游ゴシック Light"/>
        <a:font script="Hang" typeface="맑은 고딕"/>
        <a:font script="Hans" typeface="等线 Light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ajorFont>
      <a:minorFont>
        <a:latin typeface="Calibri"/>
        <a:ea typeface=""/>
        <a:cs typeface=""/>
        <a:font script="Jpan" typeface="游ゴシック"/>
        <a:font script="Hang" typeface="맑은 고딕"/>
        <a:font script="Hans" typeface="等线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  <a:font script="Armn" typeface="Arial"/>
        <a:font script="Bugi" typeface="Leelawadee UI"/>
        <a:font script="Bopo" typeface="Microsoft JhengHei"/>
        <a:font script="Java" typeface="Javanese Text"/>
        <a:font script="Lisu" typeface="Segoe UI"/>
        <a:font script="Mymr" typeface="Myanmar Text"/>
        <a:font script="Nkoo" typeface="Ebrima"/>
        <a:font script="Olck" typeface="Nirmala UI"/>
        <a:font script="Osma" typeface="Ebrima"/>
        <a:font script="Phag" typeface="Phagspa"/>
        <a:font script="Syrn" typeface="Estrangelo Edessa"/>
        <a:font script="Syrj" typeface="Estrangelo Edessa"/>
        <a:font script="Syre" typeface="Estrangelo Edessa"/>
        <a:font script="Sora" typeface="Nirmala UI"/>
        <a:font script="Tale" typeface="Microsoft Tai Le"/>
        <a:font script="Talu" typeface="Microsoft New Tai Lue"/>
        <a:font script="Tfng" typeface="Ebrima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Office PowerPoint</Application>
  <PresentationFormat>On-screen Show (16:9)</PresentationFormat>
  <Paragraphs>0</Paragraphs>
  <Slides>20</Slides>
  <Notes>20</Notes>
  <HiddenSlides>0</HiddenSlides>
  <MMClips>0</MMClips>
  <ScaleCrop>false</ScaleCrop>
  <HeadingPairs>
    <vt:vector size="6" baseType="variant">
      <vt:variant>
        <vt:lpstr>Fonts Used</vt:lpstr>
      </vt:variant>
      <vt:variant>
        <vt:i4>2</vt:i4>
      </vt:variant>
      <vt:variant>
        <vt:lpstr>Theme</vt:lpstr>
      </vt:variant>
      <vt:variant>
        <vt:i4>1</vt:i4>
      </vt:variant>
      <vt:variant>
        <vt:lpstr>Slide Titles</vt:lpstr>
      </vt:variant>
      <vt:variant>
        <vt:i4>20</vt:i4>
      </vt:variant>
    </vt:vector>
  </HeadingPairs>
  <TitlesOfParts>
    <vt:vector size="23" baseType="lpstr">
      <vt:lpstr>Arial</vt:lpstr>
      <vt:lpstr>Calibri</vt:lpstr>
      <vt:lpstr>Office Theme</vt:lpstr>
      <vt:lpstr>Slide 1</vt:lpstr>
      <vt:lpstr>Slide 2</vt:lpstr>
      <vt:lpstr>Slide 3</vt:lpstr>
      <vt:lpstr>Slide 4</vt:lpstr>
      <vt:lpstr>Slide 5</vt:lpstr>
      <vt:lpstr>Slide 6</vt:lpstr>
      <vt:lpstr>Slide 7</vt:lpstr>
      <vt:lpstr>Slide 8</vt:lpstr>
      <vt:lpstr>Slide 9</vt:lpstr>
      <vt:lpstr>Slide 10</vt:lpstr>
      <vt:lpstr>Slide 11</vt:lpstr>
      <vt:lpstr>Slide 12</vt:lpstr>
      <vt:lpstr>Slide 13</vt:lpstr>
      <vt:lpstr>Slide 14</vt:lpstr>
      <vt:lpstr>Slide 15</vt:lpstr>
      <vt:lpstr>Slide 16</vt:lpstr>
      <vt:lpstr>Slide 17</vt:lpstr>
      <vt:lpstr>Slide 18</vt:lpstr>
      <vt:lpstr>Slide 19</vt:lpstr>
      <vt:lpstr>Slide 20</vt:lpstr>
    </vt:vector>
  </TitlesOfParts>
  <Company>Università degli Studi di Napoli Parthenope</Company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ARC12 Architettura dei Calcolatori - Il processore</dc:title>
  <dc:subject>Lezione 18</dc:subject>
  <dc:creator>Raffaele Montella</dc:creator>
  <cp:lastModifiedBy>Raffaele Montella</cp:lastModifiedBy>
  <cp:revision>1</cp:revision>
  <dcterms:created xsi:type="dcterms:W3CDTF">2026-10-16T16:46:58Z</dcterms:created>
  <dcterms:modified xsi:type="dcterms:W3CDTF">2026-10-16T16:46:58Z</dcterms:modified>
</cp:coreProperties>
</file>