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6d3ce7e-f2dd-ee69-5c45-15bd5412e70d}">
          <p14:sldIdLst>
            <p14:sldId id="256"/>
            <p14:sldId id="257"/>
          </p14:sldIdLst>
        </p14:section>
        <p14:section name="Riscaldamento sulla macchina" id="{56e40afb-b0ab-0631-2f16-776695404f28}">
          <p14:sldIdLst>
            <p14:sldId id="258"/>
            <p14:sldId id="259"/>
          </p14:sldIdLst>
        </p14:section>
        <p14:section name="Il processore" id="{2de8af7e-8e80-218d-830c-6a30cb933648}">
          <p14:sldIdLst>
            <p14:sldId id="260"/>
            <p14:sldId id="261"/>
            <p14:sldId id="262"/>
            <p14:sldId id="263"/>
            <p14:sldId id="264"/>
            <p14:sldId id="265"/>
            <p14:sldId id="266"/>
            <p14:sldId id="267"/>
          </p14:sldIdLst>
        </p14:section>
        <p14:section name="I registri" id="{87284904-8a79-57cc-6f02-30751fe7f7c5}">
          <p14:sldIdLst>
            <p14:sldId id="268"/>
            <p14:sldId id="269"/>
            <p14:sldId id="270"/>
            <p14:sldId id="271"/>
            <p14:sldId id="272"/>
            <p14:sldId id="273"/>
          </p14:sldIdLst>
        </p14:section>
        <p14:section name="Lo stack" id="{b3033d96-d625-202f-0ec6-2b43d08d6ca8}">
          <p14:sldIdLst>
            <p14:sldId id="274"/>
            <p14:sldId id="275"/>
            <p14:sldId id="276"/>
          </p14:sldIdLst>
        </p14:section>
        <p14:section name="Modelli di processore" id="{ad5993b0-3850-895a-7d63-d509dfa53c81}">
          <p14:sldIdLst>
            <p14:sldId id="277"/>
            <p14:sldId id="278"/>
            <p14:sldId id="279"/>
            <p14:sldId id="280"/>
          </p14:sldIdLst>
        </p14:section>
        <p14:section name="La ALU e il quadro d'insieme" id="{5464ed01-faaf-23ce-c477-29c8bea11bcf}">
          <p14:sldIdLst>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blocco del corso apre la macchina che finora ha eseguito i vostri programmi. Questa lezione presenta il processore due volte: prima come modello generale, valido per ogni processore, con unità di controllo, registri, stack e unità aritmetica; poi come RISC-V, il processore che programmate dai primi giorni. Ogni elemento astratto del modello ha già, per voi, un nome familiare. L'anello della citazione è il processore stesso: l'unico componente che comanda tutti gli altri.
Per il docente: La presentazione originale esponeva un modello generale di processore e finiva con l'architettura del Motorola MC68000. Qui il modello generale resta e il riferimento è RISC-V (RV32IMAC, come sull'ESP32-C6 del kit PRG32): gli studenti lo programmano dai primi giorni, quindi ogni elemento astratto ha un nome che conoscono già.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Nominare i componenti di un processore. Distinguere i registri interni dai registri di macchina, e i registri generici da quelli speciali. Spiegare come funziona uno stack e come RISC-V realizza push e pop. Confrontare sullo stesso calcolo tre modelli di processore: accumulatore, stack e registri generici. Descrivere RISC-V come processore load-store a registri generici e leggere il nome RV32IMAC. E riportare ogni elemento del modello sul processore del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prende una riga di un linguaggio di alto livello, la somma di due variabili, e la scrive in RISC-V. Contate le istruzioni, e notate quali toccano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calcolare z = x + y il programma carica x in un registro, carica y in un altro, somma i due registri in un terzo, e memorizza il risultato in z. Sette righe per una somma. La memoria è toccata solo da lw e sw; l'aritmetica avviene solo tra registri. Altri processori fanno lo stesso lavoro con tre istruzioni, o con una. Perché RISC-V è fatto così? Per rispondere servono un modello di che cos'è un processore, e poi un confronto tra modi diversi di costruirne uno.
Per il docente: Il ciclo load-modify-store della Lezione 02, visto ora come scelta di progetto. Tenere a mente i tre indirizzi: lo stesso calcolo ritorna nel confronto tra i modelli di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l'anatomia: di che cosa è fatto un processore, in generale, e che cosa corrisponde a ciascuna parte in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richiamo e una definizione. Un calcolatore ha tre sottosistemi, processore, memoria centrale e ingresso/uscita, collegati da bus. Il processore può eseguire soltanto un insieme fisso di istruzioni, da poche decine a poche centinaia, e il linguaggio macchina è l'insieme delle stringhe di bit che le codificano. Le istruzioni richiedono due tipi di cose: trasferimenti di informazione e operazioni aritmetiche o logiche. Programmi e dati stanno entrambi nella memoria centrale.
Per il docente: RV32I, la base di RISC-V, ha circa quaranta istruzioni; con le estensioni M, A e C del kit, circa cento codifiche. Il Motorola 68000 aveva cinquantasei tipi di istruzione con molte varianti ciascuno.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modello di riferimento. L'unità di controllo contiene il program counter, con l'indirizzo della prossima istruzione, un registro di decodifica, con l'istruzione in esecuzione, e la rete che emette i comandi. I registri di macchina da R0 a Rn-1 sono quelli che usa il programmatore. L'unità aritmetico-logica ha due registri operando e un registro risultato. Due coppie di registri collegano il processore all'esterno: MA e MB verso la memoria, RI e RU verso ingresso e uscita. Un bus interno collega tutto.
Per il docente: Modello di riferimento. Pur basati sullo stesso schema logico, e quindi fatti di componenti abbastanza simili, i processori in commercio possono essere molto diversi tra loro.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elemento del modello, e che cos'è in RISC-V. Il program counter è pc. I registri di macchina sono da x0 a x31, con i nomi che conoscete. I registri della ALU e quelli verso la memoria esistono nell'hardware ma sono invisibili al programmatore. Due righe dicono «assente», e sono scelte volute: non ci sono registri per ingresso e uscita, perché i dispositivi sono mappati in memoria, e non c'è un registro di stato con i flag. I registri speciali sono i CSR, riservati al software privilegiato.
Per il docente: Le due righe «assente» sono semplificazioni volute di RISC-V, spiegate più avanti in questa lezione e nella Lezione 15. L'MC68000 della presentazione originale aveva tutti gli elementi del modello: otto registri dati e otto registri indirizzi, un registro di stato con i codici di condizione, e una circuiteria separata per le interruzioni.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classi di registri. I registri interni sono necessari al funzionamento del processore ma non sono visibili al programmatore: il program counter, i registri verso la memoria, quelli della ALU. I registri di macchina definiscono il modello di programmazione: sono quelli nominati nelle istruzioni. Il processore tratta tre tipi di informazione, istruzioni, indirizzi e dati, e ciascuno potrebbe avere una dimensione propria. In RV32 tutti e tre sono larghi 32 bit, e questo rende la macchina molto regolare.
Per il docente: Tipi di dato del processore. Il «32» di RV32 è la larghezza dei registri; RV64 ha registri e indirizzi a 64 bit e le stesse istruzioni a 32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processori reali differiscono dal modello in vari modi: più o meno registri generici, registri che in realtà sono locazioni di memoria, una sezione di ingresso/uscita che manca ed è delegata ad altri chip, un'unità aritmetica semplice estesa da chip dedicati. La colonna di destra dice come RISC-V sul kit risolve ciascun punto: trentadue registri in un banco, nessuna sezione di I/O, estensioni facoltative al posto di chip aggiuntivi. L'estensione M aggiunge moltiplicazione e divisione; l'estensione in virgola mobile sul kit non c'è.
Per il docente: Il modello di processore. Esempio storico di chip aritmetico dedicato: il coprocessore in virgola mobile 68881 per la famiglia 68000, l'8087 per l'8086.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è lunga una parola di macchina? Nei processori a parola tutte le istruzioni hanno la stessa lunghezza, dimensionata sull'informazione più lunga: le istruzioni RISC-V sono tutte di 32 bit, o di 16 nella forma compressa. Nei processori a carattere la lunghezza varia a multipli di un byte: le istruzioni x86 vanno da 1 a 15 byte. Una lunghezza fissa spreca un po' di spazio ma rende semplice la decodifica, e questo conta per la velocità.
Per il docente: Processore a voce o a caratteri. Un parametro caratteristico di un processore è il numero di bit dei suoi registri: il parallelismo dei trasferimenti interni, 8, 16, 32 o 64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ha almeno due stati di funzionamento. In stato supervisore esegue il sistema operativo e può eseguire ogni istruzione. In stato utente esegue un programma qualunque e può eseguire tutto tranne le istruzioni privilegiate, quelle che potrebbero compromettere il sistema. RISC-V li chiama modi: il modo macchina, il più privilegiato e l'unico obbligatorio, il modo supervisore e il modo utente. Il chip del kit ha macchina e utente. Il passaggio dall'uno all'altro avviene attraverso le trap della prossima lezione.
Per il docente: Stato utente o stato supervisore. RISC-V definisce tre modi di privilegio: M, il più privilegiato e l'unico obbligatorio, esegue il firmware; S esegue il kernel di un sistema operativo come Linux; U esegue le applicazioni. L'ESP32-C6 realizza M e U. Il cambio di modo avviene attraverso le trap (Lezione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registri meritano uno sguardo più da vicino: come sono organizzati, a che cosa servono, quali ha RISC-V, e che cosa sostituisce i flag che RISC-V non 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registri possono essere specializzati o generici. I registri specializzati richiedono istruzioni diverse per la stessa operazione su banchi diversi; quelli generici danno più flessibilità. Si possono organizzare come una piccola memoria indirizzabile, un banco in cui si seleziona il registro numero i, oppure come registri separati con un proprio nome. RISC-V sceglie un unico banco di trentadue registri, ciascuno selezionato da cinque bit dentro l'istruzione. I nomi t0, a0, sp sono soltanto convenzioni.
Per il docente: Tipologia dei registri. I registri speciali sono usati esclusivamente dal sistema operativo: ausili all'indirizzamento, registri delle interruzioni, limiti di memoria. In alcuni processori i registri generici indirizzabili erano le prime locazioni di memoria: la «pagina zero» del 6502.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funzioni dei registri. Transito: portare i dati tra memoria e registri. Accumulo: contenere operandi e risultati dell'aritmetica. Indirizzamento: contenere un indirizzo o una sua parte, come fanno i registri base e indice. Puntatore allo stack: indicare la cima di uno stack in memoria. Flag: singoli bit che registrano eventi come zero, segno, overflow e riporto, per condizionare le istruzioni successive. In RISC-V i registri generici svolgono le prime quattro funzioni; la quinta non esiste come registro.
Per il docente: Funzione dei registri. In RISC-V le prime quattro funzioni sono svolte tutte dai registri generici; la quinta non esiste come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completa dei registri di RISC-V, con numeri, nomi e ruoli. Ne avete usati la maggior parte: zero, ra, sp, i temporanei da t0 a t6, gli argomenti da a0 ad a7, i registri salvati da s0 a s11. Due sono nuovi: gp e tp, usati da compilatori e sistemi operativi. L'hardware tratta allo stesso modo i registri da x1 a x31; solo x0 è speciale. I ruoli vengono dalla convenzione di chiamata. Il program counter non sta nel banco.
Per il docente: L'hardware tratta allo stesso modo i registri da x1 a x31; solo x0 è speciale. I ruoli vengono dalla convenzione di chiamata (Lezione 02). L'MC68000 separava invece i registri dati D0-D7 dai registri indirizzi A0-A7, con A7 come puntatore allo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processori hanno un registro di stato i cui bit, i flag, registrano l'esito dell'ultima operazione: zero, negativo, overflow, riporto. Un'istruzione li imposta, e un salto condizionato successivo li esamina. RISC-V non ne ha. Un salto confronta due registri e salta, tutto in una sola istruzione; slt scrive il risultato di un confronto in un registro ordinario; riporto e overflow si calcolano quando servono, come nella Lezione 05. Meno stato nascosto significa un processore più semplice e interruzioni più semplici.
Per il docente: Registro di stato. La presentazione originale elencava Z, N, P (positivo), V, C e un bit di parità.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registri speciali di RISC-V sono i registri di controllo e stato, CSR: un banco separato, letto e scritto solo da codice privilegiato con istruzioni dedicate. Cinque vanno conosciuti per nome: mstatus, con l'abilitazione globale delle interruzioni; mtvec, l'indirizzo della routine che gestisce le trap; mepc, l'indirizzo dell'istruzione interrotta; mcause, la ragione della trap; e la coppia mie e mip, con un bit per sorgente di interruzione. La prossima lezione li usa tutti.
Per il docente: Registri di controllo e stato: un banco separato di al più 4096 registri, letti e scritti solo con le istruzioni csrrw, csrrs e csrrc, e solo da codice privilegiato. Sono i «registri delle interruzioni» del modello generale, e l'argomento della Lezione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stack è la struttura dati che rende possibili sottoprogrammi e interruzioni. Lo usate dalla Lezione 02; qui viene definito e confrontato tra processori.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stack ha due operazioni: push memorizza un elemento in cima alla pila, pop toglie l'elemento in cima. Lavora sempre sulla cima, quindi non occorre dire dove: l'ultimo a entrare è il primo a uscire. Serve a mettere da parte il contenuto dei registri da liberare per un compito e a ripristinarlo dopo. Si realizza con un puntatore che indica l'ultimo elemento. I programmi accurati controllano l'overflow su un push e lo stack vuoto su un pop.
Per il docente: LIFO, last in, first out. Lo usate dalla Lezione 02 per salvare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RISC-V il puntatore allo stack sp contiene l'indirizzo dell'ultima locazione occupata, e lo stack cresce verso gli indirizzi bassi. Un push sono due istruzioni: si sottrae 4 da sp, poi si memorizza sulla nuova cima. Un pop è il contrario: si carica dalla cima, poi si somma 4. La tabella confronta tre processori: a RISC-V servono due istruzioni, al 68000 un'istruzione con un modo di indirizzamento speciale, a x86 un'istruzione dedicata. In pratica una funzione RISC-V alloca il suo intero frame in una volta, come fate dalla Lezione 02.
Per il docente: I valori sono quelli disegnati nella presentazione originale. RISC-V non ha push e pop: un frame di stack si alloca una volta per funzione, sedici byte alla volta, e si riempie con normali store (Lezione 02). La forma del 68000 MOVE (SP)+, D0 estrae con un postincremento.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vivono gli operandi di un'operazione? La risposta distingue le grandi famiglie di processori, e spiega le sette righe del riscaldamento.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architetture. Con i registri generici il processore ha un insieme di registri intercambiabili. Con un accumulatore, le istruzioni aritmetiche hanno un operando implicito, un registro speciale. In una macchina a stack non ci sono né gli uni né l'altro, solo un puntatore allo stack, e le istruzioni lavorano sulla cima dello stack. Un'architettura ortogonale ha un unico banco di registri generici, alcuni dei quali fanno anche da puntatore allo stack o svolgono altri ruoli speciali. RISC-V è di quest'ultimo tipo.
Per il docente: Modello a registri generici, ad accumulatore, a stack; architetture ortogonali. La definizione originale di ortogonale cita anche un registro di stato; RISC-V è ortogonale e non ha nemmeno quello.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somma del riscaldamento in quattro macchine. La macchina ad accumulatore: carica x, somma y, memorizza z. La macchina a stack: push di x, push di y, somma, pop in z. Una macchina a registri con operandi in memoria: sposta x in un registro, vi somma y, sposta il registro in z. RISC-V: due load, una somma tra registri, uno store. Gli accessi alla memoria sono tre in tutti i casi. Cambia il numero di istruzioni e quanto fa ciascuna: in RISC-V ognuna fa una cosa sola.
Per il docente: Gli stessi tre accessi alla memoria ovunque: cambia quante sono le istruzioni e quanto è complessa ciascuna. Nel modello registro-memoria un'istruzione come ADD y, D0 legge la memoria e calcola; nel modello load-store ogni istruzione fa una cosa sola. Le macchine a stack con lo stack in memoria sono in genere più lente di quelle a registri generici. lw t1, x è una forma abbreviata che l'assemblatore accetta per la coppia la e lw del riscaldamento.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è un processore load-store a registri generici. Solo load e store toccano la memoria; ogni altra istruzione lavora da registro a registro, che è più veloce. Le istruzioni hanno tre operandi, due sorgenti e una destinazione, così nessun valore viene distrutto se non lo si vuole. Ogni istruzione fa una cosa semplice e ha dimensione fissa, il che la rende facile da decodificare e da eseguire in pipeline. È questo il significato di RISC. Le sette righe del riscaldamento sono il prezzo, e la semplicità di ogni riga è il guadagno.
Per il docente: Da registro a registro: [REGX] + [REGY] dà [REGZ]. Le forme da memoria a registro e da registro a memoria della presentazione originale esistono nei processori CISC e sono esattamente ciò a cui RISC rinuncia.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parte mette insieme i pezzi: l'unità aritmetica vista dal processore, lo schema a blocchi di un processore RV32, e i numeri del chip del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ALU svolge le operazioni aritmetiche e logiche tra operandi: è la macchina combinatoria della Lezione 11, con due ingressi e un'uscita. Nelle architetture semplici sta interamente dentro il processore; in quelle complesse le operazioni più sofisticate sono delegate a unità separate. In RISC-V queste unità sono le estensioni: M per moltiplicazione e divisione, F e D per la virgola mobile.
Per il docente: La ALU della Lezione 11, vista dal processore. In RISC-V gli «apparati indipendenti» sono le estensioni: M per moltiplicazione e divisione, F e D per la virgola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schema a blocchi di un processore RV32, da sinistra a destra. Il PC dà l'indirizzo dell'istruzione. L'istruzione viene prelevata dalla memoria. Il decodificatore ne separa i campi e l'unità di controllo emette i comandi. Il banco dei registri fornisce gli operandi. La ALU calcola, oppure forma un indirizzo. La memoria dati viene letta o scritta da load e store. Due percorsi tornano indietro: il risultato torna nel registro indicato da rd, e il prossimo valore del PC è PC più 4 oppure la destinazione di un salto. Ogni istruzione che scrivete percorre questa strada.
Per il docente: Il classico datapath RISC-V a ciclo singolo di Patterson e Hennessy, ridotto ai suoi blocchi; memoria istruzioni e memoria dati sono lo stesso spazio di indirizzi, disegnato due volte per chiarezza. Sostituisce la slide «Architettura del processore MC68000».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processore del kit, in numeri: insieme di istruzioni RV32IMAC; un core principale fino a 160 MHz con pipeline a quattro stadi, e un secondo core a basso consumo; modi macchina e utente; nessuna virgola mobile; 512 KB di SRAM, 320 KB di ROM e una flash esterna; radio e periferiche sullo stesso chip. Un calcolatore completo in pochi millimetri quadrati, per circa due euro: processore, memoria e ingresso/uscita ci sono tutti, come nel modello.
Per il docente: Dal datasheet Espressif dell'ESP32-C6. Un calcolatore completo su un chip di pochi millimetri quadrati che costa circa due euro: processore, memoria e ingresso/uscita ci sono tutti, come nel modello delle prime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Tornate alla tabella che affianca il modello a RISC-V e cercate le righe con «assente». Una di esse è tra le opzioni.
Per il docente: Risposta: B. RISC-V non ha codici di condizione: i salti confrontano direttamente i registri.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Ricordate il riscaldamento: quali istruzioni toccavano la memoria, e quali solo i registri? È la definizione di architettura load-store.
Per il docente: Risposta: C. È un'architettura load-store: lw, lh, lb, sw, sh, sb e le forme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Seguite le due istruzioni: il puntatore scende di una parola, poi un valore viene memorizzato all'indirizzo che ora contiene. Un valore è stato aggiunto in cima allo stack.
Per il docente: Risposta: B. Il puntatore scende di una parola e il valore è memorizzato sulla nuova cima: un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una macchina ad accumulatore l'accumulatore è l'operando implicito: è uno dei due addendi e riceve il risultato. L'operando scritto nell'istruzione viene soltanto letto.
Per il docente: Risposta: B. L'accumulatore è l'operando implicito e la destinazione.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Scrivete l'espressione z = (a + b) - (c + d) per una macchina ad accumulatore, una a stack e RISC-V, contando istruzioni e accessi alla memoria. Scrivete push e pop di due registri tenendo sp multiplo di 16. Classificate per funzione i registri del vostro ultimo programma. Eseguite passo-passo in PRG32-QT una chiamata e il suo ritorno, osservando pc, ra e sp. E cercate il processore del vostro telefono o portatile.
Per il docente: Accumulatore: LDA a; ADD b; STA tmp; LDA c; ADD d; STA tmp2; LDA tmp; SUB tmp2; STA z. Stack: PUSH a; PUSH b; ADD; PUSH c; PUSH d; ADD; SUB; POP z. RISC-V: quattro load, due add, una sub, uno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Control unit è l'unità di controllo. Un machine register, registro di macchina, è un registro visibile al programmatore. I flag si dicono anche indicatori. Supervisor e user state, stato supervisore e stato utente, sono i due livelli di privilegio. Una privileged instruction, istruzione privilegiata, si può eseguire solo in stato supervisore.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Il processore comanda e controlla, appoggiandosi alla memoria e all'ingresso/uscita. I registri sono locazioni di memoria, dentro o fuori dal processore. I tipi di registri e il loro uso determinano il modello: accumulatore, stack, registri generici. La ALU svolge le operazioni. E RISC-V è un processore load-store a registri generici, senza flag e senza istruzioni di I/O: pochi elementi, ciascuno semplice. La prossima lezione segue un'istruzione per tutta la sua vita.
Per il docente: Prossima lezione: istruzioni e interruzioni.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18: Il processore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Il processore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Unità di controllo, registri, stack e ALU: il modello generale, e RISC-V come processore di riferimento</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Anello per domarli...”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J. R. R. Tolkien, Il Signore degli Anelli, 1954-1955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i componenti di un processore: unità di controllo, ALU, registri, collegamenti con memoria e ingresso/uscita</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i registri interni dai registri di macchina, e i registri generici da quelli speciali</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funziona uno stack e come RISC-V realizza push e pop</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Confrontare sullo stesso calcolo i modelli ad accumulatore, a stack e a registri generici</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RISC-V come processore load-store a registri generici, e leggere il nome RV32IMAC</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Riportare ogni elemento del modello generale sul processore del kit PRG32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Riscaldamento sulla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Una riga di un linguaggio di alto livello.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z = x + 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x</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lw   t1, 0(t0)       </a:t>
            </a:r>
            <a:pPr indent="0" marL="0">
              <a:buNone/>
            </a:pPr>
            <a:r>
              <a:rPr lang="en-US" sz="1550" dirty="0">
                <a:solidFill>
                  <a:srgbClr val="8FB3A0"/>
                </a:solidFill>
                <a:latin typeface="Courier New" pitchFamily="34" charset="0"/>
                <a:ea typeface="Courier New" pitchFamily="34" charset="-122"/>
                <a:cs typeface="Courier New" pitchFamily="34" charset="-120"/>
              </a:rPr>
              <a:t># bring x into a register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la   t0, y</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lw   t2, 0(t0)       </a:t>
            </a:r>
            <a:pPr indent="0" marL="0">
              <a:buNone/>
            </a:pPr>
            <a:r>
              <a:rPr lang="en-US" sz="1550" dirty="0">
                <a:solidFill>
                  <a:srgbClr val="8FB3A0"/>
                </a:solidFill>
                <a:latin typeface="Courier New" pitchFamily="34" charset="0"/>
                <a:ea typeface="Courier New" pitchFamily="34" charset="-122"/>
                <a:cs typeface="Courier New" pitchFamily="34" charset="-120"/>
              </a:rPr>
              <a:t># bring y into a register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t3, t1, t2      </a:t>
            </a:r>
            <a:pPr indent="0" marL="0">
              <a:buNone/>
            </a:pPr>
            <a:r>
              <a:rPr lang="en-US" sz="1550" dirty="0">
                <a:solidFill>
                  <a:srgbClr val="8FB3A0"/>
                </a:solidFill>
                <a:latin typeface="Courier New" pitchFamily="34" charset="0"/>
                <a:ea typeface="Courier New" pitchFamily="34" charset="-122"/>
                <a:cs typeface="Courier New" pitchFamily="34" charset="-120"/>
              </a:rPr>
              <a:t># compute, between registers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la   t0, z</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sw   t3, 0(t0)       </a:t>
            </a:r>
            <a:pPr indent="0" marL="0">
              <a:buNone/>
            </a:pPr>
            <a:r>
              <a:rPr lang="en-US" sz="1550" dirty="0">
                <a:solidFill>
                  <a:srgbClr val="8FB3A0"/>
                </a:solidFill>
                <a:latin typeface="Courier New" pitchFamily="34" charset="0"/>
                <a:ea typeface="Courier New" pitchFamily="34" charset="-122"/>
                <a:cs typeface="Courier New" pitchFamily="34" charset="-120"/>
              </a:rPr>
              <a:t># take the result back to memory</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y: .word 7</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z: .word 0</a:t>
            </a:r>
            <a:endParaRPr lang="en-US" sz="15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Sette righe per una somma: la memoria è toccata solo da lw e sw</a:t>
            </a:r>
            <a:endParaRPr lang="en-US" sz="15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L'aritmetica avviene solo tra registri</a:t>
            </a:r>
            <a:endParaRPr lang="en-US" sz="15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Altri processori fanno lo stesso lavoro con tre istruzioni, o con una</a:t>
            </a:r>
            <a:endParaRPr lang="en-US" sz="15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Perché RISC-V è fatto così? Per rispondere serve un modello del processore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Il processore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Di che cosa è fatto.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calcolatore e il suo processore</a:t>
            </a:r>
            <a:endParaRPr lang="en-US" sz="3200" dirty="0"/>
          </a:p>
        </p:txBody>
      </p:sp>
      <p:sp>
        <p:nvSpPr>
          <p:cNvPr id="3" name="Shape 1"/>
          <p:cNvSpPr/>
          <p:nvPr/>
        </p:nvSpPr>
        <p:spPr>
          <a:xfrm>
            <a:off x="548640" y="147726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Un calcolatore elettronico è un sistema numerico, automatico, a programma memorizzato, costruito con circuiti elettronici</a:t>
            </a:r>
            <a:endParaRPr lang="en-US" sz="1600" dirty="0"/>
          </a:p>
        </p:txBody>
      </p:sp>
      <p:sp>
        <p:nvSpPr>
          <p:cNvPr id="5" name="Shape 3"/>
          <p:cNvSpPr/>
          <p:nvPr/>
        </p:nvSpPr>
        <p:spPr>
          <a:xfrm>
            <a:off x="548640" y="2243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3232"/>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Tre sottosistemi: processore (CPU), memoria centrale, ingresso/uscita, collegati da bus</a:t>
            </a:r>
            <a:endParaRPr lang="en-US" sz="1600" dirty="0"/>
          </a:p>
        </p:txBody>
      </p:sp>
      <p:sp>
        <p:nvSpPr>
          <p:cNvPr id="7" name="Shape 5"/>
          <p:cNvSpPr/>
          <p:nvPr/>
        </p:nvSpPr>
        <p:spPr>
          <a:xfrm>
            <a:off x="548640" y="300908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9143"/>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Il processore può eseguire soltanto un insieme di istruzioni, da qualche decina a poche centinaia, più o meno complesse</a:t>
            </a:r>
            <a:endParaRPr lang="en-US" sz="1600" dirty="0"/>
          </a:p>
        </p:txBody>
      </p:sp>
      <p:sp>
        <p:nvSpPr>
          <p:cNvPr id="9" name="Shape 7"/>
          <p:cNvSpPr/>
          <p:nvPr/>
        </p:nvSpPr>
        <p:spPr>
          <a:xfrm>
            <a:off x="548640" y="377499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15055"/>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Linguaggio macchina: le stringhe di bit che codificano le istruzioni eseguibili dai circuiti di un processore</a:t>
            </a:r>
            <a:endParaRPr lang="en-US" sz="1600" dirty="0"/>
          </a:p>
        </p:txBody>
      </p:sp>
      <p:sp>
        <p:nvSpPr>
          <p:cNvPr id="11" name="Shape 9"/>
          <p:cNvSpPr/>
          <p:nvPr/>
        </p:nvSpPr>
        <p:spPr>
          <a:xfrm>
            <a:off x="548640" y="454091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480966"/>
            <a:ext cx="6565392" cy="92532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Le istruzioni richiedono</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trasferimenti di informazione, dentro il calcolatore e da o verso i dispositivi di I/O</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operazioni aritmetiche e logiche</a:t>
            </a:r>
            <a:endParaRPr lang="en-US" sz="1600" dirty="0"/>
          </a:p>
        </p:txBody>
      </p:sp>
      <p:sp>
        <p:nvSpPr>
          <p:cNvPr id="13" name="Shape 11"/>
          <p:cNvSpPr/>
          <p:nvPr/>
        </p:nvSpPr>
        <p:spPr>
          <a:xfrm>
            <a:off x="548640" y="5736336"/>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676392"/>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Dati e istruzioni di un programma sono memorizzati nella memoria centrale</a:t>
            </a:r>
            <a:endParaRPr lang="en-US" sz="1600" dirty="0"/>
          </a:p>
        </p:txBody>
      </p:sp>
      <p:sp>
        <p:nvSpPr>
          <p:cNvPr id="15" name="Shape 13"/>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6" name="Text 14"/>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CPU</a:t>
            </a:r>
            <a:endParaRPr lang="en-US" sz="6000" dirty="0"/>
          </a:p>
        </p:txBody>
      </p:sp>
      <p:sp>
        <p:nvSpPr>
          <p:cNvPr id="17" name="Text 15"/>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unità centrale di elaborazione: l'unico anello che governa memoria e ingresso/uscita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processore: un modello di riferimento</a:t>
            </a:r>
            <a:endParaRPr lang="en-US" sz="3200" dirty="0"/>
          </a:p>
        </p:txBody>
      </p:sp>
      <p:sp>
        <p:nvSpPr>
          <p:cNvPr id="3" name="Shape 1"/>
          <p:cNvSpPr/>
          <p:nvPr/>
        </p:nvSpPr>
        <p:spPr>
          <a:xfrm>
            <a:off x="548640" y="1463040"/>
            <a:ext cx="6675120" cy="4251960"/>
          </a:xfrm>
          <a:prstGeom prst="roundRect">
            <a:avLst>
              <a:gd name="adj" fmla="val 1720"/>
            </a:avLst>
          </a:prstGeom>
          <a:solidFill>
            <a:srgbClr val="EEF2F4"/>
          </a:solidFill>
          <a:ln w="12700">
            <a:solidFill>
              <a:srgbClr val="EEF2F4"/>
            </a:solidFill>
            <a:prstDash val="solid"/>
          </a:ln>
        </p:spPr>
      </p:sp>
      <p:sp>
        <p:nvSpPr>
          <p:cNvPr id="4" name="Text 2"/>
          <p:cNvSpPr txBox="1"/>
          <p:nvPr/>
        </p:nvSpPr>
        <p:spPr>
          <a:xfrm>
            <a:off x="685800" y="1508760"/>
            <a:ext cx="914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CPU</a:t>
            </a:r>
            <a:endParaRPr lang="en-US" sz="1400" dirty="0"/>
          </a:p>
        </p:txBody>
      </p:sp>
      <p:sp>
        <p:nvSpPr>
          <p:cNvPr id="5" name="Text 3"/>
          <p:cNvSpPr txBox="1"/>
          <p:nvPr/>
        </p:nvSpPr>
        <p:spPr>
          <a:xfrm>
            <a:off x="822960" y="1920240"/>
            <a:ext cx="1554480" cy="1371600"/>
          </a:xfrm>
          <a:prstGeom prst="roundRect">
            <a:avLst>
              <a:gd name="adj" fmla="val 40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rete di</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controllo</a:t>
            </a:r>
            <a:endParaRPr lang="en-US" sz="1500" dirty="0"/>
          </a:p>
        </p:txBody>
      </p:sp>
      <p:sp>
        <p:nvSpPr>
          <p:cNvPr id="6" name="Text 4"/>
          <p:cNvSpPr txBox="1"/>
          <p:nvPr/>
        </p:nvSpPr>
        <p:spPr>
          <a:xfrm>
            <a:off x="82296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p:txBody>
      </p:sp>
      <p:sp>
        <p:nvSpPr>
          <p:cNvPr id="7" name="Text 5"/>
          <p:cNvSpPr txBox="1"/>
          <p:nvPr/>
        </p:nvSpPr>
        <p:spPr>
          <a:xfrm>
            <a:off x="164592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8" name="Text 6"/>
          <p:cNvSpPr txBox="1"/>
          <p:nvPr/>
        </p:nvSpPr>
        <p:spPr>
          <a:xfrm>
            <a:off x="2834640" y="192024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R0</a:t>
            </a:r>
            <a:endParaRPr lang="en-US" sz="1400" dirty="0"/>
          </a:p>
        </p:txBody>
      </p:sp>
      <p:sp>
        <p:nvSpPr>
          <p:cNvPr id="9" name="Text 7"/>
          <p:cNvSpPr txBox="1"/>
          <p:nvPr/>
        </p:nvSpPr>
        <p:spPr>
          <a:xfrm>
            <a:off x="2834640" y="246888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R1</a:t>
            </a:r>
            <a:endParaRPr lang="en-US" sz="1400" dirty="0"/>
          </a:p>
        </p:txBody>
      </p:sp>
      <p:sp>
        <p:nvSpPr>
          <p:cNvPr id="10" name="Text 8"/>
          <p:cNvSpPr txBox="1"/>
          <p:nvPr/>
        </p:nvSpPr>
        <p:spPr>
          <a:xfrm>
            <a:off x="2834640" y="301752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 .</a:t>
            </a:r>
            <a:endParaRPr lang="en-US" sz="1400" dirty="0"/>
          </a:p>
        </p:txBody>
      </p:sp>
      <p:sp>
        <p:nvSpPr>
          <p:cNvPr id="11" name="Text 9"/>
          <p:cNvSpPr txBox="1"/>
          <p:nvPr/>
        </p:nvSpPr>
        <p:spPr>
          <a:xfrm>
            <a:off x="2834640" y="356616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Rn-1</a:t>
            </a:r>
            <a:endParaRPr lang="en-US" sz="1400" dirty="0"/>
          </a:p>
        </p:txBody>
      </p:sp>
      <p:sp>
        <p:nvSpPr>
          <p:cNvPr id="12" name="Text 10"/>
          <p:cNvSpPr txBox="1"/>
          <p:nvPr/>
        </p:nvSpPr>
        <p:spPr>
          <a:xfrm>
            <a:off x="484632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O1</a:t>
            </a:r>
            <a:endParaRPr lang="en-US" sz="1400" dirty="0"/>
          </a:p>
        </p:txBody>
      </p:sp>
      <p:sp>
        <p:nvSpPr>
          <p:cNvPr id="13" name="Text 11"/>
          <p:cNvSpPr txBox="1"/>
          <p:nvPr/>
        </p:nvSpPr>
        <p:spPr>
          <a:xfrm>
            <a:off x="594360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O2</a:t>
            </a:r>
            <a:endParaRPr lang="en-US" sz="1400" dirty="0"/>
          </a:p>
        </p:txBody>
      </p:sp>
      <p:sp>
        <p:nvSpPr>
          <p:cNvPr id="14" name="Text 12"/>
          <p:cNvSpPr txBox="1"/>
          <p:nvPr/>
        </p:nvSpPr>
        <p:spPr>
          <a:xfrm>
            <a:off x="4846320" y="251460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ALU</a:t>
            </a:r>
            <a:endParaRPr lang="en-US" sz="1800" dirty="0"/>
          </a:p>
        </p:txBody>
      </p:sp>
      <p:sp>
        <p:nvSpPr>
          <p:cNvPr id="15" name="Text 13"/>
          <p:cNvSpPr txBox="1"/>
          <p:nvPr/>
        </p:nvSpPr>
        <p:spPr>
          <a:xfrm>
            <a:off x="5394960" y="347472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a:t>
            </a:r>
            <a:endParaRPr lang="en-US" sz="1400" dirty="0"/>
          </a:p>
        </p:txBody>
      </p:sp>
      <p:sp>
        <p:nvSpPr>
          <p:cNvPr id="16" name="Shape 14"/>
          <p:cNvSpPr/>
          <p:nvPr/>
        </p:nvSpPr>
        <p:spPr>
          <a:xfrm>
            <a:off x="822960" y="4343400"/>
            <a:ext cx="6126480" cy="0"/>
          </a:xfrm>
          <a:prstGeom prst="line">
            <a:avLst/>
          </a:prstGeom>
          <a:noFill/>
          <a:ln w="63500">
            <a:solidFill>
              <a:srgbClr val="C7791B"/>
            </a:solidFill>
            <a:prstDash val="solid"/>
          </a:ln>
        </p:spPr>
      </p:sp>
      <p:sp>
        <p:nvSpPr>
          <p:cNvPr id="17" name="Text 15"/>
          <p:cNvSpPr txBox="1"/>
          <p:nvPr/>
        </p:nvSpPr>
        <p:spPr>
          <a:xfrm>
            <a:off x="5394960" y="4023360"/>
            <a:ext cx="1645920" cy="274320"/>
          </a:xfrm>
          <a:prstGeom prst="rect">
            <a:avLst/>
          </a:prstGeom>
          <a:noFill/>
          <a:ln/>
        </p:spPr>
        <p:txBody>
          <a:bodyPr wrap="square" lIns="0" tIns="0" rIns="0" bIns="0" rtlCol="0" anchor="t"/>
          <a:lstStyle/>
          <a:p>
            <a:pPr indent="0" marL="0">
              <a:buNone/>
            </a:pPr>
            <a:r>
              <a:rPr lang="en-US" sz="1200" b="1" dirty="0">
                <a:solidFill>
                  <a:srgbClr val="C7791B"/>
                </a:solidFill>
                <a:latin typeface="Calibri" pitchFamily="34" charset="0"/>
                <a:ea typeface="Calibri" pitchFamily="34" charset="-122"/>
                <a:cs typeface="Calibri" pitchFamily="34" charset="-120"/>
              </a:rPr>
              <a:t>bus interno</a:t>
            </a:r>
            <a:endParaRPr lang="en-US" sz="1200" dirty="0"/>
          </a:p>
        </p:txBody>
      </p:sp>
      <p:sp>
        <p:nvSpPr>
          <p:cNvPr id="18" name="Text 16"/>
          <p:cNvSpPr txBox="1"/>
          <p:nvPr/>
        </p:nvSpPr>
        <p:spPr>
          <a:xfrm>
            <a:off x="1005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a:t>
            </a:r>
            <a:endParaRPr lang="en-US" sz="1500" dirty="0"/>
          </a:p>
        </p:txBody>
      </p:sp>
      <p:sp>
        <p:nvSpPr>
          <p:cNvPr id="19" name="Text 17"/>
          <p:cNvSpPr txBox="1"/>
          <p:nvPr/>
        </p:nvSpPr>
        <p:spPr>
          <a:xfrm>
            <a:off x="210312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t>
            </a:r>
            <a:endParaRPr lang="en-US" sz="1500" dirty="0"/>
          </a:p>
        </p:txBody>
      </p:sp>
      <p:sp>
        <p:nvSpPr>
          <p:cNvPr id="20" name="Text 18"/>
          <p:cNvSpPr txBox="1"/>
          <p:nvPr/>
        </p:nvSpPr>
        <p:spPr>
          <a:xfrm>
            <a:off x="448056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RI</a:t>
            </a:r>
            <a:endParaRPr lang="en-US" sz="1500" dirty="0"/>
          </a:p>
        </p:txBody>
      </p:sp>
      <p:sp>
        <p:nvSpPr>
          <p:cNvPr id="21" name="Text 19"/>
          <p:cNvSpPr txBox="1"/>
          <p:nvPr/>
        </p:nvSpPr>
        <p:spPr>
          <a:xfrm>
            <a:off x="5577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a:t>
            </a:r>
            <a:endParaRPr lang="en-US" sz="1500" dirty="0"/>
          </a:p>
        </p:txBody>
      </p:sp>
      <p:sp>
        <p:nvSpPr>
          <p:cNvPr id="22" name="Text 20"/>
          <p:cNvSpPr txBox="1"/>
          <p:nvPr/>
        </p:nvSpPr>
        <p:spPr>
          <a:xfrm>
            <a:off x="914400" y="5349240"/>
            <a:ext cx="219456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collegamento con la memoria</a:t>
            </a:r>
            <a:endParaRPr lang="en-US" sz="1200" dirty="0"/>
          </a:p>
        </p:txBody>
      </p:sp>
      <p:sp>
        <p:nvSpPr>
          <p:cNvPr id="23" name="Text 21"/>
          <p:cNvSpPr txBox="1"/>
          <p:nvPr/>
        </p:nvSpPr>
        <p:spPr>
          <a:xfrm>
            <a:off x="4297680" y="5349240"/>
            <a:ext cx="237744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collegamento con l'I/O</a:t>
            </a:r>
            <a:endParaRPr lang="en-US" sz="1200" dirty="0"/>
          </a:p>
        </p:txBody>
      </p:sp>
      <p:sp>
        <p:nvSpPr>
          <p:cNvPr id="24" name="Shape 22"/>
          <p:cNvSpPr/>
          <p:nvPr/>
        </p:nvSpPr>
        <p:spPr>
          <a:xfrm>
            <a:off x="7680960" y="1485011"/>
            <a:ext cx="146304" cy="146304"/>
          </a:xfrm>
          <a:prstGeom prst="rect">
            <a:avLst/>
          </a:prstGeom>
          <a:solidFill>
            <a:srgbClr val="0E7C86"/>
          </a:solidFill>
          <a:ln w="12700">
            <a:solidFill>
              <a:srgbClr val="0E7C86"/>
            </a:solidFill>
            <a:prstDash val="solid"/>
          </a:ln>
        </p:spPr>
      </p:sp>
      <p:sp>
        <p:nvSpPr>
          <p:cNvPr id="25" name="Text 23"/>
          <p:cNvSpPr txBox="1"/>
          <p:nvPr/>
        </p:nvSpPr>
        <p:spPr>
          <a:xfrm>
            <a:off x="8065008" y="1417320"/>
            <a:ext cx="3578047" cy="167462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Unità di controllo</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program counter (PC): la prossima istruzione</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registro di decodifica (D): l'istruzione in esecuzione</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la rete di controllo che emette i comandi</a:t>
            </a:r>
            <a:endParaRPr lang="en-US" sz="1700" dirty="0"/>
          </a:p>
        </p:txBody>
      </p:sp>
      <p:sp>
        <p:nvSpPr>
          <p:cNvPr id="26" name="Shape 24"/>
          <p:cNvSpPr/>
          <p:nvPr/>
        </p:nvSpPr>
        <p:spPr>
          <a:xfrm>
            <a:off x="7680960" y="3301873"/>
            <a:ext cx="146304" cy="146304"/>
          </a:xfrm>
          <a:prstGeom prst="rect">
            <a:avLst/>
          </a:prstGeom>
          <a:solidFill>
            <a:srgbClr val="C7791B"/>
          </a:solidFill>
          <a:ln w="12700">
            <a:solidFill>
              <a:srgbClr val="C7791B"/>
            </a:solidFill>
            <a:prstDash val="solid"/>
          </a:ln>
        </p:spPr>
      </p:sp>
      <p:sp>
        <p:nvSpPr>
          <p:cNvPr id="27" name="Text 25"/>
          <p:cNvSpPr txBox="1"/>
          <p:nvPr/>
        </p:nvSpPr>
        <p:spPr>
          <a:xfrm>
            <a:off x="8065008" y="3234182"/>
            <a:ext cx="35780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Registri di macchina R0 ... Rn-1</a:t>
            </a:r>
            <a:endParaRPr lang="en-US" sz="1700" dirty="0"/>
          </a:p>
        </p:txBody>
      </p:sp>
      <p:sp>
        <p:nvSpPr>
          <p:cNvPr id="28" name="Shape 26"/>
          <p:cNvSpPr/>
          <p:nvPr/>
        </p:nvSpPr>
        <p:spPr>
          <a:xfrm>
            <a:off x="7680960" y="3707511"/>
            <a:ext cx="146304" cy="146304"/>
          </a:xfrm>
          <a:prstGeom prst="rect">
            <a:avLst/>
          </a:prstGeom>
          <a:solidFill>
            <a:srgbClr val="0E7C86"/>
          </a:solidFill>
          <a:ln w="12700">
            <a:solidFill>
              <a:srgbClr val="0E7C86"/>
            </a:solidFill>
            <a:prstDash val="solid"/>
          </a:ln>
        </p:spPr>
      </p:sp>
      <p:sp>
        <p:nvSpPr>
          <p:cNvPr id="29" name="Text 27"/>
          <p:cNvSpPr txBox="1"/>
          <p:nvPr/>
        </p:nvSpPr>
        <p:spPr>
          <a:xfrm>
            <a:off x="8065008" y="3639820"/>
            <a:ext cx="3578047" cy="73380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Unità aritmetico-logica</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due registri operando O1 e O2, un registro risultato U</a:t>
            </a:r>
            <a:endParaRPr lang="en-US" sz="1700" dirty="0"/>
          </a:p>
        </p:txBody>
      </p:sp>
      <p:sp>
        <p:nvSpPr>
          <p:cNvPr id="30" name="Shape 28"/>
          <p:cNvSpPr/>
          <p:nvPr/>
        </p:nvSpPr>
        <p:spPr>
          <a:xfrm>
            <a:off x="7680960" y="4583557"/>
            <a:ext cx="146304" cy="146304"/>
          </a:xfrm>
          <a:prstGeom prst="rect">
            <a:avLst/>
          </a:prstGeom>
          <a:solidFill>
            <a:srgbClr val="C7791B"/>
          </a:solidFill>
          <a:ln w="12700">
            <a:solidFill>
              <a:srgbClr val="C7791B"/>
            </a:solidFill>
            <a:prstDash val="solid"/>
          </a:ln>
        </p:spPr>
      </p:sp>
      <p:sp>
        <p:nvSpPr>
          <p:cNvPr id="31" name="Text 29"/>
          <p:cNvSpPr txBox="1"/>
          <p:nvPr/>
        </p:nvSpPr>
        <p:spPr>
          <a:xfrm>
            <a:off x="8065008" y="4515866"/>
            <a:ext cx="3578047" cy="73380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Collegamento con la memoria</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indirizzo di memoria (MA) e dato di memoria (MB)</a:t>
            </a:r>
            <a:endParaRPr lang="en-US" sz="1700" dirty="0"/>
          </a:p>
        </p:txBody>
      </p:sp>
      <p:sp>
        <p:nvSpPr>
          <p:cNvPr id="32" name="Shape 30"/>
          <p:cNvSpPr/>
          <p:nvPr/>
        </p:nvSpPr>
        <p:spPr>
          <a:xfrm>
            <a:off x="7680960" y="5459603"/>
            <a:ext cx="146304" cy="146304"/>
          </a:xfrm>
          <a:prstGeom prst="rect">
            <a:avLst/>
          </a:prstGeom>
          <a:solidFill>
            <a:srgbClr val="0E7C86"/>
          </a:solidFill>
          <a:ln w="12700">
            <a:solidFill>
              <a:srgbClr val="0E7C86"/>
            </a:solidFill>
            <a:prstDash val="solid"/>
          </a:ln>
        </p:spPr>
      </p:sp>
      <p:sp>
        <p:nvSpPr>
          <p:cNvPr id="33" name="Text 31"/>
          <p:cNvSpPr txBox="1"/>
          <p:nvPr/>
        </p:nvSpPr>
        <p:spPr>
          <a:xfrm>
            <a:off x="8065008" y="5391912"/>
            <a:ext cx="3578047" cy="78028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Collegamento con l'ingresso/uscita</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registri di transito RI e RU</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modello e RISC-V, fianco a fianco</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73762"/>
                <a:gridCol w="4183140"/>
                <a:gridCol w="363751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Elemento del modello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Visto dal programmatore?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 program counter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pc,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indirettamente: lo usano salti e auipc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D, registro di decodifica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il registro istruzione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R0 ... Rn-1, registri di macchina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x0 ... x31, trentadue registri di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sì: zero, ra, sp, t0, a0, s0, ...</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O1, O2, U, registri della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gli ingressi e l'uscita della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MA, MB, collegamento con la memoria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indirizzo e dato di un load o di uno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RI, RU, collegamento con l'I/O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assenti: i dispositivi sono mappati in memoria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registro di stato con i flag</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assente: nessun codice di condizione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registri speciali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 registri di controllo e stato (CSR)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solo dal software privilegiato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interni e registri di macchina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Registri interni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non direttamente visibili al programmatore, e necessari al funzionamento del processore: PC, MA, MB, D, O1, O2, U, ...</a:t>
            </a:r>
            <a:endParaRPr lang="en-US" sz="1900" dirty="0"/>
          </a:p>
        </p:txBody>
      </p:sp>
      <p:sp>
        <p:nvSpPr>
          <p:cNvPr id="5" name="Shape 3"/>
          <p:cNvSpPr/>
          <p:nvPr/>
        </p:nvSpPr>
        <p:spPr>
          <a:xfrm>
            <a:off x="548640" y="26962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3067"/>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Registri di macchina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definiscono il modello di programmazione; si dividono in registri generici e registri speciali</a:t>
            </a:r>
            <a:endParaRPr lang="en-US" sz="1900" dirty="0"/>
          </a:p>
        </p:txBody>
      </p:sp>
      <p:sp>
        <p:nvSpPr>
          <p:cNvPr id="7" name="Shape 5"/>
          <p:cNvSpPr/>
          <p:nvPr/>
        </p:nvSpPr>
        <p:spPr>
          <a:xfrm>
            <a:off x="548640" y="38920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08815"/>
            <a:ext cx="6565392" cy="140563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processore tratta tre tipi di informazione: istruzioni, indirizzi di memoria e dati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dimensione di MA e PC dipende da quella degli indirizzi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dimensione dei registri della ALU dipende da quella dei dati</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RV32 tutti e tre sono larghi 32 bit: una sola dimensione per registri, indirizzi e istruzioni</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RV32</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registri di 32 bit, indirizzi di 32 bit, istruzioni di 32 bit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che cosa i processori reali differiscono dal modello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 generale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Possono avere un insieme di registri generici diverso, di solito più ricco</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 registri di macchina possono essere particolari locazioni di memoria</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La sezione di I/O può mancare del tutto, ed essere realizzata da chip dedicati</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Unità aritmetiche molto semplici si possono estendere con chip dedicati che migliorano la ALU</a:t>
            </a:r>
            <a:endParaRPr lang="en-US" sz="17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sul kit PRG32</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Trentadue registri generici, in un banco dentro il processore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Nessuna sezione di I/O: controllori di periferica sullo stesso chip, raggiunti come memoria</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Estensioni facoltative al posto di chip aggiuntivi: M aggiunge moltiplicazione e divisione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Nessuna estensione F sull'ESP32-C6: la virgola mobile si farebbe in software (Lezione 06)</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Parole o byte: la lunghezza delle parole di macchina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Processori a parola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Tutte le parole di macchina hanno la stessa lunghezza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Dimensionata sull'informazione più lunga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Scomodi con dati di natura intrinsecamente variabile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RISC-V: ogni istruzione è di 32 bit (16 nella forma compressa)</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Processori a carattere (byte)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lunghezza delle parole di macchina è variabile, multipla di un 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Adatti al trattamento delle stringhe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Intel x86: istruzioni da 1 a 15 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MC68000: istruzioni da una a cinque parole di 16 bit</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Stato utente e stato supervisore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364384"/>
                <a:gridCol w="3273762"/>
                <a:gridCol w="3819389"/>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Stato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Chi vi gira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Che cosa può fare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Nome in RISC-V</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supervisore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sistema operativo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ogni istruzione dell'insieme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modo macchina (M); modo supervisore (S) dove c'è un sistema operativo completo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utente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programma utente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tutto tranne le istruzioni privilegiate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modo utente (U)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Il processore è in stato supervisore quando esegue il sistema operativo, in stato utente quando esegue un programma utente.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I registri</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 che cosa servono.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Tipi di registri</a:t>
            </a:r>
            <a:endParaRPr lang="en-US" sz="3200" dirty="0"/>
          </a:p>
        </p:txBody>
      </p:sp>
      <p:sp>
        <p:nvSpPr>
          <p:cNvPr id="3" name="Shape 1"/>
          <p:cNvSpPr/>
          <p:nvPr/>
        </p:nvSpPr>
        <p:spPr>
          <a:xfrm>
            <a:off x="548640" y="164325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21333"/>
            <a:ext cx="10710367"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registro può essere specializzato, oppure svolgere più compiti</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 registri specializzati richiedono codici operativi specializzati per la stessa operazione su banchi diversi</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concentrare più funzioni dà più complessità interna e più flessibilità d'uso</a:t>
            </a:r>
            <a:endParaRPr lang="en-US" sz="2400" dirty="0"/>
          </a:p>
        </p:txBody>
      </p:sp>
      <p:sp>
        <p:nvSpPr>
          <p:cNvPr id="5" name="Shape 3"/>
          <p:cNvSpPr/>
          <p:nvPr/>
        </p:nvSpPr>
        <p:spPr>
          <a:xfrm>
            <a:off x="548640" y="35215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399663"/>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 registri di macchina, diversi per numero e spesso raggruppati in banchi, si possono organizzare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come una memoria indirizzabile: un banco R, il registro Ri</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come registri autonomi, ciascuno con il proprio nome</a:t>
            </a:r>
            <a:endParaRPr lang="en-US" sz="2400" dirty="0"/>
          </a:p>
        </p:txBody>
      </p:sp>
      <p:sp>
        <p:nvSpPr>
          <p:cNvPr id="7" name="Shape 5"/>
          <p:cNvSpPr/>
          <p:nvPr/>
        </p:nvSpPr>
        <p:spPr>
          <a:xfrm>
            <a:off x="548640" y="544639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324475"/>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RISC-V: un banco di trentadue registri, indirizzati da 5 bit dentro l'istruzione; i nomi t0, a0, sp sono soltanto convenzioni</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funzioni dei registri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Transito dei dati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da memoria a registro, da registro a registro, da registro a memoria: load, move, store</a:t>
            </a:r>
            <a:endParaRPr lang="en-US" sz="2100" dirty="0"/>
          </a:p>
        </p:txBody>
      </p:sp>
      <p:sp>
        <p:nvSpPr>
          <p:cNvPr id="5" name="Shape 3"/>
          <p:cNvSpPr/>
          <p:nvPr/>
        </p:nvSpPr>
        <p:spPr>
          <a:xfrm>
            <a:off x="548640" y="23959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724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Accumulo dei risultati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necessario per aritmetica e logica: R := (op) R, oppure R := R (op) X</a:t>
            </a:r>
            <a:endParaRPr lang="en-US" sz="2100" dirty="0"/>
          </a:p>
        </p:txBody>
      </p:sp>
      <p:sp>
        <p:nvSpPr>
          <p:cNvPr id="7" name="Shape 5"/>
          <p:cNvSpPr/>
          <p:nvPr/>
        </p:nvSpPr>
        <p:spPr>
          <a:xfrm>
            <a:off x="548640" y="32758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159"/>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Indirizzamento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trovare l'indirizzo di un operando: registri indice, registri base</a:t>
            </a:r>
            <a:endParaRPr lang="en-US" sz="2100" dirty="0"/>
          </a:p>
        </p:txBody>
      </p:sp>
      <p:sp>
        <p:nvSpPr>
          <p:cNvPr id="9" name="Shape 7"/>
          <p:cNvSpPr/>
          <p:nvPr/>
        </p:nvSpPr>
        <p:spPr>
          <a:xfrm>
            <a:off x="548640" y="41557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57078"/>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Puntatori allo stack</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gestione di uno stack realizzato in memoria</a:t>
            </a:r>
            <a:endParaRPr lang="en-US" sz="2100" dirty="0"/>
          </a:p>
        </p:txBody>
      </p:sp>
      <p:sp>
        <p:nvSpPr>
          <p:cNvPr id="11" name="Shape 9"/>
          <p:cNvSpPr/>
          <p:nvPr/>
        </p:nvSpPr>
        <p:spPr>
          <a:xfrm>
            <a:off x="548640" y="503567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36998"/>
            <a:ext cx="10710367"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Indicatori, o flag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informazione binaria su eventi: zero, segno, overflow, riporto, indirizzi o codici illeciti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prodotti durante l'esecuzione di un'istruzione, possono condizionare le successive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trentadue registri di RISC-V</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1182192"/>
                <a:gridCol w="2910011"/>
                <a:gridCol w="1364067"/>
                <a:gridCol w="1273130"/>
                <a:gridCol w="3182824"/>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Registro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Funzione, per convenzione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Registro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Funzione, per convenzione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x0</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zero</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sempre 0</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x8 - x9</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s0 - s1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salvati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ra</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indirizzo di ritorno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x10 - x11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a0 - a1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argomenti, risultati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x2</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sp</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puntatore allo stack</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x12 - x17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a2 - a7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argomenti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x3</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gp</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puntatore globale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x18 - x27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s2 - s11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salvati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x4</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tp</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puntatore al thread</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x28 - x31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t3 - t6</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temporanei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x5 - x7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t0 - t2</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temporanei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pc</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program counter (fuori dal banco)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flag: il registro di stato, e la sua assenza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Processori con registro di stato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Bit di flag accessibili dal programma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Z zero, N negativo, V overflow, C riporto, a volte la parità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Un'istruzione li imposta; un salto condizionato successivo li esamina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MC68000: il registro dei codici di condizione; x86: il registro dei flag</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nessun flag</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salto confronta due registri e salta, in una sola istruzione: beq, bne, blt, bge, bltu, bgeu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slt e sltu scrivono il risultato di un confronto in un registro generico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Riporto e overflow si calcolano quando servono (Lezione 05)</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Meno stato nascosto: pipeline più semplici, interruzioni più semplici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speciali di RISC-V: i CSR</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3273762"/>
                <a:gridCol w="618377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 cosa contiene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mstatus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della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l'abilitazione globale delle interruzioni e il modo di privilegio precedente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mtvec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delle trap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l'indirizzo della routine che gestisce interruzioni ed eccezioni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mepc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 counter dell'eccezione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l'indirizzo dell'istruzione che è stata interrotta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mcause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causa della trap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codice che dice perché è avvenuta la trap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mie, mip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interruzioni abilitate, interruzioni pendenti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bit per sorgente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Lo stack</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L'ultimo a entrare è il primo a uscire.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struttura dati astratta con due operazioni: push memorizza un elemento come ultimo della pila, pop toglie l'ultimo elemento</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Lavora sempre e solo sulla cima: non occorre dire dove memorizzare o prelevare</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Serve a mettere da parte il contenuto dei registri da liberare per svolgere un compito, e a ripristinarlo dopo: sottoprogrammi, interruzioni</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Realizzato con un puntatore, in memoria o in un registro dedicato, che indica in ogni istante la posizione dell'ultimo elemento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operazioni sullo stack dovrebbero controllare l'overflow su un push e lo stack vuoto su un pop</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LIFO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l'ultimo valore inserito è il primo a essere estratto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Push e pop in RISC-V</a:t>
            </a:r>
            <a:endParaRPr lang="en-US" sz="3200" dirty="0"/>
          </a:p>
        </p:txBody>
      </p:sp>
      <p:sp>
        <p:nvSpPr>
          <p:cNvPr id="3" name="Text 1"/>
          <p:cNvSpPr txBox="1"/>
          <p:nvPr/>
        </p:nvSpPr>
        <p:spPr>
          <a:xfrm>
            <a:off x="1920240" y="1399032"/>
            <a:ext cx="2194560" cy="274320"/>
          </a:xfrm>
          <a:prstGeom prst="rect">
            <a:avLst/>
          </a:prstGeom>
          <a:noFill/>
          <a:ln/>
        </p:spPr>
        <p:txBody>
          <a:bodyPr wrap="square" lIns="0" tIns="0" rIns="0" bIns="0" rtlCol="0" anchor="t"/>
          <a:lstStyle/>
          <a:p>
            <a:pPr algn="ctr" indent="0" marL="0">
              <a:buNone/>
            </a:pPr>
            <a:r>
              <a:rPr lang="en-US" sz="1300" b="1" dirty="0">
                <a:solidFill>
                  <a:srgbClr val="2E4A62"/>
                </a:solidFill>
                <a:latin typeface="Calibri" pitchFamily="34" charset="0"/>
                <a:ea typeface="Calibri" pitchFamily="34" charset="-122"/>
                <a:cs typeface="Calibri" pitchFamily="34" charset="-120"/>
              </a:rPr>
              <a:t>memoria</a:t>
            </a:r>
            <a:endParaRPr lang="en-US" sz="1300" dirty="0"/>
          </a:p>
        </p:txBody>
      </p:sp>
      <p:sp>
        <p:nvSpPr>
          <p:cNvPr id="4" name="Text 2"/>
          <p:cNvSpPr txBox="1"/>
          <p:nvPr/>
        </p:nvSpPr>
        <p:spPr>
          <a:xfrm>
            <a:off x="4251960" y="1828800"/>
            <a:ext cx="1463040" cy="530352"/>
          </a:xfrm>
          <a:prstGeom prst="rect">
            <a:avLst/>
          </a:prstGeom>
          <a:noFill/>
          <a:ln/>
        </p:spPr>
        <p:txBody>
          <a:bodyPr wrap="square" lIns="0" tIns="0" rIns="0" bIns="0" rtlCol="0" anchor="ctr"/>
          <a:lstStyle/>
          <a:p>
            <a:pPr indent="0" marL="0">
              <a:buNone/>
            </a:pPr>
            <a:r>
              <a:rPr lang="en-US" sz="1150" i="1" dirty="0">
                <a:solidFill>
                  <a:srgbClr val="5B6B78"/>
                </a:solidFill>
                <a:latin typeface="Calibri" pitchFamily="34" charset="0"/>
                <a:ea typeface="Calibri" pitchFamily="34" charset="-122"/>
                <a:cs typeface="Calibri" pitchFamily="34" charset="-120"/>
              </a:rPr>
              <a:t>indirizzi bassi</a:t>
            </a:r>
            <a:endParaRPr lang="en-US" sz="1150" dirty="0"/>
          </a:p>
        </p:txBody>
      </p:sp>
      <p:sp>
        <p:nvSpPr>
          <p:cNvPr id="5" name="Text 3"/>
          <p:cNvSpPr txBox="1"/>
          <p:nvPr/>
        </p:nvSpPr>
        <p:spPr>
          <a:xfrm>
            <a:off x="1920240" y="1828800"/>
            <a:ext cx="2194560" cy="530352"/>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500" b="1" dirty="0">
                <a:solidFill>
                  <a:srgbClr val="5B6B78"/>
                </a:solidFill>
                <a:latin typeface="Courier New" pitchFamily="34" charset="0"/>
                <a:ea typeface="Courier New" pitchFamily="34" charset="-122"/>
                <a:cs typeface="Courier New" pitchFamily="34" charset="-120"/>
              </a:rPr>
              <a:t>(libero)</a:t>
            </a:r>
            <a:endParaRPr lang="en-US" sz="1500" dirty="0"/>
          </a:p>
        </p:txBody>
      </p:sp>
      <p:sp>
        <p:nvSpPr>
          <p:cNvPr id="6" name="Text 4"/>
          <p:cNvSpPr txBox="1"/>
          <p:nvPr/>
        </p:nvSpPr>
        <p:spPr>
          <a:xfrm>
            <a:off x="1920240" y="2359152"/>
            <a:ext cx="2194560" cy="530352"/>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500" b="1" dirty="0">
                <a:solidFill>
                  <a:srgbClr val="5B6B78"/>
                </a:solidFill>
                <a:latin typeface="Courier New" pitchFamily="34" charset="0"/>
                <a:ea typeface="Courier New" pitchFamily="34" charset="-122"/>
                <a:cs typeface="Courier New" pitchFamily="34" charset="-120"/>
              </a:rPr>
              <a:t>(libero)</a:t>
            </a:r>
            <a:endParaRPr lang="en-US" sz="1500" dirty="0"/>
          </a:p>
        </p:txBody>
      </p:sp>
      <p:sp>
        <p:nvSpPr>
          <p:cNvPr id="7" name="Text 5"/>
          <p:cNvSpPr txBox="1"/>
          <p:nvPr/>
        </p:nvSpPr>
        <p:spPr>
          <a:xfrm>
            <a:off x="1920240" y="2889504"/>
            <a:ext cx="2194560" cy="530352"/>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-28</a:t>
            </a:r>
            <a:endParaRPr lang="en-US" sz="1500" dirty="0"/>
          </a:p>
        </p:txBody>
      </p:sp>
      <p:sp>
        <p:nvSpPr>
          <p:cNvPr id="8" name="Text 6"/>
          <p:cNvSpPr txBox="1"/>
          <p:nvPr/>
        </p:nvSpPr>
        <p:spPr>
          <a:xfrm>
            <a:off x="1920240" y="3419856"/>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-17</a:t>
            </a:r>
            <a:endParaRPr lang="en-US" sz="1500" dirty="0"/>
          </a:p>
        </p:txBody>
      </p:sp>
      <p:sp>
        <p:nvSpPr>
          <p:cNvPr id="9" name="Text 7"/>
          <p:cNvSpPr txBox="1"/>
          <p:nvPr/>
        </p:nvSpPr>
        <p:spPr>
          <a:xfrm>
            <a:off x="1920240" y="3950208"/>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739</a:t>
            </a:r>
            <a:endParaRPr lang="en-US" sz="1500" dirty="0"/>
          </a:p>
        </p:txBody>
      </p:sp>
      <p:sp>
        <p:nvSpPr>
          <p:cNvPr id="10" name="Text 8"/>
          <p:cNvSpPr txBox="1"/>
          <p:nvPr/>
        </p:nvSpPr>
        <p:spPr>
          <a:xfrm>
            <a:off x="1920240" y="4480560"/>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43</a:t>
            </a:r>
            <a:endParaRPr lang="en-US" sz="1500" dirty="0"/>
          </a:p>
        </p:txBody>
      </p:sp>
      <p:sp>
        <p:nvSpPr>
          <p:cNvPr id="11" name="Text 9"/>
          <p:cNvSpPr txBox="1"/>
          <p:nvPr/>
        </p:nvSpPr>
        <p:spPr>
          <a:xfrm>
            <a:off x="4251960" y="4480560"/>
            <a:ext cx="1828800" cy="530352"/>
          </a:xfrm>
          <a:prstGeom prst="rect">
            <a:avLst/>
          </a:prstGeom>
          <a:noFill/>
          <a:ln/>
        </p:spPr>
        <p:txBody>
          <a:bodyPr wrap="square" lIns="0" tIns="0" rIns="0" bIns="0" rtlCol="0" anchor="ctr"/>
          <a:lstStyle/>
          <a:p>
            <a:pPr indent="0" marL="0">
              <a:buNone/>
            </a:pPr>
            <a:r>
              <a:rPr lang="en-US" sz="1150" i="1" dirty="0">
                <a:solidFill>
                  <a:srgbClr val="5B6B78"/>
                </a:solidFill>
                <a:latin typeface="Calibri" pitchFamily="34" charset="0"/>
                <a:ea typeface="Calibri" pitchFamily="34" charset="-122"/>
                <a:cs typeface="Calibri" pitchFamily="34" charset="-120"/>
              </a:rPr>
              <a:t>fondo dello stack</a:t>
            </a:r>
            <a:endParaRPr lang="en-US" sz="1150" dirty="0"/>
          </a:p>
        </p:txBody>
      </p:sp>
      <p:sp>
        <p:nvSpPr>
          <p:cNvPr id="12" name="Shape 10"/>
          <p:cNvSpPr/>
          <p:nvPr/>
        </p:nvSpPr>
        <p:spPr>
          <a:xfrm>
            <a:off x="1097280" y="3154680"/>
            <a:ext cx="777240" cy="0"/>
          </a:xfrm>
          <a:prstGeom prst="line">
            <a:avLst/>
          </a:prstGeom>
          <a:noFill/>
          <a:ln w="28575">
            <a:solidFill>
              <a:srgbClr val="B23A48"/>
            </a:solidFill>
            <a:prstDash val="solid"/>
            <a:tailEnd type="triangle"/>
          </a:ln>
        </p:spPr>
      </p:sp>
      <p:sp>
        <p:nvSpPr>
          <p:cNvPr id="13" name="Text 11"/>
          <p:cNvSpPr txBox="1"/>
          <p:nvPr/>
        </p:nvSpPr>
        <p:spPr>
          <a:xfrm>
            <a:off x="548640" y="2889504"/>
            <a:ext cx="502920" cy="530352"/>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14" name="Text 12"/>
          <p:cNvSpPr txBox="1"/>
          <p:nvPr/>
        </p:nvSpPr>
        <p:spPr>
          <a:xfrm>
            <a:off x="548640" y="5148072"/>
            <a:ext cx="512064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sp punta all'ultima locazione occupata; lo stack cresce verso gli indirizzi bassi.</a:t>
            </a:r>
            <a:endParaRPr lang="en-US" sz="1400" dirty="0"/>
          </a:p>
        </p:txBody>
      </p:sp>
      <p:sp>
        <p:nvSpPr>
          <p:cNvPr id="15" name="Shape 13"/>
          <p:cNvSpPr/>
          <p:nvPr/>
        </p:nvSpPr>
        <p:spPr>
          <a:xfrm>
            <a:off x="6035040" y="1417320"/>
            <a:ext cx="5608015" cy="2743200"/>
          </a:xfrm>
          <a:prstGeom prst="roundRect">
            <a:avLst>
              <a:gd name="adj" fmla="val 2667"/>
            </a:avLst>
          </a:prstGeom>
          <a:solidFill>
            <a:srgbClr val="12202B"/>
          </a:solidFill>
          <a:ln w="12700">
            <a:solidFill>
              <a:srgbClr val="12202B"/>
            </a:solidFill>
            <a:prstDash val="solid"/>
          </a:ln>
        </p:spPr>
      </p:sp>
      <p:sp>
        <p:nvSpPr>
          <p:cNvPr id="16" name="Text 14"/>
          <p:cNvSpPr txBox="1"/>
          <p:nvPr/>
        </p:nvSpPr>
        <p:spPr>
          <a:xfrm>
            <a:off x="6263640" y="1600200"/>
            <a:ext cx="5150815" cy="237744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push 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addi sp, sp, -4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sw   t0, 0(sp)       </a:t>
            </a:r>
            <a:pPr indent="0" marL="0">
              <a:buNone/>
            </a:pPr>
            <a:r>
              <a:rPr lang="en-US" sz="1600" dirty="0">
                <a:solidFill>
                  <a:srgbClr val="8FB3A0"/>
                </a:solidFill>
                <a:latin typeface="Courier New" pitchFamily="34" charset="0"/>
                <a:ea typeface="Courier New" pitchFamily="34" charset="-122"/>
                <a:cs typeface="Courier New" pitchFamily="34" charset="-120"/>
              </a:rPr>
              <a:t># store on top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pop 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lw   t0, 0(sp)       </a:t>
            </a:r>
            <a:pPr indent="0" marL="0">
              <a:buNone/>
            </a:pPr>
            <a:r>
              <a:rPr lang="en-US" sz="1600" dirty="0">
                <a:solidFill>
                  <a:srgbClr val="8FB3A0"/>
                </a:solidFill>
                <a:latin typeface="Courier New" pitchFamily="34" charset="0"/>
                <a:ea typeface="Courier New" pitchFamily="34" charset="-122"/>
                <a:cs typeface="Courier New" pitchFamily="34" charset="-120"/>
              </a:rPr>
              <a:t># fetch the top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addi sp, sp, 4       </a:t>
            </a:r>
            <a:pPr indent="0" marL="0">
              <a:buNone/>
            </a:pPr>
            <a:r>
              <a:rPr lang="en-US" sz="1600" dirty="0">
                <a:solidFill>
                  <a:srgbClr val="8FB3A0"/>
                </a:solidFill>
                <a:latin typeface="Courier New" pitchFamily="34" charset="0"/>
                <a:ea typeface="Courier New" pitchFamily="34" charset="-122"/>
                <a:cs typeface="Courier New" pitchFamily="34" charset="-120"/>
              </a:rPr>
              <a:t># release it</a:t>
            </a:r>
            <a:endParaRPr lang="en-US" sz="1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035040" y="4389120"/>
          <a:ext cx="5605272" cy="914400"/>
        </p:xfrm>
        <a:graphic>
          <a:graphicData uri="http://schemas.openxmlformats.org/drawingml/2006/table">
            <a:tbl>
              <a:tblPr/>
              <a:tblGrid>
                <a:gridCol w="2011680"/>
                <a:gridCol w="3593592"/>
              </a:tblGrid>
              <a:tr h="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Processore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Push</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RISC-V</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addi sp, sp, -4 e sw: due istruzioni</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MC68000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MOVE D0, -(SP): un modo di indirizzamento con predecremento</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Intel x86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PUSH: un'istruzione dedicata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Modelli di processore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Dove vivono gli operandi.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architetture del processore</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Registri generici</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Il processore ha un insieme di registri REG0, REG1, ..., REGN-1 utilizzabili in modo intercambiabile.</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Accumulatore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Tutte le istruzioni aritmetiche, logiche e di confronto hanno un operando implicito: un registro speciale, l'accumulatore.</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Non ci sono né accumulatori né registri generici, solo il puntatore allo stack; le istruzioni lavorano sui dati in cima allo stack.</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Ortogonale</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 unico banco di registri generici, alcuni dei quali fanno, quando serve, da puntatore allo stack o da altri registri speciali.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z = x + y in quattro processori</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26248"/>
                <a:gridCol w="2326248"/>
                <a:gridCol w="5278794"/>
                <a:gridCol w="1163124"/>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Modello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Esempio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Programma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Accessi alla memoria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accumulatore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Motorola 6809, 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LDA x ;  ADD y ;  STA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stack</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macchina virtuale Java, WebAssembly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PUSH x ;  PUSH y ;  ADD ;  POP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 più lo stack stesso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registri generici, operandi in memoria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MC68000, Intel x86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MOVE x, D0 ;  ADD y, D0 ;  MOVE D0,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registri generici, load-store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lw t1, x ;  lw t2, y ;  add t3, t1, t2 ;  sw t3,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un processore load-store a registri generici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istruzioni che lavorano sui registri sono più veloci di quelle che lavorano su locazioni di memoria: i dati più usati si tengono nei registri</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Solo load e store toccano la memoria; ogni altra istruzione lavora da registro a registro</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operandi: due sorgenti e una destinazione, così nessun valore viene distrutto se non lo si vuole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istruzione fa una cosa semplice e ha dimensione fissa: facile da decodificare, facile da eseguire in pipeline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È questo il significato di RISC: reduced instruction set computer</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load, calcolo, store</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ritmo di ogni programma RISC-V, dal primo contatore all'ultimo gioco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06</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La ALU e il quadro d'insieme</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L'unità aritmetico-logica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Sovrintende alle operazioni aritmetiche e logiche tra operandi</a:t>
            </a:r>
            <a:endParaRPr lang="en-US" sz="2200" dirty="0"/>
          </a:p>
        </p:txBody>
      </p:sp>
      <p:sp>
        <p:nvSpPr>
          <p:cNvPr id="5" name="Shape 3"/>
          <p:cNvSpPr/>
          <p:nvPr/>
        </p:nvSpPr>
        <p:spPr>
          <a:xfrm>
            <a:off x="548640" y="221526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883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Fisicamente inclusa nel processore nelle architetture elementari; un apparato indipendente in quelle più complesse</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soluzione diffusa: un'unità aritmetica ridotta dentro il processore, e apparati indipendenti per le operazioni più sofisticate</a:t>
            </a:r>
            <a:endParaRPr lang="en-US" sz="2200" dirty="0"/>
          </a:p>
        </p:txBody>
      </p:sp>
      <p:sp>
        <p:nvSpPr>
          <p:cNvPr id="9" name="Shape 7"/>
          <p:cNvSpPr/>
          <p:nvPr/>
        </p:nvSpPr>
        <p:spPr>
          <a:xfrm>
            <a:off x="548640" y="42800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73601"/>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Schema: due registri di ingresso O1 e O2 per gli operandi, un registro di uscita U per il risultato</a:t>
            </a:r>
            <a:endParaRPr lang="en-US" sz="2200" dirty="0"/>
          </a:p>
        </p:txBody>
      </p:sp>
      <p:sp>
        <p:nvSpPr>
          <p:cNvPr id="11" name="Shape 9"/>
          <p:cNvSpPr/>
          <p:nvPr/>
        </p:nvSpPr>
        <p:spPr>
          <a:xfrm>
            <a:off x="548640" y="531241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05984"/>
            <a:ext cx="10710367"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operazioni dipendono dai tipi di dato e dalla loro rappresentazione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tipo logico, stringhe di caratteri, puntatori, numeri nelle varie codifiche delle Lezioni 05 e 06</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L'architettura di un processore RV32</a:t>
            </a:r>
            <a:endParaRPr lang="en-US" sz="3200" dirty="0"/>
          </a:p>
        </p:txBody>
      </p:sp>
      <p:sp>
        <p:nvSpPr>
          <p:cNvPr id="3" name="Text 1"/>
          <p:cNvSpPr txBox="1"/>
          <p:nvPr/>
        </p:nvSpPr>
        <p:spPr>
          <a:xfrm>
            <a:off x="548640" y="2240280"/>
            <a:ext cx="1188720" cy="1463040"/>
          </a:xfrm>
          <a:prstGeom prst="roundRect">
            <a:avLst>
              <a:gd name="adj" fmla="val 4615"/>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indirizzo</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dell'istruzione</a:t>
            </a:r>
            <a:endParaRPr lang="en-US" sz="1500" dirty="0"/>
          </a:p>
        </p:txBody>
      </p:sp>
      <p:sp>
        <p:nvSpPr>
          <p:cNvPr id="4" name="Shape 2"/>
          <p:cNvSpPr/>
          <p:nvPr/>
        </p:nvSpPr>
        <p:spPr>
          <a:xfrm>
            <a:off x="1773936" y="2971800"/>
            <a:ext cx="371795" cy="0"/>
          </a:xfrm>
          <a:prstGeom prst="line">
            <a:avLst/>
          </a:prstGeom>
          <a:noFill/>
          <a:ln w="31750">
            <a:solidFill>
              <a:srgbClr val="5B6B78"/>
            </a:solidFill>
            <a:prstDash val="solid"/>
            <a:tailEnd type="triangle"/>
          </a:ln>
        </p:spPr>
      </p:sp>
      <p:sp>
        <p:nvSpPr>
          <p:cNvPr id="5" name="Text 3"/>
          <p:cNvSpPr txBox="1"/>
          <p:nvPr/>
        </p:nvSpPr>
        <p:spPr>
          <a:xfrm>
            <a:off x="2182307" y="2240280"/>
            <a:ext cx="1554480" cy="1463040"/>
          </a:xfrm>
          <a:prstGeom prst="roundRect">
            <a:avLst>
              <a:gd name="adj" fmla="val 375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memoria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istruzioni</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prelievo</a:t>
            </a:r>
            <a:endParaRPr lang="en-US" sz="1500" dirty="0"/>
          </a:p>
        </p:txBody>
      </p:sp>
      <p:sp>
        <p:nvSpPr>
          <p:cNvPr id="6" name="Shape 4"/>
          <p:cNvSpPr/>
          <p:nvPr/>
        </p:nvSpPr>
        <p:spPr>
          <a:xfrm>
            <a:off x="3773363" y="2971800"/>
            <a:ext cx="371795" cy="0"/>
          </a:xfrm>
          <a:prstGeom prst="line">
            <a:avLst/>
          </a:prstGeom>
          <a:noFill/>
          <a:ln w="31750">
            <a:solidFill>
              <a:srgbClr val="5B6B78"/>
            </a:solidFill>
            <a:prstDash val="solid"/>
            <a:tailEnd type="triangle"/>
          </a:ln>
        </p:spPr>
      </p:sp>
      <p:sp>
        <p:nvSpPr>
          <p:cNvPr id="7" name="Text 5"/>
          <p:cNvSpPr txBox="1"/>
          <p:nvPr/>
        </p:nvSpPr>
        <p:spPr>
          <a:xfrm>
            <a:off x="4181734" y="2240280"/>
            <a:ext cx="1737360" cy="1463040"/>
          </a:xfrm>
          <a:prstGeom prst="roundRect">
            <a:avLst>
              <a:gd name="adj" fmla="val 375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decodificatore 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unità di controllo</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campi 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comandi</a:t>
            </a:r>
            <a:endParaRPr lang="en-US" sz="1500" dirty="0"/>
          </a:p>
        </p:txBody>
      </p:sp>
      <p:sp>
        <p:nvSpPr>
          <p:cNvPr id="8" name="Shape 6"/>
          <p:cNvSpPr/>
          <p:nvPr/>
        </p:nvSpPr>
        <p:spPr>
          <a:xfrm>
            <a:off x="5955670" y="2971800"/>
            <a:ext cx="371795" cy="0"/>
          </a:xfrm>
          <a:prstGeom prst="line">
            <a:avLst/>
          </a:prstGeom>
          <a:noFill/>
          <a:ln w="31750">
            <a:solidFill>
              <a:srgbClr val="5B6B78"/>
            </a:solidFill>
            <a:prstDash val="solid"/>
            <a:tailEnd type="triangle"/>
          </a:ln>
        </p:spPr>
      </p:sp>
      <p:sp>
        <p:nvSpPr>
          <p:cNvPr id="9" name="Text 7"/>
          <p:cNvSpPr txBox="1"/>
          <p:nvPr/>
        </p:nvSpPr>
        <p:spPr>
          <a:xfrm>
            <a:off x="6364041" y="2240280"/>
            <a:ext cx="164592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banco dei registri</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x0 - x31</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32 x 32 bit</a:t>
            </a:r>
            <a:endParaRPr lang="en-US" sz="1500" dirty="0"/>
          </a:p>
        </p:txBody>
      </p:sp>
      <p:sp>
        <p:nvSpPr>
          <p:cNvPr id="10" name="Shape 8"/>
          <p:cNvSpPr/>
          <p:nvPr/>
        </p:nvSpPr>
        <p:spPr>
          <a:xfrm>
            <a:off x="8046537" y="2971800"/>
            <a:ext cx="371795" cy="0"/>
          </a:xfrm>
          <a:prstGeom prst="line">
            <a:avLst/>
          </a:prstGeom>
          <a:noFill/>
          <a:ln w="31750">
            <a:solidFill>
              <a:srgbClr val="5B6B78"/>
            </a:solidFill>
            <a:prstDash val="solid"/>
            <a:tailEnd type="triangle"/>
          </a:ln>
        </p:spPr>
      </p:sp>
      <p:sp>
        <p:nvSpPr>
          <p:cNvPr id="11" name="Text 9"/>
          <p:cNvSpPr txBox="1"/>
          <p:nvPr/>
        </p:nvSpPr>
        <p:spPr>
          <a:xfrm>
            <a:off x="8454908" y="2240280"/>
            <a:ext cx="1371600" cy="146304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ALU</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calcola, o forma</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un indirizzo</a:t>
            </a:r>
            <a:endParaRPr lang="en-US" sz="1500" dirty="0"/>
          </a:p>
        </p:txBody>
      </p:sp>
      <p:sp>
        <p:nvSpPr>
          <p:cNvPr id="12" name="Shape 10"/>
          <p:cNvSpPr/>
          <p:nvPr/>
        </p:nvSpPr>
        <p:spPr>
          <a:xfrm>
            <a:off x="9863084" y="2971800"/>
            <a:ext cx="371795" cy="0"/>
          </a:xfrm>
          <a:prstGeom prst="line">
            <a:avLst/>
          </a:prstGeom>
          <a:noFill/>
          <a:ln w="31750">
            <a:solidFill>
              <a:srgbClr val="5B6B78"/>
            </a:solidFill>
            <a:prstDash val="solid"/>
            <a:tailEnd type="triangle"/>
          </a:ln>
        </p:spPr>
      </p:sp>
      <p:sp>
        <p:nvSpPr>
          <p:cNvPr id="13" name="Text 11"/>
          <p:cNvSpPr txBox="1"/>
          <p:nvPr/>
        </p:nvSpPr>
        <p:spPr>
          <a:xfrm>
            <a:off x="10271455" y="2240280"/>
            <a:ext cx="1371600" cy="1463040"/>
          </a:xfrm>
          <a:prstGeom prst="roundRect">
            <a:avLst>
              <a:gd name="adj" fmla="val 4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memoria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dati</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load, store</a:t>
            </a:r>
            <a:endParaRPr lang="en-US" sz="1500" dirty="0"/>
          </a:p>
        </p:txBody>
      </p:sp>
      <p:sp>
        <p:nvSpPr>
          <p:cNvPr id="14" name="Shape 12"/>
          <p:cNvSpPr/>
          <p:nvPr/>
        </p:nvSpPr>
        <p:spPr>
          <a:xfrm>
            <a:off x="10957255" y="3730752"/>
            <a:ext cx="0" cy="612648"/>
          </a:xfrm>
          <a:prstGeom prst="line">
            <a:avLst/>
          </a:prstGeom>
          <a:noFill/>
          <a:ln w="31750">
            <a:solidFill>
              <a:srgbClr val="2F7D4F"/>
            </a:solidFill>
            <a:prstDash val="solid"/>
          </a:ln>
        </p:spPr>
      </p:sp>
      <p:sp>
        <p:nvSpPr>
          <p:cNvPr id="15" name="Shape 13"/>
          <p:cNvSpPr/>
          <p:nvPr/>
        </p:nvSpPr>
        <p:spPr>
          <a:xfrm flipH="1">
            <a:off x="7187001" y="4343400"/>
            <a:ext cx="3770254" cy="0"/>
          </a:xfrm>
          <a:prstGeom prst="line">
            <a:avLst/>
          </a:prstGeom>
          <a:noFill/>
          <a:ln w="31750">
            <a:solidFill>
              <a:srgbClr val="2F7D4F"/>
            </a:solidFill>
            <a:prstDash val="solid"/>
          </a:ln>
        </p:spPr>
      </p:sp>
      <p:sp>
        <p:nvSpPr>
          <p:cNvPr id="16" name="Shape 14"/>
          <p:cNvSpPr/>
          <p:nvPr/>
        </p:nvSpPr>
        <p:spPr>
          <a:xfrm flipV="1">
            <a:off x="7187001" y="3730752"/>
            <a:ext cx="0" cy="612648"/>
          </a:xfrm>
          <a:prstGeom prst="line">
            <a:avLst/>
          </a:prstGeom>
          <a:noFill/>
          <a:ln w="31750">
            <a:solidFill>
              <a:srgbClr val="2F7D4F"/>
            </a:solidFill>
            <a:prstDash val="solid"/>
            <a:tailEnd type="triangle"/>
          </a:ln>
        </p:spPr>
      </p:sp>
      <p:sp>
        <p:nvSpPr>
          <p:cNvPr id="17" name="Text 15"/>
          <p:cNvSpPr txBox="1"/>
          <p:nvPr/>
        </p:nvSpPr>
        <p:spPr>
          <a:xfrm>
            <a:off x="7187001" y="4389120"/>
            <a:ext cx="3770254" cy="274320"/>
          </a:xfrm>
          <a:prstGeom prst="rect">
            <a:avLst/>
          </a:prstGeom>
          <a:noFill/>
          <a:ln/>
        </p:spPr>
        <p:txBody>
          <a:bodyPr wrap="square" lIns="0" tIns="0" rIns="0" bIns="0" rtlCol="0" anchor="t"/>
          <a:lstStyle/>
          <a:p>
            <a:pPr algn="ctr" indent="0" marL="0">
              <a:buNone/>
            </a:pPr>
            <a:r>
              <a:rPr lang="en-US" sz="1250" b="1" dirty="0">
                <a:solidFill>
                  <a:srgbClr val="2F7D4F"/>
                </a:solidFill>
                <a:latin typeface="Calibri" pitchFamily="34" charset="0"/>
                <a:ea typeface="Calibri" pitchFamily="34" charset="-122"/>
                <a:cs typeface="Calibri" pitchFamily="34" charset="-120"/>
              </a:rPr>
              <a:t>write back: il risultato torna nel registro indicato da rd</a:t>
            </a:r>
            <a:endParaRPr lang="en-US" sz="1250" dirty="0"/>
          </a:p>
        </p:txBody>
      </p:sp>
      <p:sp>
        <p:nvSpPr>
          <p:cNvPr id="18" name="Shape 16"/>
          <p:cNvSpPr/>
          <p:nvPr/>
        </p:nvSpPr>
        <p:spPr>
          <a:xfrm>
            <a:off x="1143000" y="1691640"/>
            <a:ext cx="0" cy="521208"/>
          </a:xfrm>
          <a:prstGeom prst="line">
            <a:avLst/>
          </a:prstGeom>
          <a:noFill/>
          <a:ln w="31750">
            <a:solidFill>
              <a:srgbClr val="B23A48"/>
            </a:solidFill>
            <a:prstDash val="solid"/>
            <a:tailEnd type="triangle"/>
          </a:ln>
        </p:spPr>
      </p:sp>
      <p:sp>
        <p:nvSpPr>
          <p:cNvPr id="19" name="Shape 17"/>
          <p:cNvSpPr/>
          <p:nvPr/>
        </p:nvSpPr>
        <p:spPr>
          <a:xfrm>
            <a:off x="1143000" y="1691640"/>
            <a:ext cx="7997708" cy="0"/>
          </a:xfrm>
          <a:prstGeom prst="line">
            <a:avLst/>
          </a:prstGeom>
          <a:noFill/>
          <a:ln w="31750">
            <a:solidFill>
              <a:srgbClr val="B23A48"/>
            </a:solidFill>
            <a:prstDash val="solid"/>
          </a:ln>
        </p:spPr>
      </p:sp>
      <p:sp>
        <p:nvSpPr>
          <p:cNvPr id="20" name="Shape 18"/>
          <p:cNvSpPr/>
          <p:nvPr/>
        </p:nvSpPr>
        <p:spPr>
          <a:xfrm>
            <a:off x="9140708" y="1691640"/>
            <a:ext cx="0" cy="521208"/>
          </a:xfrm>
          <a:prstGeom prst="line">
            <a:avLst/>
          </a:prstGeom>
          <a:noFill/>
          <a:ln w="31750">
            <a:solidFill>
              <a:srgbClr val="B23A48"/>
            </a:solidFill>
            <a:prstDash val="solid"/>
          </a:ln>
        </p:spPr>
      </p:sp>
      <p:sp>
        <p:nvSpPr>
          <p:cNvPr id="21" name="Text 19"/>
          <p:cNvSpPr txBox="1"/>
          <p:nvPr/>
        </p:nvSpPr>
        <p:spPr>
          <a:xfrm>
            <a:off x="1325880" y="1371600"/>
            <a:ext cx="5486400" cy="274320"/>
          </a:xfrm>
          <a:prstGeom prst="rect">
            <a:avLst/>
          </a:prstGeom>
          <a:noFill/>
          <a:ln/>
        </p:spPr>
        <p:txBody>
          <a:bodyPr wrap="square" lIns="0" tIns="0" rIns="0" bIns="0" rtlCol="0" anchor="t"/>
          <a:lstStyle/>
          <a:p>
            <a:pPr indent="0" marL="0">
              <a:buNone/>
            </a:pPr>
            <a:r>
              <a:rPr lang="en-US" sz="1250" b="1" dirty="0">
                <a:solidFill>
                  <a:srgbClr val="B23A48"/>
                </a:solidFill>
                <a:latin typeface="Calibri" pitchFamily="34" charset="0"/>
                <a:ea typeface="Calibri" pitchFamily="34" charset="-122"/>
                <a:cs typeface="Calibri" pitchFamily="34" charset="-120"/>
              </a:rPr>
              <a:t>PC prossimo: PC + 4, oppure la destinazione del salto</a:t>
            </a:r>
            <a:endParaRPr lang="en-US" sz="1250" dirty="0"/>
          </a:p>
        </p:txBody>
      </p:sp>
      <p:sp>
        <p:nvSpPr>
          <p:cNvPr id="22" name="Text 20"/>
          <p:cNvSpPr txBox="1"/>
          <p:nvPr/>
        </p:nvSpPr>
        <p:spPr>
          <a:xfrm>
            <a:off x="548640" y="5120640"/>
            <a:ext cx="11094415" cy="1051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Accanto, fuori dal percorso principale: il banco dei registri di controllo e stato, e la logica delle trap della Lezione 19. Rispetto all'MC68000 della presentazione originale non ci sono registri dati e indirizzi separati, né registro dei codici di condizione, né registro dell'indirizzo effettivo.</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processore del kit PRG32</a:t>
            </a:r>
            <a:endParaRPr lang="en-US" sz="3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8548156"/>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Caratteristica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Insieme di istruzioni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RV32IMAC: insieme intero di base, moltiplicazione e divisione, atomiche, istruzioni compresse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Core principale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core RISC-V a 32 bit, fino a 160 MHz, pipeline a quattro stadi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Secondo 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core RISC-V a basso consumo, fino a 20 MHz, per i compiti che girano mentre il core principale dorme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Modi di privilegio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macchina e utente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Virgola mobile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nessuna: né estensione F né 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Memoria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512 KB di SRAM, 320 KB di ROM, flash esterna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Sullo stesso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radio Wi-Fi 6, Bluetooth, Thread e Zigbee; periferiche SPI, I2S, GPIO e timer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Quale registro del modello generale non ha corrispettivo in RISC-V?</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program counter</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registro di stato con i flag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puntatore allo stack</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registro istruzione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RISC-V, quali istruzioni possono leggere o scrivere la memoria centrale?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tutte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add e sub</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solo load e store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solo i salti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Dopo addi sp, sp, -4 e sw t0, 0(sp), che cosa è successo?</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t0 è stato estratto dallo stack</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t0 è stato inserito sullo stack</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lo stack è stato svuotato</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sp è stato salvato in t0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una macchina ad accumulatore, l'istruzione ADD y significa: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y := y + accumulatore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accumulatore := accumulatore + [y]</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push di y, poi somma</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y := accumulatore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Scrivete z = (a + b) - (c + d) per una macchina ad accumulatore, una a stack e RISC-V; contate istruzioni e accessi alla memoria</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Scrivete push e pop di due registri, t0 e t1, tenendo sp multiplo di 16 come richiede la convenzione di chiamata</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ogni registro usato nel vostro ultimo programma PRG32, dite quale funzione svolge: transito, accumulo, indirizzamento, stack</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PRG32-QT eseguite passo-passo una chiamata e il suo ritorno: osservate pc, ra e sp, e la parola salvata sullo stack</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Trovate nel datasheet del processore del vostro telefono o portatile: insieme di istruzioni, numero di core, clock, livelli di privilegio</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PRG32-QT: sp scende di 16 al prologo e ritorna all'epilogo; ra contiene l'indirizzo successivo alla chiamata.</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contatore di programma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machine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status register, flags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stato, indicatori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general / special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generico / speciale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supervisor / user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supervisore / utente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privileged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istruzione privilegiata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processore comanda e controlla, appoggiandosi alla memoria e ai sistemi di ingresso/uscita</a:t>
            </a:r>
            <a:endParaRPr lang="en-US" sz="1900" dirty="0"/>
          </a:p>
        </p:txBody>
      </p:sp>
      <p:sp>
        <p:nvSpPr>
          <p:cNvPr id="5" name="Shape 3"/>
          <p:cNvSpPr/>
          <p:nvPr/>
        </p:nvSpPr>
        <p:spPr>
          <a:xfrm>
            <a:off x="548640" y="22807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760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registri sono locazioni di memoria che possono stare fisicamente dentro o fuori dal processore</a:t>
            </a:r>
            <a:endParaRPr lang="en-US" sz="1900" dirty="0"/>
          </a:p>
        </p:txBody>
      </p:sp>
      <p:sp>
        <p:nvSpPr>
          <p:cNvPr id="7" name="Shape 5"/>
          <p:cNvSpPr/>
          <p:nvPr/>
        </p:nvSpPr>
        <p:spPr>
          <a:xfrm>
            <a:off x="548640" y="306108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7789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tipi di registri e il modo in cui si usano determinano il modello di processore: accumulatore, stack, registri generici</a:t>
            </a:r>
            <a:endParaRPr lang="en-US" sz="1900" dirty="0"/>
          </a:p>
        </p:txBody>
      </p:sp>
      <p:sp>
        <p:nvSpPr>
          <p:cNvPr id="9" name="Shape 7"/>
          <p:cNvSpPr/>
          <p:nvPr/>
        </p:nvSpPr>
        <p:spPr>
          <a:xfrm>
            <a:off x="548640" y="384136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5818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ALU svolge le operazioni tra operandi</a:t>
            </a:r>
            <a:endParaRPr lang="en-US" sz="1900" dirty="0"/>
          </a:p>
        </p:txBody>
      </p:sp>
      <p:sp>
        <p:nvSpPr>
          <p:cNvPr id="11" name="Shape 9"/>
          <p:cNvSpPr/>
          <p:nvPr/>
        </p:nvSpPr>
        <p:spPr>
          <a:xfrm>
            <a:off x="548640" y="43272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2440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è un processore load-store a registri generici, senza flag e senza istruzioni di I/O: pochi elementi, ciascuno semplice</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capitoli 2 e 4</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RISC-V Instruction Set Manual, volume I: Unprivileged Architecture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 capitoli su struttura e funzione del processore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Il processore</dc:title>
  <dc:subject>Lezione 18</dc:subject>
  <dc:creator>Raffaele Montella</dc:creator>
  <cp:lastModifiedBy>Raffaele Montella</cp:lastModifiedBy>
  <cp:revision>1</cp:revision>
  <dcterms:created xsi:type="dcterms:W3CDTF">2026-10-12T11:28:41Z</dcterms:created>
  <dcterms:modified xsi:type="dcterms:W3CDTF">2026-10-12T11:28:41Z</dcterms:modified>
</cp:coreProperties>
</file>