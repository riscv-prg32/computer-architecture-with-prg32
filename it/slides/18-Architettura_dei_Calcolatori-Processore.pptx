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f8a22e6-8024-f5ea-d0a1-1f2ff9eb1440}">
          <p14:sldIdLst>
            <p14:sldId id="256"/>
            <p14:sldId id="257"/>
          </p14:sldIdLst>
        </p14:section>
        <p14:section name="Il processore" id="{3652d77a-474b-c1d8-7cff-096d3fb5ebbc}">
          <p14:sldIdLst>
            <p14:sldId id="258"/>
            <p14:sldId id="259"/>
            <p14:sldId id="260"/>
            <p14:sldId id="261"/>
            <p14:sldId id="262"/>
          </p14:sldIdLst>
        </p14:section>
        <p14:section name="I registri" id="{b7705a54-b507-f5ec-7666-77c977c831e1}">
          <p14:sldIdLst>
            <p14:sldId id="263"/>
            <p14:sldId id="264"/>
            <p14:sldId id="265"/>
            <p14:sldId id="266"/>
          </p14:sldIdLst>
        </p14:section>
        <p14:section name="Lo stack" id="{53b0b667-0a2d-8236-4d99-91e804c916a1}">
          <p14:sldIdLst>
            <p14:sldId id="267"/>
          </p14:sldIdLst>
        </p14:section>
        <p14:section name="Modelli di processore" id="{610bb208-d18e-e37d-f247-128b8e028028}">
          <p14:sldIdLst>
            <p14:sldId id="268"/>
            <p14:sldId id="269"/>
          </p14:sldIdLst>
        </p14:section>
        <p14:section name="La ALU e il quadro d'insieme" id="{d7e2ce56-1f24-1987-8a69-75b00b660b65}">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blocco del corso apre la macchina che ha eseguito ogni programma scritto finora. Questa lezione presenta il processore due volte: prima come modello generale di riferimento, valido per qualsiasi processore, con la sua unità di controllo, i registri, lo stack e l'unità aritmetica; poi come RISC-V, il processore programmato dalle prime settimane. Ogni elemento astratto del modello ha già, per lo studente, un nome familiare, e il metodo della lezione è rendere esplicita quella corrispondenza. L'anello della citazione è il processore stesso: l'unico componente che comanda tutti gli altri.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accumulatore, pila, registri; il modello del processore; i registri di RISC-V; la convenzione di chiamata; la pila; il processore RV32. DA UTILIZZARE OGGI: il programma completo, gli strumenti di PRG32 (si usa, non si studia, in questo corso). DA COMPRENDERE PIÙ AVANTI: interruzioni e trap (Lezione 19). Una slide senza etichetta è contesto: una storia, un esempio, una domanda, un esercizio.
Percorso. I risultati di oggi: (1) seguire un'istruzione attraverso i blocchi di un processore RV32; (2) usare correttamente lo stack e la convenzione di chiamata; (3) confrontare macchine ad accumulatore, a stack e a registri. Si appoggia su: solo ciò che ha preparato la Lezione 01. Prossimo passo: Lezione 19, Istruzioni e interruzioni.
Per il docente: La presentazione originale esponeva un modello generale di processore e finiva con l'architettura del Motorola MC68000. Qui il modello generale resta e il riferimento è RISC-V (RV32IMAC, come sull'ESP32-C6 del kit PRG32): gli studenti lo programmano dai primi giorni, quindi ogni elemento astratto ha un nome che conoscono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Nominare i componenti di un processore. Distinguere i registri interni dai registri di macchina, e i registri di uso generale da quelli speciali. Spiegare come funziona uno stack e come RISC-V realizza push e pop. Confrontare tre modelli di processore, ad accumulatore, a stack e a registri generali, sullo stesso calcolo. Descrivere RISC-V come architettura load-store a registri generali e leggere il nome RV32IMAC. E far corrispondere ogni elemento del modello al processore del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richiamo e una definizione. Un calcolatore comprende tre sottosistemi, processore, memoria centrale e ingresso/uscita, collegati da bus. Il processore può eseguire solo un insieme fisso di istruzioni, da qualche decina a qualche centinaio, e il linguaggio macchina è l'insieme delle stringhe di bit che le codificano. Le istruzioni richiedono due tipi di azione: trasferimenti di informazione, e operazioni aritmetiche o logiche. Programmi e dati risiedono entrambi nella memoria centrale, come prescrive il modello di von Neumann della Lezione 03.
DA COMPRENDERE OGGI: il modello del processore.
Per il docente: RV32I, la base di RISC-V, ha circa quaranta istruzioni; con le estensioni M, A e C del kit, circa cento codifiche. Il Motorola 68000 aveva cinquantasei tipi di istruzione con molte varianti ciascuno.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modello di riferimento. L'unità di controllo contiene il program counter, che tiene l'indirizzo della prossima istruzione; un registro di decodifica, che tiene l'istruzione in esecuzione; e la rete che emette i segnali di controllo. I registri di macchina da R0 a Rn-1 sono quelli usati dal programmatore. L'unità aritmetico-logica ha due registri operando e un registro risultato. Due coppie di registri collegano il processore al mondo esterno: MA e MB verso la memoria, RI e RU verso ingresso e uscita. Un bus interno li collega tutti, alla maniera del bus comune della Lezione 14.
DA COMPRENDERE OGGI: il modello del processore.
Per il docente: Modello di riferimento. Pur basati sullo stesso schema logico, e quindi fatti di componenti abbastanza simili, i processori in commercio possono essere molto diversi tra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elemento del modello, e la sua controparte in RISC-V. Il program counter è pc. I registri di macchina sono da x0 a x31, con i loro nomi familiari. I registri della ALU e quelli dell'interfaccia di memoria esistono nell'hardware ma sono invisibili al programmatore. Due righe dicono "assente", ed entrambe sono scelte di progetto deliberate: non ci sono registri per ingresso e uscita, perché i dispositivi sono mappati in memoria, e non c'è un registro di stato con i flag. I registri speciali sono i CSR, riservati al software privilegiato e trattati nella Lezione 19.
DA COMPRENDERE OGGI: il modello del processore.
Per il docente: Le due righe «assente» sono semplificazioni volute di RISC-V, spiegate più avanti in questa lezione e nella Lezione 15. L'MC68000 della presentazione originale aveva tutti gli elementi del modello: otto registri dati e otto registri indirizzi, un registro di stato con i codici di condizione, e una circuiteria separata per le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classi di registri. I registri interni sono necessari al funzionamento del processore ma invisibili al programmatore: il program counter, i registri dell'interfaccia di memoria, quelli della ALU. I registri di macchina definiscono il modello di programmazione, essendo quelli nominati nelle istruzioni. Il processore tratta tre tipi di informazione, istruzioni, indirizzi e dati, ciascuno dei quali potrebbe in linea di principio avere la sua larghezza. In RV32 tutti e tre sono larghi 32 bit, il che conferisce alla macchina una spiccata regolarità.
DA COMPRENDERE OGGI: il modello del processore.
Per il docente: Tipi di dato del processore. Il «32» di RV32 è la larghezza dei registri; RV64 ha registri e indirizzi a 64 bit e le stesse istruzioni a 32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ha almeno due stati di funzionamento. Nello stato supervisore esegue il sistema operativo e può eseguire ogni istruzione. Nello stato utente esegue un programma ordinario e può eseguire tutto tranne le istruzioni privilegiate, quelle il cui uso improprio potrebbe compromettere il sistema. RISC-V chiama questi stati modi: il modo macchina, il più privilegiato e l'unico obbligatorio, il modo supervisore e il modo utente. Il chip del kit implementa i modi macchina e utente. Il passaggio dall'uno all'altro avviene attraverso le trap della prossima lezione.
DA COMPRENDERE OGGI: il modello del processore. DA COMPRENDERE PIÙ AVANTI: interruzioni e trap (si studia nella Lezione 19).
Per il docente: Stato utente o stato supervisore. RISC-V definisce tre modi di privilegio: M, il più privilegiato e l'unico obbligatorio, esegue il firmware; S esegue il kernel di un sistema operativo come Linux; U esegue le applicazioni. L'ESP32-C6 realizza M e U. Il cambio di modo avviene attraverso le trap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funzioni dei registri. Transito: portare dati tra memoria e registri. Accumulazione: contenere operandi e risultati dell'aritmetica. Indirizzamento: contenere un indirizzo o parte di esso, come fanno i registri base e indice. Puntatore allo stack: indicare la cima di uno stack in memoria. Flag: singoli bit che registrano eventi come zero, segno, overflow e riporto, che condizionano le istruzioni successive. In RISC-V i registri generali svolgono le prime quattro funzioni; la quinta non esiste affatto come registro.
DA COMPRENDERE OGGI: i registri di RISC-V.
Per il docente: Funzione dei registri. In RISC-V le prime quattro funzioni sono svolte tutte dai registri generici; la quinta non esiste come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completa dei registri RISC-V, con numeri, nomi e ruoli. La maggior parte è in uso da settimane: zero, ra, sp, i temporanei da t0 a t6, gli argomenti da a0 ad a7, i registri salvati da s0 a s11; gp e tp sono nuovi, usati da compilatori e sistemi operativi. L'hardware tratta in modo identico i registri da x1 a x31 e solo x0 è speciale; i ruoli derivano dalla convenzione di chiamata, incontrata nella Lezione 02 e qui enunciata come regola. Una chiamata può sovrascrivere ra e i registri t e a, che sono salvati dal chiamante: un chiamante che ne ha ancora bisogno li salva prima della chiamata. Una chiamata deve restituire invariati i registri s e sp, che sono salvati dal chiamato: una funzione che ne usa uno lo salva nel suo frame e lo ripristina prima di ret. Il program counter non fa parte del banco dei registri.
DA COMPRENDERE OGGI: i registri di RISC-V; la convenzione di chiamata.
Per il docente: L'hardware tratta allo stesso modo i registri da x1 a x31; solo x0 è speciale. I ruoli vengono dalla convenzione di chiamata, incontrata nella Lezione 02 e qui enunciata come regola: una chiamata può distruggere ra e i registri t e a (salvati dal chiamante: salvateli prima della chiamata se vi servono ancora); deve restituire invariati i registri s e sp (salvati dal chiamato: una funzione che li usa li salva nel suo frame e li ripristina prima di ret). L'MC68000 separava invece i registri dati D0-D7 dai registri indirizzi A0-A7, con A7 come puntatore allo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hanno un registro di stato i cui bit, i flag, registrano l'esito dell'ultima operazione: zero, negativo, overflow, riporto. Un'istruzione li imposta e un successivo salto condizionato li verifica. RISC-V non ne ha. Un salto confronta due registri e salta, in una sola istruzione; slt scrive il risultato di un confronto in un registro ordinario; riporto e overflow si calcolano quando servono, come nella Lezione 05. Meno stato nascosto significa un processore più semplice, una pipeline più semplice (la sovrapposizione delle fasi di istruzioni successive, come in una catena di montaggio) e una gestione delle interruzioni più semplice, perché non c'è stato implicito da salvare.
DA COMPRENDERE OGGI: i registri di RISC-V.
Per il docente: Registro di stato. La presentazione originale elencava Z, N, P (positivo), V, C e un bit di parità.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speciali di RISC-V sono i registri di controllo e di stato, CSR: un banco separato, letto e scritto solo da codice privilegiato con istruzioni dedicate. Cinque meritano di essere conosciuti per nome: mstatus, che contiene l'abilitazione globale delle interruzioni; mtvec, l'indirizzo della routine di gestione delle trap; mepc, l'indirizzo dell'istruzione interrotta; mcause, la causa della trap; e la coppia mie e mip, con un bit per sorgente di interruzione. La prossima lezione li usa tutti.
DA COMPRENDERE OGGI: i registri di RISC-V. DA COMPRENDERE PIÙ AVANTI: interruzioni e trap (si studia nella Lezione 19).
Per il docente: Registri di controllo e stato: un banco separato di al più 4096 registri, letti e scritti solo con le istruzioni csrrw, csrrs e csrrc, e solo da codice privilegiato. Sono i «registri delle interruzioni» del modello generale, e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stack supporta due operazioni: push pone un elemento in cima, pop rimuove l'elemento più in alto. Opera sempre in cima, quindi non serve specificare alcuna posizione: l'ultimo entrato è il primo a uscire. Serve a mettere da parte il contenuto dei registri che vanno liberati per un compito e a ripristinarlo poi, nelle chiamate di sottoprogramma come nelle interruzioni. Si realizza con un puntatore che indica l'ultimo elemento memorizzato. I programmi accurati verificano il trabocco su un push e lo stack vuoto su un pop. Lo stack frame della Lezione 02 si vede ora nella sua forma generale.
DA COMPRENDERE OGGI: la pila; la convenzione di chiamata.
Per il docente: LIFO, last in, first out. Lo usate dalla Lezione 02 per salvare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architetture di processore. Con registri generali il processore ha un insieme di registri intercambiabili. Con un accumulatore, le istruzioni aritmetiche hanno un operando implicito, un registro speciale. In una macchina a stack non c'è né l'uno né l'altro, solo un puntatore allo stack, e le istruzioni operano sulla cima dello stack. Un'architettura ortogonale ha un solo banco di registri generali, alcuni dei quali possono fungere anche da puntatore allo stack o avere altri ruoli speciali. RISC-V appartiene a quest'ultima classe.
DA COMPRENDERE OGGI: accumulatore, pila, registri.
Per il docente: Modello a registri generici, ad accumulatore, a stack; architetture ortogonali. La definizione originale di ortogonale cita anche un registro di stato; RISC-V è ortogonale e non ha nemmeno quello.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è un processore load-store a registri generali. Solo i caricamenti e le memorizzazioni accedono alla memoria; ogni altra istruzione opera da registro a registro, il che è più veloce. Le istruzioni hanno tre operandi, due sorgenti e una destinazione, così che nessun valore venga distrutto se non lo sceglie il programmatore. Ogni istruzione esegue un'operazione semplice e ha dimensione fissa, il che la rende facile da decodificare e da eseguire in una pipeline. È questo il significato di RISC. Le sette righe del riscaldamento sono il prezzo del progetto, e la semplicità di ciascuna riga è il suo guadagno.
DA COMPRENDERE OGGI: accumulatore, pila, registri.
Per il docente: Da registro a registro: [REGX] + [REGY] dà [REGZ]. Le forme da memoria a registro e da registro a memoria della presentazione originale esistono nei processori CISC e sono esattamente ciò a cui RISC rinuncia.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a blocchi di un processore RV32, letto da sinistra a destra. Il PC fornisce l'indirizzo dell'istruzione, che viene prelevata dalla memoria. Il decodificatore ne separa i campi e l'unità di controllo emette i segnali corrispondenti. Il banco dei registri fornisce gli operandi. La ALU calcola un risultato o forma un indirizzo. La memoria dati viene letta o scritta da caricamenti e memorizzazioni. Due percorsi tornano indietro: il risultato torna al registro nominato da rd, e il PC successivo è PC + 4 oppure la destinazione del salto. Ogni istruzione scritta nel corso percorre questa strada, e le macchine delle Lezioni 11, 13 e 14 si possono tutte collocare su di essa.
DA COMPRENDERE OGGI: il processore RV32.
Per il docente: Il classico datapath RISC-V a ciclo singolo di Patterson e Hennessy, ridotto ai suoi blocchi; memoria istruzioni e memoria dati sono lo stesso spazio di indirizzi, disegnato due volte per chiarezza. Sostituisce la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del kit, in cifre: insieme di istruzioni RV32IMAC; un core principale fino a 160 MHz con una pipeline a quattro stadi, e un secondo core a basso consumo; modi macchina e utente; nessuna virgola mobile; 512 KB di SRAM, 320 KB di ROM e una flash esterna; radio e periferiche sullo stesso chip. Un calcolatore completo in pochi millimetri quadrati, al costo di circa due euro, in cui processore, memoria e ingresso/uscita sono tutti presenti esattamente come nel modello.
DA COMPRENDERE OGGI: il processore RV32.
Per il docente: Dal datasheet Espressif dell'ESP32-C6. Un calcolatore completo su un chip di pochi millimetri quadrati che costa circa due euro: processore, memoria e ingresso/uscita ci sono tutti, come nel modello delle prime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torna alla tabella che affianca il modello a RISC-V e si cercano le righe marcate "assente"; una di esse è tra le opzioni.
Per la seconda si ricorda il riscaldamento: quali istruzioni accedevano alla memoria, e quali solo ai registri? La risposta è la definizione di un'architettura load-store.
Per il docente: 1. Risposta: B. RISC-V non ha codici di condizione: i salti confrontano direttamente i registri.
2. Risposta: C. È un'architettura load-store: lw, lh, lb, sw, sh, sb e le forme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seguono le due istruzioni una dopo l'altra: il puntatore scende di una parola, e poi un valore viene memorizzato all'indirizzo che ora contiene. Un valore è stato posto sullo stack.
Per la seconda: in una macchina ad accumulatore l'accumulatore è l'operando implicito, fa da uno dei due addendi e riceve il risultato, mentre l'operando scritto nell'istruzione viene solo letto.
Per il docente: 1. Risposta: B. Il puntatore scende di una parola e il valore è memorizzato sulla nuova cima: un push.
2. Risposta: B. L'accumulatore è l'operando implicito e la destinazione.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La control unit è l'unità di controllo. Un registro di macchina è uno visibile al programmatore. I flag si chiamano in italiano anche indicatori. Lo stato supervisore e lo stato utente sono i due livelli di privilegio. Un'istruzione privilegiata si può eseguire solo nello stato supervisore.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Il processore comanda e controlla, appoggiandosi alla memoria e all'ingresso/uscita. I registri sono locazioni di memorizzazione, interne o visibili al programmatore. I tipi di registri e il loro uso determinano il modello di processore: ad accumulatore, a stack o a registri generali. La ALU esegue le operazioni. E RISC-V è un processore load-store a registri generali, senza flag e senza istruzioni di I/O: pochi elementi, ciascuno semplice. La prossima lezione segue un'istruzione per l'intera sua vita.
Stato di apprendimento, riepilogo. DA COMPRENDERE OGGI: accumulatore, pila, registri; il modello del processore; i registri di RISC-V; la convenzione di chiamata; la pila; il processore RV32. DA UTILIZZARE OGGI: il programma completo, gli strumenti di PRG32 (si usa, non si studia, in questo corso). DA COMPRENDERE PIÙ AVANTI: interruzioni e trap (Lezione 19). Una slide senza etichetta è contesto: una storia, un esempio, una domanda, un esercizio. Il filo della lezione: Il ra salvato nella Lezione 02 è ora spiegato: lo stack e la convenzione di chiamata sono regole che permettono a funzioni scritte da persone diverse di chiamarsi. Prossimo passo: come un'istruzione è codificata ed eseguita, e come il processore viene interrotto. Biglietto d'uscita (da due a quattro minuti, da soli, su carta): 1. Seguite add t2, t0, t1 nello schema a blocchi di un processore RV32: nominate, in ordine, i blocchi che usa e che cosa fa ciascuno. Quale blocco non usa? 2. Una funzione comincia con addi sp, sp, -16 e sw ra, 12(sp). Dove si trova ora ra, e che cosa deve fare la funzione prima di ret?
Per il docente: Prossima lezione: istruzioni 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18: Il processore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Il processore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Unità di controllo, registri, stack e ALU: il modello generale, e RISC-V come processore di riferimento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Anello per domarli...”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Il Signore degli Anelli,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18-Architettura_dei_Calcolatori-Processore-Lab.pptx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i componenti di un processore: unità di controllo, ALU, registri, collegamenti con memoria e ingresso/uscita</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i registri interni dai registri di macchina, e i registri generici da quelli speciali</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funziona uno stack e come RISC-V realizza push e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Confrontare sullo stesso calcolo i modelli ad accumulatore, a stack e a registri generici</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RISC-V come processore load-store a registri generici, e leggere il nome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Riportare ogni elemento del modello generale sul processore del kit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 il suo processore</a:t>
            </a:r>
            <a:endParaRPr lang="en-US" sz="3200" dirty="0"/>
          </a:p>
        </p:txBody>
      </p:sp>
      <p:sp>
        <p:nvSpPr>
          <p:cNvPr id="3" name="Shape 1"/>
          <p:cNvSpPr/>
          <p:nvPr/>
        </p:nvSpPr>
        <p:spPr>
          <a:xfrm>
            <a:off x="548640" y="147726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calcolatore elettronico è un sistema numerico, automatico, a programma memorizzato, costruito con circuiti elettronici</a:t>
            </a:r>
            <a:endParaRPr lang="en-US" sz="1600" dirty="0"/>
          </a:p>
        </p:txBody>
      </p:sp>
      <p:sp>
        <p:nvSpPr>
          <p:cNvPr id="5" name="Shape 3"/>
          <p:cNvSpPr/>
          <p:nvPr/>
        </p:nvSpPr>
        <p:spPr>
          <a:xfrm>
            <a:off x="548640" y="2243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323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Tre sottosistemi: processore (CPU), memoria centrale, ingresso/uscita, collegati da bus</a:t>
            </a:r>
            <a:endParaRPr lang="en-US" sz="1600" dirty="0"/>
          </a:p>
        </p:txBody>
      </p:sp>
      <p:sp>
        <p:nvSpPr>
          <p:cNvPr id="7" name="Shape 5"/>
          <p:cNvSpPr/>
          <p:nvPr/>
        </p:nvSpPr>
        <p:spPr>
          <a:xfrm>
            <a:off x="548640" y="300908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9143"/>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processore può eseguire soltanto un insieme di istruzioni, da qualche decina a poche centinaia, più o meno complesse</a:t>
            </a:r>
            <a:endParaRPr lang="en-US" sz="1600" dirty="0"/>
          </a:p>
        </p:txBody>
      </p:sp>
      <p:sp>
        <p:nvSpPr>
          <p:cNvPr id="9" name="Shape 7"/>
          <p:cNvSpPr/>
          <p:nvPr/>
        </p:nvSpPr>
        <p:spPr>
          <a:xfrm>
            <a:off x="548640" y="37749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15055"/>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Linguaggio macchina: le stringhe di bit che codificano le istruzioni eseguibili dai circuiti di un processore</a:t>
            </a:r>
            <a:endParaRPr lang="en-US" sz="1600" dirty="0"/>
          </a:p>
        </p:txBody>
      </p:sp>
      <p:sp>
        <p:nvSpPr>
          <p:cNvPr id="11" name="Shape 9"/>
          <p:cNvSpPr/>
          <p:nvPr/>
        </p:nvSpPr>
        <p:spPr>
          <a:xfrm>
            <a:off x="548640" y="454091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80966"/>
            <a:ext cx="6565392" cy="92532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istruzioni richiedono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trasferimenti di informazione, dentro il calcolatore e da o verso i dispositivi di I/O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operazioni aritmetiche e logiche</a:t>
            </a:r>
            <a:endParaRPr lang="en-US" sz="1600" dirty="0"/>
          </a:p>
        </p:txBody>
      </p:sp>
      <p:sp>
        <p:nvSpPr>
          <p:cNvPr id="13" name="Shape 11"/>
          <p:cNvSpPr/>
          <p:nvPr/>
        </p:nvSpPr>
        <p:spPr>
          <a:xfrm>
            <a:off x="548640" y="573633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67639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Dati e istruzioni di un programma sono memorizzati nella memoria centrale</a:t>
            </a:r>
            <a:endParaRPr lang="en-US" sz="16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unità centrale di elaborazione: l'unico anello che governa memoria e ingresso/uscita</a:t>
            </a:r>
            <a:endParaRPr lang="en-US" sz="1900" dirty="0"/>
          </a:p>
        </p:txBody>
      </p:sp>
      <p:sp>
        <p:nvSpPr>
          <p:cNvPr id="18" name="Shape 16"/>
          <p:cNvSpPr/>
          <p:nvPr/>
        </p:nvSpPr>
        <p:spPr>
          <a:xfrm>
            <a:off x="7592009" y="91440"/>
            <a:ext cx="4051046" cy="274320"/>
          </a:xfrm>
          <a:prstGeom prst="rect">
            <a:avLst/>
          </a:prstGeom>
          <a:solidFill>
            <a:srgbClr val="E0F2FE"/>
          </a:solidFill>
          <a:ln w="12700">
            <a:solidFill>
              <a:srgbClr val="0369A1"/>
            </a:solidFill>
            <a:prstDash val="solid"/>
          </a:ln>
        </p:spPr>
      </p:sp>
      <p:sp>
        <p:nvSpPr>
          <p:cNvPr id="19" name="Shape 17"/>
          <p:cNvSpPr/>
          <p:nvPr/>
        </p:nvSpPr>
        <p:spPr>
          <a:xfrm>
            <a:off x="7592009"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1" name="Text 18"/>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un modello di riferimento</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rete di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controllo</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bus interno</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la memoria</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l'I/O</a:t>
            </a:r>
            <a:endParaRPr lang="en-US" sz="1200" dirty="0"/>
          </a:p>
        </p:txBody>
      </p:sp>
      <p:sp>
        <p:nvSpPr>
          <p:cNvPr id="24" name="Shape 22"/>
          <p:cNvSpPr/>
          <p:nvPr/>
        </p:nvSpPr>
        <p:spPr>
          <a:xfrm>
            <a:off x="7680960" y="1485011"/>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67462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di controllo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program counter (PC): la prossima istruzione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registro di decodifica (D): l'istruzione in esecuzione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la rete di controllo che emette i comandi</a:t>
            </a:r>
            <a:endParaRPr lang="en-US" sz="1700" dirty="0"/>
          </a:p>
        </p:txBody>
      </p:sp>
      <p:sp>
        <p:nvSpPr>
          <p:cNvPr id="26" name="Shape 24"/>
          <p:cNvSpPr/>
          <p:nvPr/>
        </p:nvSpPr>
        <p:spPr>
          <a:xfrm>
            <a:off x="7680960" y="3301873"/>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234182"/>
            <a:ext cx="35780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Registri di macchina R0 ... Rn-1</a:t>
            </a:r>
            <a:endParaRPr lang="en-US" sz="1700" dirty="0"/>
          </a:p>
        </p:txBody>
      </p:sp>
      <p:sp>
        <p:nvSpPr>
          <p:cNvPr id="28" name="Shape 26"/>
          <p:cNvSpPr/>
          <p:nvPr/>
        </p:nvSpPr>
        <p:spPr>
          <a:xfrm>
            <a:off x="7680960" y="3707511"/>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639820"/>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aritmetico-logica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due registri operando O1 e O2, un registro risultato U</a:t>
            </a:r>
            <a:endParaRPr lang="en-US" sz="1700" dirty="0"/>
          </a:p>
        </p:txBody>
      </p:sp>
      <p:sp>
        <p:nvSpPr>
          <p:cNvPr id="30" name="Shape 28"/>
          <p:cNvSpPr/>
          <p:nvPr/>
        </p:nvSpPr>
        <p:spPr>
          <a:xfrm>
            <a:off x="7680960" y="4583557"/>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515866"/>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la memoria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indirizzo di memoria (MA) e dato di memoria (MB)</a:t>
            </a:r>
            <a:endParaRPr lang="en-US" sz="1700" dirty="0"/>
          </a:p>
        </p:txBody>
      </p:sp>
      <p:sp>
        <p:nvSpPr>
          <p:cNvPr id="32" name="Shape 30"/>
          <p:cNvSpPr/>
          <p:nvPr/>
        </p:nvSpPr>
        <p:spPr>
          <a:xfrm>
            <a:off x="7680960" y="5459603"/>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391912"/>
            <a:ext cx="3578047" cy="78028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l'ingresso/uscita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registri di transito RI e RU</a:t>
            </a:r>
            <a:endParaRPr lang="en-US" sz="1700" dirty="0"/>
          </a:p>
        </p:txBody>
      </p:sp>
      <p:sp>
        <p:nvSpPr>
          <p:cNvPr id="34" name="Shape 32"/>
          <p:cNvSpPr/>
          <p:nvPr/>
        </p:nvSpPr>
        <p:spPr>
          <a:xfrm>
            <a:off x="7592009" y="91440"/>
            <a:ext cx="4051046" cy="274320"/>
          </a:xfrm>
          <a:prstGeom prst="rect">
            <a:avLst/>
          </a:prstGeom>
          <a:solidFill>
            <a:srgbClr val="E0F2FE"/>
          </a:solidFill>
          <a:ln w="12700">
            <a:solidFill>
              <a:srgbClr val="0369A1"/>
            </a:solidFill>
            <a:prstDash val="solid"/>
          </a:ln>
        </p:spPr>
      </p:sp>
      <p:sp>
        <p:nvSpPr>
          <p:cNvPr id="35" name="Shape 33"/>
          <p:cNvSpPr/>
          <p:nvPr/>
        </p:nvSpPr>
        <p:spPr>
          <a:xfrm>
            <a:off x="7592009"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37" name="Text 3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modello e RISC-V, fianco a fianco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Elemento del modello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Visto dal programmatore?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indirettamente: lo usano salti e auipc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registro di decodifica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il registro istruzione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registri di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trentadue registri di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registri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gli ingressi e l'uscita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collegamento con la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e dato di un load o di uno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collegamento con l'I/O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assenti: i dispositivi sono mappati in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registro di stato con i flag</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assente: nessun codice di condizione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 speciali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 registri di controllo e stato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solo dal software privilegiato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interni e registri di macchina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interni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non direttamente visibili al programmatore, e necessari al funzionamento del processore: PC, MA, MB, D, O1, O2, U, ...</a:t>
            </a:r>
            <a:endParaRPr lang="en-US" sz="1900" dirty="0"/>
          </a:p>
        </p:txBody>
      </p:sp>
      <p:sp>
        <p:nvSpPr>
          <p:cNvPr id="5" name="Shape 3"/>
          <p:cNvSpPr/>
          <p:nvPr/>
        </p:nvSpPr>
        <p:spPr>
          <a:xfrm>
            <a:off x="548640" y="26962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067"/>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di macchina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definiscono il modello di programmazione; si dividono in registri generici e registri speciali</a:t>
            </a:r>
            <a:endParaRPr lang="en-US" sz="1900" dirty="0"/>
          </a:p>
        </p:txBody>
      </p:sp>
      <p:sp>
        <p:nvSpPr>
          <p:cNvPr id="7" name="Shape 5"/>
          <p:cNvSpPr/>
          <p:nvPr/>
        </p:nvSpPr>
        <p:spPr>
          <a:xfrm>
            <a:off x="548640" y="38920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08815"/>
            <a:ext cx="6565392" cy="140563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tratta tre tipi di informazione: istruzioni, indirizzi di memoria e dati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di MA e PC dipende da quella degli indirizzi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dei registri della ALU dipende da quella dei dati</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RV32 tutti e tre sono larghi 32 bit: una sola dimensione per registri, indirizzi e istruzioni</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registri di 32 bit, indirizzi di 32 bit, istruzioni di 32 bit</a:t>
            </a:r>
            <a:endParaRPr lang="en-US" sz="1900" dirty="0"/>
          </a:p>
        </p:txBody>
      </p:sp>
      <p:sp>
        <p:nvSpPr>
          <p:cNvPr id="14"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5"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7"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Stato utente e stato supervisore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Chi vi gira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Che cosa può fare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Nome in RISC-V</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sistema operativo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ogni istruzione dell'insieme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macchina (M); modo supervisore (S) dove c'è un sistema operativo completo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programma 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tutto tranne le istruzioni privilegiate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utente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Il processore è in stato supervisore quando esegue il sistema operativo, in stato utente quando esegue un programma utente.</a:t>
            </a:r>
            <a:endParaRPr lang="en-US" sz="1400" dirty="0"/>
          </a:p>
        </p:txBody>
      </p:sp>
      <p:sp>
        <p:nvSpPr>
          <p:cNvPr id="5" name="Shape 2"/>
          <p:cNvSpPr/>
          <p:nvPr/>
        </p:nvSpPr>
        <p:spPr>
          <a:xfrm>
            <a:off x="6503746" y="91440"/>
            <a:ext cx="5139309" cy="274320"/>
          </a:xfrm>
          <a:prstGeom prst="rect">
            <a:avLst/>
          </a:prstGeom>
          <a:solidFill>
            <a:srgbClr val="F3E8FF"/>
          </a:solidFill>
          <a:ln w="12700">
            <a:solidFill>
              <a:srgbClr val="7E22CE"/>
            </a:solidFill>
            <a:prstDash val="dash"/>
          </a:ln>
        </p:spPr>
      </p:sp>
      <p:sp>
        <p:nvSpPr>
          <p:cNvPr id="6" name="Shape 3"/>
          <p:cNvSpPr/>
          <p:nvPr/>
        </p:nvSpPr>
        <p:spPr>
          <a:xfrm>
            <a:off x="6531178" y="128016"/>
            <a:ext cx="45720" cy="45720"/>
          </a:xfrm>
          <a:prstGeom prst="rect">
            <a:avLst/>
          </a:prstGeom>
          <a:solidFill>
            <a:srgbClr val="7E22CE"/>
          </a:solidFill>
          <a:ln w="12700">
            <a:solidFill>
              <a:srgbClr val="7E22CE"/>
            </a:solidFill>
            <a:prstDash val="solid"/>
          </a:ln>
        </p:spPr>
      </p:sp>
      <p:sp>
        <p:nvSpPr>
          <p:cNvPr id="7" name="Shape 4"/>
          <p:cNvSpPr/>
          <p:nvPr/>
        </p:nvSpPr>
        <p:spPr>
          <a:xfrm>
            <a:off x="6531178" y="205740"/>
            <a:ext cx="45720" cy="45720"/>
          </a:xfrm>
          <a:prstGeom prst="rect">
            <a:avLst/>
          </a:prstGeom>
          <a:solidFill>
            <a:srgbClr val="7E22CE"/>
          </a:solidFill>
          <a:ln w="12700">
            <a:solidFill>
              <a:srgbClr val="7E22CE"/>
            </a:solidFill>
            <a:prstDash val="solid"/>
          </a:ln>
        </p:spPr>
      </p:sp>
      <p:sp>
        <p:nvSpPr>
          <p:cNvPr id="8" name="Shape 5"/>
          <p:cNvSpPr/>
          <p:nvPr/>
        </p:nvSpPr>
        <p:spPr>
          <a:xfrm>
            <a:off x="6531178"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10" name="Text 6"/>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interruzioni e trap</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11" name="Shape 7"/>
          <p:cNvSpPr/>
          <p:nvPr/>
        </p:nvSpPr>
        <p:spPr>
          <a:xfrm>
            <a:off x="2342972" y="91440"/>
            <a:ext cx="4051046" cy="274320"/>
          </a:xfrm>
          <a:prstGeom prst="rect">
            <a:avLst/>
          </a:prstGeom>
          <a:solidFill>
            <a:srgbClr val="E0F2FE"/>
          </a:solidFill>
          <a:ln w="12700">
            <a:solidFill>
              <a:srgbClr val="0369A1"/>
            </a:solidFill>
            <a:prstDash val="solid"/>
          </a:ln>
        </p:spPr>
      </p:sp>
      <p:sp>
        <p:nvSpPr>
          <p:cNvPr id="12" name="Shape 8"/>
          <p:cNvSpPr/>
          <p:nvPr/>
        </p:nvSpPr>
        <p:spPr>
          <a:xfrm>
            <a:off x="2342972"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14" name="Text 9"/>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funzioni dei registri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Transito dei dati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 memoria a registro, da registro a registro, da registro a memoria: load, move, store</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Accumulo dei risultati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necessario per aritmetica e logica: R := (op) R, oppure R := R (op) X</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Indirizzamento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trovare l'indirizzo di un operando: registri indice, registri base</a:t>
            </a:r>
            <a:endParaRPr lang="en-US" sz="2100" dirty="0"/>
          </a:p>
        </p:txBody>
      </p:sp>
      <p:sp>
        <p:nvSpPr>
          <p:cNvPr id="9" name="Shape 7"/>
          <p:cNvSpPr/>
          <p:nvPr/>
        </p:nvSpPr>
        <p:spPr>
          <a:xfrm>
            <a:off x="548640" y="4155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5707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Puntatori allo stack</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gestione di uno stack realizzato in memoria</a:t>
            </a:r>
            <a:endParaRPr lang="en-US" sz="2100" dirty="0"/>
          </a:p>
        </p:txBody>
      </p:sp>
      <p:sp>
        <p:nvSpPr>
          <p:cNvPr id="11" name="Shape 9"/>
          <p:cNvSpPr/>
          <p:nvPr/>
        </p:nvSpPr>
        <p:spPr>
          <a:xfrm>
            <a:off x="548640" y="503567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36998"/>
            <a:ext cx="10710367"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Indicatori, o flag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informazione binaria su eventi: zero, segno, overflow, riporto, indirizzi o codici illeciti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prodotti durante l'esecuzione di un'istruzione, possono condizionare le successive</a:t>
            </a:r>
            <a:endParaRPr lang="en-US" sz="21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trentadue registri di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Funzione, per convenzione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Funzione, per convenzione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sempre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 risultati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allo stack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globale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 thread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(fuori dal banco)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regola della convenzione: una chiamata può distruggere ra, t e a (salvati dal chiamante); s e sp tornano invariati (salvati dal chiamato).</a:t>
            </a:r>
            <a:endParaRPr lang="en-US" sz="13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flag: il registro di stato, e la sua assenza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Processori con registro di stato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Bit di flag accessibili dal programma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Z zero, N negativo, V overflow, C riporto, a volte la parità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Un'istruzione li imposta; un salto condizionato successivo li esamina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MC68000: il registro dei codici di condizione; x86: il registro dei flag</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nessun flag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salto confronta due registri e salta, in una sola istruzione: beq, bne, blt, bge, bltu, bgeu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slt e sltu scrivono il risultato di un confronto in un registro generico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Riporto e overflow si calcolano quando servono (Lezione 05)</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Meno stato nascosto: pipeline più semplici, interruzioni più semplici</a:t>
            </a:r>
            <a:endParaRPr lang="en-US" sz="1900" dirty="0"/>
          </a:p>
        </p:txBody>
      </p:sp>
      <p:sp>
        <p:nvSpPr>
          <p:cNvPr id="9" name="Shape 7"/>
          <p:cNvSpPr/>
          <p:nvPr/>
        </p:nvSpPr>
        <p:spPr>
          <a:xfrm>
            <a:off x="7920304" y="91440"/>
            <a:ext cx="3722751" cy="274320"/>
          </a:xfrm>
          <a:prstGeom prst="rect">
            <a:avLst/>
          </a:prstGeom>
          <a:solidFill>
            <a:srgbClr val="E0F2FE"/>
          </a:solidFill>
          <a:ln w="12700">
            <a:solidFill>
              <a:srgbClr val="0369A1"/>
            </a:solidFill>
            <a:prstDash val="solid"/>
          </a:ln>
        </p:spPr>
      </p:sp>
      <p:sp>
        <p:nvSpPr>
          <p:cNvPr id="10" name="Shape 8"/>
          <p:cNvSpPr/>
          <p:nvPr/>
        </p:nvSpPr>
        <p:spPr>
          <a:xfrm>
            <a:off x="792030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2" name="Text 9"/>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speciali di RISC-V: i CSR</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contiene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della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l'abilitazione globale delle interruzioni e il modo di privilegio precedente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delle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della routine che gestisce interruzioni ed eccezioni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 counter dell'eccezione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dell'istruzione che è stata interrotta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causa della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codice che dice perché è avvenuta 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interruzioni abilitate, interruzioni pendenti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bit per sorgente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6503746" y="91440"/>
            <a:ext cx="5139309" cy="274320"/>
          </a:xfrm>
          <a:prstGeom prst="rect">
            <a:avLst/>
          </a:prstGeom>
          <a:solidFill>
            <a:srgbClr val="F3E8FF"/>
          </a:solidFill>
          <a:ln w="12700">
            <a:solidFill>
              <a:srgbClr val="7E22CE"/>
            </a:solidFill>
            <a:prstDash val="dash"/>
          </a:ln>
        </p:spPr>
      </p:sp>
      <p:sp>
        <p:nvSpPr>
          <p:cNvPr id="5" name="Shape 2"/>
          <p:cNvSpPr/>
          <p:nvPr/>
        </p:nvSpPr>
        <p:spPr>
          <a:xfrm>
            <a:off x="6531178" y="128016"/>
            <a:ext cx="45720" cy="45720"/>
          </a:xfrm>
          <a:prstGeom prst="rect">
            <a:avLst/>
          </a:prstGeom>
          <a:solidFill>
            <a:srgbClr val="7E22CE"/>
          </a:solidFill>
          <a:ln w="12700">
            <a:solidFill>
              <a:srgbClr val="7E22CE"/>
            </a:solidFill>
            <a:prstDash val="solid"/>
          </a:ln>
        </p:spPr>
      </p:sp>
      <p:sp>
        <p:nvSpPr>
          <p:cNvPr id="6" name="Shape 3"/>
          <p:cNvSpPr/>
          <p:nvPr/>
        </p:nvSpPr>
        <p:spPr>
          <a:xfrm>
            <a:off x="6531178" y="205740"/>
            <a:ext cx="45720" cy="45720"/>
          </a:xfrm>
          <a:prstGeom prst="rect">
            <a:avLst/>
          </a:prstGeom>
          <a:solidFill>
            <a:srgbClr val="7E22CE"/>
          </a:solidFill>
          <a:ln w="12700">
            <a:solidFill>
              <a:srgbClr val="7E22CE"/>
            </a:solidFill>
            <a:prstDash val="solid"/>
          </a:ln>
        </p:spPr>
      </p:sp>
      <p:sp>
        <p:nvSpPr>
          <p:cNvPr id="7" name="Shape 4"/>
          <p:cNvSpPr/>
          <p:nvPr/>
        </p:nvSpPr>
        <p:spPr>
          <a:xfrm>
            <a:off x="653117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9" name="Text 5"/>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interruzioni e trap</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10" name="Shape 6"/>
          <p:cNvSpPr/>
          <p:nvPr/>
        </p:nvSpPr>
        <p:spPr>
          <a:xfrm>
            <a:off x="2671267" y="91440"/>
            <a:ext cx="3722751" cy="274320"/>
          </a:xfrm>
          <a:prstGeom prst="rect">
            <a:avLst/>
          </a:prstGeom>
          <a:solidFill>
            <a:srgbClr val="E0F2FE"/>
          </a:solidFill>
          <a:ln w="12700">
            <a:solidFill>
              <a:srgbClr val="0369A1"/>
            </a:solidFill>
            <a:prstDash val="solid"/>
          </a:ln>
        </p:spPr>
      </p:sp>
      <p:sp>
        <p:nvSpPr>
          <p:cNvPr id="11" name="Shape 7"/>
          <p:cNvSpPr/>
          <p:nvPr/>
        </p:nvSpPr>
        <p:spPr>
          <a:xfrm>
            <a:off x="267126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2799283" y="128016"/>
            <a:ext cx="201168" cy="201168"/>
          </a:xfrm>
          <a:prstGeom prst="rect">
            <a:avLst/>
          </a:prstGeom>
        </p:spPr>
      </p:pic>
      <p:sp>
        <p:nvSpPr>
          <p:cNvPr id="13" name="Text 8"/>
          <p:cNvSpPr txBox="1"/>
          <p:nvPr/>
        </p:nvSpPr>
        <p:spPr>
          <a:xfrm>
            <a:off x="3055315"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struttura dati astratta con due operazioni: push memorizza un elemento come ultimo della pila, pop toglie l'ultimo elemento</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Lavora sempre e solo sulla cima: non occorre dire dove memorizzare o prelevare</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Serve a mettere da parte il contenuto dei registri da liberare per svolgere un compito, e a ripristinarlo dopo: sottoprogrammi, interruzioni</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Realizzato con un puntatore, in memoria o in un registro dedicato, che indica in ogni istante la posizione dell'ultimo elemento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operazioni sullo stack dovrebbero controllare l'overflow su un push e lo stack vuoto su un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l'ultimo valore inserito è il primo a essere estratto</a:t>
            </a:r>
            <a:endParaRPr lang="en-US" sz="1900" dirty="0"/>
          </a:p>
        </p:txBody>
      </p:sp>
      <p:sp>
        <p:nvSpPr>
          <p:cNvPr id="16" name="Shape 14"/>
          <p:cNvSpPr/>
          <p:nvPr/>
        </p:nvSpPr>
        <p:spPr>
          <a:xfrm>
            <a:off x="8773871" y="91440"/>
            <a:ext cx="2869184" cy="274320"/>
          </a:xfrm>
          <a:prstGeom prst="rect">
            <a:avLst/>
          </a:prstGeom>
          <a:solidFill>
            <a:srgbClr val="E0F2FE"/>
          </a:solidFill>
          <a:ln w="12700">
            <a:solidFill>
              <a:srgbClr val="0369A1"/>
            </a:solidFill>
            <a:prstDash val="solid"/>
          </a:ln>
        </p:spPr>
      </p:sp>
      <p:sp>
        <p:nvSpPr>
          <p:cNvPr id="17" name="Shape 15"/>
          <p:cNvSpPr/>
          <p:nvPr/>
        </p:nvSpPr>
        <p:spPr>
          <a:xfrm>
            <a:off x="877387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901887" y="128016"/>
            <a:ext cx="201168" cy="201168"/>
          </a:xfrm>
          <a:prstGeom prst="rect">
            <a:avLst/>
          </a:prstGeom>
        </p:spPr>
      </p:pic>
      <p:sp>
        <p:nvSpPr>
          <p:cNvPr id="19" name="Text 16"/>
          <p:cNvSpPr txBox="1"/>
          <p:nvPr/>
        </p:nvSpPr>
        <p:spPr>
          <a:xfrm>
            <a:off x="9157919" y="91440"/>
            <a:ext cx="244856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pila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architetture del processore</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Registri generici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Il processore ha un insieme di registri REG0, REG1, ..., REGN-1 utilizzabili in modo intercambiabile.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Tutte le istruzioni aritmetiche, logiche e di confronto hanno un operando implicito: un registro speciale, l'accumulatore.</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Non ci sono né accumulatori né registri generici, solo il puntatore allo stack; le istruzioni lavorano sui dati in cima allo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Ortogonale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unico banco di registri generici, alcuni dei quali fanno, quando serve, da puntatore allo stack o da altri registri speciali.</a:t>
            </a:r>
            <a:endParaRPr lang="en-US" sz="1900" dirty="0"/>
          </a:p>
        </p:txBody>
      </p:sp>
      <p:sp>
        <p:nvSpPr>
          <p:cNvPr id="19" name="Shape 17"/>
          <p:cNvSpPr/>
          <p:nvPr/>
        </p:nvSpPr>
        <p:spPr>
          <a:xfrm>
            <a:off x="7395032" y="91440"/>
            <a:ext cx="4248023" cy="274320"/>
          </a:xfrm>
          <a:prstGeom prst="rect">
            <a:avLst/>
          </a:prstGeom>
          <a:solidFill>
            <a:srgbClr val="E0F2FE"/>
          </a:solidFill>
          <a:ln w="12700">
            <a:solidFill>
              <a:srgbClr val="0369A1"/>
            </a:solidFill>
            <a:prstDash val="solid"/>
          </a:ln>
        </p:spPr>
      </p:sp>
      <p:sp>
        <p:nvSpPr>
          <p:cNvPr id="20" name="Shape 18"/>
          <p:cNvSpPr/>
          <p:nvPr/>
        </p:nvSpPr>
        <p:spPr>
          <a:xfrm>
            <a:off x="739503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2" name="Text 19"/>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accumulatore, pila,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un processore load-store a registri generici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istruzioni che lavorano sui registri sono più veloci di quelle che lavorano su locazioni di memoria: i dati più usati si tengono nei registri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Solo load e store toccano la memoria; ogni altra istruzione lavora da registro a registro</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operandi: due sorgenti e una destinazione, così nessun valore viene distrutto se non lo si vuole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istruzione fa una cosa semplice e ha dimensione fissa: facile da decodificare, facile da eseguire in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È questo il significato di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calcolo,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ritmo di ogni programma RISC-V, dal primo contatore all'ultimo gioco</a:t>
            </a:r>
            <a:endParaRPr lang="en-US" sz="1900" dirty="0"/>
          </a:p>
        </p:txBody>
      </p:sp>
      <p:sp>
        <p:nvSpPr>
          <p:cNvPr id="16" name="Shape 14"/>
          <p:cNvSpPr/>
          <p:nvPr/>
        </p:nvSpPr>
        <p:spPr>
          <a:xfrm>
            <a:off x="7395032" y="91440"/>
            <a:ext cx="4248023" cy="274320"/>
          </a:xfrm>
          <a:prstGeom prst="rect">
            <a:avLst/>
          </a:prstGeom>
          <a:solidFill>
            <a:srgbClr val="E0F2FE"/>
          </a:solidFill>
          <a:ln w="12700">
            <a:solidFill>
              <a:srgbClr val="0369A1"/>
            </a:solidFill>
            <a:prstDash val="solid"/>
          </a:ln>
        </p:spPr>
      </p:sp>
      <p:sp>
        <p:nvSpPr>
          <p:cNvPr id="17" name="Shape 15"/>
          <p:cNvSpPr/>
          <p:nvPr/>
        </p:nvSpPr>
        <p:spPr>
          <a:xfrm>
            <a:off x="739503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19" name="Text 16"/>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accumulatore, pila,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L'architettura di un processore RV32</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indirizzo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dell'istruzione</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istruzioni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prelievo</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decodificatore 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unità di controllo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campi 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comandi</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banco dei registri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calcola, o forma</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un indirizzo</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dati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il risultato torna nel registro indicato da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PC prossimo: PC + 4, oppure la destinazione del salto</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Accanto, fuori dal percorso principale: il banco dei registri di controllo e stato, e la logica delle trap della Lezione 19. Rispetto all'MC68000 della presentazione originale non ci sono registri dati e indirizzi separati, né registro dei codici di condizione, né registro dell'indirizzo effettivo.</a:t>
            </a:r>
            <a:endParaRPr lang="en-US" sz="1450" dirty="0"/>
          </a:p>
        </p:txBody>
      </p:sp>
      <p:sp>
        <p:nvSpPr>
          <p:cNvPr id="23" name="Shape 21"/>
          <p:cNvSpPr/>
          <p:nvPr/>
        </p:nvSpPr>
        <p:spPr>
          <a:xfrm>
            <a:off x="8051622" y="91440"/>
            <a:ext cx="3591433" cy="274320"/>
          </a:xfrm>
          <a:prstGeom prst="rect">
            <a:avLst/>
          </a:prstGeom>
          <a:solidFill>
            <a:srgbClr val="E0F2FE"/>
          </a:solidFill>
          <a:ln w="12700">
            <a:solidFill>
              <a:srgbClr val="0369A1"/>
            </a:solidFill>
            <a:prstDash val="solid"/>
          </a:ln>
        </p:spPr>
      </p:sp>
      <p:sp>
        <p:nvSpPr>
          <p:cNvPr id="24" name="Shape 22"/>
          <p:cNvSpPr/>
          <p:nvPr/>
        </p:nvSpPr>
        <p:spPr>
          <a:xfrm>
            <a:off x="805162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6" name="Text 2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processore RV32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del kit PRG32</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Caratteristica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Insieme di istruzioni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RV32IMAC: insieme intero di base, moltiplicazione e divisione, atomiche, istruzioni compresse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principale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32 bit, fino a 160 MHz, pipeline a quattro stadi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Secondo 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basso consumo, fino a 20 MHz, per i compiti che girano mentre il core principale dorme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Modi di privilegio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macchina e utente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Virgola mobile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nessuna: né estensione F né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512 KB di SRAM, 320 KB di ROM, flash esterna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Sullo stesso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radio Wi-Fi 6, Bluetooth, Thread e Zigbee; periferiche SPI, I2S, GPIO e timer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5"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7"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processore RV32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registro del modello generale non ha corrispettivo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di stato con i flag</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puntatore allo stack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istruzione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quali istruzioni possono leggere o scrivere la memoria centrale?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tutte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e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load e store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i salti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Dopo addi sp, sp, -4 e sw t0, 0(sp), che cosa è successo?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è stato estratto dallo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è stato inserito sullo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stack è stato svuotato</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è stato salvato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macchina ad accumulatore, l'istruzione ADD y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accumulatore := accumulatore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di y, poi somma</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comanda e controlla, appoggiandosi alla memoria e ai sistemi di ingresso/uscita</a:t>
            </a:r>
            <a:endParaRPr lang="en-US" sz="1900" dirty="0"/>
          </a:p>
        </p:txBody>
      </p:sp>
      <p:sp>
        <p:nvSpPr>
          <p:cNvPr id="5" name="Shape 3"/>
          <p:cNvSpPr/>
          <p:nvPr/>
        </p:nvSpPr>
        <p:spPr>
          <a:xfrm>
            <a:off x="548640" y="22807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760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registri sono locazioni di memoria che possono stare fisicamente dentro o fuori dal processore</a:t>
            </a:r>
            <a:endParaRPr lang="en-US" sz="1900" dirty="0"/>
          </a:p>
        </p:txBody>
      </p:sp>
      <p:sp>
        <p:nvSpPr>
          <p:cNvPr id="7" name="Shape 5"/>
          <p:cNvSpPr/>
          <p:nvPr/>
        </p:nvSpPr>
        <p:spPr>
          <a:xfrm>
            <a:off x="548640" y="30610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789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tipi di registri e il modo in cui si usano determinano il modello di processore: accumulatore, stack, registri generici</a:t>
            </a:r>
            <a:endParaRPr lang="en-US" sz="1900" dirty="0"/>
          </a:p>
        </p:txBody>
      </p:sp>
      <p:sp>
        <p:nvSpPr>
          <p:cNvPr id="9" name="Shape 7"/>
          <p:cNvSpPr/>
          <p:nvPr/>
        </p:nvSpPr>
        <p:spPr>
          <a:xfrm>
            <a:off x="548640" y="384136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5818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ALU svolge le operazioni tra operandi</a:t>
            </a:r>
            <a:endParaRPr lang="en-US" sz="1900" dirty="0"/>
          </a:p>
        </p:txBody>
      </p:sp>
      <p:sp>
        <p:nvSpPr>
          <p:cNvPr id="11" name="Shape 9"/>
          <p:cNvSpPr/>
          <p:nvPr/>
        </p:nvSpPr>
        <p:spPr>
          <a:xfrm>
            <a:off x="548640" y="43272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440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è un processore load-store a registri generici, senza flag e senza istruzioni di I/O: pochi elementi, ciascuno semplice</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capitoli 2 e 4</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 struttura e funzione del processore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Il processore</dc:title>
  <dc:subject>Lezione 18</dc:subject>
  <dc:creator>Raffaele Montella</dc:creator>
  <cp:lastModifiedBy>Raffaele Montella</cp:lastModifiedBy>
  <cp:revision>1</cp:revision>
  <dcterms:created xsi:type="dcterms:W3CDTF">2026-10-17T07:16:50Z</dcterms:created>
  <dcterms:modified xsi:type="dcterms:W3CDTF">2026-10-17T07:16:50Z</dcterms:modified>
</cp:coreProperties>
</file>