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a8c5c5f-897d-9245-709e-b527d05501d3}">
          <p14:sldIdLst>
            <p14:sldId id="256"/>
            <p14:sldId id="257"/>
          </p14:sldIdLst>
        </p14:section>
        <p14:section name="Istruzioni" id="{33ecd78b-cc11-7c08-d8ca-29e44dcecd60}">
          <p14:sldIdLst>
            <p14:sldId id="258"/>
            <p14:sldId id="259"/>
            <p14:sldId id="260"/>
          </p14:sldIdLst>
        </p14:section>
        <p14:section name="Il ciclo del processore" id="{2f2053aa-6c9b-17cf-e482-0b938f0bbd4e}">
          <p14:sldIdLst>
            <p14:sldId id="261"/>
            <p14:sldId id="262"/>
          </p14:sldIdLst>
        </p14:section>
        <p14:section name="Interruzioni" id="{380ad4e5-c07d-fd6f-f167-53140affdbb0}">
          <p14:sldIdLst>
            <p14:sldId id="263"/>
            <p14:sldId id="264"/>
            <p14:sldId id="265"/>
            <p14:sldId id="266"/>
            <p14:sldId id="267"/>
          </p14:sldIdLst>
        </p14:section>
        <p14:section name="La soluzione di RISC-V" id="{0435607c-9576-463d-dad4-6c5d3169c73c}">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descritto di che cosa è fatto un processore; questa descrive che cosa fa. Ha due metà. La prima segue una singola istruzione: come è codificata in 32 bit e quali passi compie il processore per eseguirla. La seconda spiega che cosa accade quando arriva qualcosa di più urgente del programma corrente, un timer, un dispositivo o un errore, così che il processore debba sospendere il suo lavoro e riprenderlo più tardi. Le due metà sono collegate: l'interruzione è una modifica proprio del ciclo che la prima metà descrive. La battuta in copertina, come si vedrà, è quasi letteralmente vera.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 il docente: La presentazione originale usava una macchina a parole di 16 bit per la fase di fetch e il Motorola MC68000 per interruzioni vettorizzate e priorità. Entrambi sono sostituiti da RISC-V: i sei formati di istruzione, i cinque stadi classici, e il meccanismo delle trap in modo macchina (mtvec, mepc, mcause, mstatus, mret). Una slide di confronto conserva il 68000 come controparte storica.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Descrivere un'istruzione come codice operativo con i suoi operandi. Decodificare a mano un'istruzione RISC-V. Seguire un'istruzione attraverso le cinque fasi del ciclo del processore. Spiegare che cos'è una pipeline e perché aumenta il throughput. Definire interruzione, eccezione e trap, tre termini che RISC-V usa con precisione. E descrivere che cosa fa l'hardware a una trap e come riprende il programma interrotto.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processore fornisce quattro famiglie di istruzioni: trasferimenti tra memoria e registri, operazioni aritmetiche e logiche, controllo del flusso e ingresso/uscita. Un'istruzione consiste di un codice operativo, l'opcode, che specifica che cosa fare, seguito da zero o più operandi, che specificano su che cosa. Un operando può essere una costante scritta dentro l'istruzione, un immediato; una locazione di memoria; o un registro. Alcuni operandi sono impliciti, come l'accumulatore in una macchina ad accumulatore. Le istruzioni hanno da zero a tre operandi.
DA COMPRENDERE OGGI: formati delle istruzioni.
Per il docente: In RISC-V la quarta famiglia non esiste come tale: i dispositivi sono memoria (Lezione 15). add ha tre operandi, tutti registri; ret non ne ha di visibili.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formati delle istruzioni RISC-V. Ogni istruzione è lunga 32 bit e divisa in campi. Nel formato R, per le operazioni tra registri, ci sono tre numeri di registro di cinque bit, rs1, rs2 e rd, e tre campi che selezionano l'operazione. Nel formato I il secondo registro sorgente è sostituito da un immediato di 12 bit. S e B, per memorizzazioni e salti condizionati, dividono l'immediato in due parti. U e J portano un immediato di 20 bit. La regolarità è un obiettivo di progetto: l'opcode occupa sempre i sette bit più bassi e i campi registro sempre le stesse posizioni, così la decodifica può cominciare prima di conoscere il formato. Le forme compresse a 16 bit dell'estensione C sono qui solo nominate; l'Appendice A del libro le elenca.
DA COMPRENDERE OGGI: formati delle istruzioni.
Per il docente: Bit da 31 a 0, da sinistra a destra (indici mostrati sulla prima riga). B e J differiscono da S e U solo per come sono disposti i bit dell'immediato. Questa regolarità è il cuore dell'idea RISC; i formati generici a 0, 1, 2 e 3 operandi della presentazione originale ne sono gli antenati.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modo di indirizzamento è un metodo per trovare un operando. RISC-V ne fornisce quattro. Immediato: l'operando è una costante dentro l'istruzione. A registro: è il contenuto di un registro. Base più spiazzamento: è la parola di memoria all'indirizzo formato da un registro più una costante, l'unico modo di raggiungere la memoria. Relativo al PC: un indirizzo a una data distanza dall'istruzione stessa, usato dai salti. L'indirizzamento indiretto in memoria, in cui l'indirizzo stesso risiede in memoria, non esiste: richiede due caricamenti. È la trattazione formale promessa nella Lezione 02, quando si distinsero per la prima volta indirizzo e valore.
DA COMPRENDERE OGGI: i modi di indirizzamento.
Per il docente: RISC-V ha solo i primi quattro. Un processore CISC come l'MC68000 ne ha una dozzina, compresi i modi indiretti in memoria e con autoincremento. L'esempio della presentazione originale, R3 := M[M[A]], in RISC-V diventa: lw t0, 0(t1) seguita da lw t0, 0(t0). La fase di «operand assembly» di un processore CISC è il prezzo dei modi di indirizzamento ricchi.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fasi. Prelievo: l'istruzione all'indirizzo contenuto nel PC viene letta dalla memoria e il PC fatto avanzare. Decodifica: si riconosce l'opcode e si leggono i registri nominati nell'istruzione. Esecuzione: la ALU calcola un risultato, un indirizzo o un confronto. Memoria: i caricamenti leggono la memoria, le memorizzazioni la scrivono, e le altre istruzioni in questa fase non fanno nulla. Scrittura del risultato: il risultato viene scritto nel registro destinazione. Dopo l'avvio iniziale il processore ripete questo ciclo all'infinito.
DA COMPRENDERE OGGI: il ciclo del processore.
Per il docente: Algoritmo fondamentale del processore: inizializzazione, instruction fetch and decoding, operand assembly, execute. La versione a cinque fasi è la formulazione RISC classica. In inglese: fetch, decode, execute, memory, write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ogni fase ha hardware dedicato, le fasi di istruzioni successive si possono sovrapporre. Nella tabella ogni riga è un'istruzione e ogni colonna un ciclo di clock: mentre la prima istruzione è in esecuzione, la seconda viene decodificata e la terza prelevata. Ogni istruzione richiede ancora cinque cicli, ma se ne completa una per ciclo: è la pipeline, il principio della catena di montaggio, che aumenta il throughput senza ridurre la latenza. I processori superscalari affiancano più pipeline, come mostra la Lezione 24. Il core principale del kit ha una pipeline a quattro stadi.
DA COMPRENDERE OGGI: il ciclo del processore.
Per il docente: Slide di origine: «Esempio di pipeline lineare a 5 stadi; superscalarità». IF instruction fetch (prelievo), ID decode (decodifica), EX execute (esecuzione), MEM memory (memoria), WB write back (scrittura). I salti e le dipendenze tra istruzioni vicine complicano il quadro (hazard): è l'argomento di un corso avanzato.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che non facesse altro che prelevare, decodificare ed eseguire avrebbe tre problemi. La comunicazione con i dispositivi sarebbe inefficiente, perché il programma dovrebbe interrogare ripetutamente ogni dispositivo. Un programma intrappolato per errore in un ciclo infinito, come il j loop della slide, non potrebbe mai essere rimosso. E il sistema operativo avrebbe scarso controllo sulla macchina. Tutti e tre hanno una sola soluzione: un meccanismo per sottrarre il processore al programma in esecuzione.
DA COMPRENDERE OGGI: interruzioni e trap.
Per il docente: Slide di origine: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le interruzioni sono eventi eccezionali, di solito asincroni rispetto al programma in esecuzione, che richiedono l'attenzione del processore. RISC-V distingue tre termini. Un'interruzione nasce fuori dal programma e può arrivare in qualsiasi momento: un timer, un dispositivo. Un'eccezione è causata dall'istruzione in esecuzione: un opcode non valido, un indirizzo vietato. Una trap è il trasferimento del controllo a un gestore, qualunque ne sia la causa. Altre architetture usano queste parole con meno rigore, quindi l'uso di RISC-V conviene adottarlo per la sua chiarezza.
DA COMPRENDERE OGGI: interruzioni e trap.
Per il docente: Interrupt o interruzioni. I processori più vecchi e la presentazione originale chiamano «trap» gli eventi sincroni e usano «interrupt» per tutto; la specifica RISC-V usa le tre parole con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reale. Dopo l'avvio il processore preleva, decodifica ed esegue; poi, al termine di ogni istruzione, verifica se c'è un'interruzione in attesa. Se non ce n'è, torna al prelievo. Se ce n'è una, prende la trap: entra nello stato privilegiato e comincia a eseguire una routine di sistema, il gestore. Quando il gestore termina, il programma sospeso riprende come se nulla fosse accaduto. I due percorsi del diagramma vanno seguiti; il ciclo breve è il caso comune.
DA COMPRENDERE OGGI: interruzioni e trap.
Per il docente: Ciclo del processore reale. In RISC-V lo «stato supervisore» è il modo macchina, e la prima istruzione prelevata dopo la trap è quella all'indirizzo contenuto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cause di interruzione. Un'interruzione periodica da un timer, usata per condividere il processore tra programmi. Un'interruzione di I/O, con cui una periferica segnala di essere pronta. Gli errori di programma, come un'istruzione che non esiste: sono le eccezioni. I guasti di sistema: alimentazione, temperatura. Il reset, che riporta tutto a uno stato noto. E l'interruzione software, con cui un programma chiede un servizio al sistema operativo: in RISC-V, l'istruzione ecall.
DA COMPRENDERE OGGI: interruzioni e trap.
Per il docente: La presentazione originale elenca l'overflow aritmetico tra gli errori di programma: in RISC-V l'overflow intero non solleva eccezioni (Lezione 05). ecall, environment call, è sincrona rispetto al programma che la esegue.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procedura generale in sei passi. Salvare il contesto, parte hardware: come minimo l'indirizzo a cui riprendere. Identificare la causa. Saltare al punto di ingresso della routine di servizio dell'interruzione. Salvare il contesto, parte software: i registri che la routine userà. Servire l'interruzione. Infine ripristinare il contesto e riprendere il programma sospeso all'istruzione successiva all'ultima eseguita. Il contesto è tutto ciò che il programma interrotto ha bisogno di ritrovare invariato, e la sua conservazione è ciò che rende invisibile l'interruzione.
DA COMPRENDERE OGGI: interruzioni e trap.
Per il docente: Gestione delle interruzioni. Lo stato da salvare e ripristinare: PC, stato, e i registri. Il salvataggio si può fare in parte o del tutto in hardware o in software; RISC-V fa il minimo in hardware. Con più dispositivi il processore deve identificare chi ha interrotto e, per richieste simultanee, applicare una priorità.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registri. mtvec, scritto una volta dal firmware, contiene l'indirizzo del gestore delle trap. mstatus contiene MIE, l'abilitazione globale delle interruzioni, e MPIE, il suo valore precedente. mie contiene un bit di abilitazione per sorgente, mip un bit di attesa per sorgente. mepc riceve, a ogni trap, l'indirizzo dell'istruzione interrotta. mcause riceve la causa. La colonna centrale merita attenzione: alcuni registri sono scritti dal firmware per configurare il meccanismo, altri dall'hardware quando avviene una trap.
DA COMPRENDERE OGGI: interruzioni e trap.
Per il docente: Registri di controllo e stato del modo macchina (Lezione 18). Un'interruzione viene accolta solo se il suo bit è a 1 sia in mip sia in mie e MIE vale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azioni dell'hardware a una trap, nell'ordine. Scrive in mepc l'indirizzo dell'istruzione interrotta. Scrive la causa in mcause. Copia MIE in MPIE e azzera MIE, disabilitando ulteriori interruzioni. Entra nel modo macchina. Carica il PC con l'indirizzo contenuto in mtvec. Nulla viene salvato su uno stack: i registri generali sono lasciati al gestore, coerentemente con l'assenza di stato nascosto notata nella Lezione 18. L'istruzione mret, alla fine del gestore, annulla tutto: MIE riprende MPIE e il PC riprende mepc.
DA COMPRENDERE OGGI: interruzioni e trap.
Per il docente: L'hardware non mette nulla su uno stack: il salvataggio dei registri generici è lasciato al gestore. È il «salvataggio hardware del contesto» dello schema generale, ridotto a due registri e un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di mcause. Il bit più alto indica se la trap è stata un'interruzione o un'eccezione; i bit restanti sono un codice. Le tre interruzioni, evidenziate, sono software, timer ed esterna, cioè un dispositivo. Tra le eccezioni ci sono istruzione non valida, breakpoint, errore di accesso in un caricamento o in una memorizzazione, ed ecall. Lo stesso numero può comparire in entrambe le famiglie con significati diversi, ed è per questo che serve il bit più alto. La riga del breakpoint spiega come un debugger come quello di PRG32-QT ferma un programma.
DA COMPRENDERE OGGI: interruzioni e trap.
Per il docente: I codici standard della specifica privilegiata; i chip ne aggiungono di propri. Lo stesso codice 3 significa cose diverse per interruzioni ed eccezioni: le distingue il bit più alto di mcause. Con mtvec in modo vettorizzato, un'interruzione del timer entra a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questo avviene sul kit. Un timer interrompe il processore cento volte al secondo, e il firmware lo usa per tenere il tempo e scandire i frame. Il display e l'audio interrompono quando chiedono altri dati. La radio interrompe quando arriva un pacchetto, ed è per questo che si può caricare una cartuccia mentre un gioco è in esecuzione. Le funzioni init, update e draw sono funzioni ordinarie eseguite tra un'interruzione e l'altra. E una cartuccia bloccata in un ciclo non ferma le interruzioni: PRG32-QT segnala un errore, e sulla scheda un watchdog segnala il blocco.
DA COMPRENDERE OGGI: interruzioni e trap.
Per il docente: I tre problemi del ciclo semplice (I/O inefficiente, programmi fuori controllo, controllo limitato) e la loro soluzione, tutti visibili sul kit. Verificato sui sorgenti e sulla configurazione del firmware (non su una scheda fisica): la cartuccia gira in modo nativo dentro il task principale, nello stesso modo di privilegio del firmware; FreeRTOS ha un tick a 100 Hz; il task watchdog (5 s, sorveglia il task idle) stampa soltanto un avviso sulla porta seriale, perché l'opzione panic è spenta, quindi una cartuccia bloccata trattiene il lock della cartuccia e il kit va resettato. Una cartuccia che disabilitasse le interruzioni farebbe invece scattare l'interrupt watchdog (300 ms), che va in panic e riavvia il chip. Eseguito su PRG32-QT: un ciclo senza fine dà «instruction budget exhausted», una scrittura in mstatus dà «unsupported CSR». In PRG32-QT un breakpoint è l'eccezione con codice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slide dei formati: un campo occupa la stessa posizione in tutte e quattro le righe.
Per la seconda: gli indirizzi contano i byte, e la domanda è quanti byte occupa un'istruzione a 32 bit.
Per il docente: 1. Risposta: B. I bit da 6 a 0, in ogni formato: il processore sa sempre dove guardare per prima cosa.
2. Risposta: C. Gli indirizzi contano i byte e un'istruzione è lunga quattro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sono coinvolti quattro registri: uno contiene l'indirizzo del gestore, uno la causa, uno l'indirizzo a cui riprendere. ra appartiene alle chiamate di procedura, non alle trap.
Per la seconda vale la definizione: un'eccezione è causata dall'istruzione in esecuzione, mentre un'interruzione arriva da fuori in un momento arbitrario. Tre dei quattro eventi nascono fuori dal programma.
Per il docente: 1. Risposta: C. mepc, scritto dall'hardware alla trap e usato da mret. mtvec contiene l'indirizzo del gestore.
2. Risposta: C. È causata dall'istruzione in esecuzione, in modo sincrono; le altre vengono dall'esterno, in un momento qualunque.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L'operation code è il codice operativo; un addressing mode è un modo di indirizzamento. Fetch, decode ed execute sono prelievo, decodifica ed esecuzione. L'interrupt service routine è la routine che serve un'interruzione. La latenza di interruzione è il ritardo tra la richiesta e l'inizio del lavoro utile. Mascherare un'interruzione significa impedirne temporaneamente l'accettazione.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Un'istruzione è un codice operativo con i suoi operandi; in RISC-V è sempre lunga 32 bit, in sei formati regolari, salvo le forme compresse. Una lunghezza fissa mantiene semplice il prelievo: il PC avanza di una costante, 4 per un'istruzione non compressa. Il processore esegue un ciclo: prelievo, decodifica, esecuzione, scrittura del risultato. Gli eventi eccezionali interrompono il ciclo: il processore registra dove si trovava, serve l'evento e riprende. Le interruzioni si possono abilitare, mascherare e ordinare per priorità, e RISC-V ottiene tutto questo con una manciata di registri e mret. La prossima lezione lascia il processore per i bus e la scheda video.
Stato di apprendimento, riepilogo.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 il docente: Le conclusioni originali affermavano che «l'interrupt è un segnale non mascherabile»: la maggior parte delle interruzioni si può mascherare; solo poche no. Prossima lezione: i bus e la scheda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I formati delle istruzioni, il ciclo del processore, e come RISC-V gestisce gli eventi eccezionali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“Perché la CPU non riesce mai a combinare niente? Perché viene interrotta di continuo.”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Battuta anonima sull'architettura dei calcolatori</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un'istruzione come codice operativo e operandi, e nominare i tipi di operando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Decodificare a mano un'istruzione RISC-V, riconoscendone formato e campi</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Seguire un'istruzione nel ciclo del processore: prelievo, decodifica, esecuzione, memoria, scrittura</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una pipeline e perché rende più veloce un processore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interruzioni, eccezioni e trap, ed elencarne le cause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che cosa fa RISC-V quando avviene una trap e come riprende il programma interrotto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 che cosa è fatta un'istruzione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Istruzioni tipiche di un processore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tra memoria e registri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operazioni aritmetiche e logiche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istruzioni per il controllo del flusso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da e verso l'ingresso/uscita</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Un'istruzione è composta da un codice operativo, l'opcode, e da zero o più operandi</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Tipi di operando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costante: un immediato, esplicito o implicito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locazione di memoria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 registro, esplicito o implicito (l'accumulatore)</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istruzioni possono avere zero, uno, due o tre operandi</a:t>
            </a:r>
            <a:endParaRPr lang="en-US" sz="2300" dirty="0"/>
          </a:p>
        </p:txBody>
      </p:sp>
      <p:sp>
        <p:nvSpPr>
          <p:cNvPr id="11" name="Shape 9"/>
          <p:cNvSpPr/>
          <p:nvPr/>
        </p:nvSpPr>
        <p:spPr>
          <a:xfrm>
            <a:off x="7657668" y="91440"/>
            <a:ext cx="3985387" cy="274320"/>
          </a:xfrm>
          <a:prstGeom prst="rect">
            <a:avLst/>
          </a:prstGeom>
          <a:solidFill>
            <a:srgbClr val="E0F2FE"/>
          </a:solidFill>
          <a:ln w="12700">
            <a:solidFill>
              <a:srgbClr val="0369A1"/>
            </a:solidFill>
            <a:prstDash val="solid"/>
          </a:ln>
        </p:spPr>
      </p:sp>
      <p:sp>
        <p:nvSpPr>
          <p:cNvPr id="12" name="Shape 10"/>
          <p:cNvSpPr/>
          <p:nvPr/>
        </p:nvSpPr>
        <p:spPr>
          <a:xfrm>
            <a:off x="7657668"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4" name="Text 1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formati delle istruzioni RISC-V</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da registro a registro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immediati e load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 (sw, sh, sb); B: salti condizionati, con la stessa forma</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immediati alti (lui, auipc); J: salti (jal), con la stessa forma</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Sei formati, tutti di 32 bit. L'opcode sta sempre negli stessi sette bit, e i numeri di registro rd, rs1 e rs2 stanno sempre negli stessi posti: il processore può leggerli prima ancora di sapere di quale istruzione si tratta.</a:t>
            </a:r>
            <a:endParaRPr lang="en-US" sz="1400" dirty="0"/>
          </a:p>
        </p:txBody>
      </p:sp>
      <p:sp>
        <p:nvSpPr>
          <p:cNvPr id="40" name="Shape 38"/>
          <p:cNvSpPr/>
          <p:nvPr/>
        </p:nvSpPr>
        <p:spPr>
          <a:xfrm>
            <a:off x="7657668" y="91440"/>
            <a:ext cx="3985387" cy="274320"/>
          </a:xfrm>
          <a:prstGeom prst="rect">
            <a:avLst/>
          </a:prstGeom>
          <a:solidFill>
            <a:srgbClr val="E0F2FE"/>
          </a:solidFill>
          <a:ln w="12700">
            <a:solidFill>
              <a:srgbClr val="0369A1"/>
            </a:solidFill>
            <a:prstDash val="solid"/>
          </a:ln>
        </p:spPr>
      </p:sp>
      <p:sp>
        <p:nvSpPr>
          <p:cNvPr id="41" name="Shape 39"/>
          <p:cNvSpPr/>
          <p:nvPr/>
        </p:nvSpPr>
        <p:spPr>
          <a:xfrm>
            <a:off x="7657668"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43" name="Text 40"/>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 di indirizzamento: dove si trova un operando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L'operando 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 RISC-V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costante dentro l'istruzione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contenuto di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più scostamento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a registro +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relativo al PC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indirizzo a una certa distanza dall'istruzione stessa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indiretto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il cui indirizzo è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non disponibile: due load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57668" y="91440"/>
            <a:ext cx="3985387" cy="274320"/>
          </a:xfrm>
          <a:prstGeom prst="rect">
            <a:avLst/>
          </a:prstGeom>
          <a:solidFill>
            <a:srgbClr val="E0F2FE"/>
          </a:solidFill>
          <a:ln w="12700">
            <a:solidFill>
              <a:srgbClr val="0369A1"/>
            </a:solidFill>
            <a:prstDash val="solid"/>
          </a:ln>
        </p:spPr>
      </p:sp>
      <p:sp>
        <p:nvSpPr>
          <p:cNvPr id="5" name="Shape 2"/>
          <p:cNvSpPr/>
          <p:nvPr/>
        </p:nvSpPr>
        <p:spPr>
          <a:xfrm>
            <a:off x="765766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7" name="Text 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modi di indirizzamento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fasi del ciclo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Prelievo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l'istruzione all'indirizzo contenuto nel PC viene letta dalla memoria; il PC avanza</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Decodifica</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l'opcode viene riconosciuto; i registri nominati dall'istruzione vengono letti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Esecuzione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la ALU calcola: un risultato, un indirizzo o un confronto</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 load leggono la memoria, gli store la scrivono; le altre saltano questa fase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Scrittura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risultato viene scritto nel registro di destinazione</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Dopo una fase di avvio, il bootstrap, il processore ripete questo ciclo all'infinito. Nei processori con modi di indirizzamento ricchi, una fase di operand assembly raccoglie gli operandi prima dell'esecuzione.</a:t>
            </a:r>
            <a:endParaRPr lang="en-US" sz="2000" dirty="0"/>
          </a:p>
        </p:txBody>
      </p:sp>
      <p:sp>
        <p:nvSpPr>
          <p:cNvPr id="24" name="Shape 22"/>
          <p:cNvSpPr/>
          <p:nvPr/>
        </p:nvSpPr>
        <p:spPr>
          <a:xfrm>
            <a:off x="7723327" y="91440"/>
            <a:ext cx="3919728" cy="274320"/>
          </a:xfrm>
          <a:prstGeom prst="rect">
            <a:avLst/>
          </a:prstGeom>
          <a:solidFill>
            <a:srgbClr val="E0F2FE"/>
          </a:solidFill>
          <a:ln w="12700">
            <a:solidFill>
              <a:srgbClr val="0369A1"/>
            </a:solidFill>
            <a:prstDash val="solid"/>
          </a:ln>
        </p:spPr>
      </p:sp>
      <p:sp>
        <p:nvSpPr>
          <p:cNvPr id="25" name="Shape 23"/>
          <p:cNvSpPr/>
          <p:nvPr/>
        </p:nvSpPr>
        <p:spPr>
          <a:xfrm>
            <a:off x="772332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7" name="Text 2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ciclo di clock</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Cinque fasi, cinque pezzi di hardware: mentre un'istruzione viene eseguita, la successiva viene decodificata e una terza prelevata</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istruzione impiega ancora cinque cicli, ma a ogni ciclo di clock ne termina una: cinque volte la produttività</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processori superscalari affiancano due o più pipeline: più di un'istruzione per ciclo</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core principale dell'ESP32-C6 ha una pipeline a quattro stadi</a:t>
            </a:r>
            <a:endParaRPr lang="en-US" sz="2000" dirty="0"/>
          </a:p>
        </p:txBody>
      </p:sp>
      <p:sp>
        <p:nvSpPr>
          <p:cNvPr id="12"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problema del ciclo semplice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il processore facesse sempre e solo prelievo, decodifica, esecuzione, nascerebbero alcuni problemi</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L'interazione con il mondo esterno attraverso le unità di I/O sarebbe inefficiente: il programma dovrebbe chiedere di continuo</a:t>
            </a:r>
            <a:endParaRPr lang="en-US" sz="2300" dirty="0"/>
          </a:p>
        </p:txBody>
      </p:sp>
      <p:sp>
        <p:nvSpPr>
          <p:cNvPr id="7" name="Shape 5"/>
          <p:cNvSpPr/>
          <p:nvPr/>
        </p:nvSpPr>
        <p:spPr>
          <a:xfrm>
            <a:off x="548640" y="43450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087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Non ci sarebbe modo di rimuovere d'autorità un'applicazione entrata per errore in un ciclo infinito</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sistema operativo avrebbe un controllo limitato sul sistema</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bloccato in un ciclo senza fine: chi gli toglie il processore?</a:t>
            </a:r>
            <a:endParaRPr lang="en-US" sz="1900" dirty="0"/>
          </a:p>
        </p:txBody>
      </p:sp>
      <p:sp>
        <p:nvSpPr>
          <p:cNvPr id="14"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5"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7"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Interruzioni</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Eventi eccezionali, di solito asincroni rispetto all'esecuzione del programma in corso, che richiedono l'attenzione del processore.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Vocabolario RISC-V: un'interruzione (interrupt) viene dall'esterno del programma, in un momento qualunque: un timer, un dispositivo</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Un'eccezione è causata dall'istruzione in esecuzione: un opcode illegale, un indirizzo vietato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trap è il trasferimento del controllo a un gestore che segue l'una o l'altra</a:t>
            </a:r>
            <a:endParaRPr lang="en-US" sz="24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reale del processore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prelievo</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 ed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esecuzione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interruzione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in attesa?</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vai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al gestore</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sì</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Alla fine di ogni istruzione il processore controlla se è arrivato qualche segnale di interruzione</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non ce ne sono, l'elaborazione torna alla fase di prelievo</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ce n'è uno, il processore passa allo stato supervisore e comincia a eseguire una routine del sistema</a:t>
            </a:r>
            <a:endParaRPr lang="en-US" sz="1800" dirty="0"/>
          </a:p>
        </p:txBody>
      </p:sp>
      <p:sp>
        <p:nvSpPr>
          <p:cNvPr id="26" name="Shape 24"/>
          <p:cNvSpPr/>
          <p:nvPr/>
        </p:nvSpPr>
        <p:spPr>
          <a:xfrm>
            <a:off x="7863840" y="5132070"/>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056632"/>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Quando la routine termina, il programma sospeso può riprendere come se nulla fosse accaduto</a:t>
            </a:r>
            <a:endParaRPr lang="en-US" sz="1800" dirty="0"/>
          </a:p>
        </p:txBody>
      </p:sp>
      <p:sp>
        <p:nvSpPr>
          <p:cNvPr id="28" name="Shape 26"/>
          <p:cNvSpPr/>
          <p:nvPr/>
        </p:nvSpPr>
        <p:spPr>
          <a:xfrm>
            <a:off x="7985963" y="91440"/>
            <a:ext cx="3657092" cy="274320"/>
          </a:xfrm>
          <a:prstGeom prst="rect">
            <a:avLst/>
          </a:prstGeom>
          <a:solidFill>
            <a:srgbClr val="E0F2FE"/>
          </a:solidFill>
          <a:ln w="12700">
            <a:solidFill>
              <a:srgbClr val="0369A1"/>
            </a:solidFill>
            <a:prstDash val="solid"/>
          </a:ln>
        </p:spPr>
      </p:sp>
      <p:sp>
        <p:nvSpPr>
          <p:cNvPr id="29" name="Shape 27"/>
          <p:cNvSpPr/>
          <p:nvPr/>
        </p:nvSpPr>
        <p:spPr>
          <a:xfrm>
            <a:off x="7985963"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1" name="Text 28"/>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Possibili cause di interruzione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periodica</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timer, per esempio ogni 10 ms: per ripartire il processore tra i programmi e misurare il tempo usato da ciascuno.</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di I/O</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Una periferica segnala il proprio stato, per esempio che è pronta a ricevere dati, per sincronizzarsi con il processore.</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Errori nel programma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Un'istruzione inesistente o privilegiata, un indirizzo vietato: eventi sincroni, detti eccezioni.</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Guasti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Malfunzionamenti del sistema rilevati da sonde apposite: alimentazione, temperatura, errori di memoria.</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Riporta l'intero sistema a uno stato noto.</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software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Generata da un programma che ha bisogno di una risorsa condivisa e chiede al sistema operativo di fare da tramite: in RISC-V, l'istruzione ecall.</a:t>
            </a:r>
            <a:endParaRPr lang="en-US" sz="1500" dirty="0"/>
          </a:p>
        </p:txBody>
      </p:sp>
      <p:sp>
        <p:nvSpPr>
          <p:cNvPr id="27" name="Shape 25"/>
          <p:cNvSpPr/>
          <p:nvPr/>
        </p:nvSpPr>
        <p:spPr>
          <a:xfrm>
            <a:off x="7985963" y="91440"/>
            <a:ext cx="3657092" cy="274320"/>
          </a:xfrm>
          <a:prstGeom prst="rect">
            <a:avLst/>
          </a:prstGeom>
          <a:solidFill>
            <a:srgbClr val="E0F2FE"/>
          </a:solidFill>
          <a:ln w="12700">
            <a:solidFill>
              <a:srgbClr val="0369A1"/>
            </a:solidFill>
            <a:prstDash val="solid"/>
          </a:ln>
        </p:spPr>
      </p:sp>
      <p:sp>
        <p:nvSpPr>
          <p:cNvPr id="28" name="Shape 26"/>
          <p:cNvSpPr/>
          <p:nvPr/>
        </p:nvSpPr>
        <p:spPr>
          <a:xfrm>
            <a:off x="798596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0" name="Text 2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Gestire un'interruzione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hardware: almeno l'indirizzo da cui riprendere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Identificare la causa dell'interruzione</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Saltare al punto d'ingresso della routine di servizio dell'interruzione (ISR)</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software: i registri che la routine sta per usare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Servire l'interruzione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 l'interruzione lo consente: ripristinare il contesto, e riprendere il programma sospeso dall'istruzione che segue l'ultima eseguita</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del meccanismo delle trap</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CSR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Scritto da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Contenuto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mtvec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una volta, all'avvio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 gestore delle trap, e se si usa il modo vettorizzato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mstatus</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hardware e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MIE, l'abilitazione globale delle interruzioni, e MPIE, il suo valore precedente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abilitazione per ogni sorgente: software, timer, esterna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richiesta in attesa per ogni sorgente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mepc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interrotta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mcause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che dice interruzione o eccezione, e un codice per la causa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l'hardware a una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l'indirizzo dell'istruzione interrotta</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la causa: bit più alto 1 per un'interruzione, 0 per un'eccezione, più un codice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poi MIE := 0, così le altre interruzioni sono disabilitate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processore passa al modo macchina</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l'indirizzo in mtvec, oppure, in modo vettorizzato e per le interruzioni, quell'indirizzo più 4 volte la causa</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alla fine del gestore, annulla tutto: MIE := MPIE e PC := mepc</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causa di una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Codice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Causa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software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del timer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esterna di macchina: un dispositivo, tramite il controllore delle interruzioni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istruzione illegale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breakpoint (ebreak): così un debugger ferma un programma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5, 7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errore di accesso in load o store: un indirizzo vietato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8, 11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environment call (ecall) dal modo utente, dal modo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interruzioni sul kit PRG32</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timer interrompe il processore cento volte al secondo: il firmware lo usa per tenere il tempo e cadenzare i frame</a:t>
            </a:r>
            <a:endParaRPr lang="en-US" sz="18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594"/>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periferiche di display e audio interrompono quando un blocco di dati è stato inviato e serve il successivo</a:t>
            </a:r>
            <a:endParaRPr lang="en-US" sz="1800" dirty="0"/>
          </a:p>
        </p:txBody>
      </p:sp>
      <p:sp>
        <p:nvSpPr>
          <p:cNvPr id="7" name="Shape 5"/>
          <p:cNvSpPr/>
          <p:nvPr/>
        </p:nvSpPr>
        <p:spPr>
          <a:xfrm>
            <a:off x="548640" y="33124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radio Wi-Fi interrompe quando arriva un pacchetto: si può caricare una cartuccia mentre un gioco è in esecuzione</a:t>
            </a:r>
            <a:endParaRPr lang="en-US" sz="1800" dirty="0"/>
          </a:p>
        </p:txBody>
      </p:sp>
      <p:sp>
        <p:nvSpPr>
          <p:cNvPr id="9" name="Shape 7"/>
          <p:cNvSpPr/>
          <p:nvPr/>
        </p:nvSpPr>
        <p:spPr>
          <a:xfrm>
            <a:off x="548640" y="4361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8625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vostre init, update e draw sono normali funzioni chiamate dal firmware tra un'interruzione e la successiva</a:t>
            </a:r>
            <a:endParaRPr lang="en-US" sz="1800" dirty="0"/>
          </a:p>
        </p:txBody>
      </p:sp>
      <p:sp>
        <p:nvSpPr>
          <p:cNvPr id="11" name="Shape 9"/>
          <p:cNvSpPr/>
          <p:nvPr/>
        </p:nvSpPr>
        <p:spPr>
          <a:xfrm>
            <a:off x="548640" y="513207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cartuccia bloccata in un ciclo non ferma le interruzioni: PRG32-QT chiude il frame con un errore; sulla scheda un watchdog segnala lo stallo, e premete reset</a:t>
            </a:r>
            <a:endParaRPr lang="en-US" sz="18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PRG32</a:t>
            </a:r>
            <a:endParaRPr lang="en-US" sz="1200" dirty="0"/>
          </a:p>
        </p:txBody>
      </p:sp>
      <p:sp>
        <p:nvSpPr>
          <p:cNvPr id="15"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13979" y="128016"/>
            <a:ext cx="201168" cy="201168"/>
          </a:xfrm>
          <a:prstGeom prst="rect">
            <a:avLst/>
          </a:prstGeom>
        </p:spPr>
      </p:pic>
      <p:sp>
        <p:nvSpPr>
          <p:cNvPr id="18"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quali bit di un'istruzione RISC-V sta l'opcode?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più significativi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meno significativi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da 14 a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dipende dal formato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Durante il prelievo di un'istruzione RV32 non compressa, il PC viene incrementato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contiene l'indirizzo da cui riprenderà un programma RISC-V interrotto?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di questi è un'eccezione e non un'interruzione, nei termini di RISC-V?</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scade un timer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premuto un tasto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prelevata un'istruzione illegale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arriva un pacchetto dalla rete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Un'istruzione è un codice operativo e zero, uno o più operandi; in RISC-V è sempre di 32 bit, in sei formati regolari</a:t>
            </a:r>
            <a:endParaRPr lang="en-US" sz="1800" dirty="0"/>
          </a:p>
        </p:txBody>
      </p:sp>
      <p:sp>
        <p:nvSpPr>
          <p:cNvPr id="5" name="Shape 3"/>
          <p:cNvSpPr/>
          <p:nvPr/>
        </p:nvSpPr>
        <p:spPr>
          <a:xfrm>
            <a:off x="548640" y="22265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112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lunghezza fissa rende semplice il prelievo: il PC avanza di una costante, 4 per un'istruzione non compressa</a:t>
            </a:r>
            <a:endParaRPr lang="en-US" sz="1800" dirty="0"/>
          </a:p>
        </p:txBody>
      </p:sp>
      <p:sp>
        <p:nvSpPr>
          <p:cNvPr id="7" name="Shape 5"/>
          <p:cNvSpPr/>
          <p:nvPr/>
        </p:nvSpPr>
        <p:spPr>
          <a:xfrm>
            <a:off x="548640" y="29603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8493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processore ha un ciclo: preleva un'istruzione, la decodifica, la esegue, e scrive il risultato</a:t>
            </a:r>
            <a:endParaRPr lang="en-US" sz="1800" dirty="0"/>
          </a:p>
        </p:txBody>
      </p:sp>
      <p:sp>
        <p:nvSpPr>
          <p:cNvPr id="9" name="Shape 7"/>
          <p:cNvSpPr/>
          <p:nvPr/>
        </p:nvSpPr>
        <p:spPr>
          <a:xfrm>
            <a:off x="548640" y="369417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1873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Gli eventi eccezionali spezzano il ciclo: il processore salva dov'era, serve l'evento e riprende</a:t>
            </a:r>
            <a:endParaRPr lang="en-US" sz="1800" dirty="0"/>
          </a:p>
        </p:txBody>
      </p:sp>
      <p:sp>
        <p:nvSpPr>
          <p:cNvPr id="11" name="Shape 9"/>
          <p:cNvSpPr/>
          <p:nvPr/>
        </p:nvSpPr>
        <p:spPr>
          <a:xfrm>
            <a:off x="548640" y="442798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5254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interruzioni si possono abilitare, mascherare e ordinare per priorità; RISC-V lo fa con una manciata di registri e l'istruzione mret</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2.5, 4.1-4.6 e 4.10</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4: PRG32-QT e il suo debugger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dc:title>
  <dc:subject>Lezione 19</dc:subject>
  <dc:creator>Raffaele Montella</dc:creator>
  <cp:lastModifiedBy>Raffaele Montella</cp:lastModifiedBy>
  <cp:revision>1</cp:revision>
  <dcterms:created xsi:type="dcterms:W3CDTF">2026-10-16T23:36:45Z</dcterms:created>
  <dcterms:modified xsi:type="dcterms:W3CDTF">2026-10-16T23:36:45Z</dcterms:modified>
</cp:coreProperties>
</file>