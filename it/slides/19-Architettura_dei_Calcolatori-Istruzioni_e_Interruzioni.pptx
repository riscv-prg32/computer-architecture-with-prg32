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0eaaf5af-a96a-2139-765e-5b6fbeb00a3c}">
          <p14:sldIdLst>
            <p14:sldId id="256"/>
            <p14:sldId id="257"/>
          </p14:sldIdLst>
        </p14:section>
        <p14:section name="Riscaldamento sulla macchina" id="{b2a7da6a-678e-0c29-0780-077c680483ff}">
          <p14:sldIdLst>
            <p14:sldId id="258"/>
            <p14:sldId id="259"/>
          </p14:sldIdLst>
        </p14:section>
        <p14:section name="Istruzioni" id="{e41d1509-08b6-1898-4044-8fd588ac445a}">
          <p14:sldIdLst>
            <p14:sldId id="260"/>
            <p14:sldId id="261"/>
            <p14:sldId id="262"/>
            <p14:sldId id="263"/>
            <p14:sldId id="264"/>
            <p14:sldId id="265"/>
          </p14:sldIdLst>
        </p14:section>
        <p14:section name="Il ciclo del processore" id="{a11474b3-4201-7519-fca5-cf35d05b72b0}">
          <p14:sldIdLst>
            <p14:sldId id="266"/>
            <p14:sldId id="267"/>
            <p14:sldId id="268"/>
            <p14:sldId id="269"/>
            <p14:sldId id="270"/>
          </p14:sldIdLst>
        </p14:section>
        <p14:section name="Interruzioni" id="{9cd99a6f-46ba-4809-3382-8ac26f576282}">
          <p14:sldIdLst>
            <p14:sldId id="271"/>
            <p14:sldId id="272"/>
            <p14:sldId id="273"/>
            <p14:sldId id="274"/>
            <p14:sldId id="275"/>
            <p14:sldId id="276"/>
            <p14:sldId id="277"/>
          </p14:sldIdLst>
        </p14:section>
        <p14:section name="La soluzione di RISC-V" id="{01196d0a-b7c1-c5a4-e4fd-090225b82fa6}">
          <p14:sldIdLst>
            <p14:sldId id="278"/>
            <p14:sldId id="279"/>
            <p14:sldId id="280"/>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lezione precedente ha descritto di che cosa è fatto un processore. Questa descrive che cosa fa. Ha due metà. La prima segue una singola istruzione: come è codificata in 32 bit e quali passi compie il processore per eseguirla. La seconda spiega che cosa succede quando arriva qualcosa di più urgente del programma in corso, un timer, un dispositivo, un errore, e il processore deve lasciare ciò che sta facendo e tornarci dopo. La battuta in copertina è quasi vera, come vedrete.
Per il docente: La presentazione originale usava una macchina a parole di 16 bit per la fase di fetch e il Motorola MC68000 per interruzioni vettorizzate e priorità. Entrambi sono sostituiti da RISC-V: i sei formati di istruzione, i cinque stadi classici, e il meccanismo delle trap in modo macchina (mtvec, mepc, mcause, mstatus, mret). Una slide di confronto conserva il 68000 come controparte storica.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obiettivi. Descrivere un'istruzione come codice operativo con operandi. Decodificare a mano un'istruzione RISC-V. Seguire un'istruzione nelle cinque fasi del ciclo del processore. Spiegare che cos'è una pipeline e perché accelera un processore. Definire interruzione, eccezione e trap, tre parole che RISC-V usa con precisione. E descrivere che cosa fa l'hardware a una trap e come riprende il programma interrotto.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riscaldamento mostra una funzione che avete scritto nella Lezione 02, come la vede il processore: niente nomi, niente mnemonici, solo numeri in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Quattro parole di memoria, a quattro indirizzi di distanza: è first_update, la funzione che incrementa un contatore. A sinistra gli indirizzi, al centro il codice macchina, a destra ciò che avete scritto. Il processore ha soltanto la colonna centrale. Tre domande organizzano la lezione. Come fa a sapere che la prima parola è un caricamento e la seconda una somma? Quali passi compie per ciascuna? E mentre le esegue, come si accorge che è stato premuto un pulsante o che è scaduto un timer?
Per il docente: La la che precede queste istruzioni è omessa, e le codifiche sono quelle non compresse a 32 bit: con l'estensione C l'assemblatore può scegliere per alcune le forme a 16 bit. Gli indirizzi sono relativi all'inizio della funzione.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parte: che cos'è un'istruzione, come la codifica RISC-V, e dove si possono trovare gli operandi.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processore ha quattro famiglie di istruzioni: trasferimenti tra memoria e registri, aritmetica e logica, controllo del flusso, ingresso/uscita. Un'istruzione è un codice operativo, l'opcode, che dice che cosa fare, seguito da zero o più operandi, che dicono su che cosa. Un operando può essere una costante scritta dentro l'istruzione, un immediato; una locazione di memoria; oppure un registro. Alcuni operandi sono impliciti: una macchina ad accumulatore non nomina l'accumulatore. Le istruzioni hanno da zero a tre operandi.
Per il docente: In RISC-V la quarta famiglia non esiste come tale: i dispositivi sono memoria (Lezione 15). add ha tre operandi, tutti registri; ret non ne ha di visibili.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formati di RISC-V. Tutte le istruzioni sono lunghe 32 bit, divisi in campi. Nel formato R, per le operazioni tra registri, ci sono tre numeri di registro di cinque bit, rs1, rs2 e rd, e tre campi che selezionano l'operazione. Nel formato I il secondo registro sorgente è sostituito da un immediato di 12 bit. S e B, per store e salti condizionati, spezzano l'immediato in due parti. U e J portano un immediato di 20 bit. Notate la regolarità: l'opcode sta sempre nei sette bit più bassi, e i registri sempre nelle stesse posizioni.
Per il docente: Bit da 31 a 0, da sinistra a destra (indici mostrati sulla prima riga). B e J differiscono da S e U solo per come sono disposti i bit dell'immediato. Questa regolarità è il cuore dell'idea RISC; i formati generici a 0, 1, 2 e 3 operandi della presentazione originale ne sono gli antenati.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istruzioni decodificate a mano. Si scrivono in binario le otto cifre esadecimali; si staccano gli ultimi sette bit, l'opcode, che dice il formato; poi si tagliano i campi rimanenti. Per 0x006283B3 l'opcode dice da registro a registro, i campi danno x7, x5 e x6, e funct3 con funct7 dicono somma: add t2, t0, t1. Per 0x0002A303 l'opcode dice load, l'immediato è 0, la base è x5, la destinazione x6: lw t1, 0(t0). Fatelo una volta con carta e matita.
Per il docente: Metodo: scrivere in binario le otto cifre esadecimali, staccare gli ultimi sette bit (l'opcode), cercare il formato, poi tagliare i campi. I decodificatori della Lezione 11 fanno la stessa cosa in una frazione di nanosecondo.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istruzioni possono essere di lunghezza fissa o variabile. Con una lunghezza fissa ogni istruzione ha lo stesso numero di bit, la successiva è sempre a PC più una costante, e prelievo e decodifica sono semplici: è la scelta RISC. Con una lunghezza variabile il processore scopre quanto è lunga un'istruzione solo dopo averne decodificato la prima parte: i programmi sono più compatti, la decodifica più difficile; è la scelta CISC. RISC-V con l'estensione compressa mescola 16 e 32 bit, e i due bit più bassi li distinguono.
Per il docente: Lunghezza fissa (calcolatore a voci) e variabile (calcolatore a byte). La lunghezza dell'istruzione decide di quanto avanza il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modo di indirizzamento è un modo di trovare un operando. RISC-V ne ha quattro. Immediato: l'operando è una costante dentro l'istruzione. Registro: è il contenuto di un registro. Base più scostamento: è la parola di memoria all'indirizzo dato da un registro più una costante, l'unico modo di raggiungere la memoria. Relativo al PC: un indirizzo a una certa distanza dall'istruzione stessa, usato dai salti. L'indirizzamento indiretto in memoria, in cui l'indirizzo stesso sta in memoria, non esiste: richiede due load.
Per il docente: RISC-V ha solo i primi quattro. Un processore CISC come l'MC68000 ne ha una dozzina, compresi i modi indiretti in memoria e con autoincremento. L'esempio della presentazione originale, R3 := M[M[A]], in RISC-V diventa: lw t0, 0(t1) seguita da lw t0, 0(t0). La fase di «operand assembly» di un processore CISC è il prezzo dei modi di indirizzamento ricchi.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seconda parte: il ciclo, l'algoritmo che il processore ripete per ogni istruzione, dal momento in cui viene acceso.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fasi. Prelievo (fetch): l'istruzione all'indirizzo contenuto nel PC viene letta dalla memoria, e il PC avanza. Decodifica: l'opcode viene riconosciuto e i registri nominati nell'istruzione vengono letti. Esecuzione: la ALU calcola un risultato, un indirizzo o un confronto. Memoria: i load leggono la memoria, gli store la scrivono, le altre istruzioni qui non fanno nulla. Scrittura (write back): il risultato viene scritto nel registro di destinazione. Dopo il bootstrap iniziale, il processore ripete questo ciclo all'infinito.
Per il docente: Algoritmo fondamentale del processore: inizializzazione, instruction fetch and decoding, operand assembly, execute. La versione a cinque fasi è la formulazione RISC classica. In inglese: fetch, decode, execute, memory, write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fase di prelievo in quattro trasferimenti tra registri, con i registri del modello della Lezione 18. Il contenuto del PC va in MA, il registro degli indirizzi di memoria. La memoria viene letta e la parola arriva in MB, il buffer. La parola viene copiata in D, il registro di decodifica. Il PC viene incrementato di 4, perché un'istruzione occupa quattro byte, così punta alla successiva. Ogni riga è un trasferimento sul bus interno, comandato dall'unità di controllo.
Per il docente: Fase fetch. PC, D, MA e MB sono i registri del modello di riferimento della Lezione 18; i trasferimenti viaggiano sul bus interno. Nella presentazione originale la macchina aveva parole di 16 bit e il PC avanzava di 2; in RV32 una parola è di quattro byte, quindi il PC avanza di 4 (di 2 dopo un'istruzione compressa).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altre quattro fasi, affiancate per due istruzioni. Per add, la decodifica legge i due registri nei registri operando della ALU, l'esecuzione li somma, la fase di memoria viene saltata, e la somma viene scritta in t2. Per lw, il secondo operando è l'immediato, la somma è un indirizzo, la fase di memoria legge la parola a quell'indirizzo, e la parola letta viene scritta in t1. Lo stesso sommatore serve a entrambe: cambiano solo i comandi dell'unità di controllo.
Per il docente: O1, O2 e U sono i registri della ALU. Lo stesso sommatore calcola una somma per add e un indirizzo per lw: cambiano solo i segnali di controllo. Uno store finisce alla fase di memoria; un salto condizionato finisce all'esecuzione, scegliendo il prossimo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ogni fase ha il proprio hardware, le fasi di istruzioni diverse possono sovrapporsi. Nella tabella ogni riga è un'istruzione e ogni colonna un ciclo di clock: mentre la prima istruzione è in esecuzione, la seconda viene decodificata e la terza prelevata. Ogni istruzione impiega ancora cinque cicli, ma a ogni ciclo ne termina una: è la pipeline, la stessa idea di una catena di montaggio. I processori superscalari affiancano più pipeline. Il core principale del kit ha una pipeline a quattro stadi.
Per il docente: Slide di origine: «Esempio di pipeline lineare a 5 stadi; superscalarità». IF instruction fetch (prelievo), ID decode (decodifica), EX execute (esecuzione), MEM memory (memoria), WB write back (scrittura). I salti e le dipendenze tra istruzioni vicine complicano il quadro (hazard): è l'argomento di un corso avanzato.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terza parte: il ciclo descritto finora non guarda mai il mondo esterno. Le interruzioni sono il meccanismo che glielo fa 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processore che facesse solo prelievo, decodifica ed esecuzione avrebbe tre problemi. La comunicazione con i dispositivi sarebbe inefficiente: il programma dovrebbe chiedere di continuo a ogni dispositivo se ha qualcosa da dire. Un programma entrato per errore in un ciclo senza fine, come il j loop della slide, non potrebbe mai essere rimosso. E il sistema operativo avrebbe poco controllo sulla macchina. Tutti e tre hanno la stessa soluzione: un modo per togliere il processore al programma in esecuzione.
Per il docente: Slide di origine: «Ciclo del processore semplificato»: bootstrap, fetch, operand assembly,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definizione: le interruzioni sono eventi eccezionali, di solito asincroni rispetto al programma in esecuzione, che richiedono l'attenzione del processore. RISC-V usa tre parole distinte. Un'interruzione (interrupt) viene dall'esterno del programma, in un momento qualunque: un timer, un dispositivo. Un'eccezione è causata dall'istruzione in esecuzione: un opcode illegale, un indirizzo vietato. Una trap è il trasferimento del controllo a un gestore, qualunque ne sia la causa. Altri processori usano queste parole con meno rigore.
Per il docente: Interrupt o interruzioni. I processori più vecchi e la presentazione originale chiamano «trap» gli eventi sincroni e usano «interrupt» per tutto; la specifica RISC-V usa le tre parole con precisione.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ciclo reale. Dopo il bootstrap il processore preleva, decodifica ed esegue; poi, alla fine di ogni istruzione, controlla se c'è un'interruzione in attesa. Se no, torna al prelievo. Se sì, accoglie la trap: passa allo stato privilegiato e comincia a eseguire una routine del sistema, il gestore. Quando il gestore termina, il programma sospeso riprende come se nulla fosse accaduto. Seguite i due percorsi sul diagramma: l'anello corto è il caso normale.
Per il docente: Ciclo del processore reale. In RISC-V lo «stato supervisore» è il modo macchina, e la prima istruzione prelevata dopo la trap è quella all'indirizzo contenuto in mtvec.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cause di interruzione. Un'interruzione periodica da un timer, per ripartire il processore tra i programmi. Un'interruzione di I/O, con cui una periferica segnala di essere pronta. Gli errori nel programma, come un'istruzione inesistente: sono le eccezioni. I guasti del sistema: alimentazione, temperatura. Il reset, che riporta tutto a uno stato noto. E l'interruzione software, con cui un programma chiede un servizio al sistema operativo: in RISC-V è l'istruzione ecall.
Per il docente: La presentazione originale elenca l'overflow aritmetico tra gli errori di programma: in RISC-V l'overflow intero non solleva eccezioni (Lezione 05). ecall, environment call, è sincrona rispetto al programma che la esegue.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procedura generale in sei passi. Salvare il contesto, parte hardware: almeno l'indirizzo da cui riprendere. Identificare la causa. Saltare al punto d'ingresso della routine di servizio dell'interruzione. Salvare il contesto, parte software: i registri che la routine sta per usare. Servire l'interruzione. Infine ripristinare il contesto e riprendere il programma sospeso dall'istruzione successiva all'ultima eseguita. Il contesto è tutto ciò che il programma interrotto deve ritrovare immutato.
Per il docente: Gestione delle interruzioni. Lo stato da salvare e ripristinare: PC, stato, e i registri. Il salvataggio si può fare in parte o del tutto in hardware o in software; RISC-V fa il minimo in hardware. Con più dispositivi il processore deve identificare chi ha interrotto e, per richieste simultanee, applicare una priorità.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più dispositivi, chi ha interrotto? Due soluzioni. Con l'interrogazione ciclica (polling) ogni dispositivo ha un registro di stato; la routine di servizio interroga i dispositivi in ordine di priorità e serve il primo che ha il bit a 1. È semplice, ma spreca tempo su dispositivi che non hanno chiesto nulla. Con le interruzioni vettorizzate la sorgente fornisce la propria identità insieme alla richiesta, e il processore salta direttamente alla routine corrispondente. È efficiente, e il numero di bit del vettore limita il numero di sorgenti.
Per il docente: Interrogazione ciclica (polling) e interrupt vettorizzati. Latenza di interruzione: il ritardo tra l'istante in cui la linea di richiesta va alta e l'istante in cui la routine di servizio comincia a fare lavoro utile; comprende la fine dell'istruzione in corso, il controllo, la commutazione.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le stesse idee come le realizza RISC-V: pochi registri di controllo e stato e un'istruzione.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 registri. mtvec, scritto una volta dal firmware, contiene l'indirizzo del gestore delle trap. mstatus contiene MIE, l'abilitazione globale delle interruzioni, e MPIE, il suo valore precedente. mie ha un bit di abilitazione per ogni sorgente, mip un bit di richiesta in attesa per ogni sorgente. mepc riceve, a ogni trap, l'indirizzo dell'istruzione interrotta. mcause riceve la causa. La colonna centrale è importante: alcuni registri li scrive il firmware per configurare il meccanismo, altri l'hardware quando avviene una trap.
Per il docente: Registri di controllo e stato del modo macchina (Lezione 18). Un'interruzione viene accolta solo se il suo bit è a 1 sia in mip sia in mie e MIE vale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fa l'hardware a una trap, in ordine. Scrive in mepc l'indirizzo dell'istruzione interrotta. Scrive la causa in mcause. Copia MIE in MPIE e azzera MIE, così le altre interruzioni sono disabilitate. Passa al modo macchina. Carica nel PC l'indirizzo contenuto in mtvec. Nulla viene salvato su uno stack: i registri generici sono lasciati al gestore. L'istruzione mret, alla fine del gestore, annulla tutto: MIE riprende il valore di MPIE e il PC quello di mepc.
Per il docente: L'hardware non mette nulla su uno stack: il salvataggio dei registri generici è lasciato al gestore. È il «salvataggio hardware del contesto» dello schema generale, ridotto a due registri e un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di mcause. Il bit più alto dice se è stata un'interruzione o un'eccezione; il resto è un codice. Le tre interruzioni, evidenziate: software, timer, ed esterna, cioè un dispositivo. Tra le eccezioni: istruzione illegale, breakpoint, errore di accesso in un load o in uno store, ed ecall. Lo stesso numero può comparire in entrambe le famiglie con significati diversi, ed è per questo che serve il bit più alto. La riga del breakpoint spiega come un debugger, per esempio quello di PRG32-QT, ferma il vostro programma.
Per il docente: I codici standard della specifica privilegiata; i chip ne aggiungono di propri. Lo stesso codice 3 significa cose diverse per interruzioni ed eccezioni: le distingue il bit più alto di mcause. Con mtvec in modo vettorizzato, un'interruzione del timer entra a base + 4 x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gestore per sommi capi. Fa spazio sullo stack e salva i registri che sta per usare: la parte software del contesto. Legge mcause con csrr e ne esamina il segno: il bit più alto è il bit di segno, quindi bgez separa le eccezioni dalle interruzioni con una sola istruzione. Dopo aver servito l'evento ripristina i registri, rilascia lo stack ed esegue mret. Il programma interrotto non deve accorgersi di nulla: un registro lasciato sporco qui è un errore che compare a caso, ovunque.
Per il docente: Uno schema, non il sorgente di PRG32: un gestore vero salva tutti i registri caller-saved, di solito su uno stack separato raggiunto tramite mscratch. csrr t0, mcause è la pseudo-istruzione per csrrs t0, mcause,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priorità, in due processori. Quando arriva una richiesta mentre se ne sta servendo un'altra serve una regola: si accettano solo richieste di priorità più alta. Il Motorola 68000 codifica il livello di una richiesta su tre linee e lo confronta con una maschera nel registro di stato; il livello 7 non si può mascherare. RISC-V delega le priorità a un controllore delle interruzioni con una soglia, e in partenza disabilita tutte le interruzioni durante un gestore. Servire un'interruzione dentro un'altra si chiama annidamento. Le ultime righe confrontano come si identifica la sorgente e come si ritorna.
Per il docente: Per gestire interruzioni annidate si stabilisce un livello di priorità: mentre gira una routine di servizio si accettano solo richieste da dispositivi di priorità più alta; una richiesta da un dispositivo ad alta priorità, come il clock, va accettata anche mentre se ne serve una di priorità più bassa. Questa slide sostituisce le tre slide «Gestione delle priorità nel 68000». La colonna RISC-V descrive il controllore delle interruzioni a livello di piattaforma; sui chip Espressif le priorità vanno da 1 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Tutto questo succede sul kit. Un timer interrompe il processore cento volte al secondo, e il firmware lo usa per tenere il tempo e cadenzare i frame. Il display e l'audio interrompono quando vogliono altri dati. La radio interrompe quando arriva un pacchetto, ed è per questo che potete caricare una cartuccia mentre un gioco è in esecuzione. Le vostre init, update e draw sono normali funzioni che girano tra un'interruzione e l'altra. E una cartuccia bloccata in un ciclo non ferma le interruzioni: PRG32-QT segnala un errore; sulla scheda un watchdog segnala lo stallo.
Per il docente: I tre problemi del ciclo semplice (I/O inefficiente, programmi fuori controllo, controllo limitato) e la loro soluzione, tutti visibili sul kit. Verificato sui sorgenti e sulla configurazione del firmware (non su una scheda fisica): la cartuccia gira in modo nativo dentro il task principale, nello stesso modo di privilegio del firmware; FreeRTOS ha un tick a 100 Hz; il task watchdog (5 s, sorveglia il task idle) stampa soltanto un avviso sulla porta seriale, perché l'opzione panic è spenta, quindi una cartuccia bloccata trattiene il lock della cartuccia e il kit va resettato. Una cartuccia che disabilitasse le interruzioni farebbe invece scattare l'interrupt watchdog (300 ms), che va in panic e riavvia il chip. Eseguito su PRG32-QT: un ciclo senza fine dà «instruction budget exhausted», una scrittura in mstatus dà «unsupported CSR». In PRG32-QT un breakpoint è l'eccezione con codice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Riguardate la slide dei formati: un campo sta nello stesso posto in tutte e quattro le righe.
Per il docente: Risposta: B. I bit da 6 a 0, in ogni formato: il processore sa sempre dove guardare per prima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indirizzi contano i byte. Quanti byte occupa un'istruzione di 32 bit?
Per il docente: Risposta: C. Gli indirizzi contano i byte e un'istruzione è lunga quattro byte.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Sono in gioco quattro registri: uno contiene l'indirizzo del gestore, uno la causa, uno l'indirizzo da cui riprendere. ra appartiene alle chiamate di funzione, non alle trap.
Per il docente: Risposta: C. mepc, scritto dall'hardware alla trap e usato da mret. mtvec contiene l'indirizzo del gestore.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Usate la definizione: un'eccezione è causata dall'istruzione in esecuzione, un'interruzione viene dall'esterno in un momento arbitrario. Tre dei quattro eventi vengono dall'esterno.
Per il docente: Risposta: C. È causata dall'istruzione in esecuzione, in modo sincrono; le altre vengono dall'esterno, in un momento qualunque.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Decodificate a mano due parole, con formato, campi e assembly. Codificate sub t0, t1, t2 e sw a0, 8(sp): il percorso inverso. Scrivete i trasferimenti tra registri dell'intero ciclo per uno store e per un salto condizionato. Disegnate il diagramma della pipeline di sei istruzioni su quattro stadi e dite quando termina la sesta. E in PRG32-QT fermatevi in first_update, avanzate di un passo, e confrontate il codice macchina mostrato con la vostra decodifica del riscaldamento.
Per il docente: 0x00A28293: imm 10, rs1 x5, funct3 000, rd x5, opcode 0010011. 0x40628333: funct7 0100000, rs2 x6, rs1 x5, funct3 000, rd x6, opcode 0110011. sub t0, t1, t2 = 0x407302B3. sw a0, 8(sp) = 0x00A12423. Sei istruzioni su quattro stadi terminano al ciclo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Dodici termini. Operation code è il codice operativo; addressing mode è il modo di indirizzamento. Fetch, decode ed execute sono prelievo, decodifica ed esecuzione. La interrupt service routine è la routine che serve un'interruzione. La interrupt latency, latenza di interruzione, è il ritardo tra la richiesta e l'inizio del lavoro utile. To mask, mascherare un'interruzione, significa impedire temporaneamente che venga accolta.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conclusioni. Un'istruzione è un codice operativo con i suoi operandi; in RISC-V sempre 32 bit in sei formati regolari. La lunghezza delle istruzioni determina come si muove il PC. Il processore ha un ciclo: preleva, decodifica, esegue, scrive il risultato. Gli eventi eccezionali spezzano il ciclo: il processore salva dov'era, serve l'evento e riprende. Le interruzioni si possono abilitare, mascherare e ordinare per priorità, e RISC-V lo fa con una manciata di registri e mret. La prossima lezione lascia il processore per i bus e la scheda video.
Per il docente: Le conclusioni originali affermavano che «l'interrupt è un segnale non mascherabile»: la maggior parte delle interruzioni si può mascherare; solo poche no. Prossima lezione: i bus e la scheda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19: Istruzioni e interruzioni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Istruzioni e interruzioni</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I formati delle istruzioni, il ciclo del processore, e come RISC-V gestisce gli eventi eccezionali</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“Perché la CPU non riesce mai a combinare niente? Perché viene interrotta di continuo.”</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Battuta anonima sull'architettura dei calcolatori</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asteroids.png">    </p:cNvPr>
          <p:cNvPicPr>
            <a:picLocks noChangeAspect="1"/>
          </p:cNvPicPr>
          <p:nvPr/>
        </p:nvPicPr>
        <p:blipFill>
          <a:blip r:embed="rId1"/>
          <a:stretch>
            <a:fillRect/>
          </a:stretch>
        </p:blipFill>
        <p:spPr>
          <a:xfrm>
            <a:off x="8915095" y="4251960"/>
            <a:ext cx="2438400"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saprete fare alla fine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un'istruzione come codice operativo e operandi, e nominare i tipi di operando</a:t>
            </a:r>
            <a:endParaRPr lang="en-US" sz="2200" dirty="0"/>
          </a:p>
        </p:txBody>
      </p:sp>
      <p:sp>
        <p:nvSpPr>
          <p:cNvPr id="5" name="Text 3"/>
          <p:cNvSpPr txBox="1"/>
          <p:nvPr/>
        </p:nvSpPr>
        <p:spPr>
          <a:xfrm>
            <a:off x="548640" y="239593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77643"/>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Decodificare a mano un'istruzione RISC-V, riconoscendone formato e campi</a:t>
            </a:r>
            <a:endParaRPr lang="en-US" sz="2200" dirty="0"/>
          </a:p>
        </p:txBody>
      </p:sp>
      <p:sp>
        <p:nvSpPr>
          <p:cNvPr id="7" name="Text 5"/>
          <p:cNvSpPr txBox="1"/>
          <p:nvPr/>
        </p:nvSpPr>
        <p:spPr>
          <a:xfrm>
            <a:off x="548640" y="31134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9514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Seguire un'istruzione nel ciclo del processore: prelievo, decodifica, esecuzione, memoria, scrittura</a:t>
            </a:r>
            <a:endParaRPr lang="en-US" sz="2200" dirty="0"/>
          </a:p>
        </p:txBody>
      </p:sp>
      <p:sp>
        <p:nvSpPr>
          <p:cNvPr id="9" name="Text 7"/>
          <p:cNvSpPr txBox="1"/>
          <p:nvPr/>
        </p:nvSpPr>
        <p:spPr>
          <a:xfrm>
            <a:off x="548640" y="407375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05546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Spiegare che cos'è una pipeline e perché rende più veloce un processore</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Definire interruzioni, eccezioni e trap, ed elencarne le cause</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Descrivere che cosa fa RISC-V quando avviene una trap e come riprende il programma interrotto</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Riscaldamento sulla macchina</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Che cosa legge davvero il processore.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Quattro parole in memoria</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750" dirty="0">
                <a:solidFill>
                  <a:srgbClr val="E6EDF2"/>
                </a:solidFill>
                <a:latin typeface="Courier New" pitchFamily="34" charset="0"/>
                <a:ea typeface="Courier New" pitchFamily="34" charset="-122"/>
                <a:cs typeface="Courier New" pitchFamily="34" charset="-120"/>
              </a:rPr>
              <a:t>indirizzo   codice macchina  che cosa avete scritto</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 </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0x000       0x0002A303       lw   t1,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0x004       0x00130313       addi t1, t1, 1</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0x008       0x0062A023       sw   t1, 0(t0)</a:t>
            </a:r>
            <a:endParaRPr lang="en-US" sz="1750" dirty="0"/>
          </a:p>
          <a:p>
            <a:pPr indent="0" marL="0">
              <a:buNone/>
            </a:pPr>
            <a:r>
              <a:rPr lang="en-US" sz="1750" dirty="0">
                <a:solidFill>
                  <a:srgbClr val="E6EDF2"/>
                </a:solidFill>
                <a:latin typeface="Courier New" pitchFamily="34" charset="0"/>
                <a:ea typeface="Courier New" pitchFamily="34" charset="-122"/>
                <a:cs typeface="Courier New" pitchFamily="34" charset="-120"/>
              </a:rPr>
              <a:t>0x00C       0x00008067       ret</a:t>
            </a:r>
            <a:endParaRPr lang="en-US" sz="17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È first_update della Lezione 02 così come sta in memoria: quattro numeri, a quattro indirizzi di distanza</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Come fa il processore a sapere che il primo è un caricamento e il secondo una somma?</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Quali passi compie per ciascuno?</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 mentre li esegue, come si accorge che è stato premuto un pulsante o che è scaduto un timer?</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Istruzioni</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Un codice operativo e i suoi operandi.</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Di che cosa è fatta un'istruzione</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17421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Istruzioni tipiche di un processore</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trasferimenti di dati tra memoria e registri</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operazioni aritmetiche e logiche</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istruzioni per il controllo del flusso</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trasferimenti di dati da e verso l'ingresso/uscita</a:t>
            </a:r>
            <a:endParaRPr lang="en-US" sz="2300" dirty="0"/>
          </a:p>
        </p:txBody>
      </p:sp>
      <p:sp>
        <p:nvSpPr>
          <p:cNvPr id="5" name="Shape 3"/>
          <p:cNvSpPr/>
          <p:nvPr/>
        </p:nvSpPr>
        <p:spPr>
          <a:xfrm>
            <a:off x="548640" y="345630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342132"/>
            <a:ext cx="10710367"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Un'istruzione è composta da un codice operativo, l'opcode, e da zero o più operandi</a:t>
            </a:r>
            <a:endParaRPr lang="en-US" sz="2300" dirty="0"/>
          </a:p>
        </p:txBody>
      </p:sp>
      <p:sp>
        <p:nvSpPr>
          <p:cNvPr id="7" name="Shape 5"/>
          <p:cNvSpPr/>
          <p:nvPr/>
        </p:nvSpPr>
        <p:spPr>
          <a:xfrm>
            <a:off x="548640" y="435165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237482"/>
            <a:ext cx="10710367" cy="1395730"/>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Tipi di operando</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una costante: un immediato, esplicito o implicito</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una locazione di memoria</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un registro, esplicito o implicito (l'accumulatore)</a:t>
            </a:r>
            <a:endParaRPr lang="en-US" sz="2300" dirty="0"/>
          </a:p>
        </p:txBody>
      </p:sp>
      <p:sp>
        <p:nvSpPr>
          <p:cNvPr id="9" name="Shape 7"/>
          <p:cNvSpPr/>
          <p:nvPr/>
        </p:nvSpPr>
        <p:spPr>
          <a:xfrm>
            <a:off x="548640" y="593001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815838"/>
            <a:ext cx="10710367" cy="356362"/>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Le istruzioni possono avere zero, uno, due o tre operandi</a:t>
            </a:r>
            <a:endParaRPr lang="en-US" sz="2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formati delle istruzioni RISC-V</a:t>
            </a:r>
            <a:endParaRPr lang="en-US" sz="3200" dirty="0"/>
          </a:p>
        </p:txBody>
      </p:sp>
      <p:sp>
        <p:nvSpPr>
          <p:cNvPr id="3" name="Text 1"/>
          <p:cNvSpPr txBox="1"/>
          <p:nvPr/>
        </p:nvSpPr>
        <p:spPr>
          <a:xfrm>
            <a:off x="548640" y="1353312"/>
            <a:ext cx="11094415"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R: da registro a registro (add, sub, and, sll, ...)</a:t>
            </a:r>
            <a:endParaRPr lang="en-US" sz="1400" dirty="0"/>
          </a:p>
        </p:txBody>
      </p:sp>
      <p:sp>
        <p:nvSpPr>
          <p:cNvPr id="4" name="Text 2"/>
          <p:cNvSpPr txBox="1"/>
          <p:nvPr/>
        </p:nvSpPr>
        <p:spPr>
          <a:xfrm>
            <a:off x="548640" y="1920240"/>
            <a:ext cx="2414460" cy="384048"/>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funct7</a:t>
            </a:r>
            <a:endParaRPr lang="en-US" sz="1400" dirty="0"/>
          </a:p>
        </p:txBody>
      </p:sp>
      <p:sp>
        <p:nvSpPr>
          <p:cNvPr id="5" name="Text 3"/>
          <p:cNvSpPr txBox="1"/>
          <p:nvPr/>
        </p:nvSpPr>
        <p:spPr>
          <a:xfrm>
            <a:off x="585216" y="1682496"/>
            <a:ext cx="1207230"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6" name="Text 4"/>
          <p:cNvSpPr txBox="1"/>
          <p:nvPr/>
        </p:nvSpPr>
        <p:spPr>
          <a:xfrm>
            <a:off x="1755870" y="1682496"/>
            <a:ext cx="1170654"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25</a:t>
            </a:r>
            <a:endParaRPr lang="en-US" sz="1050" dirty="0"/>
          </a:p>
        </p:txBody>
      </p:sp>
      <p:sp>
        <p:nvSpPr>
          <p:cNvPr id="7" name="Text 5"/>
          <p:cNvSpPr txBox="1"/>
          <p:nvPr/>
        </p:nvSpPr>
        <p:spPr>
          <a:xfrm>
            <a:off x="2963100" y="1920240"/>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rs2</a:t>
            </a:r>
            <a:endParaRPr lang="en-US" sz="1400" dirty="0"/>
          </a:p>
        </p:txBody>
      </p:sp>
      <p:sp>
        <p:nvSpPr>
          <p:cNvPr id="8" name="Text 6"/>
          <p:cNvSpPr txBox="1"/>
          <p:nvPr/>
        </p:nvSpPr>
        <p:spPr>
          <a:xfrm>
            <a:off x="2999676" y="1682496"/>
            <a:ext cx="862307"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24</a:t>
            </a:r>
            <a:endParaRPr lang="en-US" sz="1050" dirty="0"/>
          </a:p>
        </p:txBody>
      </p:sp>
      <p:sp>
        <p:nvSpPr>
          <p:cNvPr id="9" name="Text 7"/>
          <p:cNvSpPr txBox="1"/>
          <p:nvPr/>
        </p:nvSpPr>
        <p:spPr>
          <a:xfrm>
            <a:off x="3825407" y="1682496"/>
            <a:ext cx="825731"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10" name="Text 8"/>
          <p:cNvSpPr txBox="1"/>
          <p:nvPr/>
        </p:nvSpPr>
        <p:spPr>
          <a:xfrm>
            <a:off x="4687714" y="1920240"/>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rs1</a:t>
            </a:r>
            <a:endParaRPr lang="en-US" sz="1400" dirty="0"/>
          </a:p>
        </p:txBody>
      </p:sp>
      <p:sp>
        <p:nvSpPr>
          <p:cNvPr id="11" name="Text 9"/>
          <p:cNvSpPr txBox="1"/>
          <p:nvPr/>
        </p:nvSpPr>
        <p:spPr>
          <a:xfrm>
            <a:off x="4724290" y="1682496"/>
            <a:ext cx="862307"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2" name="Text 10"/>
          <p:cNvSpPr txBox="1"/>
          <p:nvPr/>
        </p:nvSpPr>
        <p:spPr>
          <a:xfrm>
            <a:off x="5550021" y="1682496"/>
            <a:ext cx="825731"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3" name="Text 11"/>
          <p:cNvSpPr txBox="1"/>
          <p:nvPr/>
        </p:nvSpPr>
        <p:spPr>
          <a:xfrm>
            <a:off x="6412328" y="1920240"/>
            <a:ext cx="1091654" cy="384048"/>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funct3</a:t>
            </a:r>
            <a:endParaRPr lang="en-US" sz="1400" dirty="0"/>
          </a:p>
        </p:txBody>
      </p:sp>
      <p:sp>
        <p:nvSpPr>
          <p:cNvPr id="14" name="Text 12"/>
          <p:cNvSpPr txBox="1"/>
          <p:nvPr/>
        </p:nvSpPr>
        <p:spPr>
          <a:xfrm>
            <a:off x="6448904" y="1682496"/>
            <a:ext cx="545827"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15" name="Text 13"/>
          <p:cNvSpPr txBox="1"/>
          <p:nvPr/>
        </p:nvSpPr>
        <p:spPr>
          <a:xfrm>
            <a:off x="6958155" y="1682496"/>
            <a:ext cx="509251"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16" name="Text 14"/>
          <p:cNvSpPr txBox="1"/>
          <p:nvPr/>
        </p:nvSpPr>
        <p:spPr>
          <a:xfrm>
            <a:off x="7503982" y="1920240"/>
            <a:ext cx="1724614" cy="384048"/>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rd</a:t>
            </a:r>
            <a:endParaRPr lang="en-US" sz="1400" dirty="0"/>
          </a:p>
        </p:txBody>
      </p:sp>
      <p:sp>
        <p:nvSpPr>
          <p:cNvPr id="17" name="Text 15"/>
          <p:cNvSpPr txBox="1"/>
          <p:nvPr/>
        </p:nvSpPr>
        <p:spPr>
          <a:xfrm>
            <a:off x="7540558" y="1682496"/>
            <a:ext cx="862307"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18" name="Text 16"/>
          <p:cNvSpPr txBox="1"/>
          <p:nvPr/>
        </p:nvSpPr>
        <p:spPr>
          <a:xfrm>
            <a:off x="8366289" y="1682496"/>
            <a:ext cx="825731"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19" name="Text 17"/>
          <p:cNvSpPr txBox="1"/>
          <p:nvPr/>
        </p:nvSpPr>
        <p:spPr>
          <a:xfrm>
            <a:off x="9228596" y="1920240"/>
            <a:ext cx="2414460" cy="384048"/>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opcode</a:t>
            </a:r>
            <a:endParaRPr lang="en-US" sz="1400" dirty="0"/>
          </a:p>
        </p:txBody>
      </p:sp>
      <p:sp>
        <p:nvSpPr>
          <p:cNvPr id="20" name="Text 18"/>
          <p:cNvSpPr txBox="1"/>
          <p:nvPr/>
        </p:nvSpPr>
        <p:spPr>
          <a:xfrm>
            <a:off x="9265172" y="1682496"/>
            <a:ext cx="1207230"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1" name="Text 19"/>
          <p:cNvSpPr txBox="1"/>
          <p:nvPr/>
        </p:nvSpPr>
        <p:spPr>
          <a:xfrm>
            <a:off x="10435825" y="1682496"/>
            <a:ext cx="1170654"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2" name="Text 20"/>
          <p:cNvSpPr txBox="1"/>
          <p:nvPr/>
        </p:nvSpPr>
        <p:spPr>
          <a:xfrm>
            <a:off x="548640" y="2569464"/>
            <a:ext cx="11094415"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I: immediati e load (addi, andi, lw, jalr, ...)</a:t>
            </a:r>
            <a:endParaRPr lang="en-US" sz="1400" dirty="0"/>
          </a:p>
        </p:txBody>
      </p:sp>
      <p:sp>
        <p:nvSpPr>
          <p:cNvPr id="23" name="Text 21"/>
          <p:cNvSpPr txBox="1"/>
          <p:nvPr/>
        </p:nvSpPr>
        <p:spPr>
          <a:xfrm>
            <a:off x="548640" y="2907792"/>
            <a:ext cx="4139074" cy="384048"/>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immediato [11:0]</a:t>
            </a:r>
            <a:endParaRPr lang="en-US" sz="1400" dirty="0"/>
          </a:p>
        </p:txBody>
      </p:sp>
      <p:sp>
        <p:nvSpPr>
          <p:cNvPr id="24" name="Text 22"/>
          <p:cNvSpPr txBox="1"/>
          <p:nvPr/>
        </p:nvSpPr>
        <p:spPr>
          <a:xfrm>
            <a:off x="4687714" y="2907792"/>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rs1</a:t>
            </a:r>
            <a:endParaRPr lang="en-US" sz="1400" dirty="0"/>
          </a:p>
        </p:txBody>
      </p:sp>
      <p:sp>
        <p:nvSpPr>
          <p:cNvPr id="25" name="Text 23"/>
          <p:cNvSpPr txBox="1"/>
          <p:nvPr/>
        </p:nvSpPr>
        <p:spPr>
          <a:xfrm>
            <a:off x="6412328" y="2907792"/>
            <a:ext cx="1091654" cy="384048"/>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funct3</a:t>
            </a:r>
            <a:endParaRPr lang="en-US" sz="1400" dirty="0"/>
          </a:p>
        </p:txBody>
      </p:sp>
      <p:sp>
        <p:nvSpPr>
          <p:cNvPr id="26" name="Text 24"/>
          <p:cNvSpPr txBox="1"/>
          <p:nvPr/>
        </p:nvSpPr>
        <p:spPr>
          <a:xfrm>
            <a:off x="7503982" y="2907792"/>
            <a:ext cx="1724614" cy="384048"/>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rd</a:t>
            </a:r>
            <a:endParaRPr lang="en-US" sz="1400" dirty="0"/>
          </a:p>
        </p:txBody>
      </p:sp>
      <p:sp>
        <p:nvSpPr>
          <p:cNvPr id="27" name="Text 25"/>
          <p:cNvSpPr txBox="1"/>
          <p:nvPr/>
        </p:nvSpPr>
        <p:spPr>
          <a:xfrm>
            <a:off x="9228596" y="2907792"/>
            <a:ext cx="2414460" cy="384048"/>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opcode</a:t>
            </a:r>
            <a:endParaRPr lang="en-US" sz="1400" dirty="0"/>
          </a:p>
        </p:txBody>
      </p:sp>
      <p:sp>
        <p:nvSpPr>
          <p:cNvPr id="28" name="Text 26"/>
          <p:cNvSpPr txBox="1"/>
          <p:nvPr/>
        </p:nvSpPr>
        <p:spPr>
          <a:xfrm>
            <a:off x="548640" y="3602736"/>
            <a:ext cx="11094415"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S: store (sw, sh, sb); B: salti condizionati, con la stessa forma</a:t>
            </a:r>
            <a:endParaRPr lang="en-US" sz="1400" dirty="0"/>
          </a:p>
        </p:txBody>
      </p:sp>
      <p:sp>
        <p:nvSpPr>
          <p:cNvPr id="29" name="Text 27"/>
          <p:cNvSpPr txBox="1"/>
          <p:nvPr/>
        </p:nvSpPr>
        <p:spPr>
          <a:xfrm>
            <a:off x="548640" y="3941064"/>
            <a:ext cx="2414460" cy="384048"/>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imm [11:5]</a:t>
            </a:r>
            <a:endParaRPr lang="en-US" sz="1400" dirty="0"/>
          </a:p>
        </p:txBody>
      </p:sp>
      <p:sp>
        <p:nvSpPr>
          <p:cNvPr id="30" name="Text 28"/>
          <p:cNvSpPr txBox="1"/>
          <p:nvPr/>
        </p:nvSpPr>
        <p:spPr>
          <a:xfrm>
            <a:off x="2963100" y="3941064"/>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rs2</a:t>
            </a:r>
            <a:endParaRPr lang="en-US" sz="1400" dirty="0"/>
          </a:p>
        </p:txBody>
      </p:sp>
      <p:sp>
        <p:nvSpPr>
          <p:cNvPr id="31" name="Text 29"/>
          <p:cNvSpPr txBox="1"/>
          <p:nvPr/>
        </p:nvSpPr>
        <p:spPr>
          <a:xfrm>
            <a:off x="4687714" y="3941064"/>
            <a:ext cx="1724614" cy="384048"/>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rs1</a:t>
            </a:r>
            <a:endParaRPr lang="en-US" sz="1400" dirty="0"/>
          </a:p>
        </p:txBody>
      </p:sp>
      <p:sp>
        <p:nvSpPr>
          <p:cNvPr id="32" name="Text 30"/>
          <p:cNvSpPr txBox="1"/>
          <p:nvPr/>
        </p:nvSpPr>
        <p:spPr>
          <a:xfrm>
            <a:off x="6412328" y="3941064"/>
            <a:ext cx="1091654" cy="384048"/>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funct3</a:t>
            </a:r>
            <a:endParaRPr lang="en-US" sz="1400" dirty="0"/>
          </a:p>
        </p:txBody>
      </p:sp>
      <p:sp>
        <p:nvSpPr>
          <p:cNvPr id="33" name="Text 31"/>
          <p:cNvSpPr txBox="1"/>
          <p:nvPr/>
        </p:nvSpPr>
        <p:spPr>
          <a:xfrm>
            <a:off x="7503982" y="3941064"/>
            <a:ext cx="1724614" cy="384048"/>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imm [4:0]</a:t>
            </a:r>
            <a:endParaRPr lang="en-US" sz="1400" dirty="0"/>
          </a:p>
        </p:txBody>
      </p:sp>
      <p:sp>
        <p:nvSpPr>
          <p:cNvPr id="34" name="Text 32"/>
          <p:cNvSpPr txBox="1"/>
          <p:nvPr/>
        </p:nvSpPr>
        <p:spPr>
          <a:xfrm>
            <a:off x="9228596" y="3941064"/>
            <a:ext cx="2414460" cy="384048"/>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opcode</a:t>
            </a:r>
            <a:endParaRPr lang="en-US" sz="1400" dirty="0"/>
          </a:p>
        </p:txBody>
      </p:sp>
      <p:sp>
        <p:nvSpPr>
          <p:cNvPr id="35" name="Text 33"/>
          <p:cNvSpPr txBox="1"/>
          <p:nvPr/>
        </p:nvSpPr>
        <p:spPr>
          <a:xfrm>
            <a:off x="548640" y="4636008"/>
            <a:ext cx="11094415"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U: immediati alti (lui, auipc); J: salti (jal), con la stessa forma</a:t>
            </a:r>
            <a:endParaRPr lang="en-US" sz="1400" dirty="0"/>
          </a:p>
        </p:txBody>
      </p:sp>
      <p:sp>
        <p:nvSpPr>
          <p:cNvPr id="36" name="Text 34"/>
          <p:cNvSpPr txBox="1"/>
          <p:nvPr/>
        </p:nvSpPr>
        <p:spPr>
          <a:xfrm>
            <a:off x="548640" y="4974336"/>
            <a:ext cx="6934010" cy="384048"/>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immediato [31:12]</a:t>
            </a:r>
            <a:endParaRPr lang="en-US" sz="1400" dirty="0"/>
          </a:p>
        </p:txBody>
      </p:sp>
      <p:sp>
        <p:nvSpPr>
          <p:cNvPr id="37" name="Text 35"/>
          <p:cNvSpPr txBox="1"/>
          <p:nvPr/>
        </p:nvSpPr>
        <p:spPr>
          <a:xfrm>
            <a:off x="7482650" y="4974336"/>
            <a:ext cx="1733502" cy="384048"/>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rd</a:t>
            </a:r>
            <a:endParaRPr lang="en-US" sz="1400" dirty="0"/>
          </a:p>
        </p:txBody>
      </p:sp>
      <p:sp>
        <p:nvSpPr>
          <p:cNvPr id="38" name="Text 36"/>
          <p:cNvSpPr txBox="1"/>
          <p:nvPr/>
        </p:nvSpPr>
        <p:spPr>
          <a:xfrm>
            <a:off x="9216152" y="4974336"/>
            <a:ext cx="2426903" cy="384048"/>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opcode</a:t>
            </a:r>
            <a:endParaRPr lang="en-US" sz="1400" dirty="0"/>
          </a:p>
        </p:txBody>
      </p:sp>
      <p:sp>
        <p:nvSpPr>
          <p:cNvPr id="39" name="Text 37"/>
          <p:cNvSpPr txBox="1"/>
          <p:nvPr/>
        </p:nvSpPr>
        <p:spPr>
          <a:xfrm>
            <a:off x="548640" y="5577840"/>
            <a:ext cx="11094415" cy="59436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Sei formati, tutti di 32 bit. L'opcode sta sempre negli stessi sette bit, e i numeri di registro rd, rs1 e rs2 stanno sempre negli stessi posti: il processore può leggerli prima ancora di sapere di quale istruzione si tratta.</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Decodifica a mano</a:t>
            </a:r>
            <a:endParaRPr lang="en-US" sz="3200" dirty="0"/>
          </a:p>
        </p:txBody>
      </p:sp>
      <p:sp>
        <p:nvSpPr>
          <p:cNvPr id="3" name="Text 1"/>
          <p:cNvSpPr txBox="1"/>
          <p:nvPr/>
        </p:nvSpPr>
        <p:spPr>
          <a:xfrm>
            <a:off x="548640" y="132588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0x006283B3</a:t>
            </a:r>
            <a:endParaRPr lang="en-US" sz="2200" dirty="0"/>
          </a:p>
        </p:txBody>
      </p:sp>
      <p:sp>
        <p:nvSpPr>
          <p:cNvPr id="4" name="Text 2"/>
          <p:cNvSpPr txBox="1"/>
          <p:nvPr/>
        </p:nvSpPr>
        <p:spPr>
          <a:xfrm>
            <a:off x="8229600" y="132588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add t2, t0, t1</a:t>
            </a:r>
            <a:endParaRPr lang="en-US" sz="2200" dirty="0"/>
          </a:p>
        </p:txBody>
      </p:sp>
      <p:sp>
        <p:nvSpPr>
          <p:cNvPr id="5" name="Text 3"/>
          <p:cNvSpPr txBox="1"/>
          <p:nvPr/>
        </p:nvSpPr>
        <p:spPr>
          <a:xfrm>
            <a:off x="548640" y="2194560"/>
            <a:ext cx="2394823"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a:t>
            </a:r>
            <a:endParaRPr lang="en-US" sz="1600" dirty="0"/>
          </a:p>
        </p:txBody>
      </p:sp>
      <p:sp>
        <p:nvSpPr>
          <p:cNvPr id="6" name="Text 4"/>
          <p:cNvSpPr txBox="1"/>
          <p:nvPr/>
        </p:nvSpPr>
        <p:spPr>
          <a:xfrm>
            <a:off x="548640"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funct7</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 non sub</a:t>
            </a:r>
            <a:endParaRPr lang="en-US" sz="1300" dirty="0"/>
          </a:p>
        </p:txBody>
      </p:sp>
      <p:sp>
        <p:nvSpPr>
          <p:cNvPr id="7" name="Text 5"/>
          <p:cNvSpPr txBox="1"/>
          <p:nvPr/>
        </p:nvSpPr>
        <p:spPr>
          <a:xfrm>
            <a:off x="585216"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8" name="Text 6"/>
          <p:cNvSpPr txBox="1"/>
          <p:nvPr/>
        </p:nvSpPr>
        <p:spPr>
          <a:xfrm>
            <a:off x="1746051"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25</a:t>
            </a:r>
            <a:endParaRPr lang="en-US" sz="1050" dirty="0"/>
          </a:p>
        </p:txBody>
      </p:sp>
      <p:sp>
        <p:nvSpPr>
          <p:cNvPr id="9" name="Text 7"/>
          <p:cNvSpPr txBox="1"/>
          <p:nvPr/>
        </p:nvSpPr>
        <p:spPr>
          <a:xfrm>
            <a:off x="2943463"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10" name="Text 8"/>
          <p:cNvSpPr txBox="1"/>
          <p:nvPr/>
        </p:nvSpPr>
        <p:spPr>
          <a:xfrm>
            <a:off x="2943463"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rs2</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11" name="Text 9"/>
          <p:cNvSpPr txBox="1"/>
          <p:nvPr/>
        </p:nvSpPr>
        <p:spPr>
          <a:xfrm>
            <a:off x="2980039"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24</a:t>
            </a:r>
            <a:endParaRPr lang="en-US" sz="1050" dirty="0"/>
          </a:p>
        </p:txBody>
      </p:sp>
      <p:sp>
        <p:nvSpPr>
          <p:cNvPr id="12" name="Text 10"/>
          <p:cNvSpPr txBox="1"/>
          <p:nvPr/>
        </p:nvSpPr>
        <p:spPr>
          <a:xfrm>
            <a:off x="3798757"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13" name="Text 11"/>
          <p:cNvSpPr txBox="1"/>
          <p:nvPr/>
        </p:nvSpPr>
        <p:spPr>
          <a:xfrm>
            <a:off x="4654050" y="219456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14" name="Text 12"/>
          <p:cNvSpPr txBox="1"/>
          <p:nvPr/>
        </p:nvSpPr>
        <p:spPr>
          <a:xfrm>
            <a:off x="4654050"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15" name="Text 13"/>
          <p:cNvSpPr txBox="1"/>
          <p:nvPr/>
        </p:nvSpPr>
        <p:spPr>
          <a:xfrm>
            <a:off x="4690626"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16" name="Text 14"/>
          <p:cNvSpPr txBox="1"/>
          <p:nvPr/>
        </p:nvSpPr>
        <p:spPr>
          <a:xfrm>
            <a:off x="5509344"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17" name="Text 15"/>
          <p:cNvSpPr txBox="1"/>
          <p:nvPr/>
        </p:nvSpPr>
        <p:spPr>
          <a:xfrm>
            <a:off x="6364638" y="219456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a:t>
            </a:r>
            <a:endParaRPr lang="en-US" sz="1600" dirty="0"/>
          </a:p>
        </p:txBody>
      </p:sp>
      <p:sp>
        <p:nvSpPr>
          <p:cNvPr id="18" name="Text 16"/>
          <p:cNvSpPr txBox="1"/>
          <p:nvPr/>
        </p:nvSpPr>
        <p:spPr>
          <a:xfrm>
            <a:off x="6364638" y="279806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add</a:t>
            </a:r>
            <a:endParaRPr lang="en-US" sz="1300" dirty="0"/>
          </a:p>
        </p:txBody>
      </p:sp>
      <p:sp>
        <p:nvSpPr>
          <p:cNvPr id="19" name="Text 17"/>
          <p:cNvSpPr txBox="1"/>
          <p:nvPr/>
        </p:nvSpPr>
        <p:spPr>
          <a:xfrm>
            <a:off x="6401214" y="195681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20" name="Text 18"/>
          <p:cNvSpPr txBox="1"/>
          <p:nvPr/>
        </p:nvSpPr>
        <p:spPr>
          <a:xfrm>
            <a:off x="6951141" y="195681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21" name="Text 19"/>
          <p:cNvSpPr txBox="1"/>
          <p:nvPr/>
        </p:nvSpPr>
        <p:spPr>
          <a:xfrm>
            <a:off x="7537645" y="219456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00111</a:t>
            </a:r>
            <a:endParaRPr lang="en-US" sz="1600" dirty="0"/>
          </a:p>
        </p:txBody>
      </p:sp>
      <p:sp>
        <p:nvSpPr>
          <p:cNvPr id="22" name="Text 20"/>
          <p:cNvSpPr txBox="1"/>
          <p:nvPr/>
        </p:nvSpPr>
        <p:spPr>
          <a:xfrm>
            <a:off x="7537645" y="279806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x7 = t2</a:t>
            </a:r>
            <a:endParaRPr lang="en-US" sz="1300" dirty="0"/>
          </a:p>
        </p:txBody>
      </p:sp>
      <p:sp>
        <p:nvSpPr>
          <p:cNvPr id="23" name="Text 21"/>
          <p:cNvSpPr txBox="1"/>
          <p:nvPr/>
        </p:nvSpPr>
        <p:spPr>
          <a:xfrm>
            <a:off x="7574221" y="195681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24" name="Text 22"/>
          <p:cNvSpPr txBox="1"/>
          <p:nvPr/>
        </p:nvSpPr>
        <p:spPr>
          <a:xfrm>
            <a:off x="8392939" y="195681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25" name="Text 23"/>
          <p:cNvSpPr txBox="1"/>
          <p:nvPr/>
        </p:nvSpPr>
        <p:spPr>
          <a:xfrm>
            <a:off x="9248232" y="219456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0110011</a:t>
            </a:r>
            <a:endParaRPr lang="en-US" sz="1600" dirty="0"/>
          </a:p>
        </p:txBody>
      </p:sp>
      <p:sp>
        <p:nvSpPr>
          <p:cNvPr id="26" name="Text 24"/>
          <p:cNvSpPr txBox="1"/>
          <p:nvPr/>
        </p:nvSpPr>
        <p:spPr>
          <a:xfrm>
            <a:off x="9248232" y="279806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registro-registro</a:t>
            </a:r>
            <a:endParaRPr lang="en-US" sz="1300" dirty="0"/>
          </a:p>
        </p:txBody>
      </p:sp>
      <p:sp>
        <p:nvSpPr>
          <p:cNvPr id="27" name="Text 25"/>
          <p:cNvSpPr txBox="1"/>
          <p:nvPr/>
        </p:nvSpPr>
        <p:spPr>
          <a:xfrm>
            <a:off x="9284808" y="195681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28" name="Text 26"/>
          <p:cNvSpPr txBox="1"/>
          <p:nvPr/>
        </p:nvSpPr>
        <p:spPr>
          <a:xfrm>
            <a:off x="10445644" y="195681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9" name="Text 27"/>
          <p:cNvSpPr txBox="1"/>
          <p:nvPr/>
        </p:nvSpPr>
        <p:spPr>
          <a:xfrm>
            <a:off x="548640" y="3794760"/>
            <a:ext cx="2926080" cy="457200"/>
          </a:xfrm>
          <a:prstGeom prst="rect">
            <a:avLst/>
          </a:prstGeom>
          <a:noFill/>
          <a:ln/>
        </p:spPr>
        <p:txBody>
          <a:bodyPr wrap="square" lIns="0" tIns="0" rIns="0" bIns="0" rtlCol="0" anchor="ctr"/>
          <a:lstStyle/>
          <a:p>
            <a:pPr indent="0" marL="0">
              <a:buNone/>
            </a:pPr>
            <a:r>
              <a:rPr lang="en-US" sz="2200" b="1" dirty="0">
                <a:solidFill>
                  <a:srgbClr val="2E4A62"/>
                </a:solidFill>
                <a:latin typeface="Courier New" pitchFamily="34" charset="0"/>
                <a:ea typeface="Courier New" pitchFamily="34" charset="-122"/>
                <a:cs typeface="Courier New" pitchFamily="34" charset="-120"/>
              </a:rPr>
              <a:t>0x0002A303</a:t>
            </a:r>
            <a:endParaRPr lang="en-US" sz="2200" dirty="0"/>
          </a:p>
        </p:txBody>
      </p:sp>
      <p:sp>
        <p:nvSpPr>
          <p:cNvPr id="30" name="Text 28"/>
          <p:cNvSpPr txBox="1"/>
          <p:nvPr/>
        </p:nvSpPr>
        <p:spPr>
          <a:xfrm>
            <a:off x="8229600" y="3794760"/>
            <a:ext cx="3413455" cy="457200"/>
          </a:xfrm>
          <a:prstGeom prst="rect">
            <a:avLst/>
          </a:prstGeom>
          <a:noFill/>
          <a:ln/>
        </p:spPr>
        <p:txBody>
          <a:bodyPr wrap="square" lIns="0" tIns="0" rIns="0" bIns="0" rtlCol="0" anchor="ctr"/>
          <a:lstStyle/>
          <a:p>
            <a:pPr algn="r" indent="0" marL="0">
              <a:buNone/>
            </a:pPr>
            <a:r>
              <a:rPr lang="en-US" sz="2200" b="1" dirty="0">
                <a:solidFill>
                  <a:srgbClr val="2F7D4F"/>
                </a:solidFill>
                <a:latin typeface="Courier New" pitchFamily="34" charset="0"/>
                <a:ea typeface="Courier New" pitchFamily="34" charset="-122"/>
                <a:cs typeface="Courier New" pitchFamily="34" charset="-120"/>
              </a:rPr>
              <a:t>lw t1, 0(t0)</a:t>
            </a:r>
            <a:endParaRPr lang="en-US" sz="2200" dirty="0"/>
          </a:p>
        </p:txBody>
      </p:sp>
      <p:sp>
        <p:nvSpPr>
          <p:cNvPr id="31" name="Text 29"/>
          <p:cNvSpPr txBox="1"/>
          <p:nvPr/>
        </p:nvSpPr>
        <p:spPr>
          <a:xfrm>
            <a:off x="548640" y="4663440"/>
            <a:ext cx="4105410" cy="54864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000000000000</a:t>
            </a:r>
            <a:endParaRPr lang="en-US" sz="1600" dirty="0"/>
          </a:p>
        </p:txBody>
      </p:sp>
      <p:sp>
        <p:nvSpPr>
          <p:cNvPr id="32" name="Text 30"/>
          <p:cNvSpPr txBox="1"/>
          <p:nvPr/>
        </p:nvSpPr>
        <p:spPr>
          <a:xfrm>
            <a:off x="548640" y="5266944"/>
            <a:ext cx="4105410"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immediato</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scostamento 0</a:t>
            </a:r>
            <a:endParaRPr lang="en-US" sz="1300" dirty="0"/>
          </a:p>
        </p:txBody>
      </p:sp>
      <p:sp>
        <p:nvSpPr>
          <p:cNvPr id="33" name="Text 31"/>
          <p:cNvSpPr txBox="1"/>
          <p:nvPr/>
        </p:nvSpPr>
        <p:spPr>
          <a:xfrm>
            <a:off x="585216" y="4425696"/>
            <a:ext cx="205270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34" name="Text 32"/>
          <p:cNvSpPr txBox="1"/>
          <p:nvPr/>
        </p:nvSpPr>
        <p:spPr>
          <a:xfrm>
            <a:off x="2601345" y="4425696"/>
            <a:ext cx="2016129"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20</a:t>
            </a:r>
            <a:endParaRPr lang="en-US" sz="1050" dirty="0"/>
          </a:p>
        </p:txBody>
      </p:sp>
      <p:sp>
        <p:nvSpPr>
          <p:cNvPr id="35" name="Text 33"/>
          <p:cNvSpPr txBox="1"/>
          <p:nvPr/>
        </p:nvSpPr>
        <p:spPr>
          <a:xfrm>
            <a:off x="4654050" y="4663440"/>
            <a:ext cx="1710588" cy="54864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00101</a:t>
            </a:r>
            <a:endParaRPr lang="en-US" sz="1600" dirty="0"/>
          </a:p>
        </p:txBody>
      </p:sp>
      <p:sp>
        <p:nvSpPr>
          <p:cNvPr id="36" name="Text 34"/>
          <p:cNvSpPr txBox="1"/>
          <p:nvPr/>
        </p:nvSpPr>
        <p:spPr>
          <a:xfrm>
            <a:off x="4654050"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rs1</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x5 = t0</a:t>
            </a:r>
            <a:endParaRPr lang="en-US" sz="1300" dirty="0"/>
          </a:p>
        </p:txBody>
      </p:sp>
      <p:sp>
        <p:nvSpPr>
          <p:cNvPr id="37" name="Text 35"/>
          <p:cNvSpPr txBox="1"/>
          <p:nvPr/>
        </p:nvSpPr>
        <p:spPr>
          <a:xfrm>
            <a:off x="4690626"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19</a:t>
            </a:r>
            <a:endParaRPr lang="en-US" sz="1050" dirty="0"/>
          </a:p>
        </p:txBody>
      </p:sp>
      <p:sp>
        <p:nvSpPr>
          <p:cNvPr id="38" name="Text 36"/>
          <p:cNvSpPr txBox="1"/>
          <p:nvPr/>
        </p:nvSpPr>
        <p:spPr>
          <a:xfrm>
            <a:off x="5509344"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15</a:t>
            </a:r>
            <a:endParaRPr lang="en-US" sz="1050" dirty="0"/>
          </a:p>
        </p:txBody>
      </p:sp>
      <p:sp>
        <p:nvSpPr>
          <p:cNvPr id="39" name="Text 37"/>
          <p:cNvSpPr txBox="1"/>
          <p:nvPr/>
        </p:nvSpPr>
        <p:spPr>
          <a:xfrm>
            <a:off x="6364638" y="4663440"/>
            <a:ext cx="1173007" cy="548640"/>
          </a:xfrm>
          <a:prstGeom prst="rect">
            <a:avLst/>
          </a:prstGeom>
          <a:solidFill>
            <a:srgbClr val="6B4FA0"/>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010</a:t>
            </a:r>
            <a:endParaRPr lang="en-US" sz="1600" dirty="0"/>
          </a:p>
        </p:txBody>
      </p:sp>
      <p:sp>
        <p:nvSpPr>
          <p:cNvPr id="40" name="Text 38"/>
          <p:cNvSpPr txBox="1"/>
          <p:nvPr/>
        </p:nvSpPr>
        <p:spPr>
          <a:xfrm>
            <a:off x="6364638" y="5266944"/>
            <a:ext cx="1173007"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funct3</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una parola</a:t>
            </a:r>
            <a:endParaRPr lang="en-US" sz="1300" dirty="0"/>
          </a:p>
        </p:txBody>
      </p:sp>
      <p:sp>
        <p:nvSpPr>
          <p:cNvPr id="41" name="Text 39"/>
          <p:cNvSpPr txBox="1"/>
          <p:nvPr/>
        </p:nvSpPr>
        <p:spPr>
          <a:xfrm>
            <a:off x="6401214" y="4425696"/>
            <a:ext cx="586503"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14</a:t>
            </a:r>
            <a:endParaRPr lang="en-US" sz="1050" dirty="0"/>
          </a:p>
        </p:txBody>
      </p:sp>
      <p:sp>
        <p:nvSpPr>
          <p:cNvPr id="42" name="Text 40"/>
          <p:cNvSpPr txBox="1"/>
          <p:nvPr/>
        </p:nvSpPr>
        <p:spPr>
          <a:xfrm>
            <a:off x="6951141" y="4425696"/>
            <a:ext cx="549927"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12</a:t>
            </a:r>
            <a:endParaRPr lang="en-US" sz="1050" dirty="0"/>
          </a:p>
        </p:txBody>
      </p:sp>
      <p:sp>
        <p:nvSpPr>
          <p:cNvPr id="43" name="Text 41"/>
          <p:cNvSpPr txBox="1"/>
          <p:nvPr/>
        </p:nvSpPr>
        <p:spPr>
          <a:xfrm>
            <a:off x="7537645" y="4663440"/>
            <a:ext cx="1710588" cy="548640"/>
          </a:xfrm>
          <a:prstGeom prst="rect">
            <a:avLst/>
          </a:prstGeom>
          <a:solidFill>
            <a:srgbClr val="2F7D4F"/>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00110</a:t>
            </a:r>
            <a:endParaRPr lang="en-US" sz="1600" dirty="0"/>
          </a:p>
        </p:txBody>
      </p:sp>
      <p:sp>
        <p:nvSpPr>
          <p:cNvPr id="44" name="Text 42"/>
          <p:cNvSpPr txBox="1"/>
          <p:nvPr/>
        </p:nvSpPr>
        <p:spPr>
          <a:xfrm>
            <a:off x="7537645" y="5266944"/>
            <a:ext cx="1710588"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rd</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x6 = t1</a:t>
            </a:r>
            <a:endParaRPr lang="en-US" sz="1300" dirty="0"/>
          </a:p>
        </p:txBody>
      </p:sp>
      <p:sp>
        <p:nvSpPr>
          <p:cNvPr id="45" name="Text 43"/>
          <p:cNvSpPr txBox="1"/>
          <p:nvPr/>
        </p:nvSpPr>
        <p:spPr>
          <a:xfrm>
            <a:off x="7574221" y="4425696"/>
            <a:ext cx="85529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11</a:t>
            </a:r>
            <a:endParaRPr lang="en-US" sz="1050" dirty="0"/>
          </a:p>
        </p:txBody>
      </p:sp>
      <p:sp>
        <p:nvSpPr>
          <p:cNvPr id="46" name="Text 44"/>
          <p:cNvSpPr txBox="1"/>
          <p:nvPr/>
        </p:nvSpPr>
        <p:spPr>
          <a:xfrm>
            <a:off x="8392939" y="4425696"/>
            <a:ext cx="81871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7</a:t>
            </a:r>
            <a:endParaRPr lang="en-US" sz="1050" dirty="0"/>
          </a:p>
        </p:txBody>
      </p:sp>
      <p:sp>
        <p:nvSpPr>
          <p:cNvPr id="47" name="Text 45"/>
          <p:cNvSpPr txBox="1"/>
          <p:nvPr/>
        </p:nvSpPr>
        <p:spPr>
          <a:xfrm>
            <a:off x="9248232" y="4663440"/>
            <a:ext cx="2394823" cy="548640"/>
          </a:xfrm>
          <a:prstGeom prst="rect">
            <a:avLst/>
          </a:prstGeom>
          <a:solidFill>
            <a:srgbClr val="2E4A62"/>
          </a:solidFill>
          <a:ln w="19050">
            <a:solidFill>
              <a:srgbClr val="FFFFFF"/>
            </a:solid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0000011</a:t>
            </a:r>
            <a:endParaRPr lang="en-US" sz="1600" dirty="0"/>
          </a:p>
        </p:txBody>
      </p:sp>
      <p:sp>
        <p:nvSpPr>
          <p:cNvPr id="48" name="Text 46"/>
          <p:cNvSpPr txBox="1"/>
          <p:nvPr/>
        </p:nvSpPr>
        <p:spPr>
          <a:xfrm>
            <a:off x="9248232" y="5266944"/>
            <a:ext cx="2394823" cy="502920"/>
          </a:xfrm>
          <a:prstGeom prst="rect">
            <a:avLst/>
          </a:prstGeom>
          <a:noFill/>
          <a:ln/>
        </p:spPr>
        <p:txBody>
          <a:bodyPr wrap="square" lIns="0" tIns="0" rIns="0" bIns="0" rtlCol="0" anchor="t"/>
          <a:lstStyle/>
          <a:p>
            <a:pPr algn="ctr" indent="0" marL="0">
              <a:buNone/>
            </a:pPr>
            <a:r>
              <a:rPr lang="en-US" sz="1300" dirty="0">
                <a:solidFill>
                  <a:srgbClr val="1B2530"/>
                </a:solidFill>
                <a:latin typeface="Calibri" pitchFamily="34" charset="0"/>
                <a:ea typeface="Calibri" pitchFamily="34" charset="-122"/>
                <a:cs typeface="Calibri" pitchFamily="34" charset="-120"/>
              </a:rPr>
              <a:t>opcode</a:t>
            </a:r>
            <a:endParaRPr lang="en-US" sz="1300" dirty="0"/>
          </a:p>
          <a:p>
            <a:pPr algn="ctr" indent="0" marL="0">
              <a:buNone/>
            </a:pPr>
            <a:r>
              <a:rPr lang="en-US" sz="1300" dirty="0">
                <a:solidFill>
                  <a:srgbClr val="1B2530"/>
                </a:solidFill>
                <a:latin typeface="Calibri" pitchFamily="34" charset="0"/>
                <a:ea typeface="Calibri" pitchFamily="34" charset="-122"/>
                <a:cs typeface="Calibri" pitchFamily="34" charset="-120"/>
              </a:rPr>
              <a:t>load</a:t>
            </a:r>
            <a:endParaRPr lang="en-US" sz="1300" dirty="0"/>
          </a:p>
        </p:txBody>
      </p:sp>
      <p:sp>
        <p:nvSpPr>
          <p:cNvPr id="49" name="Text 47"/>
          <p:cNvSpPr txBox="1"/>
          <p:nvPr/>
        </p:nvSpPr>
        <p:spPr>
          <a:xfrm>
            <a:off x="9284808" y="4425696"/>
            <a:ext cx="1197411"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6</a:t>
            </a:r>
            <a:endParaRPr lang="en-US" sz="1050" dirty="0"/>
          </a:p>
        </p:txBody>
      </p:sp>
      <p:sp>
        <p:nvSpPr>
          <p:cNvPr id="50" name="Text 48"/>
          <p:cNvSpPr txBox="1"/>
          <p:nvPr/>
        </p:nvSpPr>
        <p:spPr>
          <a:xfrm>
            <a:off x="10445644" y="4425696"/>
            <a:ext cx="1160835"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Istruzioni di lunghezza fissa o variabile</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Lunghezza fissa: macchine a parola</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Tutte le istruzioni hanno la stessa lunghezza in bit</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L'istruzione successiva è sempre a PC più una costante</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Prelievo e decodifica semplici</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Processori RISC: RISC-V usa 32 bit</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Con l'estensione compressa, 16 o 32, distinti dai due bit più bassi</a:t>
            </a:r>
            <a:endParaRPr lang="en-US" sz="20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Lunghezza variabile: macchine a byte</a:t>
            </a:r>
            <a:endParaRPr lang="en-US" sz="18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Le istruzioni possono avere lunghezze diverse</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La lunghezza si conosce solo dopo aver decodificato la prima parte</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Programmi compatti, decodifica complessa</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Processori CISC: l'MC68000 usa da una a cinque parole di 16 bit, Intel x86 da uno a quindici byte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Modi di indirizzamento: dove si trova un operando</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46259"/>
                <a:gridCol w="4910643"/>
                <a:gridCol w="3637513"/>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Modo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L'operando è</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Esempio RISC-V</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immediato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una costante dentro l'istruzione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addi t1, t1, 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registro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il contenuto di un registro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add t2, t0, t1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base più scostamento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parola di memoria a registro + costante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lw t1, 8(sp)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relativo al PC</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indirizzo a una certa distanza dall'istruzione stessa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beq t0, t1, loop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indiretto in memoria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parola di memoria il cui indirizzo è in memoria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non disponibile: due load</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Il ciclo del processore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L'algoritmo fondamentale del processore.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 fasi del ciclo</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Prelievo</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l'istruzione all'indirizzo contenuto nel PC viene letta dalla memoria; il PC avanza</a:t>
            </a:r>
            <a:endParaRPr lang="en-US" sz="14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Decodifica</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l'opcode viene riconosciuto; i registri nominati dall'istruzione vengono letti</a:t>
            </a:r>
            <a:endParaRPr lang="en-US" sz="14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Esecuzione</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la ALU calcola: un risultato, un indirizzo o un confronto</a:t>
            </a:r>
            <a:endParaRPr lang="en-US" sz="14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Memoria</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i load leggono la memoria, gli store la scrivono; le altre saltano questa fase</a:t>
            </a:r>
            <a:endParaRPr lang="en-US" sz="14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Scrittura</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il risultato viene scritto nel registro di destinazione</a:t>
            </a:r>
            <a:endParaRPr lang="en-US" sz="14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Dopo una fase di avvio, il bootstrap, il processore ripete questo ciclo all'infinito. Nei processori con modi di indirizzamento ricchi, una fase di operand assembly raccoglie gli operandi prima dell'esecuzione.</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fase di prelievo, trasferimento per trasferimento</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3273762"/>
                <a:gridCol w="7002213"/>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Passo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Trasferimento tra registri</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Significato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MA := PC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l'indirizzo dell'istruzione va nel registro degli indirizzi di memoria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abilita lettura; MB := M[MA]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la memoria mette l'istruzione sul bus dati; viene catturata nel buffer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 := MB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l'istruzione viene copiata nel registro di decodifica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PC := PC + 4</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il PC ora punta all'istruzione successiva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resto del ciclo per due istruzioni</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4365016"/>
                <a:gridCol w="5092518"/>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Fase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add t2, t0, t1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lw t1, 0(t0)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decodifica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R[t1]</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O1 := R[t0];  O2 := 0  (l'immediato)</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esecuzione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U := O1 + O2  (un indirizzo)</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memoria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MA := U;  abilita lettura;  MB := M[MA]</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scrittura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R[t2] := U</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R[t1] := MB</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300" i="1" dirty="0">
                <a:solidFill>
                  <a:srgbClr val="5B6B78"/>
                </a:solidFill>
                <a:latin typeface="Calibri" pitchFamily="34" charset="0"/>
                <a:ea typeface="Calibri" pitchFamily="34" charset="-122"/>
                <a:cs typeface="Calibri" pitchFamily="34" charset="-120"/>
              </a:rPr>
              <a:t>La stessa ALU somma due registri per add e forma un indirizzo per lw. L'unità di controllo, decodificando l'opcode, decide quali trasferimenti avvengono.</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pipeline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03120"/>
                <a:gridCol w="1123912"/>
                <a:gridCol w="1123912"/>
                <a:gridCol w="1123912"/>
                <a:gridCol w="1123912"/>
                <a:gridCol w="1123912"/>
                <a:gridCol w="1123912"/>
                <a:gridCol w="1123912"/>
                <a:gridCol w="1123912"/>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ciclo di clock</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b="1" dirty="0">
                          <a:solidFill>
                            <a:srgbClr val="1B2530"/>
                          </a:solidFill>
                          <a:latin typeface="Calibri" pitchFamily="34" charset="0"/>
                          <a:ea typeface="Calibri" pitchFamily="34" charset="-122"/>
                          <a:cs typeface="Calibri" pitchFamily="34" charset="-120"/>
                        </a:rPr>
                        <a:t>istruzione 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IF</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ID</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EX</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6E0F1"/>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MEM</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WB</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b="1" dirty="0">
                          <a:solidFill>
                            <a:srgbClr val="1B2530"/>
                          </a:solidFill>
                          <a:latin typeface="Calibri" pitchFamily="34" charset="0"/>
                          <a:ea typeface="Calibri" pitchFamily="34" charset="-122"/>
                          <a:cs typeface="Calibri" pitchFamily="34" charset="-120"/>
                        </a:rPr>
                        <a:t>istruzione 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IF</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ID</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EX</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6E0F1"/>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MEM</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WB</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b="1" dirty="0">
                          <a:solidFill>
                            <a:srgbClr val="1B2530"/>
                          </a:solidFill>
                          <a:latin typeface="Calibri" pitchFamily="34" charset="0"/>
                          <a:ea typeface="Calibri" pitchFamily="34" charset="-122"/>
                          <a:cs typeface="Calibri" pitchFamily="34" charset="-120"/>
                        </a:rPr>
                        <a:t>istruzione 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IF</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ID</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EX</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6E0F1"/>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MEM</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WB</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b="1" dirty="0">
                          <a:solidFill>
                            <a:srgbClr val="1B2530"/>
                          </a:solidFill>
                          <a:latin typeface="Calibri" pitchFamily="34" charset="0"/>
                          <a:ea typeface="Calibri" pitchFamily="34" charset="-122"/>
                          <a:cs typeface="Calibri" pitchFamily="34" charset="-120"/>
                        </a:rPr>
                        <a:t>istruzione 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IF</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ID</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EX</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6E0F1"/>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MEM</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CEEE3"/>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WB</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r>
            </a:tbl>
          </a:graphicData>
        </a:graphic>
      </p:graphicFrame>
      <p:sp>
        <p:nvSpPr>
          <p:cNvPr id="4" name="Shape 1"/>
          <p:cNvSpPr/>
          <p:nvPr/>
        </p:nvSpPr>
        <p:spPr>
          <a:xfrm>
            <a:off x="548640" y="3657092"/>
            <a:ext cx="146304" cy="146304"/>
          </a:xfrm>
          <a:prstGeom prst="rect">
            <a:avLst/>
          </a:prstGeom>
          <a:solidFill>
            <a:srgbClr val="0E7C86"/>
          </a:solidFill>
          <a:ln w="12700">
            <a:solidFill>
              <a:srgbClr val="0E7C86"/>
            </a:solidFill>
            <a:prstDash val="solid"/>
          </a:ln>
        </p:spPr>
      </p:sp>
      <p:sp>
        <p:nvSpPr>
          <p:cNvPr id="5" name="Text 2"/>
          <p:cNvSpPr txBox="1"/>
          <p:nvPr/>
        </p:nvSpPr>
        <p:spPr>
          <a:xfrm>
            <a:off x="932688" y="356616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Cinque fasi, cinque pezzi di hardware: mentre un'istruzione viene eseguita, la successiva viene decodificata e una terza prelevata</a:t>
            </a:r>
            <a:endParaRPr lang="en-US" sz="2000" dirty="0"/>
          </a:p>
        </p:txBody>
      </p:sp>
      <p:sp>
        <p:nvSpPr>
          <p:cNvPr id="6" name="Shape 3"/>
          <p:cNvSpPr/>
          <p:nvPr/>
        </p:nvSpPr>
        <p:spPr>
          <a:xfrm>
            <a:off x="548640" y="4422479"/>
            <a:ext cx="146304" cy="146304"/>
          </a:xfrm>
          <a:prstGeom prst="rect">
            <a:avLst/>
          </a:prstGeom>
          <a:solidFill>
            <a:srgbClr val="C7791B"/>
          </a:solidFill>
          <a:ln w="12700">
            <a:solidFill>
              <a:srgbClr val="C7791B"/>
            </a:solidFill>
            <a:prstDash val="solid"/>
          </a:ln>
        </p:spPr>
      </p:sp>
      <p:sp>
        <p:nvSpPr>
          <p:cNvPr id="7" name="Text 4"/>
          <p:cNvSpPr txBox="1"/>
          <p:nvPr/>
        </p:nvSpPr>
        <p:spPr>
          <a:xfrm>
            <a:off x="932688" y="4331547"/>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Ogni istruzione impiega ancora cinque cicli, ma a ogni ciclo di clock ne termina una: cinque volte la produttività</a:t>
            </a:r>
            <a:endParaRPr lang="en-US" sz="2000" dirty="0"/>
          </a:p>
        </p:txBody>
      </p:sp>
      <p:sp>
        <p:nvSpPr>
          <p:cNvPr id="8" name="Shape 5"/>
          <p:cNvSpPr/>
          <p:nvPr/>
        </p:nvSpPr>
        <p:spPr>
          <a:xfrm>
            <a:off x="548640" y="5187865"/>
            <a:ext cx="146304" cy="146304"/>
          </a:xfrm>
          <a:prstGeom prst="rect">
            <a:avLst/>
          </a:prstGeom>
          <a:solidFill>
            <a:srgbClr val="0E7C86"/>
          </a:solidFill>
          <a:ln w="12700">
            <a:solidFill>
              <a:srgbClr val="0E7C86"/>
            </a:solidFill>
            <a:prstDash val="solid"/>
          </a:ln>
        </p:spPr>
      </p:sp>
      <p:sp>
        <p:nvSpPr>
          <p:cNvPr id="9" name="Text 6"/>
          <p:cNvSpPr txBox="1"/>
          <p:nvPr/>
        </p:nvSpPr>
        <p:spPr>
          <a:xfrm>
            <a:off x="932688" y="509693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 processori superscalari affiancano due o più pipeline: più di un'istruzione per ciclo</a:t>
            </a:r>
            <a:endParaRPr lang="en-US" sz="2000" dirty="0"/>
          </a:p>
        </p:txBody>
      </p:sp>
      <p:sp>
        <p:nvSpPr>
          <p:cNvPr id="10" name="Shape 7"/>
          <p:cNvSpPr/>
          <p:nvPr/>
        </p:nvSpPr>
        <p:spPr>
          <a:xfrm>
            <a:off x="548640" y="5953252"/>
            <a:ext cx="146304" cy="146304"/>
          </a:xfrm>
          <a:prstGeom prst="rect">
            <a:avLst/>
          </a:prstGeom>
          <a:solidFill>
            <a:srgbClr val="C7791B"/>
          </a:solidFill>
          <a:ln w="12700">
            <a:solidFill>
              <a:srgbClr val="C7791B"/>
            </a:solidFill>
            <a:prstDash val="solid"/>
          </a:ln>
        </p:spPr>
      </p:sp>
      <p:sp>
        <p:nvSpPr>
          <p:cNvPr id="11" name="Text 8"/>
          <p:cNvSpPr txBox="1"/>
          <p:nvPr/>
        </p:nvSpPr>
        <p:spPr>
          <a:xfrm>
            <a:off x="932688" y="5862320"/>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Il core principale dell'ESP32-C6 ha una pipeline a quattro stadi</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Interruzioni</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Quando il ciclo va spezzato.</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problema del ciclo semplice</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Se il processore facesse sempre e solo prelievo, decodifica, esecuzione, nascerebbero alcuni problemi</a:t>
            </a:r>
            <a:endParaRPr lang="en-US" sz="2300" dirty="0"/>
          </a:p>
        </p:txBody>
      </p:sp>
      <p:sp>
        <p:nvSpPr>
          <p:cNvPr id="5" name="Shape 3"/>
          <p:cNvSpPr/>
          <p:nvPr/>
        </p:nvSpPr>
        <p:spPr>
          <a:xfrm>
            <a:off x="548640" y="276009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45918"/>
            <a:ext cx="6565392" cy="142544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L'interazione con il mondo esterno attraverso le unità di I/O sarebbe inefficiente: il programma dovrebbe chiedere di continuo</a:t>
            </a:r>
            <a:endParaRPr lang="en-US" sz="2300" dirty="0"/>
          </a:p>
        </p:txBody>
      </p:sp>
      <p:sp>
        <p:nvSpPr>
          <p:cNvPr id="7" name="Shape 5"/>
          <p:cNvSpPr/>
          <p:nvPr/>
        </p:nvSpPr>
        <p:spPr>
          <a:xfrm>
            <a:off x="548640" y="434505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230878"/>
            <a:ext cx="656539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Non ci sarebbe modo di rimuovere d'autorità un'applicazione entrata per errore in un ciclo infinito</a:t>
            </a:r>
            <a:endParaRPr lang="en-US" sz="2300" dirty="0"/>
          </a:p>
        </p:txBody>
      </p:sp>
      <p:sp>
        <p:nvSpPr>
          <p:cNvPr id="9" name="Shape 7"/>
          <p:cNvSpPr/>
          <p:nvPr/>
        </p:nvSpPr>
        <p:spPr>
          <a:xfrm>
            <a:off x="548640" y="557364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59476"/>
            <a:ext cx="6565392"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Il sistema operativo avrebbe un controllo limitato sul sistema</a:t>
            </a:r>
            <a:endParaRPr lang="en-US" sz="23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j loop</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un programma bloccato in un ciclo senza fine: chi gli toglie il processore?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Interruzioni</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Definizione</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400" i="1" dirty="0">
                <a:solidFill>
                  <a:srgbClr val="1B2530"/>
                </a:solidFill>
                <a:latin typeface="Cambria" pitchFamily="34" charset="0"/>
                <a:ea typeface="Cambria" pitchFamily="34" charset="-122"/>
                <a:cs typeface="Cambria" pitchFamily="34" charset="-120"/>
              </a:rPr>
              <a:t>Eventi eccezionali, di solito asincroni rispetto all'esecuzione del programma in corso, che richiedono l'attenzione del processore.</a:t>
            </a:r>
            <a:endParaRPr lang="en-US" sz="2400" dirty="0"/>
          </a:p>
        </p:txBody>
      </p:sp>
      <p:sp>
        <p:nvSpPr>
          <p:cNvPr id="6" name="Shape 4"/>
          <p:cNvSpPr/>
          <p:nvPr/>
        </p:nvSpPr>
        <p:spPr>
          <a:xfrm>
            <a:off x="548640" y="3455416"/>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3349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Vocabolario RISC-V: un'interruzione (interrupt) viene dall'esterno del programma, in un momento qualunque: un timer, un dispositivo</a:t>
            </a:r>
            <a:endParaRPr lang="en-US" sz="2400" dirty="0"/>
          </a:p>
        </p:txBody>
      </p:sp>
      <p:sp>
        <p:nvSpPr>
          <p:cNvPr id="8" name="Shape 6"/>
          <p:cNvSpPr/>
          <p:nvPr/>
        </p:nvSpPr>
        <p:spPr>
          <a:xfrm>
            <a:off x="548640" y="4502912"/>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380992"/>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Un'eccezione è causata dall'istruzione in esecuzione: un opcode illegale, un indirizzo vietato</a:t>
            </a:r>
            <a:endParaRPr lang="en-US" sz="2400" dirty="0"/>
          </a:p>
        </p:txBody>
      </p:sp>
      <p:sp>
        <p:nvSpPr>
          <p:cNvPr id="10" name="Shape 8"/>
          <p:cNvSpPr/>
          <p:nvPr/>
        </p:nvSpPr>
        <p:spPr>
          <a:xfrm>
            <a:off x="548640" y="555040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Una trap è il trasferimento del controllo a un gestore che segue l'una o l'altra</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ciclo reale del processore</a:t>
            </a:r>
            <a:endParaRPr lang="en-US" sz="3200" dirty="0"/>
          </a:p>
        </p:txBody>
      </p:sp>
      <p:sp>
        <p:nvSpPr>
          <p:cNvPr id="3" name="Text 1"/>
          <p:cNvSpPr txBox="1"/>
          <p:nvPr/>
        </p:nvSpPr>
        <p:spPr>
          <a:xfrm>
            <a:off x="731520" y="1874520"/>
            <a:ext cx="1828800" cy="731520"/>
          </a:xfrm>
          <a:prstGeom prst="roundRect">
            <a:avLst>
              <a:gd name="adj" fmla="val 7500"/>
            </a:avLst>
          </a:prstGeom>
          <a:solidFill>
            <a:srgbClr val="2E4A62"/>
          </a:solidFill>
          <a:ln>
            <a:solidFill>
              <a:srgbClr val="2E4A62"/>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bootstrap</a:t>
            </a:r>
            <a:endParaRPr lang="en-US" sz="1500" dirty="0"/>
          </a:p>
        </p:txBody>
      </p:sp>
      <p:sp>
        <p:nvSpPr>
          <p:cNvPr id="4" name="Text 2"/>
          <p:cNvSpPr txBox="1"/>
          <p:nvPr/>
        </p:nvSpPr>
        <p:spPr>
          <a:xfrm>
            <a:off x="3108960" y="1874520"/>
            <a:ext cx="182880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prelievo</a:t>
            </a:r>
            <a:endParaRPr lang="en-US" sz="1500" dirty="0"/>
          </a:p>
        </p:txBody>
      </p:sp>
      <p:sp>
        <p:nvSpPr>
          <p:cNvPr id="5" name="Text 3"/>
          <p:cNvSpPr txBox="1"/>
          <p:nvPr/>
        </p:nvSpPr>
        <p:spPr>
          <a:xfrm>
            <a:off x="5486400" y="1874520"/>
            <a:ext cx="1828800" cy="731520"/>
          </a:xfrm>
          <a:prstGeom prst="roundRect">
            <a:avLst>
              <a:gd name="adj" fmla="val 75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decodifica ed</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esecuzione</a:t>
            </a:r>
            <a:endParaRPr lang="en-US" sz="1500" dirty="0"/>
          </a:p>
        </p:txBody>
      </p:sp>
      <p:sp>
        <p:nvSpPr>
          <p:cNvPr id="6" name="Shape 4"/>
          <p:cNvSpPr/>
          <p:nvPr/>
        </p:nvSpPr>
        <p:spPr>
          <a:xfrm>
            <a:off x="2587752" y="2240280"/>
            <a:ext cx="493776" cy="0"/>
          </a:xfrm>
          <a:prstGeom prst="line">
            <a:avLst/>
          </a:prstGeom>
          <a:noFill/>
          <a:ln w="31750">
            <a:solidFill>
              <a:srgbClr val="5B6B78"/>
            </a:solidFill>
            <a:prstDash val="solid"/>
            <a:tailEnd type="triangle"/>
          </a:ln>
        </p:spPr>
      </p:sp>
      <p:sp>
        <p:nvSpPr>
          <p:cNvPr id="7" name="Shape 5"/>
          <p:cNvSpPr/>
          <p:nvPr/>
        </p:nvSpPr>
        <p:spPr>
          <a:xfrm>
            <a:off x="4965192" y="2240280"/>
            <a:ext cx="493776" cy="0"/>
          </a:xfrm>
          <a:prstGeom prst="line">
            <a:avLst/>
          </a:prstGeom>
          <a:noFill/>
          <a:ln w="31750">
            <a:solidFill>
              <a:srgbClr val="5B6B78"/>
            </a:solidFill>
            <a:prstDash val="solid"/>
            <a:tailEnd type="triangle"/>
          </a:ln>
        </p:spPr>
      </p:sp>
      <p:sp>
        <p:nvSpPr>
          <p:cNvPr id="8" name="Text 6"/>
          <p:cNvSpPr txBox="1"/>
          <p:nvPr/>
        </p:nvSpPr>
        <p:spPr>
          <a:xfrm>
            <a:off x="5486400" y="3520440"/>
            <a:ext cx="1828800" cy="822960"/>
          </a:xfrm>
          <a:prstGeom prst="roundRect">
            <a:avLst>
              <a:gd name="adj" fmla="val 6667"/>
            </a:avLst>
          </a:prstGeom>
          <a:solidFill>
            <a:srgbClr val="B23A48"/>
          </a:solidFill>
          <a:ln>
            <a:solidFill>
              <a:srgbClr val="B23A48"/>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interruzione</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in attesa?</a:t>
            </a:r>
            <a:endParaRPr lang="en-US" sz="1500" dirty="0"/>
          </a:p>
        </p:txBody>
      </p:sp>
      <p:sp>
        <p:nvSpPr>
          <p:cNvPr id="9" name="Shape 7"/>
          <p:cNvSpPr/>
          <p:nvPr/>
        </p:nvSpPr>
        <p:spPr>
          <a:xfrm>
            <a:off x="6400800" y="2633472"/>
            <a:ext cx="0" cy="859536"/>
          </a:xfrm>
          <a:prstGeom prst="line">
            <a:avLst/>
          </a:prstGeom>
          <a:noFill/>
          <a:ln w="31750">
            <a:solidFill>
              <a:srgbClr val="5B6B78"/>
            </a:solidFill>
            <a:prstDash val="solid"/>
            <a:tailEnd type="triangle"/>
          </a:ln>
        </p:spPr>
      </p:sp>
      <p:sp>
        <p:nvSpPr>
          <p:cNvPr id="10" name="Shape 8"/>
          <p:cNvSpPr/>
          <p:nvPr/>
        </p:nvSpPr>
        <p:spPr>
          <a:xfrm flipH="1">
            <a:off x="4023360" y="3931920"/>
            <a:ext cx="1435608" cy="0"/>
          </a:xfrm>
          <a:prstGeom prst="line">
            <a:avLst/>
          </a:prstGeom>
          <a:noFill/>
          <a:ln w="31750">
            <a:solidFill>
              <a:srgbClr val="5B6B78"/>
            </a:solidFill>
            <a:prstDash val="solid"/>
          </a:ln>
        </p:spPr>
      </p:sp>
      <p:sp>
        <p:nvSpPr>
          <p:cNvPr id="11" name="Shape 9"/>
          <p:cNvSpPr/>
          <p:nvPr/>
        </p:nvSpPr>
        <p:spPr>
          <a:xfrm flipV="1">
            <a:off x="4023360" y="2633472"/>
            <a:ext cx="0" cy="1298448"/>
          </a:xfrm>
          <a:prstGeom prst="line">
            <a:avLst/>
          </a:prstGeom>
          <a:noFill/>
          <a:ln w="31750">
            <a:solidFill>
              <a:srgbClr val="5B6B78"/>
            </a:solidFill>
            <a:prstDash val="solid"/>
            <a:tailEnd type="triangle"/>
          </a:ln>
        </p:spPr>
      </p:sp>
      <p:sp>
        <p:nvSpPr>
          <p:cNvPr id="12" name="Text 10"/>
          <p:cNvSpPr txBox="1"/>
          <p:nvPr/>
        </p:nvSpPr>
        <p:spPr>
          <a:xfrm>
            <a:off x="4480560" y="3611880"/>
            <a:ext cx="548640" cy="274320"/>
          </a:xfrm>
          <a:prstGeom prst="rect">
            <a:avLst/>
          </a:prstGeom>
          <a:noFill/>
          <a:ln/>
        </p:spPr>
        <p:txBody>
          <a:bodyPr wrap="square" lIns="0" tIns="0" rIns="0" bIns="0" rtlCol="0" anchor="t"/>
          <a:lstStyle/>
          <a:p>
            <a:pPr indent="0" marL="0">
              <a:buNone/>
            </a:pPr>
            <a:r>
              <a:rPr lang="en-US" sz="1400" b="1" dirty="0">
                <a:solidFill>
                  <a:srgbClr val="5B6B78"/>
                </a:solidFill>
                <a:latin typeface="Calibri" pitchFamily="34" charset="0"/>
                <a:ea typeface="Calibri" pitchFamily="34" charset="-122"/>
                <a:cs typeface="Calibri" pitchFamily="34" charset="-120"/>
              </a:rPr>
              <a:t>no</a:t>
            </a:r>
            <a:endParaRPr lang="en-US" sz="1400" dirty="0"/>
          </a:p>
        </p:txBody>
      </p:sp>
      <p:sp>
        <p:nvSpPr>
          <p:cNvPr id="13" name="Text 11"/>
          <p:cNvSpPr txBox="1"/>
          <p:nvPr/>
        </p:nvSpPr>
        <p:spPr>
          <a:xfrm>
            <a:off x="5486400" y="5166360"/>
            <a:ext cx="1828800" cy="822960"/>
          </a:xfrm>
          <a:prstGeom prst="roundRect">
            <a:avLst>
              <a:gd name="adj" fmla="val 6667"/>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trap: vai</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al gestore</a:t>
            </a:r>
            <a:endParaRPr lang="en-US" sz="1500" dirty="0"/>
          </a:p>
        </p:txBody>
      </p:sp>
      <p:sp>
        <p:nvSpPr>
          <p:cNvPr id="14" name="Shape 12"/>
          <p:cNvSpPr/>
          <p:nvPr/>
        </p:nvSpPr>
        <p:spPr>
          <a:xfrm>
            <a:off x="6400800" y="4370832"/>
            <a:ext cx="0" cy="768096"/>
          </a:xfrm>
          <a:prstGeom prst="line">
            <a:avLst/>
          </a:prstGeom>
          <a:noFill/>
          <a:ln w="31750">
            <a:solidFill>
              <a:srgbClr val="B23A48"/>
            </a:solidFill>
            <a:prstDash val="solid"/>
            <a:tailEnd type="triangle"/>
          </a:ln>
        </p:spPr>
      </p:sp>
      <p:sp>
        <p:nvSpPr>
          <p:cNvPr id="15" name="Text 13"/>
          <p:cNvSpPr txBox="1"/>
          <p:nvPr/>
        </p:nvSpPr>
        <p:spPr>
          <a:xfrm>
            <a:off x="6492240" y="4572000"/>
            <a:ext cx="640080" cy="27432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sì</a:t>
            </a:r>
            <a:endParaRPr lang="en-US" sz="1400" dirty="0"/>
          </a:p>
        </p:txBody>
      </p:sp>
      <p:sp>
        <p:nvSpPr>
          <p:cNvPr id="16" name="Shape 14"/>
          <p:cNvSpPr/>
          <p:nvPr/>
        </p:nvSpPr>
        <p:spPr>
          <a:xfrm flipH="1">
            <a:off x="2743200" y="5577840"/>
            <a:ext cx="2715768" cy="0"/>
          </a:xfrm>
          <a:prstGeom prst="line">
            <a:avLst/>
          </a:prstGeom>
          <a:noFill/>
          <a:ln w="31750">
            <a:solidFill>
              <a:srgbClr val="5B6B78"/>
            </a:solidFill>
            <a:prstDash val="solid"/>
          </a:ln>
        </p:spPr>
      </p:sp>
      <p:sp>
        <p:nvSpPr>
          <p:cNvPr id="17" name="Shape 15"/>
          <p:cNvSpPr/>
          <p:nvPr/>
        </p:nvSpPr>
        <p:spPr>
          <a:xfrm flipV="1">
            <a:off x="2743200" y="3063240"/>
            <a:ext cx="0" cy="2514600"/>
          </a:xfrm>
          <a:prstGeom prst="line">
            <a:avLst/>
          </a:prstGeom>
          <a:noFill/>
          <a:ln w="31750">
            <a:solidFill>
              <a:srgbClr val="5B6B78"/>
            </a:solidFill>
            <a:prstDash val="solid"/>
          </a:ln>
        </p:spPr>
      </p:sp>
      <p:sp>
        <p:nvSpPr>
          <p:cNvPr id="18" name="Shape 16"/>
          <p:cNvSpPr/>
          <p:nvPr/>
        </p:nvSpPr>
        <p:spPr>
          <a:xfrm>
            <a:off x="2743200" y="3063240"/>
            <a:ext cx="822960" cy="0"/>
          </a:xfrm>
          <a:prstGeom prst="line">
            <a:avLst/>
          </a:prstGeom>
          <a:noFill/>
          <a:ln w="31750">
            <a:solidFill>
              <a:srgbClr val="5B6B78"/>
            </a:solidFill>
            <a:prstDash val="solid"/>
          </a:ln>
        </p:spPr>
      </p:sp>
      <p:sp>
        <p:nvSpPr>
          <p:cNvPr id="19" name="Shape 17"/>
          <p:cNvSpPr/>
          <p:nvPr/>
        </p:nvSpPr>
        <p:spPr>
          <a:xfrm flipV="1">
            <a:off x="3566160" y="2633472"/>
            <a:ext cx="0" cy="429768"/>
          </a:xfrm>
          <a:prstGeom prst="line">
            <a:avLst/>
          </a:prstGeom>
          <a:noFill/>
          <a:ln w="31750">
            <a:solidFill>
              <a:srgbClr val="5B6B78"/>
            </a:solidFill>
            <a:prstDash val="solid"/>
            <a:tailEnd type="triangle"/>
          </a:ln>
        </p:spPr>
      </p:sp>
      <p:sp>
        <p:nvSpPr>
          <p:cNvPr id="20" name="Shape 18"/>
          <p:cNvSpPr/>
          <p:nvPr/>
        </p:nvSpPr>
        <p:spPr>
          <a:xfrm>
            <a:off x="7863840" y="1492758"/>
            <a:ext cx="146304" cy="146304"/>
          </a:xfrm>
          <a:prstGeom prst="rect">
            <a:avLst/>
          </a:prstGeom>
          <a:solidFill>
            <a:srgbClr val="0E7C86"/>
          </a:solidFill>
          <a:ln w="12700">
            <a:solidFill>
              <a:srgbClr val="0E7C86"/>
            </a:solidFill>
            <a:prstDash val="solid"/>
          </a:ln>
        </p:spPr>
      </p:sp>
      <p:sp>
        <p:nvSpPr>
          <p:cNvPr id="21" name="Text 19"/>
          <p:cNvSpPr txBox="1"/>
          <p:nvPr/>
        </p:nvSpPr>
        <p:spPr>
          <a:xfrm>
            <a:off x="8247888" y="1417320"/>
            <a:ext cx="339516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Alla fine di ogni istruzione il processore controlla se è arrivato qualche segnale di interruzione</a:t>
            </a:r>
            <a:endParaRPr lang="en-US" sz="1800" dirty="0"/>
          </a:p>
        </p:txBody>
      </p:sp>
      <p:sp>
        <p:nvSpPr>
          <p:cNvPr id="22" name="Shape 20"/>
          <p:cNvSpPr/>
          <p:nvPr/>
        </p:nvSpPr>
        <p:spPr>
          <a:xfrm>
            <a:off x="7863840" y="2798826"/>
            <a:ext cx="146304" cy="146304"/>
          </a:xfrm>
          <a:prstGeom prst="rect">
            <a:avLst/>
          </a:prstGeom>
          <a:solidFill>
            <a:srgbClr val="C7791B"/>
          </a:solidFill>
          <a:ln w="12700">
            <a:solidFill>
              <a:srgbClr val="C7791B"/>
            </a:solidFill>
            <a:prstDash val="solid"/>
          </a:ln>
        </p:spPr>
      </p:sp>
      <p:sp>
        <p:nvSpPr>
          <p:cNvPr id="23" name="Text 21"/>
          <p:cNvSpPr txBox="1"/>
          <p:nvPr/>
        </p:nvSpPr>
        <p:spPr>
          <a:xfrm>
            <a:off x="8247888" y="2723388"/>
            <a:ext cx="3395167"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Se non ce ne sono, l'elaborazione torna alla fase di prelievo</a:t>
            </a:r>
            <a:endParaRPr lang="en-US" sz="1800" dirty="0"/>
          </a:p>
        </p:txBody>
      </p:sp>
      <p:sp>
        <p:nvSpPr>
          <p:cNvPr id="24" name="Shape 22"/>
          <p:cNvSpPr/>
          <p:nvPr/>
        </p:nvSpPr>
        <p:spPr>
          <a:xfrm>
            <a:off x="7863840" y="3826002"/>
            <a:ext cx="146304" cy="146304"/>
          </a:xfrm>
          <a:prstGeom prst="rect">
            <a:avLst/>
          </a:prstGeom>
          <a:solidFill>
            <a:srgbClr val="0E7C86"/>
          </a:solidFill>
          <a:ln w="12700">
            <a:solidFill>
              <a:srgbClr val="0E7C86"/>
            </a:solidFill>
            <a:prstDash val="solid"/>
          </a:ln>
        </p:spPr>
      </p:sp>
      <p:sp>
        <p:nvSpPr>
          <p:cNvPr id="25" name="Text 23"/>
          <p:cNvSpPr txBox="1"/>
          <p:nvPr/>
        </p:nvSpPr>
        <p:spPr>
          <a:xfrm>
            <a:off x="8247888" y="3750564"/>
            <a:ext cx="339516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Se ce n'è uno, il processore passa allo stato supervisore e comincia a eseguire una routine del sistema</a:t>
            </a:r>
            <a:endParaRPr lang="en-US" sz="1800" dirty="0"/>
          </a:p>
        </p:txBody>
      </p:sp>
      <p:sp>
        <p:nvSpPr>
          <p:cNvPr id="26" name="Shape 24"/>
          <p:cNvSpPr/>
          <p:nvPr/>
        </p:nvSpPr>
        <p:spPr>
          <a:xfrm>
            <a:off x="7863840" y="5132070"/>
            <a:ext cx="146304" cy="146304"/>
          </a:xfrm>
          <a:prstGeom prst="rect">
            <a:avLst/>
          </a:prstGeom>
          <a:solidFill>
            <a:srgbClr val="C7791B"/>
          </a:solidFill>
          <a:ln w="12700">
            <a:solidFill>
              <a:srgbClr val="C7791B"/>
            </a:solidFill>
            <a:prstDash val="solid"/>
          </a:ln>
        </p:spPr>
      </p:sp>
      <p:sp>
        <p:nvSpPr>
          <p:cNvPr id="27" name="Text 25"/>
          <p:cNvSpPr txBox="1"/>
          <p:nvPr/>
        </p:nvSpPr>
        <p:spPr>
          <a:xfrm>
            <a:off x="8247888" y="5056632"/>
            <a:ext cx="3395167"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Quando la routine termina, il programma sospeso può riprendere come se nulla fosse accaduto</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Possibili cause di interruzione</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Interruzione periodica</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Un timer, per esempio ogni 10 ms: per ripartire il processore tra i programmi e misurare il tempo usato da ciascuno.</a:t>
            </a:r>
            <a:endParaRPr lang="en-US" sz="15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Interruzione di I/O</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Una periferica segnala il proprio stato, per esempio che è pronta a ricevere dati, per sincronizzarsi con il processore.</a:t>
            </a:r>
            <a:endParaRPr lang="en-US" sz="15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Errori nel programma</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Un'istruzione inesistente o privilegiata, un indirizzo vietato: eventi sincroni, detti eccezioni.</a:t>
            </a:r>
            <a:endParaRPr lang="en-US" sz="15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Guasti</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Malfunzionamenti del sistema rilevati da sonde apposite: alimentazione, temperatura, errori di memoria.</a:t>
            </a:r>
            <a:endParaRPr lang="en-US" sz="15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Reset</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Riporta l'intero sistema a uno stato noto.</a:t>
            </a:r>
            <a:endParaRPr lang="en-US" sz="1500" dirty="0"/>
          </a:p>
        </p:txBody>
      </p:sp>
      <p:sp>
        <p:nvSpPr>
          <p:cNvPr id="23" name="Shape 21"/>
          <p:cNvSpPr/>
          <p:nvPr/>
        </p:nvSpPr>
        <p:spPr>
          <a:xfrm>
            <a:off x="8127797" y="3931920"/>
            <a:ext cx="3515258" cy="2240280"/>
          </a:xfrm>
          <a:prstGeom prst="roundRect">
            <a:avLst>
              <a:gd name="adj" fmla="val 3265"/>
            </a:avLst>
          </a:prstGeom>
          <a:solidFill>
            <a:srgbClr val="EEF2F4"/>
          </a:solidFill>
          <a:ln w="12700">
            <a:solidFill>
              <a:srgbClr val="EEF2F4"/>
            </a:solidFill>
            <a:prstDash val="solid"/>
          </a:ln>
        </p:spPr>
      </p:sp>
      <p:sp>
        <p:nvSpPr>
          <p:cNvPr id="24" name="Text 22"/>
          <p:cNvSpPr txBox="1"/>
          <p:nvPr/>
        </p:nvSpPr>
        <p:spPr>
          <a:xfrm>
            <a:off x="8356397" y="4160520"/>
            <a:ext cx="384048" cy="384048"/>
          </a:xfrm>
          <a:prstGeom prst="roundRect">
            <a:avLst>
              <a:gd name="adj" fmla="val 19048"/>
            </a:avLst>
          </a:prstGeom>
          <a:solidFill>
            <a:srgbClr val="2E4A62"/>
          </a:solidFill>
          <a:ln>
            <a:solidFill>
              <a:srgbClr val="2E4A62"/>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8905037"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Interruzione software</a:t>
            </a:r>
            <a:endParaRPr lang="en-US" sz="2000" dirty="0"/>
          </a:p>
        </p:txBody>
      </p:sp>
      <p:sp>
        <p:nvSpPr>
          <p:cNvPr id="26" name="Text 24"/>
          <p:cNvSpPr txBox="1"/>
          <p:nvPr/>
        </p:nvSpPr>
        <p:spPr>
          <a:xfrm>
            <a:off x="8402117"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Generata da un programma che ha bisogno di una risorsa condivisa e chiede al sistema operativo di fare da tramite: in RISC-V, l'istruzione ecall.</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Gestire un'interruzione</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Salvare il contesto, parte hardware: almeno l'indirizzo da cui riprendere</a:t>
            </a:r>
            <a:endParaRPr lang="en-US" sz="2200" dirty="0"/>
          </a:p>
        </p:txBody>
      </p:sp>
      <p:sp>
        <p:nvSpPr>
          <p:cNvPr id="5" name="Text 3"/>
          <p:cNvSpPr txBox="1"/>
          <p:nvPr/>
        </p:nvSpPr>
        <p:spPr>
          <a:xfrm>
            <a:off x="548640" y="215310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134819"/>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Identificare la causa dell'interruzione</a:t>
            </a:r>
            <a:endParaRPr lang="en-US" sz="2200" dirty="0"/>
          </a:p>
        </p:txBody>
      </p:sp>
      <p:sp>
        <p:nvSpPr>
          <p:cNvPr id="7" name="Text 5"/>
          <p:cNvSpPr txBox="1"/>
          <p:nvPr/>
        </p:nvSpPr>
        <p:spPr>
          <a:xfrm>
            <a:off x="548640" y="287060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285231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Saltare al punto d'ingresso della routine di servizio dell'interruzione (ISR)</a:t>
            </a:r>
            <a:endParaRPr lang="en-US" sz="2200" dirty="0"/>
          </a:p>
        </p:txBody>
      </p:sp>
      <p:sp>
        <p:nvSpPr>
          <p:cNvPr id="9" name="Text 7"/>
          <p:cNvSpPr txBox="1"/>
          <p:nvPr/>
        </p:nvSpPr>
        <p:spPr>
          <a:xfrm>
            <a:off x="548640" y="38309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81264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Salvare il contesto, parte software: i registri che la routine sta per usare</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Servire l'interruzione</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Se l'interruzione lo consente: ripristinare il contesto, e riprendere il programma sospeso dall'istruzione che segue l'ultima eseguita</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Chi ha interrotto? Due soluzioni</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Registri di stato e interrogazione ciclica</a:t>
            </a:r>
            <a:endParaRPr lang="en-US" sz="17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Ogni dispositivo ha un registro di stato</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Un dispositivo che chiede un'interruzione vi imposta un bit e alza la linea di richiesta comune</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La routine di servizio interroga i dispositivi in ordine di priorità e serve il primo che trova con il bit alto</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Semplice da costruire, ma richiede tempo: interroga anche dispositivi che non hanno chiesto nulla</a:t>
            </a:r>
            <a:endParaRPr lang="en-US" sz="17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Interruzioni vettorizzate</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Al momento della richiesta l'identità della sorgente viene fornita al processore</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Il processore salta direttamente alla routine che corrisponde a quell'identità</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Un meccanismo molto efficiente</a:t>
            </a:r>
            <a:endParaRPr lang="en-US" sz="1700" dirty="0"/>
          </a:p>
          <a:p>
            <a:pPr marL="203200" indent="-203200">
              <a:spcAft>
                <a:spcPts val="800"/>
              </a:spcAft>
              <a:buSzPct val="100000"/>
              <a:buChar char="•"/>
            </a:pPr>
            <a:r>
              <a:rPr lang="en-US" sz="1700" dirty="0">
                <a:solidFill>
                  <a:srgbClr val="1B2530"/>
                </a:solidFill>
                <a:latin typeface="Calibri" pitchFamily="34" charset="0"/>
                <a:ea typeface="Calibri" pitchFamily="34" charset="-122"/>
                <a:cs typeface="Calibri" pitchFamily="34" charset="-120"/>
              </a:rPr>
              <a:t>Il numero di bit usati per il vettore limita il numero di sorgenti diverse riconoscibili</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05</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La soluzione di RISC-V</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Quattro registri e un'istruzione.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registri del meccanismo delle trap</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3637513"/>
                <a:gridCol w="6001897"/>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CSR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Scritto da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Contenuto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mtvec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il firmware, una volta, all'avvio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l'indirizzo del gestore delle trap, e se si usa il modo vettorizzato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mstatus</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hardware e firmware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MIE, l'abilitazione globale delle interruzioni, e MPIE, il suo valore precedente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mie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il firmware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un bit di abilitazione per ogni sorgente: software, timer, esterna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mip</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l'hardware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un bit di richiesta in attesa per ogni sorgente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mepc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l'hardware, a ogni trap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l'indirizzo dell'istruzione interrotta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mcause</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l'hardware, a ogni trap</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un bit che dice interruzione o eccezione, e un codice per la causa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fa l'hardware a una trap</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mepc := l'indirizzo dell'istruzione interrotta</a:t>
            </a:r>
            <a:endParaRPr lang="en-US" sz="2200" dirty="0"/>
          </a:p>
        </p:txBody>
      </p:sp>
      <p:sp>
        <p:nvSpPr>
          <p:cNvPr id="5" name="Text 3"/>
          <p:cNvSpPr txBox="1"/>
          <p:nvPr/>
        </p:nvSpPr>
        <p:spPr>
          <a:xfrm>
            <a:off x="548640" y="215310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134819"/>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mcause := la causa: bit più alto 1 per un'interruzione, 0 per un'eccezione, più un codice</a:t>
            </a:r>
            <a:endParaRPr lang="en-US" sz="2200" dirty="0"/>
          </a:p>
        </p:txBody>
      </p:sp>
      <p:sp>
        <p:nvSpPr>
          <p:cNvPr id="7" name="Text 5"/>
          <p:cNvSpPr txBox="1"/>
          <p:nvPr/>
        </p:nvSpPr>
        <p:spPr>
          <a:xfrm>
            <a:off x="548640" y="31134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9514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mstatus: MPIE := MIE, poi MIE := 0, così le altre interruzioni sono disabilitate</a:t>
            </a:r>
            <a:endParaRPr lang="en-US" sz="2200" dirty="0"/>
          </a:p>
        </p:txBody>
      </p:sp>
      <p:sp>
        <p:nvSpPr>
          <p:cNvPr id="9" name="Text 7"/>
          <p:cNvSpPr txBox="1"/>
          <p:nvPr/>
        </p:nvSpPr>
        <p:spPr>
          <a:xfrm>
            <a:off x="548640" y="407375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05546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processore passa al modo macchina</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PC := l'indirizzo in mtvec, oppure, in modo vettorizzato e per le interruzioni, quell'indirizzo più 4 volte la causa</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mret, alla fine del gestore, annulla tutto: MIE := MPIE e PC := mepc</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causa di una trap: mcause</a:t>
            </a:r>
            <a:endParaRPr lang="en-US" sz="3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18757"/>
                <a:gridCol w="1455005"/>
                <a:gridCol w="7820653"/>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Tipo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Codice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Causa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interruzione software di macchina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interruzione del timer di macchina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11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interruzione esterna di macchina: un dispositivo, tramite il controllore delle interruzioni</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eccezione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istruzione illegale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eccezione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breakpoint (ebreak): così un debugger ferma un programma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eccezione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5, 7</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errore di accesso in load o store: un indirizzo vietato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eccezione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8, 11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environment call (ecall) dal modo utente, dal modo macchina</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 gestore di trap, per sommi capi</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trap_entry:</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t0, 0(sp)            </a:t>
            </a:r>
            <a:pPr indent="0" marL="0">
              <a:buNone/>
            </a:pPr>
            <a:r>
              <a:rPr lang="en-US" sz="1300" dirty="0">
                <a:solidFill>
                  <a:srgbClr val="8FB3A0"/>
                </a:solidFill>
                <a:latin typeface="Courier New" pitchFamily="34" charset="0"/>
                <a:ea typeface="Courier New" pitchFamily="34" charset="-122"/>
                <a:cs typeface="Courier New" pitchFamily="34" charset="-120"/>
              </a:rPr>
              <a:t># software context: save what we use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csrr t0, mcause           </a:t>
            </a:r>
            <a:pPr indent="0" marL="0">
              <a:buNone/>
            </a:pPr>
            <a:r>
              <a:rPr lang="en-US" sz="1300" dirty="0">
                <a:solidFill>
                  <a:srgbClr val="8FB3A0"/>
                </a:solidFill>
                <a:latin typeface="Courier New" pitchFamily="34" charset="0"/>
                <a:ea typeface="Courier New" pitchFamily="34" charset="-122"/>
                <a:cs typeface="Courier New" pitchFamily="34" charset="-120"/>
              </a:rPr>
              <a:t># why are we here?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bgez t0, exception        </a:t>
            </a:r>
            <a:pPr indent="0" marL="0">
              <a:buNone/>
            </a:pPr>
            <a:r>
              <a:rPr lang="en-US" sz="1300" dirty="0">
                <a:solidFill>
                  <a:srgbClr val="8FB3A0"/>
                </a:solidFill>
                <a:latin typeface="Courier New" pitchFamily="34" charset="0"/>
                <a:ea typeface="Courier New" pitchFamily="34" charset="-122"/>
                <a:cs typeface="Courier New" pitchFamily="34" charset="-120"/>
              </a:rPr>
              <a:t># top bit 0: an exception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                       </a:t>
            </a:r>
            <a:pPr indent="0" marL="0">
              <a:buNone/>
            </a:pPr>
            <a:r>
              <a:rPr lang="en-US" sz="1300" dirty="0">
                <a:solidFill>
                  <a:srgbClr val="8FB3A0"/>
                </a:solidFill>
                <a:latin typeface="Courier New" pitchFamily="34" charset="0"/>
                <a:ea typeface="Courier New" pitchFamily="34" charset="-122"/>
                <a:cs typeface="Courier New" pitchFamily="34" charset="-120"/>
              </a:rPr>
              <a:t># top bit 1: find the device, serve 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t0, 0(sp)            </a:t>
            </a:r>
            <a:pPr indent="0" marL="0">
              <a:buNone/>
            </a:pPr>
            <a:r>
              <a:rPr lang="en-US" sz="1300" dirty="0">
                <a:solidFill>
                  <a:srgbClr val="8FB3A0"/>
                </a:solidFill>
                <a:latin typeface="Courier New" pitchFamily="34" charset="0"/>
                <a:ea typeface="Courier New" pitchFamily="34" charset="-122"/>
                <a:cs typeface="Courier New" pitchFamily="34" charset="-120"/>
              </a:rPr>
              <a:t># restore the context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4(sp)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mret                      </a:t>
            </a:r>
            <a:pPr indent="0" marL="0">
              <a:buNone/>
            </a:pPr>
            <a:r>
              <a:rPr lang="en-US" sz="1300" dirty="0">
                <a:solidFill>
                  <a:srgbClr val="8FB3A0"/>
                </a:solidFill>
                <a:latin typeface="Courier New" pitchFamily="34" charset="0"/>
                <a:ea typeface="Courier New" pitchFamily="34" charset="-122"/>
                <a:cs typeface="Courier New" pitchFamily="34" charset="-120"/>
              </a:rPr>
              <a:t># MIE := MPIE, PC := mepc</a:t>
            </a:r>
            <a:endParaRPr lang="en-US" sz="13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programma interrotto non deve accorgersene: ogni registro toccato dal gestore viene salvato e ripristinato</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mcause letto come numero con segno è negativo per le interruzioni: bgez separa le due famiglie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mret è l'unica via del ritorno: riabilita le interruzioni e ricarica il PC in un solo passo</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firmware del kit contiene proprio una routine così; la vostra cartuccia viene interrotta molte volte per frame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Priorità e annidamento</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82508"/>
                <a:gridCol w="4183140"/>
                <a:gridCol w="4728767"/>
              </a:tblGrid>
              <a:tr h="0">
                <a:tc>
                  <a:txBody>
                    <a:bodyPr/>
                    <a:lstStyle/>
                    <a:p>
                      <a:pPr algn="l" indent="0" marL="0">
                        <a:buNone/>
                      </a:pP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Motorola MC68000</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RISC-V</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priorità di una richiesta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tre linee codificano un livello di priorità, da 1 a 7</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controllore delle interruzioni dà una priorità a ogni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priorità del processore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tre bit nel registro di stato: la maschera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 registro di soglia nel controllore delle interruzioni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una richiesta è accolta se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suo livello è più alto della maschera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sua priorità supera la soglia, ed è abilitata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mentre la si serve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maschera viene alzata a quel livello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le interruzioni sono disabilitate (MIE = 0) se il gestore non le riabilita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non mascherabile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livello 7</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un'interruzione non mascherabile, definita da ogni chip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identità della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 numero di vettore a 8 bit dal dispositivo: 256 vettori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mcause, poi il controllore dice quale dispositivo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ritorno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RTE, che estrae PC e stato dallo stack</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mret, che usa mepc e mstatus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 interruzioni sul kit PRG32</a:t>
            </a:r>
            <a:endParaRPr lang="en-US" sz="3200" dirty="0"/>
          </a:p>
        </p:txBody>
      </p:sp>
      <p:sp>
        <p:nvSpPr>
          <p:cNvPr id="3" name="Shape 1"/>
          <p:cNvSpPr/>
          <p:nvPr/>
        </p:nvSpPr>
        <p:spPr>
          <a:xfrm>
            <a:off x="548640" y="1492758"/>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 timer interrompe il processore cento volte al secondo: il firmware lo usa per tenere il tempo e cadenzare i frame</a:t>
            </a:r>
            <a:endParaRPr lang="en-US" sz="18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66594"/>
            <a:ext cx="656539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Le periferiche di display e audio interrompono quando un blocco di dati è stato inviato e serve il successivo</a:t>
            </a:r>
            <a:endParaRPr lang="en-US" sz="1800" dirty="0"/>
          </a:p>
        </p:txBody>
      </p:sp>
      <p:sp>
        <p:nvSpPr>
          <p:cNvPr id="7" name="Shape 5"/>
          <p:cNvSpPr/>
          <p:nvPr/>
        </p:nvSpPr>
        <p:spPr>
          <a:xfrm>
            <a:off x="548640" y="331241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36976"/>
            <a:ext cx="6565392"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La radio Wi-Fi interrompe quando arriva un pacchetto: si può caricare una cartuccia mentre un gioco è in esecuzione</a:t>
            </a:r>
            <a:endParaRPr lang="en-US" sz="1800" dirty="0"/>
          </a:p>
        </p:txBody>
      </p:sp>
      <p:sp>
        <p:nvSpPr>
          <p:cNvPr id="9" name="Shape 7"/>
          <p:cNvSpPr/>
          <p:nvPr/>
        </p:nvSpPr>
        <p:spPr>
          <a:xfrm>
            <a:off x="548640" y="436168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86250"/>
            <a:ext cx="656539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Le vostre init, update e draw sono normali funzioni chiamate dal firmware tra un'interruzione e la successiva</a:t>
            </a:r>
            <a:endParaRPr lang="en-US" sz="1800" dirty="0"/>
          </a:p>
        </p:txBody>
      </p:sp>
      <p:sp>
        <p:nvSpPr>
          <p:cNvPr id="11" name="Shape 9"/>
          <p:cNvSpPr/>
          <p:nvPr/>
        </p:nvSpPr>
        <p:spPr>
          <a:xfrm>
            <a:off x="548640" y="513207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056632"/>
            <a:ext cx="6565392" cy="111556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Una cartuccia bloccata in un ciclo non ferma le interruzioni: PRG32-QT chiude il frame con un errore; sulla scheda un watchdog segnala lo stallo, e premete reset</a:t>
            </a:r>
            <a:endParaRPr lang="en-US" sz="1800" dirty="0"/>
          </a:p>
        </p:txBody>
      </p:sp>
      <p:pic>
        <p:nvPicPr>
          <p:cNvPr id="13" name="Image 0" descr="/Users/raffaelemontella/devel/riscv-prg32/computer-architecture-with-prg32/tools/assets/menu_main.pn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menu del firmware PRG32</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In quali bit di un'istruzione RISC-V sta l'opcode?</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 sette più significativi</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 sette meno significativi</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i bit da 14 a 12</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dipende dal formato</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Durante il prelievo di un'istruzione RV32 non compressa, il PC viene incrementato di:</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1</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2</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4</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32</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Quale registro contiene l'indirizzo da cui riprenderà un programma RISC-V interrotto?</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ra</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mtvec</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mepc</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mcause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Quale di questi è un'eccezione e non un'interruzione, nei termini di RISC-V?</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scade un timer</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viene premuto un tasto</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viene prelevata un'istruzione illegale</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arriva un pacchetto dalla rete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Decodificate a mano 0x00A28293 e 0x40628333: formato, campi, assembly</a:t>
            </a:r>
            <a:endParaRPr lang="en-US" sz="2000" dirty="0"/>
          </a:p>
        </p:txBody>
      </p:sp>
      <p:sp>
        <p:nvSpPr>
          <p:cNvPr id="6" name="Text 4"/>
          <p:cNvSpPr txBox="1"/>
          <p:nvPr/>
        </p:nvSpPr>
        <p:spPr>
          <a:xfrm>
            <a:off x="548640" y="20589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40636"/>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Codificate sub t0, t1, t2 e sw a0, 8(sp)</a:t>
            </a:r>
            <a:endParaRPr lang="en-US" sz="2000" dirty="0"/>
          </a:p>
        </p:txBody>
      </p:sp>
      <p:sp>
        <p:nvSpPr>
          <p:cNvPr id="8" name="Text 6"/>
          <p:cNvSpPr txBox="1"/>
          <p:nvPr/>
        </p:nvSpPr>
        <p:spPr>
          <a:xfrm>
            <a:off x="548640" y="26822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66395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i trasferimenti tra registri dell'intero ciclo per sw t1, 0(t0) e per beq t0, t1, target</a:t>
            </a:r>
            <a:endParaRPr lang="en-US" sz="2000" dirty="0"/>
          </a:p>
        </p:txBody>
      </p:sp>
      <p:sp>
        <p:nvSpPr>
          <p:cNvPr id="10" name="Text 8"/>
          <p:cNvSpPr txBox="1"/>
          <p:nvPr/>
        </p:nvSpPr>
        <p:spPr>
          <a:xfrm>
            <a:off x="548640" y="34864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46811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Disegnate il diagramma della pipeline per sei istruzioni su una pipeline a quattro stadi: quando termina la sesta?</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PRG32-QT mettete un breakpoint in first_update, avanzate di un passo, e confrontate il codice macchina mostrato con la vostra decodifica del riscaldamento</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Su carta: addi t0, t0, 10 e sub t1, t0, t1. Su PRG32-QT: le quattro parole del riscaldamento, o i loro equivalenti compressi.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Glossario: inglese e italiano</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860279"/>
                <a:gridCol w="2600254"/>
                <a:gridCol w="3033629"/>
              </a:tblGrid>
              <a:tr h="0">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Inglese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Inglese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Italiano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operation code (opcode)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codice operativo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interrupt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operand</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operando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exception / trap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eccezione / trap</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addressing mode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modo di indirizzamento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interrupt service routine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routine di servizio dell'interruzione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fetch / decode / execute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prelievo / decodifica / esecuzione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interrupt latency</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latenza di 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pipeline stage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stadio della pipeline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to mask an interrupt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mascherare un'interruzione</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000" b="1" dirty="0">
                          <a:solidFill>
                            <a:srgbClr val="1B2530"/>
                          </a:solidFill>
                          <a:latin typeface="Calibri" pitchFamily="34" charset="0"/>
                          <a:ea typeface="Calibri" pitchFamily="34" charset="-122"/>
                          <a:cs typeface="Calibri" pitchFamily="34" charset="-120"/>
                        </a:rPr>
                        <a:t>context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contesto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nesting</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B2530"/>
                          </a:solidFill>
                          <a:latin typeface="Calibri" pitchFamily="34" charset="0"/>
                          <a:ea typeface="Calibri" pitchFamily="34" charset="-122"/>
                          <a:cs typeface="Calibri" pitchFamily="34" charset="-120"/>
                        </a:rPr>
                        <a:t>annidamento</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Conclusioni e letture</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Un'istruzione è un codice operativo e zero, uno o più operandi; in RISC-V è sempre di 32 bit, in sei formati regolari</a:t>
            </a:r>
            <a:endParaRPr lang="en-US" sz="1900" dirty="0"/>
          </a:p>
        </p:txBody>
      </p:sp>
      <p:sp>
        <p:nvSpPr>
          <p:cNvPr id="5" name="Shape 3"/>
          <p:cNvSpPr/>
          <p:nvPr/>
        </p:nvSpPr>
        <p:spPr>
          <a:xfrm>
            <a:off x="548640" y="223121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48027"/>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La lunghezza delle istruzioni, fissa o variabile, determina il comportamento del PC</a:t>
            </a:r>
            <a:endParaRPr lang="en-US" sz="1900" dirty="0"/>
          </a:p>
        </p:txBody>
      </p:sp>
      <p:sp>
        <p:nvSpPr>
          <p:cNvPr id="7" name="Shape 5"/>
          <p:cNvSpPr/>
          <p:nvPr/>
        </p:nvSpPr>
        <p:spPr>
          <a:xfrm>
            <a:off x="548640" y="266753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584348"/>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Il processore ha un ciclo: preleva un'istruzione, la decodifica, la esegue, e scrive il risultato</a:t>
            </a:r>
            <a:endParaRPr lang="en-US" sz="1900" dirty="0"/>
          </a:p>
        </p:txBody>
      </p:sp>
      <p:sp>
        <p:nvSpPr>
          <p:cNvPr id="9" name="Shape 7"/>
          <p:cNvSpPr/>
          <p:nvPr/>
        </p:nvSpPr>
        <p:spPr>
          <a:xfrm>
            <a:off x="548640" y="33982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315056"/>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Gli eventi eccezionali spezzano il ciclo: il processore salva dov'era, serve l'evento e riprende</a:t>
            </a:r>
            <a:endParaRPr lang="en-US" sz="1900" dirty="0"/>
          </a:p>
        </p:txBody>
      </p:sp>
      <p:sp>
        <p:nvSpPr>
          <p:cNvPr id="11" name="Shape 9"/>
          <p:cNvSpPr/>
          <p:nvPr/>
        </p:nvSpPr>
        <p:spPr>
          <a:xfrm>
            <a:off x="548640" y="412894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045763"/>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Le interruzioni si possono abilitare, mascherare e ordinare per priorità; RISC-V lo fa con una manciata di registri e l'istruzione mret</a:t>
            </a:r>
            <a:endParaRPr lang="en-US" sz="1900" dirty="0"/>
          </a:p>
        </p:txBody>
      </p:sp>
      <p:sp>
        <p:nvSpPr>
          <p:cNvPr id="13" name="Shape 11"/>
          <p:cNvSpPr/>
          <p:nvPr/>
        </p:nvSpPr>
        <p:spPr>
          <a:xfrm>
            <a:off x="548640" y="4859655"/>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776470"/>
            <a:ext cx="10710367" cy="139573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Letture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Patterson, Hennessy: Struttura e progetto dei calcolatori, edizione RISC-V, paragrafi 2.5, 4.1-4.6 e 4.10</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The RISC-V Instruction Set Manual, volume II: Privileged Architecture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Playing with RISC-V, capitolo 4: PRG32-QT e il suo debugger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Istruzioni e interruzioni</dc:title>
  <dc:subject>Lezione 19</dc:subject>
  <dc:creator>Raffaele Montella</dc:creator>
  <cp:lastModifiedBy>Raffaele Montella</cp:lastModifiedBy>
  <cp:revision>1</cp:revision>
  <dcterms:created xsi:type="dcterms:W3CDTF">2026-10-12T11:28:41Z</dcterms:created>
  <dcterms:modified xsi:type="dcterms:W3CDTF">2026-10-12T11:28:41Z</dcterms:modified>
</cp:coreProperties>
</file>