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e4b6538b-81d6-d375-6412-d8e7fe4cf208}">
          <p14:sldIdLst>
            <p14:sldId id="256"/>
            <p14:sldId id="257"/>
          </p14:sldIdLst>
        </p14:section>
        <p14:section name="Istruzioni" id="{db4ed641-59a5-fe2a-60a3-f103ff9b2a03}">
          <p14:sldIdLst>
            <p14:sldId id="258"/>
            <p14:sldId id="259"/>
            <p14:sldId id="260"/>
          </p14:sldIdLst>
        </p14:section>
        <p14:section name="Il ciclo del processore" id="{aeda4369-b59c-158d-83de-129efd0c6c9f}">
          <p14:sldIdLst>
            <p14:sldId id="261"/>
            <p14:sldId id="262"/>
          </p14:sldIdLst>
        </p14:section>
        <p14:section name="Interruzioni" id="{32fa2c4d-f875-615e-4bb8-6b637bbe0a44}">
          <p14:sldIdLst>
            <p14:sldId id="263"/>
            <p14:sldId id="264"/>
            <p14:sldId id="265"/>
            <p14:sldId id="266"/>
            <p14:sldId id="267"/>
          </p14:sldIdLst>
        </p14:section>
        <p14:section name="La soluzione di RISC-V" id="{bc051e5e-f9b7-a73a-0dfd-e323ce2bd05d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lezione precedente ha descritto di che cosa è fatto un processore. Questa descrive che cosa fa. Ha due metà. La prima segue una singola istruzione: come è codificata in 32 bit e quali passi compie il processore per eseguirla. La seconda spiega che cosa succede quando arriva qualcosa di più urgente del programma in corso, un timer, un dispositivo, un errore, e il processore deve lasciare ciò che sta facendo e tornarci dopo. La battuta in copertina è quasi vera, come vedrete.
Per il docente: La presentazione originale usava una macchina a parole di 16 bit per la fase di fetch e il Motorola MC68000 per interruzioni vettorizzate e priorità. Entrambi sono sostituiti da RISC-V: i sei formati di istruzione, i cinque stadi classici, e il meccanismo delle trap in modo macchina (mtvec, mepc, mcause, mstatus, mret). Una slide di confronto conserva il 68000 come controparte storica.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obiettivi. Descrivere un'istruzione come codice operativo con operandi. Decodificare a mano un'istruzione RISC-V. Seguire un'istruzione nelle cinque fasi del ciclo del processore. Spiegare che cos'è una pipeline e perché accelera un processore. Definire interruzione, eccezione e trap, tre parole che RISC-V usa con precisione. E descrivere che cosa fa l'hardware a una trap e come riprende il programma interrotto.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processore ha quattro famiglie di istruzioni: trasferimenti tra memoria e registri, aritmetica e logica, controllo del flusso, ingresso/uscita. Un'istruzione è un codice operativo, l'opcode, che dice che cosa fare, seguito da zero o più operandi, che dicono su che cosa. Un operando può essere una costante scritta dentro l'istruzione, un immediato; una locazione di memoria; oppure un registro. Alcuni operandi sono impliciti: una macchina ad accumulatore non nomina l'accumulatore. Le istruzioni hanno da zero a tre operandi.
Per il docente: In RISC-V la quarta famiglia non esiste come tale: i dispositivi sono memoria (Lezione 15). add ha tre operandi, tutti registri; ret non ne ha di visibili.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formati di RISC-V. Tutte le istruzioni sono lunghe 32 bit, divisi in campi. Nel formato R, per le operazioni tra registri, ci sono tre numeri di registro di cinque bit, rs1, rs2 e rd, e tre campi che selezionano l'operazione. Nel formato I il secondo registro sorgente è sostituito da un immediato di 12 bit. S e B, per store e salti condizionati, spezzano l'immediato in due parti. U e J portano un immediato di 20 bit. Notate la regolarità: l'opcode sta sempre nei sette bit più bassi, e i registri sempre nelle stesse posizioni.
Per il docente: Bit da 31 a 0, da sinistra a destra (indici mostrati sulla prima riga). B e J differiscono da S e U solo per come sono disposti i bit dell'immediato. Questa regolarità è il cuore dell'idea RISC; i formati generici a 0, 1, 2 e 3 operandi della presentazione originale ne sono gli antenati.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modo di indirizzamento è un modo di trovare un operando. RISC-V ne ha quattro. Immediato: l'operando è una costante dentro l'istruzione. Registro: è il contenuto di un registro. Base più scostamento: è la parola di memoria all'indirizzo dato da un registro più una costante, l'unico modo di raggiungere la memoria. Relativo al PC: un indirizzo a una certa distanza dall'istruzione stessa, usato dai salti. L'indirizzamento indiretto in memoria, in cui l'indirizzo stesso sta in memoria, non esiste: richiede due load.
Per il docente: RISC-V ha solo i primi quattro. Un processore CISC come l'MC68000 ne ha una dozzina, compresi i modi indiretti in memoria e con autoincremento. L'esempio della presentazione originale, R3 := M[M[A]], in RISC-V diventa: lw t0, 0(t1) seguita da lw t0, 0(t0). La fase di «operand assembly» di un processore CISC è il prezzo dei modi di indirizzamento ricchi.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fasi. Prelievo (fetch): l'istruzione all'indirizzo contenuto nel PC viene letta dalla memoria, e il PC avanza. Decodifica: l'opcode viene riconosciuto e i registri nominati nell'istruzione vengono letti. Esecuzione: la ALU calcola un risultato, un indirizzo o un confronto. Memoria: i load leggono la memoria, gli store la scrivono, le altre istruzioni qui non fanno nulla. Scrittura (write back): il risultato viene scritto nel registro di destinazione. Dopo il bootstrap iniziale, il processore ripete questo ciclo all'infinito.
Per il docente: Algoritmo fondamentale del processore: inizializzazione, instruction fetch and decoding, operand assembly, execute. La versione a cinque fasi è la formulazione RISC classica. In inglese: fetch, decode, execute, memory, write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ogni fase ha il proprio hardware, le fasi di istruzioni diverse possono sovrapporsi. Nella tabella ogni riga è un'istruzione e ogni colonna un ciclo di clock: mentre la prima istruzione è in esecuzione, la seconda viene decodificata e la terza prelevata. Ogni istruzione impiega ancora cinque cicli, ma a ogni ciclo ne termina una: è la pipeline, la stessa idea di una catena di montaggio. I processori superscalari affiancano più pipeline. Il core principale del kit ha una pipeline a quattro stadi.
Per il docente: Slide di origine: «Esempio di pipeline lineare a 5 stadi; superscalarità». IF instruction fetch (prelievo), ID decode (decodifica), EX execute (esecuzione), MEM memory (memoria), WB write back (scrittura). I salti e le dipendenze tra istruzioni vicine complicano il quadro (hazard): è l'argomento di un corso avanzato.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processore che facesse solo prelievo, decodifica ed esecuzione avrebbe tre problemi. La comunicazione con i dispositivi sarebbe inefficiente: il programma dovrebbe chiedere di continuo a ogni dispositivo se ha qualcosa da dire. Un programma entrato per errore in un ciclo senza fine, come il j loop della slide, non potrebbe mai essere rimosso. E il sistema operativo avrebbe poco controllo sulla macchina. Tutti e tre hanno la stessa soluzione: un modo per togliere il processore al programma in esecuzione.
Per il docente: Slide di origine: «Ciclo del processore semplificato»: bootstrap, fetch, operand assembly, execute.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definizione: le interruzioni sono eventi eccezionali, di solito asincroni rispetto al programma in esecuzione, che richiedono l'attenzione del processore. RISC-V usa tre parole distinte. Un'interruzione (interrupt) viene dall'esterno del programma, in un momento qualunque: un timer, un dispositivo. Un'eccezione è causata dall'istruzione in esecuzione: un opcode illegale, un indirizzo vietato. Una trap è il trasferimento del controllo a un gestore, qualunque ne sia la causa. Altri processori usano queste parole con meno rigore.
Per il docente: Interrupt o interruzioni. I processori più vecchi e la presentazione originale chiamano «trap» gli eventi sincroni e usano «interrupt» per tutto; la specifica RISC-V usa le tre parole con precisione.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ciclo reale. Dopo il bootstrap il processore preleva, decodifica ed esegue; poi, alla fine di ogni istruzione, controlla se c'è un'interruzione in attesa. Se no, torna al prelievo. Se sì, accoglie la trap: passa allo stato privilegiato e comincia a eseguire una routine del sistema, il gestore. Quando il gestore termina, il programma sospeso riprende come se nulla fosse accaduto. Seguite i due percorsi sul diagramma: l'anello corto è il caso normale.
Per il docente: Ciclo del processore reale. In RISC-V lo «stato supervisore» è il modo macchina, e la prima istruzione prelevata dopo la trap è quella all'indirizzo contenuto in mtvec.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cause di interruzione. Un'interruzione periodica da un timer, per ripartire il processore tra i programmi. Un'interruzione di I/O, con cui una periferica segnala di essere pronta. Gli errori nel programma, come un'istruzione inesistente: sono le eccezioni. I guasti del sistema: alimentazione, temperatura. Il reset, che riporta tutto a uno stato noto. E l'interruzione software, con cui un programma chiede un servizio al sistema operativo: in RISC-V è l'istruzione ecall.
Per il docente: La presentazione originale elenca l'overflow aritmetico tra gli errori di programma: in RISC-V l'overflow intero non solleva eccezioni (Lezione 05). ecall, environment call, è sincrona rispetto al programma che la esegue.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procedura generale in sei passi. Salvare il contesto, parte hardware: almeno l'indirizzo da cui riprendere. Identificare la causa. Saltare al punto d'ingresso della routine di servizio dell'interruzione. Salvare il contesto, parte software: i registri che la routine sta per usare. Servire l'interruzione. Infine ripristinare il contesto e riprendere il programma sospeso dall'istruzione successiva all'ultima eseguita. Il contesto è tutto ciò che il programma interrotto deve ritrovare immutato.
Per il docente: Gestione delle interruzioni. Lo stato da salvare e ripristinare: PC, stato, e i registri. Il salvataggio si può fare in parte o del tutto in hardware o in software; RISC-V fa il minimo in hardware. Con più dispositivi il processore deve identificare chi ha interrotto e, per richieste simultanee, applicare una priorità.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registri. mtvec, scritto una volta dal firmware, contiene l'indirizzo del gestore delle trap. mstatus contiene MIE, l'abilitazione globale delle interruzioni, e MPIE, il suo valore precedente. mie ha un bit di abilitazione per ogni sorgente, mip un bit di richiesta in attesa per ogni sorgente. mepc riceve, a ogni trap, l'indirizzo dell'istruzione interrotta. mcause riceve la causa. La colonna centrale è importante: alcuni registri li scrive il firmware per configurare il meccanismo, altri l'hardware quando avviene una trap.
Per il docente: Registri di controllo e stato del modo macchina (Lezione 18). Un'interruzione viene accolta solo se il suo bit è a 1 sia in mip sia in mie e MIE vale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fa l'hardware a una trap, in ordine. Scrive in mepc l'indirizzo dell'istruzione interrotta. Scrive la causa in mcause. Copia MIE in MPIE e azzera MIE, così le altre interruzioni sono disabilitate. Passa al modo macchina. Carica nel PC l'indirizzo contenuto in mtvec. Nulla viene salvato su uno stack: i registri generici sono lasciati al gestore. L'istruzione mret, alla fine del gestore, annulla tutto: MIE riprende il valore di MPIE e il PC quello di mepc.
Per il docente: L'hardware non mette nulla su uno stack: il salvataggio dei registri generici è lasciato al gestore. È il «salvataggio hardware del contesto» dello schema generale, ridotto a due registri e un 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di mcause. Il bit più alto dice se è stata un'interruzione o un'eccezione; il resto è un codice. Le tre interruzioni, evidenziate: software, timer, ed esterna, cioè un dispositivo. Tra le eccezioni: istruzione illegale, breakpoint, errore di accesso in un load o in uno store, ed ecall. Lo stesso numero può comparire in entrambe le famiglie con significati diversi, ed è per questo che serve il bit più alto. La riga del breakpoint spiega come un debugger, per esempio quello di PRG32-QT, ferma il vostro programma.
Per il docente: I codici standard della specifica privilegiata; i chip ne aggiungono di propri. Lo stesso codice 3 significa cose diverse per interruzioni ed eccezioni: le distingue il bit più alto di mcause. Con mtvec in modo vettorizzato, un'interruzione del timer entra a base + 4 x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Tutto questo succede sul kit. Un timer interrompe il processore cento volte al secondo, e il firmware lo usa per tenere il tempo e cadenzare i frame. Il display e l'audio interrompono quando vogliono altri dati. La radio interrompe quando arriva un pacchetto, ed è per questo che potete caricare una cartuccia mentre un gioco è in esecuzione. Le vostre init, update e draw sono normali funzioni che girano tra un'interruzione e l'altra. E una cartuccia bloccata in un ciclo non ferma le interruzioni: PRG32-QT segnala un errore; sulla scheda un watchdog segnala lo stallo.
Per il docente: I tre problemi del ciclo semplice (I/O inefficiente, programmi fuori controllo, controllo limitato) e la loro soluzione, tutti visibili sul kit. Verificato sui sorgenti e sulla configurazione del firmware (non su una scheda fisica): la cartuccia gira in modo nativo dentro il task principale, nello stesso modo di privilegio del firmware; FreeRTOS ha un tick a 100 Hz; il task watchdog (5 s, sorveglia il task idle) stampa soltanto un avviso sulla porta seriale, perché l'opzione panic è spenta, quindi una cartuccia bloccata trattiene il lock della cartuccia e il kit va resettato. Una cartuccia che disabilitasse le interruzioni farebbe invece scattare l'interrupt watchdog (300 ms), che va in panic e riavvia il chip. Eseguito su PRG32-QT: un ciclo senza fine dà «instruction budget exhausted», una scrittura in mstatus dà «unsupported CSR». In PRG32-QT un breakpoint è l'eccezione con codice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Riguardate la slide dei formati: un campo sta nello stesso posto in tutte e quattro le righe.
Gli indirizzi contano i byte. Quanti byte occupa un'istruzione di 32 bit?
Per il docente: 1. Risposta: B. I bit da 6 a 0, in ogni formato: il processore sa sempre dove guardare per prima cosa.
2. Risposta: C. Gli indirizzi contano i byte e un'istruzione è lunga quattro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Sono in gioco quattro registri: uno contiene l'indirizzo del gestore, uno la causa, uno l'indirizzo da cui riprendere. ra appartiene alle chiamate di funzione, non alle trap.
Usate la definizione: un'eccezione è causata dall'istruzione in esecuzione, un'interruzione viene dall'esterno in un momento arbitrario. Tre dei quattro eventi vengono dall'esterno.
Per il docente: 1. Risposta: C. mepc, scritto dall'hardware alla trap e usato da mret. mtvec contiene l'indirizzo del gestore.
2. Risposta: C. È causata dall'istruzione in esecuzione, in modo sincrono; le altre vengono dall'esterno, in un momento qualunque.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Dodici termini. Operation code è il codice operativo; addressing mode è il modo di indirizzamento. Fetch, decode ed execute sono prelievo, decodifica ed esecuzione. La interrupt service routine è la routine che serve un'interruzione. La interrupt latency, latenza di interruzione, è il ritardo tra la richiesta e l'inizio del lavoro utile. To mask, mascherare un'interruzione, significa impedire temporaneamente che venga accolta.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Un'istruzione è un codice operativo con i suoi operandi; in RISC-V sempre 32 bit in sei formati regolari. La lunghezza delle istruzioni determina come si muove il PC. Il processore ha un ciclo: preleva, decodifica, esegue, scrive il risultato. Gli eventi eccezionali spezzano il ciclo: il processore salva dov'era, serve l'evento e riprende. Le interruzioni si possono abilitare, mascherare e ordinare per priorità, e RISC-V lo fa con una manciata di registri e mret. La prossima lezione lascia il processore per i bus e la scheda video.
Per il docente: Le conclusioni originali affermavano che «l'interrupt è un segnale non mascherabile»: la maggior parte delle interruzioni si può mascherare; solo poche no. Prossima lezione: i bus e la scheda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19: Istruzioni e interruzioni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19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Istruzioni e interruzioni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formati delle istruzioni, il ciclo del processore, e come RISC-V gestisce gli eventi eccezionali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“Perché la CPU non riesce mai a combinare niente? Perché viene interrotta di continuo.”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Battuta anonima sull'architettura dei calcolatori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asteroi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un'istruzione come codice operativo e operandi, e nominare i tipi di operando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93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377643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Decodificare a mano un'istruzione RISC-V, riconoscendone formato e campi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1343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09514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Seguire un'istruzione nel ciclo del processore: prelievo, decodifica, esecuzione, memoria, scrittura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7375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05546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che cos'è una pipeline e perché rende più veloce un processore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91253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772965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Definire interruzioni, eccezioni e trap, ed elencarne le cause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che cosa fa RISC-V quando avviene una trap e come riprende il programma interrotto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 che cosa è fatta un'istruzione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149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1742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Istruzioni tipiche di un processore</a:t>
            </a:r>
            <a:endParaRPr lang="en-US" sz="2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trasferimenti di dati tra memoria e registri</a:t>
            </a:r>
            <a:endParaRPr lang="en-US" sz="2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operazioni aritmetiche e logiche</a:t>
            </a:r>
            <a:endParaRPr lang="en-US" sz="2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istruzioni per il controllo del flusso</a:t>
            </a:r>
            <a:endParaRPr lang="en-US" sz="2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trasferimenti di dati da e verso l'ingresso/uscita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345630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342132"/>
            <a:ext cx="10710367" cy="712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Un'istruzione è composta da un codice operativo, l'opcode, e da zero o più operandi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48640" y="435165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237482"/>
            <a:ext cx="10710367" cy="139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Tipi di operando</a:t>
            </a:r>
            <a:endParaRPr lang="en-US" sz="2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una costante: un immediato, esplicito o implicito</a:t>
            </a:r>
            <a:endParaRPr lang="en-US" sz="2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una locazione di memoria</a:t>
            </a:r>
            <a:endParaRPr lang="en-US" sz="2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registro, esplicito o implicito (l'accumulatore)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48640" y="593001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815838"/>
            <a:ext cx="10710367" cy="356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istruzioni possono avere zero, uno, due o tre operandi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formati delle istruzioni RISC-V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533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 da registro a registro (add, sub, and, sll, ...)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2414460" cy="384048"/>
          </a:xfrm>
          <a:prstGeom prst="rect">
            <a:avLst/>
          </a:prstGeom>
          <a:solidFill>
            <a:srgbClr val="6B4FA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funct7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682496"/>
            <a:ext cx="12072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755870" y="1682496"/>
            <a:ext cx="11706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963100" y="1920240"/>
            <a:ext cx="1724614" cy="384048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999676" y="1682496"/>
            <a:ext cx="8623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825407" y="1682496"/>
            <a:ext cx="8257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687714" y="1920240"/>
            <a:ext cx="1724614" cy="384048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724290" y="1682496"/>
            <a:ext cx="8623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550021" y="1682496"/>
            <a:ext cx="8257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12328" y="1920240"/>
            <a:ext cx="1091654" cy="384048"/>
          </a:xfrm>
          <a:prstGeom prst="rect">
            <a:avLst/>
          </a:prstGeom>
          <a:solidFill>
            <a:srgbClr val="6B4FA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48904" y="1682496"/>
            <a:ext cx="5458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958155" y="1682496"/>
            <a:ext cx="5092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503982" y="1920240"/>
            <a:ext cx="1724614" cy="384048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540558" y="1682496"/>
            <a:ext cx="8623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66289" y="1682496"/>
            <a:ext cx="8257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9228596" y="1920240"/>
            <a:ext cx="2414460" cy="384048"/>
          </a:xfrm>
          <a:prstGeom prst="rect">
            <a:avLst/>
          </a:prstGeom>
          <a:solidFill>
            <a:srgbClr val="2E4A6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opcode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265172" y="1682496"/>
            <a:ext cx="12072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0435825" y="1682496"/>
            <a:ext cx="11706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256946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I: immediati e load (addi, andi, lw, jalr, ...)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2907792"/>
            <a:ext cx="4139074" cy="384048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immediato [11:0]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687714" y="2907792"/>
            <a:ext cx="1724614" cy="384048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rs1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12328" y="2907792"/>
            <a:ext cx="1091654" cy="384048"/>
          </a:xfrm>
          <a:prstGeom prst="rect">
            <a:avLst/>
          </a:prstGeom>
          <a:solidFill>
            <a:srgbClr val="6B4FA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funct3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503982" y="2907792"/>
            <a:ext cx="1724614" cy="384048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228596" y="2907792"/>
            <a:ext cx="2414460" cy="384048"/>
          </a:xfrm>
          <a:prstGeom prst="rect">
            <a:avLst/>
          </a:prstGeom>
          <a:solidFill>
            <a:srgbClr val="2E4A6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opcode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360273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S: store (sw, sh, sb); B: salti condizionati, con la stessa forma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3941064"/>
            <a:ext cx="2414460" cy="384048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imm [11:5]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2963100" y="3941064"/>
            <a:ext cx="1724614" cy="384048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rs2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4687714" y="3941064"/>
            <a:ext cx="1724614" cy="384048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412328" y="3941064"/>
            <a:ext cx="1091654" cy="384048"/>
          </a:xfrm>
          <a:prstGeom prst="rect">
            <a:avLst/>
          </a:prstGeom>
          <a:solidFill>
            <a:srgbClr val="6B4FA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funct3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503982" y="3941064"/>
            <a:ext cx="1724614" cy="384048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imm [4:0]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9228596" y="3941064"/>
            <a:ext cx="2414460" cy="384048"/>
          </a:xfrm>
          <a:prstGeom prst="rect">
            <a:avLst/>
          </a:prstGeom>
          <a:solidFill>
            <a:srgbClr val="2E4A6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opcode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4636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U: immediati alti (lui, auipc); J: salti (jal), con la stessa forma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4974336"/>
            <a:ext cx="6934010" cy="384048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immediato [31:12]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482650" y="4974336"/>
            <a:ext cx="1733502" cy="384048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9216152" y="4974336"/>
            <a:ext cx="2426903" cy="384048"/>
          </a:xfrm>
          <a:prstGeom prst="rect">
            <a:avLst/>
          </a:prstGeom>
          <a:solidFill>
            <a:srgbClr val="2E4A6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opcode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57784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 formati, tutti di 32 bit. L'opcode sta sempre negli stessi sette bit, e i numeri di registro rd, rs1 e rs2 stanno sempre negli stessi posti: il processore può leggerli prima ancora di sapere di quale istruzione si tratta.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 di indirizzamento: dove si trova un operando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546259"/>
                <a:gridCol w="4910643"/>
                <a:gridCol w="363751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L'operando è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Esempio RISC-V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costante dentro l'istruzione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t1, t1, 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contenuto di un registro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 t2, t0, t1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più scostamento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parola di memoria a registro + costante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lw t1, 8(sp)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relativo al PC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indirizzo a una certa distanza dall'istruzione stessa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beq t0, t1, loop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indiretto in memoria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parola di memoria il cui indirizzo è in memoria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non disponibile: due load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fasi del ciclo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Prelievo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l'istruzione all'indirizzo contenuto nel PC viene letta dalla memoria; il PC avanza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20635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40675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77835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2977835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l'opcode viene riconosciuto; i registri nominati dall'istruzione vengono letti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812670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32710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69870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Esecuzione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5269870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ALU calcola: un risultato, un indirizzo o un confronto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104705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24745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61905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7561905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load leggono la memoria, gli store la scrivono; le altre saltano questa fase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396740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16780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53940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Scrittura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853940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risultato viene scritto nel registro di destinazione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una fase di avvio, il bootstrap, il processore ripete questo ciclo all'infinito. Nei processori con modi di indirizzamento ricchi, una fase di operand assembly raccoglie gli operandi prima dell'esecuzione.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pipeline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123912"/>
                <a:gridCol w="1123912"/>
                <a:gridCol w="1123912"/>
                <a:gridCol w="1123912"/>
                <a:gridCol w="1123912"/>
                <a:gridCol w="1123912"/>
                <a:gridCol w="1123912"/>
                <a:gridCol w="112391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ciclo di clock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MEM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WB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D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MEM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WB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D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MEM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WB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D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MEM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WB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DE0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365709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32688" y="3566160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Cinque fasi, cinque pezzi di hardware: mentre un'istruzione viene eseguita, la successiva viene decodificata e una terza prelevata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48640" y="442247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32688" y="4331547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istruzione impiega ancora cinque cicli, ma a ogni ciclo di clock ne termina una: cinque volte la produttività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518786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32688" y="5096933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processori superscalari affiancano due o più pipeline: più di un'istruzione per ciclo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595325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32688" y="5862320"/>
            <a:ext cx="10710367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core principale dell'ESP32-C6 ha una pipeline a quattro stadi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problema del ciclo semplice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149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1069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il processore facesse sempre e solo prelievo, decodifica, esecuzione, nascerebbero alcuni problemi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276009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45918"/>
            <a:ext cx="6565392" cy="142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L'interazione con il mondo esterno attraverso le unità di I/O sarebbe inefficiente: il programma dovrebbe chiedere di continuo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48640" y="434505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230878"/>
            <a:ext cx="6565392" cy="1069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ci sarebbe modo di rimuovere d'autorità un'applicazione entrata per errore in un ciclo infinito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48640" y="557364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459476"/>
            <a:ext cx="6565392" cy="712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sistema operativo avrebbe un controllo limitato sul sistema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 loop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programma bloccato in un ciclo senza fine: chi gli toglie il processore?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Interruzioni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1596136"/>
          </a:xfrm>
          <a:prstGeom prst="roundRect">
            <a:avLst>
              <a:gd name="adj" fmla="val 4583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1036289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Eventi eccezionali, di solito asincroni rispetto all'esecuzione del programma in corso, che richiedono l'attenzione del processore.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45541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3333496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Vocabolario RISC-V: un'interruzione (interrupt) viene dall'esterno del programma, in un momento qualunque: un timer, un dispositivo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450291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4380992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Un'eccezione è causata dall'istruzione in esecuzione: un opcode illegale, un indirizzo vietato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48640" y="555040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5428488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trap è il trasferimento del controllo a un gestore che segue l'una o l'altra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ciclo reale del processore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1828800" cy="731520"/>
          </a:xfrm>
          <a:prstGeom prst="roundRect">
            <a:avLst>
              <a:gd name="adj" fmla="val 7500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1874520"/>
            <a:ext cx="1828800" cy="731520"/>
          </a:xfrm>
          <a:prstGeom prst="roundRect">
            <a:avLst>
              <a:gd name="adj" fmla="val 75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prelievo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1874520"/>
            <a:ext cx="1828800" cy="731520"/>
          </a:xfrm>
          <a:prstGeom prst="roundRect">
            <a:avLst>
              <a:gd name="adj" fmla="val 75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 ed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esecuzione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587752" y="2240280"/>
            <a:ext cx="493776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965192" y="2240280"/>
            <a:ext cx="493776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5486400" y="352044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interruzione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attesa?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0" y="2633472"/>
            <a:ext cx="0" cy="859536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 flipH="1">
            <a:off x="4023360" y="3931920"/>
            <a:ext cx="1435608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4023360" y="2633472"/>
            <a:ext cx="0" cy="1298448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4480560" y="3611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516636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trap: vai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gestore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0" y="4370832"/>
            <a:ext cx="0" cy="768096"/>
          </a:xfrm>
          <a:prstGeom prst="line">
            <a:avLst/>
          </a:prstGeom>
          <a:noFill/>
          <a:ln w="31750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492240" y="45720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sì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 flipH="1">
            <a:off x="2743200" y="5577840"/>
            <a:ext cx="2715768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2743200" y="3063240"/>
            <a:ext cx="0" cy="251460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0" y="3063240"/>
            <a:ext cx="822960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3566160" y="2633472"/>
            <a:ext cx="0" cy="429768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8638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47888" y="1417320"/>
            <a:ext cx="3395167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 fine di ogni istruzione il processore controlla se è arrivato qualche segnale di interruzione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863840" y="279882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47888" y="2723388"/>
            <a:ext cx="3395167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non ce ne sono, l'elaborazione torna alla fase di prelievo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863840" y="382600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47888" y="3750564"/>
            <a:ext cx="3395167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ce n'è uno, il processore passa allo stato supervisore e comincia a eseguire una routine del sistema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7863840" y="51320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47888" y="5056632"/>
            <a:ext cx="3395167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la routine termina, il programma sospeso può riprendere come se nulla fosse accaduto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Possibili cause di interruzione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Interruzione periodica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timer, per esempio ogni 10 ms: per ripartire il processore tra i programmi e misurare il tempo usato da ciascuno.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8218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Interruzione di I/O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periferica segnala il proprio stato, per esempio che è pronta a ricevere dati, per sincronizzarsi con il processore.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27797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Errori nel programma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Un'istruzione inesistente o privilegiata, un indirizzo vietato: eventi sincroni, detti eccezioni.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Guasti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Malfunzionamenti del sistema rilevati da sonde apposite: alimentazione, temperatura, errori di memoria.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338218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6681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115458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612538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Riporta l'intero sistema a uno stato noto.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127797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56397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905037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Interruzione software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402117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Generata da un programma che ha bisogno di una risorsa condivisa e chiede al sistema operativo di fare da tramite: in RISC-V, l'istruzione ecall.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Gestire un'interruzione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Salvare il contesto, parte hardware: almeno l'indirizzo da cui riprendere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53107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134819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Identificare la causa dell'interruzione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7060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85231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Saltare al punto d'ingresso della routine di servizio dell'interruzione (ISR)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83093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81264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Salvare il contesto, parte software: i registri che la routine sta per usare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91253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772965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Servire l'interruzione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l'interruzione lo consente: ripristinare il contesto, e riprendere il programma sospeso dall'istruzione che segue l'ultima eseguita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registri del meccanismo delle trap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455005"/>
                <a:gridCol w="3637513"/>
                <a:gridCol w="600189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CSR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Scritto da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Contenuto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mtvec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firmware, una volta, all'avvio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l'indirizzo del gestore delle trap, e se si usa il modo vettorizzato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mstatus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hardware e firmware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MIE, l'abilitazione globale delle interruzioni, e MPIE, il suo valore precedente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mie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firmware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bit di abilitazione per ogni sorgente: software, timer, esterna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mip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l'hardware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bit di richiesta in attesa per ogni sorgente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mepc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l'hardware, a ogni trap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l'indirizzo dell'istruzione interrotta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mcause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l'hardware, a ogni trap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bit che dice interruzione o eccezione, e un codice per la causa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fa l'hardware a una trap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mepc := l'indirizzo dell'istruzione interrotta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53107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134819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mcause := la causa: bit più alto 1 per un'interruzione, 0 per un'eccezione, più un codice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1343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09514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mstatus: MPIE := MIE, poi MIE := 0, così le altre interruzioni sono disabilitate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7375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05546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passa al modo macchina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91253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772965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:= l'indirizzo in mtvec, oppure, in modo vettorizzato e per le interruzioni, quell'indirizzo più 4 volte la causa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515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73328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mret, alla fine del gestore, annulla tutto: MIE := MPIE e PC := mepc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causa di una trap: mcause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818757"/>
                <a:gridCol w="1455005"/>
                <a:gridCol w="782065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Codice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interruzione software di macchina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interruzione del timer di macchina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interruzione esterna di macchina: un dispositivo, tramite il controllore delle interruzioni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eccezione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illegale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eccezione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breakpoint (ebreak): così un debugger ferma un programma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eccezione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5, 7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errore di accesso in load o store: un indirizzo vietato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eccezione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8, 11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 call (ecall) dal modo utente, dal modo macchina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interruzioni sul kit PRG32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timer interrompe il processore cento volte al secondo: il firmware lo usa per tenere il tempo e cadenzare i frame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66594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periferiche di display e audio interrompono quando un blocco di dati è stato inviato e serve il successivo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31241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236976"/>
            <a:ext cx="65653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radio Wi-Fi interrompe quando arriva un pacchetto: si può caricare una cartuccia mentre un gioco è in esecuzione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436168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286250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vostre init, update e draw sono normali funzioni chiamate dal firmware tra un'interruzione e la successiva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513207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056632"/>
            <a:ext cx="656539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cartuccia bloccata in un ciclo non ferma le interruzioni: PRG32-QT chiude il frame con un errore; sulla scheda un watchdog segnala lo stallo, e premete reset</a:t>
            </a:r>
            <a:endParaRPr lang="en-US" sz="1800" dirty="0"/>
          </a:p>
        </p:txBody>
      </p:sp>
      <p:pic>
        <p:nvPicPr>
          <p:cNvPr id="13" name="Image 0" descr="/Users/raffaelemontella/devel/riscv-prg32/computer-architecture-with-prg32/tools/assets/menu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48954"/>
            <a:ext cx="3779215" cy="2834411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menu del firmware PRG32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quali bit di un'istruzione RISC-V sta l'opcode?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sette più significativi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sette meno significativi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bit da 14 a 12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dipende dal formato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Durante il prelievo di un'istruzione RV32 non compressa, il PC viene incrementato di: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registro contiene l'indirizzo da cui riprenderà un programma RISC-V interrotto?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mtvec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mepc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mcause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di questi è un'eccezione e non un'interruzione, nei termini di RISC-V?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scade un timer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viene premuto un tasto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viene prelevata un'istruzione illegale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 un pacchetto dalla rete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600254"/>
                <a:gridCol w="2860279"/>
                <a:gridCol w="2600254"/>
                <a:gridCol w="303362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 code (opcode)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codice operativo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interrupt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operando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 / trap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eccezione / trap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addressing mode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 di indirizzamento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interrupt service routine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routine di servizio dell'interruzione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 / decode / execute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prelievo / decodifica / esecuzione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interrupt latency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latenza di interruzione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stage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stadio della pipeline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mask an interrupt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mascherare un'interruzione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contesto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nesting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annidamento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Un'istruzione è un codice operativo e zero, uno o più operandi; in RISC-V è sempre di 32 bit, in sei formati regolari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3121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48027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lunghezza delle istruzioni, fissa o variabile, determina il comportamento del PC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266753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584348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ha un ciclo: preleva un'istruzione, la decodifica, la esegue, e scrive il risultato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39824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315056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eventi eccezionali spezzano il ciclo: il processore salva dov'era, serve l'evento e riprende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412894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045763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interruzioni si possono abilitare, mascherare e ordinare per priorità; RISC-V lo fa con una manciata di registri e l'istruzione mret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48596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4776470"/>
            <a:ext cx="10710367" cy="139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paragrafi 2.5, 4.1-4.6 e 4.10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The RISC-V Instruction Set Manual, volume II: Privileged Architecture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RISC-V, capitolo 4: PRG32-QT e il suo debugger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Istruzioni e interruzioni</dc:title>
  <dc:subject>Lezione 19</dc:subject>
  <dc:creator>Raffaele Montella</dc:creator>
  <cp:lastModifiedBy>Raffaele Montella</cp:lastModifiedBy>
  <cp:revision>1</cp:revision>
  <dcterms:created xsi:type="dcterms:W3CDTF">2026-10-13T08:56:26Z</dcterms:created>
  <dcterms:modified xsi:type="dcterms:W3CDTF">2026-10-13T08:56:26Z</dcterms:modified>
</cp:coreProperties>
</file>