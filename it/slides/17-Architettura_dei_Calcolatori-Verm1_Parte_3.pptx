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pertura" id="{8daafcd8-ab21-60d4-ce4f-465c54884dee}">
          <p14:sldIdLst>
            <p14:sldId id="256"/>
            <p14:sldId id="257"/>
            <p14:sldId id="258"/>
            <p14:sldId id="259"/>
          </p14:sldIdLst>
        </p14:section>
        <p14:section name="Il progetto, prima del codice" id="{be22d199-6fac-6615-b2a9-add5b4fbc9df}">
          <p14:sldIdLst>
            <p14:sldId id="260"/>
            <p14:sldId id="261"/>
            <p14:sldId id="262"/>
          </p14:sldIdLst>
        </p14:section>
        <p14:section name="Passo 5: guardare la memoria muoversi" id="{08eaed5d-ea35-08dc-9b00-1c971f4fb1bf}">
          <p14:sldIdLst>
            <p14:sldId id="263"/>
            <p14:sldId id="264"/>
            <p14:sldId id="265"/>
            <p14:sldId id="266"/>
            <p14:sldId id="267"/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 terzo tutorial trasforma Verm1 in un vero gioco. Finora il verme era una sola cella e nulla poteva andare storto. Oggi la memoria entra nel progetto: il verme acquista un corpo che segue la testa e cresce, mordersi pone fine alla partita, e il programma guadagna una schermata del titolo e una di fine partita. La frase di Fred Brooks in copertina è il principio guida della sessione: si scelgano bene le strutture dati, e il codice si scrive quasi da sé. Si introducono due di queste strutture, un anello e una mappa, e il tutorial è in gran parte uno studio di come il loro progetto dia forma al codice.
Stato di apprendimento: DA COMPRENDERE OGGI, alla fine di questa lezione lo spiegate, lo seguite passo passo e lo applicate da soli; DA UTILIZZARE OGGI, oggi seguite e usate la ricetta; come funziona dentro si spiega più avanti, o non fa parte del corso; DA COMPRENDERE PIÙ AVANTI, riconoscete il nome e lo scopo; lo spiega una lezione successiva. Una slide senza etichetta è contesto: una storia, un esempio, una domanda, un esercizio.
Stato di apprendimento di questa lezione. DA COMPRENDERE OGGI: gli array in memoria; macchine a stati finiti; .text, .rodata, .data; latch e flip-flop; la virgola fissa. DA UTILIZZARE OGGI: la convenzione di chiamata (Lezione 18) e, usati senza essere studiati nel corso, gli strumenti di PRG32, il debugger di PRG32-QT. DA COMPRENDERE PIÙ AVANTI: niente. Una slide senza etichetta è contesto: una storia, un esempio, una domanda, un esercizio.
Percorso. I risultati di oggi: (1) realizzare il gioco come macchina a stati con tre stati; (2) tenere il corpo in un buffer circolare e la griglia in un array di byte; (3) riconoscere una collisione leggendo la griglia. Si appoggia su: gli array in memoria (Lezione 04); macchine a stati finiti (Lezione 13); .text, .rodata, .data (Lezione 07); latch e flip-flop (Lezione 13); la virgola fissa (Lezione 06). Prossimo passo: Lezione 18, Il processore.
Per il docente: Terzo tutorial del progetto. Usa le Lezioni da 13 a 16: macchine a stati finiti e rilevamento del fronte (13), registri che conservano il valore precedente (14), la memoria come vettore di byte, indirizzi e indici (15), ciò che resta nel file della cartuccia e ciò che si perde allo spegnimento (16). Il file di riferimento è verm1/verm1_part3.S. La citazione è la seconda metà dell'osservazione di Brooks su diagrammi di flusso e tabelle: con «strutture dati» al posto di «tabelle» è il motto di questa parte.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Cinque risultati. Un verme con un corpo che segue la testa e cresce di una cella a ogni pasto. Un gioco che si può perdere. Tre schermate, titolo, gioco e fine partita, collegate dal pulsante A. Un cibo che non compare mai sul verme. E un punteggio migliore, conservato finché la cartuccia resta in memoria. È il passo più grande del progetto: il file raddoppia circa di lunghezza, quindi i passi vanno seguiti in ordine e il programma eseguito ogni volta che una slide lo chiede.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idee del blocco su stato e memoria, e dove compaiono oggi. La macchina a stati finiti della Lezione 13 diventa i tre stati del gioco. Il fronte, un cambiamento e non un livello, diventa "A premuto ora e non un frame fa". Il registro che conserva un valore fino al clock successivo diventa prev_btn. La memoria come array di byte, dalla Lezione 15, diventa il corpo e la mappa del mondo. E la distinzione tra ciò che resta nel file e ciò che vive in RAM, dalla Lezione 16, diventa .rodata, .data e il punteggio migliore.
Per il docente: Il frame è il clock della nostra macchina: update calcola lo stato prossimo dallo stato presente e dagli ingressi, esattamente come nella Lezione 13.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tre schermate da costruire: il titolo con il suo invito, il gioco con un verme di sette celle dopo quattro pasti, e la schermata di fine partita. Sono un solo programma in tre stati. La sessione parte da una Parte 2 funzionante; uno studente il cui file non gira copia il file di riferimento della Parte 2.
Per il docente: Schermate prodotte da tools/tests/verm1_check.py con un giocatore programmato.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 corpo è memorizzato in due array di 256 byte, body_x e body_y, e la voce k contiene colonna e riga di un segmento. Nulla viene mai fatto scorrere. Due numeri descrivono il verme: head_i, l'indice della testa, e length, il numero di voci in uso, così che la coda sia la voce head_i - length + 1. Un passo scrive una nuova voce dopo la testa e fa avanzare head_i; se il verme ha mangiato la coda resta, altrimenti avanza anch'essa. Dopo la voce 255 viene la voce 0, un AND con 255: l'array è un anello, o buffer circolare. Ogni passo costa un tempo costante, qualunque sia la lunghezza del verme.
DA COMPRENDERE OGGI: gli array in memoria.
Per il docente: Un buffer circolare, la struttura che sta dietro ogni coda FIFO (first in, first out); l'aritmetica degli indirizzi è quella della Lezione 15. Muovere un verme di 200 celle costa quanto muoverne uno di 3. La dimensione 256 è scelta perché il ritorno a capo sia un solo AND: una potenza di due.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 stabilire se la nuova testa tocca il corpo, il programma potrebbe confrontarla con ogni segmento, fino a 255 confronti per passo. Tiene invece una mappa del mondo: un byte per ciascuna delle 960 celle, 1 se un segmento la occupa e 0 altrimenti. La cella nella colonna c della riga r è il byte r × 40 + c. Un passo pone a 1 un byte e ne azzera un altro, e il test di collisione diventa un solo caricamento. È il classico scambio di memoria con tempo. Il suo prezzo è un invariante da mantenere: mappa e anello devono sempre concordare.
DA COMPRENDERE OGGI: gli array in memoria.
Per il docente: Memoria in cambio di tempo: lo scambio classico. La mappa e l'anello dicono la stessa cosa in due modi, e il programma deve tenerli coerenti: ogni scrittura nell'una è accoppiata a una scrittura nell'altro.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 diagramma degli stati del gioco, come nella Lezione 13: TITLE passa a PLAY quando si preme A; PLAY passa a OVER quando il verme si morde; OVER torna a TITLE quando si preme A. La tabella aggiunge l'azione associata a ogni transizione. Un dettaglio decide se la macchina funziona: "A premuto" deve significare premuto ora e rilasciato un frame fa, un fronte e non un livello. Altrimenti tenere premuto A attraverserebbe gli stati al ritmo di uno per frame, il difetto anticipato nel riscaldamento della Lezione 13.
DA COMPRENDERE OGGI: macchine a stati finiti.
Per il docente: Il diagramma e la tabella della Lezione 13, per il nostro gioco. In ogni altro caso lo stato non cambia. Disegnarlo alla lavagna prima di mostrare il codice: il codice è una trascrizione.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 pone un breakpoint sulla prima istruzione di step e si riprende l'esecuzione: il programma ora si ferma una volta per passo del verme. Si apre la vista della memoria all'indirizzo di body_x: dopo i 03 04 05 iniziali, a ogni passo compare un nuovo byte. Girando verso il basso, body_x ripete la stessa colonna mentre body_y, 256 byte più avanti, conta le righe. Dopo un pasto si confrontano head_i e length prima e dopo: entrambi sono aumentati di uno. I vecchi byte non si cancellano mai, così l'anello registra la storia degli ultimi 256 passi.
DA UTILIZZARE OGGI: il debugger di PRG32-QT (si usa, non si studia, in questo corso).
Per il docente: I byte delle vecchie posizioni non vengono mai cancellati: l'anello conserva tutta la storia degli ultimi 256 passi, e length dice quanta di essa è ancora verme. Dopo 256 passi la scrittura ricomincia dal primo byte.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 fronte del pulsante A, frame per frame. Finché A è rilasciato, tutto è zero. Nel frame in cui A viene premuto, s0 vale 0x10 e prev_btn vale ancora 0: l'AND con la negazione dà 0x10, e la transizione avviene. Nei frame successivi A resta premuto, ma ora anche prev_btn vale 0x10, e il risultato è zero. Un fronte, una transizione, per quanto a lungo si tenga premuto il pulsante: il rilevatore di fronti della Lezione 13, con una parola di memoria come flip-flop e il frame come clock.
DA UTILIZZARE OGGI: il debugger di PRG32-QT (si usa, non si studia, in questo corso).
Per il docente: Mettere un breakpoint su and s1, s0, t1 in verm1_update, tenere premuto A e premere Resume tre volte: s1 vale 0x10 in un solo frame. Il test del file di riferimento tiene premuto A per 28 frame e verifica che avvenga esattamente una transizione.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Tre domande a cui rispondere con il debugger. Dov'è state, e che cosa contiene durante il gioco e dopo aver perso? La mappa è coerente con l'anello, cioè il byte in riga × 40 + colonna della testa contiene 1? Che cosa ha osservato il passo fatale: all'lbu dopo la seconda mul in step, t1 vale 1 esattamente una volta, al morso. L'ultima riga enuncia un principio che va ben oltre questo gioco: un programma è corretto quando la sua memoria è corretta, e i suoi invarianti sono ciò che rende la memoria verificabile.
DA UTILIZZARE OGGI: il debugger di PRG32-QT (si usa, non si studia, in questo corso).
Per il docente: La terza domanda è la più istruttiva: s0 e s1 contengono la cella in cui la testa voleva entrare, e lo schermo mostra che fa parte del corpo.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 la prima domanda si calcola prima la coda: head_i - length + 1 è 1 - 4 + 1 = -2, che mascherato con 255 diventa 254. Da lì si contano quattro voci in avanti, ricominciando dopo 255.
Per la seconda vale la formula della mappa: riga × 40 + colonna. Le due non vanno scambiate; l'opzione con 283 è 7 × 40 + 3.
Per il docente: 1. Risposta: C. Dalla coda, head_i - length + 1 = -2, cioè 254 dopo AND 255, fino alla testa: 254, 255, 0, 1.
2. Risposta: B. 3 x 40 + 7 = 127.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 la prima domanda si ragiona in termini di fronti. A resta premuto per molti frame, ma solo nel primo di essi è "premuto ora e rilasciato un frame fa".
Per la seconda: in un passo la coda libera una cella e la testa ne occupa una. Se sono la stessa cella, la domanda è quale delle due operazioni debba venire prima perché la mossa sia lecita.
Per il docente: 1. Risposta: B. Solo il frame in cui A scende dà s1 = 0x10: un fronte, una transizione.
2. Risposta: B. Nello stesso passo la coda si sposta: quella cella è libera per la testa.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situazione attuale. Verm1 è ora un gioco, con un obiettivo, un rischio, un inizio e una fine, e ogni sua riga si può spiegare. È logica sequenziale e memoria espresse come programma: una macchina a tre stati, un anello di byte, una mappa. Restano tre aspetti grezzi: l'intero schermo viene ridisegnato a ogni frame, il punteggio è una fila di tacche, e la velocità non cambia mai. Le prossime quattro lezioni aprono la macchina che esegue il codice, e la Parte 4 completa il gioco.
Stato di apprendimento, riepilogo. DA COMPRENDERE OGGI: gli array in memoria; macchine a stati finiti; .text, .rodata, .data; latch e flip-flop; la virgola fissa. DA UTILIZZARE OGGI: la convenzione di chiamata (Lezione 18) e, usati senza essere studiati nel corso, gli strumenti di PRG32, il debugger di PRG32-QT. DA COMPRENDERE PIÙ AVANTI: niente. Una slide senza etichetta è contesto: una storia, un esempio, una domanda, un esercizio. Il filo della lezione: Il gioco ha ora una memoria e degli stati: le macchine sequenziali della Lezione 13, scritte in software. Prossimo passo: il processore che esegue tutto questo. Biglietto d'uscita (da due a quattro minuti, da soli, su carta): 1. Verm1 ha tre stati: TITLE, PLAY, OVER. Disegnate le transizioni ed etichettate ciascuna con l'evento che la provoca. 2. Il corpo è un anello di 256 elementi. head_i vale 255 e il verme fa un passo. Quanto vale il nuovo head_i, e perché Verm1 lo calcola con andi t1, t1, 255?
Per il docente: Gli studenti hanno ora circa 450 righe di assembly che hanno scritto e sanno spiegare. Le prossime quattro lezioni aprono la macchina che le esegue.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1908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ARC12 Architettura dei Calcolatori  |  Lezione 17: Verm1, parte 3  |  A.A. 2026/27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B2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201900" cy="20190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68096" y="640080"/>
            <a:ext cx="201900" cy="201900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8096" y="859536"/>
            <a:ext cx="201900" cy="20190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87552" y="859536"/>
            <a:ext cx="201900" cy="201900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078992"/>
            <a:ext cx="201900" cy="20190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60020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C779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ARC12 ARCHITETTURA DEI CALCOLATORI  ·  LEZIONE 17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011680"/>
            <a:ext cx="972281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Verm1, parte 3: un corpo, regole e stati</a:t>
            </a:r>
            <a:endParaRPr lang="en-US" sz="48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611880"/>
            <a:ext cx="97228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memoria entra nel gioco: un anello di byte, una mappa del mondo, una macchina a tre stati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434340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“Mostrami le tue tabelle, e di solito non avrò bisogno dei tuoi diagrammi di flusso: saranno ovvi.”</a:t>
            </a:r>
            <a:endParaRPr lang="en-US" sz="1900" dirty="0"/>
          </a:p>
          <a:p>
            <a:pPr indent="0" marL="0">
              <a:buNone/>
            </a:pPr>
            <a:r>
              <a:rPr lang="en-US" sz="12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Fred Brooks, The Mythical Man-Month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4864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Raffaele Montella, PhD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Università degli Studi di Napoli “Parthenope”  ·  A.A. 2026/27</a:t>
            </a: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raffaelemontella.it  ·  raffaele.montella@uniparthenope.it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Implementazione di riferimento di Verm1: contributo di Giuseppe Coviello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693615" y="566928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Presentazione della lezione. I listati, il programma completo e come provarlo sono nella presentazione del codice:</a:t>
            </a:r>
            <a:endParaRPr lang="en-US" sz="1300" dirty="0"/>
          </a:p>
          <a:p>
            <a:pPr algn="r" indent="0" marL="0">
              <a:buNone/>
            </a:pPr>
            <a:r>
              <a:rPr lang="en-US" sz="13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17-Architettura_dei_Calcolatori-Verm1_Parte_3-Lab.pptx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625535" y="4160520"/>
            <a:ext cx="3017520" cy="2011680"/>
          </a:xfrm>
          <a:prstGeom prst="roundRect">
            <a:avLst>
              <a:gd name="adj" fmla="val 3636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pic>
        <p:nvPicPr>
          <p:cNvPr id="15" name="Image 0" descr="/Users/raffaelemontella/devel/riscv-prg32/computer-architecture-with-prg32/tools/assets/verm1_p3_pla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16975" y="4280535"/>
            <a:ext cx="2834640" cy="1771650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8910777" y="91440"/>
            <a:ext cx="2732278" cy="274320"/>
          </a:xfrm>
          <a:prstGeom prst="rect">
            <a:avLst/>
          </a:prstGeom>
          <a:solidFill>
            <a:srgbClr val="F3E8FF"/>
          </a:solidFill>
          <a:ln w="12700">
            <a:solidFill>
              <a:srgbClr val="7E22CE"/>
            </a:solidFill>
            <a:prstDash val="dash"/>
          </a:ln>
        </p:spPr>
      </p:sp>
      <p:sp>
        <p:nvSpPr>
          <p:cNvPr id="17" name="Shape 14"/>
          <p:cNvSpPr/>
          <p:nvPr/>
        </p:nvSpPr>
        <p:spPr>
          <a:xfrm>
            <a:off x="8938209" y="128016"/>
            <a:ext cx="45720" cy="45720"/>
          </a:xfrm>
          <a:prstGeom prst="rect">
            <a:avLst/>
          </a:prstGeom>
          <a:solidFill>
            <a:srgbClr val="7E22CE"/>
          </a:solidFill>
          <a:ln w="12700">
            <a:solidFill>
              <a:srgbClr val="7E22CE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938209" y="205740"/>
            <a:ext cx="45720" cy="45720"/>
          </a:xfrm>
          <a:prstGeom prst="rect">
            <a:avLst/>
          </a:prstGeom>
          <a:solidFill>
            <a:srgbClr val="7E22CE"/>
          </a:solidFill>
          <a:ln w="12700">
            <a:solidFill>
              <a:srgbClr val="7E22CE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938209" y="283464"/>
            <a:ext cx="45720" cy="45720"/>
          </a:xfrm>
          <a:prstGeom prst="rect">
            <a:avLst/>
          </a:prstGeom>
          <a:solidFill>
            <a:srgbClr val="7E22CE"/>
          </a:solidFill>
          <a:ln w="12700">
            <a:solidFill>
              <a:srgbClr val="7E22CE"/>
            </a:solidFill>
            <a:prstDash val="solid"/>
          </a:ln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38793" y="128016"/>
            <a:ext cx="201168" cy="201168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9294825" y="91440"/>
            <a:ext cx="231165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COMPRENDERE PIÙ AVANTI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6675069" y="91440"/>
            <a:ext cx="2125980" cy="274320"/>
          </a:xfrm>
          <a:prstGeom prst="rect">
            <a:avLst/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6675069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6729933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3085" y="128016"/>
            <a:ext cx="201168" cy="201168"/>
          </a:xfrm>
          <a:prstGeom prst="rect">
            <a:avLst/>
          </a:prstGeom>
        </p:spPr>
      </p:pic>
      <p:sp>
        <p:nvSpPr>
          <p:cNvPr id="26" name="Text 21"/>
          <p:cNvSpPr txBox="1"/>
          <p:nvPr/>
        </p:nvSpPr>
        <p:spPr>
          <a:xfrm>
            <a:off x="7059117" y="91440"/>
            <a:ext cx="17053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UTILIZZARE OGGI</a:t>
            </a:r>
            <a:endParaRPr lang="en-US" sz="1100" dirty="0"/>
          </a:p>
        </p:txBody>
      </p:sp>
      <p:sp>
        <p:nvSpPr>
          <p:cNvPr id="27" name="Shape 22"/>
          <p:cNvSpPr/>
          <p:nvPr/>
        </p:nvSpPr>
        <p:spPr>
          <a:xfrm>
            <a:off x="4352747" y="91440"/>
            <a:ext cx="2212594" cy="274320"/>
          </a:xfrm>
          <a:prstGeom prst="rect">
            <a:avLst/>
          </a:prstGeom>
          <a:solidFill>
            <a:srgbClr val="E0F2FE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4352747" y="91440"/>
            <a:ext cx="73152" cy="27432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0763" y="128016"/>
            <a:ext cx="201168" cy="201168"/>
          </a:xfrm>
          <a:prstGeom prst="rect">
            <a:avLst/>
          </a:prstGeom>
        </p:spPr>
      </p:pic>
      <p:sp>
        <p:nvSpPr>
          <p:cNvPr id="30" name="Text 24"/>
          <p:cNvSpPr txBox="1"/>
          <p:nvPr/>
        </p:nvSpPr>
        <p:spPr>
          <a:xfrm>
            <a:off x="4736795" y="91440"/>
            <a:ext cx="17919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COMPRENDERE OGGI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 cosa avrete alla fine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618488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1600200"/>
            <a:ext cx="10436047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verme con un corpo che segue la testa e cresce di una cella a ogni pasto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757424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207008" y="2739136"/>
            <a:ext cx="1043604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gioco che si può perdere: il verme non deve mordersi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653536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207008" y="3635248"/>
            <a:ext cx="1043604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 schermate: un titolo, il gioco, un game over, collegate dal pulsante A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549648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207008" y="4531360"/>
            <a:ext cx="1043604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cibo che non compare mai sul verme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445760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207008" y="5427472"/>
            <a:ext cx="1043604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punteggio migliore, conservato finché la cartuccia resta in memoria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 cosa prende la Parte 3 dalle lezioni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4415" cy="914400"/>
        </p:xfrm>
        <a:graphic>
          <a:graphicData uri="http://schemas.openxmlformats.org/drawingml/2006/table">
            <a:tbl>
              <a:tblPr/>
              <a:tblGrid>
                <a:gridCol w="1455005"/>
                <a:gridCol w="5092518"/>
                <a:gridCol w="4546891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Idea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Dove compare oggi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Lezione 13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una macchina a stati finiti: stati, ingressi, transizioni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TITLE, PLAY, OVER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Lezione 13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 fronte è un cambiamento, non un livello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premuto adesso e non un frame fa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Lezione 14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 registro conserva un valore per il clock successivo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prev_btn: i pulsanti dell'ultimo frame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Lezione 15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memoria è un vettore di byte: indirizzo = base + indice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il corpo, la mappa del mondo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Lezione 16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 cosa resta nel file e che cosa vive in RAM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.rodata e .data; il punteggio migliore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Dove state andando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3515258" cy="3931920"/>
          </a:xfrm>
          <a:prstGeom prst="roundRect">
            <a:avLst>
              <a:gd name="adj" fmla="val 2081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pic>
        <p:nvPicPr>
          <p:cNvPr id="4" name="Image 0" descr="/Users/raffaelemontella/devel/riscv-prg32/computer-architecture-with-prg32/tools/assets/verm1_p3_tit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2073307"/>
            <a:ext cx="3240938" cy="2025587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85800" y="4663440"/>
            <a:ext cx="324093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4338218" y="1417320"/>
            <a:ext cx="3515258" cy="3931920"/>
          </a:xfrm>
          <a:prstGeom prst="roundRect">
            <a:avLst>
              <a:gd name="adj" fmla="val 2081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pic>
        <p:nvPicPr>
          <p:cNvPr id="7" name="Image 1" descr="/Users/raffaelemontella/devel/riscv-prg32/computer-architecture-with-prg32/tools/assets/verm1_p3_pla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5378" y="2073307"/>
            <a:ext cx="3240938" cy="2025587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4475378" y="4663440"/>
            <a:ext cx="324093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PLAY: sette celle dopo quattro pasti</a:t>
            </a:r>
            <a:endParaRPr lang="en-US" sz="1500" dirty="0"/>
          </a:p>
        </p:txBody>
      </p:sp>
      <p:sp>
        <p:nvSpPr>
          <p:cNvPr id="9" name="Shape 5"/>
          <p:cNvSpPr/>
          <p:nvPr/>
        </p:nvSpPr>
        <p:spPr>
          <a:xfrm>
            <a:off x="8127797" y="1417320"/>
            <a:ext cx="3515258" cy="3931920"/>
          </a:xfrm>
          <a:prstGeom prst="roundRect">
            <a:avLst>
              <a:gd name="adj" fmla="val 2081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pic>
        <p:nvPicPr>
          <p:cNvPr id="10" name="Image 2" descr="/Users/raffaelemontella/devel/riscv-prg32/computer-architecture-with-prg32/tools/assets/verm1_p3_ov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4957" y="2073307"/>
            <a:ext cx="3240938" cy="2025587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8264957" y="4663440"/>
            <a:ext cx="324093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</a:t>
            </a:r>
            <a:endParaRPr lang="en-US" sz="1500" dirty="0"/>
          </a:p>
        </p:txBody>
      </p:sp>
      <p:sp>
        <p:nvSpPr>
          <p:cNvPr id="12" name="Text 7"/>
          <p:cNvSpPr txBox="1"/>
          <p:nvPr/>
        </p:nvSpPr>
        <p:spPr>
          <a:xfrm>
            <a:off x="548640" y="548640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 schermate, un solo programma. Partite da una Parte 2 che gira; se la vostra non gira, copiate verm1_part2.S.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 corpo è un anello di 256 elementi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920304" y="91440"/>
            <a:ext cx="3722751" cy="274320"/>
          </a:xfrm>
          <a:prstGeom prst="rect">
            <a:avLst/>
          </a:prstGeom>
          <a:solidFill>
            <a:srgbClr val="E0F2FE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920304" y="91440"/>
            <a:ext cx="73152" cy="27432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8320" y="128016"/>
            <a:ext cx="201168" cy="20116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304352" y="91440"/>
            <a:ext cx="330212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COMPRENDERE OGGI</a:t>
            </a:r>
            <a:pPr indent="0" marL="0">
              <a:buNone/>
            </a:pPr>
            <a:r>
              <a:rPr lang="en-US" sz="1100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gli array in memoria</a:t>
            </a:r>
            <a:endParaRPr lang="en-US" sz="11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24701"/>
            <a:ext cx="5760720" cy="1558006"/>
          </a:xfrm>
          <a:prstGeom prst="rect">
            <a:avLst/>
          </a:prstGeom>
        </p:spPr>
      </p:pic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070621"/>
            <a:ext cx="5760720" cy="1558006"/>
          </a:xfrm>
          <a:prstGeom prst="rect">
            <a:avLst/>
          </a:prstGeom>
        </p:spPr>
      </p:pic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4716541"/>
            <a:ext cx="5760720" cy="1558006"/>
          </a:xfrm>
          <a:prstGeom prst="rect">
            <a:avLst/>
          </a:prstGeom>
        </p:spPr>
      </p:pic>
      <p:sp>
        <p:nvSpPr>
          <p:cNvPr id="11" name="Shape 4"/>
          <p:cNvSpPr/>
          <p:nvPr/>
        </p:nvSpPr>
        <p:spPr>
          <a:xfrm>
            <a:off x="6492240" y="1508252"/>
            <a:ext cx="146304" cy="14630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2" name="Text 5"/>
          <p:cNvSpPr txBox="1"/>
          <p:nvPr/>
        </p:nvSpPr>
        <p:spPr>
          <a:xfrm>
            <a:off x="6876288" y="1417320"/>
            <a:ext cx="4766767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vettori di byte, body_x e body_y: l'elemento k contiene la cella di un segmento</a:t>
            </a:r>
            <a:endParaRPr lang="en-US" sz="2000" dirty="0"/>
          </a:p>
        </p:txBody>
      </p:sp>
      <p:sp>
        <p:nvSpPr>
          <p:cNvPr id="13" name="Shape 6"/>
          <p:cNvSpPr/>
          <p:nvPr/>
        </p:nvSpPr>
        <p:spPr>
          <a:xfrm>
            <a:off x="6492240" y="2624455"/>
            <a:ext cx="146304" cy="146304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14" name="Text 7"/>
          <p:cNvSpPr txBox="1"/>
          <p:nvPr/>
        </p:nvSpPr>
        <p:spPr>
          <a:xfrm>
            <a:off x="6876288" y="2533523"/>
            <a:ext cx="4766767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si sposta mai nulla: un passo scrive un elemento nuovo e muove un indice</a:t>
            </a:r>
            <a:endParaRPr lang="en-US" sz="2000" dirty="0"/>
          </a:p>
        </p:txBody>
      </p:sp>
      <p:sp>
        <p:nvSpPr>
          <p:cNvPr id="15" name="Shape 8"/>
          <p:cNvSpPr/>
          <p:nvPr/>
        </p:nvSpPr>
        <p:spPr>
          <a:xfrm>
            <a:off x="6492240" y="3740658"/>
            <a:ext cx="146304" cy="14630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6" name="Text 9"/>
          <p:cNvSpPr txBox="1"/>
          <p:nvPr/>
        </p:nvSpPr>
        <p:spPr>
          <a:xfrm>
            <a:off x="6876288" y="3649726"/>
            <a:ext cx="4766767" cy="909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numeri descrivono il verme</a:t>
            </a:r>
            <a:endParaRPr lang="en-US" sz="2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7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head_i: l'elemento della testa</a:t>
            </a:r>
            <a:endParaRPr lang="en-US" sz="2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7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length: quanti elementi sono in uso</a:t>
            </a:r>
            <a:endParaRPr lang="en-US" sz="2000" dirty="0"/>
          </a:p>
        </p:txBody>
      </p:sp>
      <p:sp>
        <p:nvSpPr>
          <p:cNvPr id="17" name="Shape 10"/>
          <p:cNvSpPr/>
          <p:nvPr/>
        </p:nvSpPr>
        <p:spPr>
          <a:xfrm>
            <a:off x="6492240" y="4837049"/>
            <a:ext cx="146304" cy="146304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18" name="Text 11"/>
          <p:cNvSpPr txBox="1"/>
          <p:nvPr/>
        </p:nvSpPr>
        <p:spPr>
          <a:xfrm>
            <a:off x="6876288" y="4746117"/>
            <a:ext cx="4766767" cy="61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coda è l'elemento head_i - length + 1</a:t>
            </a:r>
            <a:endParaRPr lang="en-US" sz="2000" dirty="0"/>
          </a:p>
        </p:txBody>
      </p:sp>
      <p:sp>
        <p:nvSpPr>
          <p:cNvPr id="19" name="Shape 12"/>
          <p:cNvSpPr/>
          <p:nvPr/>
        </p:nvSpPr>
        <p:spPr>
          <a:xfrm>
            <a:off x="6492240" y="5643372"/>
            <a:ext cx="146304" cy="14630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20" name="Text 13"/>
          <p:cNvSpPr txBox="1"/>
          <p:nvPr/>
        </p:nvSpPr>
        <p:spPr>
          <a:xfrm>
            <a:off x="6876288" y="5552440"/>
            <a:ext cx="4766767" cy="61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Dopo l'elemento 255 viene l'elemento 0: indice AND 255. Un anello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 mondo è una mappa di 960 byte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23746"/>
            <a:ext cx="146304" cy="14630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32688" y="1417320"/>
            <a:ext cx="6565392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nuova testa tocca il corpo? Guardare ogni segmento costa fino a 255 confronti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2376551"/>
            <a:ext cx="146304" cy="146304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32688" y="2270125"/>
            <a:ext cx="6565392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tiene invece una mappa: un byte per cella, 1 se c'è un segmento, 0 se no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3229356"/>
            <a:ext cx="146304" cy="14630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32688" y="3122930"/>
            <a:ext cx="6565392" cy="1343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cella in colonna c della riga r è il byte numero</a:t>
            </a:r>
            <a:endParaRPr lang="en-US" sz="2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r x 40 + c, da 0 a 959</a:t>
            </a:r>
            <a:endParaRPr lang="en-US" sz="2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il suo indirizzo è grid + r x 40 + c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548640" y="4744085"/>
            <a:ext cx="146304" cy="146304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32688" y="4637659"/>
            <a:ext cx="6565392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passo pone a 1 un byte, la nuova testa, e ne azzera uno, la vecchia coda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548640" y="5596890"/>
            <a:ext cx="146304" cy="14630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32688" y="5490464"/>
            <a:ext cx="6565392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test di collisione è un solo load, qualunque sia la lunghezza del verme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7863840" y="1417320"/>
            <a:ext cx="3779215" cy="4754880"/>
          </a:xfrm>
          <a:prstGeom prst="roundRect">
            <a:avLst>
              <a:gd name="adj" fmla="val 1936"/>
            </a:avLst>
          </a:prstGeom>
          <a:solidFill>
            <a:srgbClr val="1B2530"/>
          </a:solidFill>
          <a:ln w="12700">
            <a:solidFill>
              <a:srgbClr val="1B253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046720" y="2148840"/>
            <a:ext cx="341345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 x 40 + c</a:t>
            </a:r>
            <a:endParaRPr lang="en-US" sz="5900" dirty="0"/>
          </a:p>
        </p:txBody>
      </p:sp>
      <p:sp>
        <p:nvSpPr>
          <p:cNvPr id="15" name="Text 13"/>
          <p:cNvSpPr txBox="1"/>
          <p:nvPr/>
        </p:nvSpPr>
        <p:spPr>
          <a:xfrm>
            <a:off x="8138160" y="4160520"/>
            <a:ext cx="323057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mondo a due dimensioni in una memoria a una dimensione: il calcolo dell'indirizzo della Lezione 15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7920304" y="91440"/>
            <a:ext cx="3722751" cy="274320"/>
          </a:xfrm>
          <a:prstGeom prst="rect">
            <a:avLst/>
          </a:prstGeom>
          <a:solidFill>
            <a:srgbClr val="E0F2FE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920304" y="91440"/>
            <a:ext cx="73152" cy="27432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8320" y="128016"/>
            <a:ext cx="201168" cy="201168"/>
          </a:xfrm>
          <a:prstGeom prst="rect">
            <a:avLst/>
          </a:prstGeom>
        </p:spPr>
      </p:pic>
      <p:sp>
        <p:nvSpPr>
          <p:cNvPr id="19" name="Text 16"/>
          <p:cNvSpPr txBox="1"/>
          <p:nvPr/>
        </p:nvSpPr>
        <p:spPr>
          <a:xfrm>
            <a:off x="8304352" y="91440"/>
            <a:ext cx="330212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COMPRENDERE OGGI</a:t>
            </a:r>
            <a:pPr indent="0" marL="0">
              <a:buNone/>
            </a:pPr>
            <a:r>
              <a:rPr lang="en-US" sz="1100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gli array in memoria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 gioco è una macchina a tre stati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723327" y="91440"/>
            <a:ext cx="3919728" cy="274320"/>
          </a:xfrm>
          <a:prstGeom prst="rect">
            <a:avLst/>
          </a:prstGeom>
          <a:solidFill>
            <a:srgbClr val="E0F2FE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23327" y="91440"/>
            <a:ext cx="73152" cy="27432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51343" y="128016"/>
            <a:ext cx="201168" cy="20116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107375" y="91440"/>
            <a:ext cx="3499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COMPRENDERE OGGI</a:t>
            </a:r>
            <a:pPr indent="0" marL="0">
              <a:buNone/>
            </a:pPr>
            <a:r>
              <a:rPr lang="en-US" sz="1100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macchine a stati finiti</a:t>
            </a:r>
            <a:endParaRPr lang="en-US" sz="11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682" y="1417320"/>
            <a:ext cx="5736635" cy="3154680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6766560" y="1523746"/>
            <a:ext cx="146304" cy="14630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0" name="Text 5"/>
          <p:cNvSpPr txBox="1"/>
          <p:nvPr/>
        </p:nvSpPr>
        <p:spPr>
          <a:xfrm>
            <a:off x="7150608" y="1417320"/>
            <a:ext cx="4492447" cy="3408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stato è una parola in memoria</a:t>
            </a:r>
            <a:endParaRPr lang="en-US" sz="2200" dirty="0"/>
          </a:p>
        </p:txBody>
      </p:sp>
      <p:sp>
        <p:nvSpPr>
          <p:cNvPr id="11" name="Shape 6"/>
          <p:cNvSpPr/>
          <p:nvPr/>
        </p:nvSpPr>
        <p:spPr>
          <a:xfrm>
            <a:off x="6766560" y="2007193"/>
            <a:ext cx="146304" cy="146304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12" name="Text 7"/>
          <p:cNvSpPr txBox="1"/>
          <p:nvPr/>
        </p:nvSpPr>
        <p:spPr>
          <a:xfrm>
            <a:off x="7150608" y="1900767"/>
            <a:ext cx="4492447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guarda prima lo stato, poi gli ingressi</a:t>
            </a:r>
            <a:endParaRPr lang="en-US" sz="2200" dirty="0"/>
          </a:p>
        </p:txBody>
      </p:sp>
      <p:sp>
        <p:nvSpPr>
          <p:cNvPr id="13" name="Shape 8"/>
          <p:cNvSpPr/>
          <p:nvPr/>
        </p:nvSpPr>
        <p:spPr>
          <a:xfrm>
            <a:off x="6766560" y="2831507"/>
            <a:ext cx="146304" cy="14630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4" name="Text 9"/>
          <p:cNvSpPr txBox="1"/>
          <p:nvPr/>
        </p:nvSpPr>
        <p:spPr>
          <a:xfrm>
            <a:off x="7150608" y="2725081"/>
            <a:ext cx="4492447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premuto significa: giù adesso, su un frame fa</a:t>
            </a:r>
            <a:endParaRPr lang="en-US" sz="2200" dirty="0"/>
          </a:p>
        </p:txBody>
      </p:sp>
      <p:sp>
        <p:nvSpPr>
          <p:cNvPr id="15" name="Shape 10"/>
          <p:cNvSpPr/>
          <p:nvPr/>
        </p:nvSpPr>
        <p:spPr>
          <a:xfrm>
            <a:off x="6766560" y="3655822"/>
            <a:ext cx="146304" cy="146304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7150608" y="3549396"/>
            <a:ext cx="4492447" cy="1022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Tenere premuto A non deve saltare il titolo: un fronte, non un livello</a:t>
            </a:r>
            <a:endParaRPr lang="en-US" sz="2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754880"/>
          <a:ext cx="1115568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108960"/>
                <a:gridCol w="2377440"/>
                <a:gridCol w="365760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Stato presente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Ingresso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Stato prossimo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Azione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TITLE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premuto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new_game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nuova testa sul corpo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aggiorna il punteggio migliore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premuto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TITLE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Guardare l'anello girare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35608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1417320"/>
            <a:ext cx="10436047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Eseguite in modalità debug, premete A per avviare una partita, poi mettete in pausa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298802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207008" y="2280514"/>
            <a:ext cx="1043604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Premete Update e mettete un breakpoint sulla prima istruzione di step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919171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207008" y="2900883"/>
            <a:ext cx="10436047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Resume: il programma si ferma una volta per passo del verme, non una volta per frame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782365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207008" y="3764077"/>
            <a:ext cx="10436047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Scrivete l'indirizzo di body_x nel campo Memory: i byte 03 04 05 dell'inizio, poi 06, 07 ... un byte nuovo per passo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4645558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207008" y="4627270"/>
            <a:ext cx="10436047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Scendete per qualche passo: body_x ripete la stessa colonna, e body_y, 256 byte più avanti, conta le righe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5508752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207008" y="5490464"/>
            <a:ext cx="10436047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Mangiate, e confrontate head_i e length prima e dopo: crescono entrambi di uno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7809941" y="91440"/>
            <a:ext cx="3833114" cy="274320"/>
          </a:xfrm>
          <a:prstGeom prst="rect">
            <a:avLst/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809941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864805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57" y="128016"/>
            <a:ext cx="201168" cy="201168"/>
          </a:xfrm>
          <a:prstGeom prst="rect">
            <a:avLst/>
          </a:prstGeom>
        </p:spPr>
      </p:pic>
      <p:sp>
        <p:nvSpPr>
          <p:cNvPr id="19" name="Text 16"/>
          <p:cNvSpPr txBox="1"/>
          <p:nvPr/>
        </p:nvSpPr>
        <p:spPr>
          <a:xfrm>
            <a:off x="8193989" y="91440"/>
            <a:ext cx="34124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UTILIZZARE OGGI</a:t>
            </a:r>
            <a:pPr indent="0" marL="0">
              <a:buNone/>
            </a:pPr>
            <a:r>
              <a:rPr lang="en-US" sz="11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il debugger di PRG32-QT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Cogliere il fronte del pulsante A</a:t>
            </a:r>
            <a:endParaRPr lang="en-US" sz="3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4415" cy="914400"/>
        </p:xfrm>
        <a:graphic>
          <a:graphicData uri="http://schemas.openxmlformats.org/drawingml/2006/table">
            <a:tbl>
              <a:tblPr/>
              <a:tblGrid>
                <a:gridCol w="1065064"/>
                <a:gridCol w="1065064"/>
                <a:gridCol w="1420085"/>
                <a:gridCol w="1508840"/>
                <a:gridCol w="1597596"/>
                <a:gridCol w="2840170"/>
                <a:gridCol w="1597596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Frame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è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s0 (adesso)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prev_btn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prev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 = s0 AND NOT prev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Effetto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0x00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0x00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0xff...ff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0x00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 + 1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giù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0x10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0x00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0xff...ff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0x10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transizione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 + 2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giù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0x10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0x10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0xff...ef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0x00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 + 3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0x00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0x10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0xff...ef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0x00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76072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 vale 0x10 in un solo frame: quello in cui il pulsante scende.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7809941" y="91440"/>
            <a:ext cx="3833114" cy="274320"/>
          </a:xfrm>
          <a:prstGeom prst="rect">
            <a:avLst/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809941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864805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57" y="128016"/>
            <a:ext cx="201168" cy="20116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8193989" y="91440"/>
            <a:ext cx="34124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UTILIZZARE OGGI</a:t>
            </a:r>
            <a:pPr indent="0" marL="0">
              <a:buNone/>
            </a:pPr>
            <a:r>
              <a:rPr lang="en-US" sz="11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il debugger di PRG32-QT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 domande per il debugger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08252"/>
            <a:ext cx="146304" cy="14630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32688" y="1417320"/>
            <a:ext cx="5468112" cy="1239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Dov'è state? Dopo la t0, state in verm1_update, t0 ne contiene l'indirizzo. Guardate 00, 01, 02 mentre giocate e perdete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2886625"/>
            <a:ext cx="146304" cy="146304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32688" y="2795693"/>
            <a:ext cx="5468112" cy="1239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mappa è coerente con l'anello? Mettete in pausa, leggete la testa da body_x e body_y, calcolate riga x 40 + colonna, e guardate quel byte di grid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48640" y="4264999"/>
            <a:ext cx="146304" cy="14630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32688" y="4174067"/>
            <a:ext cx="5468112" cy="1239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 cosa ha visto il passo fatale? Fermatevi sulla lbu che segue la seconda mul in step: t1 vale 1 una volta sola, al morso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548640" y="5643372"/>
            <a:ext cx="146304" cy="146304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32688" y="5552440"/>
            <a:ext cx="5468112" cy="61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programma è giusto quando è giusta la sua memoria: imparate a leggerla</a:t>
            </a:r>
            <a:endParaRPr lang="en-US" sz="2000" dirty="0"/>
          </a:p>
        </p:txBody>
      </p:sp>
      <p:pic>
        <p:nvPicPr>
          <p:cNvPr id="11" name="Image 0" descr="/Users/raffaelemontella/devel/riscv-prg32/computer-architecture-with-prg32/tools/assets/prg32qt_debugger_detail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51807" y="1417320"/>
            <a:ext cx="3506002" cy="429768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6766560" y="5788152"/>
            <a:ext cx="48764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PRG32-QT: listato, registri, memoria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7809941" y="91440"/>
            <a:ext cx="3833114" cy="274320"/>
          </a:xfrm>
          <a:prstGeom prst="rect">
            <a:avLst/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809941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864805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7957" y="128016"/>
            <a:ext cx="201168" cy="201168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8193989" y="91440"/>
            <a:ext cx="34124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UTILIZZARE OGGI</a:t>
            </a:r>
            <a:pPr indent="0" marL="0">
              <a:buNone/>
            </a:pPr>
            <a:r>
              <a:rPr lang="en-US" sz="11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il debugger di PRG32-QT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Verifica la comprensione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6362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51560" y="1417320"/>
            <a:ext cx="105914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head_i = 1 e length = 4. Quali elementi dell'anello contengono il verme?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5410048" cy="724662"/>
          </a:xfrm>
          <a:prstGeom prst="roundRect">
            <a:avLst>
              <a:gd name="adj" fmla="val 10095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2346579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170432" y="2203704"/>
            <a:ext cx="4632808" cy="6149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1, 2, 3, 4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233008" y="2148840"/>
            <a:ext cx="5410048" cy="724662"/>
          </a:xfrm>
          <a:prstGeom prst="roundRect">
            <a:avLst>
              <a:gd name="adj" fmla="val 10095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70168" y="2346579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854800" y="2203704"/>
            <a:ext cx="4632808" cy="6149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0, 1, 2, 3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48640" y="3001518"/>
            <a:ext cx="5410048" cy="724662"/>
          </a:xfrm>
          <a:prstGeom prst="roundRect">
            <a:avLst>
              <a:gd name="adj" fmla="val 10095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85800" y="3199257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170432" y="3056382"/>
            <a:ext cx="4632808" cy="6149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254, 255, 0, 1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6233008" y="3001518"/>
            <a:ext cx="5410048" cy="724662"/>
          </a:xfrm>
          <a:prstGeom prst="roundRect">
            <a:avLst>
              <a:gd name="adj" fmla="val 10095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370168" y="3199257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854800" y="3056382"/>
            <a:ext cx="4632808" cy="6149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253, 254, 255, 0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400964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051560" y="3863340"/>
            <a:ext cx="105914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Quale byte di grid descrive la cella in colonna 7 della riga 3?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548640" y="4594860"/>
            <a:ext cx="5410048" cy="724662"/>
          </a:xfrm>
          <a:prstGeom prst="roundRect">
            <a:avLst>
              <a:gd name="adj" fmla="val 10095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85800" y="4792599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1170432" y="4649724"/>
            <a:ext cx="4632808" cy="6149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byte 37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6233008" y="4594860"/>
            <a:ext cx="5410048" cy="724662"/>
          </a:xfrm>
          <a:prstGeom prst="roundRect">
            <a:avLst>
              <a:gd name="adj" fmla="val 10095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370168" y="4792599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6854800" y="4649724"/>
            <a:ext cx="4632808" cy="6149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byte 127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548640" y="5447538"/>
            <a:ext cx="5410048" cy="724662"/>
          </a:xfrm>
          <a:prstGeom prst="roundRect">
            <a:avLst>
              <a:gd name="adj" fmla="val 10095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85800" y="5645277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1170432" y="5502402"/>
            <a:ext cx="4632808" cy="6149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byte 283</a:t>
            </a:r>
            <a:endParaRPr lang="en-US" sz="1700" dirty="0"/>
          </a:p>
        </p:txBody>
      </p:sp>
      <p:sp>
        <p:nvSpPr>
          <p:cNvPr id="28" name="Shape 26"/>
          <p:cNvSpPr/>
          <p:nvPr/>
        </p:nvSpPr>
        <p:spPr>
          <a:xfrm>
            <a:off x="6233008" y="5447538"/>
            <a:ext cx="5410048" cy="724662"/>
          </a:xfrm>
          <a:prstGeom prst="roundRect">
            <a:avLst>
              <a:gd name="adj" fmla="val 10095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370168" y="5645277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6854800" y="5502402"/>
            <a:ext cx="4632808" cy="6149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byte 307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Verifica la comprensione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6362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51560" y="1417320"/>
            <a:ext cx="105914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 giocatore tiene premuto A per due secondi sulla schermata del titolo. Che cosa accade?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5410048" cy="724662"/>
          </a:xfrm>
          <a:prstGeom prst="roundRect">
            <a:avLst>
              <a:gd name="adj" fmla="val 10095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2346579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170432" y="2203704"/>
            <a:ext cx="4632808" cy="6149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partita comincia e finisce subito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233008" y="2148840"/>
            <a:ext cx="5410048" cy="724662"/>
          </a:xfrm>
          <a:prstGeom prst="roundRect">
            <a:avLst>
              <a:gd name="adj" fmla="val 10095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70168" y="2346579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854800" y="2203704"/>
            <a:ext cx="4632808" cy="6149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partita comincia una volta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48640" y="3001518"/>
            <a:ext cx="5410048" cy="724662"/>
          </a:xfrm>
          <a:prstGeom prst="roundRect">
            <a:avLst>
              <a:gd name="adj" fmla="val 10095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85800" y="3199257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170432" y="3056382"/>
            <a:ext cx="4632808" cy="6149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nulla, finché A non viene rilasciato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6233008" y="3001518"/>
            <a:ext cx="5410048" cy="724662"/>
          </a:xfrm>
          <a:prstGeom prst="roundRect">
            <a:avLst>
              <a:gd name="adj" fmla="val 10095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370168" y="3199257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854800" y="3056382"/>
            <a:ext cx="4632808" cy="6149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gli stati si alternano a ogni frame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400964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051560" y="3863340"/>
            <a:ext cx="105914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Perché il byte della coda viene azzerato prima di esaminare quello della testa?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548640" y="4594860"/>
            <a:ext cx="5410048" cy="724662"/>
          </a:xfrm>
          <a:prstGeom prst="roundRect">
            <a:avLst>
              <a:gd name="adj" fmla="val 10095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85800" y="4792599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1170432" y="4649724"/>
            <a:ext cx="4632808" cy="6149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risparmiare un'istruzione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6233008" y="4594860"/>
            <a:ext cx="5410048" cy="724662"/>
          </a:xfrm>
          <a:prstGeom prst="roundRect">
            <a:avLst>
              <a:gd name="adj" fmla="val 10095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370168" y="4792599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6854800" y="4649724"/>
            <a:ext cx="4632808" cy="6149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perché la testa possa entrare nella cella lasciata dalla coda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548640" y="5447538"/>
            <a:ext cx="5410048" cy="724662"/>
          </a:xfrm>
          <a:prstGeom prst="roundRect">
            <a:avLst>
              <a:gd name="adj" fmla="val 10095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85800" y="5645277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1170432" y="5502402"/>
            <a:ext cx="4632808" cy="6149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perché sb è più veloce di lbu</a:t>
            </a:r>
            <a:endParaRPr lang="en-US" sz="1700" dirty="0"/>
          </a:p>
        </p:txBody>
      </p:sp>
      <p:sp>
        <p:nvSpPr>
          <p:cNvPr id="28" name="Shape 26"/>
          <p:cNvSpPr/>
          <p:nvPr/>
        </p:nvSpPr>
        <p:spPr>
          <a:xfrm>
            <a:off x="6233008" y="5447538"/>
            <a:ext cx="5410048" cy="724662"/>
          </a:xfrm>
          <a:prstGeom prst="roundRect">
            <a:avLst>
              <a:gd name="adj" fmla="val 10095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370168" y="5645277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6854800" y="5502402"/>
            <a:ext cx="4632808" cy="6149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l'ordine non conta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Dove siamo, e che cosa viene dopo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623314"/>
            <a:ext cx="146304" cy="14630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32688" y="1516888"/>
            <a:ext cx="10710367" cy="3408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Verm1 è un gioco: ha uno scopo, un rischio, un inizio e una fine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2421382"/>
            <a:ext cx="146304" cy="146304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32688" y="2314956"/>
            <a:ext cx="10710367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macchina a tre stati, un anello di byte, una mappa: logica sequenziale e memoria, scritte come programma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3560318"/>
            <a:ext cx="146304" cy="14630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32688" y="3453892"/>
            <a:ext cx="10710367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Manca: ridisegna l'intero schermo a ogni frame, il punteggio è una fila di tacche, la velocità non cambia mai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548640" y="4699254"/>
            <a:ext cx="146304" cy="146304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32688" y="4592828"/>
            <a:ext cx="10710367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Lezioni da 18 a 21 danno gli strumenti: come esegue il processore, chiamate e divisione, come funzionano video e suono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548640" y="5838190"/>
            <a:ext cx="146304" cy="14630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32688" y="5731764"/>
            <a:ext cx="10710367" cy="3408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4: il gioco finito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Università degli Studi di Napoli Parthenope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ARC12 Architettura dei Calcolatori - Verm1, parte 3: un corpo, regole e stati</dc:title>
  <dc:subject>Lezione 17</dc:subject>
  <dc:creator>Raffaele Montella</dc:creator>
  <cp:lastModifiedBy>Raffaele Montella</cp:lastModifiedBy>
  <cp:revision>1</cp:revision>
  <dcterms:created xsi:type="dcterms:W3CDTF">2026-10-17T07:16:50Z</dcterms:created>
  <dcterms:modified xsi:type="dcterms:W3CDTF">2026-10-17T07:16:50Z</dcterms:modified>
</cp:coreProperties>
</file>