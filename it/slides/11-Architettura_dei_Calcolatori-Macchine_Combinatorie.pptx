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71e7298-ae65-efa7-8c0b-bd153e2ba094}">
          <p14:sldIdLst>
            <p14:sldId id="256"/>
            <p14:sldId id="257"/>
          </p14:sldIdLst>
        </p14:section>
        <p14:section name="Macchine combinatorie" id="{a687366e-9029-bed0-37df-801a99bce457}">
          <p14:sldIdLst>
            <p14:sldId id="258"/>
            <p14:sldId id="259"/>
          </p14:sldIdLst>
        </p14:section>
        <p14:section name="Codici" id="{af204aa1-7563-2d12-2c01-e66e1d665662}">
          <p14:sldIdLst>
            <p14:sldId id="260"/>
            <p14:sldId id="261"/>
            <p14:sldId id="262"/>
          </p14:sldIdLst>
        </p14:section>
        <p14:section name="Decodificatori e codificatori" id="{fa351618-2343-02b0-2be3-686d5bff8d75}">
          <p14:sldIdLst>
            <p14:sldId id="263"/>
            <p14:sldId id="264"/>
            <p14:sldId id="265"/>
            <p14:sldId id="266"/>
          </p14:sldIdLst>
        </p14:section>
        <p14:section name="Multiplexer e demultiplexer" id="{fd8ae33f-6c8b-4576-a6c7-add6fe40f5a2}">
          <p14:sldIdLst>
            <p14:sldId id="267"/>
            <p14:sldId id="268"/>
          </p14:sldIdLst>
        </p14:section>
        <p14:section name="Confrontare e controllare" id="{1d26014d-a93f-6437-17be-5082deea643d}">
          <p14:sldIdLst>
            <p14:sldId id="269"/>
            <p14:sldId id="270"/>
          </p14:sldIdLst>
        </p14:section>
        <p14:section name="L'unità aritmetico-logica" id="{75c7edda-23ef-8a51-0443-3422218ec9b5}">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vi hanno dato le porte e un metodo per combinarle. Questa è un catalogo delle macchine che i progettisti usano davvero: decodificatori, codificatori, multiplexer, comparatori, reti di parità, e infine l'unità aritmetico-logica. Per ciascuna imparate che cosa fa, come è costruita, e dove sta dentro un processore RISC-V. Il giovane Turing della citazione vuole carote e piselli ben separati: questa lezione parla di tenere le cose distinte, e di scegliere tra esse.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Distinguere una macchina combinatoria da una sequenziale. Calcolare quanti bit richiede un codice e riconoscere codici incompleti e ridondanti. Progettare un decodificatore e un codificatore, e dire che cosa fa un transcodificatore. Spiegare multiplexer e demultiplexer e costruirli con le porte. Costruire un comparatore e una rete di parità, sapendo che cosa un controllo di parità può e non può rilevare. E indicare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sono di due tipi. In un circuito combinatorio le uscite in un dato istante dipendono solo dagli ingressi in quello stesso istante: non c'è memoria né retroazione, e una tabella di verità descrive completamente il circuito. In un circuito sequenziale le uscite dipendono anche dalla storia passata degli ingressi: servono le nozioni di tempo e di stato. Sommatori, decodificatori e multiplexer sono combinatori; flip-flop, registri e il processore nel suo insieme sono sequenziali, e sono l'argomento della Lezione 13.
DA COMPRENDERE OGGI: le reti combinatorie. DA COMPRENDERE PIÙ AVANTI: macchine a stati finiti (si studia nella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reale non risponde all'istante: la sua uscita si assesta dopo un ritardo di propagazione, come ha spiegato la Lezione 10. Il ritardo di una rete è quello del suo percorso più lento da un ingresso a un'uscita, il percorso critico. Mentre i segnali viaggiano le uscite possono essere temporaneamente sbagliate. Quindi una macchina combinatoria è corretta solo dopo essersi assestata, e qualcosa deve dire quando guardarne le uscite. Quel qualcosa è il clock, ed è lì che cominciano le macchine sequenziali.
DA COMPRENDERE OGGI: le reti combinatorie.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parola codice. In un codice a lunghezza fissa tutte le parole hanno la stessa lunghezza m. Con un alfabeto di k simboli le parole sono k alla m, quindi m deve essere almeno il logaritmo di N, arrotondato per eccesso. In binario: quattordici voti richiedono 4 bit, e i 32 registri di RISC-V ne richiedono esattamente 5. Quando N non è una potenza di due alcune parole restano inutilizzate, e il codice è incompleto.
DA COMPRENDERE OGGI: i codici.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Ricordate la didascalia: quando si progetta un circuito che riceve cifre BCD, quelle sei parole sono indifferenze e semplificano il circuito.
DA COMPRENDERE OGGI: i codici.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quindi solo alcune delle parole possibili sono lecite. Se arriva una parola non lecita, qualcosa l'ha alterata lungo il percorso, e l'errore è rilevato. Confrontate i due codici della tabella. Nel Codice 1 ogni parola di 2 bit è lecita: un bit alterato trasforma un elemento in un altro e nessuno se ne accorge. Il Codice 2 aggiunge un terzo bit che rende pari il numero di 1: qualunque bit singolo alterato produce una parola non lecita. La ridondanza è il prezzo pagato per rilevare gli errori.
DA COMPRENDERE OGGI: i codici.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vale 1: una linea per elemento. Si dice anche one-hot. È costosa in fili ma immediatamente utilizzabile, perché la linea attiva può accendere direttamente qualcosa. La regola pratica sta nell'ultima riga: si tiene l'informazione in un codice compatto dentro una parola, e la si decodifica dove una scelta va attuata.
DA COMPRENDERE OGGI: decoder ed encoder.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riceve una parola codice di m bit e attiva l'unica uscita, su 2 alla m, che le corrisponde. La tabella e il circuito mostrano il decodificatore 2-a-4: ogni uscita è un mintermine dei due ingressi, realizzato con una porta AND e, dove serve, con invertitori. Un decodificatore genera quindi tutti i mintermini dei suoi ingressi. Un ingresso di abilitazione, quando vale 0, tiene a 0 tutte le uscite: sarà la chiave per comporre i decodificatori.
DA COMPRENDERE OGGI: decoder ed encoder.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codificatore è la macchina inversa: riceve N linee, di cui una attiva, e ne produce il numero come parola codice di m bit. Ogni bit di uscita è l'OR delle linee di ingresso il cui numero ha un 1 in quella posizione. Se più linee possono essere attive insieme serve un codificatore con priorità, che dà in uscita il numero della linea attiva più importante. Lo ritroverete con le interruzioni, quando più dispositivi chiedono attenzione nello stesso momento.
DA COMPRENDERE OGGI: decoder ed encoder.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codice. L'esempio è il display a sette segmenti: l'ingresso è una cifra BCD, le uscite sono le sette linee che accendono i segmenti, chiamati da a a g. La tabella dà, per ogni cifra, i segmenti accesi: la cifra 2 accende a, b, g, e e d. Le uscite sono sette, quindi ci sono sette funzioni di quattro variabili da sintetizzare, ciascuna con sei indifferenze.
DA COMPRENDERE OGGI: decoder ed encoder.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 alla n ingressi dati, n linee di selezione e un'uscita: trasferisce sull'uscita l'ingresso scelto dalle linee di selezione. La formula mostra come: ogni ingresso dati è moltiplicato per un mintermine delle linee di selezione, e i prodotti si sommano. Con due ingressi, Y = S'I0 + S I1: quando S vale 0 il primo termine lascia passare I0, quando S vale 1 il secondo lascia passare I1. Il disegno è esattamente questa formula in porte. È la macchina del riscaldamento.
DA COMPRENDERE OGGI: i multiplexer.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dati, n linee di selezione e 2 alla n uscite. L'ingresso è instradato sull'uscita scelta dalle linee di selezione, e le altre uscite restano a 0. Con l'ingresso dati fisso a 1 è esattamente un decodificatore. Un multiplexer a un capo di un filo e un demultiplexer all'altro permettono a molti segnali di condividere quel filo, uno alla volta: è l'idea che sta dietro ogni linea condivisa, compresi i bus della Lezione 14.
DA COMPRENDERE OGGI: i multiplexer.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bit, che vale 1 quando sono uguali. Due bit sono uguali quando il loro XNOR vale 1; due parole sono uguali quando lo sono tutte le loro coppie di bit, quindi il comparatore è un AND di XNOR. Il disegno lo mostra per parole di due bit. Nel processore decide i salti beq e bne: i due registri vengono confrontati, e il salto avviene o no secondo il risultato.
DA COMPRENDERE OGGI: comparatori e parità.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in modo che il numero totale di 1 sia, per esempio, pari. Il circuito che lo calcola è una rete di parità, una catena di XOR: lo XOR di tutti i bit di una parola vale 1 quando il numero di 1 è dispari, perché XOR è la somma modulo 2. La rete si usa due volte: da chi trasmette, per calcolare il bit da aggiungere, e da chi riceve, per verificare la parità di ciò che è arrivato.
DA COMPRENDERE OGGI: comparatori e parità.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lavorano insieme sugli stessi operandi: un addizionatore che fa anche le sottrazioni, una fila di porte AND, una di porte OR, una di porte XOR, uno shifter. Tutte producono un risultato. Un multiplexer lascia passare uno dei risultati, e le sue linee di selezione vengono da un decodificatore che legge l'istruzione. Non c'è memoria da nessuna parte: la ALU è un'unica grande macchina combinatoria, e il suo percorso più lento, la catena dei riporti dell'addizionatore, limita il clock del processore.
DA COMPRENDERE OGGI: l'ALU.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la formula del codice a lunghezza fissa: il più piccolo m tale che 2 alla m sia almeno 26. Quattro bit danno sedici parole, che non bastano. E notate che il risultato lascia alcune parole inutilizzate.
Un decodificatore con m ingressi ha 2 alla m uscite, e la sua uscita è una rappresentazione decodificata: in ogni istante è attiva esattamente una linea.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relazione è l'inversa della precedente: n linee di selezione scelgono tra 2 alla n ingressi. Otto è 2 alla terza.
Contate gli 1. Un controllo di parità sa soltanto se il loro numero è pari o dispari. Alterare un bit cambia questo fatto; alterarne due lo cambia due volte, e lo riporta dov'era.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Enable, abilitazione, è l'ingresso che accende o spegne un blocco. Code word, parola codice, è ciascuna stringa di un codice. Multiplexer e demultiplexer conservano il nome anche in italiano. Un transcoder, transcodificatore, converte tra due codici. Il parity bit,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codice scrive ogni elemento di un insieme come stringa di simboli su un alfabeto, la sua parola codice. Un codice binario a lunghezza fissa richiede il logaritmo di N bit, arrotondato per eccesso; un codice ridondante ne spende di più per rilevare gli errori. Codifica, decodifica e transcodifica sono svolte da macchine combinatorie. I multiplexer selezionano una sorgente, i demultiplexer una destinazione, comparatori e reti di parità controllano. E il processore li usa tutti. A queste macchine manca la memoria: dopo la Parte 2 di Verm1, la aggiunge la Lezione 13.
Stato di apprendimento, riepilogo. DA COMPRENDERE OGGI: i multiplexer; le reti combinatorie; i codici; decoder ed encoder; comparatori e parità; l'ALU. DA UTILIZZARE OGGI: il programma completo, gli strumenti di PRG32 (si usa, non si studia, in questo corso). DA COMPRENDERE PIÙ AVANTI: macchine a stati finiti (Lezione 13). Una slide senza etichetta è contesto: una storia, un esempio, una domanda, un esercizio.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11-Architettura_dei_Calcolatori-Macchine_Combinatorie-Codice.pptx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dire che cosa fa un transcodificatore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9" name="Shape 7"/>
          <p:cNvSpPr/>
          <p:nvPr/>
        </p:nvSpPr>
        <p:spPr>
          <a:xfrm>
            <a:off x="6241110" y="91440"/>
            <a:ext cx="5401945" cy="274320"/>
          </a:xfrm>
          <a:prstGeom prst="rect">
            <a:avLst/>
          </a:prstGeom>
          <a:solidFill>
            <a:srgbClr val="F3E8FF"/>
          </a:solidFill>
          <a:ln w="12700">
            <a:solidFill>
              <a:srgbClr val="7E22CE"/>
            </a:solidFill>
            <a:prstDash val="dash"/>
          </a:ln>
        </p:spPr>
      </p:sp>
      <p:sp>
        <p:nvSpPr>
          <p:cNvPr id="10" name="Shape 8"/>
          <p:cNvSpPr/>
          <p:nvPr/>
        </p:nvSpPr>
        <p:spPr>
          <a:xfrm>
            <a:off x="6268542" y="128016"/>
            <a:ext cx="45720" cy="45720"/>
          </a:xfrm>
          <a:prstGeom prst="rect">
            <a:avLst/>
          </a:prstGeom>
          <a:solidFill>
            <a:srgbClr val="7E22CE"/>
          </a:solidFill>
          <a:ln w="12700">
            <a:solidFill>
              <a:srgbClr val="7E22CE"/>
            </a:solidFill>
            <a:prstDash val="solid"/>
          </a:ln>
        </p:spPr>
      </p:sp>
      <p:sp>
        <p:nvSpPr>
          <p:cNvPr id="11" name="Shape 9"/>
          <p:cNvSpPr/>
          <p:nvPr/>
        </p:nvSpPr>
        <p:spPr>
          <a:xfrm>
            <a:off x="6268542" y="205740"/>
            <a:ext cx="45720" cy="45720"/>
          </a:xfrm>
          <a:prstGeom prst="rect">
            <a:avLst/>
          </a:prstGeom>
          <a:solidFill>
            <a:srgbClr val="7E22CE"/>
          </a:solidFill>
          <a:ln w="12700">
            <a:solidFill>
              <a:srgbClr val="7E22CE"/>
            </a:solidFill>
            <a:prstDash val="solid"/>
          </a:ln>
        </p:spPr>
      </p:sp>
      <p:sp>
        <p:nvSpPr>
          <p:cNvPr id="12" name="Shape 10"/>
          <p:cNvSpPr/>
          <p:nvPr/>
        </p:nvSpPr>
        <p:spPr>
          <a:xfrm>
            <a:off x="626854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69126" y="128016"/>
            <a:ext cx="201168" cy="201168"/>
          </a:xfrm>
          <a:prstGeom prst="rect">
            <a:avLst/>
          </a:prstGeom>
        </p:spPr>
      </p:pic>
      <p:sp>
        <p:nvSpPr>
          <p:cNvPr id="14" name="Text 11"/>
          <p:cNvSpPr txBox="1"/>
          <p:nvPr/>
        </p:nvSpPr>
        <p:spPr>
          <a:xfrm>
            <a:off x="6625158" y="91440"/>
            <a:ext cx="498132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macchine a stati finiti</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15" name="Shape 12"/>
          <p:cNvSpPr/>
          <p:nvPr/>
        </p:nvSpPr>
        <p:spPr>
          <a:xfrm>
            <a:off x="2408631" y="91440"/>
            <a:ext cx="3722751" cy="274320"/>
          </a:xfrm>
          <a:prstGeom prst="rect">
            <a:avLst/>
          </a:prstGeom>
          <a:solidFill>
            <a:srgbClr val="E0F2FE"/>
          </a:solidFill>
          <a:ln w="12700">
            <a:solidFill>
              <a:srgbClr val="0369A1"/>
            </a:solidFill>
            <a:prstDash val="solid"/>
          </a:ln>
        </p:spPr>
      </p:sp>
      <p:sp>
        <p:nvSpPr>
          <p:cNvPr id="16" name="Shape 13"/>
          <p:cNvSpPr/>
          <p:nvPr/>
        </p:nvSpPr>
        <p:spPr>
          <a:xfrm>
            <a:off x="240863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536647" y="128016"/>
            <a:ext cx="201168" cy="201168"/>
          </a:xfrm>
          <a:prstGeom prst="rect">
            <a:avLst/>
          </a:prstGeom>
        </p:spPr>
      </p:pic>
      <p:sp>
        <p:nvSpPr>
          <p:cNvPr id="18" name="Text 14"/>
          <p:cNvSpPr txBox="1"/>
          <p:nvPr/>
        </p:nvSpPr>
        <p:spPr>
          <a:xfrm>
            <a:off x="2792679"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reti combinatorie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14" name="Shape 11"/>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2"/>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sp>
        <p:nvSpPr>
          <p:cNvPr id="3"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4"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6"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decoder ed encoder</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379917" y="91440"/>
            <a:ext cx="3263138" cy="274320"/>
          </a:xfrm>
          <a:prstGeom prst="rect">
            <a:avLst/>
          </a:prstGeom>
          <a:solidFill>
            <a:srgbClr val="E0F2FE"/>
          </a:solidFill>
          <a:ln w="12700">
            <a:solidFill>
              <a:srgbClr val="0369A1"/>
            </a:solidFill>
            <a:prstDash val="solid"/>
          </a:ln>
        </p:spPr>
      </p:sp>
      <p:sp>
        <p:nvSpPr>
          <p:cNvPr id="14" name="Shape 12"/>
          <p:cNvSpPr/>
          <p:nvPr/>
        </p:nvSpPr>
        <p:spPr>
          <a:xfrm>
            <a:off x="837991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6" name="Text 1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15"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6"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8"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36" name="Shape 34"/>
          <p:cNvSpPr/>
          <p:nvPr/>
        </p:nvSpPr>
        <p:spPr>
          <a:xfrm>
            <a:off x="8905189" y="91440"/>
            <a:ext cx="2737866" cy="274320"/>
          </a:xfrm>
          <a:prstGeom prst="rect">
            <a:avLst/>
          </a:prstGeom>
          <a:solidFill>
            <a:srgbClr val="E0F2FE"/>
          </a:solidFill>
          <a:ln w="12700">
            <a:solidFill>
              <a:srgbClr val="0369A1"/>
            </a:solidFill>
            <a:prstDash val="solid"/>
          </a:ln>
        </p:spPr>
      </p:sp>
      <p:sp>
        <p:nvSpPr>
          <p:cNvPr id="37" name="Shape 35"/>
          <p:cNvSpPr/>
          <p:nvPr/>
        </p:nvSpPr>
        <p:spPr>
          <a:xfrm>
            <a:off x="8905189"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033205" y="128016"/>
            <a:ext cx="201168" cy="201168"/>
          </a:xfrm>
          <a:prstGeom prst="rect">
            <a:avLst/>
          </a:prstGeom>
        </p:spPr>
      </p:pic>
      <p:sp>
        <p:nvSpPr>
          <p:cNvPr id="39" name="Text 36"/>
          <p:cNvSpPr txBox="1"/>
          <p:nvPr/>
        </p:nvSpPr>
        <p:spPr>
          <a:xfrm>
            <a:off x="9289237" y="91440"/>
            <a:ext cx="231724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codice scrive ogni elemento di un insieme come stringa di simboli su un alfabeto: la sua parola codice</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2026-10-16T15:51:39Z</dcterms:created>
  <dcterms:modified xsi:type="dcterms:W3CDTF">2026-10-16T15:51:39Z</dcterms:modified>
</cp:coreProperties>
</file>