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98a2734f-0f33-67ee-dcd9-e74a223844dd}">
          <p14:sldIdLst>
            <p14:sldId id="256"/>
            <p14:sldId id="257"/>
          </p14:sldIdLst>
        </p14:section>
        <p14:section name="Macchine combinatorie" id="{4a66b21f-9e64-6aad-cf75-60bd309e830f}">
          <p14:sldIdLst>
            <p14:sldId id="258"/>
            <p14:sldId id="259"/>
          </p14:sldIdLst>
        </p14:section>
        <p14:section name="Codici" id="{f73a9dbd-400d-130d-528a-af0acdc5217a}">
          <p14:sldIdLst>
            <p14:sldId id="260"/>
            <p14:sldId id="261"/>
            <p14:sldId id="262"/>
          </p14:sldIdLst>
        </p14:section>
        <p14:section name="Decodificatori e codificatori" id="{f8072b7d-8925-76de-1279-4b2f222d4cb9}">
          <p14:sldIdLst>
            <p14:sldId id="263"/>
            <p14:sldId id="264"/>
            <p14:sldId id="265"/>
            <p14:sldId id="266"/>
          </p14:sldIdLst>
        </p14:section>
        <p14:section name="Multiplexer e demultiplexer" id="{a64f1e22-194e-90a4-45f5-18d5735ec6c1}">
          <p14:sldIdLst>
            <p14:sldId id="267"/>
            <p14:sldId id="268"/>
          </p14:sldIdLst>
        </p14:section>
        <p14:section name="Confrontare e controllare" id="{5739f38c-9c0a-4dc7-452f-74a379684183}">
          <p14:sldIdLst>
            <p14:sldId id="269"/>
            <p14:sldId id="270"/>
          </p14:sldIdLst>
        </p14:section>
        <p14:section name="L'unità aritmetico-logica" id="{57f7d76a-e4e4-e371-c76c-89ff28e7417a}">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lezioni precedenti vi hanno dato le porte e un metodo per combinarle. Questa è un catalogo delle macchine che i progettisti usano davvero: decodificatori, codificatori, multiplexer, comparatori, reti di parità, e infine l'unità aritmetico-logica. Per ciascuna imparate che cosa fa, come è costruita, e dove sta dentro un processore RISC-V. Il giovane Turing della citazione vuole carote e piselli ben separati: questa lezione parla di tenere le cose distinte, e di scegliere tra esse.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i multiplexer; le reti combinatorie; i codici; decoder ed encoder; comparatori e parità; l'ALU. DA UTILIZZARE OGGI: il programma completo, gli strumenti di PRG32 (si usa, non si studia, in questo corso). DA COMPRENDERE PIÙ AVANTI: macchine a stati finiti (Lezione 13). Una slide senza etichetta è contesto: una storia, un esempio, una domanda, un esercizio.
Per il docente: Spirale: una ricerca in tabella in assembly è un multiplexer; la lezione costruisce poi i blocchi combinatori standard e mostra dove sta ciascuno dentro un processore RISC-V (il corso degli anni precedenti usava come riferimento il Motorola 68000).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obiettivi. Distinguere una macchina combinatoria da una sequenziale. Calcolare quanti bit richiede un codice e riconoscere codici incompleti e ridondanti. Progettare un decodificatore e un codificatore, e dire che cosa fa un transcodificatore. Spiegare multiplexer e demultiplexer e costruirli con le porte. Costruire un comparatore e una rete di parità, sapendo che cosa un controllo di parità può e non può rilevare. E indicare ciascuna di queste macchine dentro il processore.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circuiti digitali sono di due tipi. In un circuito combinatorio le uscite in un dato istante dipendono solo dagli ingressi in quello stesso istante: non c'è memoria né retroazione, e una tabella di verità descrive completamente il circuito. In un circuito sequenziale le uscite dipendono anche dalla storia passata degli ingressi: servono le nozioni di tempo e di stato. Sommatori, decodificatori e multiplexer sono combinatori; flip-flop, registri e il processore nel suo insieme sono sequenziali, e sono l'argomento della Lezione 13.
DA COMPRENDERE OGGI: le reti combinatorie. DA COMPRENDERE PIÙ AVANTI: macchine a stati finiti (si studia nella Lezione 13).
Per il docente: In inglese: combinational e sequential circuits. La definizione di circuito sequenziale implica tempo e stato: entrambi sono l'argomento della prossima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porta reale non risponde all'istante: la sua uscita si assesta dopo un ritardo di propagazione, come ha spiegato la Lezione 10. Il ritardo di una rete è quello del suo percorso più lento da un ingresso a un'uscita, il percorso critico. Mentre i segnali viaggiano le uscite possono essere temporaneamente sbagliate. Quindi una macchina combinatoria è corretta solo dopo essersi assestata, e qualcosa deve dire quando guardarne le uscite. Quel qualcosa è il clock, ed è lì che cominciano le macchine sequenziali.
DA COMPRENDERE OGGI: le reti combinatorie.
Per il docente: In un sommatore a propagazione del riporto (Lezione 09) il percorso critico attraversa tutti e trentadue i sommatori completi. Il periodo di clock di un processore deve essere più lungo del suo percorso critico più lungo.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codice associa a ogni elemento di un insieme di N elementi una stringa di simboli, la parola codice. In un codice a lunghezza fissa tutte le parole hanno la stessa lunghezza m. Con un alfabeto di k simboli le parole sono k alla m, quindi m deve essere almeno il logaritmo di N, arrotondato per eccesso. In binario: quattordici voti richiedono 4 bit, e i 32 registri di RISC-V ne richiedono esattamente 5. Quando N non è una potenza di due alcune parole restano inutilizzate, e il codice è incompleto.
DA COMPRENDERE OGGI: i codici.
Per il docente: In inglese: fixed-length code. I cinque bit di un numero di registro sono i campi rd, rs1 e rs2 di un'istruzione RISC-V (Lezione 02). Quattordici voti lasciano 16 - 14 = 2 parole non assegnate.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classico codice incompleto: le cifre decimali su quattro bit. Nel BCD 8421 ogni cifra è semplicemente il suo valore in binario; nell'eccesso 3 il valore è aumentato di tre. Dieci cifre richiedono quattro bit, e quattro bit danno sedici parole, quindi sei non si usano mai: nel BCD, le parole da 1010 a 1111. Ricordate la didascalia: quando si progetta un circuito che riceve cifre BCD, quelle sei parole sono indifferenze e semplificano il circuito.
DA COMPRENDERE OGGI: i codici.
Per il docente: Dieci cifre richiedono ceil(log2 10) = 4 bit; sei delle sedici parole non si usano mai: nel BCD 8421 sono da 1010 a 1111. Le parole non usate diventano condizioni di indifferenza quando si progetta un circuito (Lezione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codice ridondante usa più bit del minimo, quindi solo alcune delle parole possibili sono lecite. Se arriva una parola non lecita, qualcosa l'ha alterata lungo il percorso, e l'errore è rilevato. Confrontate i due codici della tabella. Nel Codice 1 ogni parola di 2 bit è lecita: un bit alterato trasforma un elemento in un altro e nessuno se ne accorge. Il Codice 2 aggiunge un terzo bit che rende pari il numero di 1: qualunque bit singolo alterato produce una parola non lecita. La ridondanza è il prezzo pagato per rilevare gli errori.
DA COMPRENDERE OGGI: i codici.
Per il docente: La slide originale mostrava la stessa idea con una figura e una diversa scelta delle parole non lecite. Il Codice 2 è il Codice 1 più un bit di parità pari: le macchine di parità vengono più avanti in questa 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rappresentazione decodificata ci sono tanti bit quanti elementi, ed esattamente uno vale 1: una linea per elemento. Si dice anche one-hot. È costosa in fili ma immediatamente utilizzabile, perché la linea attiva può accendere direttamente qualcosa. La regola pratica sta nell'ultima riga: si tiene l'informazione in un codice compatto dentro una parola, e la si decodifica dove una scelta va attuata.
DA COMPRENDERE OGGI: decoder ed encoder.
Per il docente: Detta anche one-hot. Le sette lampade del laboratorio 06 sono una rappresentazione decodificata del numero di bit; le 32 linee di abilitazione alla scrittura dei registri RISC-V ne sono un'altra.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decodificatore riceve una parola codice di m bit e attiva l'unica uscita, su 2 alla m, che le corrisponde. La tabella e il circuito mostrano il decodificatore 2-a-4: ogni uscita è un mintermine dei due ingressi, realizzato con una porta AND e, dove serve, con invertitori. Un decodificatore genera quindi tutti i mintermini dei suoi ingressi. Un ingresso di abilitazione, quando vale 0, tiene a 0 tutte le uscite: sarà la chiave per comporre i decodificatori.
DA COMPRENDERE OGGI: decoder ed encoder.
Per il docente: Sintesi del decodificatore 2-a-4 (1 su 4). A è il bit meno significativo. Il simbolo a blocchi è un riquadro con la scritta 1/N.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codificatore è la macchina inversa: riceve N linee, di cui una attiva, e ne produce il numero come parola codice di m bit. Ogni bit di uscita è l'OR delle linee di ingresso il cui numero ha un 1 in quella posizione. Se più linee possono essere attive insieme serve un codificatore con priorità, che dà in uscita il numero della linea attiva più importante. Lo ritroverete con le interruzioni, quando più dispositivi chiedono attenzione nello stesso momento.
DA COMPRENDERE OGGI: decoder ed encoder.
Per il docente: Per N = 4: C0 = U1 + U3, C1 = U2 + U3. I codificatori con priorità ricompaiono con le interruzioni: più dispositivi chiedono attenzione, un solo numero arriva al processore.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transcodificatore converte una parola di un codice nella parola corrispondente di un altro codice. L'esempio è il display a sette segmenti: l'ingresso è una cifra BCD, le uscite sono le sette linee che accendono i segmenti, chiamati da a a g. La tabella dà, per ogni cifra, i segmenti accesi: la cifra 2 accende a, b, g, e e d. Le uscite sono sette, quindi ci sono sette funzioni di quattro variabili da sintetizzare, ciascuna con sei indifferenze.
DA COMPRENDERE OGGI: decoder ed encoder.
Per il docente: Transcodificatore BCD - display a 7 segmenti. Ogni segmento è un LED comandato da un segnale digitale. Le sei parole BCD non usate sono indifferenze per tutte e sette le funzioni.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multiplexer ha 2 alla n ingressi dati, n linee di selezione e un'uscita: trasferisce sull'uscita l'ingresso scelto dalle linee di selezione. La formula mostra come: ogni ingresso dati è moltiplicato per un mintermine delle linee di selezione, e i prodotti si sommano. Con due ingressi, Y = S'I0 + S I1: quando S vale 0 il primo termine lascia passare I0, quando S vale 1 il secondo lascia passare I1. Il disegno è esattamente questa formula in porte. È la macchina del riscaldamento.
DA COMPRENDERE OGGI: i multiplexer.
Per il docente: Multiplexer indirizzabile: un MUXL (una linea di abilitazione per ingresso) più un decodificatore. Un multiplexer realizza anche qualunque funzione delle sue variabili di selezione: si mette la tabella di verità sugli ingressi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demultiplexer è l'inverso: un ingresso dati, n linee di selezione e 2 alla n uscite. L'ingresso è instradato sull'uscita scelta dalle linee di selezione, e le altre uscite restano a 0. Con l'ingresso dati fisso a 1 è esattamente un decodificatore. Un multiplexer a un capo di un filo e un demultiplexer all'altro permettono a molti segnali di condividere quel filo, uno alla volta: è l'idea che sta dietro ogni linea condivisa, compresi i bus della Lezione 14.
DA COMPRENDERE OGGI: i multiplexer.
Per il docente: Demultiplexer indirizzabile: Fi = D . Ui, dove Ui sono le uscite del decodificatore.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comparatore riceve due parole e produce un bit, che vale 1 quando sono uguali. Due bit sono uguali quando il loro XNOR vale 1; due parole sono uguali quando lo sono tutte le loro coppie di bit, quindi il comparatore è un AND di XNOR. Il disegno lo mostra per parole di due bit. Nel processore decide i salti beq e bne: i due registri vengono confrontati, e il salto avviene o no secondo il risultato.
DA COMPRENDERE OGGI: comparatori e parità.
Per il docente: Molti datapath riusano invece la ALU: sottraggono e verificano se il risultato è zero. I confronti d'ordine (blt, slt) richiedono la sottrazione e le regole di segno della Lezione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ridondante più semplice aggiunge a ogni parola un bit di parità, scelto in modo che il numero totale di 1 sia, per esempio, pari. Il circuito che lo calcola è una rete di parità, una catena di XOR: lo XOR di tutti i bit di una parola vale 1 quando il numero di 1 è dispari, perché XOR è la somma modulo 2. La rete si usa due volte: da chi trasmette, per calcolare il bit da aggiungere, e da chi riceve, per verificare la parità di ciò che è arrivato.
DA COMPRENDERE OGGI: comparatori e parità.
Per il docente: In inglese: parity network. XOR è la somma modulo 2, ed è per questo che una catena di XOR conta gli 1 modulo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ALU riceve due parole, A e B. Al suo interno più unità lavorano insieme sugli stessi operandi: un addizionatore che fa anche le sottrazioni, una fila di porte AND, una di porte OR, una di porte XOR, uno shifter. Tutte producono un risultato. Un multiplexer lascia passare uno dei risultati, e le sue linee di selezione vengono da un decodificatore che legge l'istruzione. Non c'è memoria da nessuna parte: la ALU è un'unica grande macchina combinatoria, e il suo percorso più lento, la catena dei riporti dell'addizionatore, limita il clock del processore.
DA COMPRENDERE OGGI: l'ALU.
Per il docente: In inglese: arithmetic logic unit. L'addizionatore è il sommatore a propagazione del riporto della Lezione 09, con il trucco del complemento e del riporto della Lezione 05 per la sottrazione. I confronti (slt) riusano il sottrattore.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Usate la formula del codice a lunghezza fissa: il più piccolo m tale che 2 alla m sia almeno 26. Quattro bit danno sedici parole, che non bastano. E notate che il risultato lascia alcune parole inutilizzate.
Un decodificatore con m ingressi ha 2 alla m uscite, e la sua uscita è una rappresentazione decodificata: in ogni istante è attiva esattamente una linea.
Per il docente: 1. Risposta: B. ceil(log2 26) = 5, perché 2^4 = 16 &lt; 26 &lt;= 32 = 2^5. Restano sei parole non assegnate: il codice è incompleto.
2. Risposta: C. 2^3 = 8 uscite, e ne è attiva esattamente una: la rappresentazione decodificata (one-hot) della parola in ingresso.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relazione è l'inversa della precedente: n linee di selezione scelgono tra 2 alla n ingressi. Otto è 2 alla terza.
Contate gli 1. Un controllo di parità sa soltanto se il loro numero è pari o dispari. Alterare un bit cambia questo fatto; alterarne due lo cambia due volte, e lo riporta dov'era.
Per il docente: 1. Risposta: B. n linee di selezione scelgono tra 2^n ingressi: 3 linee per 8 ingressi.
2. Risposta: C. Due alterazioni lasciano invariata la parità. Un solo bit di parità rileva soltanto un numero dispari di errori.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Enable, abilitazione, è l'ingresso che accende o spegne un blocco. Code word, parola codice, è ciascuna stringa di un codice. Multiplexer e demultiplexer conservano il nome anche in italiano. Un transcoder, transcodificatore, converte tra due codici. Il parity bit, bit di parità, è il bit ridondante aggiunto per il controllo.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Un codice scrive ogni elemento di un insieme come stringa di simboli su un alfabeto, la sua parola codice. Un codice binario a lunghezza fissa richiede il logaritmo di N bit, arrotondato per eccesso; un codice ridondante ne spende di più per rilevare gli errori. Codifica, decodifica e transcodifica sono svolte da macchine combinatorie. I multiplexer selezionano una sorgente, i demultiplexer una destinazione, comparatori e reti di parità controllano. E il processore li usa tutti. A queste macchine manca la memoria: dopo la Parte 2 di Verm1, la aggiunge la Lezione 13.
Stato di apprendimento, riepilogo. DA COMPRENDERE OGGI: i multiplexer; le reti combinatorie; i codici; decoder ed encoder; comparatori e parità; l'ALU. DA UTILIZZARE OGGI: il programma completo, gli strumenti di PRG32 (si usa, non si studia, in questo corso). DA COMPRENDERE PIÙ AVANTI: macchine a stati finiti (Lezione 13). Una slide senza etichetta è contesto: una storia, un esempio, una domanda, un esercizio.
Per il docente: A seguire: Verm1, parte 2: la guida e il cibo. Poi le macchine sequenziali: ciò che qui manca è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11: Macchine combinatorie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Macchine combinatorie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Codici, decodificatori, multiplexer, comparatori, parità: i circuiti con cui è assemblato un processore RISC-V</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“...non è colpa mia, le carote hanno toccato i piselli...”</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Alan Turing da ragazzo, nel film The Imitation Game, 2014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11-Architettura_dei_Calcolatori-Macchine_Combinatorie-Codice.pptx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breakout.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Distinguere una macchina combinatoria da una sequenziale</a:t>
            </a:r>
            <a:endParaRPr lang="en-US" sz="2200" dirty="0"/>
          </a:p>
        </p:txBody>
      </p:sp>
      <p:sp>
        <p:nvSpPr>
          <p:cNvPr id="5" name="Text 3"/>
          <p:cNvSpPr txBox="1"/>
          <p:nvPr/>
        </p:nvSpPr>
        <p:spPr>
          <a:xfrm>
            <a:off x="548640" y="21045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862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Calcolare quanti bit richiede un codice a lunghezza fissa, e riconoscere codici incompleti e ridondanti</a:t>
            </a:r>
            <a:endParaRPr lang="en-US" sz="2200" dirty="0"/>
          </a:p>
        </p:txBody>
      </p:sp>
      <p:sp>
        <p:nvSpPr>
          <p:cNvPr id="7" name="Text 5"/>
          <p:cNvSpPr txBox="1"/>
          <p:nvPr/>
        </p:nvSpPr>
        <p:spPr>
          <a:xfrm>
            <a:off x="548640" y="301630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9801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Progettare un decodificatore e un codificatore, e dire che cosa fa un transcodificatore</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cosa fanno un multiplexer e un demultiplexer, e costruirli con le porte</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Costruire un comparatore e una rete di parità, e dire che cosa un controllo di parità può e non può rilevare</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Indicare ciascuna di queste macchine dentro un processore RISC-V</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tassonomia dei circuiti digitali</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Circuiti combinatori</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Il valore delle uscite in un dato istante dipende solo dal valore degli ingressi in quello stesso istante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Nessuna memoria, nessun anello di retroazione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Completamente descritti da una tabella di verità</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Esempi: sommatori, decodificatori, multiplexer, la ALU</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Circuiti sequenziali</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Le uscite dipendono dagli ingressi presenti e dalla storia passata degli ingressi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Richiedono i concetti di tempo e di stato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Descritti da una tabella degli stati o da un diagramma degli stati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Esempi: latch, flip-flop, registri, contatori, il processore nel suo insieme (Lezione 13)</a:t>
            </a:r>
            <a:endParaRPr lang="en-US" sz="1900" dirty="0"/>
          </a:p>
        </p:txBody>
      </p:sp>
      <p:sp>
        <p:nvSpPr>
          <p:cNvPr id="9" name="Shape 7"/>
          <p:cNvSpPr/>
          <p:nvPr/>
        </p:nvSpPr>
        <p:spPr>
          <a:xfrm>
            <a:off x="6241110" y="91440"/>
            <a:ext cx="5401945" cy="274320"/>
          </a:xfrm>
          <a:prstGeom prst="rect">
            <a:avLst/>
          </a:prstGeom>
          <a:solidFill>
            <a:srgbClr val="F3E8FF"/>
          </a:solidFill>
          <a:ln w="12700">
            <a:solidFill>
              <a:srgbClr val="7E22CE"/>
            </a:solidFill>
            <a:prstDash val="dash"/>
          </a:ln>
        </p:spPr>
      </p:sp>
      <p:sp>
        <p:nvSpPr>
          <p:cNvPr id="10" name="Shape 8"/>
          <p:cNvSpPr/>
          <p:nvPr/>
        </p:nvSpPr>
        <p:spPr>
          <a:xfrm>
            <a:off x="6268542" y="128016"/>
            <a:ext cx="45720" cy="45720"/>
          </a:xfrm>
          <a:prstGeom prst="rect">
            <a:avLst/>
          </a:prstGeom>
          <a:solidFill>
            <a:srgbClr val="7E22CE"/>
          </a:solidFill>
          <a:ln w="12700">
            <a:solidFill>
              <a:srgbClr val="7E22CE"/>
            </a:solidFill>
            <a:prstDash val="solid"/>
          </a:ln>
        </p:spPr>
      </p:sp>
      <p:sp>
        <p:nvSpPr>
          <p:cNvPr id="11" name="Shape 9"/>
          <p:cNvSpPr/>
          <p:nvPr/>
        </p:nvSpPr>
        <p:spPr>
          <a:xfrm>
            <a:off x="6268542" y="205740"/>
            <a:ext cx="45720" cy="45720"/>
          </a:xfrm>
          <a:prstGeom prst="rect">
            <a:avLst/>
          </a:prstGeom>
          <a:solidFill>
            <a:srgbClr val="7E22CE"/>
          </a:solidFill>
          <a:ln w="12700">
            <a:solidFill>
              <a:srgbClr val="7E22CE"/>
            </a:solidFill>
            <a:prstDash val="solid"/>
          </a:ln>
        </p:spPr>
      </p:sp>
      <p:sp>
        <p:nvSpPr>
          <p:cNvPr id="12" name="Shape 10"/>
          <p:cNvSpPr/>
          <p:nvPr/>
        </p:nvSpPr>
        <p:spPr>
          <a:xfrm>
            <a:off x="6268542" y="283464"/>
            <a:ext cx="45720" cy="45720"/>
          </a:xfrm>
          <a:prstGeom prst="rect">
            <a:avLst/>
          </a:prstGeom>
          <a:solidFill>
            <a:srgbClr val="7E22CE"/>
          </a:solidFill>
          <a:ln w="12700">
            <a:solidFill>
              <a:srgbClr val="7E22CE"/>
            </a:solidFill>
            <a:prstDash val="solid"/>
          </a:ln>
        </p:spPr>
      </p:sp>
      <p:pic>
        <p:nvPicPr>
          <p:cNvPr id="13" name="Image 0" descr="preencoded.png">    </p:cNvPr>
          <p:cNvPicPr>
            <a:picLocks noChangeAspect="1"/>
          </p:cNvPicPr>
          <p:nvPr/>
        </p:nvPicPr>
        <p:blipFill>
          <a:blip r:embed="rId1"/>
          <a:stretch>
            <a:fillRect/>
          </a:stretch>
        </p:blipFill>
        <p:spPr>
          <a:xfrm>
            <a:off x="6369126" y="128016"/>
            <a:ext cx="201168" cy="201168"/>
          </a:xfrm>
          <a:prstGeom prst="rect">
            <a:avLst/>
          </a:prstGeom>
        </p:spPr>
      </p:pic>
      <p:sp>
        <p:nvSpPr>
          <p:cNvPr id="14" name="Text 11"/>
          <p:cNvSpPr txBox="1"/>
          <p:nvPr/>
        </p:nvSpPr>
        <p:spPr>
          <a:xfrm>
            <a:off x="6625158" y="91440"/>
            <a:ext cx="4981321"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pPr indent="0" marL="0">
              <a:buNone/>
            </a:pPr>
            <a:r>
              <a:rPr lang="en-US" sz="1100" dirty="0">
                <a:solidFill>
                  <a:srgbClr val="6B21A8"/>
                </a:solidFill>
                <a:latin typeface="Calibri" pitchFamily="34" charset="0"/>
                <a:ea typeface="Calibri" pitchFamily="34" charset="-122"/>
                <a:cs typeface="Calibri" pitchFamily="34" charset="-120"/>
              </a:rPr>
              <a:t> · macchine a stati finiti</a:t>
            </a:r>
            <a:pPr indent="0" marL="0">
              <a:buNone/>
            </a:pPr>
            <a:r>
              <a:rPr lang="en-US" sz="1100" b="1" dirty="0">
                <a:solidFill>
                  <a:srgbClr val="6B21A8"/>
                </a:solidFill>
                <a:latin typeface="Calibri" pitchFamily="34" charset="0"/>
                <a:ea typeface="Calibri" pitchFamily="34" charset="-122"/>
                <a:cs typeface="Calibri" pitchFamily="34" charset="-120"/>
              </a:rPr>
              <a:t> → Lezione 13</a:t>
            </a:r>
            <a:endParaRPr lang="en-US" sz="1100" dirty="0"/>
          </a:p>
        </p:txBody>
      </p:sp>
      <p:sp>
        <p:nvSpPr>
          <p:cNvPr id="15" name="Shape 12"/>
          <p:cNvSpPr/>
          <p:nvPr/>
        </p:nvSpPr>
        <p:spPr>
          <a:xfrm>
            <a:off x="2408631" y="91440"/>
            <a:ext cx="3722751" cy="274320"/>
          </a:xfrm>
          <a:prstGeom prst="rect">
            <a:avLst/>
          </a:prstGeom>
          <a:solidFill>
            <a:srgbClr val="E0F2FE"/>
          </a:solidFill>
          <a:ln w="12700">
            <a:solidFill>
              <a:srgbClr val="0369A1"/>
            </a:solidFill>
            <a:prstDash val="solid"/>
          </a:ln>
        </p:spPr>
      </p:sp>
      <p:sp>
        <p:nvSpPr>
          <p:cNvPr id="16" name="Shape 13"/>
          <p:cNvSpPr/>
          <p:nvPr/>
        </p:nvSpPr>
        <p:spPr>
          <a:xfrm>
            <a:off x="2408631"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2536647" y="128016"/>
            <a:ext cx="201168" cy="201168"/>
          </a:xfrm>
          <a:prstGeom prst="rect">
            <a:avLst/>
          </a:prstGeom>
        </p:spPr>
      </p:pic>
      <p:sp>
        <p:nvSpPr>
          <p:cNvPr id="18" name="Text 14"/>
          <p:cNvSpPr txBox="1"/>
          <p:nvPr/>
        </p:nvSpPr>
        <p:spPr>
          <a:xfrm>
            <a:off x="2792679"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reti combinatorie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porte reali richiedono tempo</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Una porta non risponde all'istante: la sua uscita si assesta dopo un ritardo di propagazione</a:t>
            </a:r>
            <a:endParaRPr lang="en-US" sz="2100" dirty="0"/>
          </a:p>
        </p:txBody>
      </p:sp>
      <p:sp>
        <p:nvSpPr>
          <p:cNvPr id="5" name="Shape 3"/>
          <p:cNvSpPr/>
          <p:nvPr/>
        </p:nvSpPr>
        <p:spPr>
          <a:xfrm>
            <a:off x="548640" y="237934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066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Il ritardo di una rete è quello del suo percorso più lento da un ingresso a un'uscita: il percorso critico</a:t>
            </a:r>
            <a:endParaRPr lang="en-US" sz="2100" dirty="0"/>
          </a:p>
        </p:txBody>
      </p:sp>
      <p:sp>
        <p:nvSpPr>
          <p:cNvPr id="7" name="Shape 5"/>
          <p:cNvSpPr/>
          <p:nvPr/>
        </p:nvSpPr>
        <p:spPr>
          <a:xfrm>
            <a:off x="548640" y="35680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6938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Mentre i segnali viaggiano, le uscite possono essere temporaneamente sbagliate</a:t>
            </a:r>
            <a:endParaRPr lang="en-US" sz="2100" dirty="0"/>
          </a:p>
        </p:txBody>
      </p:sp>
      <p:sp>
        <p:nvSpPr>
          <p:cNvPr id="9" name="Shape 7"/>
          <p:cNvSpPr/>
          <p:nvPr/>
        </p:nvSpPr>
        <p:spPr>
          <a:xfrm>
            <a:off x="548640" y="44314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2732"/>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Una macchina combinatoria è corretta solo dopo essersi assestata: qualcosa deve dirci quando guardare</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Quel qualcosa è il clock, ed è lì che cominciano le macchine sequenziali</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ritardo</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ogni porta aggiunge un po' di tempo; il percorso più lento attraverso la rete fissa la velocità dell'intera macchina</a:t>
            </a:r>
            <a:endParaRPr lang="en-US" sz="1900" dirty="0"/>
          </a:p>
        </p:txBody>
      </p:sp>
      <p:sp>
        <p:nvSpPr>
          <p:cNvPr id="16" name="Shape 14"/>
          <p:cNvSpPr/>
          <p:nvPr/>
        </p:nvSpPr>
        <p:spPr>
          <a:xfrm>
            <a:off x="7920304" y="91440"/>
            <a:ext cx="3722751" cy="274320"/>
          </a:xfrm>
          <a:prstGeom prst="rect">
            <a:avLst/>
          </a:prstGeom>
          <a:solidFill>
            <a:srgbClr val="E0F2FE"/>
          </a:solidFill>
          <a:ln w="12700">
            <a:solidFill>
              <a:srgbClr val="0369A1"/>
            </a:solidFill>
            <a:prstDash val="solid"/>
          </a:ln>
        </p:spPr>
      </p:sp>
      <p:sp>
        <p:nvSpPr>
          <p:cNvPr id="17" name="Shape 15"/>
          <p:cNvSpPr/>
          <p:nvPr/>
        </p:nvSpPr>
        <p:spPr>
          <a:xfrm>
            <a:off x="7920304"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9" name="Text 16"/>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reti combinatorie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Codici a lunghezza fissa</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Codice</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Un codice associa a ogni elemento di un tipo sorgente T, di cardinalità N, una stringa di simboli di un alfabeto di codice E con k simboli: la parola codice.</a:t>
            </a:r>
            <a:endParaRPr lang="en-US" sz="2300" dirty="0"/>
          </a:p>
        </p:txBody>
      </p:sp>
      <p:sp>
        <p:nvSpPr>
          <p:cNvPr id="6" name="Shape 4"/>
          <p:cNvSpPr/>
          <p:nvPr/>
        </p:nvSpPr>
        <p:spPr>
          <a:xfrm>
            <a:off x="548640" y="3757549"/>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674364"/>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Lunghezza fissa: ogni parola codice ha la stessa lunghezza m; le parole possibili sono k^m</a:t>
            </a:r>
            <a:endParaRPr lang="en-US" sz="1900" dirty="0"/>
          </a:p>
        </p:txBody>
      </p:sp>
      <p:sp>
        <p:nvSpPr>
          <p:cNvPr id="8" name="Shape 6"/>
          <p:cNvSpPr/>
          <p:nvPr/>
        </p:nvSpPr>
        <p:spPr>
          <a:xfrm>
            <a:off x="548640" y="4590161"/>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06976"/>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Per codificare N elementi serve k^m &gt;= N, quindi la lunghezza minima è m = ceil(log_k N)</a:t>
            </a:r>
            <a:endParaRPr lang="en-US" sz="1900" dirty="0"/>
          </a:p>
        </p:txBody>
      </p:sp>
      <p:sp>
        <p:nvSpPr>
          <p:cNvPr id="10" name="Shape 8"/>
          <p:cNvSpPr/>
          <p:nvPr/>
        </p:nvSpPr>
        <p:spPr>
          <a:xfrm>
            <a:off x="548640" y="5128387"/>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045202"/>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binario: m = ceil(log2 N). I quattordici voti d'esame richiedono 4 bit; i 32 registri RISC-V ne richiedono esattamente 5</a:t>
            </a:r>
            <a:endParaRPr lang="en-US" sz="1900" dirty="0"/>
          </a:p>
        </p:txBody>
      </p:sp>
      <p:sp>
        <p:nvSpPr>
          <p:cNvPr id="12" name="Shape 10"/>
          <p:cNvSpPr/>
          <p:nvPr/>
        </p:nvSpPr>
        <p:spPr>
          <a:xfrm>
            <a:off x="548640" y="5960999"/>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87781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Codice incompleto: N non è una potenza di k, e restano non assegnate k^m - N parole</a:t>
            </a:r>
            <a:endParaRPr lang="en-US" sz="1900" dirty="0"/>
          </a:p>
        </p:txBody>
      </p:sp>
      <p:sp>
        <p:nvSpPr>
          <p:cNvPr id="14" name="Shape 12"/>
          <p:cNvSpPr/>
          <p:nvPr/>
        </p:nvSpPr>
        <p:spPr>
          <a:xfrm>
            <a:off x="8708212" y="91440"/>
            <a:ext cx="2934843" cy="274320"/>
          </a:xfrm>
          <a:prstGeom prst="rect">
            <a:avLst/>
          </a:prstGeom>
          <a:solidFill>
            <a:srgbClr val="E0F2FE"/>
          </a:solidFill>
          <a:ln w="12700">
            <a:solidFill>
              <a:srgbClr val="0369A1"/>
            </a:solidFill>
            <a:prstDash val="solid"/>
          </a:ln>
        </p:spPr>
      </p:sp>
      <p:sp>
        <p:nvSpPr>
          <p:cNvPr id="15" name="Shape 13"/>
          <p:cNvSpPr/>
          <p:nvPr/>
        </p:nvSpPr>
        <p:spPr>
          <a:xfrm>
            <a:off x="870821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17" name="Text 14"/>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codici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codice incompleto: il decimale codificato in binario</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80125"/>
                <a:gridCol w="2133541"/>
                <a:gridCol w="2133541"/>
                <a:gridCol w="1280125"/>
                <a:gridCol w="2133541"/>
                <a:gridCol w="2133541"/>
              </a:tblGrid>
              <a:tr h="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Cifra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BCD 8421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Eccesso 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Cifra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BCD 8421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Eccesso 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Quattro bit per dieci cifre: sei parole codice non sono assegnate. Saranno le indifferenze dei nostri circuiti.</a:t>
            </a:r>
            <a:endParaRPr lang="en-US" sz="1500" dirty="0"/>
          </a:p>
        </p:txBody>
      </p:sp>
      <p:sp>
        <p:nvSpPr>
          <p:cNvPr id="5" name="Shape 2"/>
          <p:cNvSpPr/>
          <p:nvPr/>
        </p:nvSpPr>
        <p:spPr>
          <a:xfrm>
            <a:off x="8708212" y="91440"/>
            <a:ext cx="2934843" cy="274320"/>
          </a:xfrm>
          <a:prstGeom prst="rect">
            <a:avLst/>
          </a:prstGeom>
          <a:solidFill>
            <a:srgbClr val="E0F2FE"/>
          </a:solidFill>
          <a:ln w="12700">
            <a:solidFill>
              <a:srgbClr val="0369A1"/>
            </a:solidFill>
            <a:prstDash val="solid"/>
          </a:ln>
        </p:spPr>
      </p:sp>
      <p:sp>
        <p:nvSpPr>
          <p:cNvPr id="6" name="Shape 3"/>
          <p:cNvSpPr/>
          <p:nvPr/>
        </p:nvSpPr>
        <p:spPr>
          <a:xfrm>
            <a:off x="8708212"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8" name="Text 4"/>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codici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Codici ridondanti</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Un codice ridondante usa più simboli dello stretto necessario: la sua lunghezza è maggiore del minimo m</a:t>
            </a:r>
            <a:endParaRPr lang="en-US" sz="2300" dirty="0"/>
          </a:p>
        </p:txBody>
      </p:sp>
      <p:sp>
        <p:nvSpPr>
          <p:cNvPr id="5" name="Shape 3"/>
          <p:cNvSpPr/>
          <p:nvPr/>
        </p:nvSpPr>
        <p:spPr>
          <a:xfrm>
            <a:off x="548640" y="276009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45918"/>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Solo alcune delle parole possibili sono lecite; le altre non possono essere prodotte dal codificatore</a:t>
            </a:r>
            <a:endParaRPr lang="en-US" sz="2300" dirty="0"/>
          </a:p>
        </p:txBody>
      </p:sp>
      <p:sp>
        <p:nvSpPr>
          <p:cNvPr id="7" name="Shape 5"/>
          <p:cNvSpPr/>
          <p:nvPr/>
        </p:nvSpPr>
        <p:spPr>
          <a:xfrm>
            <a:off x="548640" y="398868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74516"/>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Se arriva una parola non lecita, qualcosa l'ha alterata lungo il percorso: l'errore è rilevato</a:t>
            </a:r>
            <a:endParaRPr lang="en-US" sz="2300" dirty="0"/>
          </a:p>
        </p:txBody>
      </p:sp>
      <p:sp>
        <p:nvSpPr>
          <p:cNvPr id="9" name="Shape 7"/>
          <p:cNvSpPr/>
          <p:nvPr/>
        </p:nvSpPr>
        <p:spPr>
          <a:xfrm>
            <a:off x="548640" y="521728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03114"/>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La ridondanza è il prezzo pagato per rilevare, e a volte correggere, gli errori</a:t>
            </a:r>
            <a:endParaRPr lang="en-US" sz="2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9440" y="1417320"/>
          <a:ext cx="4663440" cy="914400"/>
        </p:xfrm>
        <a:graphic>
          <a:graphicData uri="http://schemas.openxmlformats.org/drawingml/2006/table">
            <a:tbl>
              <a:tblPr/>
              <a:tblGrid>
                <a:gridCol w="1188720"/>
                <a:gridCol w="1645920"/>
                <a:gridCol w="1828800"/>
              </a:tblGrid>
              <a:tr h="438912">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Elemento</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Codice 1</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Codice 2</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000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011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101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D</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110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2" name="Shape 9"/>
          <p:cNvSpPr/>
          <p:nvPr/>
        </p:nvSpPr>
        <p:spPr>
          <a:xfrm>
            <a:off x="6949440" y="3931920"/>
            <a:ext cx="4663440" cy="2240280"/>
          </a:xfrm>
          <a:prstGeom prst="roundRect">
            <a:avLst>
              <a:gd name="adj" fmla="val 3265"/>
            </a:avLst>
          </a:prstGeom>
          <a:solidFill>
            <a:srgbClr val="F3DDE0"/>
          </a:solidFill>
          <a:ln w="12700">
            <a:solidFill>
              <a:srgbClr val="F3DDE0"/>
            </a:solidFill>
            <a:prstDash val="solid"/>
          </a:ln>
        </p:spPr>
      </p:sp>
      <p:sp>
        <p:nvSpPr>
          <p:cNvPr id="13" name="Text 10"/>
          <p:cNvSpPr txBox="1"/>
          <p:nvPr/>
        </p:nvSpPr>
        <p:spPr>
          <a:xfrm>
            <a:off x="7132320" y="4023360"/>
            <a:ext cx="4297680" cy="205740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Il Codice 1 non è ridondante: ogni parola di 2 bit è lecita, quindi un bit alterato trasforma un elemento in un altro senza che nessuno se ne accorga.</a:t>
            </a:r>
            <a:endParaRPr lang="en-US" sz="1400" dirty="0"/>
          </a:p>
          <a:p>
            <a:pPr indent="0" marL="0">
              <a:buNone/>
            </a:pPr>
            <a:r>
              <a:rPr lang="en-US" sz="1400" dirty="0">
                <a:solidFill>
                  <a:srgbClr val="1B2530"/>
                </a:solidFill>
                <a:latin typeface="Calibri" pitchFamily="34" charset="0"/>
                <a:ea typeface="Calibri" pitchFamily="34" charset="-122"/>
                <a:cs typeface="Calibri" pitchFamily="34" charset="-120"/>
              </a:rPr>
              <a:t>Il Codice 2 aggiunge un terzo bit che rende pari il numero di 1. Le parole 001, 010, 100 e 111 non sono lecite: un singolo bit alterato viene sempre rilevato.</a:t>
            </a:r>
            <a:endParaRPr lang="en-US" sz="1400" dirty="0"/>
          </a:p>
        </p:txBody>
      </p:sp>
      <p:sp>
        <p:nvSpPr>
          <p:cNvPr id="14" name="Shape 11"/>
          <p:cNvSpPr/>
          <p:nvPr/>
        </p:nvSpPr>
        <p:spPr>
          <a:xfrm>
            <a:off x="8708212" y="91440"/>
            <a:ext cx="2934843" cy="274320"/>
          </a:xfrm>
          <a:prstGeom prst="rect">
            <a:avLst/>
          </a:prstGeom>
          <a:solidFill>
            <a:srgbClr val="E0F2FE"/>
          </a:solidFill>
          <a:ln w="12700">
            <a:solidFill>
              <a:srgbClr val="0369A1"/>
            </a:solidFill>
            <a:prstDash val="solid"/>
          </a:ln>
        </p:spPr>
      </p:sp>
      <p:sp>
        <p:nvSpPr>
          <p:cNvPr id="15" name="Shape 12"/>
          <p:cNvSpPr/>
          <p:nvPr/>
        </p:nvSpPr>
        <p:spPr>
          <a:xfrm>
            <a:off x="870821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17" name="Text 13"/>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codici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rappresentazione decodificata</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codice in cui la lunghezza della parola è uguale alla cardinalità N dell'insieme: m = N</a:t>
            </a:r>
            <a:endParaRPr lang="en-US" sz="2400" dirty="0"/>
          </a:p>
        </p:txBody>
      </p:sp>
      <p:sp>
        <p:nvSpPr>
          <p:cNvPr id="5" name="Shape 3"/>
          <p:cNvSpPr/>
          <p:nvPr/>
        </p:nvSpPr>
        <p:spPr>
          <a:xfrm>
            <a:off x="548640" y="28762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754376"/>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Ogni parola codice ha esattamente un bit a 1: una linea per elemento</a:t>
            </a:r>
            <a:endParaRPr lang="en-US" sz="2400" dirty="0"/>
          </a:p>
        </p:txBody>
      </p:sp>
      <p:sp>
        <p:nvSpPr>
          <p:cNvPr id="7" name="Shape 5"/>
          <p:cNvSpPr/>
          <p:nvPr/>
        </p:nvSpPr>
        <p:spPr>
          <a:xfrm>
            <a:off x="548640" y="384149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9576"/>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Semplice da usare, perché la linea attiva seleziona direttamente qualcosa, ma costosa in fili</a:t>
            </a:r>
            <a:endParaRPr lang="en-US" sz="2400" dirty="0"/>
          </a:p>
        </p:txBody>
      </p:sp>
      <p:sp>
        <p:nvSpPr>
          <p:cNvPr id="9" name="Shape 7"/>
          <p:cNvSpPr/>
          <p:nvPr/>
        </p:nvSpPr>
        <p:spPr>
          <a:xfrm>
            <a:off x="548640" y="51785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5663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Codice compatto dentro una parola, rappresentazione decodificata dove una scelta va attuata</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0 0 1 0</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uno su quattro: è attiva la terza linea, quindi è scelto il terzo elemento</a:t>
            </a:r>
            <a:endParaRPr lang="en-US" sz="1900" dirty="0"/>
          </a:p>
        </p:txBody>
      </p:sp>
      <p:sp>
        <p:nvSpPr>
          <p:cNvPr id="14" name="Shape 12"/>
          <p:cNvSpPr/>
          <p:nvPr/>
        </p:nvSpPr>
        <p:spPr>
          <a:xfrm>
            <a:off x="8051622" y="91440"/>
            <a:ext cx="3591433" cy="274320"/>
          </a:xfrm>
          <a:prstGeom prst="rect">
            <a:avLst/>
          </a:prstGeom>
          <a:solidFill>
            <a:srgbClr val="E0F2FE"/>
          </a:solidFill>
          <a:ln w="12700">
            <a:solidFill>
              <a:srgbClr val="0369A1"/>
            </a:solidFill>
            <a:prstDash val="solid"/>
          </a:ln>
        </p:spPr>
      </p:sp>
      <p:sp>
        <p:nvSpPr>
          <p:cNvPr id="15" name="Shape 13"/>
          <p:cNvSpPr/>
          <p:nvPr/>
        </p:nvSpPr>
        <p:spPr>
          <a:xfrm>
            <a:off x="805162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17" name="Text 14"/>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decoder ed encoder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decodificatore</a:t>
            </a:r>
            <a:endParaRPr lang="en-US" sz="3200" dirty="0"/>
          </a:p>
        </p:txBody>
      </p:sp>
      <p:sp>
        <p:nvSpPr>
          <p:cNvPr id="3" name="Shape 1"/>
          <p:cNvSpPr/>
          <p:nvPr/>
        </p:nvSpPr>
        <p:spPr>
          <a:xfrm>
            <a:off x="548640" y="1485011"/>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47365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Riceve una parola codice di m bit e attiva l'unica linea di uscita, su N = 2^m, che le corrisponde</a:t>
            </a:r>
            <a:endParaRPr lang="en-US" sz="1700" dirty="0"/>
          </a:p>
        </p:txBody>
      </p:sp>
      <p:sp>
        <p:nvSpPr>
          <p:cNvPr id="5" name="Shape 3"/>
          <p:cNvSpPr/>
          <p:nvPr/>
        </p:nvSpPr>
        <p:spPr>
          <a:xfrm>
            <a:off x="548640" y="24505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82901"/>
            <a:ext cx="47365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Ogni uscita è un mintermine degli ingressi: un decodificatore li genera tutti</a:t>
            </a:r>
            <a:endParaRPr lang="en-US" sz="1700" dirty="0"/>
          </a:p>
        </p:txBody>
      </p:sp>
      <p:sp>
        <p:nvSpPr>
          <p:cNvPr id="7" name="Shape 5"/>
          <p:cNvSpPr/>
          <p:nvPr/>
        </p:nvSpPr>
        <p:spPr>
          <a:xfrm>
            <a:off x="548640" y="315277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85084"/>
            <a:ext cx="47365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Con un ingresso di abilitazione EN: quando EN = 0 nessuna uscita è attiva</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3566160" cy="914400"/>
        </p:xfrm>
        <a:graphic>
          <a:graphicData uri="http://schemas.openxmlformats.org/drawingml/2006/table">
            <a:tbl>
              <a:tblPr/>
              <a:tblGrid>
                <a:gridCol w="502920"/>
                <a:gridCol w="502920"/>
                <a:gridCol w="640080"/>
                <a:gridCol w="640080"/>
                <a:gridCol w="640080"/>
                <a:gridCol w="64008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10" name="Text 7"/>
          <p:cNvSpPr txBox="1"/>
          <p:nvPr/>
        </p:nvSpPr>
        <p:spPr>
          <a:xfrm>
            <a:off x="4389120" y="3794760"/>
            <a:ext cx="1463040" cy="1828800"/>
          </a:xfrm>
          <a:prstGeom prst="rect">
            <a:avLst/>
          </a:prstGeom>
          <a:noFill/>
          <a:ln/>
        </p:spPr>
        <p:txBody>
          <a:bodyPr wrap="square" lIns="0" tIns="0" rIns="0" bIns="0" rtlCol="0" anchor="ctr"/>
          <a:lstStyle/>
          <a:p>
            <a:pPr indent="0" marL="0">
              <a:buNone/>
            </a:pPr>
            <a:r>
              <a:rPr lang="en-US" sz="1500" b="1" dirty="0">
                <a:solidFill>
                  <a:srgbClr val="2E4A62"/>
                </a:solidFill>
                <a:latin typeface="Courier New" pitchFamily="34" charset="0"/>
                <a:ea typeface="Courier New" pitchFamily="34" charset="-122"/>
                <a:cs typeface="Courier New" pitchFamily="34" charset="-120"/>
              </a:rPr>
              <a:t>U0 = B'A'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U1 = B'A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U2 = B 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U3 = B A</a:t>
            </a:r>
            <a:endParaRPr lang="en-US" sz="1500" dirty="0"/>
          </a:p>
        </p:txBody>
      </p:sp>
      <p:sp>
        <p:nvSpPr>
          <p:cNvPr id="11" name="Shape 8"/>
          <p:cNvSpPr/>
          <p:nvPr/>
        </p:nvSpPr>
        <p:spPr>
          <a:xfrm>
            <a:off x="6035040" y="1417320"/>
            <a:ext cx="5608015" cy="4754880"/>
          </a:xfrm>
          <a:prstGeom prst="roundRect">
            <a:avLst>
              <a:gd name="adj" fmla="val 1538"/>
            </a:avLst>
          </a:prstGeom>
          <a:solidFill>
            <a:srgbClr val="EEF2F4"/>
          </a:solidFill>
          <a:ln w="12700">
            <a:solidFill>
              <a:srgbClr val="EEF2F4"/>
            </a:solidFill>
            <a:prstDash val="solid"/>
          </a:ln>
        </p:spPr>
      </p:sp>
      <p:sp>
        <p:nvSpPr>
          <p:cNvPr id="12" name="Shape 9"/>
          <p:cNvSpPr/>
          <p:nvPr/>
        </p:nvSpPr>
        <p:spPr>
          <a:xfrm>
            <a:off x="8051622" y="91440"/>
            <a:ext cx="3591433" cy="274320"/>
          </a:xfrm>
          <a:prstGeom prst="rect">
            <a:avLst/>
          </a:prstGeom>
          <a:solidFill>
            <a:srgbClr val="E0F2FE"/>
          </a:solidFill>
          <a:ln w="12700">
            <a:solidFill>
              <a:srgbClr val="0369A1"/>
            </a:solidFill>
            <a:prstDash val="solid"/>
          </a:ln>
        </p:spPr>
      </p:sp>
      <p:sp>
        <p:nvSpPr>
          <p:cNvPr id="13" name="Shape 10"/>
          <p:cNvSpPr/>
          <p:nvPr/>
        </p:nvSpPr>
        <p:spPr>
          <a:xfrm>
            <a:off x="8051622"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15" name="Text 11"/>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decoder ed encoder</a:t>
            </a:r>
            <a:endParaRPr lang="en-US" sz="1100" dirty="0"/>
          </a:p>
        </p:txBody>
      </p:sp>
      <p:pic>
        <p:nvPicPr>
          <p:cNvPr id="17" name="Image 1" descr="preencoded.png">    </p:cNvPr>
          <p:cNvPicPr>
            <a:picLocks noChangeAspect="1"/>
          </p:cNvPicPr>
          <p:nvPr/>
        </p:nvPicPr>
        <p:blipFill>
          <a:blip r:embed="rId2"/>
          <a:stretch>
            <a:fillRect/>
          </a:stretch>
        </p:blipFill>
        <p:spPr>
          <a:xfrm>
            <a:off x="6217920" y="1918626"/>
            <a:ext cx="5242255" cy="3752269"/>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codificatore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macchina inversa: riceve una rappresentazione decodificata, N linee di cui una attiva, e dà in uscita la parola codice corrispondente, di m = ceil(log2 N) bit</a:t>
            </a:r>
            <a:endParaRPr lang="en-US" sz="2100" dirty="0"/>
          </a:p>
        </p:txBody>
      </p:sp>
      <p:sp>
        <p:nvSpPr>
          <p:cNvPr id="5" name="Shape 3"/>
          <p:cNvSpPr/>
          <p:nvPr/>
        </p:nvSpPr>
        <p:spPr>
          <a:xfrm>
            <a:off x="548640" y="311975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02107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Ogni bit di uscita è l'OR delle linee di ingresso il cui numero ha un 1 in quella posizione</a:t>
            </a:r>
            <a:endParaRPr lang="en-US" sz="2100" dirty="0"/>
          </a:p>
        </p:txBody>
      </p:sp>
      <p:sp>
        <p:nvSpPr>
          <p:cNvPr id="7" name="Shape 5"/>
          <p:cNvSpPr/>
          <p:nvPr/>
        </p:nvSpPr>
        <p:spPr>
          <a:xfrm>
            <a:off x="548640" y="407276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74084"/>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Se più linee possono essere attive insieme serve un codificatore con priorità</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dà in uscita il numero della linea attiva di priorità più alta</a:t>
            </a:r>
            <a:endParaRPr lang="en-US" sz="2100" dirty="0"/>
          </a:p>
        </p:txBody>
      </p:sp>
      <p:sp>
        <p:nvSpPr>
          <p:cNvPr id="9" name="Shape 7"/>
          <p:cNvSpPr/>
          <p:nvPr/>
        </p:nvSpPr>
        <p:spPr>
          <a:xfrm>
            <a:off x="548640" y="562013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Esempio: un tastierino con un filo per tasto diventa un numero di tasto compatto</a:t>
            </a:r>
            <a:endParaRPr lang="en-US" sz="21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da N a m</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da una linea tra N a una parola codice di m bit: m = ceil(log2 N)</a:t>
            </a:r>
            <a:endParaRPr lang="en-US" sz="1900" dirty="0"/>
          </a:p>
        </p:txBody>
      </p:sp>
      <p:sp>
        <p:nvSpPr>
          <p:cNvPr id="14" name="Shape 12"/>
          <p:cNvSpPr/>
          <p:nvPr/>
        </p:nvSpPr>
        <p:spPr>
          <a:xfrm>
            <a:off x="8051622" y="91440"/>
            <a:ext cx="3591433" cy="274320"/>
          </a:xfrm>
          <a:prstGeom prst="rect">
            <a:avLst/>
          </a:prstGeom>
          <a:solidFill>
            <a:srgbClr val="E0F2FE"/>
          </a:solidFill>
          <a:ln w="12700">
            <a:solidFill>
              <a:srgbClr val="0369A1"/>
            </a:solidFill>
            <a:prstDash val="solid"/>
          </a:ln>
        </p:spPr>
      </p:sp>
      <p:sp>
        <p:nvSpPr>
          <p:cNvPr id="15" name="Shape 13"/>
          <p:cNvSpPr/>
          <p:nvPr/>
        </p:nvSpPr>
        <p:spPr>
          <a:xfrm>
            <a:off x="8051622"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17" name="Text 14"/>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decoder ed encoder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Transcodificatori: il display a sette segmenti</a:t>
            </a:r>
            <a:endParaRPr lang="en-US" sz="3200" dirty="0"/>
          </a:p>
        </p:txBody>
      </p:sp>
      <p:sp>
        <p:nvSpPr>
          <p:cNvPr id="3" name="Shape 1"/>
          <p:cNvSpPr/>
          <p:nvPr/>
        </p:nvSpPr>
        <p:spPr>
          <a:xfrm>
            <a:off x="8051622" y="91440"/>
            <a:ext cx="3591433" cy="274320"/>
          </a:xfrm>
          <a:prstGeom prst="rect">
            <a:avLst/>
          </a:prstGeom>
          <a:solidFill>
            <a:srgbClr val="E0F2FE"/>
          </a:solidFill>
          <a:ln w="12700">
            <a:solidFill>
              <a:srgbClr val="0369A1"/>
            </a:solidFill>
            <a:prstDash val="solid"/>
          </a:ln>
        </p:spPr>
      </p:sp>
      <p:sp>
        <p:nvSpPr>
          <p:cNvPr id="4" name="Shape 2"/>
          <p:cNvSpPr/>
          <p:nvPr/>
        </p:nvSpPr>
        <p:spPr>
          <a:xfrm>
            <a:off x="8051622"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6" name="Text 3"/>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decoder ed encoder</a:t>
            </a:r>
            <a:endParaRPr lang="en-US" sz="1100" dirty="0"/>
          </a:p>
        </p:txBody>
      </p:sp>
      <p:pic>
        <p:nvPicPr>
          <p:cNvPr id="8" name="Image 1" descr="preencoded.png">    </p:cNvPr>
          <p:cNvPicPr>
            <a:picLocks noChangeAspect="1"/>
          </p:cNvPicPr>
          <p:nvPr/>
        </p:nvPicPr>
        <p:blipFill>
          <a:blip r:embed="rId2"/>
          <a:stretch>
            <a:fillRect/>
          </a:stretch>
        </p:blipFill>
        <p:spPr>
          <a:xfrm>
            <a:off x="548640" y="1905176"/>
            <a:ext cx="2377440" cy="377916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0" y="1417320"/>
          <a:ext cx="4892040" cy="914400"/>
        </p:xfrm>
        <a:graphic>
          <a:graphicData uri="http://schemas.openxmlformats.org/drawingml/2006/table">
            <a:tbl>
              <a:tblPr/>
              <a:tblGrid>
                <a:gridCol w="685800"/>
                <a:gridCol w="1005840"/>
                <a:gridCol w="457200"/>
                <a:gridCol w="457200"/>
                <a:gridCol w="457200"/>
                <a:gridCol w="457200"/>
                <a:gridCol w="457200"/>
                <a:gridCol w="457200"/>
                <a:gridCol w="457200"/>
              </a:tblGrid>
              <a:tr h="352044">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Cifra</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BCD</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a</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b</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e</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f</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g</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0010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0011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0110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0111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1000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1001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0" name="Shape 4"/>
          <p:cNvSpPr/>
          <p:nvPr/>
        </p:nvSpPr>
        <p:spPr>
          <a:xfrm>
            <a:off x="8915400" y="1417320"/>
            <a:ext cx="2727655" cy="4754880"/>
          </a:xfrm>
          <a:prstGeom prst="roundRect">
            <a:avLst>
              <a:gd name="adj" fmla="val 2682"/>
            </a:avLst>
          </a:prstGeom>
          <a:solidFill>
            <a:srgbClr val="D8ECEE"/>
          </a:solidFill>
          <a:ln w="12700">
            <a:solidFill>
              <a:srgbClr val="D8ECEE"/>
            </a:solidFill>
            <a:prstDash val="solid"/>
          </a:ln>
        </p:spPr>
      </p:sp>
      <p:sp>
        <p:nvSpPr>
          <p:cNvPr id="11" name="Text 5"/>
          <p:cNvSpPr txBox="1"/>
          <p:nvPr/>
        </p:nvSpPr>
        <p:spPr>
          <a:xfrm>
            <a:off x="9052560" y="1554480"/>
            <a:ext cx="2453335" cy="4480560"/>
          </a:xfrm>
          <a:prstGeom prst="rect">
            <a:avLst/>
          </a:prstGeom>
          <a:noFill/>
          <a:ln/>
        </p:spPr>
        <p:txBody>
          <a:bodyPr wrap="square" lIns="0" tIns="0" rIns="0" bIns="0" rtlCol="0" anchor="ctr"/>
          <a:lstStyle/>
          <a:p>
            <a:pPr indent="0" marL="0">
              <a:buNone/>
            </a:pPr>
            <a:r>
              <a:rPr lang="en-US" sz="1450" dirty="0">
                <a:solidFill>
                  <a:srgbClr val="1B2530"/>
                </a:solidFill>
                <a:latin typeface="Calibri" pitchFamily="34" charset="0"/>
                <a:ea typeface="Calibri" pitchFamily="34" charset="-122"/>
                <a:cs typeface="Calibri" pitchFamily="34" charset="-120"/>
              </a:rPr>
              <a:t>Un transcodificatore trasforma ogni parola di un codice C1 nella parola corrispondente di un codice C2 definito sullo stesso insieme.</a:t>
            </a:r>
            <a:endParaRPr lang="en-US" sz="1450" dirty="0"/>
          </a:p>
          <a:p>
            <a:pPr indent="0" marL="0">
              <a:buNone/>
            </a:pPr>
            <a:endParaRPr lang="en-US" sz="1450" dirty="0"/>
          </a:p>
          <a:p>
            <a:pPr indent="0" marL="0">
              <a:buNone/>
            </a:pPr>
            <a:r>
              <a:rPr lang="en-US" sz="1450" dirty="0">
                <a:solidFill>
                  <a:srgbClr val="1B2530"/>
                </a:solidFill>
                <a:latin typeface="Calibri" pitchFamily="34" charset="0"/>
                <a:ea typeface="Calibri" pitchFamily="34" charset="-122"/>
                <a:cs typeface="Calibri" pitchFamily="34" charset="-120"/>
              </a:rPr>
              <a:t>Qui: dal BCD alle sette linee che accendono i segmenti da a a g. La cifra 2 accende a, b, g, e e d.</a:t>
            </a:r>
            <a:endParaRPr lang="en-US" sz="1450" dirty="0"/>
          </a:p>
          <a:p>
            <a:pPr indent="0" marL="0">
              <a:buNone/>
            </a:pPr>
            <a:endParaRPr lang="en-US" sz="1450" dirty="0"/>
          </a:p>
          <a:p>
            <a:pPr indent="0" marL="0">
              <a:buNone/>
            </a:pPr>
            <a:r>
              <a:rPr lang="en-US" sz="1450" dirty="0">
                <a:solidFill>
                  <a:srgbClr val="1B2530"/>
                </a:solidFill>
                <a:latin typeface="Calibri" pitchFamily="34" charset="0"/>
                <a:ea typeface="Calibri" pitchFamily="34" charset="-122"/>
                <a:cs typeface="Calibri" pitchFamily="34" charset="-120"/>
              </a:rPr>
              <a:t>Sette uscite: sette funzioni di quattro variabili da sintetizzare.</a:t>
            </a:r>
            <a:endParaRPr lang="en-US" sz="14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multiplexer</a:t>
            </a:r>
            <a:endParaRPr lang="en-US" sz="3200" dirty="0"/>
          </a:p>
        </p:txBody>
      </p:sp>
      <p:sp>
        <p:nvSpPr>
          <p:cNvPr id="3" name="Shape 1"/>
          <p:cNvSpPr/>
          <p:nvPr/>
        </p:nvSpPr>
        <p:spPr>
          <a:xfrm>
            <a:off x="548640" y="149275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10235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circuito combinatorio con 2^n ingressi dati, n linee di selezione e un'uscita</a:t>
            </a:r>
            <a:endParaRPr lang="en-US" sz="1800" dirty="0"/>
          </a:p>
        </p:txBody>
      </p:sp>
      <p:sp>
        <p:nvSpPr>
          <p:cNvPr id="5" name="Shape 3"/>
          <p:cNvSpPr/>
          <p:nvPr/>
        </p:nvSpPr>
        <p:spPr>
          <a:xfrm>
            <a:off x="548640" y="23065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1136"/>
            <a:ext cx="510235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Seleziona uno dei 2^n segnali di ingresso e lo trasferisce sull'unica linea di uscita</a:t>
            </a:r>
            <a:endParaRPr lang="en-US" sz="1800" dirty="0"/>
          </a:p>
        </p:txBody>
      </p:sp>
      <p:sp>
        <p:nvSpPr>
          <p:cNvPr id="7" name="Shape 5"/>
          <p:cNvSpPr/>
          <p:nvPr/>
        </p:nvSpPr>
        <p:spPr>
          <a:xfrm>
            <a:off x="548640" y="312039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44952"/>
            <a:ext cx="5102352"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Indirizzabile: un decodificatore sulle linee di selezione abilita una porta AND; un OR raccoglie il risultato. Il dato è scelto da un indirizzo, non da una linea decodificata</a:t>
            </a:r>
            <a:endParaRPr lang="en-US" sz="1800" dirty="0"/>
          </a:p>
        </p:txBody>
      </p:sp>
      <p:sp>
        <p:nvSpPr>
          <p:cNvPr id="9" name="Text 7"/>
          <p:cNvSpPr txBox="1"/>
          <p:nvPr/>
        </p:nvSpPr>
        <p:spPr>
          <a:xfrm>
            <a:off x="548640" y="4343400"/>
            <a:ext cx="5486400" cy="365760"/>
          </a:xfrm>
          <a:prstGeom prst="rect">
            <a:avLst/>
          </a:prstGeom>
          <a:noFill/>
          <a:ln/>
        </p:spPr>
        <p:txBody>
          <a:bodyPr wrap="square" lIns="0" tIns="0" rIns="0" bIns="0" rtlCol="0" anchor="t"/>
          <a:lstStyle/>
          <a:p>
            <a:pPr indent="0" marL="0">
              <a:buNone/>
            </a:pPr>
            <a:r>
              <a:rPr lang="en-US" sz="1600" b="1" dirty="0">
                <a:solidFill>
                  <a:srgbClr val="2E4A62"/>
                </a:solidFill>
                <a:latin typeface="Courier New" pitchFamily="34" charset="0"/>
                <a:ea typeface="Courier New" pitchFamily="34" charset="-122"/>
                <a:cs typeface="Courier New" pitchFamily="34" charset="-120"/>
              </a:rPr>
              <a:t>2 ingressi:  Y = S' I0 + S I1</a:t>
            </a:r>
            <a:endParaRPr lang="en-US" sz="1600" dirty="0"/>
          </a:p>
        </p:txBody>
      </p:sp>
      <p:sp>
        <p:nvSpPr>
          <p:cNvPr id="10" name="Text 8"/>
          <p:cNvSpPr txBox="1"/>
          <p:nvPr/>
        </p:nvSpPr>
        <p:spPr>
          <a:xfrm>
            <a:off x="548640" y="4800600"/>
            <a:ext cx="5486400" cy="731520"/>
          </a:xfrm>
          <a:prstGeom prst="rect">
            <a:avLst/>
          </a:prstGeom>
          <a:noFill/>
          <a:ln/>
        </p:spPr>
        <p:txBody>
          <a:bodyPr wrap="square" lIns="0" tIns="0" rIns="0" bIns="0" rtlCol="0" anchor="t"/>
          <a:lstStyle/>
          <a:p>
            <a:pPr indent="0" marL="0">
              <a:buNone/>
            </a:pPr>
            <a:r>
              <a:rPr lang="en-US" sz="1600" b="1" dirty="0">
                <a:solidFill>
                  <a:srgbClr val="2E4A62"/>
                </a:solidFill>
                <a:latin typeface="Courier New" pitchFamily="34" charset="0"/>
                <a:ea typeface="Courier New" pitchFamily="34" charset="-122"/>
                <a:cs typeface="Courier New" pitchFamily="34" charset="-120"/>
              </a:rPr>
              <a:t>4 ingressi:  Y = S1'S0' I0 + S1'S0 I1</a:t>
            </a:r>
            <a:endParaRPr lang="en-US" sz="1600" dirty="0"/>
          </a:p>
          <a:p>
            <a:pPr indent="0" marL="0">
              <a:buNone/>
            </a:pPr>
            <a:r>
              <a:rPr lang="en-US" sz="1600" b="1" dirty="0">
                <a:solidFill>
                  <a:srgbClr val="2E4A62"/>
                </a:solidFill>
                <a:latin typeface="Courier New" pitchFamily="34" charset="0"/>
                <a:ea typeface="Courier New" pitchFamily="34" charset="-122"/>
                <a:cs typeface="Courier New" pitchFamily="34" charset="-120"/>
              </a:rPr>
              <a:t>             + S1 S0' I2 + S1 S0 I3</a:t>
            </a:r>
            <a:endParaRPr lang="en-US" sz="1600" dirty="0"/>
          </a:p>
        </p:txBody>
      </p:sp>
      <p:sp>
        <p:nvSpPr>
          <p:cNvPr id="11" name="Text 9"/>
          <p:cNvSpPr txBox="1"/>
          <p:nvPr/>
        </p:nvSpPr>
        <p:spPr>
          <a:xfrm>
            <a:off x="548640" y="5669280"/>
            <a:ext cx="5486400" cy="457200"/>
          </a:xfrm>
          <a:prstGeom prst="rect">
            <a:avLst/>
          </a:prstGeom>
          <a:noFill/>
          <a:ln/>
        </p:spPr>
        <p:txBody>
          <a:bodyPr wrap="square" lIns="0" tIns="0" rIns="0" bIns="0" rtlCol="0" anchor="t"/>
          <a:lstStyle/>
          <a:p>
            <a:pPr indent="0" marL="0">
              <a:buNone/>
            </a:pPr>
            <a:r>
              <a:rPr lang="en-US" sz="1350" i="1" dirty="0">
                <a:solidFill>
                  <a:srgbClr val="5B6B78"/>
                </a:solidFill>
                <a:latin typeface="Calibri" pitchFamily="34" charset="0"/>
                <a:ea typeface="Calibri" pitchFamily="34" charset="-122"/>
                <a:cs typeface="Calibri" pitchFamily="34" charset="-120"/>
              </a:rPr>
              <a:t>Ogni ingresso dati è moltiplicato per un mintermine delle linee di selezione.</a:t>
            </a:r>
            <a:endParaRPr lang="en-US" sz="1350" dirty="0"/>
          </a:p>
        </p:txBody>
      </p:sp>
      <p:sp>
        <p:nvSpPr>
          <p:cNvPr id="12" name="Shape 10"/>
          <p:cNvSpPr/>
          <p:nvPr/>
        </p:nvSpPr>
        <p:spPr>
          <a:xfrm>
            <a:off x="6400800" y="1417320"/>
            <a:ext cx="5242255" cy="4754880"/>
          </a:xfrm>
          <a:prstGeom prst="roundRect">
            <a:avLst>
              <a:gd name="adj" fmla="val 1538"/>
            </a:avLst>
          </a:prstGeom>
          <a:solidFill>
            <a:srgbClr val="EEF2F4"/>
          </a:solidFill>
          <a:ln w="12700">
            <a:solidFill>
              <a:srgbClr val="EEF2F4"/>
            </a:solidFill>
            <a:prstDash val="solid"/>
          </a:ln>
        </p:spPr>
      </p:sp>
      <p:sp>
        <p:nvSpPr>
          <p:cNvPr id="13" name="Shape 11"/>
          <p:cNvSpPr/>
          <p:nvPr/>
        </p:nvSpPr>
        <p:spPr>
          <a:xfrm>
            <a:off x="8379917" y="91440"/>
            <a:ext cx="3263138" cy="274320"/>
          </a:xfrm>
          <a:prstGeom prst="rect">
            <a:avLst/>
          </a:prstGeom>
          <a:solidFill>
            <a:srgbClr val="E0F2FE"/>
          </a:solidFill>
          <a:ln w="12700">
            <a:solidFill>
              <a:srgbClr val="0369A1"/>
            </a:solidFill>
            <a:prstDash val="solid"/>
          </a:ln>
        </p:spPr>
      </p:sp>
      <p:sp>
        <p:nvSpPr>
          <p:cNvPr id="14" name="Shape 12"/>
          <p:cNvSpPr/>
          <p:nvPr/>
        </p:nvSpPr>
        <p:spPr>
          <a:xfrm>
            <a:off x="8379917"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16" name="Text 13"/>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multiplexer</a:t>
            </a:r>
            <a:endParaRPr lang="en-US" sz="1100" dirty="0"/>
          </a:p>
        </p:txBody>
      </p:sp>
      <p:pic>
        <p:nvPicPr>
          <p:cNvPr id="18" name="Image 1" descr="preencoded.png">    </p:cNvPr>
          <p:cNvPicPr>
            <a:picLocks noChangeAspect="1"/>
          </p:cNvPicPr>
          <p:nvPr/>
        </p:nvPicPr>
        <p:blipFill>
          <a:blip r:embed="rId2"/>
          <a:stretch>
            <a:fillRect/>
          </a:stretch>
        </p:blipFill>
        <p:spPr>
          <a:xfrm>
            <a:off x="6583680" y="2347036"/>
            <a:ext cx="4876495" cy="2438248"/>
          </a:xfrm>
          <a:prstGeom prst="rect">
            <a:avLst/>
          </a:prstGeom>
        </p:spPr>
      </p:pic>
      <p:sp>
        <p:nvSpPr>
          <p:cNvPr id="19" name="Text 14"/>
          <p:cNvSpPr txBox="1"/>
          <p:nvPr/>
        </p:nvSpPr>
        <p:spPr>
          <a:xfrm>
            <a:off x="6583680" y="5486400"/>
            <a:ext cx="4876495" cy="548640"/>
          </a:xfrm>
          <a:prstGeom prst="rect">
            <a:avLst/>
          </a:prstGeom>
          <a:noFill/>
          <a:ln/>
        </p:spPr>
        <p:txBody>
          <a:bodyPr wrap="square" lIns="0" tIns="0" rIns="0" bIns="0" rtlCol="0" anchor="ctr"/>
          <a:lstStyle/>
          <a:p>
            <a:pPr algn="ctr" indent="0" marL="0">
              <a:buNone/>
            </a:pPr>
            <a:r>
              <a:rPr lang="en-US" sz="1350" i="1" dirty="0">
                <a:solidFill>
                  <a:srgbClr val="5B6B78"/>
                </a:solidFill>
                <a:latin typeface="Calibri" pitchFamily="34" charset="0"/>
                <a:ea typeface="Calibri" pitchFamily="34" charset="-122"/>
                <a:cs typeface="Calibri" pitchFamily="34" charset="-120"/>
              </a:rPr>
              <a:t>Un multiplexer a due ingressi: quando S = 0 l'uscita è I0, quando S = 1 è I1</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demultiplexer</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6509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La macchina inversa: un ingresso dati D, n linee di selezione, 2^n uscite</a:t>
            </a:r>
            <a:endParaRPr lang="en-US" sz="2300" dirty="0"/>
          </a:p>
        </p:txBody>
      </p:sp>
      <p:sp>
        <p:nvSpPr>
          <p:cNvPr id="5" name="Shape 3"/>
          <p:cNvSpPr/>
          <p:nvPr/>
        </p:nvSpPr>
        <p:spPr>
          <a:xfrm>
            <a:off x="548640" y="240372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9556"/>
            <a:ext cx="56509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Instrada l'ingresso sull'uscita scelta dalle linee di selezione; le altre uscite restano a 0</a:t>
            </a:r>
            <a:endParaRPr lang="en-US" sz="2300" dirty="0"/>
          </a:p>
        </p:txBody>
      </p:sp>
      <p:sp>
        <p:nvSpPr>
          <p:cNvPr id="7" name="Shape 5"/>
          <p:cNvSpPr/>
          <p:nvPr/>
        </p:nvSpPr>
        <p:spPr>
          <a:xfrm>
            <a:off x="548640" y="363232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18154"/>
            <a:ext cx="5650992" cy="142544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Demultiplexer indirizzabile: i segnali di abilitazione vengono da un decodificatore sulle linee di selezione</a:t>
            </a:r>
            <a:endParaRPr lang="en-US" sz="2300" dirty="0"/>
          </a:p>
        </p:txBody>
      </p:sp>
      <p:sp>
        <p:nvSpPr>
          <p:cNvPr id="9" name="Shape 7"/>
          <p:cNvSpPr/>
          <p:nvPr/>
        </p:nvSpPr>
        <p:spPr>
          <a:xfrm>
            <a:off x="548640" y="521728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03114"/>
            <a:ext cx="56509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Con D fisso a 1 un demultiplexer è esattamente un decodificatore: D fa da abilitazione</a:t>
            </a:r>
            <a:endParaRPr lang="en-US" sz="2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223760" y="1417320"/>
          <a:ext cx="4389120" cy="914400"/>
        </p:xfrm>
        <a:graphic>
          <a:graphicData uri="http://schemas.openxmlformats.org/drawingml/2006/table">
            <a:tbl>
              <a:tblPr/>
              <a:tblGrid>
                <a:gridCol w="640080"/>
                <a:gridCol w="640080"/>
                <a:gridCol w="777240"/>
                <a:gridCol w="777240"/>
                <a:gridCol w="777240"/>
                <a:gridCol w="777240"/>
              </a:tblGrid>
              <a:tr h="438912">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12" name="Shape 9"/>
          <p:cNvSpPr/>
          <p:nvPr/>
        </p:nvSpPr>
        <p:spPr>
          <a:xfrm>
            <a:off x="7223760" y="3931920"/>
            <a:ext cx="4389120" cy="2240280"/>
          </a:xfrm>
          <a:prstGeom prst="roundRect">
            <a:avLst>
              <a:gd name="adj" fmla="val 3265"/>
            </a:avLst>
          </a:prstGeom>
          <a:solidFill>
            <a:srgbClr val="F6E7D2"/>
          </a:solidFill>
          <a:ln w="12700">
            <a:solidFill>
              <a:srgbClr val="F6E7D2"/>
            </a:solidFill>
            <a:prstDash val="solid"/>
          </a:ln>
        </p:spPr>
      </p:sp>
      <p:sp>
        <p:nvSpPr>
          <p:cNvPr id="13" name="Text 10"/>
          <p:cNvSpPr txBox="1"/>
          <p:nvPr/>
        </p:nvSpPr>
        <p:spPr>
          <a:xfrm>
            <a:off x="7315200" y="4023360"/>
            <a:ext cx="4206240" cy="914400"/>
          </a:xfrm>
          <a:prstGeom prst="rect">
            <a:avLst/>
          </a:prstGeom>
          <a:noFill/>
          <a:ln/>
        </p:spPr>
        <p:txBody>
          <a:bodyPr wrap="square" lIns="0" tIns="0" rIns="0" bIns="0" rtlCol="0" anchor="ctr"/>
          <a:lstStyle/>
          <a:p>
            <a:pPr indent="0" marL="0">
              <a:buNone/>
            </a:pPr>
            <a:r>
              <a:rPr lang="en-US" sz="1450" b="1" dirty="0">
                <a:solidFill>
                  <a:srgbClr val="1B2530"/>
                </a:solidFill>
                <a:latin typeface="Courier New" pitchFamily="34" charset="0"/>
                <a:ea typeface="Courier New" pitchFamily="34" charset="-122"/>
                <a:cs typeface="Courier New" pitchFamily="34" charset="-120"/>
              </a:rPr>
              <a:t>F0 = D S1'S0'      F1 = D S1'S0</a:t>
            </a:r>
            <a:endParaRPr lang="en-US" sz="1450" dirty="0"/>
          </a:p>
          <a:p>
            <a:pPr indent="0" marL="0">
              <a:buNone/>
            </a:pPr>
            <a:r>
              <a:rPr lang="en-US" sz="1450" b="1" dirty="0">
                <a:solidFill>
                  <a:srgbClr val="1B2530"/>
                </a:solidFill>
                <a:latin typeface="Courier New" pitchFamily="34" charset="0"/>
                <a:ea typeface="Courier New" pitchFamily="34" charset="-122"/>
                <a:cs typeface="Courier New" pitchFamily="34" charset="-120"/>
              </a:rPr>
              <a:t>F2 = D S1 S0'      F3 = D S1 S0</a:t>
            </a:r>
            <a:endParaRPr lang="en-US" sz="1450" dirty="0"/>
          </a:p>
        </p:txBody>
      </p:sp>
      <p:sp>
        <p:nvSpPr>
          <p:cNvPr id="14" name="Text 11"/>
          <p:cNvSpPr txBox="1"/>
          <p:nvPr/>
        </p:nvSpPr>
        <p:spPr>
          <a:xfrm>
            <a:off x="7315200" y="5029200"/>
            <a:ext cx="4206240" cy="105156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Un multiplexer seguito da un demultiplexer porta molti segnali su un solo filo, uno alla volta: l'idea che sta dietro ogni linea condivisa.</a:t>
            </a:r>
            <a:endParaRPr lang="en-US" sz="1400" dirty="0"/>
          </a:p>
        </p:txBody>
      </p:sp>
      <p:sp>
        <p:nvSpPr>
          <p:cNvPr id="15" name="Shape 12"/>
          <p:cNvSpPr/>
          <p:nvPr/>
        </p:nvSpPr>
        <p:spPr>
          <a:xfrm>
            <a:off x="8379917" y="91440"/>
            <a:ext cx="3263138" cy="274320"/>
          </a:xfrm>
          <a:prstGeom prst="rect">
            <a:avLst/>
          </a:prstGeom>
          <a:solidFill>
            <a:srgbClr val="E0F2FE"/>
          </a:solidFill>
          <a:ln w="12700">
            <a:solidFill>
              <a:srgbClr val="0369A1"/>
            </a:solidFill>
            <a:prstDash val="solid"/>
          </a:ln>
        </p:spPr>
      </p:sp>
      <p:sp>
        <p:nvSpPr>
          <p:cNvPr id="16" name="Shape 13"/>
          <p:cNvSpPr/>
          <p:nvPr/>
        </p:nvSpPr>
        <p:spPr>
          <a:xfrm>
            <a:off x="8379917"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18" name="Text 14"/>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multiplexer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comparatore</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6509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Due dati A e B in ingresso, un'uscita booleana EQ che vale 1 quando A = B</a:t>
            </a:r>
            <a:endParaRPr lang="en-US" sz="2400" dirty="0"/>
          </a:p>
        </p:txBody>
      </p:sp>
      <p:sp>
        <p:nvSpPr>
          <p:cNvPr id="5" name="Shape 3"/>
          <p:cNvSpPr/>
          <p:nvPr/>
        </p:nvSpPr>
        <p:spPr>
          <a:xfrm>
            <a:off x="548640" y="24338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1908"/>
            <a:ext cx="56509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Due bit sono uguali quando il loro XNOR vale 1</a:t>
            </a:r>
            <a:endParaRPr lang="en-US" sz="2400" dirty="0"/>
          </a:p>
        </p:txBody>
      </p:sp>
      <p:sp>
        <p:nvSpPr>
          <p:cNvPr id="7" name="Shape 5"/>
          <p:cNvSpPr/>
          <p:nvPr/>
        </p:nvSpPr>
        <p:spPr>
          <a:xfrm>
            <a:off x="548640" y="332841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6496"/>
            <a:ext cx="56509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Due parole sono uguali quando lo sono tutte le loro coppie di bit: un AND di XNOR</a:t>
            </a:r>
            <a:endParaRPr lang="en-US" sz="2400" dirty="0"/>
          </a:p>
        </p:txBody>
      </p:sp>
      <p:sp>
        <p:nvSpPr>
          <p:cNvPr id="9" name="Shape 7"/>
          <p:cNvSpPr/>
          <p:nvPr/>
        </p:nvSpPr>
        <p:spPr>
          <a:xfrm>
            <a:off x="548640" y="459486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940"/>
            <a:ext cx="565099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Nel processore: beq e bne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i due registri sono confrontati bit a bit, e il salto avviene o no secondo EQ</a:t>
            </a:r>
            <a:endParaRPr lang="en-US" sz="2400" dirty="0"/>
          </a:p>
        </p:txBody>
      </p:sp>
      <p:sp>
        <p:nvSpPr>
          <p:cNvPr id="11" name="Text 9"/>
          <p:cNvSpPr txBox="1"/>
          <p:nvPr/>
        </p:nvSpPr>
        <p:spPr>
          <a:xfrm>
            <a:off x="548640" y="5623560"/>
            <a:ext cx="6035040" cy="457200"/>
          </a:xfrm>
          <a:prstGeom prst="rect">
            <a:avLst/>
          </a:prstGeom>
          <a:noFill/>
          <a:ln/>
        </p:spPr>
        <p:txBody>
          <a:bodyPr wrap="square" lIns="0" tIns="0" rIns="0" bIns="0" rtlCol="0" anchor="ctr"/>
          <a:lstStyle/>
          <a:p>
            <a:pPr indent="0" marL="0">
              <a:buNone/>
            </a:pPr>
            <a:r>
              <a:rPr lang="en-US" sz="1650" b="1" dirty="0">
                <a:solidFill>
                  <a:srgbClr val="2E4A62"/>
                </a:solidFill>
                <a:latin typeface="Courier New" pitchFamily="34" charset="0"/>
                <a:ea typeface="Courier New" pitchFamily="34" charset="-122"/>
                <a:cs typeface="Courier New" pitchFamily="34" charset="-120"/>
              </a:rPr>
              <a:t>EQ = (A0 xnor B0) . (A1 xnor B1) . ...</a:t>
            </a:r>
            <a:endParaRPr lang="en-US" sz="1650" dirty="0"/>
          </a:p>
        </p:txBody>
      </p:sp>
      <p:sp>
        <p:nvSpPr>
          <p:cNvPr id="12" name="Shape 10"/>
          <p:cNvSpPr/>
          <p:nvPr/>
        </p:nvSpPr>
        <p:spPr>
          <a:xfrm>
            <a:off x="6949440" y="1417320"/>
            <a:ext cx="4693615" cy="4754880"/>
          </a:xfrm>
          <a:prstGeom prst="roundRect">
            <a:avLst>
              <a:gd name="adj" fmla="val 1559"/>
            </a:avLst>
          </a:prstGeom>
          <a:solidFill>
            <a:srgbClr val="EEF2F4"/>
          </a:solidFill>
          <a:ln w="12700">
            <a:solidFill>
              <a:srgbClr val="EEF2F4"/>
            </a:solidFill>
            <a:prstDash val="solid"/>
          </a:ln>
        </p:spPr>
      </p:sp>
      <p:sp>
        <p:nvSpPr>
          <p:cNvPr id="13" name="Shape 11"/>
          <p:cNvSpPr/>
          <p:nvPr/>
        </p:nvSpPr>
        <p:spPr>
          <a:xfrm>
            <a:off x="7920304" y="91440"/>
            <a:ext cx="3722751" cy="274320"/>
          </a:xfrm>
          <a:prstGeom prst="rect">
            <a:avLst/>
          </a:prstGeom>
          <a:solidFill>
            <a:srgbClr val="E0F2FE"/>
          </a:solidFill>
          <a:ln w="12700">
            <a:solidFill>
              <a:srgbClr val="0369A1"/>
            </a:solidFill>
            <a:prstDash val="solid"/>
          </a:ln>
        </p:spPr>
      </p:sp>
      <p:sp>
        <p:nvSpPr>
          <p:cNvPr id="14" name="Shape 12"/>
          <p:cNvSpPr/>
          <p:nvPr/>
        </p:nvSpPr>
        <p:spPr>
          <a:xfrm>
            <a:off x="7920304"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6" name="Text 1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comparatori e parità</a:t>
            </a:r>
            <a:endParaRPr lang="en-US" sz="1100" dirty="0"/>
          </a:p>
        </p:txBody>
      </p:sp>
      <p:pic>
        <p:nvPicPr>
          <p:cNvPr id="18" name="Image 1" descr="preencoded.png">    </p:cNvPr>
          <p:cNvPicPr>
            <a:picLocks noChangeAspect="1"/>
          </p:cNvPicPr>
          <p:nvPr/>
        </p:nvPicPr>
        <p:blipFill>
          <a:blip r:embed="rId2"/>
          <a:stretch>
            <a:fillRect/>
          </a:stretch>
        </p:blipFill>
        <p:spPr>
          <a:xfrm>
            <a:off x="7132320" y="2618778"/>
            <a:ext cx="4327855" cy="1894765"/>
          </a:xfrm>
          <a:prstGeom prst="rect">
            <a:avLst/>
          </a:prstGeom>
        </p:spPr>
      </p:pic>
      <p:sp>
        <p:nvSpPr>
          <p:cNvPr id="19" name="Text 14"/>
          <p:cNvSpPr txBox="1"/>
          <p:nvPr/>
        </p:nvSpPr>
        <p:spPr>
          <a:xfrm>
            <a:off x="7132320" y="5532120"/>
            <a:ext cx="4327855" cy="457200"/>
          </a:xfrm>
          <a:prstGeom prst="rect">
            <a:avLst/>
          </a:prstGeom>
          <a:noFill/>
          <a:ln/>
        </p:spPr>
        <p:txBody>
          <a:bodyPr wrap="square" lIns="0" tIns="0" rIns="0" bIns="0" rtlCol="0" anchor="ctr"/>
          <a:lstStyle/>
          <a:p>
            <a:pPr algn="ctr" indent="0" marL="0">
              <a:buNone/>
            </a:pPr>
            <a:r>
              <a:rPr lang="en-US" sz="1350" i="1" dirty="0">
                <a:solidFill>
                  <a:srgbClr val="5B6B78"/>
                </a:solidFill>
                <a:latin typeface="Calibri" pitchFamily="34" charset="0"/>
                <a:ea typeface="Calibri" pitchFamily="34" charset="-122"/>
                <a:cs typeface="Calibri" pitchFamily="34" charset="-120"/>
              </a:rPr>
              <a:t>Un comparatore per parole di due bit</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Parità</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Quando i dati viaggiano da una sorgente a una destinazione, i codici ridondanti permettono di controllare gli errori</a:t>
            </a:r>
            <a:endParaRPr lang="en-US" sz="1900" dirty="0"/>
          </a:p>
        </p:txBody>
      </p:sp>
      <p:sp>
        <p:nvSpPr>
          <p:cNvPr id="5" name="Shape 3"/>
          <p:cNvSpPr/>
          <p:nvPr/>
        </p:nvSpPr>
        <p:spPr>
          <a:xfrm>
            <a:off x="548640" y="255308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69896"/>
            <a:ext cx="656539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Il controllo più semplice è un singolo bit di parità: le parole lecite hanno, per esempio, un numero pari di bit a 1</a:t>
            </a:r>
            <a:endParaRPr lang="en-US" sz="1900" dirty="0"/>
          </a:p>
        </p:txBody>
      </p:sp>
      <p:sp>
        <p:nvSpPr>
          <p:cNvPr id="7" name="Shape 5"/>
          <p:cNvSpPr/>
          <p:nvPr/>
        </p:nvSpPr>
        <p:spPr>
          <a:xfrm>
            <a:off x="548640" y="360565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22472"/>
            <a:ext cx="6565392" cy="112115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Una rete di parità calcola la parità degli n bit al suo ingresso: una catena di XOR</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 = x0 xor x1 xor ... xor x(n-1) vale 1 quando il numero di 1 è dispari</a:t>
            </a:r>
            <a:endParaRPr lang="en-US" sz="1900" dirty="0"/>
          </a:p>
        </p:txBody>
      </p:sp>
      <p:sp>
        <p:nvSpPr>
          <p:cNvPr id="9" name="Shape 7"/>
          <p:cNvSpPr/>
          <p:nvPr/>
        </p:nvSpPr>
        <p:spPr>
          <a:xfrm>
            <a:off x="548640" y="489623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13046"/>
            <a:ext cx="6565392" cy="135915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Serve due volte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per calcolare il bit da aggiungere a un codice non ridondante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per verificare all'arrivo la parità complessiva del codice ridondante</a:t>
            </a:r>
            <a:endParaRPr lang="en-US" sz="19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xor</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la parità di una parola è lo XOR di tutti i suoi bit</a:t>
            </a:r>
            <a:endParaRPr lang="en-US" sz="1900" dirty="0"/>
          </a:p>
        </p:txBody>
      </p:sp>
      <p:sp>
        <p:nvSpPr>
          <p:cNvPr id="14" name="Shape 12"/>
          <p:cNvSpPr/>
          <p:nvPr/>
        </p:nvSpPr>
        <p:spPr>
          <a:xfrm>
            <a:off x="7920304" y="91440"/>
            <a:ext cx="3722751" cy="274320"/>
          </a:xfrm>
          <a:prstGeom prst="rect">
            <a:avLst/>
          </a:prstGeom>
          <a:solidFill>
            <a:srgbClr val="E0F2FE"/>
          </a:solidFill>
          <a:ln w="12700">
            <a:solidFill>
              <a:srgbClr val="0369A1"/>
            </a:solidFill>
            <a:prstDash val="solid"/>
          </a:ln>
        </p:spPr>
      </p:sp>
      <p:sp>
        <p:nvSpPr>
          <p:cNvPr id="15" name="Shape 13"/>
          <p:cNvSpPr/>
          <p:nvPr/>
        </p:nvSpPr>
        <p:spPr>
          <a:xfrm>
            <a:off x="792030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7" name="Text 1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comparatori e parità</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ALU è un insieme di macchine e un multiplexer</a:t>
            </a:r>
            <a:endParaRPr lang="en-US" sz="3200" dirty="0"/>
          </a:p>
        </p:txBody>
      </p:sp>
      <p:sp>
        <p:nvSpPr>
          <p:cNvPr id="3" name="Shape 1"/>
          <p:cNvSpPr/>
          <p:nvPr/>
        </p:nvSpPr>
        <p:spPr>
          <a:xfrm>
            <a:off x="1828800" y="1554480"/>
            <a:ext cx="0" cy="2871216"/>
          </a:xfrm>
          <a:prstGeom prst="line">
            <a:avLst/>
          </a:prstGeom>
          <a:noFill/>
          <a:ln w="38100">
            <a:solidFill>
              <a:srgbClr val="0E7C86"/>
            </a:solidFill>
            <a:prstDash val="solid"/>
          </a:ln>
        </p:spPr>
      </p:sp>
      <p:sp>
        <p:nvSpPr>
          <p:cNvPr id="4" name="Shape 2"/>
          <p:cNvSpPr/>
          <p:nvPr/>
        </p:nvSpPr>
        <p:spPr>
          <a:xfrm>
            <a:off x="2377440" y="1554480"/>
            <a:ext cx="0" cy="3054096"/>
          </a:xfrm>
          <a:prstGeom prst="line">
            <a:avLst/>
          </a:prstGeom>
          <a:noFill/>
          <a:ln w="38100">
            <a:solidFill>
              <a:srgbClr val="C7791B"/>
            </a:solidFill>
            <a:prstDash val="solid"/>
          </a:ln>
        </p:spPr>
      </p:sp>
      <p:sp>
        <p:nvSpPr>
          <p:cNvPr id="5" name="Text 3"/>
          <p:cNvSpPr txBox="1"/>
          <p:nvPr/>
        </p:nvSpPr>
        <p:spPr>
          <a:xfrm>
            <a:off x="1097280" y="1463040"/>
            <a:ext cx="640080" cy="365760"/>
          </a:xfrm>
          <a:prstGeom prst="rect">
            <a:avLst/>
          </a:prstGeom>
          <a:noFill/>
          <a:ln/>
        </p:spPr>
        <p:txBody>
          <a:bodyPr wrap="square" lIns="0" tIns="0" rIns="0" bIns="0" rtlCol="0" anchor="t"/>
          <a:lstStyle/>
          <a:p>
            <a:pPr algn="r" indent="0" marL="0">
              <a:buNone/>
            </a:pPr>
            <a:r>
              <a:rPr lang="en-US" sz="1800" b="1" dirty="0">
                <a:solidFill>
                  <a:srgbClr val="0E7C86"/>
                </a:solidFill>
                <a:latin typeface="Courier New" pitchFamily="34" charset="0"/>
                <a:ea typeface="Courier New" pitchFamily="34" charset="-122"/>
                <a:cs typeface="Courier New" pitchFamily="34" charset="-120"/>
              </a:rPr>
              <a:t>A</a:t>
            </a:r>
            <a:endParaRPr lang="en-US" sz="1800" dirty="0"/>
          </a:p>
        </p:txBody>
      </p:sp>
      <p:sp>
        <p:nvSpPr>
          <p:cNvPr id="6" name="Text 4"/>
          <p:cNvSpPr txBox="1"/>
          <p:nvPr/>
        </p:nvSpPr>
        <p:spPr>
          <a:xfrm>
            <a:off x="2468880" y="1170432"/>
            <a:ext cx="365760" cy="27432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B</a:t>
            </a:r>
            <a:endParaRPr lang="en-US" sz="1800" dirty="0"/>
          </a:p>
        </p:txBody>
      </p:sp>
      <p:sp>
        <p:nvSpPr>
          <p:cNvPr id="7" name="Text 5"/>
          <p:cNvSpPr txBox="1"/>
          <p:nvPr/>
        </p:nvSpPr>
        <p:spPr>
          <a:xfrm>
            <a:off x="548640" y="1920240"/>
            <a:ext cx="1097280" cy="54864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32 bit</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ciascuno</a:t>
            </a:r>
            <a:endParaRPr lang="en-US" sz="1250" dirty="0"/>
          </a:p>
        </p:txBody>
      </p:sp>
      <p:sp>
        <p:nvSpPr>
          <p:cNvPr id="8" name="Text 6"/>
          <p:cNvSpPr txBox="1"/>
          <p:nvPr/>
        </p:nvSpPr>
        <p:spPr>
          <a:xfrm>
            <a:off x="3017520" y="1463040"/>
            <a:ext cx="2926080" cy="548640"/>
          </a:xfrm>
          <a:prstGeom prst="roundRect">
            <a:avLst>
              <a:gd name="adj" fmla="val 10000"/>
            </a:avLst>
          </a:prstGeom>
          <a:solidFill>
            <a:srgbClr val="6B4FA0"/>
          </a:solidFill>
          <a:ln>
            <a:solidFill>
              <a:srgbClr val="6B4FA0"/>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addizionatore / sottrattore</a:t>
            </a:r>
            <a:endParaRPr lang="en-US" sz="1450" dirty="0"/>
          </a:p>
        </p:txBody>
      </p:sp>
      <p:sp>
        <p:nvSpPr>
          <p:cNvPr id="9" name="Shape 7"/>
          <p:cNvSpPr/>
          <p:nvPr/>
        </p:nvSpPr>
        <p:spPr>
          <a:xfrm>
            <a:off x="1828800" y="1645920"/>
            <a:ext cx="1161288" cy="0"/>
          </a:xfrm>
          <a:prstGeom prst="line">
            <a:avLst/>
          </a:prstGeom>
          <a:noFill/>
          <a:ln w="22225">
            <a:solidFill>
              <a:srgbClr val="0E7C86"/>
            </a:solidFill>
            <a:prstDash val="solid"/>
            <a:tailEnd type="triangle"/>
          </a:ln>
        </p:spPr>
      </p:sp>
      <p:sp>
        <p:nvSpPr>
          <p:cNvPr id="10" name="Shape 8"/>
          <p:cNvSpPr/>
          <p:nvPr/>
        </p:nvSpPr>
        <p:spPr>
          <a:xfrm>
            <a:off x="2377440" y="1847088"/>
            <a:ext cx="612648" cy="0"/>
          </a:xfrm>
          <a:prstGeom prst="line">
            <a:avLst/>
          </a:prstGeom>
          <a:noFill/>
          <a:ln w="22225">
            <a:solidFill>
              <a:srgbClr val="C7791B"/>
            </a:solidFill>
            <a:prstDash val="solid"/>
            <a:tailEnd type="triangle"/>
          </a:ln>
        </p:spPr>
      </p:sp>
      <p:sp>
        <p:nvSpPr>
          <p:cNvPr id="11" name="Shape 9"/>
          <p:cNvSpPr/>
          <p:nvPr/>
        </p:nvSpPr>
        <p:spPr>
          <a:xfrm>
            <a:off x="5971032" y="1737360"/>
            <a:ext cx="1042416" cy="0"/>
          </a:xfrm>
          <a:prstGeom prst="line">
            <a:avLst/>
          </a:prstGeom>
          <a:noFill/>
          <a:ln w="22225">
            <a:solidFill>
              <a:srgbClr val="5B6B78"/>
            </a:solidFill>
            <a:prstDash val="solid"/>
            <a:tailEnd type="triangle"/>
          </a:ln>
        </p:spPr>
      </p:sp>
      <p:sp>
        <p:nvSpPr>
          <p:cNvPr id="12" name="Text 10"/>
          <p:cNvSpPr txBox="1"/>
          <p:nvPr/>
        </p:nvSpPr>
        <p:spPr>
          <a:xfrm>
            <a:off x="3017520" y="2157984"/>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AND, una porta per bit</a:t>
            </a:r>
            <a:endParaRPr lang="en-US" sz="1450" dirty="0"/>
          </a:p>
        </p:txBody>
      </p:sp>
      <p:sp>
        <p:nvSpPr>
          <p:cNvPr id="13" name="Shape 11"/>
          <p:cNvSpPr/>
          <p:nvPr/>
        </p:nvSpPr>
        <p:spPr>
          <a:xfrm>
            <a:off x="1828800" y="2340864"/>
            <a:ext cx="1161288" cy="0"/>
          </a:xfrm>
          <a:prstGeom prst="line">
            <a:avLst/>
          </a:prstGeom>
          <a:noFill/>
          <a:ln w="22225">
            <a:solidFill>
              <a:srgbClr val="0E7C86"/>
            </a:solidFill>
            <a:prstDash val="solid"/>
            <a:tailEnd type="triangle"/>
          </a:ln>
        </p:spPr>
      </p:sp>
      <p:sp>
        <p:nvSpPr>
          <p:cNvPr id="14" name="Shape 12"/>
          <p:cNvSpPr/>
          <p:nvPr/>
        </p:nvSpPr>
        <p:spPr>
          <a:xfrm>
            <a:off x="2377440" y="2542032"/>
            <a:ext cx="612648" cy="0"/>
          </a:xfrm>
          <a:prstGeom prst="line">
            <a:avLst/>
          </a:prstGeom>
          <a:noFill/>
          <a:ln w="22225">
            <a:solidFill>
              <a:srgbClr val="C7791B"/>
            </a:solidFill>
            <a:prstDash val="solid"/>
            <a:tailEnd type="triangle"/>
          </a:ln>
        </p:spPr>
      </p:sp>
      <p:sp>
        <p:nvSpPr>
          <p:cNvPr id="15" name="Shape 13"/>
          <p:cNvSpPr/>
          <p:nvPr/>
        </p:nvSpPr>
        <p:spPr>
          <a:xfrm>
            <a:off x="5971032" y="2432304"/>
            <a:ext cx="1042416" cy="0"/>
          </a:xfrm>
          <a:prstGeom prst="line">
            <a:avLst/>
          </a:prstGeom>
          <a:noFill/>
          <a:ln w="22225">
            <a:solidFill>
              <a:srgbClr val="5B6B78"/>
            </a:solidFill>
            <a:prstDash val="solid"/>
            <a:tailEnd type="triangle"/>
          </a:ln>
        </p:spPr>
      </p:sp>
      <p:sp>
        <p:nvSpPr>
          <p:cNvPr id="16" name="Text 14"/>
          <p:cNvSpPr txBox="1"/>
          <p:nvPr/>
        </p:nvSpPr>
        <p:spPr>
          <a:xfrm>
            <a:off x="3017520" y="2852928"/>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OR, una porta per bit</a:t>
            </a:r>
            <a:endParaRPr lang="en-US" sz="1450" dirty="0"/>
          </a:p>
        </p:txBody>
      </p:sp>
      <p:sp>
        <p:nvSpPr>
          <p:cNvPr id="17" name="Shape 15"/>
          <p:cNvSpPr/>
          <p:nvPr/>
        </p:nvSpPr>
        <p:spPr>
          <a:xfrm>
            <a:off x="1828800" y="3035808"/>
            <a:ext cx="1161288" cy="0"/>
          </a:xfrm>
          <a:prstGeom prst="line">
            <a:avLst/>
          </a:prstGeom>
          <a:noFill/>
          <a:ln w="22225">
            <a:solidFill>
              <a:srgbClr val="0E7C86"/>
            </a:solidFill>
            <a:prstDash val="solid"/>
            <a:tailEnd type="triangle"/>
          </a:ln>
        </p:spPr>
      </p:sp>
      <p:sp>
        <p:nvSpPr>
          <p:cNvPr id="18" name="Shape 16"/>
          <p:cNvSpPr/>
          <p:nvPr/>
        </p:nvSpPr>
        <p:spPr>
          <a:xfrm>
            <a:off x="2377440" y="3236976"/>
            <a:ext cx="612648" cy="0"/>
          </a:xfrm>
          <a:prstGeom prst="line">
            <a:avLst/>
          </a:prstGeom>
          <a:noFill/>
          <a:ln w="22225">
            <a:solidFill>
              <a:srgbClr val="C7791B"/>
            </a:solidFill>
            <a:prstDash val="solid"/>
            <a:tailEnd type="triangle"/>
          </a:ln>
        </p:spPr>
      </p:sp>
      <p:sp>
        <p:nvSpPr>
          <p:cNvPr id="19" name="Shape 17"/>
          <p:cNvSpPr/>
          <p:nvPr/>
        </p:nvSpPr>
        <p:spPr>
          <a:xfrm>
            <a:off x="5971032" y="3127248"/>
            <a:ext cx="1042416" cy="0"/>
          </a:xfrm>
          <a:prstGeom prst="line">
            <a:avLst/>
          </a:prstGeom>
          <a:noFill/>
          <a:ln w="22225">
            <a:solidFill>
              <a:srgbClr val="5B6B78"/>
            </a:solidFill>
            <a:prstDash val="solid"/>
            <a:tailEnd type="triangle"/>
          </a:ln>
        </p:spPr>
      </p:sp>
      <p:sp>
        <p:nvSpPr>
          <p:cNvPr id="20" name="Text 18"/>
          <p:cNvSpPr txBox="1"/>
          <p:nvPr/>
        </p:nvSpPr>
        <p:spPr>
          <a:xfrm>
            <a:off x="3017520" y="3547872"/>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XOR, una porta per bit</a:t>
            </a:r>
            <a:endParaRPr lang="en-US" sz="1450" dirty="0"/>
          </a:p>
        </p:txBody>
      </p:sp>
      <p:sp>
        <p:nvSpPr>
          <p:cNvPr id="21" name="Shape 19"/>
          <p:cNvSpPr/>
          <p:nvPr/>
        </p:nvSpPr>
        <p:spPr>
          <a:xfrm>
            <a:off x="1828800" y="3730752"/>
            <a:ext cx="1161288" cy="0"/>
          </a:xfrm>
          <a:prstGeom prst="line">
            <a:avLst/>
          </a:prstGeom>
          <a:noFill/>
          <a:ln w="22225">
            <a:solidFill>
              <a:srgbClr val="0E7C86"/>
            </a:solidFill>
            <a:prstDash val="solid"/>
            <a:tailEnd type="triangle"/>
          </a:ln>
        </p:spPr>
      </p:sp>
      <p:sp>
        <p:nvSpPr>
          <p:cNvPr id="22" name="Shape 20"/>
          <p:cNvSpPr/>
          <p:nvPr/>
        </p:nvSpPr>
        <p:spPr>
          <a:xfrm>
            <a:off x="2377440" y="3931920"/>
            <a:ext cx="612648" cy="0"/>
          </a:xfrm>
          <a:prstGeom prst="line">
            <a:avLst/>
          </a:prstGeom>
          <a:noFill/>
          <a:ln w="22225">
            <a:solidFill>
              <a:srgbClr val="C7791B"/>
            </a:solidFill>
            <a:prstDash val="solid"/>
            <a:tailEnd type="triangle"/>
          </a:ln>
        </p:spPr>
      </p:sp>
      <p:sp>
        <p:nvSpPr>
          <p:cNvPr id="23" name="Shape 21"/>
          <p:cNvSpPr/>
          <p:nvPr/>
        </p:nvSpPr>
        <p:spPr>
          <a:xfrm>
            <a:off x="5971032" y="3822192"/>
            <a:ext cx="1042416" cy="0"/>
          </a:xfrm>
          <a:prstGeom prst="line">
            <a:avLst/>
          </a:prstGeom>
          <a:noFill/>
          <a:ln w="22225">
            <a:solidFill>
              <a:srgbClr val="5B6B78"/>
            </a:solidFill>
            <a:prstDash val="solid"/>
            <a:tailEnd type="triangle"/>
          </a:ln>
        </p:spPr>
      </p:sp>
      <p:sp>
        <p:nvSpPr>
          <p:cNvPr id="24" name="Text 22"/>
          <p:cNvSpPr txBox="1"/>
          <p:nvPr/>
        </p:nvSpPr>
        <p:spPr>
          <a:xfrm>
            <a:off x="3017520" y="4242816"/>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shifter</a:t>
            </a:r>
            <a:endParaRPr lang="en-US" sz="1450" dirty="0"/>
          </a:p>
        </p:txBody>
      </p:sp>
      <p:sp>
        <p:nvSpPr>
          <p:cNvPr id="25" name="Shape 23"/>
          <p:cNvSpPr/>
          <p:nvPr/>
        </p:nvSpPr>
        <p:spPr>
          <a:xfrm>
            <a:off x="1828800" y="4425696"/>
            <a:ext cx="1161288" cy="0"/>
          </a:xfrm>
          <a:prstGeom prst="line">
            <a:avLst/>
          </a:prstGeom>
          <a:noFill/>
          <a:ln w="22225">
            <a:solidFill>
              <a:srgbClr val="0E7C86"/>
            </a:solidFill>
            <a:prstDash val="solid"/>
            <a:tailEnd type="triangle"/>
          </a:ln>
        </p:spPr>
      </p:sp>
      <p:sp>
        <p:nvSpPr>
          <p:cNvPr id="26" name="Shape 24"/>
          <p:cNvSpPr/>
          <p:nvPr/>
        </p:nvSpPr>
        <p:spPr>
          <a:xfrm>
            <a:off x="2377440" y="4626864"/>
            <a:ext cx="612648" cy="0"/>
          </a:xfrm>
          <a:prstGeom prst="line">
            <a:avLst/>
          </a:prstGeom>
          <a:noFill/>
          <a:ln w="22225">
            <a:solidFill>
              <a:srgbClr val="C7791B"/>
            </a:solidFill>
            <a:prstDash val="solid"/>
            <a:tailEnd type="triangle"/>
          </a:ln>
        </p:spPr>
      </p:sp>
      <p:sp>
        <p:nvSpPr>
          <p:cNvPr id="27" name="Shape 25"/>
          <p:cNvSpPr/>
          <p:nvPr/>
        </p:nvSpPr>
        <p:spPr>
          <a:xfrm>
            <a:off x="5971032" y="4517136"/>
            <a:ext cx="1042416" cy="0"/>
          </a:xfrm>
          <a:prstGeom prst="line">
            <a:avLst/>
          </a:prstGeom>
          <a:noFill/>
          <a:ln w="22225">
            <a:solidFill>
              <a:srgbClr val="5B6B78"/>
            </a:solidFill>
            <a:prstDash val="solid"/>
            <a:tailEnd type="triangle"/>
          </a:ln>
        </p:spPr>
      </p:sp>
      <p:sp>
        <p:nvSpPr>
          <p:cNvPr id="28" name="Text 26"/>
          <p:cNvSpPr txBox="1"/>
          <p:nvPr/>
        </p:nvSpPr>
        <p:spPr>
          <a:xfrm>
            <a:off x="7040880" y="1463040"/>
            <a:ext cx="1005840" cy="3328416"/>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MUX</a:t>
            </a:r>
            <a:endParaRPr lang="en-US" sz="1700" dirty="0"/>
          </a:p>
        </p:txBody>
      </p:sp>
      <p:sp>
        <p:nvSpPr>
          <p:cNvPr id="29" name="Shape 27"/>
          <p:cNvSpPr/>
          <p:nvPr/>
        </p:nvSpPr>
        <p:spPr>
          <a:xfrm>
            <a:off x="8074152" y="3127248"/>
            <a:ext cx="978408" cy="0"/>
          </a:xfrm>
          <a:prstGeom prst="line">
            <a:avLst/>
          </a:prstGeom>
          <a:noFill/>
          <a:ln w="31750">
            <a:solidFill>
              <a:srgbClr val="1B2530"/>
            </a:solidFill>
            <a:prstDash val="solid"/>
            <a:tailEnd type="triangle"/>
          </a:ln>
        </p:spPr>
      </p:sp>
      <p:sp>
        <p:nvSpPr>
          <p:cNvPr id="30" name="Text 28"/>
          <p:cNvSpPr txBox="1"/>
          <p:nvPr/>
        </p:nvSpPr>
        <p:spPr>
          <a:xfrm>
            <a:off x="8092440" y="2779776"/>
            <a:ext cx="914400" cy="274320"/>
          </a:xfrm>
          <a:prstGeom prst="rect">
            <a:avLst/>
          </a:prstGeom>
          <a:noFill/>
          <a:ln/>
        </p:spPr>
        <p:txBody>
          <a:bodyPr wrap="square" lIns="0" tIns="0" rIns="0" bIns="0" rtlCol="0" anchor="t"/>
          <a:lstStyle/>
          <a:p>
            <a:pPr algn="ctr" indent="0" marL="0">
              <a:buNone/>
            </a:pPr>
            <a:r>
              <a:rPr lang="en-US" sz="1300" i="1" dirty="0">
                <a:solidFill>
                  <a:srgbClr val="5B6B78"/>
                </a:solidFill>
                <a:latin typeface="Calibri" pitchFamily="34" charset="0"/>
                <a:ea typeface="Calibri" pitchFamily="34" charset="-122"/>
                <a:cs typeface="Calibri" pitchFamily="34" charset="-120"/>
              </a:rPr>
              <a:t>risultato</a:t>
            </a:r>
            <a:endParaRPr lang="en-US" sz="1300" dirty="0"/>
          </a:p>
        </p:txBody>
      </p:sp>
      <p:sp>
        <p:nvSpPr>
          <p:cNvPr id="31" name="Shape 29"/>
          <p:cNvSpPr/>
          <p:nvPr/>
        </p:nvSpPr>
        <p:spPr>
          <a:xfrm flipV="1">
            <a:off x="7543800" y="4818888"/>
            <a:ext cx="0" cy="539496"/>
          </a:xfrm>
          <a:prstGeom prst="line">
            <a:avLst/>
          </a:prstGeom>
          <a:noFill/>
          <a:ln w="28575">
            <a:solidFill>
              <a:srgbClr val="B23A48"/>
            </a:solidFill>
            <a:prstDash val="solid"/>
            <a:tailEnd type="triangle"/>
          </a:ln>
        </p:spPr>
      </p:sp>
      <p:sp>
        <p:nvSpPr>
          <p:cNvPr id="32" name="Text 30"/>
          <p:cNvSpPr txBox="1"/>
          <p:nvPr/>
        </p:nvSpPr>
        <p:spPr>
          <a:xfrm>
            <a:off x="5669280" y="5376672"/>
            <a:ext cx="384048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operazione, decodificata dall'istruzione</a:t>
            </a:r>
            <a:endParaRPr lang="en-US" sz="1350" dirty="0"/>
          </a:p>
        </p:txBody>
      </p:sp>
      <p:sp>
        <p:nvSpPr>
          <p:cNvPr id="33" name="Shape 31"/>
          <p:cNvSpPr/>
          <p:nvPr/>
        </p:nvSpPr>
        <p:spPr>
          <a:xfrm>
            <a:off x="9326880" y="1417320"/>
            <a:ext cx="2316175" cy="3383280"/>
          </a:xfrm>
          <a:prstGeom prst="roundRect">
            <a:avLst>
              <a:gd name="adj" fmla="val 3158"/>
            </a:avLst>
          </a:prstGeom>
          <a:solidFill>
            <a:srgbClr val="D8ECEE"/>
          </a:solidFill>
          <a:ln w="12700">
            <a:solidFill>
              <a:srgbClr val="D8ECEE"/>
            </a:solidFill>
            <a:prstDash val="solid"/>
          </a:ln>
        </p:spPr>
      </p:sp>
      <p:sp>
        <p:nvSpPr>
          <p:cNvPr id="34" name="Text 32"/>
          <p:cNvSpPr txBox="1"/>
          <p:nvPr/>
        </p:nvSpPr>
        <p:spPr>
          <a:xfrm>
            <a:off x="9418320" y="1508760"/>
            <a:ext cx="2133295" cy="320040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Tutte le unità calcolano insieme, sugli stessi due operandi. Il multiplexer lascia passare un solo risultato.</a:t>
            </a:r>
            <a:endParaRPr lang="en-US" sz="1400" dirty="0"/>
          </a:p>
          <a:p>
            <a:pPr indent="0" marL="0">
              <a:buNone/>
            </a:pPr>
            <a:endParaRPr lang="en-US" sz="1400" dirty="0"/>
          </a:p>
          <a:p>
            <a:pPr indent="0" marL="0">
              <a:buNone/>
            </a:pPr>
            <a:r>
              <a:rPr lang="en-US" sz="1400" dirty="0">
                <a:solidFill>
                  <a:srgbClr val="1B2530"/>
                </a:solidFill>
                <a:latin typeface="Calibri" pitchFamily="34" charset="0"/>
                <a:ea typeface="Calibri" pitchFamily="34" charset="-122"/>
                <a:cs typeface="Calibri" pitchFamily="34" charset="-120"/>
              </a:rPr>
              <a:t>Un decodificatore sui bit dell'istruzione pilota la selezione.</a:t>
            </a:r>
            <a:endParaRPr lang="en-US" sz="1400" dirty="0"/>
          </a:p>
        </p:txBody>
      </p:sp>
      <p:sp>
        <p:nvSpPr>
          <p:cNvPr id="35" name="Text 33"/>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Nessuna memoria, da nessuna parte: la ALU è un'unica grande macchina combinatoria. Il suo percorso più lento, la catena dei riporti dell'addizionatore, limita il clock del processore.</a:t>
            </a:r>
            <a:endParaRPr lang="en-US" sz="1400" dirty="0"/>
          </a:p>
        </p:txBody>
      </p:sp>
      <p:sp>
        <p:nvSpPr>
          <p:cNvPr id="36" name="Shape 34"/>
          <p:cNvSpPr/>
          <p:nvPr/>
        </p:nvSpPr>
        <p:spPr>
          <a:xfrm>
            <a:off x="8905189" y="91440"/>
            <a:ext cx="2737866" cy="274320"/>
          </a:xfrm>
          <a:prstGeom prst="rect">
            <a:avLst/>
          </a:prstGeom>
          <a:solidFill>
            <a:srgbClr val="E0F2FE"/>
          </a:solidFill>
          <a:ln w="12700">
            <a:solidFill>
              <a:srgbClr val="0369A1"/>
            </a:solidFill>
            <a:prstDash val="solid"/>
          </a:ln>
        </p:spPr>
      </p:sp>
      <p:sp>
        <p:nvSpPr>
          <p:cNvPr id="37" name="Shape 35"/>
          <p:cNvSpPr/>
          <p:nvPr/>
        </p:nvSpPr>
        <p:spPr>
          <a:xfrm>
            <a:off x="8905189" y="91440"/>
            <a:ext cx="73152" cy="274320"/>
          </a:xfrm>
          <a:prstGeom prst="rect">
            <a:avLst/>
          </a:prstGeom>
          <a:solidFill>
            <a:srgbClr val="0369A1"/>
          </a:solidFill>
          <a:ln w="12700">
            <a:solidFill>
              <a:srgbClr val="0369A1"/>
            </a:solidFill>
            <a:prstDash val="solid"/>
          </a:ln>
        </p:spPr>
      </p:sp>
      <p:pic>
        <p:nvPicPr>
          <p:cNvPr id="38" name="Image 0" descr="preencoded.png">    </p:cNvPr>
          <p:cNvPicPr>
            <a:picLocks noChangeAspect="1"/>
          </p:cNvPicPr>
          <p:nvPr/>
        </p:nvPicPr>
        <p:blipFill>
          <a:blip r:embed="rId1"/>
          <a:stretch>
            <a:fillRect/>
          </a:stretch>
        </p:blipFill>
        <p:spPr>
          <a:xfrm>
            <a:off x="9033205" y="128016"/>
            <a:ext cx="201168" cy="201168"/>
          </a:xfrm>
          <a:prstGeom prst="rect">
            <a:avLst/>
          </a:prstGeom>
        </p:spPr>
      </p:pic>
      <p:sp>
        <p:nvSpPr>
          <p:cNvPr id="39" name="Text 36"/>
          <p:cNvSpPr txBox="1"/>
          <p:nvPr/>
        </p:nvSpPr>
        <p:spPr>
          <a:xfrm>
            <a:off x="9289237" y="91440"/>
            <a:ext cx="231724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l'ALU</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Quanti bit richiede un codice binario a lunghezza fissa per le 26 lettere dell'alfabeto?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Un decodificatore ha 3 linee di ingresso e nessuna abilitazione. Quante uscite ha, e quante valgono 1 in ogni istante?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 uscite, una a 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 uscite, due a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 uscite, una a 1</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 uscite, tre a 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Di quante linee di selezione ha bisogno un multiplexer con 8 ingressi dati?</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Una parola con un bit di parità pari viene ricevuta con due bit alterati. Il controllo di parità:</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rileva l'errore e lo corregge</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rileva l'errore ma non può correggerlo</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non rileva l'errore</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segnala un errore solo se entrambi i bit valevano 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773604"/>
                <a:gridCol w="2773604"/>
                <a:gridCol w="29469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combinational network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rete combinatoria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decoder / encoder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decodificatore / codificatore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propagation delay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ritardo di propagazione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transcoder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transcodificatore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cardinality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cardinalità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multiplexer / demultiplexer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multiplexer / demultiplexer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code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parola codice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enable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abilitazione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fixed / variable length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lunghezza fissa / variabile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redundant 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codice ridondante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parity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di parità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codice scrive ogni elemento di un insieme come stringa di simboli su un alfabeto: la sua parola codice</a:t>
            </a:r>
            <a:endParaRPr lang="en-US" sz="1900" dirty="0"/>
          </a:p>
        </p:txBody>
      </p:sp>
      <p:sp>
        <p:nvSpPr>
          <p:cNvPr id="5" name="Shape 3"/>
          <p:cNvSpPr/>
          <p:nvPr/>
        </p:nvSpPr>
        <p:spPr>
          <a:xfrm>
            <a:off x="548640" y="223121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48027"/>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codici a lunghezza fissa richiedono ceil(log2 N) bit; i codici ridondanti ne spendono di più per rilevare gli errori</a:t>
            </a:r>
            <a:endParaRPr lang="en-US" sz="1900" dirty="0"/>
          </a:p>
        </p:txBody>
      </p:sp>
      <p:sp>
        <p:nvSpPr>
          <p:cNvPr id="7" name="Shape 5"/>
          <p:cNvSpPr/>
          <p:nvPr/>
        </p:nvSpPr>
        <p:spPr>
          <a:xfrm>
            <a:off x="548640" y="296191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7873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Codifica, decodifica e transcodifica sono svolte da macchine combinatorie</a:t>
            </a:r>
            <a:endParaRPr lang="en-US" sz="1900" dirty="0"/>
          </a:p>
        </p:txBody>
      </p:sp>
      <p:sp>
        <p:nvSpPr>
          <p:cNvPr id="9" name="Shape 7"/>
          <p:cNvSpPr/>
          <p:nvPr/>
        </p:nvSpPr>
        <p:spPr>
          <a:xfrm>
            <a:off x="548640" y="33982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15056"/>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 multiplexer selezionano una sorgente, i demultiplexer una destinazione; comparatori e reti di parità controllano</a:t>
            </a:r>
            <a:endParaRPr lang="en-US" sz="1900" dirty="0"/>
          </a:p>
        </p:txBody>
      </p:sp>
      <p:sp>
        <p:nvSpPr>
          <p:cNvPr id="11" name="Shape 9"/>
          <p:cNvSpPr/>
          <p:nvPr/>
        </p:nvSpPr>
        <p:spPr>
          <a:xfrm>
            <a:off x="548640" y="41289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45763"/>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 processore RISC-V li usa tutti: decodificatori sui campi dell'istruzione, multiplexer sugli operandi, e una ALU che è a sua volta costruita con questi blocchi</a:t>
            </a:r>
            <a:endParaRPr lang="en-US" sz="1900" dirty="0"/>
          </a:p>
        </p:txBody>
      </p:sp>
      <p:sp>
        <p:nvSpPr>
          <p:cNvPr id="13" name="Shape 11"/>
          <p:cNvSpPr/>
          <p:nvPr/>
        </p:nvSpPr>
        <p:spPr>
          <a:xfrm>
            <a:off x="548640" y="4859655"/>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776470"/>
            <a:ext cx="10710367" cy="139573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Letture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Struttura e progetto dei calcolatori, edizione RISC-V, appendice A e paragrafo 4.1</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Bucci: Architettura dei calcolatori elettronici, i capitoli sulle reti combinatorie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Stallings: Computer Organization and Architecture, il capitolo sulla logica digitale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Macchine combinatorie</dc:title>
  <dc:subject>Lezione 11</dc:subject>
  <dc:creator>Raffaele Montella</dc:creator>
  <cp:lastModifiedBy>Raffaele Montella</cp:lastModifiedBy>
  <cp:revision>1</cp:revision>
  <dcterms:created xsi:type="dcterms:W3CDTF">2026-10-16T16:46:58Z</dcterms:created>
  <dcterms:modified xsi:type="dcterms:W3CDTF">2026-10-16T16:46:58Z</dcterms:modified>
</cp:coreProperties>
</file>