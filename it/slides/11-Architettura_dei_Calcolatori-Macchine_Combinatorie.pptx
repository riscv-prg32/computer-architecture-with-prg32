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2aaec287-212e-efa3-71a3-da4f83a2d01b}">
          <p14:sldIdLst>
            <p14:sldId id="256"/>
            <p14:sldId id="257"/>
          </p14:sldIdLst>
        </p14:section>
        <p14:section name="Riscaldamento sulla macchina" id="{90969b9c-83b2-b919-4c20-e3097503a45f}">
          <p14:sldIdLst>
            <p14:sldId id="258"/>
            <p14:sldId id="259"/>
          </p14:sldIdLst>
        </p14:section>
        <p14:section name="Macchine combinatorie" id="{31a3a918-d750-f0f5-9f3a-900e66e7f011}">
          <p14:sldIdLst>
            <p14:sldId id="260"/>
            <p14:sldId id="261"/>
            <p14:sldId id="262"/>
            <p14:sldId id="263"/>
          </p14:sldIdLst>
        </p14:section>
        <p14:section name="Codici" id="{3fd43c94-dfd9-355d-d65e-33226a6963a8}">
          <p14:sldIdLst>
            <p14:sldId id="264"/>
            <p14:sldId id="265"/>
            <p14:sldId id="266"/>
            <p14:sldId id="267"/>
            <p14:sldId id="268"/>
            <p14:sldId id="269"/>
            <p14:sldId id="270"/>
          </p14:sldIdLst>
        </p14:section>
        <p14:section name="Decodificatori e codificatori" id="{2d006b12-1654-6ea1-0504-4b702420bbb2}">
          <p14:sldIdLst>
            <p14:sldId id="271"/>
            <p14:sldId id="272"/>
            <p14:sldId id="273"/>
            <p14:sldId id="274"/>
            <p14:sldId id="275"/>
            <p14:sldId id="276"/>
            <p14:sldId id="277"/>
            <p14:sldId id="278"/>
          </p14:sldIdLst>
        </p14:section>
        <p14:section name="Multiplexer e demultiplexer" id="{e221fce0-4496-ae51-a7d8-6c7f2045a941}">
          <p14:sldIdLst>
            <p14:sldId id="279"/>
            <p14:sldId id="280"/>
            <p14:sldId id="281"/>
            <p14:sldId id="282"/>
          </p14:sldIdLst>
        </p14:section>
        <p14:section name="Confrontare e controllare" id="{1fa1cdd6-54a9-8565-114f-ddb08b184032}">
          <p14:sldIdLst>
            <p14:sldId id="283"/>
            <p14:sldId id="284"/>
            <p14:sldId id="285"/>
            <p14:sldId id="286"/>
            <p14:sldId id="287"/>
          </p14:sldIdLst>
        </p14:section>
        <p14:section name="L'unità aritmetico-logica" id="{8139cdbc-bd61-67c4-ae8b-18d9e720e942}">
          <p14:sldIdLst>
            <p14:sldId id="288"/>
            <p14:sldId id="289"/>
            <p14:sldId id="290"/>
            <p14:sldId id="291"/>
            <p14:sldId id="292"/>
            <p14:sldId id="293"/>
            <p14:sldId id="294"/>
            <p14:sldId id="295"/>
            <p14:sldId id="296"/>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lezioni precedenti vi hanno dato le porte e un metodo per combinarle. Questa è un catalogo delle macchine che i progettisti usano davvero: decodificatori, codificatori, multiplexer, comparatori, reti di parità, e infine l'unità aritmetico-logica. Per ciascuna imparate che cosa fa, come è costruita, e dove sta dentro un processore RISC-V. Il giovane Turing della citazione vuole carote e piselli ben separati: questa lezione parla di tenere le cose distinte, e di scegliere tra esse.
Per il docente: Spirale: una ricerca in tabella in assembly è un multiplexer; la lezione costruisce poi i blocchi combinatori standard e mostra dove sta ciascuno dentro un processore RISC-V (il corso degli anni precedenti usava come riferimento il Motorola 68000).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Distinguere una macchina combinatoria da una sequenziale. Calcolare quanti bit richiede un codice e riconoscere codici incompleti e ridondanti. Progettare un decodificatore e un codificatore, e comporre decodificatori piccoli in decodificatori più grandi. Spiegare multiplexer e demultiplexer e costruirli con le porte. Costruire un comparatore e una rete di parità, sapendo che cosa un controllo di parità può e non può rilevare. E indicare ciascuna di queste macchine dentro il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riscaldamento è un pezzo di assembly che sceglie un colore tra quattro. Mentre lo leggete, chiedetevi se il risultato dipende da qualcosa accaduto prima.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a0 contiene un numero da 0 a 3. Le quattro istruzioni sono l'accesso al vettore della Lezione 04: si carica l'indirizzo della tabella, si moltiplica il selettore per 4, si somma, e si carica la parola selezionata. Lo stesso selettore dà sempre lo stesso colore, e nulla viene ricordato da un uso al successivo. Questo comportamento, uscite che dipendono solo dagli ingressi presenti, definisce le macchine di oggi. In hardware questa in particolare è un multiplexer: quattro ingressi dati, due bit di selezione, un'uscita.
Per il docente: L'accesso al vettore della Lezione 04, letto come circuito. Nel processore la selezione è fatta da porte in molto meno di un nanosecondo; qui richiede quattro istruzioni.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la definizione e il metodo: che cos'è una macchina combinatoria, come la si progetta, e un avvertimento sul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circuiti digitali sono di due tipi. In un circuito combinatorio le uscite in un dato istante dipendono solo dagli ingressi in quello stesso istante: non c'è memoria né retroazione, e una tabella di verità descrive completamente il circuito. In un circuito sequenziale le uscite dipendono anche dalla storia passata degli ingressi: servono le nozioni di tempo e di stato. Sommatori, decodificatori e multiplexer sono combinatori; flip-flop, registri e il processore nel suo insieme sono sequenziali, e sono l'argomento della Lezione 13.
Per il docente: In inglese: combinational e sequential circuits. La definizione di circuito sequenziale implica tempo e stato: entrambi sono l'argomento della prossima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progetto di una macchina combinatoria in quattro passi: una specifica a parole; una tabella di verità, con le indifferenze; una minimizzazione, un'uscita alla volta; e una rete di porte o di blocchi standard. È il metodo della Lezione 09. Oltre i quattro o cinque ingressi nessuno disegna più mappe: i progettisti assemblano blocchi già pronti, ed è per questo che la lezione ne è un catalogo. L'analisi procede nel verso opposto, dallo schema alla tabella.
Per il docente: Oltre i quattro o cinque ingressi nessuno disegna mappe: i progettisti compongono blocchi standard, ed è per questo che la lezione ne è un catalogo.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porta reale non risponde all'istante: la sua uscita si assesta dopo un ritardo di propagazione, come ha spiegato la Lezione 10. Il ritardo di una rete è quello del suo percorso più lento da un ingresso a un'uscita, il percorso critico. Mentre i segnali viaggiano le uscite possono essere temporaneamente sbagliate. Quindi una macchina combinatoria è corretta solo dopo essersi assestata, e qualcosa deve dire quando guardarne le uscite. Quel qualcosa è il clock, ed è lì che cominciano le macchine sequenziali.
Per il docente: In un sommatore a propagazione del riporto (Lezione 09) il percorso critico attraversa tutti e trentadue i sommatori completi. Il periodo di clock di un processore deve essere più lungo del suo percorso critico più lungo.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Molte delle macchine di questa lezione trattano codici: li traducono, li selezionano, li controllano. Prima delle macchine bisogna quindi dire con precisione che cos'è l'informazione e che cos'è un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parole per parlare di informazione. L'attributo è il significato: il voto di un esame. Il tipo è l'insieme dei valori possibili: i voti da 18 a 30, e il 30 e lode. Il valore è l'elemento effettivamente assunto: 30. La cardinalità è il numero di elementi del tipo, qui 14. Poi due distinzioni: lo stesso valore si può scrivere in molti modi, ed è il problema della codifica; e i tipi possono essere semplici o strutturati. Notate che «30 e lode» non è un numero: è un quattordicesimo elemento.
Per il docente: Informazione completa: l'attributo assume un valore di un certo tipo. «30 e lode» non è un numero: è un quattordicesimo elemento del tipo, e come scriverlo è un problema di codifica.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alfabeto è un insieme finito e non vuoto di simboli: quello binario ne ha due, quello decimale dieci. Una stringa, o parola, è una sequenza finita di simboli di un alfabeto, e la sua lunghezza è il numero dei suoi simboli. La stringa di lunghezza zero è la stringa vuota. L'insieme di tutte le stringhe su un alfabeto S si indica con S asterisco. Una sequenza infinita non è una stringa. Queste definizioni sono la base della teoria dei codici, e più avanti dei linguaggi formali.
Per il docente: Una sequenza infinita 010101... non è una stringa e non appartiene a {0,1}*. «wingardium leviosa» è una stringa di lunghezza 18 sulle lettere e lo spazio.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codice associa a ogni elemento di un insieme di N elementi una stringa di simboli, la parola codice. In un codice a lunghezza fissa tutte le parole hanno la stessa lunghezza m. Con un alfabeto di k simboli le parole sono k alla m, quindi m deve essere almeno il logaritmo di N, arrotondato per eccesso. In binario: quattordici voti richiedono 4 bit, e i 32 registri di RISC-V ne richiedono esattamente 5. Quando N non è una potenza di due alcune parole restano inutilizzate, e il codice è incompleto.
Per il docente: In inglese: fixed-length code. I cinque bit di un numero di registro sono i campi rd, rs1 e rs2 di un'istruzione RISC-V (Lezione 02). Quattordici voti lasciano 16 - 14 = 2 parole non assegnate.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classico codice incompleto: le cifre decimali su quattro bit. Nel BCD 8421 ogni cifra è semplicemente il suo valore in binario; nell'eccesso 3 il valore è aumentato di tre. Dieci cifre richiedono quattro bit, e quattro bit danno sedici parole, quindi sei non si usano mai: nel BCD, le parole da 1010 a 1111. Ricordate la didascalia: quando si progetta un circuito che riceve cifre BCD, quelle sei parole sono indifferenze e semplificano il circuito.
Per il docente: Dieci cifre richiedono ceil(log2 10) = 4 bit; sei delle sedici parole non si usano mai: nel BCD 8421 sono da 1010 a 1111. Le parole non usate diventano condizioni di indifferenza quando si progetta un circuito (Lezione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codice ridondante usa più bit del minimo, quindi solo alcune delle parole possibili sono lecite. Se arriva una parola non lecita, qualcosa l'ha alterata lungo il percorso, e l'errore è rilevato. Confrontate i due codici della tabella. Nel Codice 1 ogni parola di 2 bit è lecita: un bit alterato trasforma un elemento in un altro e nessuno se ne accorge. Il Codice 2 aggiunge un terzo bit che rende pari il numero di 1: qualunque bit singolo alterato produce una parola non lecita. La ridondanza è il prezzo pagato per rilevare gli errori.
Per il docente: La slide originale mostrava la stessa idea con una figura e una diversa scelta delle parole non lecite. Il Codice 2 è il Codice 1 più un bit di parità pari: le macchine di parità vengono più avanti in questa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un codice a lunghezza variabile agli elementi frequenti vanno parole corte e a quelli rari parole lunghe, con risparmio di spazio e di tempo. Chi legge deve comunque sapere dove finisce ogni parola, e lo garantisce la proprietà del prefisso: nessuna parola è l'inizio di un'altra. Avete già incontrato due codici di questo tipo: UTF-8, con uno-quattro byte per carattere, e le istruzioni del kit, lunghe 16 o 32 bit. I due bit più bassi di un'istruzione dicono quale: 11 significa 32 bit.
Per il docente: RV32IMAC: l'estensione C codifica in 16 bit le istruzioni più comuni. Un'istruzione i cui due bit meno significativi sono 11 è lunga 32 bit; ogni altra configurazione indica un'istruzione a 16 bit. Il codice Morse e la codifica di Huffman sono gli esempi classici.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famiglia di macchine traduce tra un codice compatto e un insieme di linee separate, una per ogni elemento.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Nella rappresentazione decodificata ci sono tanti bit quanti elementi, ed esattamente uno vale 1: una linea per elemento. Si dice anche one-hot. È costosa in fili ma immediatamente utilizzabile, perché la linea attiva può accendere direttamente qualcosa. La regola pratica sta nell'ultima riga: si tiene l'informazione in un codice compatto dentro una parola, e la si decodifica dove una scelta va attuata.
Per il docente: Detta anche one-hot. Le sette lampade del laboratorio 06 sono una rappresentazione decodificata del numero di bit; le 32 linee di abilitazione alla scrittura dei registri RISC-V ne sono un'altra.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decodificatore riceve una parola codice di m bit e attiva l'unica uscita, su 2 alla m, che le corrisponde. La tabella e il circuito mostrano il decodificatore 2-a-4: ogni uscita è un mintermine dei due ingressi, realizzato con una porta AND e, dove serve, con invertitori. Un decodificatore genera quindi tutti i mintermini dei suoi ingressi. Un ingresso di abilitazione, quando vale 0, tiene a 0 tutte le uscite: sarà la chiave per comporre i decodificatori.
Per il docente: Sintesi del decodificatore 2-a-4 (1 su 4). A è il bit meno significativo. Il simbolo a blocchi è un riquadro con la scritta 1/N.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decodificatori grandi si costruiscono con quelli piccoli. Per selezionare una linea su sedici a partire da quattro bit, un primo decodificatore 2-a-4 guarda i due bit alti e abilita uno di altri quattro decodificatori; tutti e quattro ricevono i due bit bassi, e solo quello abilitato attiva una delle sue linee. Cinque piccoli decodificatori fanno il lavoro. È la composizione modulare, ed è la strategia generale del progetto digitale: risolvere un problema grande con copie della soluzione di uno piccolo.
Per il docente: Composizione modulare di decodificatori 4:16. Nell'SN74139 reale l'abilitazione e le uscite sono attive basse: un dettaglio che la slide originale semplificava, come fa questa.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decodificatore al lavoro nel processore. L'istruzione addi t1, t1, 1 contiene un campo di 5 bit, rd, con il numero del registro di destinazione: 00110, cioè 6, il registro t1. Un decodificatore 5-a-32 trasforma quei cinque bit in trentadue linee di abilitazione alla scrittura, di cui è attiva solo la sesta: solo quel registro riceve il risultato. La stessa istruzione contiene altri due numeri di registro, che selezionano i registri da leggere.
Per il docente: L'istruzione della Lezione 02. I campi grigi non sono coinvolti. L'abilitazione alla scrittura di x0 semplicemente non è collegata: x0 si legge sempre zero. La lettura usa multiplexer, mostrati tra qualche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codificatore è la macchina inversa: riceve N linee, di cui una attiva, e ne produce il numero come parola codice di m bit. Ogni bit di uscita è l'OR delle linee di ingresso il cui numero ha un 1 in quella posizione. Se più linee possono essere attive insieme serve un codificatore con priorità, che dà in uscita il numero della linea attiva più importante. Lo ritroverete con le interruzioni, quando più dispositivi chiedono attenzione nello stesso momento.
Per il docente: Per N = 4: C0 = U1 + U3, C1 = U2 + U3. I codificatori con priorità ricompaiono con le interruzioni: più dispositivi chiedono attenzione, un solo numero arriva al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transcodificatore converte una parola di un codice nella parola corrispondente di un altro codice. L'esempio è il display a sette segmenti: l'ingresso è una cifra BCD, le uscite sono le sette linee che accendono i segmenti, chiamati da a a g. La tabella dà, per ogni cifra, i segmenti accesi: la cifra 2 accende a, b, g, e e d. Le uscite sono sette, quindi ci sono sette funzioni di quattro variabili da sintetizzare, ciascuna con sei indifferenze.
Per il docente: Transcodificatore BCD - display a 7 segmenti. Ogni segmento è un LED comandato da un segnale digitale. Le sei parole BCD non usate sono indifferenze per tutte e sette le funzioni.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sintesi del segmento a con il metodo della Lezione 09. Il segmento è spento solo per le cifre 1 e 4. Le sei parole BCD non usate sono segnate con x. Usando le celle x come 1, quattro grandi gruppi coprono la mappa: le due righe in basso danno A, le due colonne a destra danno C, il quadrato centrale dà BD, e i quattro angoli danno B'D'. Il risultato è a = A + C + BD + B'D'. Senza le indifferenze i gruppi sarebbero più piccoli e l'espressione più lunga. Provate voi il segmento g.
Per il docente: Esempio svolto che unisce la Lezione 09 (mappe, indifferenze) a questa. Buon esercizio di laboratorio: i segmenti da b a g. Verifica: la cifra 0 (0000) è coperta dagli angoli, la cifra 9 (1001) da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seconda famiglia seleziona: un multiplexer sceglie una sorgente tra molte, un demultiplexer una destinazione tra molte.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multiplexer ha 2 alla n ingressi dati, n linee di selezione e un'uscita: trasferisce sull'uscita l'ingresso scelto dalle linee di selezione. La formula mostra come: ogni ingresso dati è moltiplicato per un mintermine delle linee di selezione, e i prodotti si sommano. Con due ingressi, Y = S'I0 + S I1: quando S vale 0 il primo termine lascia passare I0, quando S vale 1 il secondo lascia passare I1. Il disegno è esattamente questa formula in porte. È la macchina del riscaldamento.
Per il docente: Multiplexer indirizzabile: un MUXL (una linea di abilitazione per ingresso) più un decodificatore. Un multiplexer realizza anche qualunque funzione delle sue variabili di selezione: si mette la tabella di verità sugli ingressi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demultiplexer è l'inverso: un ingresso dati, n linee di selezione e 2 alla n uscite. L'ingresso è instradato sull'uscita scelta dalle linee di selezione, e le altre uscite restano a 0. Con l'ingresso dati fisso a 1 è esattamente un decodificatore. Un multiplexer a un capo di un filo e un demultiplexer all'altro permettono a molti segnali di condividere quel filo, uno alla volta: è l'idea che sta dietro ogni linea condivisa, compresi i bus della Lezione 14.
Per il docente: Demultiplexer indirizzabile: Fi = D . Ui, dove Ui sono le uscite del decodificatore.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multiplexer al lavoro nel processore. add t2, t0, t1 somma due registri; addi t2, t0, 5 somma un registro e una costante presa dall'istruzione. Entrambe usano lo stesso addizionatore. Un multiplexer davanti al secondo ingresso della ALU sceglie tra il valore di un registro e la costante: la sua linea di selezione vale 0 per add e 1 per addi. È un multiplexer su parole intere: trentadue multiplexer a un bit con una linea di selezione comune. Anche leggere un registro è un multiplexer.
Per il docente: Nel datapath del libro di Patterson e Hennessy il segnale di selezione si chiama ALUSrc. Una porta applicata a ogni bit di una parola con un controllo comune è una porta di parola.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terza famiglia controlla: due parole sono uguali? Una parola è arrivata così come è stata inviata?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comparatore riceve due parole e produce un bit, che vale 1 quando sono uguali. Due bit sono uguali quando il loro XNOR vale 1; due parole sono uguali quando lo sono tutte le loro coppie di bit, quindi il comparatore è un AND di XNOR. Il disegno lo mostra per parole di due bit. Nel processore decide i salti beq e bne: i due registri vengono confrontati, e il salto avviene o no secondo il risultato.
Per il docente: Molti datapath riusano invece la ALU: sottraggono e verificano se il risultato è zero. I confronti d'ordine (blt, slt) richiedono la sottrazione e le regole di segno della Lezione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codice ridondante più semplice aggiunge a ogni parola un bit di parità, scelto in modo che il numero totale di 1 sia, per esempio, pari. Il circuito che lo calcola è una rete di parità, una catena di XOR: lo XOR di tutti i bit di una parola vale 1 quando il numero di 1 è dispari, perché XOR è la somma modulo 2. La rete si usa due volte: da chi trasmette, per calcolare il bit da aggiungere, e da chi riceve, per verificare la parità di ciò che è arrivato.
Per il docente: In inglese: parity network. XOR è la somma modulo 2, ed è per questo che una catena di XOR conta gli 1 modulo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schema completo di una trasmissione con controllo di parità. La sorgente produce una parola; una prima rete di parità calcola il bit di parità e lo accoda; la parola viaggia su un canale dove può essere alterata; una seconda rete verifica la parità e alza un segnale di errore se non torna. La didascalia enuncia con precisione i limiti: un solo bit di parità rileva un numero dispari qualsiasi di bit alterati, non sa dire quale bit è sbagliato, e gli sfugge un numero pari di errori.
Per il docente: Schema di trasmissione con controllo di parità. «Probabilmente»: due errori si compensano. I codici di Hamming, con più bit di parità su gruppi sovrapposti, localizzano e correggono un errore singolo.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rete di parità in software, per un byte. Ogni coppia di istruzioni scorre il valore a destra e lo combina con se stesso tramite XOR: il primo ripiegamento porta otto bit su quattro, il secondo quattro su due, il terzo due su uno. L'ultima istruzione tiene solo il bit più basso, che è la parità. In hardware gli stessi tre livelli sono un albero di sette porte XOR. Tracciatela a mano con 0x53, che ha quattro 1, e con 0x13, che ne ha tre.
Per il docente: Scritto per questa lezione. Tracciarlo con 0x53 = 0101 0011 (quattro 1, risultato 0) e con 0x13 = 0001 0011 (tre 1, risultato 1). In hardware i tre livelli sono un albero di sette porte XOR.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L'ultima macchina contiene tutte le altre. L'unità aritmetico-logica è la parte del processore che calcola, ed è costruita interamente con i blocchi di questa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ALU riceve due parole, A e B. Al suo interno più unità lavorano insieme sugli stessi operandi: un addizionatore che fa anche le sottrazioni, una fila di porte AND, una di porte OR, una di porte XOR, uno shifter. Tutte producono un risultato. Un multiplexer lascia passare uno dei risultati, e le sue linee di selezione vengono da un decodificatore che legge l'istruzione. Non c'è memoria da nessuna parte: la ALU è un'unica grande macchina combinatoria, e il suo percorso più lento, la catena dei riporti dell'addizionatore, limita il clock del processore.
Per il docente: In inglese: arithmetic logic unit. L'addizionatore è il sommatore a propagazione del riporto della Lezione 09, con il trucco del complemento e del riporto della Lezione 05 per la sottrazione. I confronti (slt) riusano il sottrattore.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un'istruzione sceglie l'operazione. Il campo di 3 bit funct3 dell'istruzione è un codice compatto: 000 per somma o differenza, 001 per lo scorrimento a sinistra, 100 per XOR, 110 per OR, 111 per AND. Un piccolo decodificatore lo trasforma nelle linee di selezione del multiplexer della ALU. Dove due istruzioni condividono un valore, come add e sub, le distingue un altro bit altrove nell'istruzione. Un codice, un decodificatore, un multiplexer: l'intera lezione in una tabella.
Per il docente: funct3 è il campo di 3 bit dell'istruzione visto nella Lezione 02 (bit da 14 a 12). Tre bit, otto parole codice: un codice compatto che un piccolo decodificatore trasforma nelle linee di selezione del multiplexer della ALU.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Usate la formula del codice a lunghezza fissa: il più piccolo m tale che 2 alla m sia almeno 26. Quattro bit danno sedici parole, che non bastano. E notate che il risultato lascia alcune parole inutilizzate.
Per il docente: Risposta: B. ceil(log2 26) = 5, perché 2^4 = 16 &lt; 26 &lt;= 32 = 2^5. Restano sei parole non assegnate: il codice è incompleto.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decodificatore con m ingressi ha 2 alla m uscite, e la sua uscita è una rappresentazione decodificata: in ogni istante è attiva esattamente una linea.
Per il docente: Risposta: C. 2^3 = 8 uscite, e ne è attiva esattamente una: la rappresentazione decodificata (one-hot) della parola in ingresso.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relazione è l'inversa della precedente: n linee di selezione scelgono tra 2 alla n ingressi. Otto è 2 alla terza.
Per il docente: Risposta: B. n linee di selezione scelgono tra 2^n ingressi: 3 linee per 8 ingressi.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Contate gli 1. Un controllo di parità sa soltanto se il loro numero è pari o dispari. Alterare un bit cambia questo fatto; alterarne due lo cambia due volte, e lo riporta dov'era.
Per il docente: Risposta: C. Due alterazioni lasciano invariata la parità. Un solo bit di parità rileva soltanto un numero dispari di errori.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Sintetizzate il segmento g con una mappa, usando le indifferenze. Costruite un decodificatore 3-a-8 con due decodificatori 2-a-4 con abilitazione e un invertitore. Realizzate una funzione con un solo multiplexer mettendo la sua tabella di verità sugli ingressi dati, e riconoscete la funzione. Scrivete un comparatore in assembly con le sole xor e sltiu. E disegnate su PRG32 una cifra a sette segmenti: una tabella di dieci byte, uno per cifra, e sette rettangoli accesi esaminandone i bit: un transcodificatore in software.
Per il docente: Esercizio 3: si mettono 0, 1, 1, 0, 1, 0, 0, 1 sugli ingressi dati: è lo XOR a tre ingressi, il bit di somma del sommatore completo. Esercizio 4: xor a0, a0, a1 e poi sltiu a0, a0, 1 (la pseudo-istruzione seqz). L'esercizio 5 è un transcodificatore software seguito da sette test di bit: la tabella è la tabella di verità di questa lezione, una riga per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Enable, abilitazione, è l'ingresso che accende o spegne un blocco. Code word, parola codice, è ciascuna stringa di un codice. Multiplexer e demultiplexer conservano il nome anche in italiano. Un transcoder, transcodificatore, converte tra due codici. Il parity bit, bit di parità, è il bit ridondante aggiunto per il controllo.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L'informazione è un attributo, un tipo e un valore, e un codice scrive il valore come stringa. Un codice binario a lunghezza fissa richiede il logaritmo di N bit, arrotondato per eccesso; un codice ridondante ne spende di più per rilevare gli errori. Codifica, decodifica e transcodifica sono svolte da macchine combinatorie. I multiplexer selezionano una sorgente, i demultiplexer una destinazione, comparatori e reti di parità controllano. E il processore li usa tutti. A queste macchine manca la memoria: dopo la Parte 2 di Verm1, la aggiunge la Lezione 13.
Per il docente: A seguire: Verm1, parte 2: la guida e il cibo. Poi le macchine sequenziali: ciò che qui manca è 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11: Macchine combinatorie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Macchine combinatorie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Codici, decodificatori, multiplexer, comparatori, parità: i circuiti con cui è assemblato un processore RISC-V</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“...non è colpa mia, le carote hanno toccato i piselli...”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Alan Turing da ragazzo, nel film The Imitation Game, 2014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breakout.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una macchina combinatoria da una sequenziale</a:t>
            </a:r>
            <a:endParaRPr lang="en-US" sz="2200" dirty="0"/>
          </a:p>
        </p:txBody>
      </p:sp>
      <p:sp>
        <p:nvSpPr>
          <p:cNvPr id="5" name="Text 3"/>
          <p:cNvSpPr txBox="1"/>
          <p:nvPr/>
        </p:nvSpPr>
        <p:spPr>
          <a:xfrm>
            <a:off x="548640" y="21045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862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Calcolare quanti bit richiede un codice a lunghezza fissa, e riconoscere codici incompleti e ridondanti</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Progettare un decodificatore e un codificatore, e comporre decodificatori piccoli in decodificatori più grandi</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cosa fanno un multiplexer e un demultiplexer, e costruirli con le porte</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Costruire un comparatore e una rete di parità, e dire che cosa un controllo di parità può e non può rilevare</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Indicare ciascuna di queste macchine dentro un processore RISC-V</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Riscaldamento sulla macchina</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Una selezione senza memoria.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Scegliere uno di quattro colori</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a0 = selector, 0 to 3      result: a4 = the selected colour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palette         </a:t>
            </a:r>
            <a:pPr indent="0" marL="0">
              <a:buNone/>
            </a:pPr>
            <a:r>
              <a:rPr lang="en-US" sz="1300" dirty="0">
                <a:solidFill>
                  <a:srgbClr val="8FB3A0"/>
                </a:solidFill>
                <a:latin typeface="Courier New" pitchFamily="34" charset="0"/>
                <a:ea typeface="Courier New" pitchFamily="34" charset="-122"/>
                <a:cs typeface="Courier New" pitchFamily="34" charset="-120"/>
              </a:rPr>
              <a:t># four words: the data inputs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a0, 2           </a:t>
            </a:r>
            <a:pPr indent="0" marL="0">
              <a:buNone/>
            </a:pPr>
            <a:r>
              <a:rPr lang="en-US" sz="1300" dirty="0">
                <a:solidFill>
                  <a:srgbClr val="8FB3A0"/>
                </a:solidFill>
                <a:latin typeface="Courier New" pitchFamily="34" charset="0"/>
                <a:ea typeface="Courier New" pitchFamily="34" charset="-122"/>
                <a:cs typeface="Courier New" pitchFamily="34" charset="-120"/>
              </a:rPr>
              <a:t># selector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          </a:t>
            </a:r>
            <a:pPr indent="0" marL="0">
              <a:buNone/>
            </a:pPr>
            <a:r>
              <a:rPr lang="en-US" sz="1300" dirty="0">
                <a:solidFill>
                  <a:srgbClr val="8FB3A0"/>
                </a:solidFill>
                <a:latin typeface="Courier New" pitchFamily="34" charset="0"/>
                <a:ea typeface="Courier New" pitchFamily="34" charset="-122"/>
                <a:cs typeface="Courier New" pitchFamily="34" charset="-120"/>
              </a:rPr>
              <a:t># address of the selected word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a4, 0(t0)           </a:t>
            </a:r>
            <a:pPr indent="0" marL="0">
              <a:buNone/>
            </a:pPr>
            <a:r>
              <a:rPr lang="en-US" sz="1300" dirty="0">
                <a:solidFill>
                  <a:srgbClr val="8FB3A0"/>
                </a:solidFill>
                <a:latin typeface="Courier New" pitchFamily="34" charset="0"/>
                <a:ea typeface="Courier New" pitchFamily="34" charset="-122"/>
                <a:cs typeface="Courier New" pitchFamily="34" charset="-120"/>
              </a:rPr>
              <a:t># the selected input reaches the output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.rodata</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red, green, blue, yellow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palette: .word 0xf800, 0x07e0, 0x001f, 0xffe0</a:t>
            </a:r>
            <a:endParaRPr lang="en-US" sz="13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Lo stesso selettore dà sempre lo stesso colore: il risultato dipende solo dagli ingressi presenti</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Nulla viene ricordato da un uso al successivo</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In hardware è un multiplexer: quattro ingressi dati, due bit di selezione, un'uscita</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Un processore ne contiene decine. Come sono fatti?</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Macchine combinatorie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Uscite che dipendono solo dagli ingressi presenti.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tassonomia dei circuiti digitali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combinatori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Il valore delle uscite in un dato istante dipende solo dal valore degli ingressi in quello stesso istante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Nessuna memoria, nessun anello di retroazione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Completamente descritti da una tabella di verità</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 sommatori, decodificatori, multiplexer, la ALU</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sequenziali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Le uscite dipendono dagli ingressi presenti e dalla storia passata degli ingressi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Richiedono i concetti di tempo e di stato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Descritti da una tabella degli stati o da un diagramma degli stati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 latch, flip-flop, registri, contatori, il processore nel suo insieme (Lezione 13)</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Progettare una macchina combinatoria</a:t>
            </a:r>
            <a:endParaRPr lang="en-US" sz="3200" dirty="0"/>
          </a:p>
        </p:txBody>
      </p:sp>
      <p:sp>
        <p:nvSpPr>
          <p:cNvPr id="3" name="Shape 1"/>
          <p:cNvSpPr/>
          <p:nvPr/>
        </p:nvSpPr>
        <p:spPr>
          <a:xfrm>
            <a:off x="548640" y="1874520"/>
            <a:ext cx="2499284"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2224964"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Specifica</a:t>
            </a:r>
            <a:endParaRPr lang="en-US" sz="1900" dirty="0"/>
          </a:p>
        </p:txBody>
      </p:sp>
      <p:sp>
        <p:nvSpPr>
          <p:cNvPr id="5" name="Text 3"/>
          <p:cNvSpPr txBox="1"/>
          <p:nvPr/>
        </p:nvSpPr>
        <p:spPr>
          <a:xfrm>
            <a:off x="685800"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che cosa deve fare la macchina, a parole</a:t>
            </a:r>
            <a:endParaRPr lang="en-US" sz="1700" dirty="0"/>
          </a:p>
        </p:txBody>
      </p:sp>
      <p:sp>
        <p:nvSpPr>
          <p:cNvPr id="6" name="Shape 4"/>
          <p:cNvSpPr/>
          <p:nvPr/>
        </p:nvSpPr>
        <p:spPr>
          <a:xfrm>
            <a:off x="3093644"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3413684" y="1874520"/>
            <a:ext cx="2499284"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3550844" y="2057400"/>
            <a:ext cx="2224964"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Tabella di verità</a:t>
            </a:r>
            <a:endParaRPr lang="en-US" sz="1900" dirty="0"/>
          </a:p>
        </p:txBody>
      </p:sp>
      <p:sp>
        <p:nvSpPr>
          <p:cNvPr id="9" name="Text 7"/>
          <p:cNvSpPr txBox="1"/>
          <p:nvPr/>
        </p:nvSpPr>
        <p:spPr>
          <a:xfrm>
            <a:off x="3550844"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una riga per combinazione di ingressi, indifferenze comprese</a:t>
            </a:r>
            <a:endParaRPr lang="en-US" sz="1700" dirty="0"/>
          </a:p>
        </p:txBody>
      </p:sp>
      <p:sp>
        <p:nvSpPr>
          <p:cNvPr id="10" name="Shape 8"/>
          <p:cNvSpPr/>
          <p:nvPr/>
        </p:nvSpPr>
        <p:spPr>
          <a:xfrm>
            <a:off x="595868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6278728" y="1874520"/>
            <a:ext cx="2499284"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6415888" y="2057400"/>
            <a:ext cx="2224964"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Minimizzazione</a:t>
            </a:r>
            <a:endParaRPr lang="en-US" sz="1900" dirty="0"/>
          </a:p>
        </p:txBody>
      </p:sp>
      <p:sp>
        <p:nvSpPr>
          <p:cNvPr id="13" name="Text 11"/>
          <p:cNvSpPr txBox="1"/>
          <p:nvPr/>
        </p:nvSpPr>
        <p:spPr>
          <a:xfrm>
            <a:off x="6415888"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mappe di Karnaugh o algebra, un'uscita alla volta</a:t>
            </a:r>
            <a:endParaRPr lang="en-US" sz="1700" dirty="0"/>
          </a:p>
        </p:txBody>
      </p:sp>
      <p:sp>
        <p:nvSpPr>
          <p:cNvPr id="14" name="Shape 12"/>
          <p:cNvSpPr/>
          <p:nvPr/>
        </p:nvSpPr>
        <p:spPr>
          <a:xfrm>
            <a:off x="8823731"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9143771" y="1874520"/>
            <a:ext cx="2499284" cy="2468880"/>
          </a:xfrm>
          <a:prstGeom prst="roundRect">
            <a:avLst>
              <a:gd name="adj" fmla="val 2963"/>
            </a:avLst>
          </a:prstGeom>
          <a:solidFill>
            <a:srgbClr val="EEF2F4"/>
          </a:solidFill>
          <a:ln w="12700">
            <a:solidFill>
              <a:srgbClr val="EEF2F4"/>
            </a:solidFill>
            <a:prstDash val="solid"/>
          </a:ln>
        </p:spPr>
      </p:sp>
      <p:sp>
        <p:nvSpPr>
          <p:cNvPr id="16" name="Text 14"/>
          <p:cNvSpPr txBox="1"/>
          <p:nvPr/>
        </p:nvSpPr>
        <p:spPr>
          <a:xfrm>
            <a:off x="9280931" y="2057400"/>
            <a:ext cx="2224964"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Rete</a:t>
            </a:r>
            <a:endParaRPr lang="en-US" sz="1900" dirty="0"/>
          </a:p>
        </p:txBody>
      </p:sp>
      <p:sp>
        <p:nvSpPr>
          <p:cNvPr id="17" name="Text 15"/>
          <p:cNvSpPr txBox="1"/>
          <p:nvPr/>
        </p:nvSpPr>
        <p:spPr>
          <a:xfrm>
            <a:off x="9280931"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porte, oppure blocchi standard come decodificatori e multiplexer</a:t>
            </a:r>
            <a:endParaRPr lang="en-US" sz="1700" dirty="0"/>
          </a:p>
        </p:txBody>
      </p:sp>
      <p:sp>
        <p:nvSpPr>
          <p:cNvPr id="18" name="Shape 16"/>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9" name="Text 17"/>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L'analisi procede nel verso opposto: dallo schema alla tabella di verità. Entrambe sono state introdotte nella Lezione 08; il metodo è quello della Lezione 09.</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porte reali richiedono tempo</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porta non risponde all'istante: la sua uscita si assesta dopo un ritardo di propagazione</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ritardo di una rete è quello del suo percorso più lento da un ingresso a un'uscita: il percorso critico</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Mentre i segnali viaggiano, le uscite possono essere temporaneamente sbagliate</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macchina combinatoria è corretta solo dopo essersi assestata: qualcosa deve dirci quando guardare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Quel qualcosa è il clock, ed è lì che cominciano le macchine sequenziali</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ritardo</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ogni porta aggiunge un po' di tempo; il percorso più lento attraverso la rete fissa la velocità dell'intera macchina</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Codici</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Prima di costruire macchine che trattano codici: che cos'è un codice?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concetto di informazione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Attributo</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Il significato associato all'informazione. Esempio: il voto dell'esame di Architettura dei Calcolatori.</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Tipo</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L'insieme degli elementi tra cui si sceglie il valore. Esempio: i voti da 18 a 30, e il 30 e lode.</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Valore</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L'elemento effettivamente assunto. Esempio: 30. Dare un'informazione significa scegliere un elemento in un insieme definito.</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Cardinalità</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Il numero N di elementi del tipo. Qui N = 14. Un tipo con più elementi porta più informazione.</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Valore e codifica</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Lo stesso valore si può scrivere in molti modi: 3, III, tre. A, B, C, D possono stare per 30 e lode, 30, 29, 28.</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Semplice e strutturato</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I tipi semplici sono atomici: interi, caratteri. I tipi strutturati combinano tipi semplici: una posizione è latitudine e longitudine.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Alfabeti e stringhe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alfabeto è un insieme finito e non vuoto di simboli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binario {0, 1}; decimale {0, ..., 9}; le lettere {a, ..., z}</a:t>
            </a:r>
            <a:endParaRPr lang="en-US" sz="2200" dirty="0"/>
          </a:p>
        </p:txBody>
      </p:sp>
      <p:sp>
        <p:nvSpPr>
          <p:cNvPr id="5" name="Shape 3"/>
          <p:cNvSpPr/>
          <p:nvPr/>
        </p:nvSpPr>
        <p:spPr>
          <a:xfrm>
            <a:off x="548640" y="301352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90709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stringa, o parola, su un alfabeto è una sequenza finita di suoi simboli</a:t>
            </a:r>
            <a:endParaRPr lang="en-US" sz="2200" dirty="0"/>
          </a:p>
        </p:txBody>
      </p:sp>
      <p:sp>
        <p:nvSpPr>
          <p:cNvPr id="7" name="Shape 5"/>
          <p:cNvSpPr/>
          <p:nvPr/>
        </p:nvSpPr>
        <p:spPr>
          <a:xfrm>
            <a:off x="548640" y="387794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71519"/>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lunghezza di una stringa x è il numero dei suoi simboli, indicata con |x|</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01000010 è una stringa binaria di lunghezza 8</a:t>
            </a:r>
            <a:endParaRPr lang="en-US" sz="2200" dirty="0"/>
          </a:p>
        </p:txBody>
      </p:sp>
      <p:sp>
        <p:nvSpPr>
          <p:cNvPr id="9" name="Shape 7"/>
          <p:cNvSpPr/>
          <p:nvPr/>
        </p:nvSpPr>
        <p:spPr>
          <a:xfrm>
            <a:off x="548640" y="507333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66907"/>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stringa di lunghezza 0 è la stringa vuota</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L'insieme di tutte le stringhe su un alfabeto S, compresa quella vuota, si indica con 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tutte le stringhe finite che si possono scrivere con i simboli dell'alfabeto 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Codici a lunghezza fissa</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Codice</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Un codice associa a ogni elemento di un tipo sorgente T, di cardinalità N, una stringa di simboli di un alfabeto di codice E con k simboli: la parola codice.</a:t>
            </a:r>
            <a:endParaRPr lang="en-US" sz="2300" dirty="0"/>
          </a:p>
        </p:txBody>
      </p:sp>
      <p:sp>
        <p:nvSpPr>
          <p:cNvPr id="6" name="Shape 4"/>
          <p:cNvSpPr/>
          <p:nvPr/>
        </p:nvSpPr>
        <p:spPr>
          <a:xfrm>
            <a:off x="548640" y="3757549"/>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Lunghezza fissa: ogni parola codice ha la stessa lunghezza m; le parole possibili sono k^m</a:t>
            </a:r>
            <a:endParaRPr lang="en-US" sz="1900" dirty="0"/>
          </a:p>
        </p:txBody>
      </p:sp>
      <p:sp>
        <p:nvSpPr>
          <p:cNvPr id="8" name="Shape 6"/>
          <p:cNvSpPr/>
          <p:nvPr/>
        </p:nvSpPr>
        <p:spPr>
          <a:xfrm>
            <a:off x="548640" y="4590161"/>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06976"/>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codificare N elementi serve k^m &gt;= N, quindi la lunghezza minima è m = ceil(log_k N)</a:t>
            </a:r>
            <a:endParaRPr lang="en-US" sz="1900" dirty="0"/>
          </a:p>
        </p:txBody>
      </p:sp>
      <p:sp>
        <p:nvSpPr>
          <p:cNvPr id="10" name="Shape 8"/>
          <p:cNvSpPr/>
          <p:nvPr/>
        </p:nvSpPr>
        <p:spPr>
          <a:xfrm>
            <a:off x="548640" y="5128387"/>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045202"/>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binario: m = ceil(log2 N). I quattordici voti d'esame richiedono 4 bit; i 32 registri RISC-V ne richiedono esattamente 5</a:t>
            </a:r>
            <a:endParaRPr lang="en-US" sz="1900" dirty="0"/>
          </a:p>
        </p:txBody>
      </p:sp>
      <p:sp>
        <p:nvSpPr>
          <p:cNvPr id="12" name="Shape 10"/>
          <p:cNvSpPr/>
          <p:nvPr/>
        </p:nvSpPr>
        <p:spPr>
          <a:xfrm>
            <a:off x="548640" y="5960999"/>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87781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Codice incompleto: N non è una potenza di k, e restano non assegnate k^m - N parole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codice incompleto: il decimale codificato in binario</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80125"/>
                <a:gridCol w="2133541"/>
                <a:gridCol w="2133541"/>
                <a:gridCol w="1280125"/>
                <a:gridCol w="2133541"/>
                <a:gridCol w="2133541"/>
              </a:tblGrid>
              <a:tr h="0">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Cifra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Eccesso 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Cifra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Eccesso 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7</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Quattro bit per dieci cifre: sei parole codice non sono assegnate. Saranno le indifferenze dei nostri circuiti.</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Codici ridondanti</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 codice ridondante usa più simboli dello stretto necessario: la sua lunghezza è maggiore del minimo m</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Solo alcune delle parole possibili sono lecite; le altre non possono essere prodotte dal codificatore</a:t>
            </a:r>
            <a:endParaRPr lang="en-US" sz="2300" dirty="0"/>
          </a:p>
        </p:txBody>
      </p:sp>
      <p:sp>
        <p:nvSpPr>
          <p:cNvPr id="7" name="Shape 5"/>
          <p:cNvSpPr/>
          <p:nvPr/>
        </p:nvSpPr>
        <p:spPr>
          <a:xfrm>
            <a:off x="548640" y="398868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74516"/>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Se arriva una parola non lecita, qualcosa l'ha alterata lungo il percorso: l'errore è rilevato</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ridondanza è il prezzo pagato per rilevare, e a volte correggere, gli errori</a:t>
            </a:r>
            <a:endParaRPr lang="en-US" sz="2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949440" y="1417320"/>
          <a:ext cx="4663440" cy="914400"/>
        </p:xfrm>
        <a:graphic>
          <a:graphicData uri="http://schemas.openxmlformats.org/drawingml/2006/table">
            <a:tbl>
              <a:tblPr/>
              <a:tblGrid>
                <a:gridCol w="1188720"/>
                <a:gridCol w="1645920"/>
                <a:gridCol w="1828800"/>
              </a:tblGrid>
              <a:tr h="438912">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Elemento</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Codice 1</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Codice 2</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B</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C</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D</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2" name="Shape 9"/>
          <p:cNvSpPr/>
          <p:nvPr/>
        </p:nvSpPr>
        <p:spPr>
          <a:xfrm>
            <a:off x="6949440" y="3931920"/>
            <a:ext cx="4663440" cy="2240280"/>
          </a:xfrm>
          <a:prstGeom prst="roundRect">
            <a:avLst>
              <a:gd name="adj" fmla="val 3265"/>
            </a:avLst>
          </a:prstGeom>
          <a:solidFill>
            <a:srgbClr val="F3DDE0"/>
          </a:solidFill>
          <a:ln w="12700">
            <a:solidFill>
              <a:srgbClr val="F3DDE0"/>
            </a:solidFill>
            <a:prstDash val="solid"/>
          </a:ln>
        </p:spPr>
      </p:sp>
      <p:sp>
        <p:nvSpPr>
          <p:cNvPr id="13" name="Text 10"/>
          <p:cNvSpPr txBox="1"/>
          <p:nvPr/>
        </p:nvSpPr>
        <p:spPr>
          <a:xfrm>
            <a:off x="7132320" y="4023360"/>
            <a:ext cx="4297680" cy="2057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Il Codice 1 non è ridondante: ogni parola di 2 bit è lecita, quindi un bit alterato trasforma un elemento in un altro senza che nessuno se ne accorga.</a:t>
            </a: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Il Codice 2 aggiunge un terzo bit che rende pari il numero di 1. Le parole 001, 010, 100 e 111 non sono lecite: un singolo bit alterato viene sempre rilevato.</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Codici a lunghezza variabile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lunghezza della parola codice dipende dall'elemento: agli elementi frequenti vanno parole corte</a:t>
            </a:r>
            <a:endParaRPr lang="en-US" sz="2000" dirty="0"/>
          </a:p>
        </p:txBody>
      </p:sp>
      <p:sp>
        <p:nvSpPr>
          <p:cNvPr id="5" name="Shape 3"/>
          <p:cNvSpPr/>
          <p:nvPr/>
        </p:nvSpPr>
        <p:spPr>
          <a:xfrm>
            <a:off x="548640" y="270213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11205"/>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Proprietà del prefisso: nessuna parola codice è l'inizio di una più lunga, quindi chi legge sa sempre dove finisce una parola</a:t>
            </a:r>
            <a:endParaRPr lang="en-US" sz="2000" dirty="0"/>
          </a:p>
        </p:txBody>
      </p:sp>
      <p:sp>
        <p:nvSpPr>
          <p:cNvPr id="7" name="Shape 5"/>
          <p:cNvSpPr/>
          <p:nvPr/>
        </p:nvSpPr>
        <p:spPr>
          <a:xfrm>
            <a:off x="548640" y="389602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05089"/>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Conviene quando gli elementi non hanno tutti la stessa probabilità: meno spazio in memoria, meno tempo in trasmissione</a:t>
            </a:r>
            <a:endParaRPr lang="en-US" sz="2000" dirty="0"/>
          </a:p>
        </p:txBody>
      </p:sp>
      <p:sp>
        <p:nvSpPr>
          <p:cNvPr id="9" name="Shape 7"/>
          <p:cNvSpPr/>
          <p:nvPr/>
        </p:nvSpPr>
        <p:spPr>
          <a:xfrm>
            <a:off x="548640" y="508990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98974"/>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Ne avete già incontrati due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UTF-8: da uno a quattro byte per carattere (Lezione 04)</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le istruzioni RISC-V sul kit: 16 o 32 bit ciascuna, e i due bit più bassi dicono quale</a:t>
            </a:r>
            <a:endParaRPr lang="en-US" sz="20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11</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i due bit più bassi di ogni istruzione RISC-V a 32 bit: la lunghezza è scritta nella parola codice stessa</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Decodificatori e codificatori</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Da una parola codice a una linea, e ritorno.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rappresentazione decodificata</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 codice in cui la lunghezza della parola è uguale alla cardinalità N dell'insieme: m = N</a:t>
            </a:r>
            <a:endParaRPr lang="en-US" sz="2400" dirty="0"/>
          </a:p>
        </p:txBody>
      </p:sp>
      <p:sp>
        <p:nvSpPr>
          <p:cNvPr id="5" name="Shape 3"/>
          <p:cNvSpPr/>
          <p:nvPr/>
        </p:nvSpPr>
        <p:spPr>
          <a:xfrm>
            <a:off x="548640" y="28762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754376"/>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Ogni parola codice ha esattamente un bit a 1: una linea per elemento</a:t>
            </a:r>
            <a:endParaRPr lang="en-US" sz="2400" dirty="0"/>
          </a:p>
        </p:txBody>
      </p:sp>
      <p:sp>
        <p:nvSpPr>
          <p:cNvPr id="7" name="Shape 5"/>
          <p:cNvSpPr/>
          <p:nvPr/>
        </p:nvSpPr>
        <p:spPr>
          <a:xfrm>
            <a:off x="548640" y="384149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9576"/>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Semplice da usare, perché la linea attiva seleziona direttamente qualcosa, ma costosa in fili</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Codice compatto dentro una parola, rappresentazione decodificata dove una scelta va attuata</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0 0 1 0</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uno su quattro: è attiva la terza linea, quindi è scelto il terzo elemento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decodificatore</a:t>
            </a:r>
            <a:endParaRPr lang="en-US" sz="3200" dirty="0"/>
          </a:p>
        </p:txBody>
      </p:sp>
      <p:sp>
        <p:nvSpPr>
          <p:cNvPr id="3" name="Shape 1"/>
          <p:cNvSpPr/>
          <p:nvPr/>
        </p:nvSpPr>
        <p:spPr>
          <a:xfrm>
            <a:off x="548640" y="1485011"/>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47365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Riceve una parola codice di m bit e attiva l'unica linea di uscita, su N = 2^m, che le corrisponde</a:t>
            </a:r>
            <a:endParaRPr lang="en-US" sz="1700" dirty="0"/>
          </a:p>
        </p:txBody>
      </p:sp>
      <p:sp>
        <p:nvSpPr>
          <p:cNvPr id="5" name="Shape 3"/>
          <p:cNvSpPr/>
          <p:nvPr/>
        </p:nvSpPr>
        <p:spPr>
          <a:xfrm>
            <a:off x="548640" y="24505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901"/>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Ogni uscita è un mintermine degli ingressi: un decodificatore li genera tutti</a:t>
            </a:r>
            <a:endParaRPr lang="en-US" sz="1700" dirty="0"/>
          </a:p>
        </p:txBody>
      </p:sp>
      <p:sp>
        <p:nvSpPr>
          <p:cNvPr id="7" name="Shape 5"/>
          <p:cNvSpPr/>
          <p:nvPr/>
        </p:nvSpPr>
        <p:spPr>
          <a:xfrm>
            <a:off x="548640" y="31527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85084"/>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Con un ingresso di abilitazione EN: quando EN = 0 nessuna uscita è attiva</a:t>
            </a:r>
            <a:endParaRPr lang="en-US" sz="17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3566160" cy="914400"/>
        </p:xfrm>
        <a:graphic>
          <a:graphicData uri="http://schemas.openxmlformats.org/drawingml/2006/table">
            <a:tbl>
              <a:tblPr/>
              <a:tblGrid>
                <a:gridCol w="502920"/>
                <a:gridCol w="502920"/>
                <a:gridCol w="640080"/>
                <a:gridCol w="640080"/>
                <a:gridCol w="640080"/>
                <a:gridCol w="64008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0" name="Text 7"/>
          <p:cNvSpPr txBox="1"/>
          <p:nvPr/>
        </p:nvSpPr>
        <p:spPr>
          <a:xfrm>
            <a:off x="4389120" y="3794760"/>
            <a:ext cx="1463040" cy="1828800"/>
          </a:xfrm>
          <a:prstGeom prst="rect">
            <a:avLst/>
          </a:prstGeom>
          <a:noFill/>
          <a:ln/>
        </p:spPr>
        <p:txBody>
          <a:bodyPr wrap="square" lIns="0" tIns="0" rIns="0" bIns="0" rtlCol="0" anchor="ctr"/>
          <a:lstStyle/>
          <a:p>
            <a:pPr indent="0" marL="0">
              <a:buNone/>
            </a:pPr>
            <a:r>
              <a:rPr lang="en-US" sz="1500" b="1" dirty="0">
                <a:solidFill>
                  <a:srgbClr val="2E4A62"/>
                </a:solidFill>
                <a:latin typeface="Courier New" pitchFamily="34" charset="0"/>
                <a:ea typeface="Courier New" pitchFamily="34" charset="-122"/>
                <a:cs typeface="Courier New" pitchFamily="34" charset="-120"/>
              </a:rPr>
              <a:t>U0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U1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U2 = B 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U3 = B A</a:t>
            </a:r>
            <a:endParaRPr lang="en-US" sz="1500" dirty="0"/>
          </a:p>
        </p:txBody>
      </p:sp>
      <p:sp>
        <p:nvSpPr>
          <p:cNvPr id="11" name="Shape 8"/>
          <p:cNvSpPr/>
          <p:nvPr/>
        </p:nvSpPr>
        <p:spPr>
          <a:xfrm>
            <a:off x="6035040" y="1417320"/>
            <a:ext cx="5608015" cy="4754880"/>
          </a:xfrm>
          <a:prstGeom prst="roundRect">
            <a:avLst>
              <a:gd name="adj" fmla="val 1538"/>
            </a:avLst>
          </a:prstGeom>
          <a:solidFill>
            <a:srgbClr val="EEF2F4"/>
          </a:solidFill>
          <a:ln w="12700">
            <a:solidFill>
              <a:srgbClr val="EEF2F4"/>
            </a:solidFill>
            <a:prstDash val="solid"/>
          </a:ln>
        </p:spPr>
      </p:sp>
      <p:pic>
        <p:nvPicPr>
          <p:cNvPr id="13" name="Image 0" descr="preencoded.png">    </p:cNvPr>
          <p:cNvPicPr>
            <a:picLocks noChangeAspect="1"/>
          </p:cNvPicPr>
          <p:nvPr/>
        </p:nvPicPr>
        <p:blipFill>
          <a:blip r:embed="rId1"/>
          <a:stretch>
            <a:fillRect/>
          </a:stretch>
        </p:blipFill>
        <p:spPr>
          <a:xfrm>
            <a:off x="6217920" y="1918626"/>
            <a:ext cx="5242255" cy="3752269"/>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Comporre decodificatori: da 2-a-4 a 4-a-16</a:t>
            </a:r>
            <a:endParaRPr lang="en-US" sz="3200" dirty="0"/>
          </a:p>
        </p:txBody>
      </p:sp>
      <p:sp>
        <p:nvSpPr>
          <p:cNvPr id="3" name="Text 1"/>
          <p:cNvSpPr txBox="1"/>
          <p:nvPr/>
        </p:nvSpPr>
        <p:spPr>
          <a:xfrm>
            <a:off x="1645920" y="2788920"/>
            <a:ext cx="2011680" cy="1005840"/>
          </a:xfrm>
          <a:prstGeom prst="roundRect">
            <a:avLst>
              <a:gd name="adj" fmla="val 5455"/>
            </a:avLst>
          </a:prstGeom>
          <a:solidFill>
            <a:srgbClr val="C7791B"/>
          </a:solidFill>
          <a:ln>
            <a:solidFill>
              <a:srgbClr val="C7791B"/>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decodificatore 2-a-4</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bit alti D C</a:t>
            </a:r>
            <a:endParaRPr lang="en-US" sz="1400" dirty="0"/>
          </a:p>
        </p:txBody>
      </p:sp>
      <p:sp>
        <p:nvSpPr>
          <p:cNvPr id="4" name="Shape 2"/>
          <p:cNvSpPr/>
          <p:nvPr/>
        </p:nvSpPr>
        <p:spPr>
          <a:xfrm>
            <a:off x="1051560" y="3291840"/>
            <a:ext cx="566928" cy="0"/>
          </a:xfrm>
          <a:prstGeom prst="line">
            <a:avLst/>
          </a:prstGeom>
          <a:noFill/>
          <a:ln w="25400">
            <a:solidFill>
              <a:srgbClr val="5B6B78"/>
            </a:solidFill>
            <a:prstDash val="solid"/>
            <a:tailEnd type="triangle"/>
          </a:ln>
        </p:spPr>
      </p:sp>
      <p:sp>
        <p:nvSpPr>
          <p:cNvPr id="5" name="Text 3"/>
          <p:cNvSpPr txBox="1"/>
          <p:nvPr/>
        </p:nvSpPr>
        <p:spPr>
          <a:xfrm>
            <a:off x="548640" y="3127248"/>
            <a:ext cx="54864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D C</a:t>
            </a:r>
            <a:endParaRPr lang="en-US" sz="1500" dirty="0"/>
          </a:p>
        </p:txBody>
      </p:sp>
      <p:sp>
        <p:nvSpPr>
          <p:cNvPr id="6" name="Text 4"/>
          <p:cNvSpPr txBox="1"/>
          <p:nvPr/>
        </p:nvSpPr>
        <p:spPr>
          <a:xfrm>
            <a:off x="4572000" y="1463040"/>
            <a:ext cx="2011680" cy="777240"/>
          </a:xfrm>
          <a:prstGeom prst="roundRect">
            <a:avLst>
              <a:gd name="adj" fmla="val 7059"/>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decodificatore 2-a-4</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EN</a:t>
            </a:r>
            <a:endParaRPr lang="en-US" sz="1400" dirty="0"/>
          </a:p>
        </p:txBody>
      </p:sp>
      <p:sp>
        <p:nvSpPr>
          <p:cNvPr id="7" name="Shape 5"/>
          <p:cNvSpPr/>
          <p:nvPr/>
        </p:nvSpPr>
        <p:spPr>
          <a:xfrm flipV="1">
            <a:off x="3685032" y="1847088"/>
            <a:ext cx="859536" cy="1078992"/>
          </a:xfrm>
          <a:prstGeom prst="line">
            <a:avLst/>
          </a:prstGeom>
          <a:noFill/>
          <a:ln w="22225">
            <a:solidFill>
              <a:srgbClr val="C7791B"/>
            </a:solidFill>
            <a:prstDash val="solid"/>
            <a:tailEnd type="triangle"/>
          </a:ln>
        </p:spPr>
      </p:sp>
      <p:sp>
        <p:nvSpPr>
          <p:cNvPr id="8" name="Shape 6"/>
          <p:cNvSpPr/>
          <p:nvPr/>
        </p:nvSpPr>
        <p:spPr>
          <a:xfrm>
            <a:off x="6611112" y="1847088"/>
            <a:ext cx="795528" cy="0"/>
          </a:xfrm>
          <a:prstGeom prst="line">
            <a:avLst/>
          </a:prstGeom>
          <a:noFill/>
          <a:ln w="25400">
            <a:solidFill>
              <a:srgbClr val="5B6B78"/>
            </a:solidFill>
            <a:prstDash val="solid"/>
            <a:tailEnd type="triangle"/>
          </a:ln>
        </p:spPr>
      </p:sp>
      <p:sp>
        <p:nvSpPr>
          <p:cNvPr id="9" name="Text 7"/>
          <p:cNvSpPr txBox="1"/>
          <p:nvPr/>
        </p:nvSpPr>
        <p:spPr>
          <a:xfrm>
            <a:off x="7498080" y="1664208"/>
            <a:ext cx="1737360" cy="3657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U0 ... U3</a:t>
            </a:r>
            <a:endParaRPr lang="en-US" sz="1500" dirty="0"/>
          </a:p>
        </p:txBody>
      </p:sp>
      <p:sp>
        <p:nvSpPr>
          <p:cNvPr id="10" name="Text 8"/>
          <p:cNvSpPr txBox="1"/>
          <p:nvPr/>
        </p:nvSpPr>
        <p:spPr>
          <a:xfrm>
            <a:off x="4572000" y="2441448"/>
            <a:ext cx="2011680" cy="777240"/>
          </a:xfrm>
          <a:prstGeom prst="roundRect">
            <a:avLst>
              <a:gd name="adj" fmla="val 7059"/>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decodificatore 2-a-4</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EN</a:t>
            </a:r>
            <a:endParaRPr lang="en-US" sz="1400" dirty="0"/>
          </a:p>
        </p:txBody>
      </p:sp>
      <p:sp>
        <p:nvSpPr>
          <p:cNvPr id="11" name="Shape 9"/>
          <p:cNvSpPr/>
          <p:nvPr/>
        </p:nvSpPr>
        <p:spPr>
          <a:xfrm flipV="1">
            <a:off x="3685032" y="2825496"/>
            <a:ext cx="859536" cy="347472"/>
          </a:xfrm>
          <a:prstGeom prst="line">
            <a:avLst/>
          </a:prstGeom>
          <a:noFill/>
          <a:ln w="22225">
            <a:solidFill>
              <a:srgbClr val="C7791B"/>
            </a:solidFill>
            <a:prstDash val="solid"/>
            <a:tailEnd type="triangle"/>
          </a:ln>
        </p:spPr>
      </p:sp>
      <p:sp>
        <p:nvSpPr>
          <p:cNvPr id="12" name="Shape 10"/>
          <p:cNvSpPr/>
          <p:nvPr/>
        </p:nvSpPr>
        <p:spPr>
          <a:xfrm>
            <a:off x="6611112" y="2825496"/>
            <a:ext cx="795528" cy="0"/>
          </a:xfrm>
          <a:prstGeom prst="line">
            <a:avLst/>
          </a:prstGeom>
          <a:noFill/>
          <a:ln w="25400">
            <a:solidFill>
              <a:srgbClr val="5B6B78"/>
            </a:solidFill>
            <a:prstDash val="solid"/>
            <a:tailEnd type="triangle"/>
          </a:ln>
        </p:spPr>
      </p:sp>
      <p:sp>
        <p:nvSpPr>
          <p:cNvPr id="13" name="Text 11"/>
          <p:cNvSpPr txBox="1"/>
          <p:nvPr/>
        </p:nvSpPr>
        <p:spPr>
          <a:xfrm>
            <a:off x="7498080" y="2642616"/>
            <a:ext cx="1737360" cy="3657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U4 ... U7</a:t>
            </a:r>
            <a:endParaRPr lang="en-US" sz="1500" dirty="0"/>
          </a:p>
        </p:txBody>
      </p:sp>
      <p:sp>
        <p:nvSpPr>
          <p:cNvPr id="14" name="Text 12"/>
          <p:cNvSpPr txBox="1"/>
          <p:nvPr/>
        </p:nvSpPr>
        <p:spPr>
          <a:xfrm>
            <a:off x="4572000" y="3419856"/>
            <a:ext cx="2011680" cy="777240"/>
          </a:xfrm>
          <a:prstGeom prst="roundRect">
            <a:avLst>
              <a:gd name="adj" fmla="val 7059"/>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decodificatore 2-a-4</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EN</a:t>
            </a:r>
            <a:endParaRPr lang="en-US" sz="1400" dirty="0"/>
          </a:p>
        </p:txBody>
      </p:sp>
      <p:sp>
        <p:nvSpPr>
          <p:cNvPr id="15" name="Shape 13"/>
          <p:cNvSpPr/>
          <p:nvPr/>
        </p:nvSpPr>
        <p:spPr>
          <a:xfrm>
            <a:off x="3685032" y="3419856"/>
            <a:ext cx="859536" cy="384048"/>
          </a:xfrm>
          <a:prstGeom prst="line">
            <a:avLst/>
          </a:prstGeom>
          <a:noFill/>
          <a:ln w="22225">
            <a:solidFill>
              <a:srgbClr val="C7791B"/>
            </a:solidFill>
            <a:prstDash val="solid"/>
            <a:tailEnd type="triangle"/>
          </a:ln>
        </p:spPr>
      </p:sp>
      <p:sp>
        <p:nvSpPr>
          <p:cNvPr id="16" name="Shape 14"/>
          <p:cNvSpPr/>
          <p:nvPr/>
        </p:nvSpPr>
        <p:spPr>
          <a:xfrm>
            <a:off x="6611112" y="3803904"/>
            <a:ext cx="795528" cy="0"/>
          </a:xfrm>
          <a:prstGeom prst="line">
            <a:avLst/>
          </a:prstGeom>
          <a:noFill/>
          <a:ln w="25400">
            <a:solidFill>
              <a:srgbClr val="5B6B78"/>
            </a:solidFill>
            <a:prstDash val="solid"/>
            <a:tailEnd type="triangle"/>
          </a:ln>
        </p:spPr>
      </p:sp>
      <p:sp>
        <p:nvSpPr>
          <p:cNvPr id="17" name="Text 15"/>
          <p:cNvSpPr txBox="1"/>
          <p:nvPr/>
        </p:nvSpPr>
        <p:spPr>
          <a:xfrm>
            <a:off x="7498080" y="3621024"/>
            <a:ext cx="1737360" cy="3657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U8 ... U11</a:t>
            </a:r>
            <a:endParaRPr lang="en-US" sz="1500" dirty="0"/>
          </a:p>
        </p:txBody>
      </p:sp>
      <p:sp>
        <p:nvSpPr>
          <p:cNvPr id="18" name="Text 16"/>
          <p:cNvSpPr txBox="1"/>
          <p:nvPr/>
        </p:nvSpPr>
        <p:spPr>
          <a:xfrm>
            <a:off x="4572000" y="4398264"/>
            <a:ext cx="2011680" cy="777240"/>
          </a:xfrm>
          <a:prstGeom prst="roundRect">
            <a:avLst>
              <a:gd name="adj" fmla="val 7059"/>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decodificatore 2-a-4</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EN</a:t>
            </a:r>
            <a:endParaRPr lang="en-US" sz="1400" dirty="0"/>
          </a:p>
        </p:txBody>
      </p:sp>
      <p:sp>
        <p:nvSpPr>
          <p:cNvPr id="19" name="Shape 17"/>
          <p:cNvSpPr/>
          <p:nvPr/>
        </p:nvSpPr>
        <p:spPr>
          <a:xfrm>
            <a:off x="3685032" y="3666744"/>
            <a:ext cx="859536" cy="1115568"/>
          </a:xfrm>
          <a:prstGeom prst="line">
            <a:avLst/>
          </a:prstGeom>
          <a:noFill/>
          <a:ln w="22225">
            <a:solidFill>
              <a:srgbClr val="C7791B"/>
            </a:solidFill>
            <a:prstDash val="solid"/>
            <a:tailEnd type="triangle"/>
          </a:ln>
        </p:spPr>
      </p:sp>
      <p:sp>
        <p:nvSpPr>
          <p:cNvPr id="20" name="Shape 18"/>
          <p:cNvSpPr/>
          <p:nvPr/>
        </p:nvSpPr>
        <p:spPr>
          <a:xfrm>
            <a:off x="6611112" y="4782312"/>
            <a:ext cx="795528" cy="0"/>
          </a:xfrm>
          <a:prstGeom prst="line">
            <a:avLst/>
          </a:prstGeom>
          <a:noFill/>
          <a:ln w="25400">
            <a:solidFill>
              <a:srgbClr val="5B6B78"/>
            </a:solidFill>
            <a:prstDash val="solid"/>
            <a:tailEnd type="triangle"/>
          </a:ln>
        </p:spPr>
      </p:sp>
      <p:sp>
        <p:nvSpPr>
          <p:cNvPr id="21" name="Text 19"/>
          <p:cNvSpPr txBox="1"/>
          <p:nvPr/>
        </p:nvSpPr>
        <p:spPr>
          <a:xfrm>
            <a:off x="7498080" y="4599432"/>
            <a:ext cx="1737360" cy="3657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U12 ... U15</a:t>
            </a:r>
            <a:endParaRPr lang="en-US" sz="1500" dirty="0"/>
          </a:p>
        </p:txBody>
      </p:sp>
      <p:sp>
        <p:nvSpPr>
          <p:cNvPr id="22" name="Text 20"/>
          <p:cNvSpPr txBox="1"/>
          <p:nvPr/>
        </p:nvSpPr>
        <p:spPr>
          <a:xfrm>
            <a:off x="3840480" y="5221224"/>
            <a:ext cx="347472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i bit bassi B A vanno a tutti e quattro</a:t>
            </a:r>
            <a:endParaRPr lang="en-US" sz="1300" dirty="0"/>
          </a:p>
        </p:txBody>
      </p:sp>
      <p:sp>
        <p:nvSpPr>
          <p:cNvPr id="23" name="Shape 21"/>
          <p:cNvSpPr/>
          <p:nvPr/>
        </p:nvSpPr>
        <p:spPr>
          <a:xfrm>
            <a:off x="9326880" y="1417320"/>
            <a:ext cx="2316175" cy="4069080"/>
          </a:xfrm>
          <a:prstGeom prst="roundRect">
            <a:avLst>
              <a:gd name="adj" fmla="val 3158"/>
            </a:avLst>
          </a:prstGeom>
          <a:solidFill>
            <a:srgbClr val="D8ECEE"/>
          </a:solidFill>
          <a:ln w="12700">
            <a:solidFill>
              <a:srgbClr val="D8ECEE"/>
            </a:solidFill>
            <a:prstDash val="solid"/>
          </a:ln>
        </p:spPr>
      </p:sp>
      <p:sp>
        <p:nvSpPr>
          <p:cNvPr id="24" name="Text 22"/>
          <p:cNvSpPr txBox="1"/>
          <p:nvPr/>
        </p:nvSpPr>
        <p:spPr>
          <a:xfrm>
            <a:off x="9464040" y="1508760"/>
            <a:ext cx="2041855" cy="388620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Il primo decodificatore abilita uno degli altri quattro; quello abilitato attiva una delle sue quattro linee. Cinque piccoli decodificatori selezionano una linea su sedici.</a:t>
            </a:r>
            <a:endParaRPr lang="en-US" sz="1500" dirty="0"/>
          </a:p>
        </p:txBody>
      </p:sp>
      <p:sp>
        <p:nvSpPr>
          <p:cNvPr id="25" name="Text 23"/>
          <p:cNvSpPr txBox="1"/>
          <p:nvPr/>
        </p:nvSpPr>
        <p:spPr>
          <a:xfrm>
            <a:off x="548640" y="5623560"/>
            <a:ext cx="11094415" cy="54864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Per questo esistevano componenti standard: l'SN74139 contiene in un contenitore due decodificatori 2-a-4 con abilitazione. Oggi la stessa struttura si descrive in un linguaggio hardware e viene collocata sul chip in automatico.</a:t>
            </a:r>
            <a:endParaRPr lang="en-US" sz="14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Nel processore: quale registro viene scritto?</a:t>
            </a:r>
            <a:endParaRPr lang="en-US" sz="3200" dirty="0"/>
          </a:p>
        </p:txBody>
      </p:sp>
      <p:sp>
        <p:nvSpPr>
          <p:cNvPr id="3" name="Text 1"/>
          <p:cNvSpPr txBox="1"/>
          <p:nvPr/>
        </p:nvSpPr>
        <p:spPr>
          <a:xfrm>
            <a:off x="548640" y="1325880"/>
            <a:ext cx="11094415" cy="411480"/>
          </a:xfrm>
          <a:prstGeom prst="rect">
            <a:avLst/>
          </a:prstGeom>
          <a:noFill/>
          <a:ln/>
        </p:spPr>
        <p:txBody>
          <a:bodyPr wrap="square" lIns="0" tIns="0" rIns="0" bIns="0" rtlCol="0" anchor="t"/>
          <a:lstStyle/>
          <a:p>
            <a:pPr algn="ctr" indent="0" marL="0">
              <a:buNone/>
            </a:pPr>
            <a:r>
              <a:rPr lang="en-US" sz="2100" b="1" dirty="0">
                <a:solidFill>
                  <a:srgbClr val="2E4A62"/>
                </a:solidFill>
                <a:latin typeface="Courier New" pitchFamily="34" charset="0"/>
                <a:ea typeface="Courier New" pitchFamily="34" charset="-122"/>
                <a:cs typeface="Courier New" pitchFamily="34" charset="-120"/>
              </a:rPr>
              <a:t>addi t1, t1, 1     =     0x00130313</a:t>
            </a:r>
            <a:endParaRPr lang="en-US" sz="2100" dirty="0"/>
          </a:p>
        </p:txBody>
      </p:sp>
      <p:sp>
        <p:nvSpPr>
          <p:cNvPr id="4" name="Text 2"/>
          <p:cNvSpPr txBox="1"/>
          <p:nvPr/>
        </p:nvSpPr>
        <p:spPr>
          <a:xfrm>
            <a:off x="914400" y="2194560"/>
            <a:ext cx="3806308"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000000000001</a:t>
            </a:r>
            <a:endParaRPr lang="en-US" sz="1600" dirty="0"/>
          </a:p>
        </p:txBody>
      </p:sp>
      <p:sp>
        <p:nvSpPr>
          <p:cNvPr id="5" name="Text 3"/>
          <p:cNvSpPr txBox="1"/>
          <p:nvPr/>
        </p:nvSpPr>
        <p:spPr>
          <a:xfrm>
            <a:off x="950976" y="1956816"/>
            <a:ext cx="190315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2817554" y="1956816"/>
            <a:ext cx="186657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7" name="Text 5"/>
          <p:cNvSpPr txBox="1"/>
          <p:nvPr/>
        </p:nvSpPr>
        <p:spPr>
          <a:xfrm>
            <a:off x="4720708" y="2194560"/>
            <a:ext cx="1585962"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8" name="Text 6"/>
          <p:cNvSpPr txBox="1"/>
          <p:nvPr/>
        </p:nvSpPr>
        <p:spPr>
          <a:xfrm>
            <a:off x="4757284" y="195681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9" name="Text 7"/>
          <p:cNvSpPr txBox="1"/>
          <p:nvPr/>
        </p:nvSpPr>
        <p:spPr>
          <a:xfrm>
            <a:off x="5513689" y="195681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0" name="Text 8"/>
          <p:cNvSpPr txBox="1"/>
          <p:nvPr/>
        </p:nvSpPr>
        <p:spPr>
          <a:xfrm>
            <a:off x="6306670" y="2194560"/>
            <a:ext cx="1164317"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a:t>
            </a:r>
            <a:endParaRPr lang="en-US" sz="1600" dirty="0"/>
          </a:p>
        </p:txBody>
      </p:sp>
      <p:sp>
        <p:nvSpPr>
          <p:cNvPr id="11" name="Text 9"/>
          <p:cNvSpPr txBox="1"/>
          <p:nvPr/>
        </p:nvSpPr>
        <p:spPr>
          <a:xfrm>
            <a:off x="6343246" y="1956816"/>
            <a:ext cx="58215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2" name="Text 10"/>
          <p:cNvSpPr txBox="1"/>
          <p:nvPr/>
        </p:nvSpPr>
        <p:spPr>
          <a:xfrm>
            <a:off x="6888828" y="1956816"/>
            <a:ext cx="54558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3" name="Text 11"/>
          <p:cNvSpPr txBox="1"/>
          <p:nvPr/>
        </p:nvSpPr>
        <p:spPr>
          <a:xfrm>
            <a:off x="7470987" y="2194560"/>
            <a:ext cx="1585962"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14" name="Text 12"/>
          <p:cNvSpPr txBox="1"/>
          <p:nvPr/>
        </p:nvSpPr>
        <p:spPr>
          <a:xfrm>
            <a:off x="7470987" y="279806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 = 6</a:t>
            </a:r>
            <a:endParaRPr lang="en-US" sz="1300" dirty="0"/>
          </a:p>
        </p:txBody>
      </p:sp>
      <p:sp>
        <p:nvSpPr>
          <p:cNvPr id="15" name="Text 13"/>
          <p:cNvSpPr txBox="1"/>
          <p:nvPr/>
        </p:nvSpPr>
        <p:spPr>
          <a:xfrm>
            <a:off x="7507563" y="195681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6" name="Text 14"/>
          <p:cNvSpPr txBox="1"/>
          <p:nvPr/>
        </p:nvSpPr>
        <p:spPr>
          <a:xfrm>
            <a:off x="8263968" y="195681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7" name="Text 15"/>
          <p:cNvSpPr txBox="1"/>
          <p:nvPr/>
        </p:nvSpPr>
        <p:spPr>
          <a:xfrm>
            <a:off x="9056949" y="2194560"/>
            <a:ext cx="2220347"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0010011</a:t>
            </a:r>
            <a:endParaRPr lang="en-US" sz="1600" dirty="0"/>
          </a:p>
        </p:txBody>
      </p:sp>
      <p:sp>
        <p:nvSpPr>
          <p:cNvPr id="18" name="Text 16"/>
          <p:cNvSpPr txBox="1"/>
          <p:nvPr/>
        </p:nvSpPr>
        <p:spPr>
          <a:xfrm>
            <a:off x="9093525" y="1956816"/>
            <a:ext cx="111017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19" name="Text 17"/>
          <p:cNvSpPr txBox="1"/>
          <p:nvPr/>
        </p:nvSpPr>
        <p:spPr>
          <a:xfrm>
            <a:off x="10167122" y="1956816"/>
            <a:ext cx="107359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0" name="Text 18"/>
          <p:cNvSpPr txBox="1"/>
          <p:nvPr/>
        </p:nvSpPr>
        <p:spPr>
          <a:xfrm>
            <a:off x="6400800" y="3337560"/>
            <a:ext cx="2926080" cy="502920"/>
          </a:xfrm>
          <a:prstGeom prst="roundRect">
            <a:avLst>
              <a:gd name="adj" fmla="val 10909"/>
            </a:avLst>
          </a:prstGeom>
          <a:solidFill>
            <a:srgbClr val="2F7D4F"/>
          </a:solidFill>
          <a:ln>
            <a:solidFill>
              <a:srgbClr val="2F7D4F"/>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decodificatore 5-a-32</a:t>
            </a:r>
            <a:endParaRPr lang="en-US" sz="1600" dirty="0"/>
          </a:p>
        </p:txBody>
      </p:sp>
      <p:sp>
        <p:nvSpPr>
          <p:cNvPr id="21" name="Shape 19"/>
          <p:cNvSpPr/>
          <p:nvPr/>
        </p:nvSpPr>
        <p:spPr>
          <a:xfrm>
            <a:off x="7863840" y="3081528"/>
            <a:ext cx="0" cy="237744"/>
          </a:xfrm>
          <a:prstGeom prst="line">
            <a:avLst/>
          </a:prstGeom>
          <a:noFill/>
          <a:ln w="28575">
            <a:solidFill>
              <a:srgbClr val="2F7D4F"/>
            </a:solidFill>
            <a:prstDash val="solid"/>
            <a:tailEnd type="triangle"/>
          </a:ln>
        </p:spPr>
      </p:sp>
      <p:sp>
        <p:nvSpPr>
          <p:cNvPr id="22" name="Shape 20"/>
          <p:cNvSpPr/>
          <p:nvPr/>
        </p:nvSpPr>
        <p:spPr>
          <a:xfrm>
            <a:off x="7863840" y="3858768"/>
            <a:ext cx="0" cy="466344"/>
          </a:xfrm>
          <a:prstGeom prst="line">
            <a:avLst/>
          </a:prstGeom>
          <a:noFill/>
          <a:ln w="28575">
            <a:solidFill>
              <a:srgbClr val="2F7D4F"/>
            </a:solidFill>
            <a:prstDash val="solid"/>
            <a:tailEnd type="triangle"/>
          </a:ln>
        </p:spPr>
      </p:sp>
      <p:sp>
        <p:nvSpPr>
          <p:cNvPr id="23" name="Text 21"/>
          <p:cNvSpPr txBox="1"/>
          <p:nvPr/>
        </p:nvSpPr>
        <p:spPr>
          <a:xfrm>
            <a:off x="54864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24" name="Text 22"/>
          <p:cNvSpPr txBox="1"/>
          <p:nvPr/>
        </p:nvSpPr>
        <p:spPr>
          <a:xfrm>
            <a:off x="54864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x0</a:t>
            </a:r>
            <a:endParaRPr lang="en-US" sz="900" dirty="0"/>
          </a:p>
        </p:txBody>
      </p:sp>
      <p:sp>
        <p:nvSpPr>
          <p:cNvPr id="25" name="Text 23"/>
          <p:cNvSpPr txBox="1"/>
          <p:nvPr/>
        </p:nvSpPr>
        <p:spPr>
          <a:xfrm>
            <a:off x="89534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26" name="Text 24"/>
          <p:cNvSpPr txBox="1"/>
          <p:nvPr/>
        </p:nvSpPr>
        <p:spPr>
          <a:xfrm>
            <a:off x="89534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a:t>
            </a:r>
            <a:endParaRPr lang="en-US" sz="900" dirty="0"/>
          </a:p>
        </p:txBody>
      </p:sp>
      <p:sp>
        <p:nvSpPr>
          <p:cNvPr id="27" name="Text 25"/>
          <p:cNvSpPr txBox="1"/>
          <p:nvPr/>
        </p:nvSpPr>
        <p:spPr>
          <a:xfrm>
            <a:off x="124204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28" name="Text 26"/>
          <p:cNvSpPr txBox="1"/>
          <p:nvPr/>
        </p:nvSpPr>
        <p:spPr>
          <a:xfrm>
            <a:off x="124204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a:t>
            </a:r>
            <a:endParaRPr lang="en-US" sz="900" dirty="0"/>
          </a:p>
        </p:txBody>
      </p:sp>
      <p:sp>
        <p:nvSpPr>
          <p:cNvPr id="29" name="Text 27"/>
          <p:cNvSpPr txBox="1"/>
          <p:nvPr/>
        </p:nvSpPr>
        <p:spPr>
          <a:xfrm>
            <a:off x="158874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0" name="Text 28"/>
          <p:cNvSpPr txBox="1"/>
          <p:nvPr/>
        </p:nvSpPr>
        <p:spPr>
          <a:xfrm>
            <a:off x="158874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x3</a:t>
            </a:r>
            <a:endParaRPr lang="en-US" sz="900" dirty="0"/>
          </a:p>
        </p:txBody>
      </p:sp>
      <p:sp>
        <p:nvSpPr>
          <p:cNvPr id="31" name="Text 29"/>
          <p:cNvSpPr txBox="1"/>
          <p:nvPr/>
        </p:nvSpPr>
        <p:spPr>
          <a:xfrm>
            <a:off x="193544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2" name="Text 30"/>
          <p:cNvSpPr txBox="1"/>
          <p:nvPr/>
        </p:nvSpPr>
        <p:spPr>
          <a:xfrm>
            <a:off x="193544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x4</a:t>
            </a:r>
            <a:endParaRPr lang="en-US" sz="900" dirty="0"/>
          </a:p>
        </p:txBody>
      </p:sp>
      <p:sp>
        <p:nvSpPr>
          <p:cNvPr id="33" name="Text 31"/>
          <p:cNvSpPr txBox="1"/>
          <p:nvPr/>
        </p:nvSpPr>
        <p:spPr>
          <a:xfrm>
            <a:off x="228214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4" name="Text 32"/>
          <p:cNvSpPr txBox="1"/>
          <p:nvPr/>
        </p:nvSpPr>
        <p:spPr>
          <a:xfrm>
            <a:off x="228214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x5</a:t>
            </a:r>
            <a:endParaRPr lang="en-US" sz="900" dirty="0"/>
          </a:p>
        </p:txBody>
      </p:sp>
      <p:sp>
        <p:nvSpPr>
          <p:cNvPr id="35" name="Text 33"/>
          <p:cNvSpPr txBox="1"/>
          <p:nvPr/>
        </p:nvSpPr>
        <p:spPr>
          <a:xfrm>
            <a:off x="2628843" y="4343400"/>
            <a:ext cx="346700" cy="45720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1</a:t>
            </a:r>
            <a:endParaRPr lang="en-US" sz="1200" dirty="0"/>
          </a:p>
        </p:txBody>
      </p:sp>
      <p:sp>
        <p:nvSpPr>
          <p:cNvPr id="36" name="Text 34"/>
          <p:cNvSpPr txBox="1"/>
          <p:nvPr/>
        </p:nvSpPr>
        <p:spPr>
          <a:xfrm>
            <a:off x="262884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x6</a:t>
            </a:r>
            <a:endParaRPr lang="en-US" sz="900" dirty="0"/>
          </a:p>
        </p:txBody>
      </p:sp>
      <p:sp>
        <p:nvSpPr>
          <p:cNvPr id="37" name="Text 35"/>
          <p:cNvSpPr txBox="1"/>
          <p:nvPr/>
        </p:nvSpPr>
        <p:spPr>
          <a:xfrm>
            <a:off x="2975543"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8" name="Text 36"/>
          <p:cNvSpPr txBox="1"/>
          <p:nvPr/>
        </p:nvSpPr>
        <p:spPr>
          <a:xfrm>
            <a:off x="297554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x7</a:t>
            </a:r>
            <a:endParaRPr lang="en-US" sz="900" dirty="0"/>
          </a:p>
        </p:txBody>
      </p:sp>
      <p:sp>
        <p:nvSpPr>
          <p:cNvPr id="39" name="Text 37"/>
          <p:cNvSpPr txBox="1"/>
          <p:nvPr/>
        </p:nvSpPr>
        <p:spPr>
          <a:xfrm>
            <a:off x="332224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0" name="Text 38"/>
          <p:cNvSpPr txBox="1"/>
          <p:nvPr/>
        </p:nvSpPr>
        <p:spPr>
          <a:xfrm>
            <a:off x="332224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x8</a:t>
            </a:r>
            <a:endParaRPr lang="en-US" sz="900" dirty="0"/>
          </a:p>
        </p:txBody>
      </p:sp>
      <p:sp>
        <p:nvSpPr>
          <p:cNvPr id="41" name="Text 39"/>
          <p:cNvSpPr txBox="1"/>
          <p:nvPr/>
        </p:nvSpPr>
        <p:spPr>
          <a:xfrm>
            <a:off x="366894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2" name="Text 40"/>
          <p:cNvSpPr txBox="1"/>
          <p:nvPr/>
        </p:nvSpPr>
        <p:spPr>
          <a:xfrm>
            <a:off x="366894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x9</a:t>
            </a:r>
            <a:endParaRPr lang="en-US" sz="900" dirty="0"/>
          </a:p>
        </p:txBody>
      </p:sp>
      <p:sp>
        <p:nvSpPr>
          <p:cNvPr id="43" name="Text 41"/>
          <p:cNvSpPr txBox="1"/>
          <p:nvPr/>
        </p:nvSpPr>
        <p:spPr>
          <a:xfrm>
            <a:off x="4015645"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4" name="Text 42"/>
          <p:cNvSpPr txBox="1"/>
          <p:nvPr/>
        </p:nvSpPr>
        <p:spPr>
          <a:xfrm>
            <a:off x="4015645"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x10</a:t>
            </a:r>
            <a:endParaRPr lang="en-US" sz="900" dirty="0"/>
          </a:p>
        </p:txBody>
      </p:sp>
      <p:sp>
        <p:nvSpPr>
          <p:cNvPr id="45" name="Text 43"/>
          <p:cNvSpPr txBox="1"/>
          <p:nvPr/>
        </p:nvSpPr>
        <p:spPr>
          <a:xfrm>
            <a:off x="4362345"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6" name="Text 44"/>
          <p:cNvSpPr txBox="1"/>
          <p:nvPr/>
        </p:nvSpPr>
        <p:spPr>
          <a:xfrm>
            <a:off x="4362345"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x11</a:t>
            </a:r>
            <a:endParaRPr lang="en-US" sz="900" dirty="0"/>
          </a:p>
        </p:txBody>
      </p:sp>
      <p:sp>
        <p:nvSpPr>
          <p:cNvPr id="47" name="Text 45"/>
          <p:cNvSpPr txBox="1"/>
          <p:nvPr/>
        </p:nvSpPr>
        <p:spPr>
          <a:xfrm>
            <a:off x="4709046"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8" name="Text 46"/>
          <p:cNvSpPr txBox="1"/>
          <p:nvPr/>
        </p:nvSpPr>
        <p:spPr>
          <a:xfrm>
            <a:off x="4709046"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x12</a:t>
            </a:r>
            <a:endParaRPr lang="en-US" sz="900" dirty="0"/>
          </a:p>
        </p:txBody>
      </p:sp>
      <p:sp>
        <p:nvSpPr>
          <p:cNvPr id="49" name="Text 47"/>
          <p:cNvSpPr txBox="1"/>
          <p:nvPr/>
        </p:nvSpPr>
        <p:spPr>
          <a:xfrm>
            <a:off x="5055746"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0" name="Text 48"/>
          <p:cNvSpPr txBox="1"/>
          <p:nvPr/>
        </p:nvSpPr>
        <p:spPr>
          <a:xfrm>
            <a:off x="5055746"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x13</a:t>
            </a:r>
            <a:endParaRPr lang="en-US" sz="900" dirty="0"/>
          </a:p>
        </p:txBody>
      </p:sp>
      <p:sp>
        <p:nvSpPr>
          <p:cNvPr id="51" name="Text 49"/>
          <p:cNvSpPr txBox="1"/>
          <p:nvPr/>
        </p:nvSpPr>
        <p:spPr>
          <a:xfrm>
            <a:off x="5402447"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2" name="Text 50"/>
          <p:cNvSpPr txBox="1"/>
          <p:nvPr/>
        </p:nvSpPr>
        <p:spPr>
          <a:xfrm>
            <a:off x="5402447"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x14</a:t>
            </a:r>
            <a:endParaRPr lang="en-US" sz="900" dirty="0"/>
          </a:p>
        </p:txBody>
      </p:sp>
      <p:sp>
        <p:nvSpPr>
          <p:cNvPr id="53" name="Text 51"/>
          <p:cNvSpPr txBox="1"/>
          <p:nvPr/>
        </p:nvSpPr>
        <p:spPr>
          <a:xfrm>
            <a:off x="5749147"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4" name="Text 52"/>
          <p:cNvSpPr txBox="1"/>
          <p:nvPr/>
        </p:nvSpPr>
        <p:spPr>
          <a:xfrm>
            <a:off x="5749147"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x15</a:t>
            </a:r>
            <a:endParaRPr lang="en-US" sz="900" dirty="0"/>
          </a:p>
        </p:txBody>
      </p:sp>
      <p:sp>
        <p:nvSpPr>
          <p:cNvPr id="55" name="Text 53"/>
          <p:cNvSpPr txBox="1"/>
          <p:nvPr/>
        </p:nvSpPr>
        <p:spPr>
          <a:xfrm>
            <a:off x="6095848"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6" name="Text 54"/>
          <p:cNvSpPr txBox="1"/>
          <p:nvPr/>
        </p:nvSpPr>
        <p:spPr>
          <a:xfrm>
            <a:off x="6095848"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x16</a:t>
            </a:r>
            <a:endParaRPr lang="en-US" sz="900" dirty="0"/>
          </a:p>
        </p:txBody>
      </p:sp>
      <p:sp>
        <p:nvSpPr>
          <p:cNvPr id="57" name="Text 55"/>
          <p:cNvSpPr txBox="1"/>
          <p:nvPr/>
        </p:nvSpPr>
        <p:spPr>
          <a:xfrm>
            <a:off x="6442548"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8" name="Text 56"/>
          <p:cNvSpPr txBox="1"/>
          <p:nvPr/>
        </p:nvSpPr>
        <p:spPr>
          <a:xfrm>
            <a:off x="6442548"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x17</a:t>
            </a:r>
            <a:endParaRPr lang="en-US" sz="900" dirty="0"/>
          </a:p>
        </p:txBody>
      </p:sp>
      <p:sp>
        <p:nvSpPr>
          <p:cNvPr id="59" name="Text 57"/>
          <p:cNvSpPr txBox="1"/>
          <p:nvPr/>
        </p:nvSpPr>
        <p:spPr>
          <a:xfrm>
            <a:off x="6789249"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0" name="Text 58"/>
          <p:cNvSpPr txBox="1"/>
          <p:nvPr/>
        </p:nvSpPr>
        <p:spPr>
          <a:xfrm>
            <a:off x="6789249"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x18</a:t>
            </a:r>
            <a:endParaRPr lang="en-US" sz="900" dirty="0"/>
          </a:p>
        </p:txBody>
      </p:sp>
      <p:sp>
        <p:nvSpPr>
          <p:cNvPr id="61" name="Text 59"/>
          <p:cNvSpPr txBox="1"/>
          <p:nvPr/>
        </p:nvSpPr>
        <p:spPr>
          <a:xfrm>
            <a:off x="7135949"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2" name="Text 60"/>
          <p:cNvSpPr txBox="1"/>
          <p:nvPr/>
        </p:nvSpPr>
        <p:spPr>
          <a:xfrm>
            <a:off x="7135949"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x19</a:t>
            </a:r>
            <a:endParaRPr lang="en-US" sz="900" dirty="0"/>
          </a:p>
        </p:txBody>
      </p:sp>
      <p:sp>
        <p:nvSpPr>
          <p:cNvPr id="63" name="Text 61"/>
          <p:cNvSpPr txBox="1"/>
          <p:nvPr/>
        </p:nvSpPr>
        <p:spPr>
          <a:xfrm>
            <a:off x="748265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4" name="Text 62"/>
          <p:cNvSpPr txBox="1"/>
          <p:nvPr/>
        </p:nvSpPr>
        <p:spPr>
          <a:xfrm>
            <a:off x="748265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x20</a:t>
            </a:r>
            <a:endParaRPr lang="en-US" sz="900" dirty="0"/>
          </a:p>
        </p:txBody>
      </p:sp>
      <p:sp>
        <p:nvSpPr>
          <p:cNvPr id="65" name="Text 63"/>
          <p:cNvSpPr txBox="1"/>
          <p:nvPr/>
        </p:nvSpPr>
        <p:spPr>
          <a:xfrm>
            <a:off x="782935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6" name="Text 64"/>
          <p:cNvSpPr txBox="1"/>
          <p:nvPr/>
        </p:nvSpPr>
        <p:spPr>
          <a:xfrm>
            <a:off x="782935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x21</a:t>
            </a:r>
            <a:endParaRPr lang="en-US" sz="900" dirty="0"/>
          </a:p>
        </p:txBody>
      </p:sp>
      <p:sp>
        <p:nvSpPr>
          <p:cNvPr id="67" name="Text 65"/>
          <p:cNvSpPr txBox="1"/>
          <p:nvPr/>
        </p:nvSpPr>
        <p:spPr>
          <a:xfrm>
            <a:off x="817605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8" name="Text 66"/>
          <p:cNvSpPr txBox="1"/>
          <p:nvPr/>
        </p:nvSpPr>
        <p:spPr>
          <a:xfrm>
            <a:off x="817605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x22</a:t>
            </a:r>
            <a:endParaRPr lang="en-US" sz="900" dirty="0"/>
          </a:p>
        </p:txBody>
      </p:sp>
      <p:sp>
        <p:nvSpPr>
          <p:cNvPr id="69" name="Text 67"/>
          <p:cNvSpPr txBox="1"/>
          <p:nvPr/>
        </p:nvSpPr>
        <p:spPr>
          <a:xfrm>
            <a:off x="852275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0" name="Text 68"/>
          <p:cNvSpPr txBox="1"/>
          <p:nvPr/>
        </p:nvSpPr>
        <p:spPr>
          <a:xfrm>
            <a:off x="852275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x23</a:t>
            </a:r>
            <a:endParaRPr lang="en-US" sz="900" dirty="0"/>
          </a:p>
        </p:txBody>
      </p:sp>
      <p:sp>
        <p:nvSpPr>
          <p:cNvPr id="71" name="Text 69"/>
          <p:cNvSpPr txBox="1"/>
          <p:nvPr/>
        </p:nvSpPr>
        <p:spPr>
          <a:xfrm>
            <a:off x="886945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2" name="Text 70"/>
          <p:cNvSpPr txBox="1"/>
          <p:nvPr/>
        </p:nvSpPr>
        <p:spPr>
          <a:xfrm>
            <a:off x="886945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x24</a:t>
            </a:r>
            <a:endParaRPr lang="en-US" sz="900" dirty="0"/>
          </a:p>
        </p:txBody>
      </p:sp>
      <p:sp>
        <p:nvSpPr>
          <p:cNvPr id="73" name="Text 71"/>
          <p:cNvSpPr txBox="1"/>
          <p:nvPr/>
        </p:nvSpPr>
        <p:spPr>
          <a:xfrm>
            <a:off x="921615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4" name="Text 72"/>
          <p:cNvSpPr txBox="1"/>
          <p:nvPr/>
        </p:nvSpPr>
        <p:spPr>
          <a:xfrm>
            <a:off x="921615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x25</a:t>
            </a:r>
            <a:endParaRPr lang="en-US" sz="900" dirty="0"/>
          </a:p>
        </p:txBody>
      </p:sp>
      <p:sp>
        <p:nvSpPr>
          <p:cNvPr id="75" name="Text 73"/>
          <p:cNvSpPr txBox="1"/>
          <p:nvPr/>
        </p:nvSpPr>
        <p:spPr>
          <a:xfrm>
            <a:off x="956285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6" name="Text 74"/>
          <p:cNvSpPr txBox="1"/>
          <p:nvPr/>
        </p:nvSpPr>
        <p:spPr>
          <a:xfrm>
            <a:off x="956285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x26</a:t>
            </a:r>
            <a:endParaRPr lang="en-US" sz="900" dirty="0"/>
          </a:p>
        </p:txBody>
      </p:sp>
      <p:sp>
        <p:nvSpPr>
          <p:cNvPr id="77" name="Text 75"/>
          <p:cNvSpPr txBox="1"/>
          <p:nvPr/>
        </p:nvSpPr>
        <p:spPr>
          <a:xfrm>
            <a:off x="9909553"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8" name="Text 76"/>
          <p:cNvSpPr txBox="1"/>
          <p:nvPr/>
        </p:nvSpPr>
        <p:spPr>
          <a:xfrm>
            <a:off x="990955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x27</a:t>
            </a:r>
            <a:endParaRPr lang="en-US" sz="900" dirty="0"/>
          </a:p>
        </p:txBody>
      </p:sp>
      <p:sp>
        <p:nvSpPr>
          <p:cNvPr id="79" name="Text 77"/>
          <p:cNvSpPr txBox="1"/>
          <p:nvPr/>
        </p:nvSpPr>
        <p:spPr>
          <a:xfrm>
            <a:off x="10256253"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0" name="Text 78"/>
          <p:cNvSpPr txBox="1"/>
          <p:nvPr/>
        </p:nvSpPr>
        <p:spPr>
          <a:xfrm>
            <a:off x="1025625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x28</a:t>
            </a:r>
            <a:endParaRPr lang="en-US" sz="900" dirty="0"/>
          </a:p>
        </p:txBody>
      </p:sp>
      <p:sp>
        <p:nvSpPr>
          <p:cNvPr id="81" name="Text 79"/>
          <p:cNvSpPr txBox="1"/>
          <p:nvPr/>
        </p:nvSpPr>
        <p:spPr>
          <a:xfrm>
            <a:off x="1060295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2" name="Text 80"/>
          <p:cNvSpPr txBox="1"/>
          <p:nvPr/>
        </p:nvSpPr>
        <p:spPr>
          <a:xfrm>
            <a:off x="1060295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x29</a:t>
            </a:r>
            <a:endParaRPr lang="en-US" sz="900" dirty="0"/>
          </a:p>
        </p:txBody>
      </p:sp>
      <p:sp>
        <p:nvSpPr>
          <p:cNvPr id="83" name="Text 81"/>
          <p:cNvSpPr txBox="1"/>
          <p:nvPr/>
        </p:nvSpPr>
        <p:spPr>
          <a:xfrm>
            <a:off x="1094965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4" name="Text 82"/>
          <p:cNvSpPr txBox="1"/>
          <p:nvPr/>
        </p:nvSpPr>
        <p:spPr>
          <a:xfrm>
            <a:off x="1094965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x30</a:t>
            </a:r>
            <a:endParaRPr lang="en-US" sz="900" dirty="0"/>
          </a:p>
        </p:txBody>
      </p:sp>
      <p:sp>
        <p:nvSpPr>
          <p:cNvPr id="85" name="Text 83"/>
          <p:cNvSpPr txBox="1"/>
          <p:nvPr/>
        </p:nvSpPr>
        <p:spPr>
          <a:xfrm>
            <a:off x="11296355"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6" name="Text 84"/>
          <p:cNvSpPr txBox="1"/>
          <p:nvPr/>
        </p:nvSpPr>
        <p:spPr>
          <a:xfrm>
            <a:off x="11296355"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x31</a:t>
            </a:r>
            <a:endParaRPr lang="en-US" sz="900" dirty="0"/>
          </a:p>
        </p:txBody>
      </p:sp>
      <p:sp>
        <p:nvSpPr>
          <p:cNvPr id="87" name="Shape 85"/>
          <p:cNvSpPr/>
          <p:nvPr/>
        </p:nvSpPr>
        <p:spPr>
          <a:xfrm>
            <a:off x="548640" y="5274818"/>
            <a:ext cx="146304" cy="146304"/>
          </a:xfrm>
          <a:prstGeom prst="rect">
            <a:avLst/>
          </a:prstGeom>
          <a:solidFill>
            <a:srgbClr val="0E7C86"/>
          </a:solidFill>
          <a:ln w="12700">
            <a:solidFill>
              <a:srgbClr val="0E7C86"/>
            </a:solidFill>
            <a:prstDash val="solid"/>
          </a:ln>
        </p:spPr>
      </p:sp>
      <p:sp>
        <p:nvSpPr>
          <p:cNvPr id="88" name="Text 86"/>
          <p:cNvSpPr txBox="1"/>
          <p:nvPr/>
        </p:nvSpPr>
        <p:spPr>
          <a:xfrm>
            <a:off x="932688" y="5230368"/>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I cinque bit di rd sono una parola codice: 32 registri, ceil(log2 32) = 5</a:t>
            </a:r>
            <a:endParaRPr lang="en-US" sz="1400" dirty="0"/>
          </a:p>
        </p:txBody>
      </p:sp>
      <p:sp>
        <p:nvSpPr>
          <p:cNvPr id="89" name="Shape 87"/>
          <p:cNvSpPr/>
          <p:nvPr/>
        </p:nvSpPr>
        <p:spPr>
          <a:xfrm>
            <a:off x="548640" y="5637276"/>
            <a:ext cx="146304" cy="146304"/>
          </a:xfrm>
          <a:prstGeom prst="rect">
            <a:avLst/>
          </a:prstGeom>
          <a:solidFill>
            <a:srgbClr val="C7791B"/>
          </a:solidFill>
          <a:ln w="12700">
            <a:solidFill>
              <a:srgbClr val="C7791B"/>
            </a:solidFill>
            <a:prstDash val="solid"/>
          </a:ln>
        </p:spPr>
      </p:sp>
      <p:sp>
        <p:nvSpPr>
          <p:cNvPr id="90" name="Text 88"/>
          <p:cNvSpPr txBox="1"/>
          <p:nvPr/>
        </p:nvSpPr>
        <p:spPr>
          <a:xfrm>
            <a:off x="932688" y="5592826"/>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Un decodificatore 5-a-32 ne ricava 32 linee di abilitazione alla scrittura: solo x6, cioè t1, riceve il risultato</a:t>
            </a:r>
            <a:endParaRPr lang="en-US" sz="1400" dirty="0"/>
          </a:p>
        </p:txBody>
      </p:sp>
      <p:sp>
        <p:nvSpPr>
          <p:cNvPr id="91" name="Shape 89"/>
          <p:cNvSpPr/>
          <p:nvPr/>
        </p:nvSpPr>
        <p:spPr>
          <a:xfrm>
            <a:off x="548640" y="5999734"/>
            <a:ext cx="146304" cy="146304"/>
          </a:xfrm>
          <a:prstGeom prst="rect">
            <a:avLst/>
          </a:prstGeom>
          <a:solidFill>
            <a:srgbClr val="0E7C86"/>
          </a:solidFill>
          <a:ln w="12700">
            <a:solidFill>
              <a:srgbClr val="0E7C86"/>
            </a:solidFill>
            <a:prstDash val="solid"/>
          </a:ln>
        </p:spPr>
      </p:sp>
      <p:sp>
        <p:nvSpPr>
          <p:cNvPr id="92" name="Text 90"/>
          <p:cNvSpPr txBox="1"/>
          <p:nvPr/>
        </p:nvSpPr>
        <p:spPr>
          <a:xfrm>
            <a:off x="932688" y="5955284"/>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Altre due selezioni, su rs1 e rs2, scelgono i registri da leggere</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codificatore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macchina inversa: riceve una rappresentazione decodificata, N linee di cui una attiva, e dà in uscita la parola codice corrispondente, di m = ceil(log2 N) bit</a:t>
            </a:r>
            <a:endParaRPr lang="en-US" sz="2100" dirty="0"/>
          </a:p>
        </p:txBody>
      </p:sp>
      <p:sp>
        <p:nvSpPr>
          <p:cNvPr id="5" name="Shape 3"/>
          <p:cNvSpPr/>
          <p:nvPr/>
        </p:nvSpPr>
        <p:spPr>
          <a:xfrm>
            <a:off x="548640" y="311975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2107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Ogni bit di uscita è l'OR delle linee di ingresso il cui numero ha un 1 in quella posizione</a:t>
            </a:r>
            <a:endParaRPr lang="en-US" sz="2100" dirty="0"/>
          </a:p>
        </p:txBody>
      </p:sp>
      <p:sp>
        <p:nvSpPr>
          <p:cNvPr id="7" name="Shape 5"/>
          <p:cNvSpPr/>
          <p:nvPr/>
        </p:nvSpPr>
        <p:spPr>
          <a:xfrm>
            <a:off x="548640" y="40727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74084"/>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 più linee possono essere attive insieme serve un codificatore con priorità</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dà in uscita il numero della linea attiva di priorità più alta</a:t>
            </a:r>
            <a:endParaRPr lang="en-US" sz="2100" dirty="0"/>
          </a:p>
        </p:txBody>
      </p:sp>
      <p:sp>
        <p:nvSpPr>
          <p:cNvPr id="9" name="Shape 7"/>
          <p:cNvSpPr/>
          <p:nvPr/>
        </p:nvSpPr>
        <p:spPr>
          <a:xfrm>
            <a:off x="548640" y="56201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Esempio: un tastierino con un filo per tasto diventa un numero di tasto compatto</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da N a m</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da una linea tra N a una parola codice di m bit: m = ceil(log2 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Transcodificatori: il display a sette segmenti</a:t>
            </a:r>
            <a:endParaRPr lang="en-US" sz="3200" dirty="0"/>
          </a:p>
        </p:txBody>
      </p:sp>
      <p:pic>
        <p:nvPicPr>
          <p:cNvPr id="4" name="Image 0" descr="preencoded.png">    </p:cNvPr>
          <p:cNvPicPr>
            <a:picLocks noChangeAspect="1"/>
          </p:cNvPicPr>
          <p:nvPr/>
        </p:nvPicPr>
        <p:blipFill>
          <a:blip r:embed="rId1"/>
          <a:stretch>
            <a:fillRect/>
          </a:stretch>
        </p:blipFill>
        <p:spPr>
          <a:xfrm>
            <a:off x="548640" y="1905176"/>
            <a:ext cx="2377440" cy="3779168"/>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200400" y="1417320"/>
          <a:ext cx="4892040" cy="914400"/>
        </p:xfrm>
        <a:graphic>
          <a:graphicData uri="http://schemas.openxmlformats.org/drawingml/2006/table">
            <a:tbl>
              <a:tblPr/>
              <a:tblGrid>
                <a:gridCol w="685800"/>
                <a:gridCol w="1005840"/>
                <a:gridCol w="457200"/>
                <a:gridCol w="457200"/>
                <a:gridCol w="457200"/>
                <a:gridCol w="457200"/>
                <a:gridCol w="457200"/>
                <a:gridCol w="457200"/>
                <a:gridCol w="457200"/>
              </a:tblGrid>
              <a:tr h="352044">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Cifra</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BCD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a</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c</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e</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f</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g</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0</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1</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2</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3</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4</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5</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6</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7</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8</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9</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6" name="Shape 1"/>
          <p:cNvSpPr/>
          <p:nvPr/>
        </p:nvSpPr>
        <p:spPr>
          <a:xfrm>
            <a:off x="8915400" y="1417320"/>
            <a:ext cx="2727655" cy="4754880"/>
          </a:xfrm>
          <a:prstGeom prst="roundRect">
            <a:avLst>
              <a:gd name="adj" fmla="val 2682"/>
            </a:avLst>
          </a:prstGeom>
          <a:solidFill>
            <a:srgbClr val="D8ECEE"/>
          </a:solidFill>
          <a:ln w="12700">
            <a:solidFill>
              <a:srgbClr val="D8ECEE"/>
            </a:solidFill>
            <a:prstDash val="solid"/>
          </a:ln>
        </p:spPr>
      </p:sp>
      <p:sp>
        <p:nvSpPr>
          <p:cNvPr id="7" name="Text 2"/>
          <p:cNvSpPr txBox="1"/>
          <p:nvPr/>
        </p:nvSpPr>
        <p:spPr>
          <a:xfrm>
            <a:off x="9052560" y="1554480"/>
            <a:ext cx="2453335" cy="4480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Un transcodificatore trasforma ogni parola di un codice C1 nella parola corrispondente di un codice C2 definito sullo stesso insieme.</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Qui: dal BCD alle sette linee che accendono i segmenti da a a g. La cifra 2 accende a, b, g, e e d.</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Sette uscite: sette funzioni di quattro variabili da sintetizzare.</a:t>
            </a:r>
            <a:endParaRPr lang="en-US" sz="14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Sintesi del segmento a</a:t>
            </a:r>
            <a:endParaRPr lang="en-US" sz="3200" dirty="0"/>
          </a:p>
        </p:txBody>
      </p:sp>
      <p:sp>
        <p:nvSpPr>
          <p:cNvPr id="3" name="Shape 1"/>
          <p:cNvSpPr/>
          <p:nvPr/>
        </p:nvSpPr>
        <p:spPr>
          <a:xfrm>
            <a:off x="548640" y="1417320"/>
            <a:ext cx="5212080"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1783080" y="1536192"/>
            <a:ext cx="3364992"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C D</a:t>
            </a:r>
            <a:endParaRPr lang="en-US" sz="1500" dirty="0"/>
          </a:p>
        </p:txBody>
      </p:sp>
      <p:sp>
        <p:nvSpPr>
          <p:cNvPr id="5" name="Text 3"/>
          <p:cNvSpPr txBox="1"/>
          <p:nvPr/>
        </p:nvSpPr>
        <p:spPr>
          <a:xfrm>
            <a:off x="1005840" y="2194560"/>
            <a:ext cx="384048" cy="3364992"/>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 B</a:t>
            </a:r>
            <a:endParaRPr lang="en-US" sz="1500" dirty="0"/>
          </a:p>
        </p:txBody>
      </p:sp>
      <p:sp>
        <p:nvSpPr>
          <p:cNvPr id="6" name="Text 4"/>
          <p:cNvSpPr txBox="1"/>
          <p:nvPr/>
        </p:nvSpPr>
        <p:spPr>
          <a:xfrm>
            <a:off x="1783080"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7" name="Text 5"/>
          <p:cNvSpPr txBox="1"/>
          <p:nvPr/>
        </p:nvSpPr>
        <p:spPr>
          <a:xfrm>
            <a:off x="2624328"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8" name="Text 6"/>
          <p:cNvSpPr txBox="1"/>
          <p:nvPr/>
        </p:nvSpPr>
        <p:spPr>
          <a:xfrm>
            <a:off x="3465576"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9" name="Text 7"/>
          <p:cNvSpPr txBox="1"/>
          <p:nvPr/>
        </p:nvSpPr>
        <p:spPr>
          <a:xfrm>
            <a:off x="4306824"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0" name="Text 8"/>
          <p:cNvSpPr txBox="1"/>
          <p:nvPr/>
        </p:nvSpPr>
        <p:spPr>
          <a:xfrm>
            <a:off x="1371600" y="2194560"/>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11" name="Text 9"/>
          <p:cNvSpPr txBox="1"/>
          <p:nvPr/>
        </p:nvSpPr>
        <p:spPr>
          <a:xfrm>
            <a:off x="1371600" y="3035808"/>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12" name="Text 10"/>
          <p:cNvSpPr txBox="1"/>
          <p:nvPr/>
        </p:nvSpPr>
        <p:spPr>
          <a:xfrm>
            <a:off x="1371600" y="3877056"/>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13" name="Text 11"/>
          <p:cNvSpPr txBox="1"/>
          <p:nvPr/>
        </p:nvSpPr>
        <p:spPr>
          <a:xfrm>
            <a:off x="1371600" y="4718304"/>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4" name="Text 12"/>
          <p:cNvSpPr txBox="1"/>
          <p:nvPr/>
        </p:nvSpPr>
        <p:spPr>
          <a:xfrm>
            <a:off x="1783080"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5" name="Text 13"/>
          <p:cNvSpPr txBox="1"/>
          <p:nvPr/>
        </p:nvSpPr>
        <p:spPr>
          <a:xfrm>
            <a:off x="2624328" y="2194560"/>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6" name="Text 14"/>
          <p:cNvSpPr txBox="1"/>
          <p:nvPr/>
        </p:nvSpPr>
        <p:spPr>
          <a:xfrm>
            <a:off x="3465576"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7" name="Text 15"/>
          <p:cNvSpPr txBox="1"/>
          <p:nvPr/>
        </p:nvSpPr>
        <p:spPr>
          <a:xfrm>
            <a:off x="4306824"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8" name="Text 16"/>
          <p:cNvSpPr txBox="1"/>
          <p:nvPr/>
        </p:nvSpPr>
        <p:spPr>
          <a:xfrm>
            <a:off x="1783080" y="3035808"/>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9" name="Text 17"/>
          <p:cNvSpPr txBox="1"/>
          <p:nvPr/>
        </p:nvSpPr>
        <p:spPr>
          <a:xfrm>
            <a:off x="2624328"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0" name="Text 18"/>
          <p:cNvSpPr txBox="1"/>
          <p:nvPr/>
        </p:nvSpPr>
        <p:spPr>
          <a:xfrm>
            <a:off x="3465576"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1" name="Text 19"/>
          <p:cNvSpPr txBox="1"/>
          <p:nvPr/>
        </p:nvSpPr>
        <p:spPr>
          <a:xfrm>
            <a:off x="4306824"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2" name="Text 20"/>
          <p:cNvSpPr txBox="1"/>
          <p:nvPr/>
        </p:nvSpPr>
        <p:spPr>
          <a:xfrm>
            <a:off x="1783080" y="3877056"/>
            <a:ext cx="841248" cy="841248"/>
          </a:xfrm>
          <a:prstGeom prst="rect">
            <a:avLst/>
          </a:prstGeom>
          <a:solidFill>
            <a:srgbClr val="F6E7D2"/>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x</a:t>
            </a:r>
            <a:endParaRPr lang="en-US" sz="2400" dirty="0"/>
          </a:p>
        </p:txBody>
      </p:sp>
      <p:sp>
        <p:nvSpPr>
          <p:cNvPr id="23" name="Text 21"/>
          <p:cNvSpPr txBox="1"/>
          <p:nvPr/>
        </p:nvSpPr>
        <p:spPr>
          <a:xfrm>
            <a:off x="2624328" y="3877056"/>
            <a:ext cx="841248" cy="841248"/>
          </a:xfrm>
          <a:prstGeom prst="rect">
            <a:avLst/>
          </a:prstGeom>
          <a:solidFill>
            <a:srgbClr val="F6E7D2"/>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x</a:t>
            </a:r>
            <a:endParaRPr lang="en-US" sz="2400" dirty="0"/>
          </a:p>
        </p:txBody>
      </p:sp>
      <p:sp>
        <p:nvSpPr>
          <p:cNvPr id="24" name="Text 22"/>
          <p:cNvSpPr txBox="1"/>
          <p:nvPr/>
        </p:nvSpPr>
        <p:spPr>
          <a:xfrm>
            <a:off x="3465576" y="3877056"/>
            <a:ext cx="841248" cy="841248"/>
          </a:xfrm>
          <a:prstGeom prst="rect">
            <a:avLst/>
          </a:prstGeom>
          <a:solidFill>
            <a:srgbClr val="F6E7D2"/>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x</a:t>
            </a:r>
            <a:endParaRPr lang="en-US" sz="2400" dirty="0"/>
          </a:p>
        </p:txBody>
      </p:sp>
      <p:sp>
        <p:nvSpPr>
          <p:cNvPr id="25" name="Text 23"/>
          <p:cNvSpPr txBox="1"/>
          <p:nvPr/>
        </p:nvSpPr>
        <p:spPr>
          <a:xfrm>
            <a:off x="4306824" y="3877056"/>
            <a:ext cx="841248" cy="841248"/>
          </a:xfrm>
          <a:prstGeom prst="rect">
            <a:avLst/>
          </a:prstGeom>
          <a:solidFill>
            <a:srgbClr val="F6E7D2"/>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x</a:t>
            </a:r>
            <a:endParaRPr lang="en-US" sz="2400" dirty="0"/>
          </a:p>
        </p:txBody>
      </p:sp>
      <p:sp>
        <p:nvSpPr>
          <p:cNvPr id="26" name="Text 24"/>
          <p:cNvSpPr txBox="1"/>
          <p:nvPr/>
        </p:nvSpPr>
        <p:spPr>
          <a:xfrm>
            <a:off x="1783080" y="4718304"/>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7" name="Text 25"/>
          <p:cNvSpPr txBox="1"/>
          <p:nvPr/>
        </p:nvSpPr>
        <p:spPr>
          <a:xfrm>
            <a:off x="2624328" y="4718304"/>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8" name="Text 26"/>
          <p:cNvSpPr txBox="1"/>
          <p:nvPr/>
        </p:nvSpPr>
        <p:spPr>
          <a:xfrm>
            <a:off x="3465576" y="4718304"/>
            <a:ext cx="841248" cy="841248"/>
          </a:xfrm>
          <a:prstGeom prst="rect">
            <a:avLst/>
          </a:prstGeom>
          <a:solidFill>
            <a:srgbClr val="F6E7D2"/>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x</a:t>
            </a:r>
            <a:endParaRPr lang="en-US" sz="2400" dirty="0"/>
          </a:p>
        </p:txBody>
      </p:sp>
      <p:sp>
        <p:nvSpPr>
          <p:cNvPr id="29" name="Text 27"/>
          <p:cNvSpPr txBox="1"/>
          <p:nvPr/>
        </p:nvSpPr>
        <p:spPr>
          <a:xfrm>
            <a:off x="4306824" y="4718304"/>
            <a:ext cx="841248" cy="841248"/>
          </a:xfrm>
          <a:prstGeom prst="rect">
            <a:avLst/>
          </a:prstGeom>
          <a:solidFill>
            <a:srgbClr val="F6E7D2"/>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x</a:t>
            </a:r>
            <a:endParaRPr lang="en-US" sz="2400" dirty="0"/>
          </a:p>
        </p:txBody>
      </p:sp>
      <p:sp>
        <p:nvSpPr>
          <p:cNvPr id="30" name="Shape 28"/>
          <p:cNvSpPr/>
          <p:nvPr/>
        </p:nvSpPr>
        <p:spPr>
          <a:xfrm>
            <a:off x="1837944" y="3931920"/>
            <a:ext cx="3255264" cy="1572768"/>
          </a:xfrm>
          <a:prstGeom prst="roundRect">
            <a:avLst>
              <a:gd name="adj" fmla="val 8140"/>
            </a:avLst>
          </a:prstGeom>
          <a:solidFill>
            <a:srgbClr val="FFFFFF">
              <a:alpha val="0"/>
            </a:srgbClr>
          </a:solidFill>
          <a:ln w="34925">
            <a:solidFill>
              <a:srgbClr val="B23A48"/>
            </a:solidFill>
            <a:prstDash val="solid"/>
          </a:ln>
        </p:spPr>
      </p:sp>
      <p:sp>
        <p:nvSpPr>
          <p:cNvPr id="31" name="Shape 29"/>
          <p:cNvSpPr/>
          <p:nvPr/>
        </p:nvSpPr>
        <p:spPr>
          <a:xfrm>
            <a:off x="3566160" y="2295144"/>
            <a:ext cx="1481328" cy="3163824"/>
          </a:xfrm>
          <a:prstGeom prst="roundRect">
            <a:avLst>
              <a:gd name="adj" fmla="val 8642"/>
            </a:avLst>
          </a:prstGeom>
          <a:solidFill>
            <a:srgbClr val="FFFFFF">
              <a:alpha val="0"/>
            </a:srgbClr>
          </a:solidFill>
          <a:ln w="34925">
            <a:solidFill>
              <a:srgbClr val="6B4FA0"/>
            </a:solidFill>
            <a:prstDash val="solid"/>
          </a:ln>
        </p:spPr>
      </p:sp>
      <p:sp>
        <p:nvSpPr>
          <p:cNvPr id="32" name="Shape 30"/>
          <p:cNvSpPr/>
          <p:nvPr/>
        </p:nvSpPr>
        <p:spPr>
          <a:xfrm>
            <a:off x="2770632" y="3182112"/>
            <a:ext cx="1389888" cy="1389888"/>
          </a:xfrm>
          <a:prstGeom prst="roundRect">
            <a:avLst>
              <a:gd name="adj" fmla="val 9211"/>
            </a:avLst>
          </a:prstGeom>
          <a:solidFill>
            <a:srgbClr val="FFFFFF">
              <a:alpha val="0"/>
            </a:srgbClr>
          </a:solidFill>
          <a:ln w="34925">
            <a:solidFill>
              <a:srgbClr val="2F7D4F"/>
            </a:solidFill>
            <a:prstDash val="solid"/>
          </a:ln>
        </p:spPr>
      </p:sp>
      <p:sp>
        <p:nvSpPr>
          <p:cNvPr id="33" name="Shape 31"/>
          <p:cNvSpPr/>
          <p:nvPr/>
        </p:nvSpPr>
        <p:spPr>
          <a:xfrm>
            <a:off x="1965960" y="2377440"/>
            <a:ext cx="475488" cy="475488"/>
          </a:xfrm>
          <a:prstGeom prst="roundRect">
            <a:avLst>
              <a:gd name="adj" fmla="val 26923"/>
            </a:avLst>
          </a:prstGeom>
          <a:solidFill>
            <a:srgbClr val="FFFFFF">
              <a:alpha val="0"/>
            </a:srgbClr>
          </a:solidFill>
          <a:ln w="34925">
            <a:solidFill>
              <a:srgbClr val="C7791B"/>
            </a:solidFill>
            <a:prstDash val="solid"/>
          </a:ln>
        </p:spPr>
      </p:sp>
      <p:sp>
        <p:nvSpPr>
          <p:cNvPr id="34" name="Shape 32"/>
          <p:cNvSpPr/>
          <p:nvPr/>
        </p:nvSpPr>
        <p:spPr>
          <a:xfrm>
            <a:off x="4489704" y="2377440"/>
            <a:ext cx="475488" cy="475488"/>
          </a:xfrm>
          <a:prstGeom prst="roundRect">
            <a:avLst>
              <a:gd name="adj" fmla="val 26923"/>
            </a:avLst>
          </a:prstGeom>
          <a:solidFill>
            <a:srgbClr val="FFFFFF">
              <a:alpha val="0"/>
            </a:srgbClr>
          </a:solidFill>
          <a:ln w="34925">
            <a:solidFill>
              <a:srgbClr val="C7791B"/>
            </a:solidFill>
            <a:prstDash val="solid"/>
          </a:ln>
        </p:spPr>
      </p:sp>
      <p:sp>
        <p:nvSpPr>
          <p:cNvPr id="35" name="Shape 33"/>
          <p:cNvSpPr/>
          <p:nvPr/>
        </p:nvSpPr>
        <p:spPr>
          <a:xfrm>
            <a:off x="1965960" y="4901184"/>
            <a:ext cx="475488" cy="475488"/>
          </a:xfrm>
          <a:prstGeom prst="roundRect">
            <a:avLst>
              <a:gd name="adj" fmla="val 26923"/>
            </a:avLst>
          </a:prstGeom>
          <a:solidFill>
            <a:srgbClr val="FFFFFF">
              <a:alpha val="0"/>
            </a:srgbClr>
          </a:solidFill>
          <a:ln w="34925">
            <a:solidFill>
              <a:srgbClr val="C7791B"/>
            </a:solidFill>
            <a:prstDash val="solid"/>
          </a:ln>
        </p:spPr>
      </p:sp>
      <p:sp>
        <p:nvSpPr>
          <p:cNvPr id="36" name="Shape 34"/>
          <p:cNvSpPr/>
          <p:nvPr/>
        </p:nvSpPr>
        <p:spPr>
          <a:xfrm>
            <a:off x="4489704" y="4901184"/>
            <a:ext cx="475488" cy="475488"/>
          </a:xfrm>
          <a:prstGeom prst="roundRect">
            <a:avLst>
              <a:gd name="adj" fmla="val 26923"/>
            </a:avLst>
          </a:prstGeom>
          <a:solidFill>
            <a:srgbClr val="FFFFFF">
              <a:alpha val="0"/>
            </a:srgbClr>
          </a:solidFill>
          <a:ln w="34925">
            <a:solidFill>
              <a:srgbClr val="C7791B"/>
            </a:solidFill>
            <a:prstDash val="solid"/>
          </a:ln>
        </p:spPr>
      </p:sp>
      <p:sp>
        <p:nvSpPr>
          <p:cNvPr id="37" name="Text 35"/>
          <p:cNvSpPr txBox="1"/>
          <p:nvPr/>
        </p:nvSpPr>
        <p:spPr>
          <a:xfrm>
            <a:off x="548640" y="5650992"/>
            <a:ext cx="5212080" cy="457200"/>
          </a:xfrm>
          <a:prstGeom prst="rect">
            <a:avLst/>
          </a:prstGeom>
          <a:noFill/>
          <a:ln/>
        </p:spPr>
        <p:txBody>
          <a:bodyPr wrap="square" lIns="0" tIns="0" rIns="0" bIns="0" rtlCol="0" anchor="t"/>
          <a:lstStyle/>
          <a:p>
            <a:pPr algn="ctr" indent="0" marL="0">
              <a:buNone/>
            </a:pPr>
            <a:r>
              <a:rPr lang="en-US" sz="2100" b="1" dirty="0">
                <a:solidFill>
                  <a:srgbClr val="2E4A62"/>
                </a:solidFill>
                <a:latin typeface="Courier New" pitchFamily="34" charset="0"/>
                <a:ea typeface="Courier New" pitchFamily="34" charset="-122"/>
                <a:cs typeface="Courier New" pitchFamily="34" charset="-120"/>
              </a:rPr>
              <a:t>a = A + C + BD + B'D'</a:t>
            </a:r>
            <a:endParaRPr lang="en-US" sz="2100" dirty="0"/>
          </a:p>
        </p:txBody>
      </p:sp>
      <p:sp>
        <p:nvSpPr>
          <p:cNvPr id="38" name="Shape 36"/>
          <p:cNvSpPr/>
          <p:nvPr/>
        </p:nvSpPr>
        <p:spPr>
          <a:xfrm>
            <a:off x="6126480" y="1500505"/>
            <a:ext cx="146304" cy="146304"/>
          </a:xfrm>
          <a:prstGeom prst="rect">
            <a:avLst/>
          </a:prstGeom>
          <a:solidFill>
            <a:srgbClr val="0E7C86"/>
          </a:solidFill>
          <a:ln w="12700">
            <a:solidFill>
              <a:srgbClr val="0E7C86"/>
            </a:solidFill>
            <a:prstDash val="solid"/>
          </a:ln>
        </p:spPr>
      </p:sp>
      <p:sp>
        <p:nvSpPr>
          <p:cNvPr id="39" name="Text 37"/>
          <p:cNvSpPr txBox="1"/>
          <p:nvPr/>
        </p:nvSpPr>
        <p:spPr>
          <a:xfrm>
            <a:off x="6510528" y="1417320"/>
            <a:ext cx="513252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Ingressi A B C D: la cifra BCD, A è il più significativo. Il segmento a è spento solo per le cifre 1 e 4</a:t>
            </a:r>
            <a:endParaRPr lang="en-US" sz="1900" dirty="0"/>
          </a:p>
        </p:txBody>
      </p:sp>
      <p:sp>
        <p:nvSpPr>
          <p:cNvPr id="40" name="Shape 38"/>
          <p:cNvSpPr/>
          <p:nvPr/>
        </p:nvSpPr>
        <p:spPr>
          <a:xfrm>
            <a:off x="6126480" y="2629726"/>
            <a:ext cx="146304" cy="146304"/>
          </a:xfrm>
          <a:prstGeom prst="rect">
            <a:avLst/>
          </a:prstGeom>
          <a:solidFill>
            <a:srgbClr val="C7791B"/>
          </a:solidFill>
          <a:ln w="12700">
            <a:solidFill>
              <a:srgbClr val="C7791B"/>
            </a:solidFill>
            <a:prstDash val="solid"/>
          </a:ln>
        </p:spPr>
      </p:sp>
      <p:sp>
        <p:nvSpPr>
          <p:cNvPr id="41" name="Text 39"/>
          <p:cNvSpPr txBox="1"/>
          <p:nvPr/>
        </p:nvSpPr>
        <p:spPr>
          <a:xfrm>
            <a:off x="6510528" y="2546541"/>
            <a:ext cx="513252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 parole da 1010 a 1111 non si presentano mai: sei indifferenze, segnate con x</a:t>
            </a:r>
            <a:endParaRPr lang="en-US" sz="1900" dirty="0"/>
          </a:p>
        </p:txBody>
      </p:sp>
      <p:sp>
        <p:nvSpPr>
          <p:cNvPr id="42" name="Shape 40"/>
          <p:cNvSpPr/>
          <p:nvPr/>
        </p:nvSpPr>
        <p:spPr>
          <a:xfrm>
            <a:off x="6126480" y="3464560"/>
            <a:ext cx="146304" cy="146304"/>
          </a:xfrm>
          <a:prstGeom prst="rect">
            <a:avLst/>
          </a:prstGeom>
          <a:solidFill>
            <a:srgbClr val="0E7C86"/>
          </a:solidFill>
          <a:ln w="12700">
            <a:solidFill>
              <a:srgbClr val="0E7C86"/>
            </a:solidFill>
            <a:prstDash val="solid"/>
          </a:ln>
        </p:spPr>
      </p:sp>
      <p:sp>
        <p:nvSpPr>
          <p:cNvPr id="43" name="Text 41"/>
          <p:cNvSpPr txBox="1"/>
          <p:nvPr/>
        </p:nvSpPr>
        <p:spPr>
          <a:xfrm>
            <a:off x="6510528" y="3381375"/>
            <a:ext cx="5132527" cy="112115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Usando le celle x come 1 i gruppi diventano grandi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rosso: A; viola: C; verde: BD; ambra, i quattro angoli: B'D'</a:t>
            </a:r>
            <a:endParaRPr lang="en-US" sz="1900" dirty="0"/>
          </a:p>
        </p:txBody>
      </p:sp>
      <p:sp>
        <p:nvSpPr>
          <p:cNvPr id="44" name="Shape 42"/>
          <p:cNvSpPr/>
          <p:nvPr/>
        </p:nvSpPr>
        <p:spPr>
          <a:xfrm>
            <a:off x="6126480" y="4831779"/>
            <a:ext cx="146304" cy="146304"/>
          </a:xfrm>
          <a:prstGeom prst="rect">
            <a:avLst/>
          </a:prstGeom>
          <a:solidFill>
            <a:srgbClr val="C7791B"/>
          </a:solidFill>
          <a:ln w="12700">
            <a:solidFill>
              <a:srgbClr val="C7791B"/>
            </a:solidFill>
            <a:prstDash val="solid"/>
          </a:ln>
        </p:spPr>
      </p:sp>
      <p:sp>
        <p:nvSpPr>
          <p:cNvPr id="45" name="Text 43"/>
          <p:cNvSpPr txBox="1"/>
          <p:nvPr/>
        </p:nvSpPr>
        <p:spPr>
          <a:xfrm>
            <a:off x="6510528" y="4748594"/>
            <a:ext cx="513252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Senza le indifferenze i gruppi sarebbero più piccoli e l'espressione più lunga</a:t>
            </a:r>
            <a:endParaRPr lang="en-US" sz="1900" dirty="0"/>
          </a:p>
        </p:txBody>
      </p:sp>
      <p:sp>
        <p:nvSpPr>
          <p:cNvPr id="46" name="Shape 44"/>
          <p:cNvSpPr/>
          <p:nvPr/>
        </p:nvSpPr>
        <p:spPr>
          <a:xfrm>
            <a:off x="6126480" y="5666613"/>
            <a:ext cx="146304" cy="146304"/>
          </a:xfrm>
          <a:prstGeom prst="rect">
            <a:avLst/>
          </a:prstGeom>
          <a:solidFill>
            <a:srgbClr val="0E7C86"/>
          </a:solidFill>
          <a:ln w="12700">
            <a:solidFill>
              <a:srgbClr val="0E7C86"/>
            </a:solidFill>
            <a:prstDash val="solid"/>
          </a:ln>
        </p:spPr>
      </p:sp>
      <p:sp>
        <p:nvSpPr>
          <p:cNvPr id="47" name="Text 45"/>
          <p:cNvSpPr txBox="1"/>
          <p:nvPr/>
        </p:nvSpPr>
        <p:spPr>
          <a:xfrm>
            <a:off x="6510528" y="5583428"/>
            <a:ext cx="513252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Altre sei mappe danno i segmenti da b a g: un transcodificatore completo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Multiplexer e demultiplexer</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Selezionare una sorgente, selezionare una destinazione.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multiplexer</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10235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circuito combinatorio con 2^n ingressi dati, n linee di selezione e un'uscita</a:t>
            </a:r>
            <a:endParaRPr lang="en-US" sz="1800" dirty="0"/>
          </a:p>
        </p:txBody>
      </p:sp>
      <p:sp>
        <p:nvSpPr>
          <p:cNvPr id="5" name="Shape 3"/>
          <p:cNvSpPr/>
          <p:nvPr/>
        </p:nvSpPr>
        <p:spPr>
          <a:xfrm>
            <a:off x="548640" y="23065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1136"/>
            <a:ext cx="510235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Seleziona uno dei 2^n segnali di ingresso e lo trasferisce sull'unica linea di uscita</a:t>
            </a:r>
            <a:endParaRPr lang="en-US" sz="1800" dirty="0"/>
          </a:p>
        </p:txBody>
      </p:sp>
      <p:sp>
        <p:nvSpPr>
          <p:cNvPr id="7" name="Shape 5"/>
          <p:cNvSpPr/>
          <p:nvPr/>
        </p:nvSpPr>
        <p:spPr>
          <a:xfrm>
            <a:off x="548640" y="312039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44952"/>
            <a:ext cx="5102352"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Indirizzabile: un decodificatore sulle linee di selezione abilita una porta AND; un OR raccoglie il risultato. Il dato è scelto da un indirizzo, non da una linea decodificata</a:t>
            </a:r>
            <a:endParaRPr lang="en-US" sz="1800" dirty="0"/>
          </a:p>
        </p:txBody>
      </p:sp>
      <p:sp>
        <p:nvSpPr>
          <p:cNvPr id="9" name="Text 7"/>
          <p:cNvSpPr txBox="1"/>
          <p:nvPr/>
        </p:nvSpPr>
        <p:spPr>
          <a:xfrm>
            <a:off x="548640" y="4343400"/>
            <a:ext cx="5486400" cy="36576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2 ingressi:  Y = S' I0 + S I1</a:t>
            </a:r>
            <a:endParaRPr lang="en-US" sz="1600" dirty="0"/>
          </a:p>
        </p:txBody>
      </p:sp>
      <p:sp>
        <p:nvSpPr>
          <p:cNvPr id="10" name="Text 8"/>
          <p:cNvSpPr txBox="1"/>
          <p:nvPr/>
        </p:nvSpPr>
        <p:spPr>
          <a:xfrm>
            <a:off x="548640" y="4800600"/>
            <a:ext cx="5486400" cy="73152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4 ingressi:  Y = S1'S0' I0 + S1'S0 I1</a:t>
            </a:r>
            <a:endParaRPr lang="en-US" sz="1600" dirty="0"/>
          </a:p>
          <a:p>
            <a:pPr indent="0" marL="0">
              <a:buNone/>
            </a:pPr>
            <a:r>
              <a:rPr lang="en-US" sz="1600" b="1" dirty="0">
                <a:solidFill>
                  <a:srgbClr val="2E4A62"/>
                </a:solidFill>
                <a:latin typeface="Courier New" pitchFamily="34" charset="0"/>
                <a:ea typeface="Courier New" pitchFamily="34" charset="-122"/>
                <a:cs typeface="Courier New" pitchFamily="34" charset="-120"/>
              </a:rPr>
              <a:t>             + S1 S0' I2 + S1 S0 I3</a:t>
            </a:r>
            <a:endParaRPr lang="en-US" sz="1600" dirty="0"/>
          </a:p>
        </p:txBody>
      </p:sp>
      <p:sp>
        <p:nvSpPr>
          <p:cNvPr id="11" name="Text 9"/>
          <p:cNvSpPr txBox="1"/>
          <p:nvPr/>
        </p:nvSpPr>
        <p:spPr>
          <a:xfrm>
            <a:off x="548640" y="5669280"/>
            <a:ext cx="5486400" cy="457200"/>
          </a:xfrm>
          <a:prstGeom prst="rect">
            <a:avLst/>
          </a:prstGeom>
          <a:noFill/>
          <a:ln/>
        </p:spPr>
        <p:txBody>
          <a:bodyPr wrap="square" lIns="0" tIns="0" rIns="0" bIns="0" rtlCol="0" anchor="t"/>
          <a:lstStyle/>
          <a:p>
            <a:pPr indent="0" marL="0">
              <a:buNone/>
            </a:pPr>
            <a:r>
              <a:rPr lang="en-US" sz="1350" i="1" dirty="0">
                <a:solidFill>
                  <a:srgbClr val="5B6B78"/>
                </a:solidFill>
                <a:latin typeface="Calibri" pitchFamily="34" charset="0"/>
                <a:ea typeface="Calibri" pitchFamily="34" charset="-122"/>
                <a:cs typeface="Calibri" pitchFamily="34" charset="-120"/>
              </a:rPr>
              <a:t>Ogni ingresso dati è moltiplicato per un mintermine delle linee di selezione.</a:t>
            </a:r>
            <a:endParaRPr lang="en-US" sz="1350" dirty="0"/>
          </a:p>
        </p:txBody>
      </p:sp>
      <p:sp>
        <p:nvSpPr>
          <p:cNvPr id="12" name="Shape 10"/>
          <p:cNvSpPr/>
          <p:nvPr/>
        </p:nvSpPr>
        <p:spPr>
          <a:xfrm>
            <a:off x="6400800" y="1417320"/>
            <a:ext cx="5242255" cy="4754880"/>
          </a:xfrm>
          <a:prstGeom prst="roundRect">
            <a:avLst>
              <a:gd name="adj" fmla="val 1538"/>
            </a:avLst>
          </a:prstGeom>
          <a:solidFill>
            <a:srgbClr val="EEF2F4"/>
          </a:solidFill>
          <a:ln w="12700">
            <a:solidFill>
              <a:srgbClr val="EEF2F4"/>
            </a:solidFill>
            <a:prstDash val="solid"/>
          </a:ln>
        </p:spPr>
      </p:sp>
      <p:pic>
        <p:nvPicPr>
          <p:cNvPr id="14" name="Image 0" descr="preencoded.png">    </p:cNvPr>
          <p:cNvPicPr>
            <a:picLocks noChangeAspect="1"/>
          </p:cNvPicPr>
          <p:nvPr/>
        </p:nvPicPr>
        <p:blipFill>
          <a:blip r:embed="rId1"/>
          <a:stretch>
            <a:fillRect/>
          </a:stretch>
        </p:blipFill>
        <p:spPr>
          <a:xfrm>
            <a:off x="6583680" y="2347036"/>
            <a:ext cx="4876495" cy="2438248"/>
          </a:xfrm>
          <a:prstGeom prst="rect">
            <a:avLst/>
          </a:prstGeom>
        </p:spPr>
      </p:pic>
      <p:sp>
        <p:nvSpPr>
          <p:cNvPr id="15" name="Text 11"/>
          <p:cNvSpPr txBox="1"/>
          <p:nvPr/>
        </p:nvSpPr>
        <p:spPr>
          <a:xfrm>
            <a:off x="6583680" y="5486400"/>
            <a:ext cx="4876495" cy="54864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Un multiplexer a due ingressi: quando S = 0 l'uscita è I0, quando S = 1 è I1</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demultiplexer</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macchina inversa: un ingresso dati D, n linee di selezione, 2^n uscite</a:t>
            </a:r>
            <a:endParaRPr lang="en-US" sz="2300" dirty="0"/>
          </a:p>
        </p:txBody>
      </p:sp>
      <p:sp>
        <p:nvSpPr>
          <p:cNvPr id="5" name="Shape 3"/>
          <p:cNvSpPr/>
          <p:nvPr/>
        </p:nvSpPr>
        <p:spPr>
          <a:xfrm>
            <a:off x="548640" y="240372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9556"/>
            <a:ext cx="56509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Instrada l'ingresso sull'uscita scelta dalle linee di selezione; le altre uscite restano a 0</a:t>
            </a:r>
            <a:endParaRPr lang="en-US" sz="2300" dirty="0"/>
          </a:p>
        </p:txBody>
      </p:sp>
      <p:sp>
        <p:nvSpPr>
          <p:cNvPr id="7" name="Shape 5"/>
          <p:cNvSpPr/>
          <p:nvPr/>
        </p:nvSpPr>
        <p:spPr>
          <a:xfrm>
            <a:off x="548640" y="363232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18154"/>
            <a:ext cx="56509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Demultiplexer indirizzabile: i segnali di abilitazione vengono da un decodificatore sulle linee di selezione</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56509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Con D fisso a 1 un demultiplexer è esattamente un decodificatore: D fa da abilitazione</a:t>
            </a:r>
            <a:endParaRPr lang="en-US" sz="2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223760" y="1417320"/>
          <a:ext cx="4389120" cy="914400"/>
        </p:xfrm>
        <a:graphic>
          <a:graphicData uri="http://schemas.openxmlformats.org/drawingml/2006/table">
            <a:tbl>
              <a:tblPr/>
              <a:tblGrid>
                <a:gridCol w="640080"/>
                <a:gridCol w="640080"/>
                <a:gridCol w="777240"/>
                <a:gridCol w="777240"/>
                <a:gridCol w="777240"/>
                <a:gridCol w="777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2" name="Shape 9"/>
          <p:cNvSpPr/>
          <p:nvPr/>
        </p:nvSpPr>
        <p:spPr>
          <a:xfrm>
            <a:off x="7223760" y="3931920"/>
            <a:ext cx="4389120" cy="2240280"/>
          </a:xfrm>
          <a:prstGeom prst="roundRect">
            <a:avLst>
              <a:gd name="adj" fmla="val 3265"/>
            </a:avLst>
          </a:prstGeom>
          <a:solidFill>
            <a:srgbClr val="F6E7D2"/>
          </a:solidFill>
          <a:ln w="12700">
            <a:solidFill>
              <a:srgbClr val="F6E7D2"/>
            </a:solidFill>
            <a:prstDash val="solid"/>
          </a:ln>
        </p:spPr>
      </p:sp>
      <p:sp>
        <p:nvSpPr>
          <p:cNvPr id="13" name="Text 10"/>
          <p:cNvSpPr txBox="1"/>
          <p:nvPr/>
        </p:nvSpPr>
        <p:spPr>
          <a:xfrm>
            <a:off x="7315200" y="4023360"/>
            <a:ext cx="4206240" cy="914400"/>
          </a:xfrm>
          <a:prstGeom prst="rect">
            <a:avLst/>
          </a:prstGeom>
          <a:noFill/>
          <a:ln/>
        </p:spPr>
        <p:txBody>
          <a:bodyPr wrap="square" lIns="0" tIns="0" rIns="0" bIns="0" rtlCol="0" anchor="ctr"/>
          <a:lstStyle/>
          <a:p>
            <a:pPr indent="0" marL="0">
              <a:buNone/>
            </a:pPr>
            <a:r>
              <a:rPr lang="en-US" sz="1450" b="1" dirty="0">
                <a:solidFill>
                  <a:srgbClr val="1B2530"/>
                </a:solidFill>
                <a:latin typeface="Courier New" pitchFamily="34" charset="0"/>
                <a:ea typeface="Courier New" pitchFamily="34" charset="-122"/>
                <a:cs typeface="Courier New" pitchFamily="34" charset="-120"/>
              </a:rPr>
              <a:t>F0 = D S1'S0'      F1 = D S1'S0</a:t>
            </a:r>
            <a:endParaRPr lang="en-US" sz="1450" dirty="0"/>
          </a:p>
          <a:p>
            <a:pPr indent="0" marL="0">
              <a:buNone/>
            </a:pPr>
            <a:r>
              <a:rPr lang="en-US" sz="1450" b="1" dirty="0">
                <a:solidFill>
                  <a:srgbClr val="1B2530"/>
                </a:solidFill>
                <a:latin typeface="Courier New" pitchFamily="34" charset="0"/>
                <a:ea typeface="Courier New" pitchFamily="34" charset="-122"/>
                <a:cs typeface="Courier New" pitchFamily="34" charset="-120"/>
              </a:rPr>
              <a:t>F2 = D S1 S0'      F3 = D S1 S0</a:t>
            </a:r>
            <a:endParaRPr lang="en-US" sz="1450" dirty="0"/>
          </a:p>
        </p:txBody>
      </p:sp>
      <p:sp>
        <p:nvSpPr>
          <p:cNvPr id="14" name="Text 11"/>
          <p:cNvSpPr txBox="1"/>
          <p:nvPr/>
        </p:nvSpPr>
        <p:spPr>
          <a:xfrm>
            <a:off x="7315200" y="5029200"/>
            <a:ext cx="4206240" cy="10515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Un multiplexer seguito da un demultiplexer porta molti segnali su un solo filo, uno alla volta: l'idea che sta dietro ogni linea condivisa.</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Nel processore: registro o costante?</a:t>
            </a:r>
            <a:endParaRPr lang="en-US" sz="3200" dirty="0"/>
          </a:p>
        </p:txBody>
      </p:sp>
      <p:sp>
        <p:nvSpPr>
          <p:cNvPr id="3" name="Text 1"/>
          <p:cNvSpPr txBox="1"/>
          <p:nvPr/>
        </p:nvSpPr>
        <p:spPr>
          <a:xfrm>
            <a:off x="548640" y="1600200"/>
            <a:ext cx="237744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banco dei registri</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valore di rs1</a:t>
            </a:r>
            <a:endParaRPr lang="en-US" sz="1500" dirty="0"/>
          </a:p>
        </p:txBody>
      </p:sp>
      <p:sp>
        <p:nvSpPr>
          <p:cNvPr id="4" name="Text 2"/>
          <p:cNvSpPr txBox="1"/>
          <p:nvPr/>
        </p:nvSpPr>
        <p:spPr>
          <a:xfrm>
            <a:off x="548640" y="2971800"/>
            <a:ext cx="237744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banco dei registri</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valore di rs2</a:t>
            </a:r>
            <a:endParaRPr lang="en-US" sz="1500" dirty="0"/>
          </a:p>
        </p:txBody>
      </p:sp>
      <p:sp>
        <p:nvSpPr>
          <p:cNvPr id="5" name="Text 3"/>
          <p:cNvSpPr txBox="1"/>
          <p:nvPr/>
        </p:nvSpPr>
        <p:spPr>
          <a:xfrm>
            <a:off x="548640" y="4114800"/>
            <a:ext cx="2377440" cy="822960"/>
          </a:xfrm>
          <a:prstGeom prst="roundRect">
            <a:avLst>
              <a:gd name="adj" fmla="val 6667"/>
            </a:avLst>
          </a:prstGeom>
          <a:solidFill>
            <a:srgbClr val="C7791B"/>
          </a:solidFill>
          <a:ln>
            <a:solidFill>
              <a:srgbClr val="C7791B"/>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immediato dell'istruzione,</a:t>
            </a:r>
            <a:endParaRPr lang="en-US" sz="1350" dirty="0"/>
          </a:p>
          <a:p>
            <a:pPr algn="ctr" indent="0" marL="0">
              <a:buNone/>
            </a:pPr>
            <a:r>
              <a:rPr lang="en-US" sz="1350" b="1" dirty="0">
                <a:solidFill>
                  <a:srgbClr val="FFFFFF"/>
                </a:solidFill>
                <a:latin typeface="Calibri" pitchFamily="34" charset="0"/>
                <a:ea typeface="Calibri" pitchFamily="34" charset="-122"/>
                <a:cs typeface="Calibri" pitchFamily="34" charset="-120"/>
              </a:rPr>
              <a:t>con segno esteso</a:t>
            </a:r>
            <a:endParaRPr lang="en-US" sz="1350" dirty="0"/>
          </a:p>
        </p:txBody>
      </p:sp>
      <p:sp>
        <p:nvSpPr>
          <p:cNvPr id="6" name="Text 4"/>
          <p:cNvSpPr txBox="1"/>
          <p:nvPr/>
        </p:nvSpPr>
        <p:spPr>
          <a:xfrm>
            <a:off x="4206240" y="3017520"/>
            <a:ext cx="1005840" cy="1874520"/>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MUX</a:t>
            </a:r>
            <a:endParaRPr lang="en-US" sz="1700" dirty="0"/>
          </a:p>
        </p:txBody>
      </p:sp>
      <p:sp>
        <p:nvSpPr>
          <p:cNvPr id="7" name="Text 5"/>
          <p:cNvSpPr txBox="1"/>
          <p:nvPr/>
        </p:nvSpPr>
        <p:spPr>
          <a:xfrm>
            <a:off x="6400800" y="1691640"/>
            <a:ext cx="1737360" cy="2743200"/>
          </a:xfrm>
          <a:prstGeom prst="roundRect">
            <a:avLst>
              <a:gd name="adj" fmla="val 3158"/>
            </a:avLst>
          </a:prstGeom>
          <a:solidFill>
            <a:srgbClr val="6B4FA0"/>
          </a:solidFill>
          <a:ln>
            <a:solidFill>
              <a:srgbClr val="6B4FA0"/>
            </a:solidFill>
          </a:ln>
        </p:spPr>
        <p:txBody>
          <a:bodyPr wrap="square" lIns="38100" tIns="38100" rIns="38100" bIns="381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ALU</a:t>
            </a:r>
            <a:endParaRPr lang="en-US" sz="2200" dirty="0"/>
          </a:p>
        </p:txBody>
      </p:sp>
      <p:sp>
        <p:nvSpPr>
          <p:cNvPr id="8" name="Shape 6"/>
          <p:cNvSpPr/>
          <p:nvPr/>
        </p:nvSpPr>
        <p:spPr>
          <a:xfrm>
            <a:off x="2953512" y="2011680"/>
            <a:ext cx="3419856" cy="0"/>
          </a:xfrm>
          <a:prstGeom prst="line">
            <a:avLst/>
          </a:prstGeom>
          <a:noFill/>
          <a:ln w="28575">
            <a:solidFill>
              <a:srgbClr val="5B6B78"/>
            </a:solidFill>
            <a:prstDash val="solid"/>
            <a:tailEnd type="triangle"/>
          </a:ln>
        </p:spPr>
      </p:sp>
      <p:sp>
        <p:nvSpPr>
          <p:cNvPr id="9" name="Text 7"/>
          <p:cNvSpPr txBox="1"/>
          <p:nvPr/>
        </p:nvSpPr>
        <p:spPr>
          <a:xfrm>
            <a:off x="5852160" y="1673352"/>
            <a:ext cx="45720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A</a:t>
            </a:r>
            <a:endParaRPr lang="en-US" sz="1500" dirty="0"/>
          </a:p>
        </p:txBody>
      </p:sp>
      <p:sp>
        <p:nvSpPr>
          <p:cNvPr id="10" name="Shape 8"/>
          <p:cNvSpPr/>
          <p:nvPr/>
        </p:nvSpPr>
        <p:spPr>
          <a:xfrm>
            <a:off x="2953512" y="3383280"/>
            <a:ext cx="1225296" cy="0"/>
          </a:xfrm>
          <a:prstGeom prst="line">
            <a:avLst/>
          </a:prstGeom>
          <a:noFill/>
          <a:ln w="28575">
            <a:solidFill>
              <a:srgbClr val="5B6B78"/>
            </a:solidFill>
            <a:prstDash val="solid"/>
            <a:tailEnd type="triangle"/>
          </a:ln>
        </p:spPr>
      </p:sp>
      <p:sp>
        <p:nvSpPr>
          <p:cNvPr id="11" name="Text 9"/>
          <p:cNvSpPr txBox="1"/>
          <p:nvPr/>
        </p:nvSpPr>
        <p:spPr>
          <a:xfrm>
            <a:off x="3794760" y="3044952"/>
            <a:ext cx="365760" cy="274320"/>
          </a:xfrm>
          <a:prstGeom prst="rect">
            <a:avLst/>
          </a:prstGeom>
          <a:noFill/>
          <a:ln/>
        </p:spPr>
        <p:txBody>
          <a:bodyPr wrap="square" lIns="0" tIns="0" rIns="0" bIns="0" rtlCol="0" anchor="t"/>
          <a:lstStyle/>
          <a:p>
            <a:pPr indent="0" marL="0">
              <a:buNone/>
            </a:pPr>
            <a:r>
              <a:rPr lang="en-US" sz="1400" b="1" dirty="0">
                <a:solidFill>
                  <a:srgbClr val="0E7C86"/>
                </a:solidFill>
                <a:latin typeface="Courier New" pitchFamily="34" charset="0"/>
                <a:ea typeface="Courier New" pitchFamily="34" charset="-122"/>
                <a:cs typeface="Courier New" pitchFamily="34" charset="-120"/>
              </a:rPr>
              <a:t>0</a:t>
            </a:r>
            <a:endParaRPr lang="en-US" sz="1400" dirty="0"/>
          </a:p>
        </p:txBody>
      </p:sp>
      <p:sp>
        <p:nvSpPr>
          <p:cNvPr id="12" name="Shape 10"/>
          <p:cNvSpPr/>
          <p:nvPr/>
        </p:nvSpPr>
        <p:spPr>
          <a:xfrm>
            <a:off x="2953512" y="4526280"/>
            <a:ext cx="1225296" cy="0"/>
          </a:xfrm>
          <a:prstGeom prst="line">
            <a:avLst/>
          </a:prstGeom>
          <a:noFill/>
          <a:ln w="28575">
            <a:solidFill>
              <a:srgbClr val="5B6B78"/>
            </a:solidFill>
            <a:prstDash val="solid"/>
            <a:tailEnd type="triangle"/>
          </a:ln>
        </p:spPr>
      </p:sp>
      <p:sp>
        <p:nvSpPr>
          <p:cNvPr id="13" name="Text 11"/>
          <p:cNvSpPr txBox="1"/>
          <p:nvPr/>
        </p:nvSpPr>
        <p:spPr>
          <a:xfrm>
            <a:off x="3794760" y="4187952"/>
            <a:ext cx="365760" cy="274320"/>
          </a:xfrm>
          <a:prstGeom prst="rect">
            <a:avLst/>
          </a:prstGeom>
          <a:noFill/>
          <a:ln/>
        </p:spPr>
        <p:txBody>
          <a:bodyPr wrap="square" lIns="0" tIns="0" rIns="0" bIns="0" rtlCol="0" anchor="t"/>
          <a:lstStyle/>
          <a:p>
            <a:pPr indent="0" marL="0">
              <a:buNone/>
            </a:pPr>
            <a:r>
              <a:rPr lang="en-US" sz="1400" b="1" dirty="0">
                <a:solidFill>
                  <a:srgbClr val="0E7C86"/>
                </a:solidFill>
                <a:latin typeface="Courier New" pitchFamily="34" charset="0"/>
                <a:ea typeface="Courier New" pitchFamily="34" charset="-122"/>
                <a:cs typeface="Courier New" pitchFamily="34" charset="-120"/>
              </a:rPr>
              <a:t>1</a:t>
            </a:r>
            <a:endParaRPr lang="en-US" sz="1400" dirty="0"/>
          </a:p>
        </p:txBody>
      </p:sp>
      <p:sp>
        <p:nvSpPr>
          <p:cNvPr id="14" name="Shape 12"/>
          <p:cNvSpPr/>
          <p:nvPr/>
        </p:nvSpPr>
        <p:spPr>
          <a:xfrm>
            <a:off x="5239512" y="3931920"/>
            <a:ext cx="1133856" cy="0"/>
          </a:xfrm>
          <a:prstGeom prst="line">
            <a:avLst/>
          </a:prstGeom>
          <a:noFill/>
          <a:ln w="28575">
            <a:solidFill>
              <a:srgbClr val="5B6B78"/>
            </a:solidFill>
            <a:prstDash val="solid"/>
            <a:tailEnd type="triangle"/>
          </a:ln>
        </p:spPr>
      </p:sp>
      <p:sp>
        <p:nvSpPr>
          <p:cNvPr id="15" name="Text 13"/>
          <p:cNvSpPr txBox="1"/>
          <p:nvPr/>
        </p:nvSpPr>
        <p:spPr>
          <a:xfrm>
            <a:off x="5852160" y="3593592"/>
            <a:ext cx="45720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B</a:t>
            </a:r>
            <a:endParaRPr lang="en-US" sz="1500" dirty="0"/>
          </a:p>
        </p:txBody>
      </p:sp>
      <p:sp>
        <p:nvSpPr>
          <p:cNvPr id="16" name="Shape 14"/>
          <p:cNvSpPr/>
          <p:nvPr/>
        </p:nvSpPr>
        <p:spPr>
          <a:xfrm flipV="1">
            <a:off x="4709160" y="4919472"/>
            <a:ext cx="0" cy="612648"/>
          </a:xfrm>
          <a:prstGeom prst="line">
            <a:avLst/>
          </a:prstGeom>
          <a:noFill/>
          <a:ln w="28575">
            <a:solidFill>
              <a:srgbClr val="B23A48"/>
            </a:solidFill>
            <a:prstDash val="solid"/>
            <a:tailEnd type="triangle"/>
          </a:ln>
        </p:spPr>
      </p:sp>
      <p:sp>
        <p:nvSpPr>
          <p:cNvPr id="17" name="Text 15"/>
          <p:cNvSpPr txBox="1"/>
          <p:nvPr/>
        </p:nvSpPr>
        <p:spPr>
          <a:xfrm>
            <a:off x="3017520" y="5550408"/>
            <a:ext cx="347472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selezione: 0 per add, 1 per addi</a:t>
            </a:r>
            <a:endParaRPr lang="en-US" sz="1350" dirty="0"/>
          </a:p>
        </p:txBody>
      </p:sp>
      <p:sp>
        <p:nvSpPr>
          <p:cNvPr id="18" name="Shape 16"/>
          <p:cNvSpPr/>
          <p:nvPr/>
        </p:nvSpPr>
        <p:spPr>
          <a:xfrm>
            <a:off x="8165592" y="3063240"/>
            <a:ext cx="704088" cy="0"/>
          </a:xfrm>
          <a:prstGeom prst="line">
            <a:avLst/>
          </a:prstGeom>
          <a:noFill/>
          <a:ln w="28575">
            <a:solidFill>
              <a:srgbClr val="5B6B78"/>
            </a:solidFill>
            <a:prstDash val="solid"/>
            <a:tailEnd type="triangle"/>
          </a:ln>
        </p:spPr>
      </p:sp>
      <p:sp>
        <p:nvSpPr>
          <p:cNvPr id="19" name="Text 17"/>
          <p:cNvSpPr txBox="1"/>
          <p:nvPr/>
        </p:nvSpPr>
        <p:spPr>
          <a:xfrm>
            <a:off x="8229600" y="2697480"/>
            <a:ext cx="731520" cy="274320"/>
          </a:xfrm>
          <a:prstGeom prst="rect">
            <a:avLst/>
          </a:prstGeom>
          <a:noFill/>
          <a:ln/>
        </p:spPr>
        <p:txBody>
          <a:bodyPr wrap="square" lIns="0" tIns="0" rIns="0" bIns="0" rtlCol="0" anchor="t"/>
          <a:lstStyle/>
          <a:p>
            <a:pPr indent="0" marL="0">
              <a:buNone/>
            </a:pPr>
            <a:r>
              <a:rPr lang="en-US" sz="1300" i="1" dirty="0">
                <a:solidFill>
                  <a:srgbClr val="5B6B78"/>
                </a:solidFill>
                <a:latin typeface="Calibri" pitchFamily="34" charset="0"/>
                <a:ea typeface="Calibri" pitchFamily="34" charset="-122"/>
                <a:cs typeface="Calibri" pitchFamily="34" charset="-120"/>
              </a:rPr>
              <a:t>risultato</a:t>
            </a:r>
            <a:endParaRPr lang="en-US" sz="1300" dirty="0"/>
          </a:p>
        </p:txBody>
      </p:sp>
      <p:sp>
        <p:nvSpPr>
          <p:cNvPr id="20" name="Shape 18"/>
          <p:cNvSpPr/>
          <p:nvPr/>
        </p:nvSpPr>
        <p:spPr>
          <a:xfrm>
            <a:off x="9052560" y="1469517"/>
            <a:ext cx="146304" cy="146304"/>
          </a:xfrm>
          <a:prstGeom prst="rect">
            <a:avLst/>
          </a:prstGeom>
          <a:solidFill>
            <a:srgbClr val="0E7C86"/>
          </a:solidFill>
          <a:ln w="12700">
            <a:solidFill>
              <a:srgbClr val="0E7C86"/>
            </a:solidFill>
            <a:prstDash val="solid"/>
          </a:ln>
        </p:spPr>
      </p:sp>
      <p:sp>
        <p:nvSpPr>
          <p:cNvPr id="21" name="Text 19"/>
          <p:cNvSpPr txBox="1"/>
          <p:nvPr/>
        </p:nvSpPr>
        <p:spPr>
          <a:xfrm>
            <a:off x="9436608" y="1417320"/>
            <a:ext cx="2206447" cy="69723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add t2, t0, t1 e addi t2, t0, 5 usano lo stesso addizionatore</a:t>
            </a:r>
            <a:endParaRPr lang="en-US" sz="1500" dirty="0"/>
          </a:p>
        </p:txBody>
      </p:sp>
      <p:sp>
        <p:nvSpPr>
          <p:cNvPr id="22" name="Shape 20"/>
          <p:cNvSpPr/>
          <p:nvPr/>
        </p:nvSpPr>
        <p:spPr>
          <a:xfrm>
            <a:off x="9052560" y="2357247"/>
            <a:ext cx="146304" cy="146304"/>
          </a:xfrm>
          <a:prstGeom prst="rect">
            <a:avLst/>
          </a:prstGeom>
          <a:solidFill>
            <a:srgbClr val="C7791B"/>
          </a:solidFill>
          <a:ln w="12700">
            <a:solidFill>
              <a:srgbClr val="C7791B"/>
            </a:solidFill>
            <a:prstDash val="solid"/>
          </a:ln>
        </p:spPr>
      </p:sp>
      <p:sp>
        <p:nvSpPr>
          <p:cNvPr id="23" name="Text 21"/>
          <p:cNvSpPr txBox="1"/>
          <p:nvPr/>
        </p:nvSpPr>
        <p:spPr>
          <a:xfrm>
            <a:off x="9436608" y="2305050"/>
            <a:ext cx="2206447" cy="92964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Un multiplexer davanti alla ALU sceglie il secondo operando: un registro o la costante</a:t>
            </a:r>
            <a:endParaRPr lang="en-US" sz="1500" dirty="0"/>
          </a:p>
        </p:txBody>
      </p:sp>
      <p:sp>
        <p:nvSpPr>
          <p:cNvPr id="24" name="Shape 22"/>
          <p:cNvSpPr/>
          <p:nvPr/>
        </p:nvSpPr>
        <p:spPr>
          <a:xfrm>
            <a:off x="9052560" y="3477387"/>
            <a:ext cx="146304" cy="146304"/>
          </a:xfrm>
          <a:prstGeom prst="rect">
            <a:avLst/>
          </a:prstGeom>
          <a:solidFill>
            <a:srgbClr val="0E7C86"/>
          </a:solidFill>
          <a:ln w="12700">
            <a:solidFill>
              <a:srgbClr val="0E7C86"/>
            </a:solidFill>
            <a:prstDash val="solid"/>
          </a:ln>
        </p:spPr>
      </p:sp>
      <p:sp>
        <p:nvSpPr>
          <p:cNvPr id="25" name="Text 23"/>
          <p:cNvSpPr txBox="1"/>
          <p:nvPr/>
        </p:nvSpPr>
        <p:spPr>
          <a:xfrm>
            <a:off x="9436608" y="3425190"/>
            <a:ext cx="2206447" cy="116205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È un multiplexer su parole: trentadue multiplexer a un bit con una linea di selezione comune</a:t>
            </a:r>
            <a:endParaRPr lang="en-US" sz="1500" dirty="0"/>
          </a:p>
        </p:txBody>
      </p:sp>
      <p:sp>
        <p:nvSpPr>
          <p:cNvPr id="26" name="Shape 24"/>
          <p:cNvSpPr/>
          <p:nvPr/>
        </p:nvSpPr>
        <p:spPr>
          <a:xfrm>
            <a:off x="9052560" y="4829937"/>
            <a:ext cx="146304" cy="146304"/>
          </a:xfrm>
          <a:prstGeom prst="rect">
            <a:avLst/>
          </a:prstGeom>
          <a:solidFill>
            <a:srgbClr val="C7791B"/>
          </a:solidFill>
          <a:ln w="12700">
            <a:solidFill>
              <a:srgbClr val="C7791B"/>
            </a:solidFill>
            <a:prstDash val="solid"/>
          </a:ln>
        </p:spPr>
      </p:sp>
      <p:sp>
        <p:nvSpPr>
          <p:cNvPr id="27" name="Text 25"/>
          <p:cNvSpPr txBox="1"/>
          <p:nvPr/>
        </p:nvSpPr>
        <p:spPr>
          <a:xfrm>
            <a:off x="9436608" y="4777740"/>
            <a:ext cx="2206447" cy="139446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Anche leggere un registro è un multiplexer: 32 parole in ingresso, 5 bit di selezione (rs1), una parola in uscita</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06</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Confrontare e controllare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Uguali o diversi? Arrivato integro o alterato?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comparatore</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dati A e B in ingresso, un'uscita booleana EQ che vale 1 quando A = B</a:t>
            </a:r>
            <a:endParaRPr lang="en-US" sz="2400" dirty="0"/>
          </a:p>
        </p:txBody>
      </p:sp>
      <p:sp>
        <p:nvSpPr>
          <p:cNvPr id="5" name="Shape 3"/>
          <p:cNvSpPr/>
          <p:nvPr/>
        </p:nvSpPr>
        <p:spPr>
          <a:xfrm>
            <a:off x="548640" y="24338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1908"/>
            <a:ext cx="56509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bit sono uguali quando il loro XNOR vale 1</a:t>
            </a:r>
            <a:endParaRPr lang="en-US" sz="2400" dirty="0"/>
          </a:p>
        </p:txBody>
      </p:sp>
      <p:sp>
        <p:nvSpPr>
          <p:cNvPr id="7" name="Shape 5"/>
          <p:cNvSpPr/>
          <p:nvPr/>
        </p:nvSpPr>
        <p:spPr>
          <a:xfrm>
            <a:off x="548640" y="332841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6496"/>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parole sono uguali quando lo sono tutte le loro coppie di bit: un AND di XNOR</a:t>
            </a:r>
            <a:endParaRPr lang="en-US" sz="2400" dirty="0"/>
          </a:p>
        </p:txBody>
      </p:sp>
      <p:sp>
        <p:nvSpPr>
          <p:cNvPr id="9" name="Shape 7"/>
          <p:cNvSpPr/>
          <p:nvPr/>
        </p:nvSpPr>
        <p:spPr>
          <a:xfrm>
            <a:off x="548640" y="459486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940"/>
            <a:ext cx="565099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Nel processore: beq e bne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i due registri sono confrontati bit a bit, e il salto avviene o no secondo EQ</a:t>
            </a:r>
            <a:endParaRPr lang="en-US" sz="2400" dirty="0"/>
          </a:p>
        </p:txBody>
      </p:sp>
      <p:sp>
        <p:nvSpPr>
          <p:cNvPr id="11" name="Text 9"/>
          <p:cNvSpPr txBox="1"/>
          <p:nvPr/>
        </p:nvSpPr>
        <p:spPr>
          <a:xfrm>
            <a:off x="548640" y="5623560"/>
            <a:ext cx="6035040" cy="457200"/>
          </a:xfrm>
          <a:prstGeom prst="rect">
            <a:avLst/>
          </a:prstGeom>
          <a:noFill/>
          <a:ln/>
        </p:spPr>
        <p:txBody>
          <a:bodyPr wrap="square" lIns="0" tIns="0" rIns="0" bIns="0" rtlCol="0" anchor="ctr"/>
          <a:lstStyle/>
          <a:p>
            <a:pPr indent="0" marL="0">
              <a:buNone/>
            </a:pPr>
            <a:r>
              <a:rPr lang="en-US" sz="1650" b="1" dirty="0">
                <a:solidFill>
                  <a:srgbClr val="2E4A62"/>
                </a:solidFill>
                <a:latin typeface="Courier New" pitchFamily="34" charset="0"/>
                <a:ea typeface="Courier New" pitchFamily="34" charset="-122"/>
                <a:cs typeface="Courier New" pitchFamily="34" charset="-120"/>
              </a:rPr>
              <a:t>EQ = (A0 xnor B0) . (A1 xnor B1) . ...</a:t>
            </a:r>
            <a:endParaRPr lang="en-US" sz="1650" dirty="0"/>
          </a:p>
        </p:txBody>
      </p:sp>
      <p:sp>
        <p:nvSpPr>
          <p:cNvPr id="12" name="Shape 10"/>
          <p:cNvSpPr/>
          <p:nvPr/>
        </p:nvSpPr>
        <p:spPr>
          <a:xfrm>
            <a:off x="6949440" y="1417320"/>
            <a:ext cx="4693615" cy="4754880"/>
          </a:xfrm>
          <a:prstGeom prst="roundRect">
            <a:avLst>
              <a:gd name="adj" fmla="val 1559"/>
            </a:avLst>
          </a:prstGeom>
          <a:solidFill>
            <a:srgbClr val="EEF2F4"/>
          </a:solidFill>
          <a:ln w="12700">
            <a:solidFill>
              <a:srgbClr val="EEF2F4"/>
            </a:solidFill>
            <a:prstDash val="solid"/>
          </a:ln>
        </p:spPr>
      </p:sp>
      <p:pic>
        <p:nvPicPr>
          <p:cNvPr id="14" name="Image 0" descr="preencoded.png">    </p:cNvPr>
          <p:cNvPicPr>
            <a:picLocks noChangeAspect="1"/>
          </p:cNvPicPr>
          <p:nvPr/>
        </p:nvPicPr>
        <p:blipFill>
          <a:blip r:embed="rId1"/>
          <a:stretch>
            <a:fillRect/>
          </a:stretch>
        </p:blipFill>
        <p:spPr>
          <a:xfrm>
            <a:off x="7132320" y="2618778"/>
            <a:ext cx="4327855" cy="1894765"/>
          </a:xfrm>
          <a:prstGeom prst="rect">
            <a:avLst/>
          </a:prstGeom>
        </p:spPr>
      </p:pic>
      <p:sp>
        <p:nvSpPr>
          <p:cNvPr id="15" name="Text 11"/>
          <p:cNvSpPr txBox="1"/>
          <p:nvPr/>
        </p:nvSpPr>
        <p:spPr>
          <a:xfrm>
            <a:off x="7132320" y="5532120"/>
            <a:ext cx="4327855" cy="45720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Un comparatore per parole di due bit</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Parità</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Quando i dati viaggiano da una sorgente a una destinazione, i codici ridondanti permettono di controllare gli errori</a:t>
            </a:r>
            <a:endParaRPr lang="en-US" sz="1900" dirty="0"/>
          </a:p>
        </p:txBody>
      </p:sp>
      <p:sp>
        <p:nvSpPr>
          <p:cNvPr id="5" name="Shape 3"/>
          <p:cNvSpPr/>
          <p:nvPr/>
        </p:nvSpPr>
        <p:spPr>
          <a:xfrm>
            <a:off x="548640" y="255308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69896"/>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controllo più semplice è un singolo bit di parità: le parole lecite hanno, per esempio, un numero pari di bit a 1</a:t>
            </a:r>
            <a:endParaRPr lang="en-US" sz="1900" dirty="0"/>
          </a:p>
        </p:txBody>
      </p:sp>
      <p:sp>
        <p:nvSpPr>
          <p:cNvPr id="7" name="Shape 5"/>
          <p:cNvSpPr/>
          <p:nvPr/>
        </p:nvSpPr>
        <p:spPr>
          <a:xfrm>
            <a:off x="548640" y="36056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22472"/>
            <a:ext cx="6565392" cy="112115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 rete di parità calcola la parità degli n bit al suo ingresso: una catena di XOR</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 = x0 xor x1 xor ... xor x(n-1) vale 1 quando il numero di 1 è dispari</a:t>
            </a:r>
            <a:endParaRPr lang="en-US" sz="1900" dirty="0"/>
          </a:p>
        </p:txBody>
      </p:sp>
      <p:sp>
        <p:nvSpPr>
          <p:cNvPr id="9" name="Shape 7"/>
          <p:cNvSpPr/>
          <p:nvPr/>
        </p:nvSpPr>
        <p:spPr>
          <a:xfrm>
            <a:off x="548640" y="489623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13046"/>
            <a:ext cx="6565392" cy="135915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Serve due volte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per calcolare il bit da aggiungere a un codice non ridondante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per verificare all'arrivo la parità complessiva del codice ridondante</a:t>
            </a:r>
            <a:endParaRPr lang="en-US" sz="19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xor</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parità di una parola è lo XOR di tutti i suoi bit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Trasmissione con controllo di parità</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Sorgente</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il codice non ridondante C</a:t>
            </a:r>
            <a:endParaRPr lang="en-US" sz="15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CALC</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una rete di parità calcola il bit di parità, che viene accodato a C</a:t>
            </a:r>
            <a:endParaRPr lang="en-US" sz="15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Canale</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il codice ridondante viaggia, e può essere alterato</a:t>
            </a:r>
            <a:endParaRPr lang="en-US" sz="15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una rete di parità verifica la parità e alza un segnale di errore</a:t>
            </a:r>
            <a:endParaRPr lang="en-US" sz="15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Destinazione</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il codice C', probabilmente uguale a C se non è stato segnalato alcun errore</a:t>
            </a:r>
            <a:endParaRPr lang="en-US" sz="15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Un solo bit di parità rileva un numero dispari qualsiasi di bit alterati. Non sa dire quale bit è sbagliato, quindi non può correggere, e gli sfugge un numero pari di errori: codici più forti aggiungono altri bit di controllo.</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rete di parità in sette istruzioni</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a0 = one byte        result: a0 = 1 if the number of 1 bits is odd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srli t0, a0, 4</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xor  a0, a0, t0      </a:t>
            </a:r>
            <a:pPr indent="0" marL="0">
              <a:buNone/>
            </a:pPr>
            <a:r>
              <a:rPr lang="en-US" sz="1300" dirty="0">
                <a:solidFill>
                  <a:srgbClr val="8FB3A0"/>
                </a:solidFill>
                <a:latin typeface="Courier New" pitchFamily="34" charset="0"/>
                <a:ea typeface="Courier New" pitchFamily="34" charset="-122"/>
                <a:cs typeface="Courier New" pitchFamily="34" charset="-120"/>
              </a:rPr>
              <a:t># fold eight bits onto four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srli t0, a0, 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xor  a0, a0, t0      </a:t>
            </a:r>
            <a:pPr indent="0" marL="0">
              <a:buNone/>
            </a:pPr>
            <a:r>
              <a:rPr lang="en-US" sz="1300" dirty="0">
                <a:solidFill>
                  <a:srgbClr val="8FB3A0"/>
                </a:solidFill>
                <a:latin typeface="Courier New" pitchFamily="34" charset="0"/>
                <a:ea typeface="Courier New" pitchFamily="34" charset="-122"/>
                <a:cs typeface="Courier New" pitchFamily="34" charset="-120"/>
              </a:rPr>
              <a:t># fold four bits onto two</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srli t0, a0,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xor  a0, a0, t0      </a:t>
            </a:r>
            <a:pPr indent="0" marL="0">
              <a:buNone/>
            </a:pPr>
            <a:r>
              <a:rPr lang="en-US" sz="1300" dirty="0">
                <a:solidFill>
                  <a:srgbClr val="8FB3A0"/>
                </a:solidFill>
                <a:latin typeface="Courier New" pitchFamily="34" charset="0"/>
                <a:ea typeface="Courier New" pitchFamily="34" charset="-122"/>
                <a:cs typeface="Courier New" pitchFamily="34" charset="-120"/>
              </a:rPr>
              <a:t># fold two bits onto 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andi a0, a0, 1       </a:t>
            </a:r>
            <a:pPr indent="0" marL="0">
              <a:buNone/>
            </a:pPr>
            <a:r>
              <a:rPr lang="en-US" sz="1300" dirty="0">
                <a:solidFill>
                  <a:srgbClr val="8FB3A0"/>
                </a:solidFill>
                <a:latin typeface="Courier New" pitchFamily="34" charset="0"/>
                <a:ea typeface="Courier New" pitchFamily="34" charset="-122"/>
                <a:cs typeface="Courier New" pitchFamily="34" charset="-120"/>
              </a:rPr>
              <a:t># keep the parity bit</a:t>
            </a:r>
            <a:endParaRPr lang="en-US" sz="1300" dirty="0"/>
          </a:p>
        </p:txBody>
      </p:sp>
      <p:sp>
        <p:nvSpPr>
          <p:cNvPr id="5" name="Shape 3"/>
          <p:cNvSpPr/>
          <p:nvPr/>
        </p:nvSpPr>
        <p:spPr>
          <a:xfrm>
            <a:off x="8229600" y="1417320"/>
            <a:ext cx="341345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Ogni xor combina la metà alta dei bit con la metà bassa</a:t>
            </a:r>
            <a:endParaRPr lang="en-US" sz="1700" dirty="0"/>
          </a:p>
        </p:txBody>
      </p:sp>
      <p:sp>
        <p:nvSpPr>
          <p:cNvPr id="8" name="Shape 6"/>
          <p:cNvSpPr/>
          <p:nvPr/>
        </p:nvSpPr>
        <p:spPr>
          <a:xfrm>
            <a:off x="8229600" y="3069336"/>
            <a:ext cx="341345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839419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3206496"/>
            <a:ext cx="254477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Tre livelli per otto bit: la versione software di un albero di porte XOR</a:t>
            </a:r>
            <a:endParaRPr lang="en-US" sz="1700" dirty="0"/>
          </a:p>
        </p:txBody>
      </p:sp>
      <p:sp>
        <p:nvSpPr>
          <p:cNvPr id="11" name="Shape 9"/>
          <p:cNvSpPr/>
          <p:nvPr/>
        </p:nvSpPr>
        <p:spPr>
          <a:xfrm>
            <a:off x="8229600" y="4721352"/>
            <a:ext cx="341345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839419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858512"/>
            <a:ext cx="254477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Lo stesso valore accodato al byte ne rende pari la parità totale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07</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L'unità aritmetico-logica</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Tutti i blocchi di questa lezione, al lavoro insieme.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ALU è un insieme di macchine e un multiplexer</a:t>
            </a:r>
            <a:endParaRPr lang="en-US" sz="3200" dirty="0"/>
          </a:p>
        </p:txBody>
      </p:sp>
      <p:sp>
        <p:nvSpPr>
          <p:cNvPr id="3" name="Shape 1"/>
          <p:cNvSpPr/>
          <p:nvPr/>
        </p:nvSpPr>
        <p:spPr>
          <a:xfrm>
            <a:off x="1828800" y="1554480"/>
            <a:ext cx="0" cy="2871216"/>
          </a:xfrm>
          <a:prstGeom prst="line">
            <a:avLst/>
          </a:prstGeom>
          <a:noFill/>
          <a:ln w="38100">
            <a:solidFill>
              <a:srgbClr val="0E7C86"/>
            </a:solidFill>
            <a:prstDash val="solid"/>
          </a:ln>
        </p:spPr>
      </p:sp>
      <p:sp>
        <p:nvSpPr>
          <p:cNvPr id="4" name="Shape 2"/>
          <p:cNvSpPr/>
          <p:nvPr/>
        </p:nvSpPr>
        <p:spPr>
          <a:xfrm>
            <a:off x="2377440" y="1554480"/>
            <a:ext cx="0" cy="3054096"/>
          </a:xfrm>
          <a:prstGeom prst="line">
            <a:avLst/>
          </a:prstGeom>
          <a:noFill/>
          <a:ln w="38100">
            <a:solidFill>
              <a:srgbClr val="C7791B"/>
            </a:solidFill>
            <a:prstDash val="solid"/>
          </a:ln>
        </p:spPr>
      </p:sp>
      <p:sp>
        <p:nvSpPr>
          <p:cNvPr id="5" name="Text 3"/>
          <p:cNvSpPr txBox="1"/>
          <p:nvPr/>
        </p:nvSpPr>
        <p:spPr>
          <a:xfrm>
            <a:off x="1097280" y="1463040"/>
            <a:ext cx="640080" cy="365760"/>
          </a:xfrm>
          <a:prstGeom prst="rect">
            <a:avLst/>
          </a:prstGeom>
          <a:noFill/>
          <a:ln/>
        </p:spPr>
        <p:txBody>
          <a:bodyPr wrap="square" lIns="0" tIns="0" rIns="0" bIns="0" rtlCol="0" anchor="t"/>
          <a:lstStyle/>
          <a:p>
            <a:pPr algn="r" indent="0" marL="0">
              <a:buNone/>
            </a:pPr>
            <a:r>
              <a:rPr lang="en-US" sz="1800" b="1" dirty="0">
                <a:solidFill>
                  <a:srgbClr val="0E7C86"/>
                </a:solidFill>
                <a:latin typeface="Courier New" pitchFamily="34" charset="0"/>
                <a:ea typeface="Courier New" pitchFamily="34" charset="-122"/>
                <a:cs typeface="Courier New" pitchFamily="34" charset="-120"/>
              </a:rPr>
              <a:t>A</a:t>
            </a:r>
            <a:endParaRPr lang="en-US" sz="1800" dirty="0"/>
          </a:p>
        </p:txBody>
      </p:sp>
      <p:sp>
        <p:nvSpPr>
          <p:cNvPr id="6" name="Text 4"/>
          <p:cNvSpPr txBox="1"/>
          <p:nvPr/>
        </p:nvSpPr>
        <p:spPr>
          <a:xfrm>
            <a:off x="2468880" y="1170432"/>
            <a:ext cx="365760" cy="27432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B</a:t>
            </a:r>
            <a:endParaRPr lang="en-US" sz="1800" dirty="0"/>
          </a:p>
        </p:txBody>
      </p:sp>
      <p:sp>
        <p:nvSpPr>
          <p:cNvPr id="7" name="Text 5"/>
          <p:cNvSpPr txBox="1"/>
          <p:nvPr/>
        </p:nvSpPr>
        <p:spPr>
          <a:xfrm>
            <a:off x="548640" y="1920240"/>
            <a:ext cx="1097280" cy="54864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32 bit</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ciascuno</a:t>
            </a:r>
            <a:endParaRPr lang="en-US" sz="1250" dirty="0"/>
          </a:p>
        </p:txBody>
      </p:sp>
      <p:sp>
        <p:nvSpPr>
          <p:cNvPr id="8" name="Text 6"/>
          <p:cNvSpPr txBox="1"/>
          <p:nvPr/>
        </p:nvSpPr>
        <p:spPr>
          <a:xfrm>
            <a:off x="3017520" y="1463040"/>
            <a:ext cx="2926080" cy="548640"/>
          </a:xfrm>
          <a:prstGeom prst="roundRect">
            <a:avLst>
              <a:gd name="adj" fmla="val 10000"/>
            </a:avLst>
          </a:prstGeom>
          <a:solidFill>
            <a:srgbClr val="6B4FA0"/>
          </a:solidFill>
          <a:ln>
            <a:solidFill>
              <a:srgbClr val="6B4FA0"/>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addizionatore / sottrattore</a:t>
            </a:r>
            <a:endParaRPr lang="en-US" sz="1450" dirty="0"/>
          </a:p>
        </p:txBody>
      </p:sp>
      <p:sp>
        <p:nvSpPr>
          <p:cNvPr id="9" name="Shape 7"/>
          <p:cNvSpPr/>
          <p:nvPr/>
        </p:nvSpPr>
        <p:spPr>
          <a:xfrm>
            <a:off x="1828800" y="1645920"/>
            <a:ext cx="1161288" cy="0"/>
          </a:xfrm>
          <a:prstGeom prst="line">
            <a:avLst/>
          </a:prstGeom>
          <a:noFill/>
          <a:ln w="22225">
            <a:solidFill>
              <a:srgbClr val="0E7C86"/>
            </a:solidFill>
            <a:prstDash val="solid"/>
            <a:tailEnd type="triangle"/>
          </a:ln>
        </p:spPr>
      </p:sp>
      <p:sp>
        <p:nvSpPr>
          <p:cNvPr id="10" name="Shape 8"/>
          <p:cNvSpPr/>
          <p:nvPr/>
        </p:nvSpPr>
        <p:spPr>
          <a:xfrm>
            <a:off x="2377440" y="1847088"/>
            <a:ext cx="612648" cy="0"/>
          </a:xfrm>
          <a:prstGeom prst="line">
            <a:avLst/>
          </a:prstGeom>
          <a:noFill/>
          <a:ln w="22225">
            <a:solidFill>
              <a:srgbClr val="C7791B"/>
            </a:solidFill>
            <a:prstDash val="solid"/>
            <a:tailEnd type="triangle"/>
          </a:ln>
        </p:spPr>
      </p:sp>
      <p:sp>
        <p:nvSpPr>
          <p:cNvPr id="11" name="Shape 9"/>
          <p:cNvSpPr/>
          <p:nvPr/>
        </p:nvSpPr>
        <p:spPr>
          <a:xfrm>
            <a:off x="5971032" y="1737360"/>
            <a:ext cx="1042416" cy="0"/>
          </a:xfrm>
          <a:prstGeom prst="line">
            <a:avLst/>
          </a:prstGeom>
          <a:noFill/>
          <a:ln w="22225">
            <a:solidFill>
              <a:srgbClr val="5B6B78"/>
            </a:solidFill>
            <a:prstDash val="solid"/>
            <a:tailEnd type="triangle"/>
          </a:ln>
        </p:spPr>
      </p:sp>
      <p:sp>
        <p:nvSpPr>
          <p:cNvPr id="12" name="Text 10"/>
          <p:cNvSpPr txBox="1"/>
          <p:nvPr/>
        </p:nvSpPr>
        <p:spPr>
          <a:xfrm>
            <a:off x="3017520" y="2157984"/>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AND, una porta per bit</a:t>
            </a:r>
            <a:endParaRPr lang="en-US" sz="1450" dirty="0"/>
          </a:p>
        </p:txBody>
      </p:sp>
      <p:sp>
        <p:nvSpPr>
          <p:cNvPr id="13" name="Shape 11"/>
          <p:cNvSpPr/>
          <p:nvPr/>
        </p:nvSpPr>
        <p:spPr>
          <a:xfrm>
            <a:off x="1828800" y="2340864"/>
            <a:ext cx="1161288" cy="0"/>
          </a:xfrm>
          <a:prstGeom prst="line">
            <a:avLst/>
          </a:prstGeom>
          <a:noFill/>
          <a:ln w="22225">
            <a:solidFill>
              <a:srgbClr val="0E7C86"/>
            </a:solidFill>
            <a:prstDash val="solid"/>
            <a:tailEnd type="triangle"/>
          </a:ln>
        </p:spPr>
      </p:sp>
      <p:sp>
        <p:nvSpPr>
          <p:cNvPr id="14" name="Shape 12"/>
          <p:cNvSpPr/>
          <p:nvPr/>
        </p:nvSpPr>
        <p:spPr>
          <a:xfrm>
            <a:off x="2377440" y="2542032"/>
            <a:ext cx="612648" cy="0"/>
          </a:xfrm>
          <a:prstGeom prst="line">
            <a:avLst/>
          </a:prstGeom>
          <a:noFill/>
          <a:ln w="22225">
            <a:solidFill>
              <a:srgbClr val="C7791B"/>
            </a:solidFill>
            <a:prstDash val="solid"/>
            <a:tailEnd type="triangle"/>
          </a:ln>
        </p:spPr>
      </p:sp>
      <p:sp>
        <p:nvSpPr>
          <p:cNvPr id="15" name="Shape 13"/>
          <p:cNvSpPr/>
          <p:nvPr/>
        </p:nvSpPr>
        <p:spPr>
          <a:xfrm>
            <a:off x="5971032" y="2432304"/>
            <a:ext cx="1042416" cy="0"/>
          </a:xfrm>
          <a:prstGeom prst="line">
            <a:avLst/>
          </a:prstGeom>
          <a:noFill/>
          <a:ln w="22225">
            <a:solidFill>
              <a:srgbClr val="5B6B78"/>
            </a:solidFill>
            <a:prstDash val="solid"/>
            <a:tailEnd type="triangle"/>
          </a:ln>
        </p:spPr>
      </p:sp>
      <p:sp>
        <p:nvSpPr>
          <p:cNvPr id="16" name="Text 14"/>
          <p:cNvSpPr txBox="1"/>
          <p:nvPr/>
        </p:nvSpPr>
        <p:spPr>
          <a:xfrm>
            <a:off x="3017520" y="2852928"/>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OR, una porta per bit</a:t>
            </a:r>
            <a:endParaRPr lang="en-US" sz="1450" dirty="0"/>
          </a:p>
        </p:txBody>
      </p:sp>
      <p:sp>
        <p:nvSpPr>
          <p:cNvPr id="17" name="Shape 15"/>
          <p:cNvSpPr/>
          <p:nvPr/>
        </p:nvSpPr>
        <p:spPr>
          <a:xfrm>
            <a:off x="1828800" y="3035808"/>
            <a:ext cx="1161288" cy="0"/>
          </a:xfrm>
          <a:prstGeom prst="line">
            <a:avLst/>
          </a:prstGeom>
          <a:noFill/>
          <a:ln w="22225">
            <a:solidFill>
              <a:srgbClr val="0E7C86"/>
            </a:solidFill>
            <a:prstDash val="solid"/>
            <a:tailEnd type="triangle"/>
          </a:ln>
        </p:spPr>
      </p:sp>
      <p:sp>
        <p:nvSpPr>
          <p:cNvPr id="18" name="Shape 16"/>
          <p:cNvSpPr/>
          <p:nvPr/>
        </p:nvSpPr>
        <p:spPr>
          <a:xfrm>
            <a:off x="2377440" y="3236976"/>
            <a:ext cx="612648" cy="0"/>
          </a:xfrm>
          <a:prstGeom prst="line">
            <a:avLst/>
          </a:prstGeom>
          <a:noFill/>
          <a:ln w="22225">
            <a:solidFill>
              <a:srgbClr val="C7791B"/>
            </a:solidFill>
            <a:prstDash val="solid"/>
            <a:tailEnd type="triangle"/>
          </a:ln>
        </p:spPr>
      </p:sp>
      <p:sp>
        <p:nvSpPr>
          <p:cNvPr id="19" name="Shape 17"/>
          <p:cNvSpPr/>
          <p:nvPr/>
        </p:nvSpPr>
        <p:spPr>
          <a:xfrm>
            <a:off x="5971032" y="3127248"/>
            <a:ext cx="1042416" cy="0"/>
          </a:xfrm>
          <a:prstGeom prst="line">
            <a:avLst/>
          </a:prstGeom>
          <a:noFill/>
          <a:ln w="22225">
            <a:solidFill>
              <a:srgbClr val="5B6B78"/>
            </a:solidFill>
            <a:prstDash val="solid"/>
            <a:tailEnd type="triangle"/>
          </a:ln>
        </p:spPr>
      </p:sp>
      <p:sp>
        <p:nvSpPr>
          <p:cNvPr id="20" name="Text 18"/>
          <p:cNvSpPr txBox="1"/>
          <p:nvPr/>
        </p:nvSpPr>
        <p:spPr>
          <a:xfrm>
            <a:off x="3017520" y="3547872"/>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XOR, una porta per bit</a:t>
            </a:r>
            <a:endParaRPr lang="en-US" sz="1450" dirty="0"/>
          </a:p>
        </p:txBody>
      </p:sp>
      <p:sp>
        <p:nvSpPr>
          <p:cNvPr id="21" name="Shape 19"/>
          <p:cNvSpPr/>
          <p:nvPr/>
        </p:nvSpPr>
        <p:spPr>
          <a:xfrm>
            <a:off x="1828800" y="3730752"/>
            <a:ext cx="1161288" cy="0"/>
          </a:xfrm>
          <a:prstGeom prst="line">
            <a:avLst/>
          </a:prstGeom>
          <a:noFill/>
          <a:ln w="22225">
            <a:solidFill>
              <a:srgbClr val="0E7C86"/>
            </a:solidFill>
            <a:prstDash val="solid"/>
            <a:tailEnd type="triangle"/>
          </a:ln>
        </p:spPr>
      </p:sp>
      <p:sp>
        <p:nvSpPr>
          <p:cNvPr id="22" name="Shape 20"/>
          <p:cNvSpPr/>
          <p:nvPr/>
        </p:nvSpPr>
        <p:spPr>
          <a:xfrm>
            <a:off x="2377440" y="3931920"/>
            <a:ext cx="612648" cy="0"/>
          </a:xfrm>
          <a:prstGeom prst="line">
            <a:avLst/>
          </a:prstGeom>
          <a:noFill/>
          <a:ln w="22225">
            <a:solidFill>
              <a:srgbClr val="C7791B"/>
            </a:solidFill>
            <a:prstDash val="solid"/>
            <a:tailEnd type="triangle"/>
          </a:ln>
        </p:spPr>
      </p:sp>
      <p:sp>
        <p:nvSpPr>
          <p:cNvPr id="23" name="Shape 21"/>
          <p:cNvSpPr/>
          <p:nvPr/>
        </p:nvSpPr>
        <p:spPr>
          <a:xfrm>
            <a:off x="5971032" y="3822192"/>
            <a:ext cx="1042416" cy="0"/>
          </a:xfrm>
          <a:prstGeom prst="line">
            <a:avLst/>
          </a:prstGeom>
          <a:noFill/>
          <a:ln w="22225">
            <a:solidFill>
              <a:srgbClr val="5B6B78"/>
            </a:solidFill>
            <a:prstDash val="solid"/>
            <a:tailEnd type="triangle"/>
          </a:ln>
        </p:spPr>
      </p:sp>
      <p:sp>
        <p:nvSpPr>
          <p:cNvPr id="24" name="Text 22"/>
          <p:cNvSpPr txBox="1"/>
          <p:nvPr/>
        </p:nvSpPr>
        <p:spPr>
          <a:xfrm>
            <a:off x="3017520" y="4242816"/>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shifter</a:t>
            </a:r>
            <a:endParaRPr lang="en-US" sz="1450" dirty="0"/>
          </a:p>
        </p:txBody>
      </p:sp>
      <p:sp>
        <p:nvSpPr>
          <p:cNvPr id="25" name="Shape 23"/>
          <p:cNvSpPr/>
          <p:nvPr/>
        </p:nvSpPr>
        <p:spPr>
          <a:xfrm>
            <a:off x="1828800" y="4425696"/>
            <a:ext cx="1161288" cy="0"/>
          </a:xfrm>
          <a:prstGeom prst="line">
            <a:avLst/>
          </a:prstGeom>
          <a:noFill/>
          <a:ln w="22225">
            <a:solidFill>
              <a:srgbClr val="0E7C86"/>
            </a:solidFill>
            <a:prstDash val="solid"/>
            <a:tailEnd type="triangle"/>
          </a:ln>
        </p:spPr>
      </p:sp>
      <p:sp>
        <p:nvSpPr>
          <p:cNvPr id="26" name="Shape 24"/>
          <p:cNvSpPr/>
          <p:nvPr/>
        </p:nvSpPr>
        <p:spPr>
          <a:xfrm>
            <a:off x="2377440" y="4626864"/>
            <a:ext cx="612648" cy="0"/>
          </a:xfrm>
          <a:prstGeom prst="line">
            <a:avLst/>
          </a:prstGeom>
          <a:noFill/>
          <a:ln w="22225">
            <a:solidFill>
              <a:srgbClr val="C7791B"/>
            </a:solidFill>
            <a:prstDash val="solid"/>
            <a:tailEnd type="triangle"/>
          </a:ln>
        </p:spPr>
      </p:sp>
      <p:sp>
        <p:nvSpPr>
          <p:cNvPr id="27" name="Shape 25"/>
          <p:cNvSpPr/>
          <p:nvPr/>
        </p:nvSpPr>
        <p:spPr>
          <a:xfrm>
            <a:off x="5971032" y="4517136"/>
            <a:ext cx="1042416" cy="0"/>
          </a:xfrm>
          <a:prstGeom prst="line">
            <a:avLst/>
          </a:prstGeom>
          <a:noFill/>
          <a:ln w="22225">
            <a:solidFill>
              <a:srgbClr val="5B6B78"/>
            </a:solidFill>
            <a:prstDash val="solid"/>
            <a:tailEnd type="triangle"/>
          </a:ln>
        </p:spPr>
      </p:sp>
      <p:sp>
        <p:nvSpPr>
          <p:cNvPr id="28" name="Text 26"/>
          <p:cNvSpPr txBox="1"/>
          <p:nvPr/>
        </p:nvSpPr>
        <p:spPr>
          <a:xfrm>
            <a:off x="7040880" y="1463040"/>
            <a:ext cx="1005840" cy="3328416"/>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MUX</a:t>
            </a:r>
            <a:endParaRPr lang="en-US" sz="1700" dirty="0"/>
          </a:p>
        </p:txBody>
      </p:sp>
      <p:sp>
        <p:nvSpPr>
          <p:cNvPr id="29" name="Shape 27"/>
          <p:cNvSpPr/>
          <p:nvPr/>
        </p:nvSpPr>
        <p:spPr>
          <a:xfrm>
            <a:off x="8074152" y="3127248"/>
            <a:ext cx="978408" cy="0"/>
          </a:xfrm>
          <a:prstGeom prst="line">
            <a:avLst/>
          </a:prstGeom>
          <a:noFill/>
          <a:ln w="31750">
            <a:solidFill>
              <a:srgbClr val="1B2530"/>
            </a:solidFill>
            <a:prstDash val="solid"/>
            <a:tailEnd type="triangle"/>
          </a:ln>
        </p:spPr>
      </p:sp>
      <p:sp>
        <p:nvSpPr>
          <p:cNvPr id="30" name="Text 28"/>
          <p:cNvSpPr txBox="1"/>
          <p:nvPr/>
        </p:nvSpPr>
        <p:spPr>
          <a:xfrm>
            <a:off x="8092440" y="2779776"/>
            <a:ext cx="91440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risultato</a:t>
            </a:r>
            <a:endParaRPr lang="en-US" sz="1300" dirty="0"/>
          </a:p>
        </p:txBody>
      </p:sp>
      <p:sp>
        <p:nvSpPr>
          <p:cNvPr id="31" name="Shape 29"/>
          <p:cNvSpPr/>
          <p:nvPr/>
        </p:nvSpPr>
        <p:spPr>
          <a:xfrm flipV="1">
            <a:off x="7543800" y="4818888"/>
            <a:ext cx="0" cy="539496"/>
          </a:xfrm>
          <a:prstGeom prst="line">
            <a:avLst/>
          </a:prstGeom>
          <a:noFill/>
          <a:ln w="28575">
            <a:solidFill>
              <a:srgbClr val="B23A48"/>
            </a:solidFill>
            <a:prstDash val="solid"/>
            <a:tailEnd type="triangle"/>
          </a:ln>
        </p:spPr>
      </p:sp>
      <p:sp>
        <p:nvSpPr>
          <p:cNvPr id="32" name="Text 30"/>
          <p:cNvSpPr txBox="1"/>
          <p:nvPr/>
        </p:nvSpPr>
        <p:spPr>
          <a:xfrm>
            <a:off x="5669280" y="5376672"/>
            <a:ext cx="384048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operazione, decodificata dall'istruzione</a:t>
            </a:r>
            <a:endParaRPr lang="en-US" sz="1350" dirty="0"/>
          </a:p>
        </p:txBody>
      </p:sp>
      <p:sp>
        <p:nvSpPr>
          <p:cNvPr id="33" name="Shape 31"/>
          <p:cNvSpPr/>
          <p:nvPr/>
        </p:nvSpPr>
        <p:spPr>
          <a:xfrm>
            <a:off x="9326880" y="1417320"/>
            <a:ext cx="2316175" cy="3383280"/>
          </a:xfrm>
          <a:prstGeom prst="roundRect">
            <a:avLst>
              <a:gd name="adj" fmla="val 3158"/>
            </a:avLst>
          </a:prstGeom>
          <a:solidFill>
            <a:srgbClr val="D8ECEE"/>
          </a:solidFill>
          <a:ln w="12700">
            <a:solidFill>
              <a:srgbClr val="D8ECEE"/>
            </a:solidFill>
            <a:prstDash val="solid"/>
          </a:ln>
        </p:spPr>
      </p:sp>
      <p:sp>
        <p:nvSpPr>
          <p:cNvPr id="34" name="Text 32"/>
          <p:cNvSpPr txBox="1"/>
          <p:nvPr/>
        </p:nvSpPr>
        <p:spPr>
          <a:xfrm>
            <a:off x="9418320" y="1508760"/>
            <a:ext cx="2133295" cy="3200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Tutte le unità calcolano insieme, sugli stessi due operandi. Il multiplexer lascia passare un solo risultato.</a:t>
            </a:r>
            <a:endParaRPr lang="en-US" sz="1400" dirty="0"/>
          </a:p>
          <a:p>
            <a:pPr indent="0" marL="0">
              <a:buNone/>
            </a:pP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Un decodificatore sui bit dell'istruzione pilota la selezione.</a:t>
            </a:r>
            <a:endParaRPr lang="en-US" sz="1400" dirty="0"/>
          </a:p>
        </p:txBody>
      </p:sp>
      <p:sp>
        <p:nvSpPr>
          <p:cNvPr id="35" name="Text 33"/>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Nessuna memoria, da nessuna parte: la ALU è un'unica grande macchina combinatoria. Il suo percorso più lento, la catena dei riporti dell'addizionatore, limita il clock del processore.</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istruzioni RISC-V e la ALU</a:t>
            </a:r>
            <a:endParaRPr lang="en-US" sz="3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455005"/>
                <a:gridCol w="2728135"/>
                <a:gridCol w="509251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Istruzione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funct3</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Operazione della ALU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Unità che produce il risultato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add, sub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000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somma o differenza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addizionatore / sottrattore (sceglie un altro bit, in funct7)</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sll</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001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scorrimento a sinistra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slt, sltu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010, 011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pone a 1 se minore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sottrattore, poi le regole di segno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xor</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100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XOR bit a bit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porte XOR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srl, sra</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101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scorrimento a destra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shifter (funct7 sceglie logico o aritmetico)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or</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110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OR bit a bit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porte 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and</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111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AND bit a bit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porte AND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funct3 è un codice di 3 bit dentro l'istruzione: decodificandolo si pilota il multiplexer della ALU.</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Quanti bit richiede un codice binario a lunghezza fissa per le 26 lettere dell'alfabeto?</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5</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6</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26</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500" b="1" dirty="0">
                <a:solidFill>
                  <a:srgbClr val="1B2530"/>
                </a:solidFill>
                <a:latin typeface="Cambria" pitchFamily="34" charset="0"/>
                <a:ea typeface="Cambria" pitchFamily="34" charset="-122"/>
                <a:cs typeface="Cambria" pitchFamily="34" charset="-120"/>
              </a:rPr>
              <a:t>Un decodificatore ha 3 linee di ingresso e nessuna abilitazione. Quante uscite ha, e quante valgono 1 in ogni istante?</a:t>
            </a:r>
            <a:endParaRPr lang="en-US" sz="25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 uscite, una a 1</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6 uscite, due a 1</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 uscite, una a 1</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 uscite, tre a 1</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Di quante linee di selezione ha bisogno un multiplexer con 8 ingressi dati?</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Una parola con un bit di parità pari viene ricevuta con due bit alterati. Il controllo di parità:</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rileva l'errore e lo corregge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rileva l'errore ma non può correggerlo</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non rileva l'errore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segnala un errore solo se entrambi i bit valevano 1</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prima su carta, poi su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Sintetizzate con una mappa di Karnaugh il segmento g del transcodificatore a sette segmenti, usando le indifferenze</a:t>
            </a:r>
            <a:endParaRPr lang="en-US" sz="19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Costruite un decodificatore 3-a-8 con due decodificatori 2-a-4 con abilitazione e un invertitore</a:t>
            </a:r>
            <a:endParaRPr lang="en-US" sz="19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Realizzate F = somma di m(1, 2, 4, 7) con un multiplexer a 8 ingressi. Che funzione è?</a:t>
            </a:r>
            <a:endParaRPr lang="en-US" sz="1900" dirty="0"/>
          </a:p>
        </p:txBody>
      </p:sp>
      <p:sp>
        <p:nvSpPr>
          <p:cNvPr id="10" name="Text 8"/>
          <p:cNvSpPr txBox="1"/>
          <p:nvPr/>
        </p:nvSpPr>
        <p:spPr>
          <a:xfrm>
            <a:off x="548640" y="35626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44316"/>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Scrivete un comparatore in assembly: a0 = 1 se a0 e a1 sono uguali, usando solo xor e sltiu</a:t>
            </a:r>
            <a:endParaRPr lang="en-US" sz="1900" dirty="0"/>
          </a:p>
        </p:txBody>
      </p:sp>
      <p:sp>
        <p:nvSpPr>
          <p:cNvPr id="12" name="Text 10"/>
          <p:cNvSpPr txBox="1"/>
          <p:nvPr/>
        </p:nvSpPr>
        <p:spPr>
          <a:xfrm>
            <a:off x="548640" y="43215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303268"/>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Disegnate su PRG32 una cifra a sette segmenti: una tabella di dieci byte, uno per cifra, e sette rettangoli accesi esaminandone i bit</a:t>
            </a:r>
            <a:endParaRPr lang="en-US" sz="19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Su PRG32: una grande cifra che conta da 0 a 9, un passo al secondo, disegnata con sette rettangoli.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combinational network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rete combinatoria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decoder / encoder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decodificatore / 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propagation delay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ritardo di propagazione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cardinality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cardinalità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code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parola codice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abilitazione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 variable length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lunghezza fissa / variabile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redundant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ridondante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parity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di parità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L'informazione è un attributo, un tipo e un valore; un codice scrive il valore come stringa su un alfabeto</a:t>
            </a:r>
            <a:endParaRPr lang="en-US" sz="1900" dirty="0"/>
          </a:p>
        </p:txBody>
      </p:sp>
      <p:sp>
        <p:nvSpPr>
          <p:cNvPr id="5" name="Shape 3"/>
          <p:cNvSpPr/>
          <p:nvPr/>
        </p:nvSpPr>
        <p:spPr>
          <a:xfrm>
            <a:off x="548640" y="223121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48027"/>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codici a lunghezza fissa richiedono ceil(log2 N) bit; i codici ridondanti ne spendono di più per rilevare gli errori</a:t>
            </a:r>
            <a:endParaRPr lang="en-US" sz="1900" dirty="0"/>
          </a:p>
        </p:txBody>
      </p:sp>
      <p:sp>
        <p:nvSpPr>
          <p:cNvPr id="7" name="Shape 5"/>
          <p:cNvSpPr/>
          <p:nvPr/>
        </p:nvSpPr>
        <p:spPr>
          <a:xfrm>
            <a:off x="548640" y="296191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7873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Codifica, decodifica e transcodifica sono svolte da macchine combinatorie</a:t>
            </a:r>
            <a:endParaRPr lang="en-US" sz="1900" dirty="0"/>
          </a:p>
        </p:txBody>
      </p:sp>
      <p:sp>
        <p:nvSpPr>
          <p:cNvPr id="9" name="Shape 7"/>
          <p:cNvSpPr/>
          <p:nvPr/>
        </p:nvSpPr>
        <p:spPr>
          <a:xfrm>
            <a:off x="548640" y="33982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1505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multiplexer selezionano una sorgente, i demultiplexer una destinazione; comparatori e reti di parità controllano</a:t>
            </a:r>
            <a:endParaRPr lang="en-US" sz="1900" dirty="0"/>
          </a:p>
        </p:txBody>
      </p:sp>
      <p:sp>
        <p:nvSpPr>
          <p:cNvPr id="11" name="Shape 9"/>
          <p:cNvSpPr/>
          <p:nvPr/>
        </p:nvSpPr>
        <p:spPr>
          <a:xfrm>
            <a:off x="548640" y="41289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4576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processore RISC-V li usa tutti: decodificatori sui campi dell'istruzione, multiplexer sugli operandi, e una ALU che è a sua volta costruita con questi blocchi</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Letture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Struttura e progetto dei calcolatori, edizione RISC-V, appendice A e paragrafo 4.1</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Bucci: Architettura dei calcolatori elettronici, i capitoli sulle reti combinatorie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il capitolo sulla logica digitale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Macchine combinatorie</dc:title>
  <dc:subject>Lezione 11</dc:subject>
  <dc:creator>Raffaele Montella</dc:creator>
  <cp:lastModifiedBy>Raffaele Montella</cp:lastModifiedBy>
  <cp:revision>1</cp:revision>
  <dcterms:created xsi:type="dcterms:W3CDTF">2026-10-12T11:28:40Z</dcterms:created>
  <dcterms:modified xsi:type="dcterms:W3CDTF">2026-10-12T11:28:40Z</dcterms:modified>
</cp:coreProperties>
</file>