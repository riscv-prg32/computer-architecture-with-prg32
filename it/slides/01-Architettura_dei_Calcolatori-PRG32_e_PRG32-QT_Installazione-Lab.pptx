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4f3a6705-d646-9949-8a3a-830cce817339}">
          <p14:sldIdLst>
            <p14:sldId id="256"/>
            <p14:sldId id="257"/>
          </p14:sldIdLst>
        </p14:section>
        <p14:section name="Passo 1: installare PRG32-QT" id="{45b8a41d-ff5b-2928-c03d-f3e4c8c46244}">
          <p14:sldIdLst>
            <p14:sldId id="258"/>
            <p14:sldId id="259"/>
            <p14:sldId id="260"/>
            <p14:sldId id="261"/>
            <p14:sldId id="262"/>
            <p14:sldId id="263"/>
          </p14:sldIdLst>
        </p14:section>
        <p14:section name="Passo 2: installare la toolchain" id="{13abb1bb-aee7-90b3-14b4-87f3249297d5}">
          <p14:sldIdLst>
            <p14:sldId id="264"/>
            <p14:sldId id="265"/>
            <p14:sldId id="266"/>
            <p14:sldId id="267"/>
            <p14:sldId id="268"/>
          </p14:sldIdLst>
        </p14:section>
        <p14:section name="Passo 3: la prima compilazione" id="{98f1cc80-e1c6-b82f-f86d-3ea048bdf2be}">
          <p14:sldIdLst>
            <p14:sldId id="269"/>
            <p14:sldId id="270"/>
            <p14:sldId id="271"/>
            <p14:sldId id="272"/>
          </p14:sldIdLst>
        </p14:section>
        <p14:section name="Facoltativo: QEMU e il kit" id="{83dd74a1-3479-7e86-9093-af60f8ca49f8}">
          <p14:sldIdLst>
            <p14:sldId id="273"/>
            <p14:sldId id="274"/>
          </p14:sldIdLst>
        </p14:section>
        <p14:section name="Il programma completo" id="{eeec112d-88c5-d672-c00d-c1a7a66d38ab}">
          <p14:sldIdLst>
            <p14:sldId id="275"/>
            <p14:sldId id="276"/>
            <p14:sldId id="277"/>
          </p14:sldIdLst>
        </p14:section>
        <p14:section name="Eseguire e provare" id="{8d359aed-d747-c5c2-9f62-66002bcd6377}">
          <p14:sldIdLst>
            <p14:sldId id="278"/>
            <p14:sldId id="279"/>
            <p14:sldId id="280"/>
            <p14:sldId id="281"/>
            <p14:sldId id="282"/>
          </p14:sldIdLst>
        </p14:section>
        <p14:section name="Esercizi" id="{be15b2bd-fdeb-3de7-24a5-5d14cefd0f20}">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01.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programma, sorgente, codice macchina; i componenti di PRG32. DA UTILIZZARE OGGI: il terminale, gli strumenti di PRG32, il debugger di PRG32-QT, il programma completo (si usa, non si studia, in questo corso). DA COMPRENDERE PIÙ AVANTI: contratto init/update/draw (Lezione 02); i registri (Lezione 02).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questa lezione è ~/arc12/code/l01.S; tools/tests/cartridges/run.py lo compila, lo esegue su PRG32-QT con ingressi programmati e controlla i pixel del frame.
Per il docente: Procurarsi il codice una volta: git clone https://github.com/riscv-prg32/computer-architecture-with-prg32 ~/arc12. Il programma di questa lezione è ~/arc12/code/l01.S;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studente individua la riga del proprio sistema operativo e scarica quel file dalla pagina Releases del repository di PRG32-QT, scegliendo sempre l'ultima versione. Per Windows c'è un installatore, per macOS un'immagine disco (una per Apple Silicon e una per i processori Intel), per Linux e Raspberry Pi OS un pacchetto Debian. Sono tre modi di consegnare un'applicazione: un file che, una volta aperto, copia il programma nel posto giusto del computer. Il numero di versione 0.4.1 è quello di ottobre 2026; nel frattempo può essere cresciuto, ma i nomi dei file seguono lo stesso schema. La slide su macOS spiega come capire quale processore contiene un Mac.
DA UTILIZZARE OGGI: gli strumenti di PRG32 (si usa, non si studia, in questo corso).
Per il docente: Da github.com/riscv-prg32/PRG32-QT, Releases, l'ultimo rilascio. 0.4.1 è la versione di ottobre 2026: i nomi dei file seguono questo schema con il numero corrente. Il file SHA256SUMS-platforms.txt elenca le somme di controllo. Nella stessa pagina ci sono i pacchetti per Android e Android 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Windows l'installazione consiste in quattro azioni: scaricare il file Setup, eseguirlo, accettare la cartella proposta e avviare PRG32 dal menu Start. Possono comparire due avvisi, entrambi attesi. SmartScreen può mostrare un riquadro blu perché l'installatore non proviene dal Microsoft Store; il rimedio è Ulteriori informazioni, poi Esegui comunque. Il firewall, la parte del sistema che decide quali programmi possono ricevere connessioni dalla rete, può chiedere un permesso, da concedere per le reti private: PRG32-QT ascolta sulla porta 8080 per ricevere le cartucce dagli strumenti, una funzione usata nel passo 3.
DA UTILIZZARE OGGI: gli strumenti di PRG32 (si usa, non si studia, in questo corso).
Per il docente: L'installatore contiene le librerie Qt e il runtime del compilatore: non c'è altro da installare. La domanda del firewall compare perché PRG32-QT ascolta sulla porta 8080 le cartucce inviate dagli strumenti: il passo 3 la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un Mac il primo compito è identificare il processore, dal menu Apple, Informazioni su questo Mac: "Chip Apple M..." richiede l'immagine ARM64, "Processore Intel" quella Intel. Si apre l'immagine disco e si trascina PRG32 in Applicazioni. Al primo avvio macOS può rifiutarsi di aprire un'applicazione non distribuita dall'App Store; la si apre con clic destro e Apri, oppure la si autorizza in Privacy e sicurezza nelle Impostazioni di Sistema. Vanno poi accettate le connessioni in ingresso e l'accesso alla rete locale, che servono all'applicazione per ricevere le cartucce.
DA UTILIZZARE OGGI: gli strumenti di PRG32 (si usa, non si studia, in questo corso).
Per il docente: Il passo del primo avvio serve se macOS dice che lo sviluppatore non può essere verificato: l'applicazione è distribuita fuori dall'App Store. I due permessi servono all'interfaccia di dispositivo sulla porta 8080 e al suo annuncio sulla rete locale.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Linux la metà superiore del listato installa il pacchetto: apt install con ./ davanti al nome del file installa quel file insieme alle sue dipendenze, gli altri programmi di cui ha bisogno per funzionare, e il programma diventa disponibile come /usr/bin/PRG32. Il requisito da verificare è Qt 6.5 o successivo (Qt è la libreria di finestre, pulsanti e grafica già pronti su cui è costruito PRG32-QT), che Debian 13 e Ubuntu 25.04 soddisfano e Ubuntu 24.04 no. La metà inferiore è l'alternativa per i sistemi più vecchi: compilare dai sorgenti con lo script fornito nel repository. Le righe che cominciano con # sono commenti e non vanno digitate.
DA UTILIZZARE OGGI: gli strumenti di PRG32 (si usa, non si studia, in questo corso).
Per il docente: Il pacchetto dipende dai pacchetti Qt 6 QML, Multimedia e WebSockets della distribuzione. Dove il Qt di sistema è più vecchio della 6.5, installate Qt con l'installatore online di qt.io e compilate con quello. Su Raspberry Pi OS usate il pacchetto ARM64, oppure scripts/build-raspbian.sh.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esecuzione. All'avvio di PRG32-QT compare la schermata Setup, identica a quella che il firmware mostra sul kit. Scegliendo Browse Store, un gioco, scaricandolo e scegliendo Run Cartridge, lo si esegue; i tasti freccia, Z e X controllano il gioco, ed Esc riporta a Setup. Vanno poi esaminati i tre profili in Settings. Il riquadro verde definisce il successo: un gioco dello Store gira sul portatile dello studente. Un catalogo vuoto indica un problema di rete, non un difetto di PRG32-QT.
Per il docente: Lo Store predefinito è store.prg32.uniparthenope.it. Se l'elenco resta vuoto, il portatile non raggiunge Internet oppure c'è di mezzo un proxy: Settings mostra l'indirizzo dello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tre schermate che si dovrebbero aver visto: il menu Setup, il browser dello Store e Settings. Sono identiche su ogni sistema operativo. Se lo schermo dello studente corrisponde, il livello 1 è completo, e da qui in poi qualsiasi cartuccia si può eseguire e ispezionare. Se non corrisponde, il momento di chiedere è adesso e non più tardi, mentre l'installazione è ancora fresca.
Per il docente: Schermate dalla documentazione di PRG32 e PRG32-QT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Windows i primi tre passi usano installatori grafici: Git, il programma che copia e tiene traccia dei repository; Python, un linguaggio di programmazione in cui sono scritti gli strumenti di PRG32; e l'ESP-IDF Tools Installer, in cui si scelgono una versione 5.4 o successiva e i target esp32c3 ed esp32c6. L'installatore crea un collegamento chiamato ESP-IDF PowerShell; tutto il lavoro va fatto in quella finestra e mai in un terminale qualsiasi, perché solo lì l'ambiente è attivo: le impostazioni che dicono al terminale dove si trovano il compilatore e i suoi strumenti. I cinque comandi che seguono clonano il repository di PRG32, cioè lo copiano sul portatile, installano due pacchetti Python (librerie di cui gli strumenti hanno bisogno) ed eseguono il doctor, un comando che controlla l'installazione. Su Windows l'interprete si invoca come python, non python3.
DA UTILIZZARE OGGI: gli strumenti di PRG32 (si usa, non si studia, in questo corso).
Per il docente: Dal README di PRG32. Un'alternativa per chi preferisce un editor: Visual Studio Code con l'estensione Espressif ESP-IDF, che installa la stessa toolchain. Evitate cartelle con spazi o lettere accentate nel percorso: i vecchi strumenti di compilazione non li gradiscono.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macOS la procedura ha tre blocchi. Homebrew, un programma che installa altri programmi dal terminale, installa i prerequisiti. Si clona poi ESP-IDF, e install.sh scarica i compilatori per i due chip; è la parte lunga. La riga . ./export.sh comincia con un punto seguito da uno spazio, e il punto è significativo: fa sì che lo script, un file di comandi, modifichi la shell corrente, il programma che legge ciò che si scrive nel terminale, invece di una sua copia separata le cui modifiche svanirebbero alla fine. L'ultimo blocco clona PRG32 ed esegue il doctor. Gli stessi comandi funzionano su Apple Silicon e su Intel.
DA UTILIZZARE OGGI: gli strumenti di PRG32 (si usa, non si studia, in questo corso).
Per il docente: Dal README di PRG32. git può chiedere prima di installare gli strumenti da riga di comando di Xcode: accettate. Il clone ricorsivo e install.sh scaricano qualche gigabyte.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Debian e Ubuntu il primo blocco è un solo lungo comando apt, diviso su tre righe dalle barre rovesciate, e va copiato per intero. I passi 2 e 3 sono identici a quelli di macOS. Altre distribuzioni forniscono gli stessi pacchetti con nomi diversi. L'ultimo richiamo riguarda solo chi possiede un kit: per raggiungere la porta seriale della scheda, il collegamento attraverso il cavo USB, l'utente deve appartenere al gruppo dialout, l'elenco degli utenti autorizzati a usarla, e la modifica ha effetto solo dopo essere usciti e rientrati nella sessione.
DA UTILIZZARE OGGI: gli strumenti di PRG32 (si usa, non si studia, in questo corso).
Per il docente: Dal README di PRG32. Il gruppo dialout dà accesso alla porta seriale della scheda: dopo il comando uscite dalla sessione e rientrate. Non serve per PRG32-QT né per QEMU.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descrive la routine quotidiana e previene l'errore più comune delle prime settimane. In ogni nuovo terminale, prima di qualsiasi altra cosa, si attiva ESP-IDF con export.sh e ci si sposta nella cartella di PRG32. Due alias, nomi brevi che stanno per comandi più lunghi, riducono la digitazione: get_idf esegue l'attivazione, e prg abbrevia python3 -m prg32. Su Windows, aprire ESP-IDF PowerShell ottiene lo stesso effetto. Conviene provocare l'errore una volta di proposito, eseguendo il doctor in un terminale nuovo senza attivazione: avendo visto qui il messaggio, lo si riconosce subito in seguito.
DA UTILIZZARE OGGI: gli strumenti di PRG32 (si usa, non si studia, in questo corso).
Per il docente: L'errore più comune delle prime settimane. Far chiudere il terminale agli studenti, aprirne uno nuovo ed eseguire doctor senza attivare: devono vedere l'errore una volta, qui, e non durante un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doctor verifica l'installazione e stampa una riga per controllo. [OK] idf.py found conferma che ESP-IDF è attivo; [OK] riscv32-esp-elf-gcc found che il compilatore RISC-V è raggiungibile; le righe sulle partizioni che la cartella di PRG32 è completa. Una riga che comincia con [ERROR] dice che cosa non va e come correggerlo, e va letta fino in fondo prima di chiedere aiuto. Quando ogni riga riporta OK, il livello 2 è completo. Le ultime righe del listato mostrano l'errore prodotto in un terminale in cui ESP-IDF non è stato attivato.
DA UTILIZZARE OGGI: gli strumenti di PRG32 (si usa, non si studia, in questo corso).
Per il docente: Messaggi del doctor di ottobre 2026. I quattro slot per le cartucce, da cart0 a cart3, sono regioni della memoria flash della scheda: 131072 byte ciascuno. Se doctor passa, il livello 2 è fatto.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comando cartridge build prende un file sorgente e produce un file .prg32. Tre opzioni, le parole che cominciano con -- e regolano ciò che fa un comando, meritano di essere comprese. --entry-prefix pong_c è il nome che precede _init, _update e _draw nel sorgente, e identifica quindi i tre punti di ingresso. --portable produce una cartuccia che gira su ogni host e non su una sola immagine del firmware. --out dà il nome al file prodotto. Lo strumento riporta la dimensione del codice: un intero gioco di Pong occupa circa tremila byte. Il sorgente è un esempio in C del repository, scelto perché il compilatore si possa provare prima di aver scritto qualsiasi programma.
DA UTILIZZARE OGGI: gli strumenti di PRG32 (si usa, non si studia, in questo corso). DA COMPRENDERE PIÙ AVANTI: contratto init/update/draw (si studia nella Lezione 02).
Per il docente: Pong in C dagli esempi del repository: dimostra che il compilatore funziona senza dover scrivere un programma. Nella Lezione 02 il sorgente è vostro, in assembly, e il comando è lo stesso. Su Windows scrivete python e mettete il comando su una riga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PRG32-QT deve essere in esecuzione. Il primo comando, runtime, ne interroga lo stato; una risposta conferma che la connessione funziona. Il secondo, upload-and-run, memorizza la cartuccia nello slot cart0 e la avvia, e il gioco compare nella finestra di PRG32-QT. Il comando nomina l'esp32c6 perché, dal punto di vista dello strumento, PRG32-QT si comporta come una scheda in ascolto sulla porta 8080. Lo stesso comando, indirizzato a http://192.168.4.1, l'indirizzo di rete della scheda sulla sua rete Wi-Fi, invia il gioco a una scheda fisica. Senza gli strumenti, il file si può anche importare dal menu di PRG32-QT.
DA UTILIZZARE OGGI: gli strumenti di PRG32 (si usa, non si studia, in questo corso).
Per il docente: Eseguito per queste slide su macOS. Se localhost non risponde, leggete l'indirizzo sulla schermata Setup di PRG32-QT e usate quello. Senza gli strumenti: in PRG32-QT importate il file pong.prg32 e scegliete Run Cartridge. Lo stesso comando con --url http://192.168.4.1 invia il gioco a una scheda vera.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si apre la macchina. In Settings si abilita Run cartridges in RISC-V debug mode e si esegue di nuovo la cartuccia: il gioco compare a sinistra, la macchina a destra. Mettendo in pausa si evidenzia un'istruzione, la prossima da eseguire. Qualche passo sposta l'evidenziazione e cambia alcuni registri. Update e Draw saltano a quelle due funzioni della cartuccia. Si riprende poi l'esecuzione e si abbassa la velocità, per guardare il gioco al rallentatore. Non ci si aspetta oggi che i registri siano compresi; l'obiettivo è stabilire che il debugger si apre e risponde.
DA UTILIZZARE OGGI: il debugger di PRG32-QT (si usa, non si studia, in questo corso). DA COMPRENDERE PIÙ AVANTI: i registri (si studia nella Lezione 02).
Per il docente: Solo un primo sguardo: la Lezione 02 spiega che cosa sono i registri. Oggi conta che il debugger si apra e risponda. La modalità debug resta attiva finché non la si disattiva. Pausa, ripresa e passo sono i tre pulsanti di trasporto del debugger, disegnati come in un lettore video: due barre, un triangolo, un triangolo con una barra. Le slide e i tutorial li chiamano Pause, Resume 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vista attesa: a destra il listato assembly con l'istruzione corrente evidenziata, i trentadue registri, una finestra sulla memoria e i contatori per frame. Ogni elemento di questa immagine sarà spiegato nelle prossime lezioni, a cominciare dai registri nella Lezione 02. Uno studente che vede questa schermata con una cartuccia compilata da sé ha completato l'officina.
DA UTILIZZARE OGGI: il debugger di PRG32-QT (si usa, non si studia, in questo corso). DA COMPRENDERE PIÙ AVANTI: i registri (si studia nella Lezione 02).
Per il docente: Dalla documentazione di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livello 3 comprende tre parti: le librerie di cui l'emulatore ha bisogno per la sua finestra, l'emulatore stesso e tre comandi dello strumento. qemu build compila l'intero firmware, e la prima volta richiede diversi minuti. qemu upload carica una cartuccia nell'immagine flash, e richiede che QEMU sia chiuso. qemu run avvia l'emulatore, che si apre sul menu Setup, da cui si scelgono Run Cartridge e poi cart0. I tasti, ancora una volta, vanno al terminale e non alla finestra con l'immagine.
DA UTILIZZARE OGGI: gli strumenti di PRG32 (si usa, non si studia, in questo corso).
Per il docente: Dal README e da docs/usage/qemu.md di PRG32. Non eseguito per queste slide. La prima compilazione scarica componenti e compila l'intero firmware. Se upload fallisce, eseguite QEMU una volta perché esista l'immagine della flash, chiudetelo e ripetete. Da ottobre 2026 il firmware parte in modo predefinito dal menu Setup, su QEMU e sulla scheda: scegliete Run Cartridge, poi lo slot. I tasti vanno al terminale che ha lanciato QEMU, non alla finestra con l'immagine.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livello 4 è la scheda fisica. Con la scheda collegata via USB, build-and-flash compila il firmware e lo scrive nel chip, un'operazione da fare una volta per scheda. La scheda si avvia poi sul suo menu Setup e crea una rete Wi-Fi chiamata PRG32. Una volta che il portatile si è collegato a quella rete, il consueto comando di caricamento funziona con l'indirizzo 192.168.4.1, e da quel momento non serve più alcun cavo. L'ultimo comando fa invece collegare la scheda a una rete esistente. Su Linux l'utente deve appartenere al gruppo dialout.
DA UTILIZZARE OGGI: gli strumenti di PRG32 (si usa, non si studia, in questo corso).
Per il docente: Dalla documentazione di PRG32. Non eseguito per queste slide. Se la porta seriale non viene trovata, indicatela esplicitamente: COMx su Windows, /dev/ttyACM0 su Linux, /dev/cu.usbmodem... su macOS. Uno schermo nero dopo la scrittura di solito significa che è stato scritto il firmware per QEMU invece di quello della scheda, oppure che il display è collegato a piedini diversi da quelli del firmware: da ottobre 2026 i valori predefiniti sono GPIO8 per DC e GPIO9 per RST (erano GPIO1 e GPIO0), e idf.py menuconfig li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code/l01.S,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code/l01.S,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code/l01.S,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compito per la prossima lezione. Le cinque verifiche vanno completate. Si scaricano tre cartucce dallo Store e, in ciascuna, si individua con il debugger la prima istruzione di update. Si compila un ulteriore esempio. Il quarto compito è la prova vera: chiudere tutto, riavviare il computer e tornare a una cartuccia in esecuzione senza consultare queste slide. Lo studente che ci riesce ha interiorizzato la procedura di attivazione, e l'officina è davvero sua.
Per il docente: Il quarto compito è la vera prova: mostra chi ha capito l'attivazione di ESP-IDF.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01: Installazione di PRG32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PRG32 e PRG32-QT: allestire la propria officina: il codice</a:t>
            </a:r>
            <a:endParaRPr lang="en-US" sz="47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01-Architettura_dei_Calcolatori-PRG32_e_PRG32-QT_Installazione.pptx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10 listati della Lezione 01,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code/l01.S, 57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Scaricate l'installatore per il vostro sistema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98138"/>
                <a:gridCol w="5379110"/>
                <a:gridCol w="2017166"/>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Il vostro sistema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File da scaricare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Tipo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Windows 10 o 11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PRG32-QT-0.4.1-Windows-X64-Setup.exe</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installatore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macOS, Apple Silicon (M1 e successivi)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PRG32-QT-0.4.1-macOS-ARM64.dmg</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immagine disco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macOS, Intel</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PRG32-QT-0.4.1-macOS-Intel-X64.dmg</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immagine disco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Linux, PC a 64 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PRG32-QT-0.4.1-Linux-X64.deb</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pacchetto Debian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Raspberry Pi OS, 64 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ourier New" pitchFamily="34" charset="0"/>
                          <a:ea typeface="Courier New" pitchFamily="34" charset="-122"/>
                          <a:cs typeface="Courier New" pitchFamily="34" charset="-120"/>
                        </a:rPr>
                        <a:t>PRG32-QT-0.4.1-Raspberry-Pi-OS-ARM64.deb</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pacchetto Debian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github.com/riscv-prg32/PRG32-QT, poi Releases. Prendete l'ultima versione.</a:t>
            </a:r>
            <a:endParaRPr lang="en-US" sz="1500" dirty="0"/>
          </a:p>
        </p:txBody>
      </p:sp>
      <p:sp>
        <p:nvSpPr>
          <p:cNvPr id="5" name="Shape 2"/>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3"/>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4"/>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5"/>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su Windows</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Scaricare</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Il file che termina in Windows-X64-Setup.exe, dalla pagina Releases</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Eseguire</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Se Windows mostra l'avviso blu di SmartScreen: Ulteriori informazioni, poi Esegui comunque</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Installare</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Accettate la cartella proposta: l'installatore porta con sé tutto ciò che serve al programma</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Avviare</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PRG32, dal menu Start. Se il firewall lo chiede, consentitelo sulle reti private</a:t>
            </a:r>
            <a:endParaRPr lang="en-US" sz="1900" dirty="0"/>
          </a:p>
        </p:txBody>
      </p:sp>
      <p:sp>
        <p:nvSpPr>
          <p:cNvPr id="22" name="Shape 20"/>
          <p:cNvSpPr/>
          <p:nvPr/>
        </p:nvSpPr>
        <p:spPr>
          <a:xfrm>
            <a:off x="7875600" y="91440"/>
            <a:ext cx="3767455" cy="274320"/>
          </a:xfrm>
          <a:prstGeom prst="rect">
            <a:avLst/>
          </a:prstGeom>
          <a:solidFill>
            <a:srgbClr val="FEF3C7"/>
          </a:solidFill>
          <a:ln w="12700">
            <a:solidFill>
              <a:srgbClr val="B45309"/>
            </a:solidFill>
            <a:prstDash val="solid"/>
          </a:ln>
        </p:spPr>
      </p:sp>
      <p:sp>
        <p:nvSpPr>
          <p:cNvPr id="23" name="Shape 21"/>
          <p:cNvSpPr/>
          <p:nvPr/>
        </p:nvSpPr>
        <p:spPr>
          <a:xfrm>
            <a:off x="7875600" y="91440"/>
            <a:ext cx="27432" cy="274320"/>
          </a:xfrm>
          <a:prstGeom prst="rect">
            <a:avLst/>
          </a:prstGeom>
          <a:solidFill>
            <a:srgbClr val="B45309"/>
          </a:solidFill>
          <a:ln w="12700">
            <a:solidFill>
              <a:srgbClr val="B45309"/>
            </a:solidFill>
            <a:prstDash val="solid"/>
          </a:ln>
        </p:spPr>
      </p:sp>
      <p:sp>
        <p:nvSpPr>
          <p:cNvPr id="24" name="Shape 22"/>
          <p:cNvSpPr/>
          <p:nvPr/>
        </p:nvSpPr>
        <p:spPr>
          <a:xfrm>
            <a:off x="7930464" y="91440"/>
            <a:ext cx="27432" cy="274320"/>
          </a:xfrm>
          <a:prstGeom prst="rect">
            <a:avLst/>
          </a:prstGeom>
          <a:solidFill>
            <a:srgbClr val="B45309"/>
          </a:solidFill>
          <a:ln w="12700">
            <a:solidFill>
              <a:srgbClr val="B45309"/>
            </a:solidFill>
            <a:prstDash val="solid"/>
          </a:ln>
        </p:spPr>
      </p:sp>
      <p:pic>
        <p:nvPicPr>
          <p:cNvPr id="25"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6" name="Text 23"/>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su macOS</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Quale Mac?</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Menu Apple, Informazioni su questo Mac: Chip Apple M... significa ARM64; Processore Intel significa X64</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Installare</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Aprite il .dmg e trascinate PRG32 sulla cartella Applicazioni</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Primo avvio</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Clic destro su PRG32 e Apri; oppure Impostazioni di Sistema, Privacy e sicurezza, Apri comunque</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Consentire</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Accettate le connessioni in entrata e l'accesso alla rete locale quando macOS lo chiede</a:t>
            </a:r>
            <a:endParaRPr lang="en-US" sz="1900" dirty="0"/>
          </a:p>
        </p:txBody>
      </p:sp>
      <p:sp>
        <p:nvSpPr>
          <p:cNvPr id="22" name="Shape 20"/>
          <p:cNvSpPr/>
          <p:nvPr/>
        </p:nvSpPr>
        <p:spPr>
          <a:xfrm>
            <a:off x="7875600" y="91440"/>
            <a:ext cx="3767455" cy="274320"/>
          </a:xfrm>
          <a:prstGeom prst="rect">
            <a:avLst/>
          </a:prstGeom>
          <a:solidFill>
            <a:srgbClr val="FEF3C7"/>
          </a:solidFill>
          <a:ln w="12700">
            <a:solidFill>
              <a:srgbClr val="B45309"/>
            </a:solidFill>
            <a:prstDash val="solid"/>
          </a:ln>
        </p:spPr>
      </p:sp>
      <p:sp>
        <p:nvSpPr>
          <p:cNvPr id="23" name="Shape 21"/>
          <p:cNvSpPr/>
          <p:nvPr/>
        </p:nvSpPr>
        <p:spPr>
          <a:xfrm>
            <a:off x="7875600" y="91440"/>
            <a:ext cx="27432" cy="274320"/>
          </a:xfrm>
          <a:prstGeom prst="rect">
            <a:avLst/>
          </a:prstGeom>
          <a:solidFill>
            <a:srgbClr val="B45309"/>
          </a:solidFill>
          <a:ln w="12700">
            <a:solidFill>
              <a:srgbClr val="B45309"/>
            </a:solidFill>
            <a:prstDash val="solid"/>
          </a:ln>
        </p:spPr>
      </p:sp>
      <p:sp>
        <p:nvSpPr>
          <p:cNvPr id="24" name="Shape 22"/>
          <p:cNvSpPr/>
          <p:nvPr/>
        </p:nvSpPr>
        <p:spPr>
          <a:xfrm>
            <a:off x="7930464" y="91440"/>
            <a:ext cx="27432" cy="274320"/>
          </a:xfrm>
          <a:prstGeom prst="rect">
            <a:avLst/>
          </a:prstGeom>
          <a:solidFill>
            <a:srgbClr val="B45309"/>
          </a:solidFill>
          <a:ln w="12700">
            <a:solidFill>
              <a:srgbClr val="B45309"/>
            </a:solidFill>
            <a:prstDash val="solid"/>
          </a:ln>
        </p:spPr>
      </p:sp>
      <p:pic>
        <p:nvPicPr>
          <p:cNvPr id="25"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6" name="Text 23"/>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su Linux</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Debian 13, Ubuntu 25.04 and later, or another system with Qt 6.5 or newer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~/Downloads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./PRG32-QT-0.4.1-Linux-X64.deb</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PRG32 &amp;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older systems (Ubuntu 24.04 has Qt 6.4: too old): build from source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git cmake ninja-build g++ qt6-base-dev qt6-declarative-dev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qt6-multimedia-dev qt6-websockets-dev</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https://github.com/riscv-prg32/PRG32-QT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PRG32-QT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./scripts/build-linux.sh</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apt install con ./ installa il file e ciò di cui ha bisogno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programma è /usr/bin/PRG32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Serve Qt 6.5 o successivo: controllate la vostra distribuzione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Anche la compilazione da sorgente richiede un Qt recente</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la prima cartuccia, dallo Store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Avviate PRG32-QT: compare la schermata Setup, la stessa che il firmware mostra sul kit</a:t>
            </a:r>
            <a:endParaRPr lang="en-US" sz="2200" dirty="0"/>
          </a:p>
        </p:txBody>
      </p:sp>
      <p:sp>
        <p:nvSpPr>
          <p:cNvPr id="6" name="Text 4"/>
          <p:cNvSpPr txBox="1"/>
          <p:nvPr/>
        </p:nvSpPr>
        <p:spPr>
          <a:xfrm>
            <a:off x="548640" y="23159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9768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Scegliete Browse Store: viene scaricato il catalogo del Cartridge Store</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Scegliete un gioco, scaricatelo, e scegliete Run Cartridge</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Giocate con i tasti freccia, Z e X. Esc riporta a Setup</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Aprite Settings: guardate i tre profili di prestazione e le scelte di layout</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Un gioco dello Store gira sul vostro portatile. Questo è il livello 1: da ora potete eseguire qualunque cartuccia, e guardarci dentro.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dovreste vedere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menu_main.png">    </p:cNvPr>
          <p:cNvPicPr>
            <a:picLocks noChangeAspect="1"/>
          </p:cNvPicPr>
          <p:nvPr/>
        </p:nvPicPr>
        <p:blipFill>
          <a:blip r:embed="rId1"/>
          <a:stretch>
            <a:fillRect/>
          </a:stretch>
        </p:blipFill>
        <p:spPr>
          <a:xfrm>
            <a:off x="685800" y="1870748"/>
            <a:ext cx="3240938" cy="2430704"/>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Il menu Setup</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prg32qt_store.png">    </p:cNvPr>
          <p:cNvPicPr>
            <a:picLocks noChangeAspect="1"/>
          </p:cNvPicPr>
          <p:nvPr/>
        </p:nvPicPr>
        <p:blipFill>
          <a:blip r:embed="rId2"/>
          <a:stretch>
            <a:fillRect/>
          </a:stretch>
        </p:blipFill>
        <p:spPr>
          <a:xfrm>
            <a:off x="4475378" y="1966503"/>
            <a:ext cx="3240938" cy="2239194"/>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Browse Store</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prg32qt_settings.png">    </p:cNvPr>
          <p:cNvPicPr>
            <a:picLocks noChangeAspect="1"/>
          </p:cNvPicPr>
          <p:nvPr/>
        </p:nvPicPr>
        <p:blipFill>
          <a:blip r:embed="rId3"/>
          <a:stretch>
            <a:fillRect/>
          </a:stretch>
        </p:blipFill>
        <p:spPr>
          <a:xfrm>
            <a:off x="8264957" y="1966503"/>
            <a:ext cx="3240938" cy="2239194"/>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Settings</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Le stesse tre schermate su ogni sistema. Se siete qui, il passo 1 è fatto.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toolchain su Windows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1. Install Git for Windows (git-scm.com) and Python 3 (python.org)</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2. Run the ESP-IDF Tools Installer (dl.espressif.com/dl/esp-idf):</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choose an ESP-IDF release 5.4 or newer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select the targets esp32c3 and esp32c6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optional: tick the QEMU RISC-V emulator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3. Open the shortcut "ESP-IDF PowerShell" that the installer created</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4. In that window: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cd $HOME\Documents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git clone https://github.com/riscv-prg32/PRG32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cd 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pip install pyaudio zeroconf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 -m prg32 doctor</a:t>
            </a:r>
            <a:endParaRPr lang="en-US" sz="14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Usate ESP-IDF PowerShell, mai un terminale qualsiasi</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 Windows il comando è python, non python3</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pip installa nell'ambiente di ESP-IDF: è voluto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doctor controlla l'installazione: si vedano le prossime slide</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toolchain su macOS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1. Homebrew (brew.sh), then the prerequisites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brew install git cmake ninja dfu-util ccache libusb python curl zip portaudio</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2. ESP-IDF 5.4 for the two chips (a large download)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$HOME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-b v5.4 --recursive https://github.com/espressif/esp-idf.git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esp-idf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./install.sh esp32c3,esp32c6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./export.sh</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pip install pyaudio zeroconf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3. 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$HOME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git clone https://github.com/riscv-prg32/PRG32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cd 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doctor</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Prima Homebrew: fornisce git, cmake, python</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install.sh scarica i compilatori: abbiate pazienza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punto prima di export.sh conta: modifica questo terminale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Funziona su Apple Silicon e su Intel</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toolchain su Linux (Debian, Ubuntu)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1. Prerequisites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sudo apt update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sudo apt install -y git wget flex bison gperf python3 python3-venv python3-pip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python3-zeroconf cmake ninja-build ccache libffi-dev libssl-dev dfu-util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libusb-1.0-0 curl zip portaudio19-dev</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2. ESP-IDF 5.4 for the two chips (a large download)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$HOME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git clone -b v5.4 --recursive https://github.com/espressif/esp-idf.git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esp-idf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./install.sh esp32c3,esp32c6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./export.sh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pip install pyaudio zeroconf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3. 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$HOME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git clone https://github.com/riscv-prg32/PRG32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cd 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doctor</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Una lunga riga apt: copiatela intera</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 passi 2 e 3 sono gli stessi di macOS</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Altre distribuzioni: stessi pacchetti, altri nomi</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Solo per il kit: sudo usermod -aG dialout $USER</a:t>
            </a:r>
            <a:endParaRPr lang="en-US" sz="14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Ogni nuovo terminale: attivare ESP-IDF</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8FB3A0"/>
                </a:solidFill>
                <a:latin typeface="Courier New" pitchFamily="34" charset="0"/>
                <a:ea typeface="Courier New" pitchFamily="34" charset="-122"/>
                <a:cs typeface="Courier New" pitchFamily="34" charset="-120"/>
              </a:rPr>
              <a:t># macOS and Linux: in every new terminal, before anything else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$HOME/esp-idf/export.sh</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cd $HOME/PRG32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save typing: add these two lines to ~/.zshrc or ~/.bashrc</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alias get_idf=". $HOME/esp-idf/export.sh"</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alias prg="python3 -m 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then, in a new terminal</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get_idf</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prg doctor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Windows: open "ESP-IDF PowerShell" from the Start menu, then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cd $HOME\Documents\PRG32</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export.sh agisce sul terminale in cui viene eseguito, e solo su quello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Una nuova finestra è un nuovo terminale: attivate di nuovo</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Gli alias sono una comodità, non un obbligo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Eseguite i comandi prg32 dalla cartella PRG32</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dottore: è tutto a posto?</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python3 -m prg32 doctor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idf.py found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riscv32-esp-elf-gcc found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partitions file found: .../PRG32/profiles/partitions_prg32.csv</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[OK] partition cart0 parsed (offset=0x210000, size=131072)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and when ESP-IDF is not active in this terminal: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[ERROR] idf.py missing (you must source ESP-IDF export.sh)</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idf.py: ESP-IDF è attivo</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riscv32-esp-elf-gcc: il compilatore RISC-V è raggiungibile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partitions: la cartella PRG32 è completa</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Ogni riga ERROR dice che cosa fare: leggetela</a:t>
            </a:r>
            <a:endParaRPr lang="en-US" sz="13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Compilate una cartuccia dagli esempi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in the PRG32 folder, ESP-IDF active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python3 -m prg32 cartridge build examples/games/pong/c/game.c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--portable --entry-prefix pong_c --name pong --out pong.prg32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[OK] built pong.prg32 name=pong load=0x40800000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[INFO] code=3004 mem=3028 audio=0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what did we build?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python3 -m prg32 cartridge summary pong.prg32</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cartridge build: entra un sorgente, esce un .prg32</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--entry-prefix: il nome che precede _init, _update, _draw</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--portable: gira su ogni host, non su un solo firmware</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Un Pong intero: tremila byte</a:t>
            </a:r>
            <a:endParaRPr lang="en-US" sz="1300" dirty="0"/>
          </a:p>
        </p:txBody>
      </p:sp>
      <p:sp>
        <p:nvSpPr>
          <p:cNvPr id="17" name="Shape 15"/>
          <p:cNvSpPr/>
          <p:nvPr/>
        </p:nvSpPr>
        <p:spPr>
          <a:xfrm>
            <a:off x="6044133" y="91440"/>
            <a:ext cx="5598922" cy="274320"/>
          </a:xfrm>
          <a:prstGeom prst="rect">
            <a:avLst/>
          </a:prstGeom>
          <a:solidFill>
            <a:srgbClr val="F3E8FF"/>
          </a:solidFill>
          <a:ln w="12700">
            <a:solidFill>
              <a:srgbClr val="7E22CE"/>
            </a:solidFill>
            <a:prstDash val="dash"/>
          </a:ln>
        </p:spPr>
      </p:sp>
      <p:sp>
        <p:nvSpPr>
          <p:cNvPr id="18" name="Shape 16"/>
          <p:cNvSpPr/>
          <p:nvPr/>
        </p:nvSpPr>
        <p:spPr>
          <a:xfrm>
            <a:off x="6071565" y="128016"/>
            <a:ext cx="45720" cy="45720"/>
          </a:xfrm>
          <a:prstGeom prst="rect">
            <a:avLst/>
          </a:prstGeom>
          <a:solidFill>
            <a:srgbClr val="7E22CE"/>
          </a:solidFill>
          <a:ln w="12700">
            <a:solidFill>
              <a:srgbClr val="7E22CE"/>
            </a:solidFill>
            <a:prstDash val="solid"/>
          </a:ln>
        </p:spPr>
      </p:sp>
      <p:sp>
        <p:nvSpPr>
          <p:cNvPr id="19" name="Shape 17"/>
          <p:cNvSpPr/>
          <p:nvPr/>
        </p:nvSpPr>
        <p:spPr>
          <a:xfrm>
            <a:off x="6071565" y="205740"/>
            <a:ext cx="45720" cy="45720"/>
          </a:xfrm>
          <a:prstGeom prst="rect">
            <a:avLst/>
          </a:prstGeom>
          <a:solidFill>
            <a:srgbClr val="7E22CE"/>
          </a:solidFill>
          <a:ln w="12700">
            <a:solidFill>
              <a:srgbClr val="7E22CE"/>
            </a:solidFill>
            <a:prstDash val="solid"/>
          </a:ln>
        </p:spPr>
      </p:sp>
      <p:sp>
        <p:nvSpPr>
          <p:cNvPr id="20" name="Shape 18"/>
          <p:cNvSpPr/>
          <p:nvPr/>
        </p:nvSpPr>
        <p:spPr>
          <a:xfrm>
            <a:off x="6071565"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6172149" y="128016"/>
            <a:ext cx="201168" cy="201168"/>
          </a:xfrm>
          <a:prstGeom prst="rect">
            <a:avLst/>
          </a:prstGeom>
        </p:spPr>
      </p:pic>
      <p:sp>
        <p:nvSpPr>
          <p:cNvPr id="22" name="Text 19"/>
          <p:cNvSpPr txBox="1"/>
          <p:nvPr/>
        </p:nvSpPr>
        <p:spPr>
          <a:xfrm>
            <a:off x="6428181" y="91440"/>
            <a:ext cx="517829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contratto init/update/draw</a:t>
            </a:r>
            <a:pPr indent="0" marL="0">
              <a:buNone/>
            </a:pPr>
            <a:r>
              <a:rPr lang="en-US" sz="1100" b="1" dirty="0">
                <a:solidFill>
                  <a:srgbClr val="6B21A8"/>
                </a:solidFill>
                <a:latin typeface="Calibri" pitchFamily="34" charset="0"/>
                <a:ea typeface="Calibri" pitchFamily="34" charset="-122"/>
                <a:cs typeface="Calibri" pitchFamily="34" charset="-120"/>
              </a:rPr>
              <a:t> → Lezione 02</a:t>
            </a:r>
            <a:endParaRPr lang="en-US" sz="1100" dirty="0"/>
          </a:p>
        </p:txBody>
      </p:sp>
      <p:sp>
        <p:nvSpPr>
          <p:cNvPr id="23" name="Shape 20"/>
          <p:cNvSpPr/>
          <p:nvPr/>
        </p:nvSpPr>
        <p:spPr>
          <a:xfrm>
            <a:off x="2166950" y="91440"/>
            <a:ext cx="3767455" cy="274320"/>
          </a:xfrm>
          <a:prstGeom prst="rect">
            <a:avLst/>
          </a:prstGeom>
          <a:solidFill>
            <a:srgbClr val="FEF3C7"/>
          </a:solidFill>
          <a:ln w="12700">
            <a:solidFill>
              <a:srgbClr val="B45309"/>
            </a:solidFill>
            <a:prstDash val="solid"/>
          </a:ln>
        </p:spPr>
      </p:sp>
      <p:sp>
        <p:nvSpPr>
          <p:cNvPr id="24" name="Shape 21"/>
          <p:cNvSpPr/>
          <p:nvPr/>
        </p:nvSpPr>
        <p:spPr>
          <a:xfrm>
            <a:off x="2166950" y="91440"/>
            <a:ext cx="27432" cy="274320"/>
          </a:xfrm>
          <a:prstGeom prst="rect">
            <a:avLst/>
          </a:prstGeom>
          <a:solidFill>
            <a:srgbClr val="B45309"/>
          </a:solidFill>
          <a:ln w="12700">
            <a:solidFill>
              <a:srgbClr val="B45309"/>
            </a:solidFill>
            <a:prstDash val="solid"/>
          </a:ln>
        </p:spPr>
      </p:sp>
      <p:sp>
        <p:nvSpPr>
          <p:cNvPr id="25" name="Shape 22"/>
          <p:cNvSpPr/>
          <p:nvPr/>
        </p:nvSpPr>
        <p:spPr>
          <a:xfrm>
            <a:off x="2221814" y="91440"/>
            <a:ext cx="27432" cy="274320"/>
          </a:xfrm>
          <a:prstGeom prst="rect">
            <a:avLst/>
          </a:prstGeom>
          <a:solidFill>
            <a:srgbClr val="B45309"/>
          </a:solidFill>
          <a:ln w="12700">
            <a:solidFill>
              <a:srgbClr val="B45309"/>
            </a:solidFill>
            <a:prstDash val="solid"/>
          </a:ln>
        </p:spPr>
      </p:sp>
      <p:pic>
        <p:nvPicPr>
          <p:cNvPr id="26" name="Image 1" descr="preencoded.png">    </p:cNvPr>
          <p:cNvPicPr>
            <a:picLocks noChangeAspect="1"/>
          </p:cNvPicPr>
          <p:nvPr/>
        </p:nvPicPr>
        <p:blipFill>
          <a:blip r:embed="rId2"/>
          <a:stretch>
            <a:fillRect/>
          </a:stretch>
        </p:blipFill>
        <p:spPr>
          <a:xfrm>
            <a:off x="2294966" y="128016"/>
            <a:ext cx="201168" cy="201168"/>
          </a:xfrm>
          <a:prstGeom prst="rect">
            <a:avLst/>
          </a:prstGeom>
        </p:spPr>
      </p:pic>
      <p:sp>
        <p:nvSpPr>
          <p:cNvPr id="27" name="Text 23"/>
          <p:cNvSpPr txBox="1"/>
          <p:nvPr/>
        </p:nvSpPr>
        <p:spPr>
          <a:xfrm>
            <a:off x="255099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Inviatela a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750" dirty="0">
                <a:solidFill>
                  <a:srgbClr val="8FB3A0"/>
                </a:solidFill>
                <a:latin typeface="Courier New" pitchFamily="34" charset="0"/>
                <a:ea typeface="Courier New" pitchFamily="34" charset="-122"/>
                <a:cs typeface="Courier New" pitchFamily="34" charset="-120"/>
              </a:rPr>
              <a:t># PRG32-QT must be running on this computer</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1. is it listening?</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python3 -m prg32 runtime --url http://localhost:8080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8FB3A0"/>
                </a:solidFill>
                <a:latin typeface="Courier New" pitchFamily="34" charset="0"/>
                <a:ea typeface="Courier New" pitchFamily="34" charset="-122"/>
                <a:cs typeface="Courier New" pitchFamily="34" charset="-120"/>
              </a:rPr>
              <a:t># 2. upload the cartridge to slot cart0 and start it</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python3 -m prg32 esp32c6 upload-and-run pong.prg32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--url http://localhost:8080 --slot cart0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{"loaded":false,"ok":true,"slot":"cart0","stored":true}</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{"ok":true,"slot":"cart0"}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[OK] Finished upload and run on ESP32C6</a:t>
            </a:r>
            <a:endParaRPr lang="en-US" sz="17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runtime ne stampa lo stato: una rapida prova di connessione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comando dice esp32c6: per lo strumento, PRG32-QT è una scheda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Guardare dentro: il debugger</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aprite Settings e attivate Run cartridges in RISC-V debug mode</a:t>
            </a:r>
            <a:endParaRPr lang="en-US" sz="2200" dirty="0"/>
          </a:p>
        </p:txBody>
      </p:sp>
      <p:sp>
        <p:nvSpPr>
          <p:cNvPr id="5" name="Text 3"/>
          <p:cNvSpPr txBox="1"/>
          <p:nvPr/>
        </p:nvSpPr>
        <p:spPr>
          <a:xfrm>
            <a:off x="548640" y="205597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3769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Eseguite di nuovo la cartuccia: il gioco è a sinistra, la macchina a destra</a:t>
            </a:r>
            <a:endParaRPr lang="en-US" sz="2200" dirty="0"/>
          </a:p>
        </p:txBody>
      </p:sp>
      <p:sp>
        <p:nvSpPr>
          <p:cNvPr id="7" name="Text 5"/>
          <p:cNvSpPr txBox="1"/>
          <p:nvPr/>
        </p:nvSpPr>
        <p:spPr>
          <a:xfrm>
            <a:off x="548640" y="291917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0088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Premete il pulsante di pausa: il gioco si ferma, e nel listato è evidenziata un'istruzione</a:t>
            </a:r>
            <a:endParaRPr lang="en-US" sz="2200" dirty="0"/>
          </a:p>
        </p:txBody>
      </p:sp>
      <p:sp>
        <p:nvSpPr>
          <p:cNvPr id="9" name="Text 7"/>
          <p:cNvSpPr txBox="1"/>
          <p:nvPr/>
        </p:nvSpPr>
        <p:spPr>
          <a:xfrm>
            <a:off x="548640" y="378236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64077"/>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Premete alcune volte il pulsante di passo: l'evidenziazione si sposta, e alcuni registri cambiano valore</a:t>
            </a:r>
            <a:endParaRPr lang="en-US" sz="2200" dirty="0"/>
          </a:p>
        </p:txBody>
      </p:sp>
      <p:sp>
        <p:nvSpPr>
          <p:cNvPr id="11" name="Text 9"/>
          <p:cNvSpPr txBox="1"/>
          <p:nvPr/>
        </p:nvSpPr>
        <p:spPr>
          <a:xfrm>
            <a:off x="548640" y="46455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272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Premete Update, poi Draw: il listato salta a quelle due funzioni della cartuccia</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Premete il pulsante di riproduzione: il gioco riprende. Abbassate la velocità a 0.1x e guardatelo al rallentatore</a:t>
            </a:r>
            <a:endParaRPr lang="en-US" sz="2200" dirty="0"/>
          </a:p>
        </p:txBody>
      </p:sp>
      <p:sp>
        <p:nvSpPr>
          <p:cNvPr id="15" name="Shape 13"/>
          <p:cNvSpPr/>
          <p:nvPr/>
        </p:nvSpPr>
        <p:spPr>
          <a:xfrm>
            <a:off x="7094677" y="91440"/>
            <a:ext cx="4548378" cy="274320"/>
          </a:xfrm>
          <a:prstGeom prst="rect">
            <a:avLst/>
          </a:prstGeom>
          <a:solidFill>
            <a:srgbClr val="F3E8FF"/>
          </a:solidFill>
          <a:ln w="12700">
            <a:solidFill>
              <a:srgbClr val="7E22CE"/>
            </a:solidFill>
            <a:prstDash val="dash"/>
          </a:ln>
        </p:spPr>
      </p:sp>
      <p:sp>
        <p:nvSpPr>
          <p:cNvPr id="16" name="Shape 14"/>
          <p:cNvSpPr/>
          <p:nvPr/>
        </p:nvSpPr>
        <p:spPr>
          <a:xfrm>
            <a:off x="7122109" y="128016"/>
            <a:ext cx="45720" cy="45720"/>
          </a:xfrm>
          <a:prstGeom prst="rect">
            <a:avLst/>
          </a:prstGeom>
          <a:solidFill>
            <a:srgbClr val="7E22CE"/>
          </a:solidFill>
          <a:ln w="12700">
            <a:solidFill>
              <a:srgbClr val="7E22CE"/>
            </a:solidFill>
            <a:prstDash val="solid"/>
          </a:ln>
        </p:spPr>
      </p:sp>
      <p:sp>
        <p:nvSpPr>
          <p:cNvPr id="17" name="Shape 15"/>
          <p:cNvSpPr/>
          <p:nvPr/>
        </p:nvSpPr>
        <p:spPr>
          <a:xfrm>
            <a:off x="7122109" y="205740"/>
            <a:ext cx="45720" cy="45720"/>
          </a:xfrm>
          <a:prstGeom prst="rect">
            <a:avLst/>
          </a:prstGeom>
          <a:solidFill>
            <a:srgbClr val="7E22CE"/>
          </a:solidFill>
          <a:ln w="12700">
            <a:solidFill>
              <a:srgbClr val="7E22CE"/>
            </a:solidFill>
            <a:prstDash val="solid"/>
          </a:ln>
        </p:spPr>
      </p:sp>
      <p:sp>
        <p:nvSpPr>
          <p:cNvPr id="18" name="Shape 16"/>
          <p:cNvSpPr/>
          <p:nvPr/>
        </p:nvSpPr>
        <p:spPr>
          <a:xfrm>
            <a:off x="7122109" y="283464"/>
            <a:ext cx="45720" cy="45720"/>
          </a:xfrm>
          <a:prstGeom prst="rect">
            <a:avLst/>
          </a:prstGeom>
          <a:solidFill>
            <a:srgbClr val="7E22CE"/>
          </a:solidFill>
          <a:ln w="12700">
            <a:solidFill>
              <a:srgbClr val="7E22CE"/>
            </a:solidFill>
            <a:prstDash val="solid"/>
          </a:ln>
        </p:spPr>
      </p:sp>
      <p:pic>
        <p:nvPicPr>
          <p:cNvPr id="19" name="Image 0" descr="preencoded.png">    </p:cNvPr>
          <p:cNvPicPr>
            <a:picLocks noChangeAspect="1"/>
          </p:cNvPicPr>
          <p:nvPr/>
        </p:nvPicPr>
        <p:blipFill>
          <a:blip r:embed="rId1"/>
          <a:stretch>
            <a:fillRect/>
          </a:stretch>
        </p:blipFill>
        <p:spPr>
          <a:xfrm>
            <a:off x="7222693" y="128016"/>
            <a:ext cx="201168" cy="201168"/>
          </a:xfrm>
          <a:prstGeom prst="rect">
            <a:avLst/>
          </a:prstGeom>
        </p:spPr>
      </p:pic>
      <p:sp>
        <p:nvSpPr>
          <p:cNvPr id="20" name="Text 17"/>
          <p:cNvSpPr txBox="1"/>
          <p:nvPr/>
        </p:nvSpPr>
        <p:spPr>
          <a:xfrm>
            <a:off x="7478725" y="91440"/>
            <a:ext cx="41277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i registri</a:t>
            </a:r>
            <a:pPr indent="0" marL="0">
              <a:buNone/>
            </a:pPr>
            <a:r>
              <a:rPr lang="en-US" sz="1100" b="1" dirty="0">
                <a:solidFill>
                  <a:srgbClr val="6B21A8"/>
                </a:solidFill>
                <a:latin typeface="Calibri" pitchFamily="34" charset="0"/>
                <a:ea typeface="Calibri" pitchFamily="34" charset="-122"/>
                <a:cs typeface="Calibri" pitchFamily="34" charset="-120"/>
              </a:rPr>
              <a:t> → Lezione 02</a:t>
            </a:r>
            <a:endParaRPr lang="en-US" sz="1100" dirty="0"/>
          </a:p>
        </p:txBody>
      </p:sp>
      <p:sp>
        <p:nvSpPr>
          <p:cNvPr id="21" name="Shape 18"/>
          <p:cNvSpPr/>
          <p:nvPr/>
        </p:nvSpPr>
        <p:spPr>
          <a:xfrm>
            <a:off x="3151835" y="91440"/>
            <a:ext cx="3833114" cy="274320"/>
          </a:xfrm>
          <a:prstGeom prst="rect">
            <a:avLst/>
          </a:prstGeom>
          <a:solidFill>
            <a:srgbClr val="FEF3C7"/>
          </a:solidFill>
          <a:ln w="12700">
            <a:solidFill>
              <a:srgbClr val="B45309"/>
            </a:solidFill>
            <a:prstDash val="solid"/>
          </a:ln>
        </p:spPr>
      </p:sp>
      <p:sp>
        <p:nvSpPr>
          <p:cNvPr id="22" name="Shape 19"/>
          <p:cNvSpPr/>
          <p:nvPr/>
        </p:nvSpPr>
        <p:spPr>
          <a:xfrm>
            <a:off x="3151835" y="91440"/>
            <a:ext cx="27432" cy="274320"/>
          </a:xfrm>
          <a:prstGeom prst="rect">
            <a:avLst/>
          </a:prstGeom>
          <a:solidFill>
            <a:srgbClr val="B45309"/>
          </a:solidFill>
          <a:ln w="12700">
            <a:solidFill>
              <a:srgbClr val="B45309"/>
            </a:solidFill>
            <a:prstDash val="solid"/>
          </a:ln>
        </p:spPr>
      </p:sp>
      <p:sp>
        <p:nvSpPr>
          <p:cNvPr id="23" name="Shape 20"/>
          <p:cNvSpPr/>
          <p:nvPr/>
        </p:nvSpPr>
        <p:spPr>
          <a:xfrm>
            <a:off x="3206699" y="91440"/>
            <a:ext cx="27432" cy="274320"/>
          </a:xfrm>
          <a:prstGeom prst="rect">
            <a:avLst/>
          </a:prstGeom>
          <a:solidFill>
            <a:srgbClr val="B45309"/>
          </a:solidFill>
          <a:ln w="12700">
            <a:solidFill>
              <a:srgbClr val="B45309"/>
            </a:solidFill>
            <a:prstDash val="solid"/>
          </a:ln>
        </p:spPr>
      </p:sp>
      <p:pic>
        <p:nvPicPr>
          <p:cNvPr id="24" name="Image 1" descr="preencoded.png">    </p:cNvPr>
          <p:cNvPicPr>
            <a:picLocks noChangeAspect="1"/>
          </p:cNvPicPr>
          <p:nvPr/>
        </p:nvPicPr>
        <p:blipFill>
          <a:blip r:embed="rId2"/>
          <a:stretch>
            <a:fillRect/>
          </a:stretch>
        </p:blipFill>
        <p:spPr>
          <a:xfrm>
            <a:off x="3279851" y="128016"/>
            <a:ext cx="201168" cy="201168"/>
          </a:xfrm>
          <a:prstGeom prst="rect">
            <a:avLst/>
          </a:prstGeom>
        </p:spPr>
      </p:pic>
      <p:sp>
        <p:nvSpPr>
          <p:cNvPr id="25" name="Text 21"/>
          <p:cNvSpPr txBox="1"/>
          <p:nvPr/>
        </p:nvSpPr>
        <p:spPr>
          <a:xfrm>
            <a:off x="3535883"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macchina, aperta</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prg32qt_debugger_details.png">    </p:cNvPr>
          <p:cNvPicPr>
            <a:picLocks noChangeAspect="1"/>
          </p:cNvPicPr>
          <p:nvPr/>
        </p:nvPicPr>
        <p:blipFill>
          <a:blip r:embed="rId1"/>
          <a:stretch>
            <a:fillRect/>
          </a:stretch>
        </p:blipFill>
        <p:spPr>
          <a:xfrm>
            <a:off x="4846368" y="1554480"/>
            <a:ext cx="2498959"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L'assembly con l'istruzione corrente, i 32 registri, la memoria e i contatori del frame</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Se vedete questo con la vostra cartuccia, siete pronti per il resto del corso.</a:t>
            </a:r>
            <a:endParaRPr lang="en-US" sz="1900" dirty="0"/>
          </a:p>
        </p:txBody>
      </p:sp>
      <p:sp>
        <p:nvSpPr>
          <p:cNvPr id="7" name="Shape 4"/>
          <p:cNvSpPr/>
          <p:nvPr/>
        </p:nvSpPr>
        <p:spPr>
          <a:xfrm>
            <a:off x="7094677" y="91440"/>
            <a:ext cx="4548378" cy="274320"/>
          </a:xfrm>
          <a:prstGeom prst="rect">
            <a:avLst/>
          </a:prstGeom>
          <a:solidFill>
            <a:srgbClr val="F3E8FF"/>
          </a:solidFill>
          <a:ln w="12700">
            <a:solidFill>
              <a:srgbClr val="7E22CE"/>
            </a:solidFill>
            <a:prstDash val="dash"/>
          </a:ln>
        </p:spPr>
      </p:sp>
      <p:sp>
        <p:nvSpPr>
          <p:cNvPr id="8" name="Shape 5"/>
          <p:cNvSpPr/>
          <p:nvPr/>
        </p:nvSpPr>
        <p:spPr>
          <a:xfrm>
            <a:off x="7122109" y="128016"/>
            <a:ext cx="45720" cy="45720"/>
          </a:xfrm>
          <a:prstGeom prst="rect">
            <a:avLst/>
          </a:prstGeom>
          <a:solidFill>
            <a:srgbClr val="7E22CE"/>
          </a:solidFill>
          <a:ln w="12700">
            <a:solidFill>
              <a:srgbClr val="7E22CE"/>
            </a:solidFill>
            <a:prstDash val="solid"/>
          </a:ln>
        </p:spPr>
      </p:sp>
      <p:sp>
        <p:nvSpPr>
          <p:cNvPr id="9" name="Shape 6"/>
          <p:cNvSpPr/>
          <p:nvPr/>
        </p:nvSpPr>
        <p:spPr>
          <a:xfrm>
            <a:off x="7122109" y="205740"/>
            <a:ext cx="45720" cy="45720"/>
          </a:xfrm>
          <a:prstGeom prst="rect">
            <a:avLst/>
          </a:prstGeom>
          <a:solidFill>
            <a:srgbClr val="7E22CE"/>
          </a:solidFill>
          <a:ln w="12700">
            <a:solidFill>
              <a:srgbClr val="7E22CE"/>
            </a:solidFill>
            <a:prstDash val="solid"/>
          </a:ln>
        </p:spPr>
      </p:sp>
      <p:sp>
        <p:nvSpPr>
          <p:cNvPr id="10" name="Shape 7"/>
          <p:cNvSpPr/>
          <p:nvPr/>
        </p:nvSpPr>
        <p:spPr>
          <a:xfrm>
            <a:off x="7122109" y="283464"/>
            <a:ext cx="45720" cy="45720"/>
          </a:xfrm>
          <a:prstGeom prst="rect">
            <a:avLst/>
          </a:prstGeom>
          <a:solidFill>
            <a:srgbClr val="7E22CE"/>
          </a:solidFill>
          <a:ln w="12700">
            <a:solidFill>
              <a:srgbClr val="7E22CE"/>
            </a:solidFill>
            <a:prstDash val="solid"/>
          </a:ln>
        </p:spPr>
      </p:sp>
      <p:pic>
        <p:nvPicPr>
          <p:cNvPr id="11" name="Image 1" descr="preencoded.png">    </p:cNvPr>
          <p:cNvPicPr>
            <a:picLocks noChangeAspect="1"/>
          </p:cNvPicPr>
          <p:nvPr/>
        </p:nvPicPr>
        <p:blipFill>
          <a:blip r:embed="rId2"/>
          <a:stretch>
            <a:fillRect/>
          </a:stretch>
        </p:blipFill>
        <p:spPr>
          <a:xfrm>
            <a:off x="7222693" y="128016"/>
            <a:ext cx="201168" cy="201168"/>
          </a:xfrm>
          <a:prstGeom prst="rect">
            <a:avLst/>
          </a:prstGeom>
        </p:spPr>
      </p:pic>
      <p:sp>
        <p:nvSpPr>
          <p:cNvPr id="12" name="Text 8"/>
          <p:cNvSpPr txBox="1"/>
          <p:nvPr/>
        </p:nvSpPr>
        <p:spPr>
          <a:xfrm>
            <a:off x="7478725" y="91440"/>
            <a:ext cx="41277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i registri</a:t>
            </a:r>
            <a:pPr indent="0" marL="0">
              <a:buNone/>
            </a:pPr>
            <a:r>
              <a:rPr lang="en-US" sz="1100" b="1" dirty="0">
                <a:solidFill>
                  <a:srgbClr val="6B21A8"/>
                </a:solidFill>
                <a:latin typeface="Calibri" pitchFamily="34" charset="0"/>
                <a:ea typeface="Calibri" pitchFamily="34" charset="-122"/>
                <a:cs typeface="Calibri" pitchFamily="34" charset="-120"/>
              </a:rPr>
              <a:t> → Lezione 02</a:t>
            </a:r>
            <a:endParaRPr lang="en-US" sz="1100" dirty="0"/>
          </a:p>
        </p:txBody>
      </p:sp>
      <p:sp>
        <p:nvSpPr>
          <p:cNvPr id="13" name="Shape 9"/>
          <p:cNvSpPr/>
          <p:nvPr/>
        </p:nvSpPr>
        <p:spPr>
          <a:xfrm>
            <a:off x="3151835" y="91440"/>
            <a:ext cx="3833114" cy="274320"/>
          </a:xfrm>
          <a:prstGeom prst="rect">
            <a:avLst/>
          </a:prstGeom>
          <a:solidFill>
            <a:srgbClr val="FEF3C7"/>
          </a:solidFill>
          <a:ln w="12700">
            <a:solidFill>
              <a:srgbClr val="B45309"/>
            </a:solidFill>
            <a:prstDash val="solid"/>
          </a:ln>
        </p:spPr>
      </p:sp>
      <p:sp>
        <p:nvSpPr>
          <p:cNvPr id="14" name="Shape 10"/>
          <p:cNvSpPr/>
          <p:nvPr/>
        </p:nvSpPr>
        <p:spPr>
          <a:xfrm>
            <a:off x="3151835" y="91440"/>
            <a:ext cx="27432" cy="274320"/>
          </a:xfrm>
          <a:prstGeom prst="rect">
            <a:avLst/>
          </a:prstGeom>
          <a:solidFill>
            <a:srgbClr val="B45309"/>
          </a:solidFill>
          <a:ln w="12700">
            <a:solidFill>
              <a:srgbClr val="B45309"/>
            </a:solidFill>
            <a:prstDash val="solid"/>
          </a:ln>
        </p:spPr>
      </p:sp>
      <p:sp>
        <p:nvSpPr>
          <p:cNvPr id="15" name="Shape 11"/>
          <p:cNvSpPr/>
          <p:nvPr/>
        </p:nvSpPr>
        <p:spPr>
          <a:xfrm>
            <a:off x="3206699" y="91440"/>
            <a:ext cx="27432" cy="274320"/>
          </a:xfrm>
          <a:prstGeom prst="rect">
            <a:avLst/>
          </a:prstGeom>
          <a:solidFill>
            <a:srgbClr val="B45309"/>
          </a:solidFill>
          <a:ln w="12700">
            <a:solidFill>
              <a:srgbClr val="B45309"/>
            </a:solidFill>
            <a:prstDash val="solid"/>
          </a:ln>
        </p:spPr>
      </p:sp>
      <p:pic>
        <p:nvPicPr>
          <p:cNvPr id="16" name="Image 2" descr="preencoded.png">    </p:cNvPr>
          <p:cNvPicPr>
            <a:picLocks noChangeAspect="1"/>
          </p:cNvPicPr>
          <p:nvPr/>
        </p:nvPicPr>
        <p:blipFill>
          <a:blip r:embed="rId3"/>
          <a:stretch>
            <a:fillRect/>
          </a:stretch>
        </p:blipFill>
        <p:spPr>
          <a:xfrm>
            <a:off x="3279851" y="128016"/>
            <a:ext cx="201168" cy="201168"/>
          </a:xfrm>
          <a:prstGeom prst="rect">
            <a:avLst/>
          </a:prstGeom>
        </p:spPr>
      </p:pic>
      <p:sp>
        <p:nvSpPr>
          <p:cNvPr id="17" name="Text 12"/>
          <p:cNvSpPr txBox="1"/>
          <p:nvPr/>
        </p:nvSpPr>
        <p:spPr>
          <a:xfrm>
            <a:off x="3535883"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Livello 3: l'emulatore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libraries for the window of the emulator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brew install libgcrypt glib pixman sdl2 libslirp                     </a:t>
            </a:r>
            <a:pPr indent="0" marL="0">
              <a:buNone/>
            </a:pPr>
            <a:r>
              <a:rPr lang="en-US" sz="1250" dirty="0">
                <a:solidFill>
                  <a:srgbClr val="8FB3A0"/>
                </a:solidFill>
                <a:latin typeface="Courier New" pitchFamily="34" charset="0"/>
                <a:ea typeface="Courier New" pitchFamily="34" charset="-122"/>
                <a:cs typeface="Courier New" pitchFamily="34" charset="-120"/>
              </a:rPr>
              <a:t> # macOS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sudo apt install -y libgcrypt20 libglib2.0-0 libpixman-1-0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libsdl2-2.0-0 libslirp0                                          </a:t>
            </a:r>
            <a:pPr indent="0" marL="0">
              <a:buNone/>
            </a:pPr>
            <a:r>
              <a:rPr lang="en-US" sz="1250" dirty="0">
                <a:solidFill>
                  <a:srgbClr val="8FB3A0"/>
                </a:solidFill>
                <a:latin typeface="Courier New" pitchFamily="34" charset="0"/>
                <a:ea typeface="Courier New" pitchFamily="34" charset="-122"/>
                <a:cs typeface="Courier New" pitchFamily="34" charset="-120"/>
              </a:rPr>
              <a:t> # Linux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emulator itself (Windows: tick it in the ESP-IDF installer)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 $IDF_PATH/tools/idf_tools.py install qemu-riscv32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$IDF_PATH/export.sh</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the firmware for QEMU, stage a cartridge, run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build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upload pong.prg32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python3 -m prg32 qemu run</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QEMU emula un intero chip ed esegue il vero firmware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qemu build compila il firmware: diversi minuti</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 prepara la cartuccia: prima chiudete QEMU</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QEMU si apre su Setup: Run Cartridge, cart0. Scrivete nel terminale</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Livello 4: il kit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connect the board with a USB cable; ESP-IDF active, in the PRG32 folder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esp32c6 build-and-flash</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the board starts and creates a Wi-Fi network</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name: PRG32     password: prg32game     address: 192.168.4.1</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join it with your laptop, then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esp32c6 upload-and-run pong.prg32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--url http://192.168.4.1 --slot cart0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or let the board join the Wi-Fi of the classroom</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python3 -m prg32 wifi set --ssid "NAME" --password "PASSWORD" --mode sta</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build-and-flash scrive il firmware: una volta per scheda. Parte da Setup</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Poi i giochi arrivano via Wi-Fi: niente più cavi</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Lo stesso comando di upload di PRG32-QT, con un altro indirizzo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Linux: il vostro utente deve stare nel gruppo dialout</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l01.S (1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01: PRG32 and PRG32-QT: Setting Up Your Workshop</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l01.S: a test pattern that proves the installation works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four vertical bars, red, green, blue and white, and the words PRG32</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OK.</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l01.S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l01 --name l01 --out l01.prg32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WHITE, 0xffff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l01_draw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l01.S (2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l01_draw: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bar number,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bars            </a:t>
            </a:r>
            <a:pPr indent="0" marL="0">
              <a:buNone/>
            </a:pPr>
            <a:r>
              <a:rPr lang="en-US" sz="1200" dirty="0">
                <a:solidFill>
                  <a:srgbClr val="8FB3A0"/>
                </a:solidFill>
                <a:latin typeface="Courier New" pitchFamily="34" charset="0"/>
                <a:ea typeface="Courier New" pitchFamily="34" charset="-122"/>
                <a:cs typeface="Courier New" pitchFamily="34" charset="-120"/>
              </a:rPr>
              <a:t># the table of the four colours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4 bytes per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a4, 0(t0)           </a:t>
            </a:r>
            <a:pPr indent="0" marL="0">
              <a:buNone/>
            </a:pPr>
            <a:r>
              <a:rPr lang="en-US" sz="1200" dirty="0">
                <a:solidFill>
                  <a:srgbClr val="8FB3A0"/>
                </a:solidFill>
                <a:latin typeface="Courier New" pitchFamily="34" charset="0"/>
                <a:ea typeface="Courier New" pitchFamily="34" charset="-122"/>
                <a:cs typeface="Courier New" pitchFamily="34" charset="-120"/>
              </a:rPr>
              <a:t># a4 = colour of bar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a0, s0, 6           </a:t>
            </a:r>
            <a:pPr indent="0" marL="0">
              <a:buNone/>
            </a:pPr>
            <a:r>
              <a:rPr lang="en-US" sz="1200" dirty="0">
                <a:solidFill>
                  <a:srgbClr val="8FB3A0"/>
                </a:solidFill>
                <a:latin typeface="Courier New" pitchFamily="34" charset="0"/>
                <a:ea typeface="Courier New" pitchFamily="34" charset="-122"/>
                <a:cs typeface="Courier New" pitchFamily="34" charset="-120"/>
              </a:rPr>
              <a:t># 64 * bar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40          </a:t>
            </a:r>
            <a:pPr indent="0" marL="0">
              <a:buNone/>
            </a:pPr>
            <a:r>
              <a:rPr lang="en-US" sz="1200" dirty="0">
                <a:solidFill>
                  <a:srgbClr val="8FB3A0"/>
                </a:solidFill>
                <a:latin typeface="Courier New" pitchFamily="34" charset="0"/>
                <a:ea typeface="Courier New" pitchFamily="34" charset="-122"/>
                <a:cs typeface="Courier New" pitchFamily="34" charset="-120"/>
              </a:rPr>
              <a:t># x = 40 + 64 * bar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40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48              </a:t>
            </a:r>
            <a:pPr indent="0" marL="0">
              <a:buNone/>
            </a:pPr>
            <a:r>
              <a:rPr lang="en-US" sz="1200" dirty="0">
                <a:solidFill>
                  <a:srgbClr val="8FB3A0"/>
                </a:solidFill>
                <a:latin typeface="Courier New" pitchFamily="34" charset="0"/>
                <a:ea typeface="Courier New" pitchFamily="34" charset="-122"/>
                <a:cs typeface="Courier New" pitchFamily="34" charset="-120"/>
              </a:rPr>
              <a:t># width</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100             </a:t>
            </a:r>
            <a:pPr indent="0" marL="0">
              <a:buNone/>
            </a:pPr>
            <a:r>
              <a:rPr lang="en-US" sz="1200" dirty="0">
                <a:solidFill>
                  <a:srgbClr val="8FB3A0"/>
                </a:solidFill>
                <a:latin typeface="Courier New" pitchFamily="34" charset="0"/>
                <a:ea typeface="Courier New" pitchFamily="34" charset="-122"/>
                <a:cs typeface="Courier New" pitchFamily="34" charset="-120"/>
              </a:rPr>
              <a:t># height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blt  s0, t0, 1b</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124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ok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l01.S (3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a4,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prg32_gfx_text8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bars: .word 0xf800, 0x07e0, 0x001f, 0xffff     </a:t>
            </a:r>
            <a:pPr indent="0" marL="0">
              <a:buNone/>
            </a:pPr>
            <a:r>
              <a:rPr lang="en-US" sz="1800" dirty="0">
                <a:solidFill>
                  <a:srgbClr val="8FB3A0"/>
                </a:solidFill>
                <a:latin typeface="Courier New" pitchFamily="34" charset="0"/>
                <a:ea typeface="Courier New" pitchFamily="34" charset="-122"/>
                <a:cs typeface="Courier New" pitchFamily="34" charset="-120"/>
              </a:rPr>
              <a:t># red, green, blue, white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ok:   .asciz "PRG32 OK"</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quattro barre verticali, rossa, verde, blu e bianca, e le parole PRG32 OK.</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0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l01 --out l01.prg32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l01 --name l01 --architecture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l01;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Prima della prossima lezione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Completate sul vostro portatile le cinque verifiche della slide «Pronti»</a:t>
            </a:r>
            <a:endParaRPr lang="en-US" sz="2200" dirty="0"/>
          </a:p>
        </p:txBody>
      </p:sp>
      <p:sp>
        <p:nvSpPr>
          <p:cNvPr id="6" name="Text 4"/>
          <p:cNvSpPr txBox="1"/>
          <p:nvPr/>
        </p:nvSpPr>
        <p:spPr>
          <a:xfrm>
            <a:off x="548640" y="20731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5486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Scaricate tre cartucce dallo Store, e in ognuna trovate con il debugger la prima istruzione di update</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Compilate un altro degli esempi in examples/games, ed eseguitelo</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Chiudete tutto, riavviate il computer, e tornate a una cartuccia in esecuzione senza queste slide</a:t>
            </a:r>
            <a:endParaRPr lang="en-US" sz="22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Facoltativo: installate QEMU ed eseguite lì la stessa cartuccia</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La vostra officina sopravvive a un riavvio, e sapete riaprirla senza aiuto.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PRG32 e PRG32-QT: allestire la propria officina: il codice</dc:title>
  <dc:subject>Lezione 01</dc:subject>
  <dc:creator>Raffaele Montella</dc:creator>
  <cp:lastModifiedBy>Raffaele Montella</cp:lastModifiedBy>
  <cp:revision>1</cp:revision>
  <dcterms:created xsi:type="dcterms:W3CDTF">2026-10-16T23:36:44Z</dcterms:created>
  <dcterms:modified xsi:type="dcterms:W3CDTF">2026-10-16T23:36:44Z</dcterms:modified>
</cp:coreProperties>
</file>